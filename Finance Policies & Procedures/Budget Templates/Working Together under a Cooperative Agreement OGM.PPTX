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4"/>
  </p:sldMasterIdLst>
  <p:notesMasterIdLst>
    <p:notesMasterId r:id="rId26"/>
  </p:notesMasterIdLst>
  <p:handoutMasterIdLst>
    <p:handoutMasterId r:id="rId27"/>
  </p:handoutMasterIdLst>
  <p:sldIdLst>
    <p:sldId id="256" r:id="rId5"/>
    <p:sldId id="267" r:id="rId6"/>
    <p:sldId id="270" r:id="rId7"/>
    <p:sldId id="304" r:id="rId8"/>
    <p:sldId id="275" r:id="rId9"/>
    <p:sldId id="276" r:id="rId10"/>
    <p:sldId id="273" r:id="rId11"/>
    <p:sldId id="302" r:id="rId12"/>
    <p:sldId id="290" r:id="rId13"/>
    <p:sldId id="291" r:id="rId14"/>
    <p:sldId id="263" r:id="rId15"/>
    <p:sldId id="293" r:id="rId16"/>
    <p:sldId id="294" r:id="rId17"/>
    <p:sldId id="295" r:id="rId18"/>
    <p:sldId id="296" r:id="rId19"/>
    <p:sldId id="297" r:id="rId20"/>
    <p:sldId id="303" r:id="rId21"/>
    <p:sldId id="298" r:id="rId22"/>
    <p:sldId id="300" r:id="rId23"/>
    <p:sldId id="299" r:id="rId24"/>
    <p:sldId id="285" r:id="rId25"/>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ghes, Evan H - ETA" initials="HEH-E" lastIdx="11" clrIdx="0">
    <p:extLst>
      <p:ext uri="{19B8F6BF-5375-455C-9EA6-DF929625EA0E}">
        <p15:presenceInfo xmlns:p15="http://schemas.microsoft.com/office/powerpoint/2012/main" userId="S-1-5-21-2522062978-2635407418-847139880-71665" providerId="AD"/>
      </p:ext>
    </p:extLst>
  </p:cmAuthor>
  <p:cmAuthor id="2" name="Sue Levenstein" initials="SL" lastIdx="8" clrIdx="1">
    <p:extLst>
      <p:ext uri="{19B8F6BF-5375-455C-9EA6-DF929625EA0E}">
        <p15:presenceInfo xmlns:p15="http://schemas.microsoft.com/office/powerpoint/2012/main" userId="Sue Levenste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676"/>
    <a:srgbClr val="FFFF00"/>
    <a:srgbClr val="E5E5E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62" autoAdjust="0"/>
    <p:restoredTop sz="72628" autoAdjust="0"/>
  </p:normalViewPr>
  <p:slideViewPr>
    <p:cSldViewPr>
      <p:cViewPr varScale="1">
        <p:scale>
          <a:sx n="53" d="100"/>
          <a:sy n="53" d="100"/>
        </p:scale>
        <p:origin x="1596"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2982742" cy="466725"/>
          </a:xfrm>
          <a:prstGeom prst="rect">
            <a:avLst/>
          </a:prstGeom>
        </p:spPr>
        <p:txBody>
          <a:bodyPr vert="horz" lIns="90744" tIns="45372" rIns="90744" bIns="45372" rtlCol="0"/>
          <a:lstStyle>
            <a:lvl1pPr algn="l">
              <a:defRPr sz="1200"/>
            </a:lvl1pPr>
          </a:lstStyle>
          <a:p>
            <a:endParaRPr lang="en-US"/>
          </a:p>
        </p:txBody>
      </p:sp>
      <p:sp>
        <p:nvSpPr>
          <p:cNvPr id="3" name="Date Placeholder 2"/>
          <p:cNvSpPr>
            <a:spLocks noGrp="1"/>
          </p:cNvSpPr>
          <p:nvPr>
            <p:ph type="dt" sz="quarter" idx="1"/>
          </p:nvPr>
        </p:nvSpPr>
        <p:spPr>
          <a:xfrm>
            <a:off x="3897514" y="2"/>
            <a:ext cx="2982742" cy="466725"/>
          </a:xfrm>
          <a:prstGeom prst="rect">
            <a:avLst/>
          </a:prstGeom>
        </p:spPr>
        <p:txBody>
          <a:bodyPr vert="horz" lIns="90744" tIns="45372" rIns="90744" bIns="45372" rtlCol="0"/>
          <a:lstStyle>
            <a:lvl1pPr algn="r">
              <a:defRPr sz="1200"/>
            </a:lvl1pPr>
          </a:lstStyle>
          <a:p>
            <a:fld id="{1FE7C14A-F98F-4100-9936-BEB88558C40E}" type="datetimeFigureOut">
              <a:rPr lang="en-US" smtClean="0"/>
              <a:t>9/14/2021</a:t>
            </a:fld>
            <a:endParaRPr lang="en-US"/>
          </a:p>
        </p:txBody>
      </p:sp>
      <p:sp>
        <p:nvSpPr>
          <p:cNvPr id="4" name="Footer Placeholder 3"/>
          <p:cNvSpPr>
            <a:spLocks noGrp="1"/>
          </p:cNvSpPr>
          <p:nvPr>
            <p:ph type="ftr" sz="quarter" idx="2"/>
          </p:nvPr>
        </p:nvSpPr>
        <p:spPr>
          <a:xfrm>
            <a:off x="2" y="8829677"/>
            <a:ext cx="2982742" cy="466725"/>
          </a:xfrm>
          <a:prstGeom prst="rect">
            <a:avLst/>
          </a:prstGeom>
        </p:spPr>
        <p:txBody>
          <a:bodyPr vert="horz" lIns="90744" tIns="45372" rIns="90744" bIns="45372" rtlCol="0" anchor="b"/>
          <a:lstStyle>
            <a:lvl1pPr algn="l">
              <a:defRPr sz="1200"/>
            </a:lvl1pPr>
          </a:lstStyle>
          <a:p>
            <a:endParaRPr lang="en-US"/>
          </a:p>
        </p:txBody>
      </p:sp>
      <p:sp>
        <p:nvSpPr>
          <p:cNvPr id="5" name="Slide Number Placeholder 4"/>
          <p:cNvSpPr>
            <a:spLocks noGrp="1"/>
          </p:cNvSpPr>
          <p:nvPr>
            <p:ph type="sldNum" sz="quarter" idx="3"/>
          </p:nvPr>
        </p:nvSpPr>
        <p:spPr>
          <a:xfrm>
            <a:off x="3897514" y="8829677"/>
            <a:ext cx="2982742" cy="466725"/>
          </a:xfrm>
          <a:prstGeom prst="rect">
            <a:avLst/>
          </a:prstGeom>
        </p:spPr>
        <p:txBody>
          <a:bodyPr vert="horz" lIns="90744" tIns="45372" rIns="90744" bIns="45372" rtlCol="0" anchor="b"/>
          <a:lstStyle>
            <a:lvl1pPr algn="r">
              <a:defRPr sz="1200"/>
            </a:lvl1pPr>
          </a:lstStyle>
          <a:p>
            <a:fld id="{F42F0A22-1B63-43EE-AB65-F28C6CEB03A1}" type="slidenum">
              <a:rPr lang="en-US" smtClean="0"/>
              <a:t>‹#›</a:t>
            </a:fld>
            <a:endParaRPr lang="en-US"/>
          </a:p>
        </p:txBody>
      </p:sp>
    </p:spTree>
    <p:extLst>
      <p:ext uri="{BB962C8B-B14F-4D97-AF65-F5344CB8AC3E}">
        <p14:creationId xmlns:p14="http://schemas.microsoft.com/office/powerpoint/2010/main" val="137348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82118" cy="466434"/>
          </a:xfrm>
          <a:prstGeom prst="rect">
            <a:avLst/>
          </a:prstGeom>
        </p:spPr>
        <p:txBody>
          <a:bodyPr vert="horz" lIns="92468" tIns="46234" rIns="92468" bIns="46234" rtlCol="0"/>
          <a:lstStyle>
            <a:lvl1pPr algn="l">
              <a:defRPr sz="1200"/>
            </a:lvl1pPr>
          </a:lstStyle>
          <a:p>
            <a:endParaRPr lang="en-US"/>
          </a:p>
        </p:txBody>
      </p:sp>
      <p:sp>
        <p:nvSpPr>
          <p:cNvPr id="3" name="Date Placeholder 2"/>
          <p:cNvSpPr>
            <a:spLocks noGrp="1"/>
          </p:cNvSpPr>
          <p:nvPr>
            <p:ph type="dt" idx="1"/>
          </p:nvPr>
        </p:nvSpPr>
        <p:spPr>
          <a:xfrm>
            <a:off x="3898104" y="1"/>
            <a:ext cx="2982118" cy="466434"/>
          </a:xfrm>
          <a:prstGeom prst="rect">
            <a:avLst/>
          </a:prstGeom>
        </p:spPr>
        <p:txBody>
          <a:bodyPr vert="horz" lIns="92468" tIns="46234" rIns="92468" bIns="46234" rtlCol="0"/>
          <a:lstStyle>
            <a:lvl1pPr algn="r">
              <a:defRPr sz="1200"/>
            </a:lvl1pPr>
          </a:lstStyle>
          <a:p>
            <a:fld id="{53A96120-E5E7-40FB-98C4-FFDEA28E3FE4}" type="datetimeFigureOut">
              <a:rPr lang="en-US" smtClean="0"/>
              <a:t>9/14/2021</a:t>
            </a:fld>
            <a:endParaRPr lang="en-US"/>
          </a:p>
        </p:txBody>
      </p:sp>
      <p:sp>
        <p:nvSpPr>
          <p:cNvPr id="4" name="Slide Image Placeholder 3"/>
          <p:cNvSpPr>
            <a:spLocks noGrp="1" noRot="1" noChangeAspect="1"/>
          </p:cNvSpPr>
          <p:nvPr>
            <p:ph type="sldImg" idx="2"/>
          </p:nvPr>
        </p:nvSpPr>
        <p:spPr>
          <a:xfrm>
            <a:off x="654050" y="1162050"/>
            <a:ext cx="5573713" cy="3136900"/>
          </a:xfrm>
          <a:prstGeom prst="rect">
            <a:avLst/>
          </a:prstGeom>
          <a:noFill/>
          <a:ln w="12700">
            <a:solidFill>
              <a:prstClr val="black"/>
            </a:solidFill>
          </a:ln>
        </p:spPr>
        <p:txBody>
          <a:bodyPr vert="horz" lIns="92468" tIns="46234" rIns="92468" bIns="46234" rtlCol="0" anchor="ctr"/>
          <a:lstStyle/>
          <a:p>
            <a:endParaRPr lang="en-US"/>
          </a:p>
        </p:txBody>
      </p:sp>
      <p:sp>
        <p:nvSpPr>
          <p:cNvPr id="5" name="Notes Placeholder 4"/>
          <p:cNvSpPr>
            <a:spLocks noGrp="1"/>
          </p:cNvSpPr>
          <p:nvPr>
            <p:ph type="body" sz="quarter" idx="3"/>
          </p:nvPr>
        </p:nvSpPr>
        <p:spPr>
          <a:xfrm>
            <a:off x="688182" y="4473894"/>
            <a:ext cx="5505450" cy="3660458"/>
          </a:xfrm>
          <a:prstGeom prst="rect">
            <a:avLst/>
          </a:prstGeom>
        </p:spPr>
        <p:txBody>
          <a:bodyPr vert="horz" lIns="92468" tIns="46234" rIns="92468" bIns="46234"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2" y="8829967"/>
            <a:ext cx="2982118" cy="466433"/>
          </a:xfrm>
          <a:prstGeom prst="rect">
            <a:avLst/>
          </a:prstGeom>
        </p:spPr>
        <p:txBody>
          <a:bodyPr vert="horz" lIns="92468" tIns="46234" rIns="92468" bIns="46234" rtlCol="0" anchor="b"/>
          <a:lstStyle>
            <a:lvl1pPr algn="l">
              <a:defRPr sz="1200"/>
            </a:lvl1pPr>
          </a:lstStyle>
          <a:p>
            <a:endParaRPr lang="en-US"/>
          </a:p>
        </p:txBody>
      </p:sp>
      <p:sp>
        <p:nvSpPr>
          <p:cNvPr id="7" name="Slide Number Placeholder 6"/>
          <p:cNvSpPr>
            <a:spLocks noGrp="1"/>
          </p:cNvSpPr>
          <p:nvPr>
            <p:ph type="sldNum" sz="quarter" idx="5"/>
          </p:nvPr>
        </p:nvSpPr>
        <p:spPr>
          <a:xfrm>
            <a:off x="3898104" y="8829967"/>
            <a:ext cx="2982118" cy="466433"/>
          </a:xfrm>
          <a:prstGeom prst="rect">
            <a:avLst/>
          </a:prstGeom>
        </p:spPr>
        <p:txBody>
          <a:bodyPr vert="horz" lIns="92468" tIns="46234" rIns="92468" bIns="46234" rtlCol="0" anchor="b"/>
          <a:lstStyle>
            <a:lvl1pPr algn="r">
              <a:defRPr sz="1200"/>
            </a:lvl1pPr>
          </a:lstStyle>
          <a:p>
            <a:fld id="{97E5B195-FC43-4FBD-80EC-9D96D1164C84}" type="slidenum">
              <a:rPr lang="en-US" smtClean="0"/>
              <a:t>‹#›</a:t>
            </a:fld>
            <a:endParaRPr lang="en-US"/>
          </a:p>
        </p:txBody>
      </p:sp>
    </p:spTree>
    <p:extLst>
      <p:ext uri="{BB962C8B-B14F-4D97-AF65-F5344CB8AC3E}">
        <p14:creationId xmlns:p14="http://schemas.microsoft.com/office/powerpoint/2010/main" val="2944933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dirty="0" smtClean="0">
                <a:solidFill>
                  <a:srgbClr val="FFFF00"/>
                </a:solidFill>
              </a:rPr>
              <a:t>OGM</a:t>
            </a:r>
            <a:r>
              <a:rPr lang="en-US" dirty="0" smtClean="0"/>
              <a:t> - Welcome to the 2020</a:t>
            </a:r>
            <a:r>
              <a:rPr lang="en-US" baseline="0" dirty="0" smtClean="0"/>
              <a:t> </a:t>
            </a:r>
            <a:r>
              <a:rPr lang="en-US" dirty="0" smtClean="0"/>
              <a:t>ILAB-OGM</a:t>
            </a:r>
            <a:r>
              <a:rPr lang="en-US" baseline="0" dirty="0" smtClean="0"/>
              <a:t> Grantee Orientation.  First, let us introduce ourselves:</a:t>
            </a:r>
          </a:p>
          <a:p>
            <a:endParaRPr lang="en-US" baseline="0" dirty="0" smtClean="0"/>
          </a:p>
          <a:p>
            <a:r>
              <a:rPr lang="en-US" baseline="0" dirty="0" smtClean="0"/>
              <a:t>Tanya Shugar is a Division Chief managing projects taking place in the Africa region in the Bureau of International Labor Affairs (ILAB).</a:t>
            </a:r>
          </a:p>
          <a:p>
            <a:endParaRPr lang="en-US" baseline="0" dirty="0" smtClean="0"/>
          </a:p>
          <a:p>
            <a:r>
              <a:rPr lang="en-US" baseline="0" dirty="0" smtClean="0"/>
              <a:t>Evan Hughes is your Grant Officer in the Employment and Training Administration (ETA)’s Office of Grants Management (OGM).</a:t>
            </a:r>
          </a:p>
          <a:p>
            <a:endParaRPr lang="en-US" baseline="0" dirty="0" smtClean="0"/>
          </a:p>
          <a:p>
            <a:r>
              <a:rPr lang="en-US" baseline="0" dirty="0" smtClean="0"/>
              <a:t>Sue Levenstein and Tam Nguyen are grants management specialists who work with Evan in OGM.</a:t>
            </a:r>
          </a:p>
          <a:p>
            <a:endParaRPr lang="en-US" baseline="0" dirty="0" smtClean="0"/>
          </a:p>
          <a:p>
            <a:r>
              <a:rPr lang="en-US" baseline="0" dirty="0" smtClean="0"/>
              <a:t>We are here today to conduct the FY2020 New Grantee Orientation.  So let’s get started.</a:t>
            </a:r>
          </a:p>
          <a:p>
            <a:endParaRPr lang="en-US" baseline="0" dirty="0" smtClean="0"/>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97E5B195-FC43-4FBD-80EC-9D96D1164C84}" type="slidenum">
              <a:rPr lang="en-US" smtClean="0"/>
              <a:t>1</a:t>
            </a:fld>
            <a:endParaRPr lang="en-US"/>
          </a:p>
        </p:txBody>
      </p:sp>
    </p:spTree>
    <p:extLst>
      <p:ext uri="{BB962C8B-B14F-4D97-AF65-F5344CB8AC3E}">
        <p14:creationId xmlns:p14="http://schemas.microsoft.com/office/powerpoint/2010/main" val="1995298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First, we’d like to give some background on our roles in implementing the award, more specifically, a cooperative agreement. </a:t>
            </a:r>
          </a:p>
          <a:p>
            <a:endParaRPr lang="en-US" baseline="0" dirty="0" smtClean="0"/>
          </a:p>
          <a:p>
            <a:r>
              <a:rPr lang="en-US" baseline="0" dirty="0" smtClean="0"/>
              <a:t>The U.S. government is the funder or “federal awarding agency” that is referred to in the Uniform Guidance, also known as 2 CFR 200.  </a:t>
            </a:r>
          </a:p>
          <a:p>
            <a:endParaRPr lang="en-US" baseline="0" dirty="0" smtClean="0"/>
          </a:p>
          <a:p>
            <a:r>
              <a:rPr lang="en-US" baseline="0" dirty="0" smtClean="0"/>
              <a:t>The Bureau of International Labor Affairs, or ILAB, is the program office; your point of contact in ILAB is referred to as the Grant Officer’s Representative, or GOR.  As parties to a cooperative agreement, ILAB has substantial involvement in the recipient’s project.  </a:t>
            </a:r>
          </a:p>
          <a:p>
            <a:endParaRPr lang="en-US" baseline="0" dirty="0" smtClean="0"/>
          </a:p>
          <a:p>
            <a:r>
              <a:rPr lang="en-US" baseline="0" dirty="0" smtClean="0"/>
              <a:t>When an award is first issued or a revision or modification request requires the Grant Officer’s prior approval, ILAB’s GOR will make that request on the recipient’s behalf to the Grants Officer or Grants Management Specialist who work in the Office of Grants Management (OGM). </a:t>
            </a:r>
          </a:p>
          <a:p>
            <a:endParaRPr lang="en-US" baseline="0" dirty="0" smtClean="0"/>
          </a:p>
          <a:p>
            <a:r>
              <a:rPr lang="en-US" baseline="0" dirty="0" smtClean="0"/>
              <a:t>The recipient organization (also known as the “grantee” but for our purposes, we refer to them as the “recipient”) operates with a project team which consists of a project director (PD), or principal investigator (PI) who works closely with ILAB’s GOR. Furthermore, the Authorized Representative (AR) is responsible for approving all modification requests from the recipient organization before they get transmitted to ILAB/OGM for processing.  Getting the AR’s approval on any modification request is important and will avoid hurdles later on.</a:t>
            </a:r>
          </a:p>
          <a:p>
            <a:endParaRPr lang="en-US" baseline="0" dirty="0" smtClean="0">
              <a:solidFill>
                <a:srgbClr val="FF0000"/>
              </a:solidFill>
            </a:endParaRPr>
          </a:p>
          <a:p>
            <a:pPr defTabSz="906079">
              <a:defRPr/>
            </a:pPr>
            <a:r>
              <a:rPr lang="en-US" baseline="0" dirty="0" smtClean="0"/>
              <a:t>Only the Grant Officer is authorized to make final decisions about project modifications and approval of budgets.  But the Program Manager, acting as the GOR, does the initial review and has to recommend decisions taken by the Grants Officer.  You will be working primarily with your PM/GOR and should not be sending things directly to the Grant Officer or Grant Specialist unless they’ve specifically asked for something.</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2</a:t>
            </a:fld>
            <a:endParaRPr lang="en-US"/>
          </a:p>
        </p:txBody>
      </p:sp>
    </p:spTree>
    <p:extLst>
      <p:ext uri="{BB962C8B-B14F-4D97-AF65-F5344CB8AC3E}">
        <p14:creationId xmlns:p14="http://schemas.microsoft.com/office/powerpoint/2010/main" val="3238942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dirty="0" smtClean="0"/>
              <a:t>What you see on this slide consists of the contents of an</a:t>
            </a:r>
            <a:r>
              <a:rPr lang="en-US" baseline="0" dirty="0" smtClean="0"/>
              <a:t> award modification.  </a:t>
            </a:r>
          </a:p>
          <a:p>
            <a:endParaRPr lang="en-US" baseline="0" dirty="0" smtClean="0"/>
          </a:p>
          <a:p>
            <a:r>
              <a:rPr lang="en-US" dirty="0" smtClean="0"/>
              <a:t>This</a:t>
            </a:r>
            <a:r>
              <a:rPr lang="en-US" baseline="0" dirty="0" smtClean="0"/>
              <a:t> is what (at minimum) is sent and is part of the Documentation of the Cooperative Agreement. After award, we send out attachments including Notice of Award, Terms and Condition, Form SF-424 and 424A, Technical Proposal, Budget, Budget Narrative, Indirect cost support documents and Work Plan.</a:t>
            </a:r>
          </a:p>
          <a:p>
            <a:r>
              <a:rPr lang="en-US" baseline="0" dirty="0" smtClean="0"/>
              <a:t>What are some things that it tells us?</a:t>
            </a:r>
          </a:p>
          <a:p>
            <a:pPr marL="171450" indent="-171450" eaLnBrk="1" hangingPunct="1">
              <a:lnSpc>
                <a:spcPct val="80000"/>
              </a:lnSpc>
              <a:spcBef>
                <a:spcPct val="50000"/>
              </a:spcBef>
              <a:buFont typeface="Arial" panose="020B0604020202020204" pitchFamily="34" charset="0"/>
              <a:buChar char="•"/>
              <a:defRPr/>
            </a:pPr>
            <a:r>
              <a:rPr lang="en-US" dirty="0" smtClean="0"/>
              <a:t>Period of Performance </a:t>
            </a:r>
          </a:p>
          <a:p>
            <a:pPr marL="171450" indent="-171450" eaLnBrk="1" hangingPunct="1">
              <a:lnSpc>
                <a:spcPct val="80000"/>
              </a:lnSpc>
              <a:spcBef>
                <a:spcPct val="50000"/>
              </a:spcBef>
              <a:buFont typeface="Arial" panose="020B0604020202020204" pitchFamily="34" charset="0"/>
              <a:buChar char="•"/>
              <a:defRPr/>
            </a:pPr>
            <a:r>
              <a:rPr lang="en-US" dirty="0" smtClean="0"/>
              <a:t>Total Government Financial Obligation</a:t>
            </a:r>
          </a:p>
          <a:p>
            <a:pPr marL="171450" indent="-171450" eaLnBrk="1" hangingPunct="1">
              <a:lnSpc>
                <a:spcPct val="80000"/>
              </a:lnSpc>
              <a:spcBef>
                <a:spcPct val="50000"/>
              </a:spcBef>
              <a:buFont typeface="Arial" panose="020B0604020202020204" pitchFamily="34" charset="0"/>
              <a:buChar char="•"/>
              <a:defRPr/>
            </a:pPr>
            <a:r>
              <a:rPr lang="en-US" dirty="0" smtClean="0"/>
              <a:t>The</a:t>
            </a:r>
            <a:r>
              <a:rPr lang="en-US" baseline="0" dirty="0" smtClean="0"/>
              <a:t> expectations of the project</a:t>
            </a:r>
          </a:p>
          <a:p>
            <a:pPr eaLnBrk="1" hangingPunct="1">
              <a:lnSpc>
                <a:spcPct val="80000"/>
              </a:lnSpc>
              <a:spcBef>
                <a:spcPct val="50000"/>
              </a:spcBef>
              <a:defRPr/>
            </a:pPr>
            <a:r>
              <a:rPr lang="en-US" dirty="0" smtClean="0"/>
              <a:t>	</a:t>
            </a:r>
          </a:p>
          <a:p>
            <a:endParaRPr lang="en-US" baseline="0" dirty="0" smtClean="0"/>
          </a:p>
          <a:p>
            <a:r>
              <a:rPr lang="en-US" baseline="0" dirty="0" smtClean="0"/>
              <a:t>	</a:t>
            </a:r>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3</a:t>
            </a:fld>
            <a:endParaRPr lang="en-US"/>
          </a:p>
        </p:txBody>
      </p:sp>
    </p:spTree>
    <p:extLst>
      <p:ext uri="{BB962C8B-B14F-4D97-AF65-F5344CB8AC3E}">
        <p14:creationId xmlns:p14="http://schemas.microsoft.com/office/powerpoint/2010/main" val="2552410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let us go over the approval process when you make a modification</a:t>
            </a:r>
            <a:r>
              <a:rPr lang="en-US" baseline="0" dirty="0" smtClean="0"/>
              <a:t> request.</a:t>
            </a:r>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4</a:t>
            </a:fld>
            <a:endParaRPr lang="en-US"/>
          </a:p>
        </p:txBody>
      </p:sp>
    </p:spTree>
    <p:extLst>
      <p:ext uri="{BB962C8B-B14F-4D97-AF65-F5344CB8AC3E}">
        <p14:creationId xmlns:p14="http://schemas.microsoft.com/office/powerpoint/2010/main" val="3895977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pPr defTabSz="924680">
              <a:defRPr/>
            </a:pPr>
            <a:r>
              <a:rPr lang="en-US" baseline="0" dirty="0" smtClean="0">
                <a:latin typeface="Calibri" panose="020F0502020204030204" pitchFamily="34" charset="0"/>
                <a:cs typeface="Times New Roman" panose="02020603050405020304" pitchFamily="18" charset="0"/>
              </a:rPr>
              <a:t>As you’ll see in some of the subsequent slides, we have included the reference source on the upper left-hand corner of the slide that encourages you to familiarize yourself with the Management Procedures &amp; Guidelines (MPG).</a:t>
            </a:r>
          </a:p>
          <a:p>
            <a:pPr defTabSz="924680">
              <a:defRPr/>
            </a:pPr>
            <a:endParaRPr lang="en-US" baseline="0" dirty="0" smtClean="0">
              <a:latin typeface="Calibri" panose="020F0502020204030204" pitchFamily="34" charset="0"/>
              <a:cs typeface="Times New Roman" panose="02020603050405020304" pitchFamily="18" charset="0"/>
            </a:endParaRPr>
          </a:p>
          <a:p>
            <a:pPr defTabSz="924680">
              <a:defRPr/>
            </a:pPr>
            <a:r>
              <a:rPr lang="en-US" baseline="0" dirty="0" smtClean="0">
                <a:latin typeface="Calibri" panose="020F0502020204030204" pitchFamily="34" charset="0"/>
                <a:cs typeface="Times New Roman" panose="02020603050405020304" pitchFamily="18" charset="0"/>
              </a:rPr>
              <a:t>To initiate an award modification, the recipient would submit the contents of a modification to the program office (ILAB) for review.  This is most typically conducted through a consultation session (between the recipient and the GOR) either through a conference call, phone call, or via e-mail.  The recipient may make multiple revisions prior to submission.  </a:t>
            </a:r>
          </a:p>
          <a:p>
            <a:pPr defTabSz="924680">
              <a:defRPr/>
            </a:pPr>
            <a:endParaRPr lang="en-US" baseline="0" dirty="0" smtClean="0">
              <a:latin typeface="Calibri" panose="020F0502020204030204" pitchFamily="34" charset="0"/>
              <a:cs typeface="Times New Roman" panose="02020603050405020304" pitchFamily="18" charset="0"/>
            </a:endParaRPr>
          </a:p>
          <a:p>
            <a:pPr defTabSz="924680">
              <a:defRPr/>
            </a:pPr>
            <a:r>
              <a:rPr lang="en-US" baseline="0" dirty="0" smtClean="0">
                <a:latin typeface="Calibri" panose="020F0502020204030204" pitchFamily="34" charset="0"/>
                <a:cs typeface="Times New Roman" panose="02020603050405020304" pitchFamily="18" charset="0"/>
              </a:rPr>
              <a:t>The most common types of modifications include:</a:t>
            </a:r>
          </a:p>
          <a:p>
            <a:pPr marL="228600" indent="-228600" defTabSz="924680">
              <a:buAutoNum type="arabicParenR"/>
              <a:defRPr/>
            </a:pPr>
            <a:r>
              <a:rPr lang="en-US" baseline="0" dirty="0" smtClean="0">
                <a:latin typeface="Calibri" panose="020F0502020204030204" pitchFamily="34" charset="0"/>
                <a:cs typeface="Times New Roman" panose="02020603050405020304" pitchFamily="18" charset="0"/>
              </a:rPr>
              <a:t>Programmatic change such as key personnel or geographical location etc. (you can see more specific examples on the slide above);</a:t>
            </a:r>
          </a:p>
          <a:p>
            <a:pPr marL="228600" indent="-228600" defTabSz="924680">
              <a:buAutoNum type="arabicParenR"/>
              <a:defRPr/>
            </a:pPr>
            <a:r>
              <a:rPr lang="en-US" baseline="0" dirty="0" smtClean="0">
                <a:latin typeface="Calibri" panose="020F0502020204030204" pitchFamily="34" charset="0"/>
                <a:cs typeface="Times New Roman" panose="02020603050405020304" pitchFamily="18" charset="0"/>
              </a:rPr>
              <a:t>Budget/admin change: no-cost extension, budget realignment, increase budget change (again, refer to the examples listed on the slide).</a:t>
            </a:r>
            <a:endParaRPr lang="en-US" dirty="0" smtClean="0"/>
          </a:p>
          <a:p>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5</a:t>
            </a:fld>
            <a:endParaRPr lang="en-US"/>
          </a:p>
        </p:txBody>
      </p:sp>
    </p:spTree>
    <p:extLst>
      <p:ext uri="{BB962C8B-B14F-4D97-AF65-F5344CB8AC3E}">
        <p14:creationId xmlns:p14="http://schemas.microsoft.com/office/powerpoint/2010/main" val="3979212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dirty="0" smtClean="0"/>
              <a:t>All modifications require the Grant Officer’s prior approval.  </a:t>
            </a:r>
          </a:p>
          <a:p>
            <a:endParaRPr lang="en-US" dirty="0" smtClean="0"/>
          </a:p>
          <a:p>
            <a:r>
              <a:rPr lang="en-US" dirty="0" smtClean="0"/>
              <a:t>The Grant</a:t>
            </a:r>
            <a:r>
              <a:rPr lang="en-US" baseline="0" dirty="0" smtClean="0"/>
              <a:t> Officer is the individual authorized to</a:t>
            </a:r>
            <a:r>
              <a:rPr lang="en-US" dirty="0" smtClean="0"/>
              <a:t> sign the award and therefore, has the ability to make</a:t>
            </a:r>
            <a:r>
              <a:rPr lang="en-US" baseline="0" dirty="0" smtClean="0"/>
              <a:t> revisions to</a:t>
            </a:r>
            <a:r>
              <a:rPr lang="en-US" dirty="0" smtClean="0"/>
              <a:t> the award.</a:t>
            </a:r>
            <a:r>
              <a:rPr lang="en-US" baseline="0" dirty="0" smtClean="0"/>
              <a:t>  Please refer to the bottom of the terms and conditions page to see where this is being stated. </a:t>
            </a:r>
          </a:p>
          <a:p>
            <a:endParaRPr lang="en-US" baseline="0" dirty="0" smtClean="0"/>
          </a:p>
          <a:p>
            <a:r>
              <a:rPr lang="en-US" dirty="0" smtClean="0"/>
              <a:t>The Authorized Representative</a:t>
            </a:r>
            <a:r>
              <a:rPr lang="en-US" baseline="0" dirty="0" smtClean="0"/>
              <a:t> (</a:t>
            </a:r>
            <a:r>
              <a:rPr lang="en-US" dirty="0" smtClean="0"/>
              <a:t>AR) is the individual who authorizes</a:t>
            </a:r>
            <a:r>
              <a:rPr lang="en-US" baseline="0" dirty="0" smtClean="0"/>
              <a:t> approval of the project modification on behalf of the grantee organization.  This individual’s name a</a:t>
            </a:r>
            <a:r>
              <a:rPr lang="en-US" dirty="0" smtClean="0"/>
              <a:t>nd signature could</a:t>
            </a:r>
            <a:r>
              <a:rPr lang="en-US" baseline="0" dirty="0" smtClean="0"/>
              <a:t> be found </a:t>
            </a:r>
            <a:r>
              <a:rPr lang="en-US" dirty="0" smtClean="0"/>
              <a:t>on the SF-424.</a:t>
            </a:r>
          </a:p>
          <a:p>
            <a:endParaRPr lang="en-US" dirty="0" smtClean="0"/>
          </a:p>
          <a:p>
            <a:r>
              <a:rPr lang="en-US" dirty="0" smtClean="0"/>
              <a:t>As previously mentioned, the GOR does the initial review of the modification</a:t>
            </a:r>
            <a:r>
              <a:rPr lang="en-US" baseline="0" dirty="0" smtClean="0"/>
              <a:t> draft </a:t>
            </a:r>
            <a:r>
              <a:rPr lang="en-US" dirty="0" smtClean="0"/>
              <a:t>but the Grant Officer performs the final review.</a:t>
            </a:r>
            <a:r>
              <a:rPr lang="en-US" baseline="0" dirty="0" smtClean="0"/>
              <a:t> </a:t>
            </a:r>
          </a:p>
          <a:p>
            <a:endParaRPr lang="en-US" baseline="0" dirty="0" smtClean="0"/>
          </a:p>
          <a:p>
            <a:r>
              <a:rPr lang="en-US" baseline="0" dirty="0" smtClean="0"/>
              <a:t>In conversations between the recipient and the Department of Labor, it is important for the recipient to clearly outline how the modification would benefit the project. </a:t>
            </a:r>
            <a:endParaRPr lang="en-US" sz="2000" dirty="0"/>
          </a:p>
        </p:txBody>
      </p:sp>
      <p:sp>
        <p:nvSpPr>
          <p:cNvPr id="4" name="Slide Number Placeholder 3"/>
          <p:cNvSpPr>
            <a:spLocks noGrp="1"/>
          </p:cNvSpPr>
          <p:nvPr>
            <p:ph type="sldNum" sz="quarter" idx="10"/>
          </p:nvPr>
        </p:nvSpPr>
        <p:spPr/>
        <p:txBody>
          <a:bodyPr/>
          <a:lstStyle/>
          <a:p>
            <a:fld id="{97E5B195-FC43-4FBD-80EC-9D96D1164C84}" type="slidenum">
              <a:rPr lang="en-US" smtClean="0"/>
              <a:t>6</a:t>
            </a:fld>
            <a:endParaRPr lang="en-US"/>
          </a:p>
        </p:txBody>
      </p:sp>
    </p:spTree>
    <p:extLst>
      <p:ext uri="{BB962C8B-B14F-4D97-AF65-F5344CB8AC3E}">
        <p14:creationId xmlns:p14="http://schemas.microsoft.com/office/powerpoint/2010/main" val="2944221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dirty="0" smtClean="0"/>
              <a:t>Here is a summary of what we had discussed</a:t>
            </a:r>
            <a:r>
              <a:rPr lang="en-US" baseline="0" dirty="0" smtClean="0"/>
              <a:t>, regarding some of the most common types of award modifications.</a:t>
            </a:r>
          </a:p>
          <a:p>
            <a:endParaRPr lang="en-US" baseline="0" dirty="0" smtClean="0"/>
          </a:p>
          <a:p>
            <a:r>
              <a:rPr lang="en-US" baseline="0" dirty="0" smtClean="0"/>
              <a:t>We have included some of the most common types of award modifications that require the application of 2 CFR 200.308, Revision of budget and program plans.  This means that you should not only consult the MPG reference, which is listed on the upper left-hand corner of the slide, you are encouraged to consult the Uniform Guidance (2 CFR 200.308) if needed.</a:t>
            </a:r>
          </a:p>
        </p:txBody>
      </p:sp>
      <p:sp>
        <p:nvSpPr>
          <p:cNvPr id="4" name="Slide Number Placeholder 3"/>
          <p:cNvSpPr>
            <a:spLocks noGrp="1"/>
          </p:cNvSpPr>
          <p:nvPr>
            <p:ph type="sldNum" sz="quarter" idx="10"/>
          </p:nvPr>
        </p:nvSpPr>
        <p:spPr/>
        <p:txBody>
          <a:bodyPr/>
          <a:lstStyle/>
          <a:p>
            <a:fld id="{97E5B195-FC43-4FBD-80EC-9D96D1164C84}" type="slidenum">
              <a:rPr lang="en-US" smtClean="0"/>
              <a:t>7</a:t>
            </a:fld>
            <a:endParaRPr lang="en-US"/>
          </a:p>
        </p:txBody>
      </p:sp>
    </p:spTree>
    <p:extLst>
      <p:ext uri="{BB962C8B-B14F-4D97-AF65-F5344CB8AC3E}">
        <p14:creationId xmlns:p14="http://schemas.microsoft.com/office/powerpoint/2010/main" val="2275402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let’s provide you with an overview of one of the most typical award modifications that we process—the</a:t>
            </a:r>
            <a:r>
              <a:rPr lang="en-US" baseline="0" dirty="0" smtClean="0"/>
              <a:t> budget revision modification.</a:t>
            </a:r>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8</a:t>
            </a:fld>
            <a:endParaRPr lang="en-US"/>
          </a:p>
        </p:txBody>
      </p:sp>
    </p:spTree>
    <p:extLst>
      <p:ext uri="{BB962C8B-B14F-4D97-AF65-F5344CB8AC3E}">
        <p14:creationId xmlns:p14="http://schemas.microsoft.com/office/powerpoint/2010/main" val="2559864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Some of the most typical scenarios requiring a budget revision modification are bulleted here.</a:t>
            </a:r>
          </a:p>
          <a:p>
            <a:r>
              <a:rPr lang="en-US" baseline="0" dirty="0" smtClean="0"/>
              <a:t>This includes:</a:t>
            </a:r>
          </a:p>
          <a:p>
            <a:pPr marL="171450" indent="-171450">
              <a:buFont typeface="Arial" panose="020B0604020202020204" pitchFamily="34" charset="0"/>
              <a:buChar char="•"/>
            </a:pPr>
            <a:r>
              <a:rPr lang="en-US" baseline="0" dirty="0" smtClean="0"/>
              <a:t>Cost increase: the Grant Officer will review and approve all cost increases, however, the program office may additionally be required to have the Procurement Review Board (PRB) review the cost-increase request depending on the amount. </a:t>
            </a:r>
          </a:p>
          <a:p>
            <a:pPr marL="171450" indent="-171450">
              <a:buFont typeface="Arial" panose="020B0604020202020204" pitchFamily="34" charset="0"/>
              <a:buChar char="•"/>
            </a:pPr>
            <a:r>
              <a:rPr lang="en-US" baseline="0" dirty="0" smtClean="0"/>
              <a:t>Sub-awarding: prior approval is required to add a </a:t>
            </a:r>
            <a:r>
              <a:rPr lang="en-US" baseline="0" dirty="0" err="1" smtClean="0"/>
              <a:t>subaward</a:t>
            </a:r>
            <a:r>
              <a:rPr lang="en-US" baseline="0" dirty="0" smtClean="0"/>
              <a:t>.</a:t>
            </a:r>
          </a:p>
          <a:p>
            <a:pPr marL="171450" indent="-171450">
              <a:buFont typeface="Arial" panose="020B0604020202020204" pitchFamily="34" charset="0"/>
              <a:buChar char="•"/>
            </a:pPr>
            <a:r>
              <a:rPr lang="en-US" dirty="0" smtClean="0"/>
              <a:t>Participant support costs means direct costs for items such as stipends or subsistence allowances, travel allowances, and registration fees paid to or on behalf of participants or trainees (but not employees) in connection with conferences, or training projects. (2 CFR 200.75)</a:t>
            </a:r>
            <a:endParaRPr lang="en-US" baseline="0" dirty="0" smtClean="0"/>
          </a:p>
          <a:p>
            <a:pPr marL="171450" indent="-171450">
              <a:buFont typeface="Arial" panose="020B0604020202020204" pitchFamily="34" charset="0"/>
              <a:buChar char="•"/>
            </a:pPr>
            <a:r>
              <a:rPr lang="en-US" baseline="0" dirty="0" smtClean="0"/>
              <a:t>Transfer of funds among direct cost categories would need prior approval only if the total amount being transferred exceeds 10% of the federal funding total.</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Capital expenditures for special purpose equipment are allowable as direct costs, provided that items with a unit cost of $5,000 or more have the prior written approval of the Federal awarding agency or pass-through entity. (2 CFR 200.439)</a:t>
            </a:r>
            <a:r>
              <a:rPr lang="en-US" dirty="0" smtClean="0"/>
              <a:t/>
            </a:r>
            <a:br>
              <a:rPr lang="en-US" dirty="0" smtClean="0"/>
            </a:br>
            <a:endParaRPr lang="en-US" baseline="0" dirty="0" smtClean="0"/>
          </a:p>
          <a:p>
            <a:r>
              <a:rPr lang="en-US" baseline="0" dirty="0" smtClean="0"/>
              <a:t>In sum, we would only review and approve budget revisions that fall into one of these scenarios that are also set forth in the MPG.  </a:t>
            </a:r>
          </a:p>
        </p:txBody>
      </p:sp>
      <p:sp>
        <p:nvSpPr>
          <p:cNvPr id="4" name="Slide Number Placeholder 3"/>
          <p:cNvSpPr>
            <a:spLocks noGrp="1"/>
          </p:cNvSpPr>
          <p:nvPr>
            <p:ph type="sldNum" sz="quarter" idx="10"/>
          </p:nvPr>
        </p:nvSpPr>
        <p:spPr/>
        <p:txBody>
          <a:bodyPr/>
          <a:lstStyle/>
          <a:p>
            <a:fld id="{97E5B195-FC43-4FBD-80EC-9D96D1164C84}" type="slidenum">
              <a:rPr lang="en-US" smtClean="0"/>
              <a:t>9</a:t>
            </a:fld>
            <a:endParaRPr lang="en-US"/>
          </a:p>
        </p:txBody>
      </p:sp>
    </p:spTree>
    <p:extLst>
      <p:ext uri="{BB962C8B-B14F-4D97-AF65-F5344CB8AC3E}">
        <p14:creationId xmlns:p14="http://schemas.microsoft.com/office/powerpoint/2010/main" val="2885820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We recommend two listed guidelines from the Uniform Guidance—2 CFR 200.308, Revision of budget and program plans and 2 CFR 200.407, Prior written approval—to better inform you in terms of deciding whether or not a modification request is necessary.</a:t>
            </a:r>
          </a:p>
        </p:txBody>
      </p:sp>
      <p:sp>
        <p:nvSpPr>
          <p:cNvPr id="4" name="Slide Number Placeholder 3"/>
          <p:cNvSpPr>
            <a:spLocks noGrp="1"/>
          </p:cNvSpPr>
          <p:nvPr>
            <p:ph type="sldNum" sz="quarter" idx="10"/>
          </p:nvPr>
        </p:nvSpPr>
        <p:spPr/>
        <p:txBody>
          <a:bodyPr/>
          <a:lstStyle/>
          <a:p>
            <a:fld id="{97E5B195-FC43-4FBD-80EC-9D96D1164C84}" type="slidenum">
              <a:rPr lang="en-US" smtClean="0"/>
              <a:t>10</a:t>
            </a:fld>
            <a:endParaRPr lang="en-US"/>
          </a:p>
        </p:txBody>
      </p:sp>
    </p:spTree>
    <p:extLst>
      <p:ext uri="{BB962C8B-B14F-4D97-AF65-F5344CB8AC3E}">
        <p14:creationId xmlns:p14="http://schemas.microsoft.com/office/powerpoint/2010/main" val="6834296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Costs associated with the federal project need to be allowable, allocable and reasonable.  When evaluating a project expense, it makes sense to ask the question associated with each category above: </a:t>
            </a:r>
          </a:p>
          <a:p>
            <a:endParaRPr lang="en-US" dirty="0" smtClean="0"/>
          </a:p>
          <a:p>
            <a:r>
              <a:rPr lang="en-US" dirty="0" smtClean="0"/>
              <a:t>Allowable:</a:t>
            </a:r>
            <a:r>
              <a:rPr lang="en-US" baseline="0" dirty="0" smtClean="0"/>
              <a:t> </a:t>
            </a:r>
            <a:r>
              <a:rPr lang="en-US" dirty="0" smtClean="0"/>
              <a:t>Is it allowable under 2 CFR 200, the appropriation, and program requirements?  </a:t>
            </a:r>
          </a:p>
          <a:p>
            <a:endParaRPr lang="en-US" dirty="0" smtClean="0"/>
          </a:p>
          <a:p>
            <a:r>
              <a:rPr lang="en-US" dirty="0" smtClean="0"/>
              <a:t>Allocable: Does it belong to the project</a:t>
            </a:r>
            <a:r>
              <a:rPr lang="en-US" baseline="0" dirty="0" smtClean="0"/>
              <a:t> </a:t>
            </a:r>
            <a:r>
              <a:rPr lang="en-US" dirty="0" smtClean="0"/>
              <a:t>budget? </a:t>
            </a:r>
            <a:r>
              <a:rPr lang="en-US" sz="1200" b="0" i="0" kern="1200" dirty="0" smtClean="0">
                <a:solidFill>
                  <a:schemeClr val="tx1"/>
                </a:solidFill>
                <a:effectLst/>
                <a:latin typeface="+mn-lt"/>
                <a:ea typeface="+mn-ea"/>
                <a:cs typeface="+mn-cs"/>
              </a:rPr>
              <a:t>A cost is allocable to a particular Federal award or other cost objective if the goods or services involved are chargeable or assignable to that Federal award or cost objective in accordance with relative benefits received.</a:t>
            </a:r>
            <a:endParaRPr lang="en-US" dirty="0" smtClean="0"/>
          </a:p>
          <a:p>
            <a:endParaRPr lang="en-US" dirty="0" smtClean="0"/>
          </a:p>
          <a:p>
            <a:r>
              <a:rPr lang="en-US" dirty="0" smtClean="0"/>
              <a:t>Reasonable: Is it necessary for the project, and does it seem reasonable? </a:t>
            </a:r>
            <a:r>
              <a:rPr lang="en-US" sz="1200" b="0" i="0" kern="1200" dirty="0" smtClean="0">
                <a:solidFill>
                  <a:schemeClr val="tx1"/>
                </a:solidFill>
                <a:effectLst/>
                <a:latin typeface="+mn-lt"/>
                <a:ea typeface="+mn-ea"/>
                <a:cs typeface="+mn-cs"/>
              </a:rPr>
              <a:t>A cost is reasonable if, in its nature and amount, it does not exceed that which would be incurred by a prudent person under the circumstances prevailing at the time the decision was made to incur the cost. </a:t>
            </a:r>
            <a:endParaRPr lang="en-US" dirty="0" smtClean="0"/>
          </a:p>
          <a:p>
            <a:pPr lvl="0"/>
            <a:endParaRPr lang="en-US" dirty="0" smtClean="0"/>
          </a:p>
          <a:p>
            <a:pPr lvl="0"/>
            <a:r>
              <a:rPr lang="en-US" dirty="0" smtClean="0"/>
              <a:t>In</a:t>
            </a:r>
            <a:r>
              <a:rPr lang="en-US" baseline="0" dirty="0" smtClean="0"/>
              <a:t> considering project costs, it’s important to evaluate them in the context of consistency, conformity, and documentation (more details outlined in the slide above).</a:t>
            </a:r>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11</a:t>
            </a:fld>
            <a:endParaRPr lang="en-US"/>
          </a:p>
        </p:txBody>
      </p:sp>
    </p:spTree>
    <p:extLst>
      <p:ext uri="{BB962C8B-B14F-4D97-AF65-F5344CB8AC3E}">
        <p14:creationId xmlns:p14="http://schemas.microsoft.com/office/powerpoint/2010/main" val="1800041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This particular example applies to budget revision modifications only.  </a:t>
            </a:r>
          </a:p>
          <a:p>
            <a:endParaRPr lang="en-US" baseline="0" dirty="0" smtClean="0"/>
          </a:p>
          <a:p>
            <a:r>
              <a:rPr lang="en-US" baseline="0" dirty="0" smtClean="0"/>
              <a:t>In order to determine if prior approval is needed, please formulate your budget categories based on the SF-424A form, including the original budget category totals, the revised totals, and the dollar change between these amounts for each of these categories.  This will help us better determine if the 10% threshold has been reached.</a:t>
            </a:r>
          </a:p>
        </p:txBody>
      </p:sp>
      <p:sp>
        <p:nvSpPr>
          <p:cNvPr id="4" name="Slide Number Placeholder 3"/>
          <p:cNvSpPr>
            <a:spLocks noGrp="1"/>
          </p:cNvSpPr>
          <p:nvPr>
            <p:ph type="sldNum" sz="quarter" idx="10"/>
          </p:nvPr>
        </p:nvSpPr>
        <p:spPr/>
        <p:txBody>
          <a:bodyPr/>
          <a:lstStyle/>
          <a:p>
            <a:fld id="{97E5B195-FC43-4FBD-80EC-9D96D1164C84}" type="slidenum">
              <a:rPr lang="en-US" smtClean="0"/>
              <a:t>12</a:t>
            </a:fld>
            <a:endParaRPr lang="en-US"/>
          </a:p>
        </p:txBody>
      </p:sp>
    </p:spTree>
    <p:extLst>
      <p:ext uri="{BB962C8B-B14F-4D97-AF65-F5344CB8AC3E}">
        <p14:creationId xmlns:p14="http://schemas.microsoft.com/office/powerpoint/2010/main" val="16363495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Here is an example where we wouldn’t need a revision for 10 percent since the amount being transferred is under $200,000 ($125,000).</a:t>
            </a:r>
          </a:p>
        </p:txBody>
      </p:sp>
      <p:sp>
        <p:nvSpPr>
          <p:cNvPr id="4" name="Slide Number Placeholder 3"/>
          <p:cNvSpPr>
            <a:spLocks noGrp="1"/>
          </p:cNvSpPr>
          <p:nvPr>
            <p:ph type="sldNum" sz="quarter" idx="10"/>
          </p:nvPr>
        </p:nvSpPr>
        <p:spPr/>
        <p:txBody>
          <a:bodyPr/>
          <a:lstStyle/>
          <a:p>
            <a:fld id="{97E5B195-FC43-4FBD-80EC-9D96D1164C84}" type="slidenum">
              <a:rPr lang="en-US" smtClean="0"/>
              <a:t>13</a:t>
            </a:fld>
            <a:endParaRPr lang="en-US"/>
          </a:p>
        </p:txBody>
      </p:sp>
    </p:spTree>
    <p:extLst>
      <p:ext uri="{BB962C8B-B14F-4D97-AF65-F5344CB8AC3E}">
        <p14:creationId xmlns:p14="http://schemas.microsoft.com/office/powerpoint/2010/main" val="2218406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Here we would need a revision for exceeding the 10 percent since the amount transferred is over 10 percent ($385,000).</a:t>
            </a:r>
          </a:p>
        </p:txBody>
      </p:sp>
      <p:sp>
        <p:nvSpPr>
          <p:cNvPr id="4" name="Slide Number Placeholder 3"/>
          <p:cNvSpPr>
            <a:spLocks noGrp="1"/>
          </p:cNvSpPr>
          <p:nvPr>
            <p:ph type="sldNum" sz="quarter" idx="10"/>
          </p:nvPr>
        </p:nvSpPr>
        <p:spPr/>
        <p:txBody>
          <a:bodyPr/>
          <a:lstStyle/>
          <a:p>
            <a:fld id="{97E5B195-FC43-4FBD-80EC-9D96D1164C84}" type="slidenum">
              <a:rPr lang="en-US" smtClean="0"/>
              <a:t>14</a:t>
            </a:fld>
            <a:endParaRPr lang="en-US"/>
          </a:p>
        </p:txBody>
      </p:sp>
    </p:spTree>
    <p:extLst>
      <p:ext uri="{BB962C8B-B14F-4D97-AF65-F5344CB8AC3E}">
        <p14:creationId xmlns:p14="http://schemas.microsoft.com/office/powerpoint/2010/main" val="1976936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smtClean="0"/>
              <a:t>Here </a:t>
            </a:r>
            <a:r>
              <a:rPr lang="en-US" baseline="0" dirty="0" smtClean="0"/>
              <a:t>we would not need a revision for the 10 percent budget threshold.  However, we would likely need a revision for equipment and perhaps contractual.  Since both the budget lines for equipment and contractual have increased in the revision, and since the purchase of additional equipment as well as any new </a:t>
            </a:r>
            <a:r>
              <a:rPr lang="en-US" baseline="0" dirty="0" err="1" smtClean="0"/>
              <a:t>subaward</a:t>
            </a:r>
            <a:r>
              <a:rPr lang="en-US" baseline="0" dirty="0" smtClean="0"/>
              <a:t> requires prior approval as noted earlier in this presentation, we would want to seek additional information if it was not provided.</a:t>
            </a:r>
          </a:p>
        </p:txBody>
      </p:sp>
      <p:sp>
        <p:nvSpPr>
          <p:cNvPr id="4" name="Slide Number Placeholder 3"/>
          <p:cNvSpPr>
            <a:spLocks noGrp="1"/>
          </p:cNvSpPr>
          <p:nvPr>
            <p:ph type="sldNum" sz="quarter" idx="10"/>
          </p:nvPr>
        </p:nvSpPr>
        <p:spPr/>
        <p:txBody>
          <a:bodyPr/>
          <a:lstStyle/>
          <a:p>
            <a:fld id="{97E5B195-FC43-4FBD-80EC-9D96D1164C84}" type="slidenum">
              <a:rPr lang="en-US" smtClean="0"/>
              <a:t>15</a:t>
            </a:fld>
            <a:endParaRPr lang="en-US"/>
          </a:p>
        </p:txBody>
      </p:sp>
    </p:spTree>
    <p:extLst>
      <p:ext uri="{BB962C8B-B14F-4D97-AF65-F5344CB8AC3E}">
        <p14:creationId xmlns:p14="http://schemas.microsoft.com/office/powerpoint/2010/main" val="3924045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Here, it is exactly 10 percent.  While this wouldn’t merit formal approval, the recipient should be on alert because any additional transfer between cost categories would necessitate formal approval, e.g., transferring any more funds from Travel to Supplies or Other.  Conversely, if the recipient were to decide on the need to transfer any categories back, that would lessen the chance of requiring formal approval, e.g., later, before submitting a revised budget, the recipient decides to transfer funds back from Personnel to Travel, that would in essence, buy them some additional leeway for transfer going forward.</a:t>
            </a:r>
          </a:p>
        </p:txBody>
      </p:sp>
      <p:sp>
        <p:nvSpPr>
          <p:cNvPr id="4" name="Slide Number Placeholder 3"/>
          <p:cNvSpPr>
            <a:spLocks noGrp="1"/>
          </p:cNvSpPr>
          <p:nvPr>
            <p:ph type="sldNum" sz="quarter" idx="10"/>
          </p:nvPr>
        </p:nvSpPr>
        <p:spPr/>
        <p:txBody>
          <a:bodyPr/>
          <a:lstStyle/>
          <a:p>
            <a:fld id="{97E5B195-FC43-4FBD-80EC-9D96D1164C84}" type="slidenum">
              <a:rPr lang="en-US" smtClean="0"/>
              <a:t>16</a:t>
            </a:fld>
            <a:endParaRPr lang="en-US"/>
          </a:p>
        </p:txBody>
      </p:sp>
    </p:spTree>
    <p:extLst>
      <p:ext uri="{BB962C8B-B14F-4D97-AF65-F5344CB8AC3E}">
        <p14:creationId xmlns:p14="http://schemas.microsoft.com/office/powerpoint/2010/main" val="3098768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17</a:t>
            </a:fld>
            <a:endParaRPr lang="en-US"/>
          </a:p>
        </p:txBody>
      </p:sp>
    </p:spTree>
    <p:extLst>
      <p:ext uri="{BB962C8B-B14F-4D97-AF65-F5344CB8AC3E}">
        <p14:creationId xmlns:p14="http://schemas.microsoft.com/office/powerpoint/2010/main" val="1377137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dirty="0" smtClean="0"/>
              <a:t>The following</a:t>
            </a:r>
            <a:r>
              <a:rPr lang="en-US" baseline="0" dirty="0" smtClean="0"/>
              <a:t> slides will address the documents required for the closeout process.</a:t>
            </a:r>
          </a:p>
          <a:p>
            <a:endParaRPr lang="en-US" dirty="0" smtClean="0"/>
          </a:p>
          <a:p>
            <a:r>
              <a:rPr lang="en-US" baseline="0" dirty="0" smtClean="0"/>
              <a:t>This slide features a sample closeout Federal Financial Report (FFR), also known as the SF-425.  This FFR is different from the “final” FFR quarterly report, as in it has all the finalized amounts of the project, including the amount that the recipient is expected to return to the U.S. Treasury.  </a:t>
            </a:r>
          </a:p>
          <a:p>
            <a:endParaRPr lang="en-US" baseline="0" dirty="0" smtClean="0"/>
          </a:p>
          <a:p>
            <a:r>
              <a:rPr lang="en-US" baseline="0" dirty="0" smtClean="0"/>
              <a:t>Referring to the slide above, please ensure that:</a:t>
            </a:r>
          </a:p>
          <a:p>
            <a:pPr marL="228600" indent="-228600">
              <a:buAutoNum type="arabicParenR"/>
            </a:pPr>
            <a:r>
              <a:rPr lang="en-US" baseline="0" dirty="0" smtClean="0"/>
              <a:t>The de-obligation balance (line 10h) is accurate;</a:t>
            </a:r>
          </a:p>
          <a:p>
            <a:pPr marL="228600" indent="-228600">
              <a:buAutoNum type="arabicParenR"/>
            </a:pPr>
            <a:r>
              <a:rPr lang="en-US" dirty="0" smtClean="0"/>
              <a:t>Cash on Hand (line 10c) is zeroed out ($0.00);</a:t>
            </a:r>
            <a:r>
              <a:rPr lang="en-US" baseline="0" dirty="0" smtClean="0"/>
              <a:t>  </a:t>
            </a:r>
          </a:p>
          <a:p>
            <a:pPr marL="228600" indent="-228600">
              <a:buAutoNum type="arabicParenR"/>
            </a:pPr>
            <a:r>
              <a:rPr lang="en-US" baseline="0" dirty="0" smtClean="0"/>
              <a:t>Total Federal funds authorized (line 10d) should match with the authorized value on the recipient’s PMS report;  </a:t>
            </a:r>
          </a:p>
          <a:p>
            <a:pPr marL="228600" indent="-228600">
              <a:buAutoNum type="arabicParenR"/>
            </a:pPr>
            <a:r>
              <a:rPr lang="en-US" baseline="0" dirty="0" smtClean="0"/>
              <a:t>Total Federal Share (line 10g) should match with the recipient’s PMS report’s Snapshot Disburse value and Snapshot Charge value.</a:t>
            </a:r>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18</a:t>
            </a:fld>
            <a:endParaRPr lang="en-US"/>
          </a:p>
        </p:txBody>
      </p:sp>
    </p:spTree>
    <p:extLst>
      <p:ext uri="{BB962C8B-B14F-4D97-AF65-F5344CB8AC3E}">
        <p14:creationId xmlns:p14="http://schemas.microsoft.com/office/powerpoint/2010/main" val="16511028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dirty="0" smtClean="0"/>
              <a:t>This</a:t>
            </a:r>
            <a:r>
              <a:rPr lang="en-US" baseline="0" dirty="0" smtClean="0"/>
              <a:t> slide presents a sample FFR with an Cash on Hand balance of $0.00 (line 10c).  It is important for the amount to be zeroed out to ensure that closeout can take place.</a:t>
            </a:r>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19</a:t>
            </a:fld>
            <a:endParaRPr lang="en-US"/>
          </a:p>
        </p:txBody>
      </p:sp>
    </p:spTree>
    <p:extLst>
      <p:ext uri="{BB962C8B-B14F-4D97-AF65-F5344CB8AC3E}">
        <p14:creationId xmlns:p14="http://schemas.microsoft.com/office/powerpoint/2010/main" val="453711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dirty="0" smtClean="0"/>
              <a:t>Here is a sample page of a</a:t>
            </a:r>
            <a:r>
              <a:rPr lang="en-US" baseline="0" dirty="0" smtClean="0"/>
              <a:t> recipient’s PMS report.</a:t>
            </a:r>
          </a:p>
          <a:p>
            <a:endParaRPr lang="en-US" baseline="0" dirty="0" smtClean="0"/>
          </a:p>
          <a:p>
            <a:r>
              <a:rPr lang="en-US" baseline="0" dirty="0" smtClean="0"/>
              <a:t>When reviewing this report during closeout, make sure that the amounts being reported under “</a:t>
            </a:r>
            <a:r>
              <a:rPr lang="en-US" dirty="0" smtClean="0"/>
              <a:t>Snapshot </a:t>
            </a:r>
            <a:r>
              <a:rPr lang="en-US" dirty="0" err="1" smtClean="0"/>
              <a:t>Disb</a:t>
            </a:r>
            <a:r>
              <a:rPr lang="en-US" dirty="0" smtClean="0"/>
              <a:t>” and “Snapshot </a:t>
            </a:r>
            <a:r>
              <a:rPr lang="en-US" dirty="0" err="1" smtClean="0"/>
              <a:t>Chrg</a:t>
            </a:r>
            <a:r>
              <a:rPr lang="en-US" dirty="0" smtClean="0"/>
              <a:t>” have matching values.</a:t>
            </a:r>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20</a:t>
            </a:fld>
            <a:endParaRPr lang="en-US"/>
          </a:p>
        </p:txBody>
      </p:sp>
    </p:spTree>
    <p:extLst>
      <p:ext uri="{BB962C8B-B14F-4D97-AF65-F5344CB8AC3E}">
        <p14:creationId xmlns:p14="http://schemas.microsoft.com/office/powerpoint/2010/main" val="29413888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r>
              <a:rPr lang="en-US" baseline="0" dirty="0" smtClean="0"/>
              <a:t>Also, there are lots of resources out there on the web, and even trainings, that cover management of federal awards, whether grants or cooperative agreements (rules for contracts are different!)  Bookmark the Uniform Guidance!</a:t>
            </a:r>
          </a:p>
          <a:p>
            <a:endParaRPr lang="en-US" baseline="0" dirty="0" smtClean="0"/>
          </a:p>
          <a:p>
            <a:r>
              <a:rPr lang="en-US" baseline="0" dirty="0" smtClean="0"/>
              <a:t>If you have any questions or need further information, our e-mail addresses are listed below:</a:t>
            </a:r>
          </a:p>
          <a:p>
            <a:endParaRPr lang="en-US" baseline="0" dirty="0" smtClean="0"/>
          </a:p>
          <a:p>
            <a:r>
              <a:rPr lang="en-US" baseline="0" dirty="0" smtClean="0"/>
              <a:t>Tanya Shugar</a:t>
            </a:r>
          </a:p>
          <a:p>
            <a:r>
              <a:rPr lang="en-US" baseline="0" dirty="0" smtClean="0"/>
              <a:t>Shugar.Tanya@dol.gov</a:t>
            </a:r>
          </a:p>
          <a:p>
            <a:endParaRPr lang="en-US" baseline="0" dirty="0" smtClean="0"/>
          </a:p>
          <a:p>
            <a:r>
              <a:rPr lang="en-US" baseline="0" dirty="0" smtClean="0"/>
              <a:t>Evan Hughes</a:t>
            </a:r>
          </a:p>
          <a:p>
            <a:r>
              <a:rPr lang="en-US" baseline="0" dirty="0" smtClean="0"/>
              <a:t>Hughes.Evan.H@dol.gov</a:t>
            </a:r>
          </a:p>
          <a:p>
            <a:endParaRPr lang="en-US" baseline="0" dirty="0" smtClean="0"/>
          </a:p>
          <a:p>
            <a:r>
              <a:rPr lang="en-US" baseline="0" dirty="0" smtClean="0"/>
              <a:t>Sue Levenstein</a:t>
            </a:r>
          </a:p>
          <a:p>
            <a:r>
              <a:rPr lang="en-US" baseline="0" dirty="0" smtClean="0"/>
              <a:t>Levenstein.Susan.L@dol.gov</a:t>
            </a:r>
          </a:p>
          <a:p>
            <a:endParaRPr lang="en-US" baseline="0" dirty="0" smtClean="0"/>
          </a:p>
          <a:p>
            <a:r>
              <a:rPr lang="en-US" baseline="0" dirty="0" smtClean="0"/>
              <a:t>Tam Nguyen</a:t>
            </a:r>
          </a:p>
          <a:p>
            <a:r>
              <a:rPr lang="en-US" baseline="0" dirty="0" smtClean="0"/>
              <a:t>Nguyen.Tam-Thao.H@dol.gov</a:t>
            </a:r>
          </a:p>
          <a:p>
            <a:endParaRPr lang="en-US" dirty="0"/>
          </a:p>
        </p:txBody>
      </p:sp>
      <p:sp>
        <p:nvSpPr>
          <p:cNvPr id="4" name="Slide Number Placeholder 3"/>
          <p:cNvSpPr>
            <a:spLocks noGrp="1"/>
          </p:cNvSpPr>
          <p:nvPr>
            <p:ph type="sldNum" sz="quarter" idx="10"/>
          </p:nvPr>
        </p:nvSpPr>
        <p:spPr/>
        <p:txBody>
          <a:bodyPr/>
          <a:lstStyle/>
          <a:p>
            <a:fld id="{97E5B195-FC43-4FBD-80EC-9D96D1164C84}" type="slidenum">
              <a:rPr lang="en-US" smtClean="0"/>
              <a:t>21</a:t>
            </a:fld>
            <a:endParaRPr lang="en-US"/>
          </a:p>
        </p:txBody>
      </p:sp>
    </p:spTree>
    <p:extLst>
      <p:ext uri="{BB962C8B-B14F-4D97-AF65-F5344CB8AC3E}">
        <p14:creationId xmlns:p14="http://schemas.microsoft.com/office/powerpoint/2010/main" val="1301816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D06DCAF-004E-4514-AC67-B1C5E4B485A9}" type="datetimeFigureOut">
              <a:rPr lang="en-US" smtClean="0"/>
              <a:t>9/14/2021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2741504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06DCAF-004E-4514-AC67-B1C5E4B485A9}" type="datetimeFigureOut">
              <a:rPr lang="en-US" smtClean="0"/>
              <a:t>9/14/2021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28304F-29EB-47ED-B91C-07CE215248F4}" type="slidenum">
              <a:rPr lang="en-US" smtClean="0"/>
              <a:t>‹#›</a:t>
            </a:fld>
            <a:endParaRPr lang="en-US"/>
          </a:p>
        </p:txBody>
      </p:sp>
      <p:cxnSp>
        <p:nvCxnSpPr>
          <p:cNvPr id="7" name="Straight Connector 6"/>
          <p:cNvCxnSpPr/>
          <p:nvPr userDrawn="1"/>
        </p:nvCxnSpPr>
        <p:spPr>
          <a:xfrm>
            <a:off x="0" y="1038728"/>
            <a:ext cx="12192000"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7516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06DCAF-004E-4514-AC67-B1C5E4B485A9}" type="datetimeFigureOut">
              <a:rPr lang="en-US" smtClean="0"/>
              <a:t>9/14/2021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3833180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06DCAF-004E-4514-AC67-B1C5E4B485A9}" type="datetimeFigureOut">
              <a:rPr lang="en-US" smtClean="0"/>
              <a:t>9/14/2021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391538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D06DCAF-004E-4514-AC67-B1C5E4B485A9}" type="datetimeFigureOut">
              <a:rPr lang="en-US" smtClean="0"/>
              <a:t>9/14/2021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8707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D06DCAF-004E-4514-AC67-B1C5E4B485A9}" type="datetimeFigureOut">
              <a:rPr lang="en-US" smtClean="0"/>
              <a:t>9/14/2021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2682362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06DCAF-004E-4514-AC67-B1C5E4B485A9}" type="datetimeFigureOut">
              <a:rPr lang="en-US" smtClean="0"/>
              <a:t>9/14/2021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2540879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06DCAF-004E-4514-AC67-B1C5E4B485A9}" type="datetimeFigureOut">
              <a:rPr lang="en-US" smtClean="0"/>
              <a:t>9/14/2021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3579616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06DCAF-004E-4514-AC67-B1C5E4B485A9}" type="datetimeFigureOut">
              <a:rPr lang="en-US" smtClean="0"/>
              <a:t>9/14/2021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1635360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06DCAF-004E-4514-AC67-B1C5E4B485A9}" type="datetimeFigureOut">
              <a:rPr lang="en-US" smtClean="0"/>
              <a:t>9/14/2021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3958340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06DCAF-004E-4514-AC67-B1C5E4B485A9}" type="datetimeFigureOut">
              <a:rPr lang="en-US" smtClean="0"/>
              <a:t>9/14/2021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28304F-29EB-47ED-B91C-07CE215248F4}" type="slidenum">
              <a:rPr lang="en-US" smtClean="0"/>
              <a:t>‹#›</a:t>
            </a:fld>
            <a:endParaRPr lang="en-US"/>
          </a:p>
        </p:txBody>
      </p:sp>
    </p:spTree>
    <p:extLst>
      <p:ext uri="{BB962C8B-B14F-4D97-AF65-F5344CB8AC3E}">
        <p14:creationId xmlns:p14="http://schemas.microsoft.com/office/powerpoint/2010/main" val="3368113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06DCAF-004E-4514-AC67-B1C5E4B485A9}" type="datetimeFigureOut">
              <a:rPr lang="en-US" smtClean="0"/>
              <a:t>9/14/2021</a:t>
            </a:fld>
            <a:endParaRPr 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28304F-29EB-47ED-B91C-07CE215248F4}" type="slidenum">
              <a:rPr lang="en-US" smtClean="0"/>
              <a:t>‹#›</a:t>
            </a:fld>
            <a:endParaRPr lang="en-US"/>
          </a:p>
        </p:txBody>
      </p:sp>
    </p:spTree>
    <p:extLst>
      <p:ext uri="{BB962C8B-B14F-4D97-AF65-F5344CB8AC3E}">
        <p14:creationId xmlns:p14="http://schemas.microsoft.com/office/powerpoint/2010/main" val="177516680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ecfr.gov/cgi-bin/text-idx?SID=1ba3ecb08c998a0a9024176aed0ac23a&amp;mc=true&amp;node=pt2.1.200&amp;rgn=div5#se2.1.200_1308"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hyperlink" Target="https://www.ecfr.gov/cgi-bin/text-idx?SID=1ba3ecb08c998a0a9024176aed0ac23a&amp;mc=true&amp;node=pt2.1.200&amp;rgn=div5#se2.1.200_1407"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ecfr.gov/cgi-bin/text-idx?tpl=/ecfrbrowse/Title02/2cfr200_main_02.tp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914400"/>
            <a:ext cx="7772400" cy="1470025"/>
          </a:xfrm>
        </p:spPr>
        <p:txBody>
          <a:bodyPr>
            <a:normAutofit/>
          </a:bodyPr>
          <a:lstStyle/>
          <a:p>
            <a:r>
              <a:rPr lang="en-US" sz="4800" b="1" dirty="0" smtClean="0">
                <a:latin typeface="+mn-lt"/>
              </a:rPr>
              <a:t>WORKING TOGETHER</a:t>
            </a:r>
            <a:endParaRPr lang="en-US" sz="4800" b="1" dirty="0">
              <a:latin typeface="+mn-lt"/>
            </a:endParaRPr>
          </a:p>
        </p:txBody>
      </p:sp>
      <p:sp>
        <p:nvSpPr>
          <p:cNvPr id="3" name="Subtitle 2"/>
          <p:cNvSpPr>
            <a:spLocks noGrp="1"/>
          </p:cNvSpPr>
          <p:nvPr>
            <p:ph type="subTitle" idx="1"/>
          </p:nvPr>
        </p:nvSpPr>
        <p:spPr>
          <a:xfrm>
            <a:off x="1828800" y="2971800"/>
            <a:ext cx="8534400" cy="2133600"/>
          </a:xfrm>
        </p:spPr>
        <p:txBody>
          <a:bodyPr>
            <a:normAutofit fontScale="85000" lnSpcReduction="20000"/>
          </a:bodyPr>
          <a:lstStyle/>
          <a:p>
            <a:r>
              <a:rPr lang="en-US" dirty="0" smtClean="0">
                <a:solidFill>
                  <a:srgbClr val="FF0000"/>
                </a:solidFill>
              </a:rPr>
              <a:t>Tanya Shugar </a:t>
            </a:r>
            <a:r>
              <a:rPr lang="en-US" dirty="0" smtClean="0">
                <a:solidFill>
                  <a:schemeClr val="tx2">
                    <a:lumMod val="60000"/>
                    <a:lumOff val="40000"/>
                  </a:schemeClr>
                </a:solidFill>
              </a:rPr>
              <a:t>(ILAB)</a:t>
            </a:r>
            <a:endParaRPr lang="en-US" dirty="0" smtClean="0">
              <a:solidFill>
                <a:srgbClr val="FF0000"/>
              </a:solidFill>
            </a:endParaRPr>
          </a:p>
          <a:p>
            <a:r>
              <a:rPr lang="en-US" dirty="0" smtClean="0">
                <a:solidFill>
                  <a:srgbClr val="FF0000"/>
                </a:solidFill>
              </a:rPr>
              <a:t>Evan Hughes, Sue Levenstein, and Tam Nguyen </a:t>
            </a:r>
            <a:r>
              <a:rPr lang="en-US" dirty="0" smtClean="0">
                <a:solidFill>
                  <a:schemeClr val="tx2">
                    <a:lumMod val="60000"/>
                    <a:lumOff val="40000"/>
                  </a:schemeClr>
                </a:solidFill>
              </a:rPr>
              <a:t>(ETA/OGM</a:t>
            </a:r>
            <a:r>
              <a:rPr lang="en-US" dirty="0">
                <a:solidFill>
                  <a:schemeClr val="tx2">
                    <a:lumMod val="60000"/>
                    <a:lumOff val="40000"/>
                  </a:schemeClr>
                </a:solidFill>
              </a:rPr>
              <a:t>)</a:t>
            </a:r>
          </a:p>
          <a:p>
            <a:r>
              <a:rPr lang="en-US" dirty="0" smtClean="0">
                <a:solidFill>
                  <a:srgbClr val="FF0000"/>
                </a:solidFill>
              </a:rPr>
              <a:t> </a:t>
            </a:r>
            <a:endParaRPr lang="en-US" dirty="0">
              <a:solidFill>
                <a:schemeClr val="tx2">
                  <a:lumMod val="60000"/>
                  <a:lumOff val="40000"/>
                </a:schemeClr>
              </a:solidFill>
            </a:endParaRPr>
          </a:p>
          <a:p>
            <a:endParaRPr lang="en-US" sz="2800" dirty="0" smtClean="0">
              <a:solidFill>
                <a:schemeClr val="tx2">
                  <a:lumMod val="60000"/>
                  <a:lumOff val="40000"/>
                </a:schemeClr>
              </a:solidFill>
            </a:endParaRPr>
          </a:p>
          <a:p>
            <a:r>
              <a:rPr lang="en-US" sz="2800" dirty="0" smtClean="0">
                <a:solidFill>
                  <a:schemeClr val="tx2">
                    <a:lumMod val="60000"/>
                    <a:lumOff val="40000"/>
                  </a:schemeClr>
                </a:solidFill>
              </a:rPr>
              <a:t>FY 2020 New Grantee Orientation</a:t>
            </a:r>
          </a:p>
        </p:txBody>
      </p:sp>
      <p:cxnSp>
        <p:nvCxnSpPr>
          <p:cNvPr id="5" name="Straight Connector 4"/>
          <p:cNvCxnSpPr/>
          <p:nvPr/>
        </p:nvCxnSpPr>
        <p:spPr>
          <a:xfrm>
            <a:off x="304800" y="1859490"/>
            <a:ext cx="11353800"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768603" y="1674253"/>
            <a:ext cx="8869159" cy="769441"/>
          </a:xfrm>
          <a:prstGeom prst="rect">
            <a:avLst/>
          </a:prstGeom>
        </p:spPr>
        <p:txBody>
          <a:bodyPr wrap="none">
            <a:spAutoFit/>
          </a:bodyPr>
          <a:lstStyle/>
          <a:p>
            <a:r>
              <a:rPr lang="en-US" sz="4400" b="1" dirty="0" smtClean="0"/>
              <a:t>UNDER A COOPERATIVE AGREEMENT</a:t>
            </a:r>
            <a:endParaRPr lang="en-US" sz="4400" dirty="0"/>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Tree>
    <p:extLst>
      <p:ext uri="{BB962C8B-B14F-4D97-AF65-F5344CB8AC3E}">
        <p14:creationId xmlns:p14="http://schemas.microsoft.com/office/powerpoint/2010/main" val="36120461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p:cNvSpPr/>
          <p:nvPr/>
        </p:nvSpPr>
        <p:spPr>
          <a:xfrm>
            <a:off x="6477000" y="2362200"/>
            <a:ext cx="4572000" cy="2209800"/>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sz="4000" dirty="0"/>
              <a:t>Key players in the award</a:t>
            </a:r>
            <a:endParaRPr lang="en-US" sz="4000" dirty="0">
              <a:latin typeface="+mn-lt"/>
            </a:endParaRPr>
          </a:p>
        </p:txBody>
      </p:sp>
      <p:sp>
        <p:nvSpPr>
          <p:cNvPr id="8" name="Content Placeholder 7"/>
          <p:cNvSpPr>
            <a:spLocks noGrp="1"/>
          </p:cNvSpPr>
          <p:nvPr>
            <p:ph sz="half" idx="4294967295"/>
          </p:nvPr>
        </p:nvSpPr>
        <p:spPr>
          <a:xfrm>
            <a:off x="6553200" y="2544762"/>
            <a:ext cx="5181600" cy="2179638"/>
          </a:xfrm>
        </p:spPr>
        <p:txBody>
          <a:bodyPr>
            <a:normAutofit/>
          </a:bodyPr>
          <a:lstStyle/>
          <a:p>
            <a:pPr marL="0" indent="0">
              <a:spcBef>
                <a:spcPts val="0"/>
              </a:spcBef>
              <a:buNone/>
            </a:pPr>
            <a:r>
              <a:rPr lang="en-US" sz="1900" b="1" dirty="0"/>
              <a:t>Recipient </a:t>
            </a:r>
            <a:r>
              <a:rPr lang="en-US" sz="1900" b="1" dirty="0" smtClean="0"/>
              <a:t>Organization (Grantee</a:t>
            </a:r>
            <a:r>
              <a:rPr lang="en-US" sz="1900" b="1" dirty="0"/>
              <a:t>)</a:t>
            </a:r>
          </a:p>
          <a:p>
            <a:pPr lvl="1">
              <a:spcBef>
                <a:spcPts val="0"/>
              </a:spcBef>
            </a:pPr>
            <a:r>
              <a:rPr lang="en-US" sz="1900" dirty="0"/>
              <a:t>Project Director</a:t>
            </a:r>
          </a:p>
          <a:p>
            <a:pPr lvl="2">
              <a:spcBef>
                <a:spcPts val="0"/>
              </a:spcBef>
            </a:pPr>
            <a:r>
              <a:rPr lang="en-US" sz="1900" dirty="0"/>
              <a:t>Project plan</a:t>
            </a:r>
          </a:p>
          <a:p>
            <a:pPr lvl="1">
              <a:spcBef>
                <a:spcPts val="0"/>
              </a:spcBef>
            </a:pPr>
            <a:r>
              <a:rPr lang="en-US" sz="1900" dirty="0"/>
              <a:t>Procurement Officer / Authorized Representative (AR or AOR)</a:t>
            </a:r>
          </a:p>
          <a:p>
            <a:pPr lvl="2">
              <a:spcBef>
                <a:spcPts val="0"/>
              </a:spcBef>
            </a:pPr>
            <a:r>
              <a:rPr lang="en-US" sz="1900" dirty="0"/>
              <a:t>Reviews, approvals, </a:t>
            </a:r>
            <a:r>
              <a:rPr lang="en-US" sz="1900" dirty="0" smtClean="0"/>
              <a:t>submissions</a:t>
            </a:r>
            <a:endParaRPr lang="en-US" dirty="0"/>
          </a:p>
        </p:txBody>
      </p:sp>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4" name="Rounded Rectangle 3"/>
          <p:cNvSpPr/>
          <p:nvPr/>
        </p:nvSpPr>
        <p:spPr>
          <a:xfrm>
            <a:off x="381000" y="1417638"/>
            <a:ext cx="4953000" cy="1935162"/>
          </a:xfrm>
          <a:prstGeom prst="roundRect">
            <a:avLst/>
          </a:prstGeom>
          <a:solidFill>
            <a:srgbClr val="FFC000"/>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extBox 4"/>
          <p:cNvSpPr txBox="1"/>
          <p:nvPr/>
        </p:nvSpPr>
        <p:spPr>
          <a:xfrm>
            <a:off x="457200" y="1522274"/>
            <a:ext cx="4876800" cy="1754326"/>
          </a:xfrm>
          <a:prstGeom prst="rect">
            <a:avLst/>
          </a:prstGeom>
          <a:noFill/>
        </p:spPr>
        <p:txBody>
          <a:bodyPr wrap="square" rtlCol="0">
            <a:spAutoFit/>
          </a:bodyPr>
          <a:lstStyle/>
          <a:p>
            <a:pPr lvl="0"/>
            <a:r>
              <a:rPr lang="en-US" b="1" dirty="0">
                <a:solidFill>
                  <a:prstClr val="black"/>
                </a:solidFill>
              </a:rPr>
              <a:t>ILAB – Your Program Office</a:t>
            </a:r>
          </a:p>
          <a:p>
            <a:pPr marL="285750" indent="-285750">
              <a:buFont typeface="Arial" panose="020B0604020202020204" pitchFamily="34" charset="0"/>
              <a:buChar char="–"/>
            </a:pPr>
            <a:r>
              <a:rPr lang="en-US" dirty="0">
                <a:solidFill>
                  <a:prstClr val="black"/>
                </a:solidFill>
              </a:rPr>
              <a:t>Grant Officer’s Representative (GOR), Division Chief</a:t>
            </a:r>
          </a:p>
          <a:p>
            <a:pPr marL="685800" lvl="1" indent="-228600">
              <a:buFont typeface="Arial" panose="020B0604020202020204" pitchFamily="34" charset="0"/>
              <a:buChar char="•"/>
            </a:pPr>
            <a:r>
              <a:rPr lang="en-US" dirty="0">
                <a:solidFill>
                  <a:prstClr val="black"/>
                </a:solidFill>
              </a:rPr>
              <a:t>Project activities</a:t>
            </a:r>
          </a:p>
          <a:p>
            <a:pPr marL="685800" lvl="1" indent="-228600">
              <a:buFont typeface="Arial" panose="020B0604020202020204" pitchFamily="34" charset="0"/>
              <a:buChar char="•"/>
            </a:pPr>
            <a:r>
              <a:rPr lang="en-US" dirty="0">
                <a:solidFill>
                  <a:prstClr val="black"/>
                </a:solidFill>
              </a:rPr>
              <a:t>Scope</a:t>
            </a:r>
          </a:p>
          <a:p>
            <a:pPr marL="685800" lvl="1" indent="-228600">
              <a:buFont typeface="Arial" panose="020B0604020202020204" pitchFamily="34" charset="0"/>
              <a:buChar char="•"/>
            </a:pPr>
            <a:r>
              <a:rPr lang="en-US" dirty="0">
                <a:solidFill>
                  <a:prstClr val="black"/>
                </a:solidFill>
              </a:rPr>
              <a:t>Programmatic</a:t>
            </a:r>
          </a:p>
        </p:txBody>
      </p:sp>
      <p:sp>
        <p:nvSpPr>
          <p:cNvPr id="6" name="Rounded Rectangle 5"/>
          <p:cNvSpPr/>
          <p:nvPr/>
        </p:nvSpPr>
        <p:spPr>
          <a:xfrm>
            <a:off x="381000" y="3657600"/>
            <a:ext cx="4953000" cy="182880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71311" y="3726891"/>
            <a:ext cx="4114800" cy="2031325"/>
          </a:xfrm>
          <a:prstGeom prst="rect">
            <a:avLst/>
          </a:prstGeom>
          <a:noFill/>
        </p:spPr>
        <p:txBody>
          <a:bodyPr wrap="square" rtlCol="0">
            <a:spAutoFit/>
          </a:bodyPr>
          <a:lstStyle/>
          <a:p>
            <a:r>
              <a:rPr lang="en-US" b="1" dirty="0" smtClean="0"/>
              <a:t>Office of Grants Management (OGM)</a:t>
            </a:r>
          </a:p>
          <a:p>
            <a:pPr marL="285750" lvl="0" indent="-285750">
              <a:buFont typeface="Arial" panose="020B0604020202020204" pitchFamily="34" charset="0"/>
              <a:buChar char="–"/>
            </a:pPr>
            <a:r>
              <a:rPr lang="en-US" dirty="0" smtClean="0">
                <a:solidFill>
                  <a:prstClr val="black"/>
                </a:solidFill>
              </a:rPr>
              <a:t>Grants Management Specialist (GMS), Grant Officer (GO)</a:t>
            </a:r>
            <a:endParaRPr lang="en-US" dirty="0">
              <a:solidFill>
                <a:prstClr val="black"/>
              </a:solidFill>
            </a:endParaRPr>
          </a:p>
          <a:p>
            <a:pPr marL="685800" lvl="1" indent="-228600">
              <a:buFont typeface="Arial" panose="020B0604020202020204" pitchFamily="34" charset="0"/>
              <a:buChar char="•"/>
            </a:pPr>
            <a:r>
              <a:rPr lang="en-US" dirty="0" smtClean="0">
                <a:solidFill>
                  <a:prstClr val="black"/>
                </a:solidFill>
              </a:rPr>
              <a:t>Uniform Guidance (2 CFR 200)</a:t>
            </a:r>
            <a:endParaRPr lang="en-US" dirty="0">
              <a:solidFill>
                <a:prstClr val="black"/>
              </a:solidFill>
            </a:endParaRPr>
          </a:p>
          <a:p>
            <a:pPr marL="685800" lvl="1" indent="-228600">
              <a:buFont typeface="Arial" panose="020B0604020202020204" pitchFamily="34" charset="0"/>
              <a:buChar char="•"/>
            </a:pPr>
            <a:r>
              <a:rPr lang="en-US" dirty="0" smtClean="0">
                <a:solidFill>
                  <a:prstClr val="black"/>
                </a:solidFill>
              </a:rPr>
              <a:t>Policy</a:t>
            </a:r>
            <a:endParaRPr lang="en-US" dirty="0">
              <a:solidFill>
                <a:prstClr val="black"/>
              </a:solidFill>
            </a:endParaRPr>
          </a:p>
          <a:p>
            <a:pPr marL="685800" lvl="1" indent="-228600">
              <a:buFont typeface="Arial" panose="020B0604020202020204" pitchFamily="34" charset="0"/>
              <a:buChar char="•"/>
            </a:pPr>
            <a:r>
              <a:rPr lang="en-US" dirty="0" smtClean="0">
                <a:solidFill>
                  <a:prstClr val="black"/>
                </a:solidFill>
              </a:rPr>
              <a:t>Budget</a:t>
            </a:r>
            <a:endParaRPr lang="en-US" dirty="0">
              <a:solidFill>
                <a:prstClr val="black"/>
              </a:solidFill>
            </a:endParaRPr>
          </a:p>
          <a:p>
            <a:endParaRPr lang="en-US" b="1" dirty="0"/>
          </a:p>
        </p:txBody>
      </p:sp>
      <p:cxnSp>
        <p:nvCxnSpPr>
          <p:cNvPr id="19" name="Straight Arrow Connector 18"/>
          <p:cNvCxnSpPr/>
          <p:nvPr/>
        </p:nvCxnSpPr>
        <p:spPr>
          <a:xfrm>
            <a:off x="5562600" y="2819400"/>
            <a:ext cx="685800" cy="3048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5562600" y="4191000"/>
            <a:ext cx="685800" cy="3048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743200" y="3352800"/>
            <a:ext cx="0" cy="3048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64022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155" y="480660"/>
            <a:ext cx="9677400" cy="715962"/>
          </a:xfrm>
        </p:spPr>
        <p:txBody>
          <a:bodyPr>
            <a:noAutofit/>
          </a:bodyPr>
          <a:lstStyle/>
          <a:p>
            <a:r>
              <a:rPr lang="en-US" dirty="0" smtClean="0">
                <a:latin typeface="+mn-lt"/>
              </a:rPr>
              <a:t>Components of a Cooperative Agreement</a:t>
            </a:r>
            <a:endParaRPr lang="en-US" dirty="0">
              <a:latin typeface="+mn-lt"/>
            </a:endParaRPr>
          </a:p>
        </p:txBody>
      </p:sp>
      <p:sp>
        <p:nvSpPr>
          <p:cNvPr id="3" name="Content Placeholder 2"/>
          <p:cNvSpPr>
            <a:spLocks noGrp="1"/>
          </p:cNvSpPr>
          <p:nvPr>
            <p:ph idx="1"/>
          </p:nvPr>
        </p:nvSpPr>
        <p:spPr>
          <a:xfrm>
            <a:off x="1447800" y="1600205"/>
            <a:ext cx="10134600" cy="4525963"/>
          </a:xfrm>
        </p:spPr>
        <p:txBody>
          <a:bodyPr>
            <a:normAutofit/>
          </a:bodyPr>
          <a:lstStyle/>
          <a:p>
            <a:pPr>
              <a:defRPr/>
            </a:pPr>
            <a:r>
              <a:rPr lang="en-US" dirty="0" smtClean="0"/>
              <a:t>Award/Modification cover page</a:t>
            </a:r>
            <a:endParaRPr lang="en-US" dirty="0"/>
          </a:p>
          <a:p>
            <a:pPr lvl="1">
              <a:defRPr/>
            </a:pPr>
            <a:r>
              <a:rPr lang="en-US" dirty="0"/>
              <a:t>Signature </a:t>
            </a:r>
            <a:r>
              <a:rPr lang="en-US" dirty="0" smtClean="0"/>
              <a:t>page </a:t>
            </a:r>
            <a:r>
              <a:rPr lang="en-US" dirty="0"/>
              <a:t>/ Notice of </a:t>
            </a:r>
            <a:r>
              <a:rPr lang="en-US" dirty="0" smtClean="0"/>
              <a:t>obligation </a:t>
            </a:r>
            <a:r>
              <a:rPr lang="en-US" dirty="0"/>
              <a:t>(NOO)</a:t>
            </a:r>
          </a:p>
          <a:p>
            <a:pPr>
              <a:defRPr/>
            </a:pPr>
            <a:r>
              <a:rPr lang="en-US" dirty="0" smtClean="0"/>
              <a:t>Agreement/Modification</a:t>
            </a:r>
            <a:endParaRPr lang="en-US" dirty="0"/>
          </a:p>
          <a:p>
            <a:pPr lvl="1">
              <a:defRPr/>
            </a:pPr>
            <a:r>
              <a:rPr lang="en-US" dirty="0" smtClean="0"/>
              <a:t>Terms </a:t>
            </a:r>
            <a:r>
              <a:rPr lang="en-US" dirty="0"/>
              <a:t>and </a:t>
            </a:r>
            <a:r>
              <a:rPr lang="en-US" dirty="0" smtClean="0"/>
              <a:t>conditions</a:t>
            </a:r>
            <a:endParaRPr lang="en-US" dirty="0"/>
          </a:p>
          <a:p>
            <a:pPr lvl="1">
              <a:defRPr/>
            </a:pPr>
            <a:r>
              <a:rPr lang="en-US" dirty="0" smtClean="0"/>
              <a:t>Budget/budget narrative</a:t>
            </a:r>
            <a:endParaRPr lang="en-US" dirty="0"/>
          </a:p>
          <a:p>
            <a:pPr lvl="1">
              <a:defRPr/>
            </a:pPr>
            <a:r>
              <a:rPr lang="en-US" dirty="0"/>
              <a:t>Statement of </a:t>
            </a:r>
            <a:r>
              <a:rPr lang="en-US" dirty="0" smtClean="0"/>
              <a:t>work </a:t>
            </a:r>
            <a:r>
              <a:rPr lang="en-US" dirty="0"/>
              <a:t>(SOW</a:t>
            </a:r>
            <a:r>
              <a:rPr lang="en-US" dirty="0" smtClean="0"/>
              <a:t>)</a:t>
            </a:r>
          </a:p>
          <a:p>
            <a:pPr lvl="1">
              <a:defRPr/>
            </a:pPr>
            <a:r>
              <a:rPr lang="en-US" dirty="0" smtClean="0"/>
              <a:t>Order of precedence</a:t>
            </a:r>
            <a:endParaRPr lang="en-US" dirty="0"/>
          </a:p>
          <a:p>
            <a:pPr marL="914400" lvl="2" indent="0">
              <a:buNone/>
            </a:pPr>
            <a:endParaRPr lang="en-US" dirty="0" smtClean="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Tree>
    <p:extLst>
      <p:ext uri="{BB962C8B-B14F-4D97-AF65-F5344CB8AC3E}">
        <p14:creationId xmlns:p14="http://schemas.microsoft.com/office/powerpoint/2010/main" val="19908884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0754" y="2566458"/>
            <a:ext cx="10363200" cy="1362075"/>
          </a:xfrm>
        </p:spPr>
        <p:txBody>
          <a:bodyPr>
            <a:normAutofit/>
          </a:bodyPr>
          <a:lstStyle/>
          <a:p>
            <a:r>
              <a:rPr lang="en-US" sz="6600" dirty="0" smtClean="0"/>
              <a:t>Modification</a:t>
            </a:r>
            <a:endParaRPr lang="en-US" sz="6600" dirty="0"/>
          </a:p>
        </p:txBody>
      </p:sp>
      <p:cxnSp>
        <p:nvCxnSpPr>
          <p:cNvPr id="6" name="Straight Connector 5"/>
          <p:cNvCxnSpPr/>
          <p:nvPr/>
        </p:nvCxnSpPr>
        <p:spPr>
          <a:xfrm>
            <a:off x="304800" y="3402365"/>
            <a:ext cx="11353800"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5" name="Title 3"/>
          <p:cNvSpPr txBox="1">
            <a:spLocks/>
          </p:cNvSpPr>
          <p:nvPr/>
        </p:nvSpPr>
        <p:spPr>
          <a:xfrm>
            <a:off x="1371600" y="3122436"/>
            <a:ext cx="10363200" cy="1362075"/>
          </a:xfrm>
          <a:prstGeom prst="rect">
            <a:avLst/>
          </a:prstGeom>
        </p:spPr>
        <p:txBody>
          <a:bodyPr vert="horz" lIns="91440" tIns="45720" rIns="91440" bIns="45720" rtlCol="0" anchor="t">
            <a:normAutofit/>
          </a:bodyPr>
          <a:lstStyle>
            <a:lvl1pPr algn="l" defTabSz="914400" rtl="0" eaLnBrk="1" latinLnBrk="0" hangingPunct="1">
              <a:spcBef>
                <a:spcPct val="0"/>
              </a:spcBef>
              <a:buNone/>
              <a:defRPr sz="4000" b="1" kern="1200" cap="all">
                <a:solidFill>
                  <a:schemeClr val="tx1"/>
                </a:solidFill>
                <a:latin typeface="+mj-lt"/>
                <a:ea typeface="+mj-ea"/>
                <a:cs typeface="+mj-cs"/>
              </a:defRPr>
            </a:lvl1pPr>
          </a:lstStyle>
          <a:p>
            <a:pPr algn="r"/>
            <a:r>
              <a:rPr lang="en-US" sz="6600" b="0" dirty="0" smtClean="0"/>
              <a:t>Approval process</a:t>
            </a:r>
            <a:endParaRPr lang="en-US" sz="6600" b="0" dirty="0"/>
          </a:p>
        </p:txBody>
      </p:sp>
    </p:spTree>
    <p:extLst>
      <p:ext uri="{BB962C8B-B14F-4D97-AF65-F5344CB8AC3E}">
        <p14:creationId xmlns:p14="http://schemas.microsoft.com/office/powerpoint/2010/main" val="35943230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347" y="270933"/>
            <a:ext cx="10972800" cy="1143000"/>
          </a:xfrm>
        </p:spPr>
        <p:txBody>
          <a:bodyPr>
            <a:normAutofit/>
          </a:bodyPr>
          <a:lstStyle/>
          <a:p>
            <a:r>
              <a:rPr lang="en-US" dirty="0" smtClean="0"/>
              <a:t>Approval process</a:t>
            </a:r>
            <a:endParaRPr lang="en-US" dirty="0"/>
          </a:p>
        </p:txBody>
      </p:sp>
      <p:sp>
        <p:nvSpPr>
          <p:cNvPr id="3" name="Content Placeholder 2"/>
          <p:cNvSpPr>
            <a:spLocks noGrp="1"/>
          </p:cNvSpPr>
          <p:nvPr>
            <p:ph idx="1"/>
          </p:nvPr>
        </p:nvSpPr>
        <p:spPr>
          <a:xfrm>
            <a:off x="584200" y="1417638"/>
            <a:ext cx="10972800" cy="4267195"/>
          </a:xfrm>
        </p:spPr>
        <p:txBody>
          <a:bodyPr>
            <a:normAutofit lnSpcReduction="10000"/>
          </a:bodyPr>
          <a:lstStyle/>
          <a:p>
            <a:pPr lvl="1">
              <a:lnSpc>
                <a:spcPct val="115000"/>
              </a:lnSpc>
              <a:spcBef>
                <a:spcPts val="0"/>
              </a:spcBef>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Recognized by </a:t>
            </a:r>
            <a:r>
              <a:rPr lang="en-US" u="sng" dirty="0">
                <a:latin typeface="Calibri" panose="020F0502020204030204" pitchFamily="34" charset="0"/>
                <a:ea typeface="Calibri" panose="020F0502020204030204" pitchFamily="34" charset="0"/>
                <a:cs typeface="Times New Roman" panose="02020603050405020304" pitchFamily="18" charset="0"/>
              </a:rPr>
              <a:t>PD</a:t>
            </a:r>
            <a:r>
              <a:rPr lang="en-US" dirty="0">
                <a:latin typeface="Calibri" panose="020F0502020204030204" pitchFamily="34" charset="0"/>
                <a:ea typeface="Calibri" panose="020F0502020204030204" pitchFamily="34" charset="0"/>
                <a:cs typeface="Times New Roman" panose="02020603050405020304" pitchFamily="18" charset="0"/>
              </a:rPr>
              <a:t> and the </a:t>
            </a:r>
            <a:r>
              <a:rPr lang="en-US" u="sng" dirty="0">
                <a:latin typeface="Calibri" panose="020F0502020204030204" pitchFamily="34" charset="0"/>
                <a:ea typeface="Calibri" panose="020F0502020204030204" pitchFamily="34" charset="0"/>
                <a:cs typeface="Times New Roman" panose="02020603050405020304" pitchFamily="18" charset="0"/>
              </a:rPr>
              <a:t>GOR</a:t>
            </a:r>
            <a:r>
              <a:rPr lang="en-US" dirty="0">
                <a:latin typeface="Calibri" panose="020F0502020204030204" pitchFamily="34" charset="0"/>
                <a:ea typeface="Calibri" panose="020F0502020204030204" pitchFamily="34" charset="0"/>
                <a:cs typeface="Times New Roman" panose="02020603050405020304" pitchFamily="18" charset="0"/>
              </a:rPr>
              <a:t> (usually through the </a:t>
            </a:r>
            <a:r>
              <a:rPr lang="en-US" dirty="0" smtClean="0">
                <a:latin typeface="Calibri" panose="020F0502020204030204" pitchFamily="34" charset="0"/>
                <a:ea typeface="Calibri" panose="020F0502020204030204" pitchFamily="34" charset="0"/>
                <a:cs typeface="Times New Roman" panose="02020603050405020304" pitchFamily="18" charset="0"/>
              </a:rPr>
              <a:t>MPG)</a:t>
            </a:r>
          </a:p>
          <a:p>
            <a:pPr lvl="2">
              <a:lnSpc>
                <a:spcPct val="115000"/>
              </a:lnSpc>
              <a:spcBef>
                <a:spcPts val="0"/>
              </a:spcBef>
              <a:buFont typeface="Calibri" panose="020F050202020403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Programmatic </a:t>
            </a:r>
            <a:r>
              <a:rPr lang="en-US" dirty="0">
                <a:latin typeface="Calibri" panose="020F0502020204030204" pitchFamily="34" charset="0"/>
                <a:ea typeface="Calibri" panose="020F0502020204030204" pitchFamily="34" charset="0"/>
                <a:cs typeface="Times New Roman" panose="02020603050405020304" pitchFamily="18" charset="0"/>
              </a:rPr>
              <a:t>change</a:t>
            </a:r>
          </a:p>
          <a:p>
            <a:pPr lvl="3">
              <a:lnSpc>
                <a:spcPct val="115000"/>
              </a:lnSpc>
              <a:spcBef>
                <a:spcPts val="0"/>
              </a:spcBef>
              <a:buFont typeface="Symbol" panose="05050102010706020507" pitchFamily="18"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Key personnel</a:t>
            </a:r>
          </a:p>
          <a:p>
            <a:pPr lvl="3">
              <a:lnSpc>
                <a:spcPct val="115000"/>
              </a:lnSpc>
              <a:spcBef>
                <a:spcPts val="0"/>
              </a:spcBef>
              <a:buFont typeface="Symbol" panose="05050102010706020507" pitchFamily="18"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Implementation agreements with governments</a:t>
            </a:r>
          </a:p>
          <a:p>
            <a:pPr lvl="3">
              <a:lnSpc>
                <a:spcPct val="115000"/>
              </a:lnSpc>
              <a:spcBef>
                <a:spcPts val="0"/>
              </a:spcBef>
              <a:buFont typeface="Symbol" panose="05050102010706020507" pitchFamily="18"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Geographical location</a:t>
            </a:r>
          </a:p>
          <a:p>
            <a:pPr lvl="3">
              <a:lnSpc>
                <a:spcPct val="115000"/>
              </a:lnSpc>
              <a:spcBef>
                <a:spcPts val="0"/>
              </a:spcBef>
              <a:buFont typeface="Symbol" panose="05050102010706020507" pitchFamily="18" charset="2"/>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Chart </a:t>
            </a:r>
            <a:r>
              <a:rPr lang="en-US" dirty="0">
                <a:latin typeface="Calibri" panose="020F0502020204030204" pitchFamily="34" charset="0"/>
                <a:ea typeface="Calibri" panose="020F0502020204030204" pitchFamily="34" charset="0"/>
                <a:cs typeface="Times New Roman" panose="02020603050405020304" pitchFamily="18" charset="0"/>
              </a:rPr>
              <a:t>in the </a:t>
            </a:r>
            <a:r>
              <a:rPr lang="en-US" dirty="0" smtClean="0">
                <a:latin typeface="Calibri" panose="020F0502020204030204" pitchFamily="34" charset="0"/>
                <a:ea typeface="Calibri" panose="020F0502020204030204" pitchFamily="34" charset="0"/>
                <a:cs typeface="Times New Roman" panose="02020603050405020304" pitchFamily="18" charset="0"/>
              </a:rPr>
              <a:t>annex</a:t>
            </a:r>
            <a:endParaRPr lang="en-US" dirty="0">
              <a:latin typeface="Calibri" panose="020F0502020204030204" pitchFamily="34" charset="0"/>
              <a:ea typeface="Calibri" panose="020F0502020204030204" pitchFamily="34" charset="0"/>
              <a:cs typeface="Times New Roman" panose="02020603050405020304" pitchFamily="18" charset="0"/>
            </a:endParaRPr>
          </a:p>
          <a:p>
            <a:pPr lvl="2">
              <a:lnSpc>
                <a:spcPct val="115000"/>
              </a:lnSpc>
              <a:spcBef>
                <a:spcPts val="0"/>
              </a:spcBef>
              <a:buFont typeface="Verdana" panose="020B060403050404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Budget/administrative </a:t>
            </a:r>
            <a:r>
              <a:rPr lang="en-US" dirty="0">
                <a:latin typeface="Calibri" panose="020F0502020204030204" pitchFamily="34" charset="0"/>
                <a:ea typeface="Calibri" panose="020F0502020204030204" pitchFamily="34" charset="0"/>
                <a:cs typeface="Times New Roman" panose="02020603050405020304" pitchFamily="18" charset="0"/>
              </a:rPr>
              <a:t>changes</a:t>
            </a:r>
          </a:p>
          <a:p>
            <a:pPr lvl="3">
              <a:lnSpc>
                <a:spcPct val="115000"/>
              </a:lnSpc>
              <a:spcBef>
                <a:spcPts val="0"/>
              </a:spcBef>
              <a:buFont typeface="Symbol" panose="05050102010706020507" pitchFamily="18"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O</a:t>
            </a:r>
            <a:r>
              <a:rPr lang="en-US" dirty="0" smtClean="0">
                <a:latin typeface="Calibri" panose="020F0502020204030204" pitchFamily="34" charset="0"/>
                <a:ea typeface="Calibri" panose="020F0502020204030204" pitchFamily="34" charset="0"/>
                <a:cs typeface="Times New Roman" panose="02020603050405020304" pitchFamily="18" charset="0"/>
              </a:rPr>
              <a:t>ver </a:t>
            </a:r>
            <a:r>
              <a:rPr lang="en-US" dirty="0">
                <a:latin typeface="Calibri" panose="020F0502020204030204" pitchFamily="34" charset="0"/>
                <a:ea typeface="Calibri" panose="020F0502020204030204" pitchFamily="34" charset="0"/>
                <a:cs typeface="Times New Roman" panose="02020603050405020304" pitchFamily="18" charset="0"/>
              </a:rPr>
              <a:t>threshold</a:t>
            </a:r>
          </a:p>
          <a:p>
            <a:pPr lvl="3">
              <a:lnSpc>
                <a:spcPct val="115000"/>
              </a:lnSpc>
              <a:spcBef>
                <a:spcPts val="0"/>
              </a:spcBef>
              <a:buFont typeface="Symbol" panose="05050102010706020507" pitchFamily="18" charset="2"/>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New </a:t>
            </a:r>
            <a:r>
              <a:rPr lang="en-US" dirty="0">
                <a:latin typeface="Calibri" panose="020F0502020204030204" pitchFamily="34" charset="0"/>
                <a:ea typeface="Calibri" panose="020F0502020204030204" pitchFamily="34" charset="0"/>
                <a:cs typeface="Times New Roman" panose="02020603050405020304" pitchFamily="18" charset="0"/>
              </a:rPr>
              <a:t>subs</a:t>
            </a:r>
          </a:p>
          <a:p>
            <a:pPr lvl="3">
              <a:lnSpc>
                <a:spcPct val="115000"/>
              </a:lnSpc>
              <a:spcBef>
                <a:spcPts val="0"/>
              </a:spcBef>
              <a:buFont typeface="Symbol" panose="05050102010706020507" pitchFamily="18" charset="2"/>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Participant / beneficiary </a:t>
            </a:r>
            <a:r>
              <a:rPr lang="en-US" dirty="0">
                <a:latin typeface="Calibri" panose="020F0502020204030204" pitchFamily="34" charset="0"/>
                <a:ea typeface="Calibri" panose="020F0502020204030204" pitchFamily="34" charset="0"/>
                <a:cs typeface="Times New Roman" panose="02020603050405020304" pitchFamily="18" charset="0"/>
              </a:rPr>
              <a:t>support costs</a:t>
            </a:r>
          </a:p>
          <a:p>
            <a:pPr lvl="3">
              <a:lnSpc>
                <a:spcPct val="115000"/>
              </a:lnSpc>
              <a:spcBef>
                <a:spcPts val="0"/>
              </a:spcBef>
              <a:spcAft>
                <a:spcPts val="1000"/>
              </a:spcAft>
              <a:buFont typeface="Symbol" panose="05050102010706020507" pitchFamily="18" charset="2"/>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Other </a:t>
            </a:r>
            <a:r>
              <a:rPr lang="en-US" dirty="0">
                <a:latin typeface="Calibri" panose="020F0502020204030204" pitchFamily="34" charset="0"/>
                <a:ea typeface="Calibri" panose="020F0502020204030204" pitchFamily="34" charset="0"/>
                <a:cs typeface="Times New Roman" panose="02020603050405020304" pitchFamily="18" charset="0"/>
              </a:rPr>
              <a:t>items of </a:t>
            </a:r>
            <a:r>
              <a:rPr lang="en-US" dirty="0" smtClean="0">
                <a:latin typeface="Calibri" panose="020F0502020204030204" pitchFamily="34" charset="0"/>
                <a:ea typeface="Calibri" panose="020F0502020204030204" pitchFamily="34" charset="0"/>
                <a:cs typeface="Times New Roman" panose="02020603050405020304" pitchFamily="18" charset="0"/>
              </a:rPr>
              <a:t>cost</a:t>
            </a:r>
            <a:endParaRPr lang="en-US" dirty="0"/>
          </a:p>
          <a:p>
            <a:pPr marL="0" indent="0">
              <a:buNone/>
            </a:pPr>
            <a:endParaRPr lang="en-US" dirty="0" smtClean="0"/>
          </a:p>
          <a:p>
            <a:endParaRPr lang="en-US" dirty="0" smtClean="0"/>
          </a:p>
          <a:p>
            <a:endParaRPr lang="en-US" dirty="0" smtClean="0"/>
          </a:p>
        </p:txBody>
      </p:sp>
      <p:sp>
        <p:nvSpPr>
          <p:cNvPr id="4" name="TextBox 3"/>
          <p:cNvSpPr txBox="1"/>
          <p:nvPr/>
        </p:nvSpPr>
        <p:spPr>
          <a:xfrm>
            <a:off x="0" y="67739"/>
            <a:ext cx="2895600" cy="646331"/>
          </a:xfrm>
          <a:prstGeom prst="rect">
            <a:avLst/>
          </a:prstGeom>
          <a:noFill/>
        </p:spPr>
        <p:txBody>
          <a:bodyPr wrap="square" rtlCol="0">
            <a:spAutoFit/>
          </a:bodyPr>
          <a:lstStyle/>
          <a:p>
            <a:r>
              <a:rPr lang="en-US" dirty="0" smtClean="0"/>
              <a:t>OCFT 2019 MPG, page 39, Annex PRF</a:t>
            </a:r>
            <a:endParaRPr lang="en-US" dirty="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Tree>
    <p:extLst>
      <p:ext uri="{BB962C8B-B14F-4D97-AF65-F5344CB8AC3E}">
        <p14:creationId xmlns:p14="http://schemas.microsoft.com/office/powerpoint/2010/main" val="42022345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3756"/>
            <a:ext cx="10972800" cy="1143000"/>
          </a:xfrm>
        </p:spPr>
        <p:txBody>
          <a:bodyPr>
            <a:normAutofit/>
          </a:bodyPr>
          <a:lstStyle/>
          <a:p>
            <a:r>
              <a:rPr lang="en-US" dirty="0" smtClean="0"/>
              <a:t>Approval process (cont’d)</a:t>
            </a:r>
            <a:endParaRPr lang="en-US" dirty="0"/>
          </a:p>
        </p:txBody>
      </p:sp>
      <p:sp>
        <p:nvSpPr>
          <p:cNvPr id="3" name="Content Placeholder 2"/>
          <p:cNvSpPr>
            <a:spLocks noGrp="1"/>
          </p:cNvSpPr>
          <p:nvPr>
            <p:ph idx="1"/>
          </p:nvPr>
        </p:nvSpPr>
        <p:spPr>
          <a:xfrm>
            <a:off x="609600" y="1265237"/>
            <a:ext cx="10972800" cy="4525963"/>
          </a:xfrm>
        </p:spPr>
        <p:txBody>
          <a:bodyPr>
            <a:normAutofit fontScale="92500" lnSpcReduction="20000"/>
          </a:bodyPr>
          <a:lstStyle/>
          <a:p>
            <a:pPr>
              <a:lnSpc>
                <a:spcPct val="115000"/>
              </a:lnSpc>
              <a:spcBef>
                <a:spcPts val="0"/>
              </a:spcBef>
            </a:pPr>
            <a:r>
              <a:rPr lang="en-US" sz="3600" dirty="0"/>
              <a:t>Prior </a:t>
            </a:r>
            <a:r>
              <a:rPr lang="en-US" sz="3600" dirty="0" smtClean="0"/>
              <a:t>approval</a:t>
            </a:r>
          </a:p>
          <a:p>
            <a:pPr lvl="1">
              <a:lnSpc>
                <a:spcPct val="115000"/>
              </a:lnSpc>
              <a:spcBef>
                <a:spcPts val="0"/>
              </a:spcBef>
            </a:pPr>
            <a:r>
              <a:rPr lang="en-US" sz="3200" dirty="0" smtClean="0"/>
              <a:t>The </a:t>
            </a:r>
            <a:r>
              <a:rPr lang="en-US" sz="3200" dirty="0"/>
              <a:t>Grant Officer is the only official with the authority to provide prior written approval. </a:t>
            </a:r>
          </a:p>
          <a:p>
            <a:pPr>
              <a:lnSpc>
                <a:spcPct val="115000"/>
              </a:lnSpc>
              <a:spcBef>
                <a:spcPts val="0"/>
              </a:spcBef>
            </a:pPr>
            <a:endParaRPr lang="en-US" sz="3600" dirty="0" smtClean="0"/>
          </a:p>
          <a:p>
            <a:pPr>
              <a:lnSpc>
                <a:spcPct val="115000"/>
              </a:lnSpc>
              <a:spcBef>
                <a:spcPts val="0"/>
              </a:spcBef>
            </a:pPr>
            <a:r>
              <a:rPr lang="en-US" sz="3600" dirty="0" smtClean="0"/>
              <a:t>Submits </a:t>
            </a:r>
            <a:r>
              <a:rPr lang="en-US" sz="3600" dirty="0"/>
              <a:t>to </a:t>
            </a:r>
            <a:r>
              <a:rPr lang="en-US" sz="3600" u="sng" dirty="0" smtClean="0"/>
              <a:t>Grants </a:t>
            </a:r>
            <a:r>
              <a:rPr lang="en-US" sz="3600" u="sng" dirty="0"/>
              <a:t>O</a:t>
            </a:r>
            <a:r>
              <a:rPr lang="en-US" sz="3600" u="sng" dirty="0" smtClean="0"/>
              <a:t>fficer</a:t>
            </a:r>
            <a:r>
              <a:rPr lang="en-US" sz="3600" dirty="0" smtClean="0"/>
              <a:t> </a:t>
            </a:r>
            <a:r>
              <a:rPr lang="en-US" sz="3600" dirty="0"/>
              <a:t>for final </a:t>
            </a:r>
            <a:r>
              <a:rPr lang="en-US" sz="3600" dirty="0" smtClean="0"/>
              <a:t>approval</a:t>
            </a:r>
            <a:endParaRPr lang="en-US" sz="3600" dirty="0"/>
          </a:p>
          <a:p>
            <a:pPr lvl="1">
              <a:lnSpc>
                <a:spcPct val="115000"/>
              </a:lnSpc>
              <a:spcBef>
                <a:spcPts val="0"/>
              </a:spcBef>
            </a:pPr>
            <a:r>
              <a:rPr lang="en-US" sz="3200" dirty="0"/>
              <a:t>Technical details…</a:t>
            </a:r>
          </a:p>
          <a:p>
            <a:pPr lvl="2">
              <a:lnSpc>
                <a:spcPct val="115000"/>
              </a:lnSpc>
              <a:spcBef>
                <a:spcPts val="0"/>
              </a:spcBef>
            </a:pPr>
            <a:r>
              <a:rPr lang="en-US" dirty="0" smtClean="0"/>
              <a:t>Budget and budget narrative</a:t>
            </a:r>
          </a:p>
          <a:p>
            <a:pPr lvl="2">
              <a:lnSpc>
                <a:spcPct val="115000"/>
              </a:lnSpc>
              <a:spcBef>
                <a:spcPts val="0"/>
              </a:spcBef>
            </a:pPr>
            <a:r>
              <a:rPr lang="en-US" dirty="0" smtClean="0"/>
              <a:t>CV / resume</a:t>
            </a:r>
          </a:p>
          <a:p>
            <a:pPr lvl="2">
              <a:lnSpc>
                <a:spcPct val="115000"/>
              </a:lnSpc>
              <a:spcBef>
                <a:spcPts val="0"/>
              </a:spcBef>
            </a:pPr>
            <a:r>
              <a:rPr lang="en-US" dirty="0" smtClean="0"/>
              <a:t>Project narrative</a:t>
            </a:r>
          </a:p>
          <a:p>
            <a:pPr lvl="1">
              <a:lnSpc>
                <a:spcPct val="115000"/>
              </a:lnSpc>
              <a:spcBef>
                <a:spcPts val="0"/>
              </a:spcBef>
            </a:pPr>
            <a:r>
              <a:rPr lang="en-US" sz="3200" dirty="0" smtClean="0"/>
              <a:t>How </a:t>
            </a:r>
            <a:r>
              <a:rPr lang="en-US" sz="3200" dirty="0"/>
              <a:t>the change benefits the </a:t>
            </a:r>
            <a:r>
              <a:rPr lang="en-US" sz="3200" dirty="0" smtClean="0"/>
              <a:t>project</a:t>
            </a:r>
            <a:endParaRPr lang="en-US" sz="3200" dirty="0"/>
          </a:p>
          <a:p>
            <a:pPr marL="0" indent="0">
              <a:buNone/>
            </a:pPr>
            <a:endParaRPr lang="en-US" dirty="0"/>
          </a:p>
          <a:p>
            <a:pPr marL="0" indent="0">
              <a:buNone/>
            </a:pPr>
            <a:endParaRPr lang="en-US" dirty="0" smtClean="0"/>
          </a:p>
          <a:p>
            <a:endParaRPr lang="en-US" dirty="0" smtClean="0"/>
          </a:p>
          <a:p>
            <a:endParaRPr lang="en-US" dirty="0" smtClean="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Tree>
    <p:extLst>
      <p:ext uri="{BB962C8B-B14F-4D97-AF65-F5344CB8AC3E}">
        <p14:creationId xmlns:p14="http://schemas.microsoft.com/office/powerpoint/2010/main" val="1211928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3756"/>
            <a:ext cx="10972800" cy="1143000"/>
          </a:xfrm>
        </p:spPr>
        <p:txBody>
          <a:bodyPr/>
          <a:lstStyle/>
          <a:p>
            <a:r>
              <a:rPr lang="en-US" dirty="0" smtClean="0"/>
              <a:t>Examples of prior approval</a:t>
            </a:r>
            <a:endParaRPr lang="en-US" dirty="0"/>
          </a:p>
        </p:txBody>
      </p:sp>
      <p:sp>
        <p:nvSpPr>
          <p:cNvPr id="3" name="Content Placeholder 2"/>
          <p:cNvSpPr>
            <a:spLocks noGrp="1"/>
          </p:cNvSpPr>
          <p:nvPr>
            <p:ph idx="1"/>
          </p:nvPr>
        </p:nvSpPr>
        <p:spPr/>
        <p:txBody>
          <a:bodyPr>
            <a:normAutofit/>
          </a:bodyPr>
          <a:lstStyle/>
          <a:p>
            <a:r>
              <a:rPr lang="en-US" dirty="0"/>
              <a:t>Revisions to the </a:t>
            </a:r>
            <a:r>
              <a:rPr lang="en-US" dirty="0" smtClean="0"/>
              <a:t>agreement</a:t>
            </a:r>
            <a:endParaRPr lang="en-US" dirty="0"/>
          </a:p>
          <a:p>
            <a:pPr lvl="1"/>
            <a:r>
              <a:rPr lang="en-US" dirty="0"/>
              <a:t>Programmatic </a:t>
            </a:r>
            <a:r>
              <a:rPr lang="en-US" dirty="0" smtClean="0"/>
              <a:t>change</a:t>
            </a:r>
            <a:endParaRPr lang="en-US" dirty="0"/>
          </a:p>
          <a:p>
            <a:pPr lvl="1"/>
            <a:r>
              <a:rPr lang="en-US" dirty="0" smtClean="0"/>
              <a:t>Budget change</a:t>
            </a:r>
            <a:endParaRPr lang="en-US" dirty="0"/>
          </a:p>
          <a:p>
            <a:pPr lvl="1"/>
            <a:r>
              <a:rPr lang="en-US" dirty="0"/>
              <a:t>Exceptions to restrictions</a:t>
            </a:r>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smtClean="0"/>
          </a:p>
          <a:p>
            <a:endParaRPr lang="en-US" dirty="0" smtClean="0"/>
          </a:p>
          <a:p>
            <a:endParaRPr lang="en-US" dirty="0" smtClean="0"/>
          </a:p>
        </p:txBody>
      </p:sp>
      <p:sp>
        <p:nvSpPr>
          <p:cNvPr id="5" name="Content Placeholder 4"/>
          <p:cNvSpPr>
            <a:spLocks noGrp="1"/>
          </p:cNvSpPr>
          <p:nvPr>
            <p:ph sz="half" idx="4294967295"/>
          </p:nvPr>
        </p:nvSpPr>
        <p:spPr>
          <a:xfrm>
            <a:off x="5867400" y="1600200"/>
            <a:ext cx="6324600" cy="4525963"/>
          </a:xfrm>
        </p:spPr>
        <p:txBody>
          <a:bodyPr>
            <a:normAutofit/>
          </a:bodyPr>
          <a:lstStyle/>
          <a:p>
            <a:r>
              <a:rPr lang="en-US" dirty="0"/>
              <a:t>2 CFR 200.308 examples</a:t>
            </a:r>
          </a:p>
          <a:p>
            <a:pPr lvl="1"/>
            <a:r>
              <a:rPr lang="en-US" dirty="0"/>
              <a:t>Change of key personnel</a:t>
            </a:r>
          </a:p>
          <a:p>
            <a:pPr lvl="1"/>
            <a:r>
              <a:rPr lang="en-US" dirty="0"/>
              <a:t>Re-budgeting </a:t>
            </a:r>
          </a:p>
          <a:p>
            <a:pPr lvl="1"/>
            <a:r>
              <a:rPr lang="en-US" dirty="0"/>
              <a:t>Adding </a:t>
            </a:r>
            <a:r>
              <a:rPr lang="en-US" dirty="0" err="1"/>
              <a:t>subawards</a:t>
            </a:r>
            <a:r>
              <a:rPr lang="en-US" dirty="0"/>
              <a:t>/</a:t>
            </a:r>
            <a:r>
              <a:rPr lang="en-US" dirty="0" err="1"/>
              <a:t>subrecipients</a:t>
            </a:r>
            <a:endParaRPr lang="en-US" dirty="0"/>
          </a:p>
          <a:p>
            <a:pPr lvl="1"/>
            <a:r>
              <a:rPr lang="en-US" dirty="0"/>
              <a:t>Revising period of performance </a:t>
            </a:r>
          </a:p>
          <a:p>
            <a:pPr lvl="1"/>
            <a:r>
              <a:rPr lang="en-US" dirty="0"/>
              <a:t>Other items of cost </a:t>
            </a:r>
          </a:p>
          <a:p>
            <a:endParaRPr lang="en-US" dirty="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7" name="TextBox 6"/>
          <p:cNvSpPr txBox="1"/>
          <p:nvPr/>
        </p:nvSpPr>
        <p:spPr>
          <a:xfrm>
            <a:off x="11289" y="36689"/>
            <a:ext cx="3200400" cy="646331"/>
          </a:xfrm>
          <a:prstGeom prst="rect">
            <a:avLst/>
          </a:prstGeom>
          <a:noFill/>
        </p:spPr>
        <p:txBody>
          <a:bodyPr wrap="square" rtlCol="0">
            <a:spAutoFit/>
          </a:bodyPr>
          <a:lstStyle/>
          <a:p>
            <a:r>
              <a:rPr lang="en-US" dirty="0" smtClean="0"/>
              <a:t>OCFT 2019 </a:t>
            </a:r>
            <a:r>
              <a:rPr lang="en-US" dirty="0"/>
              <a:t>MPG, page </a:t>
            </a:r>
            <a:r>
              <a:rPr lang="en-US" dirty="0" smtClean="0"/>
              <a:t>23 </a:t>
            </a:r>
          </a:p>
          <a:p>
            <a:r>
              <a:rPr lang="en-US" dirty="0" smtClean="0"/>
              <a:t>“Programmatic </a:t>
            </a:r>
            <a:r>
              <a:rPr lang="en-US" dirty="0"/>
              <a:t>Revisions”</a:t>
            </a:r>
          </a:p>
        </p:txBody>
      </p:sp>
    </p:spTree>
    <p:extLst>
      <p:ext uri="{BB962C8B-B14F-4D97-AF65-F5344CB8AC3E}">
        <p14:creationId xmlns:p14="http://schemas.microsoft.com/office/powerpoint/2010/main" val="23680019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0754" y="2566458"/>
            <a:ext cx="10363200" cy="1362075"/>
          </a:xfrm>
        </p:spPr>
        <p:txBody>
          <a:bodyPr>
            <a:normAutofit/>
          </a:bodyPr>
          <a:lstStyle/>
          <a:p>
            <a:r>
              <a:rPr lang="en-US" sz="6600" dirty="0" smtClean="0"/>
              <a:t>Modification</a:t>
            </a:r>
            <a:endParaRPr lang="en-US" sz="6600" dirty="0"/>
          </a:p>
        </p:txBody>
      </p:sp>
      <p:cxnSp>
        <p:nvCxnSpPr>
          <p:cNvPr id="6" name="Straight Connector 5"/>
          <p:cNvCxnSpPr/>
          <p:nvPr/>
        </p:nvCxnSpPr>
        <p:spPr>
          <a:xfrm>
            <a:off x="304800" y="3402365"/>
            <a:ext cx="11353800"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5" name="Title 3"/>
          <p:cNvSpPr txBox="1">
            <a:spLocks/>
          </p:cNvSpPr>
          <p:nvPr/>
        </p:nvSpPr>
        <p:spPr>
          <a:xfrm>
            <a:off x="5181600" y="3133725"/>
            <a:ext cx="10363200" cy="1362075"/>
          </a:xfrm>
          <a:prstGeom prst="rect">
            <a:avLst/>
          </a:prstGeom>
        </p:spPr>
        <p:txBody>
          <a:bodyPr vert="horz" lIns="91440" tIns="45720" rIns="91440" bIns="45720" rtlCol="0" anchor="t">
            <a:normAutofit/>
          </a:bodyPr>
          <a:lstStyle>
            <a:lvl1pPr algn="l" defTabSz="914400" rtl="0" eaLnBrk="1" latinLnBrk="0" hangingPunct="1">
              <a:spcBef>
                <a:spcPct val="0"/>
              </a:spcBef>
              <a:buNone/>
              <a:defRPr sz="4000" b="1" kern="1200" cap="all">
                <a:solidFill>
                  <a:schemeClr val="tx1"/>
                </a:solidFill>
                <a:latin typeface="+mj-lt"/>
                <a:ea typeface="+mj-ea"/>
                <a:cs typeface="+mj-cs"/>
              </a:defRPr>
            </a:lvl1pPr>
          </a:lstStyle>
          <a:p>
            <a:r>
              <a:rPr lang="en-US" sz="6600" b="0" dirty="0" smtClean="0"/>
              <a:t>BUDGET REVISION</a:t>
            </a:r>
            <a:endParaRPr lang="en-US" sz="6600" b="0" dirty="0"/>
          </a:p>
        </p:txBody>
      </p:sp>
    </p:spTree>
    <p:extLst>
      <p:ext uri="{BB962C8B-B14F-4D97-AF65-F5344CB8AC3E}">
        <p14:creationId xmlns:p14="http://schemas.microsoft.com/office/powerpoint/2010/main" val="17184444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0933"/>
            <a:ext cx="10972800" cy="1143000"/>
          </a:xfrm>
        </p:spPr>
        <p:txBody>
          <a:bodyPr/>
          <a:lstStyle/>
          <a:p>
            <a:r>
              <a:rPr lang="en-US" dirty="0" smtClean="0"/>
              <a:t>Scenarios for a budget </a:t>
            </a:r>
            <a:r>
              <a:rPr lang="en-US" dirty="0"/>
              <a:t>r</a:t>
            </a:r>
            <a:r>
              <a:rPr lang="en-US" dirty="0" smtClean="0"/>
              <a:t>evision  </a:t>
            </a:r>
            <a:endParaRPr lang="en-US" dirty="0"/>
          </a:p>
        </p:txBody>
      </p:sp>
      <p:sp>
        <p:nvSpPr>
          <p:cNvPr id="3" name="Content Placeholder 2"/>
          <p:cNvSpPr>
            <a:spLocks noGrp="1"/>
          </p:cNvSpPr>
          <p:nvPr>
            <p:ph idx="1"/>
          </p:nvPr>
        </p:nvSpPr>
        <p:spPr>
          <a:xfrm>
            <a:off x="-76200" y="1066800"/>
            <a:ext cx="12039600" cy="4525963"/>
          </a:xfrm>
        </p:spPr>
        <p:txBody>
          <a:bodyPr>
            <a:normAutofit/>
          </a:bodyPr>
          <a:lstStyle/>
          <a:p>
            <a:pPr lvl="1">
              <a:buFont typeface="Arial" panose="020B0604020202020204" pitchFamily="34" charset="0"/>
              <a:buChar char="•"/>
            </a:pPr>
            <a:r>
              <a:rPr lang="en-US" dirty="0"/>
              <a:t>Cost Increase</a:t>
            </a:r>
          </a:p>
          <a:p>
            <a:pPr lvl="1">
              <a:buFont typeface="Arial" panose="020B0604020202020204" pitchFamily="34" charset="0"/>
              <a:buChar char="•"/>
            </a:pPr>
            <a:r>
              <a:rPr lang="en-US" dirty="0" smtClean="0"/>
              <a:t>Sub-awarding</a:t>
            </a:r>
            <a:endParaRPr lang="en-US" dirty="0"/>
          </a:p>
          <a:p>
            <a:pPr lvl="1">
              <a:buFont typeface="Arial" panose="020B0604020202020204" pitchFamily="34" charset="0"/>
              <a:buChar char="•"/>
            </a:pPr>
            <a:r>
              <a:rPr lang="en-US" dirty="0"/>
              <a:t>Transferring of funds budgeted for participant support costs to other categories of expense</a:t>
            </a:r>
          </a:p>
          <a:p>
            <a:pPr lvl="1">
              <a:buFont typeface="Arial" panose="020B0604020202020204" pitchFamily="34" charset="0"/>
              <a:buChar char="•"/>
            </a:pPr>
            <a:r>
              <a:rPr lang="en-US" dirty="0"/>
              <a:t>Transfer of funds among direct-cost categories that exceeds or is expected to exceed 10 percent of the total budget as last approved by USDOL</a:t>
            </a:r>
          </a:p>
          <a:p>
            <a:pPr lvl="1">
              <a:buFont typeface="Arial" panose="020B0604020202020204" pitchFamily="34" charset="0"/>
              <a:buChar char="•"/>
            </a:pPr>
            <a:r>
              <a:rPr lang="en-US" dirty="0"/>
              <a:t>Equipment purchase</a:t>
            </a:r>
          </a:p>
          <a:p>
            <a:pPr lvl="1">
              <a:buFont typeface="Arial" panose="020B0604020202020204" pitchFamily="34" charset="0"/>
              <a:buChar char="•"/>
            </a:pPr>
            <a:r>
              <a:rPr lang="en-US" dirty="0"/>
              <a:t>Transfer of funds to host country governments</a:t>
            </a:r>
          </a:p>
          <a:p>
            <a:pPr lvl="1">
              <a:buFont typeface="Arial" panose="020B0604020202020204" pitchFamily="34" charset="0"/>
              <a:buChar char="•"/>
            </a:pPr>
            <a:r>
              <a:rPr lang="en-US" dirty="0"/>
              <a:t>Changes to costs budgeted for capital expenditures</a:t>
            </a:r>
          </a:p>
          <a:p>
            <a:pPr marL="0" indent="0">
              <a:buNone/>
            </a:pPr>
            <a:endParaRPr lang="en-US" dirty="0" smtClean="0"/>
          </a:p>
          <a:p>
            <a:pPr marL="0" indent="0">
              <a:buNone/>
            </a:pPr>
            <a:endParaRPr lang="en-US" dirty="0"/>
          </a:p>
          <a:p>
            <a:pPr marL="0" indent="0">
              <a:buNone/>
            </a:pPr>
            <a:endParaRPr lang="en-US" dirty="0" smtClean="0"/>
          </a:p>
          <a:p>
            <a:endParaRPr lang="en-US" dirty="0" smtClean="0"/>
          </a:p>
          <a:p>
            <a:endParaRPr lang="en-US" dirty="0" smtClean="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7" name="TextBox 6"/>
          <p:cNvSpPr txBox="1"/>
          <p:nvPr/>
        </p:nvSpPr>
        <p:spPr>
          <a:xfrm>
            <a:off x="11289" y="36689"/>
            <a:ext cx="3200400" cy="369332"/>
          </a:xfrm>
          <a:prstGeom prst="rect">
            <a:avLst/>
          </a:prstGeom>
          <a:noFill/>
        </p:spPr>
        <p:txBody>
          <a:bodyPr wrap="square" rtlCol="0">
            <a:spAutoFit/>
          </a:bodyPr>
          <a:lstStyle/>
          <a:p>
            <a:r>
              <a:rPr lang="en-US" dirty="0" smtClean="0"/>
              <a:t>OCFT 2019 </a:t>
            </a:r>
            <a:r>
              <a:rPr lang="en-US" dirty="0"/>
              <a:t>MPG, page </a:t>
            </a:r>
            <a:r>
              <a:rPr lang="en-US" dirty="0" smtClean="0"/>
              <a:t>23</a:t>
            </a:r>
          </a:p>
        </p:txBody>
      </p:sp>
    </p:spTree>
    <p:extLst>
      <p:ext uri="{BB962C8B-B14F-4D97-AF65-F5344CB8AC3E}">
        <p14:creationId xmlns:p14="http://schemas.microsoft.com/office/powerpoint/2010/main" val="39054038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62467"/>
            <a:ext cx="10972800" cy="1143000"/>
          </a:xfrm>
        </p:spPr>
        <p:txBody>
          <a:bodyPr>
            <a:normAutofit/>
          </a:bodyPr>
          <a:lstStyle/>
          <a:p>
            <a:r>
              <a:rPr lang="en-US" dirty="0"/>
              <a:t>2 CFR 200 </a:t>
            </a:r>
            <a:r>
              <a:rPr lang="en-US" dirty="0" smtClean="0"/>
              <a:t>Reference</a:t>
            </a:r>
            <a:endParaRPr lang="en-US" dirty="0"/>
          </a:p>
        </p:txBody>
      </p:sp>
      <p:sp>
        <p:nvSpPr>
          <p:cNvPr id="3" name="Content Placeholder 2"/>
          <p:cNvSpPr>
            <a:spLocks noGrp="1"/>
          </p:cNvSpPr>
          <p:nvPr>
            <p:ph idx="1"/>
          </p:nvPr>
        </p:nvSpPr>
        <p:spPr>
          <a:xfrm>
            <a:off x="457200" y="2300993"/>
            <a:ext cx="11571111" cy="4525963"/>
          </a:xfrm>
        </p:spPr>
        <p:txBody>
          <a:bodyPr>
            <a:normAutofit/>
          </a:bodyPr>
          <a:lstStyle/>
          <a:p>
            <a:pPr lvl="1">
              <a:buFont typeface="Arial" panose="020B0604020202020204" pitchFamily="34" charset="0"/>
              <a:buChar char="•"/>
            </a:pPr>
            <a:r>
              <a:rPr lang="en-US" sz="4000" u="sng" dirty="0">
                <a:hlinkClick r:id="rId3"/>
              </a:rPr>
              <a:t>§200.308   Revision of budget and program plans.</a:t>
            </a:r>
            <a:endParaRPr lang="en-US" sz="4000" dirty="0"/>
          </a:p>
          <a:p>
            <a:pPr lvl="1">
              <a:buFont typeface="Arial" panose="020B0604020202020204" pitchFamily="34" charset="0"/>
              <a:buChar char="•"/>
            </a:pPr>
            <a:r>
              <a:rPr lang="en-US" sz="4000" u="sng" dirty="0">
                <a:hlinkClick r:id="rId4"/>
              </a:rPr>
              <a:t>§200.407   Prior written approval (prior approval).</a:t>
            </a:r>
            <a:endParaRPr lang="en-US" sz="4000" dirty="0"/>
          </a:p>
          <a:p>
            <a:pPr marL="0" indent="0">
              <a:buNone/>
            </a:pPr>
            <a:endParaRPr lang="en-US" sz="4000" dirty="0" smtClean="0"/>
          </a:p>
          <a:p>
            <a:pPr marL="0" indent="0">
              <a:buNone/>
            </a:pPr>
            <a:endParaRPr lang="en-US" sz="4000" dirty="0"/>
          </a:p>
          <a:p>
            <a:pPr marL="0" indent="0">
              <a:buNone/>
            </a:pPr>
            <a:endParaRPr lang="en-US" sz="4000" dirty="0" smtClean="0"/>
          </a:p>
          <a:p>
            <a:endParaRPr lang="en-US" sz="4000" dirty="0" smtClean="0"/>
          </a:p>
          <a:p>
            <a:endParaRPr lang="en-US" sz="4000" dirty="0" smtClean="0"/>
          </a:p>
        </p:txBody>
      </p: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7" name="TextBox 6"/>
          <p:cNvSpPr txBox="1"/>
          <p:nvPr/>
        </p:nvSpPr>
        <p:spPr>
          <a:xfrm>
            <a:off x="11289" y="36689"/>
            <a:ext cx="3200400" cy="646331"/>
          </a:xfrm>
          <a:prstGeom prst="rect">
            <a:avLst/>
          </a:prstGeom>
          <a:noFill/>
        </p:spPr>
        <p:txBody>
          <a:bodyPr wrap="square" rtlCol="0">
            <a:spAutoFit/>
          </a:bodyPr>
          <a:lstStyle/>
          <a:p>
            <a:r>
              <a:rPr lang="en-US" dirty="0" smtClean="0"/>
              <a:t>OCFT 2019 </a:t>
            </a:r>
            <a:r>
              <a:rPr lang="en-US" dirty="0"/>
              <a:t>MPG, page </a:t>
            </a:r>
            <a:r>
              <a:rPr lang="en-US" dirty="0" smtClean="0"/>
              <a:t>23 </a:t>
            </a:r>
          </a:p>
          <a:p>
            <a:r>
              <a:rPr lang="en-US" dirty="0" smtClean="0"/>
              <a:t>“Programmatic </a:t>
            </a:r>
            <a:r>
              <a:rPr lang="en-US" dirty="0"/>
              <a:t>Revisions”</a:t>
            </a:r>
          </a:p>
        </p:txBody>
      </p:sp>
    </p:spTree>
    <p:extLst>
      <p:ext uri="{BB962C8B-B14F-4D97-AF65-F5344CB8AC3E}">
        <p14:creationId xmlns:p14="http://schemas.microsoft.com/office/powerpoint/2010/main" val="9498157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5045"/>
            <a:ext cx="10972800" cy="1143000"/>
          </a:xfrm>
        </p:spPr>
        <p:txBody>
          <a:bodyPr>
            <a:normAutofit/>
          </a:bodyPr>
          <a:lstStyle/>
          <a:p>
            <a:r>
              <a:rPr lang="en-US" dirty="0" smtClean="0"/>
              <a:t>Cost Principles</a:t>
            </a:r>
            <a:endParaRPr lang="en-US" dirty="0"/>
          </a:p>
        </p:txBody>
      </p:sp>
      <p:sp>
        <p:nvSpPr>
          <p:cNvPr id="3" name="Content Placeholder 2"/>
          <p:cNvSpPr>
            <a:spLocks noGrp="1"/>
          </p:cNvSpPr>
          <p:nvPr>
            <p:ph idx="1"/>
          </p:nvPr>
        </p:nvSpPr>
        <p:spPr>
          <a:xfrm>
            <a:off x="609600" y="1295400"/>
            <a:ext cx="10972800" cy="4114795"/>
          </a:xfrm>
        </p:spPr>
        <p:txBody>
          <a:bodyPr>
            <a:normAutofit fontScale="85000" lnSpcReduction="20000"/>
          </a:bodyPr>
          <a:lstStyle/>
          <a:p>
            <a:r>
              <a:rPr lang="en-US" dirty="0" smtClean="0"/>
              <a:t>Allowable</a:t>
            </a:r>
          </a:p>
          <a:p>
            <a:pPr lvl="1"/>
            <a:r>
              <a:rPr lang="en-US" dirty="0" smtClean="0"/>
              <a:t>Is it allowable under 2 CFR 200, the appropriation, and program requirements?  </a:t>
            </a:r>
          </a:p>
          <a:p>
            <a:r>
              <a:rPr lang="en-US" dirty="0" smtClean="0"/>
              <a:t>Allocable</a:t>
            </a:r>
          </a:p>
          <a:p>
            <a:pPr lvl="1"/>
            <a:r>
              <a:rPr lang="en-US" dirty="0" smtClean="0"/>
              <a:t>Does it belong to the project, budget?</a:t>
            </a:r>
          </a:p>
          <a:p>
            <a:r>
              <a:rPr lang="en-US" dirty="0"/>
              <a:t>Reasonable</a:t>
            </a:r>
          </a:p>
          <a:p>
            <a:pPr lvl="1"/>
            <a:r>
              <a:rPr lang="en-US" dirty="0" smtClean="0"/>
              <a:t>Is it necessary for the project, and does it seem reasonable?</a:t>
            </a:r>
          </a:p>
          <a:p>
            <a:r>
              <a:rPr lang="en-US" dirty="0" smtClean="0"/>
              <a:t>Consideration of costs</a:t>
            </a:r>
          </a:p>
          <a:p>
            <a:pPr lvl="1"/>
            <a:r>
              <a:rPr lang="en-US" dirty="0" smtClean="0"/>
              <a:t>Consistent (federal and non-federal funds, direct and indirect)</a:t>
            </a:r>
          </a:p>
          <a:p>
            <a:pPr lvl="1"/>
            <a:r>
              <a:rPr lang="en-US" dirty="0" smtClean="0"/>
              <a:t>Conforming (with laws, regulations, policy, guidance, internal SOPs)</a:t>
            </a:r>
          </a:p>
          <a:p>
            <a:pPr lvl="1"/>
            <a:r>
              <a:rPr lang="en-US" dirty="0" smtClean="0"/>
              <a:t>Documented</a:t>
            </a:r>
          </a:p>
          <a:p>
            <a:pPr lvl="1"/>
            <a:endParaRPr lang="en-US" dirty="0" smtClean="0"/>
          </a:p>
          <a:p>
            <a:pPr lvl="1"/>
            <a:endParaRPr lang="en-US" dirty="0" smtClean="0"/>
          </a:p>
          <a:p>
            <a:pPr marL="0" indent="0">
              <a:buNone/>
            </a:pPr>
            <a:endParaRPr lang="en-US" dirty="0" smtClean="0"/>
          </a:p>
          <a:p>
            <a:endParaRPr lang="en-US" dirty="0" smtClean="0"/>
          </a:p>
          <a:p>
            <a:endParaRPr lang="en-US" dirty="0" smtClean="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5" name="Rectangle 4"/>
          <p:cNvSpPr/>
          <p:nvPr/>
        </p:nvSpPr>
        <p:spPr>
          <a:xfrm>
            <a:off x="-12505" y="25400"/>
            <a:ext cx="2258994" cy="369332"/>
          </a:xfrm>
          <a:prstGeom prst="rect">
            <a:avLst/>
          </a:prstGeom>
        </p:spPr>
        <p:txBody>
          <a:bodyPr wrap="square">
            <a:spAutoFit/>
          </a:bodyPr>
          <a:lstStyle/>
          <a:p>
            <a:r>
              <a:rPr lang="en-US" dirty="0" smtClean="0"/>
              <a:t>2 CFR 200 Subpart E</a:t>
            </a:r>
            <a:endParaRPr lang="en-US" dirty="0"/>
          </a:p>
        </p:txBody>
      </p:sp>
    </p:spTree>
    <p:extLst>
      <p:ext uri="{BB962C8B-B14F-4D97-AF65-F5344CB8AC3E}">
        <p14:creationId xmlns:p14="http://schemas.microsoft.com/office/powerpoint/2010/main" val="20577293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642" y="271817"/>
            <a:ext cx="13030200" cy="1143000"/>
          </a:xfrm>
        </p:spPr>
        <p:txBody>
          <a:bodyPr>
            <a:noAutofit/>
          </a:bodyPr>
          <a:lstStyle/>
          <a:p>
            <a:r>
              <a:rPr lang="en-US" dirty="0" smtClean="0"/>
              <a:t>Determining the 10 percent </a:t>
            </a:r>
            <a:r>
              <a:rPr lang="en-US" dirty="0"/>
              <a:t>b</a:t>
            </a:r>
            <a:r>
              <a:rPr lang="en-US" dirty="0" smtClean="0"/>
              <a:t>udget </a:t>
            </a:r>
            <a:r>
              <a:rPr lang="en-US" dirty="0"/>
              <a:t>t</a:t>
            </a:r>
            <a:r>
              <a:rPr lang="en-US" dirty="0" smtClean="0"/>
              <a:t>hreshold</a:t>
            </a:r>
            <a:endParaRPr lang="en-US" dirty="0"/>
          </a:p>
        </p:txBody>
      </p:sp>
      <p:sp>
        <p:nvSpPr>
          <p:cNvPr id="3" name="Content Placeholder 2"/>
          <p:cNvSpPr>
            <a:spLocks noGrp="1"/>
          </p:cNvSpPr>
          <p:nvPr>
            <p:ph idx="1"/>
          </p:nvPr>
        </p:nvSpPr>
        <p:spPr>
          <a:xfrm>
            <a:off x="609600" y="1189037"/>
            <a:ext cx="10972800" cy="4525963"/>
          </a:xfrm>
        </p:spPr>
        <p:txBody>
          <a:bodyPr>
            <a:normAutofit/>
          </a:bodyPr>
          <a:lstStyle/>
          <a:p>
            <a:pPr marL="0" indent="0">
              <a:buNone/>
            </a:pPr>
            <a:endParaRPr lang="en-US" dirty="0"/>
          </a:p>
          <a:p>
            <a:pPr marL="0" indent="0">
              <a:buNone/>
            </a:pPr>
            <a:endParaRPr lang="en-US" dirty="0" smtClean="0"/>
          </a:p>
          <a:p>
            <a:endParaRPr lang="en-US" dirty="0" smtClean="0"/>
          </a:p>
          <a:p>
            <a:endParaRPr lang="en-US" dirty="0" smtClean="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pic>
        <p:nvPicPr>
          <p:cNvPr id="8" name="Content Placeholder 3"/>
          <p:cNvPicPr>
            <a:picLocks noChangeAspect="1"/>
          </p:cNvPicPr>
          <p:nvPr/>
        </p:nvPicPr>
        <p:blipFill>
          <a:blip r:embed="rId4"/>
          <a:stretch>
            <a:fillRect/>
          </a:stretch>
        </p:blipFill>
        <p:spPr>
          <a:xfrm>
            <a:off x="2438400" y="1440656"/>
            <a:ext cx="8045450" cy="4022725"/>
          </a:xfrm>
          <a:prstGeom prst="rect">
            <a:avLst/>
          </a:prstGeom>
        </p:spPr>
      </p:pic>
    </p:spTree>
    <p:extLst>
      <p:ext uri="{BB962C8B-B14F-4D97-AF65-F5344CB8AC3E}">
        <p14:creationId xmlns:p14="http://schemas.microsoft.com/office/powerpoint/2010/main" val="19841462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4068"/>
            <a:ext cx="10972800" cy="960437"/>
          </a:xfrm>
        </p:spPr>
        <p:txBody>
          <a:bodyPr/>
          <a:lstStyle/>
          <a:p>
            <a:r>
              <a:rPr lang="en-US" dirty="0"/>
              <a:t>Example 1</a:t>
            </a:r>
          </a:p>
        </p:txBody>
      </p:sp>
      <p:sp>
        <p:nvSpPr>
          <p:cNvPr id="3" name="Content Placeholder 2"/>
          <p:cNvSpPr>
            <a:spLocks noGrp="1"/>
          </p:cNvSpPr>
          <p:nvPr>
            <p:ph idx="1"/>
          </p:nvPr>
        </p:nvSpPr>
        <p:spPr>
          <a:xfrm>
            <a:off x="609600" y="1189037"/>
            <a:ext cx="10972800" cy="4525963"/>
          </a:xfrm>
        </p:spPr>
        <p:txBody>
          <a:bodyPr>
            <a:normAutofit/>
          </a:bodyPr>
          <a:lstStyle/>
          <a:p>
            <a:pPr marL="0" indent="0">
              <a:buNone/>
            </a:pPr>
            <a:endParaRPr lang="en-US" dirty="0" smtClean="0"/>
          </a:p>
          <a:p>
            <a:pPr marL="0" indent="0">
              <a:buNone/>
            </a:pPr>
            <a:endParaRPr lang="en-US" dirty="0"/>
          </a:p>
          <a:p>
            <a:pPr marL="0" indent="0">
              <a:buNone/>
            </a:pPr>
            <a:endParaRPr lang="en-US" dirty="0" smtClean="0"/>
          </a:p>
          <a:p>
            <a:endParaRPr lang="en-US" dirty="0" smtClean="0"/>
          </a:p>
          <a:p>
            <a:endParaRPr lang="en-US" dirty="0" smtClean="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7" name="TextBox 6"/>
          <p:cNvSpPr txBox="1"/>
          <p:nvPr/>
        </p:nvSpPr>
        <p:spPr>
          <a:xfrm>
            <a:off x="11289" y="36689"/>
            <a:ext cx="3200400" cy="646331"/>
          </a:xfrm>
          <a:prstGeom prst="rect">
            <a:avLst/>
          </a:prstGeom>
          <a:noFill/>
        </p:spPr>
        <p:txBody>
          <a:bodyPr wrap="square" rtlCol="0">
            <a:spAutoFit/>
          </a:bodyPr>
          <a:lstStyle/>
          <a:p>
            <a:r>
              <a:rPr lang="en-US" dirty="0" smtClean="0"/>
              <a:t>OCFT 2019 </a:t>
            </a:r>
            <a:r>
              <a:rPr lang="en-US" dirty="0"/>
              <a:t>MPG, page </a:t>
            </a:r>
            <a:r>
              <a:rPr lang="en-US" dirty="0" smtClean="0"/>
              <a:t>22 </a:t>
            </a:r>
          </a:p>
          <a:p>
            <a:r>
              <a:rPr lang="en-US" dirty="0" smtClean="0"/>
              <a:t>“Programmatic </a:t>
            </a:r>
            <a:r>
              <a:rPr lang="en-US" dirty="0"/>
              <a:t>Revisions”</a:t>
            </a:r>
          </a:p>
        </p:txBody>
      </p:sp>
      <p:graphicFrame>
        <p:nvGraphicFramePr>
          <p:cNvPr id="8" name="Content Placeholder 3"/>
          <p:cNvGraphicFramePr>
            <a:graphicFrameLocks/>
          </p:cNvGraphicFramePr>
          <p:nvPr>
            <p:extLst>
              <p:ext uri="{D42A27DB-BD31-4B8C-83A1-F6EECF244321}">
                <p14:modId xmlns:p14="http://schemas.microsoft.com/office/powerpoint/2010/main" val="1810570037"/>
              </p:ext>
            </p:extLst>
          </p:nvPr>
        </p:nvGraphicFramePr>
        <p:xfrm>
          <a:off x="1295400" y="1402079"/>
          <a:ext cx="9906000" cy="2865120"/>
        </p:xfrm>
        <a:graphic>
          <a:graphicData uri="http://schemas.openxmlformats.org/drawingml/2006/table">
            <a:tbl>
              <a:tblPr firstRow="1" firstCol="1" bandRow="1">
                <a:tableStyleId>{5C22544A-7EE6-4342-B048-85BDC9FD1C3A}</a:tableStyleId>
              </a:tblPr>
              <a:tblGrid>
                <a:gridCol w="2485441">
                  <a:extLst>
                    <a:ext uri="{9D8B030D-6E8A-4147-A177-3AD203B41FA5}">
                      <a16:colId xmlns:a16="http://schemas.microsoft.com/office/drawing/2014/main" val="806263515"/>
                    </a:ext>
                  </a:extLst>
                </a:gridCol>
                <a:gridCol w="2217228">
                  <a:extLst>
                    <a:ext uri="{9D8B030D-6E8A-4147-A177-3AD203B41FA5}">
                      <a16:colId xmlns:a16="http://schemas.microsoft.com/office/drawing/2014/main" val="520266400"/>
                    </a:ext>
                  </a:extLst>
                </a:gridCol>
                <a:gridCol w="2252989">
                  <a:extLst>
                    <a:ext uri="{9D8B030D-6E8A-4147-A177-3AD203B41FA5}">
                      <a16:colId xmlns:a16="http://schemas.microsoft.com/office/drawing/2014/main" val="1170238032"/>
                    </a:ext>
                  </a:extLst>
                </a:gridCol>
                <a:gridCol w="2950342">
                  <a:extLst>
                    <a:ext uri="{9D8B030D-6E8A-4147-A177-3AD203B41FA5}">
                      <a16:colId xmlns:a16="http://schemas.microsoft.com/office/drawing/2014/main" val="1362084887"/>
                    </a:ext>
                  </a:extLst>
                </a:gridCol>
              </a:tblGrid>
              <a:tr h="238760">
                <a:tc>
                  <a:txBody>
                    <a:bodyPr/>
                    <a:lstStyle/>
                    <a:p>
                      <a:pPr marL="0" marR="0">
                        <a:lnSpc>
                          <a:spcPct val="107000"/>
                        </a:lnSpc>
                        <a:spcBef>
                          <a:spcPts val="0"/>
                        </a:spcBef>
                        <a:spcAft>
                          <a:spcPts val="0"/>
                        </a:spcAft>
                      </a:pPr>
                      <a:r>
                        <a:rPr lang="en-US" sz="1100">
                          <a:effectLst/>
                        </a:rPr>
                        <a:t>Cost Category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Original Budget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Revised Budget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Difference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65407957"/>
                  </a:ext>
                </a:extLst>
              </a:tr>
              <a:tr h="238760">
                <a:tc>
                  <a:txBody>
                    <a:bodyPr/>
                    <a:lstStyle/>
                    <a:p>
                      <a:pPr marL="0" marR="0">
                        <a:lnSpc>
                          <a:spcPct val="107000"/>
                        </a:lnSpc>
                        <a:spcBef>
                          <a:spcPts val="0"/>
                        </a:spcBef>
                        <a:spcAft>
                          <a:spcPts val="0"/>
                        </a:spcAft>
                      </a:pPr>
                      <a:r>
                        <a:rPr lang="en-US" sz="1100">
                          <a:effectLst/>
                        </a:rPr>
                        <a:t>Personnel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$410,000.00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-$90,000.00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2520346"/>
                  </a:ext>
                </a:extLst>
              </a:tr>
              <a:tr h="238760">
                <a:tc>
                  <a:txBody>
                    <a:bodyPr/>
                    <a:lstStyle/>
                    <a:p>
                      <a:pPr marL="0" marR="0">
                        <a:lnSpc>
                          <a:spcPct val="107000"/>
                        </a:lnSpc>
                        <a:spcBef>
                          <a:spcPts val="0"/>
                        </a:spcBef>
                        <a:spcAft>
                          <a:spcPts val="0"/>
                        </a:spcAft>
                      </a:pPr>
                      <a:r>
                        <a:rPr lang="en-US" sz="1100">
                          <a:effectLst/>
                        </a:rPr>
                        <a:t>Fringe Benefits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$275,000.00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3895709"/>
                  </a:ext>
                </a:extLst>
              </a:tr>
              <a:tr h="238760">
                <a:tc>
                  <a:txBody>
                    <a:bodyPr/>
                    <a:lstStyle/>
                    <a:p>
                      <a:pPr marL="0" marR="0">
                        <a:lnSpc>
                          <a:spcPct val="107000"/>
                        </a:lnSpc>
                        <a:spcBef>
                          <a:spcPts val="0"/>
                        </a:spcBef>
                        <a:spcAft>
                          <a:spcPts val="0"/>
                        </a:spcAft>
                      </a:pPr>
                      <a:r>
                        <a:rPr lang="en-US" sz="1100">
                          <a:effectLst/>
                        </a:rPr>
                        <a:t>Travel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$500,000.00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$600,000.00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8872237"/>
                  </a:ext>
                </a:extLst>
              </a:tr>
              <a:tr h="238760">
                <a:tc>
                  <a:txBody>
                    <a:bodyPr/>
                    <a:lstStyle/>
                    <a:p>
                      <a:pPr marL="0" marR="0">
                        <a:lnSpc>
                          <a:spcPct val="107000"/>
                        </a:lnSpc>
                        <a:spcBef>
                          <a:spcPts val="0"/>
                        </a:spcBef>
                        <a:spcAft>
                          <a:spcPts val="0"/>
                        </a:spcAft>
                      </a:pPr>
                      <a:r>
                        <a:rPr lang="en-US" sz="1100" dirty="0">
                          <a:effectLst/>
                        </a:rPr>
                        <a:t>Equipment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31612796"/>
                  </a:ext>
                </a:extLst>
              </a:tr>
              <a:tr h="238760">
                <a:tc>
                  <a:txBody>
                    <a:bodyPr/>
                    <a:lstStyle/>
                    <a:p>
                      <a:pPr marL="0" marR="0">
                        <a:lnSpc>
                          <a:spcPct val="107000"/>
                        </a:lnSpc>
                        <a:spcBef>
                          <a:spcPts val="0"/>
                        </a:spcBef>
                        <a:spcAft>
                          <a:spcPts val="0"/>
                        </a:spcAft>
                      </a:pPr>
                      <a:r>
                        <a:rPr lang="en-US" sz="1100" dirty="0">
                          <a:effectLst/>
                        </a:rPr>
                        <a:t>Supplies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$40,000.00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49067758"/>
                  </a:ext>
                </a:extLst>
              </a:tr>
              <a:tr h="238760">
                <a:tc>
                  <a:txBody>
                    <a:bodyPr/>
                    <a:lstStyle/>
                    <a:p>
                      <a:pPr marL="0" marR="0">
                        <a:lnSpc>
                          <a:spcPct val="107000"/>
                        </a:lnSpc>
                        <a:spcBef>
                          <a:spcPts val="0"/>
                        </a:spcBef>
                        <a:spcAft>
                          <a:spcPts val="0"/>
                        </a:spcAft>
                      </a:pPr>
                      <a:r>
                        <a:rPr lang="en-US" sz="1100">
                          <a:effectLst/>
                        </a:rPr>
                        <a:t>Contractual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$345,000.00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$345,000.00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0462900"/>
                  </a:ext>
                </a:extLst>
              </a:tr>
              <a:tr h="238760">
                <a:tc>
                  <a:txBody>
                    <a:bodyPr/>
                    <a:lstStyle/>
                    <a:p>
                      <a:pPr marL="0" marR="0">
                        <a:lnSpc>
                          <a:spcPct val="107000"/>
                        </a:lnSpc>
                        <a:spcBef>
                          <a:spcPts val="0"/>
                        </a:spcBef>
                        <a:spcAft>
                          <a:spcPts val="0"/>
                        </a:spcAft>
                      </a:pPr>
                      <a:r>
                        <a:rPr lang="en-US" sz="1100" dirty="0">
                          <a:effectLst/>
                        </a:rPr>
                        <a:t>Construction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71687232"/>
                  </a:ext>
                </a:extLst>
              </a:tr>
              <a:tr h="238760">
                <a:tc>
                  <a:txBody>
                    <a:bodyPr/>
                    <a:lstStyle/>
                    <a:p>
                      <a:pPr marL="0" marR="0">
                        <a:lnSpc>
                          <a:spcPct val="107000"/>
                        </a:lnSpc>
                        <a:spcBef>
                          <a:spcPts val="0"/>
                        </a:spcBef>
                        <a:spcAft>
                          <a:spcPts val="0"/>
                        </a:spcAft>
                      </a:pPr>
                      <a:r>
                        <a:rPr lang="en-US" sz="1100" dirty="0">
                          <a:effectLst/>
                        </a:rPr>
                        <a:t>Other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$25,000.00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71828348"/>
                  </a:ext>
                </a:extLst>
              </a:tr>
              <a:tr h="238760">
                <a:tc>
                  <a:txBody>
                    <a:bodyPr/>
                    <a:lstStyle/>
                    <a:p>
                      <a:pPr marL="0" marR="0">
                        <a:lnSpc>
                          <a:spcPct val="107000"/>
                        </a:lnSpc>
                        <a:spcBef>
                          <a:spcPts val="0"/>
                        </a:spcBef>
                        <a:spcAft>
                          <a:spcPts val="0"/>
                        </a:spcAft>
                      </a:pPr>
                      <a:r>
                        <a:rPr lang="en-US" sz="1100">
                          <a:effectLst/>
                        </a:rPr>
                        <a:t>Total Direct Charges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$1,680,000.00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$1,680,000.00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9119946"/>
                  </a:ext>
                </a:extLst>
              </a:tr>
              <a:tr h="238760">
                <a:tc>
                  <a:txBody>
                    <a:bodyPr/>
                    <a:lstStyle/>
                    <a:p>
                      <a:pPr marL="0" marR="0">
                        <a:lnSpc>
                          <a:spcPct val="107000"/>
                        </a:lnSpc>
                        <a:spcBef>
                          <a:spcPts val="0"/>
                        </a:spcBef>
                        <a:spcAft>
                          <a:spcPts val="0"/>
                        </a:spcAft>
                      </a:pPr>
                      <a:r>
                        <a:rPr lang="en-US" sz="1100">
                          <a:effectLst/>
                        </a:rPr>
                        <a:t>Indirect Charges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77630754"/>
                  </a:ext>
                </a:extLst>
              </a:tr>
              <a:tr h="238760">
                <a:tc>
                  <a:txBody>
                    <a:bodyPr/>
                    <a:lstStyle/>
                    <a:p>
                      <a:pPr marL="0" marR="0">
                        <a:lnSpc>
                          <a:spcPct val="107000"/>
                        </a:lnSpc>
                        <a:spcBef>
                          <a:spcPts val="0"/>
                        </a:spcBef>
                        <a:spcAft>
                          <a:spcPts val="0"/>
                        </a:spcAft>
                      </a:pPr>
                      <a:r>
                        <a:rPr lang="en-US" sz="1100">
                          <a:effectLst/>
                        </a:rPr>
                        <a:t>Totals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633450"/>
                  </a:ext>
                </a:extLst>
              </a:tr>
            </a:tbl>
          </a:graphicData>
        </a:graphic>
      </p:graphicFrame>
      <p:sp>
        <p:nvSpPr>
          <p:cNvPr id="4" name="TextBox 3"/>
          <p:cNvSpPr txBox="1"/>
          <p:nvPr/>
        </p:nvSpPr>
        <p:spPr>
          <a:xfrm>
            <a:off x="1295400" y="4648200"/>
            <a:ext cx="9906000" cy="9789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2926188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2779"/>
            <a:ext cx="10972800" cy="960437"/>
          </a:xfrm>
        </p:spPr>
        <p:txBody>
          <a:bodyPr/>
          <a:lstStyle/>
          <a:p>
            <a:r>
              <a:rPr lang="en-US" dirty="0"/>
              <a:t>Example </a:t>
            </a:r>
            <a:r>
              <a:rPr lang="en-US" dirty="0" smtClean="0"/>
              <a:t>2</a:t>
            </a:r>
            <a:endParaRPr lang="en-US" dirty="0"/>
          </a:p>
        </p:txBody>
      </p:sp>
      <p:sp>
        <p:nvSpPr>
          <p:cNvPr id="3" name="Content Placeholder 2"/>
          <p:cNvSpPr>
            <a:spLocks noGrp="1"/>
          </p:cNvSpPr>
          <p:nvPr>
            <p:ph idx="1"/>
          </p:nvPr>
        </p:nvSpPr>
        <p:spPr>
          <a:xfrm>
            <a:off x="609600" y="1189037"/>
            <a:ext cx="10972800" cy="4525963"/>
          </a:xfrm>
        </p:spPr>
        <p:txBody>
          <a:bodyPr>
            <a:normAutofit/>
          </a:bodyPr>
          <a:lstStyle/>
          <a:p>
            <a:pPr marL="0" indent="0">
              <a:buNone/>
            </a:pPr>
            <a:endParaRPr lang="en-US" dirty="0" smtClean="0"/>
          </a:p>
          <a:p>
            <a:pPr marL="0" indent="0">
              <a:buNone/>
            </a:pPr>
            <a:endParaRPr lang="en-US" dirty="0"/>
          </a:p>
          <a:p>
            <a:pPr marL="0" indent="0">
              <a:buNone/>
            </a:pPr>
            <a:endParaRPr lang="en-US" dirty="0" smtClean="0"/>
          </a:p>
          <a:p>
            <a:endParaRPr lang="en-US" dirty="0" smtClean="0"/>
          </a:p>
          <a:p>
            <a:endParaRPr lang="en-US" dirty="0" smtClean="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7" name="TextBox 6"/>
          <p:cNvSpPr txBox="1"/>
          <p:nvPr/>
        </p:nvSpPr>
        <p:spPr>
          <a:xfrm>
            <a:off x="11289" y="36689"/>
            <a:ext cx="3200400" cy="646331"/>
          </a:xfrm>
          <a:prstGeom prst="rect">
            <a:avLst/>
          </a:prstGeom>
          <a:noFill/>
        </p:spPr>
        <p:txBody>
          <a:bodyPr wrap="square" rtlCol="0">
            <a:spAutoFit/>
          </a:bodyPr>
          <a:lstStyle/>
          <a:p>
            <a:r>
              <a:rPr lang="en-US" dirty="0" smtClean="0"/>
              <a:t>OCFT 2019 </a:t>
            </a:r>
            <a:r>
              <a:rPr lang="en-US" dirty="0"/>
              <a:t>MPG, page </a:t>
            </a:r>
            <a:r>
              <a:rPr lang="en-US" dirty="0" smtClean="0"/>
              <a:t>22 </a:t>
            </a:r>
          </a:p>
          <a:p>
            <a:r>
              <a:rPr lang="en-US" dirty="0" smtClean="0"/>
              <a:t>“Programmatic </a:t>
            </a:r>
            <a:r>
              <a:rPr lang="en-US" dirty="0"/>
              <a:t>Revisions”</a:t>
            </a:r>
          </a:p>
        </p:txBody>
      </p:sp>
      <p:graphicFrame>
        <p:nvGraphicFramePr>
          <p:cNvPr id="9" name="Content Placeholder 3"/>
          <p:cNvGraphicFramePr>
            <a:graphicFrameLocks/>
          </p:cNvGraphicFramePr>
          <p:nvPr>
            <p:extLst>
              <p:ext uri="{D42A27DB-BD31-4B8C-83A1-F6EECF244321}">
                <p14:modId xmlns:p14="http://schemas.microsoft.com/office/powerpoint/2010/main" val="2872698153"/>
              </p:ext>
            </p:extLst>
          </p:nvPr>
        </p:nvGraphicFramePr>
        <p:xfrm>
          <a:off x="1371600" y="1643459"/>
          <a:ext cx="9525000" cy="3766740"/>
        </p:xfrm>
        <a:graphic>
          <a:graphicData uri="http://schemas.openxmlformats.org/drawingml/2006/table">
            <a:tbl>
              <a:tblPr firstRow="1" firstCol="1" bandRow="1">
                <a:tableStyleId>{5C22544A-7EE6-4342-B048-85BDC9FD1C3A}</a:tableStyleId>
              </a:tblPr>
              <a:tblGrid>
                <a:gridCol w="2389847">
                  <a:extLst>
                    <a:ext uri="{9D8B030D-6E8A-4147-A177-3AD203B41FA5}">
                      <a16:colId xmlns:a16="http://schemas.microsoft.com/office/drawing/2014/main" val="2294180717"/>
                    </a:ext>
                  </a:extLst>
                </a:gridCol>
                <a:gridCol w="2131949">
                  <a:extLst>
                    <a:ext uri="{9D8B030D-6E8A-4147-A177-3AD203B41FA5}">
                      <a16:colId xmlns:a16="http://schemas.microsoft.com/office/drawing/2014/main" val="2909479172"/>
                    </a:ext>
                  </a:extLst>
                </a:gridCol>
                <a:gridCol w="2166336">
                  <a:extLst>
                    <a:ext uri="{9D8B030D-6E8A-4147-A177-3AD203B41FA5}">
                      <a16:colId xmlns:a16="http://schemas.microsoft.com/office/drawing/2014/main" val="1501231317"/>
                    </a:ext>
                  </a:extLst>
                </a:gridCol>
                <a:gridCol w="2836868">
                  <a:extLst>
                    <a:ext uri="{9D8B030D-6E8A-4147-A177-3AD203B41FA5}">
                      <a16:colId xmlns:a16="http://schemas.microsoft.com/office/drawing/2014/main" val="2179262232"/>
                    </a:ext>
                  </a:extLst>
                </a:gridCol>
              </a:tblGrid>
              <a:tr h="313895">
                <a:tc>
                  <a:txBody>
                    <a:bodyPr/>
                    <a:lstStyle/>
                    <a:p>
                      <a:pPr marL="0" marR="0">
                        <a:lnSpc>
                          <a:spcPct val="107000"/>
                        </a:lnSpc>
                        <a:spcBef>
                          <a:spcPts val="0"/>
                        </a:spcBef>
                        <a:spcAft>
                          <a:spcPts val="0"/>
                        </a:spcAft>
                      </a:pPr>
                      <a:r>
                        <a:rPr lang="en-US" sz="1100">
                          <a:effectLst/>
                        </a:rPr>
                        <a:t>Cost Category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Original Budget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Revised Budget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Difference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6090256"/>
                  </a:ext>
                </a:extLst>
              </a:tr>
              <a:tr h="313895">
                <a:tc>
                  <a:txBody>
                    <a:bodyPr/>
                    <a:lstStyle/>
                    <a:p>
                      <a:pPr marL="0" marR="0">
                        <a:lnSpc>
                          <a:spcPct val="107000"/>
                        </a:lnSpc>
                        <a:spcBef>
                          <a:spcPts val="0"/>
                        </a:spcBef>
                        <a:spcAft>
                          <a:spcPts val="0"/>
                        </a:spcAft>
                      </a:pPr>
                      <a:r>
                        <a:rPr lang="en-US" sz="1100">
                          <a:effectLst/>
                        </a:rPr>
                        <a:t>Personnel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$750,000.00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5560735"/>
                  </a:ext>
                </a:extLst>
              </a:tr>
              <a:tr h="313895">
                <a:tc>
                  <a:txBody>
                    <a:bodyPr/>
                    <a:lstStyle/>
                    <a:p>
                      <a:pPr marL="0" marR="0">
                        <a:lnSpc>
                          <a:spcPct val="107000"/>
                        </a:lnSpc>
                        <a:spcBef>
                          <a:spcPts val="0"/>
                        </a:spcBef>
                        <a:spcAft>
                          <a:spcPts val="0"/>
                        </a:spcAft>
                      </a:pPr>
                      <a:r>
                        <a:rPr lang="en-US" sz="1100">
                          <a:effectLst/>
                        </a:rPr>
                        <a:t>Fringe Benefits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$375,000.00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70729077"/>
                  </a:ext>
                </a:extLst>
              </a:tr>
              <a:tr h="313895">
                <a:tc>
                  <a:txBody>
                    <a:bodyPr/>
                    <a:lstStyle/>
                    <a:p>
                      <a:pPr marL="0" marR="0">
                        <a:lnSpc>
                          <a:spcPct val="107000"/>
                        </a:lnSpc>
                        <a:spcBef>
                          <a:spcPts val="0"/>
                        </a:spcBef>
                        <a:spcAft>
                          <a:spcPts val="0"/>
                        </a:spcAft>
                      </a:pPr>
                      <a:r>
                        <a:rPr lang="en-US" sz="1100">
                          <a:effectLst/>
                        </a:rPr>
                        <a:t>Travel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$500,000.00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4586834"/>
                  </a:ext>
                </a:extLst>
              </a:tr>
              <a:tr h="313895">
                <a:tc>
                  <a:txBody>
                    <a:bodyPr/>
                    <a:lstStyle/>
                    <a:p>
                      <a:pPr marL="0" marR="0">
                        <a:lnSpc>
                          <a:spcPct val="107000"/>
                        </a:lnSpc>
                        <a:spcBef>
                          <a:spcPts val="0"/>
                        </a:spcBef>
                        <a:spcAft>
                          <a:spcPts val="0"/>
                        </a:spcAft>
                      </a:pPr>
                      <a:r>
                        <a:rPr lang="en-US" sz="1100">
                          <a:effectLst/>
                        </a:rPr>
                        <a:t>Equipment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-$5,000.00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4687257"/>
                  </a:ext>
                </a:extLst>
              </a:tr>
              <a:tr h="313895">
                <a:tc>
                  <a:txBody>
                    <a:bodyPr/>
                    <a:lstStyle/>
                    <a:p>
                      <a:pPr marL="0" marR="0">
                        <a:lnSpc>
                          <a:spcPct val="107000"/>
                        </a:lnSpc>
                        <a:spcBef>
                          <a:spcPts val="0"/>
                        </a:spcBef>
                        <a:spcAft>
                          <a:spcPts val="0"/>
                        </a:spcAft>
                      </a:pPr>
                      <a:r>
                        <a:rPr lang="en-US" sz="1100">
                          <a:effectLst/>
                        </a:rPr>
                        <a:t>Supplies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$60,000.00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0858238"/>
                  </a:ext>
                </a:extLst>
              </a:tr>
              <a:tr h="313895">
                <a:tc>
                  <a:txBody>
                    <a:bodyPr/>
                    <a:lstStyle/>
                    <a:p>
                      <a:pPr marL="0" marR="0">
                        <a:lnSpc>
                          <a:spcPct val="107000"/>
                        </a:lnSpc>
                        <a:spcBef>
                          <a:spcPts val="0"/>
                        </a:spcBef>
                        <a:spcAft>
                          <a:spcPts val="0"/>
                        </a:spcAft>
                      </a:pPr>
                      <a:r>
                        <a:rPr lang="en-US" sz="1100">
                          <a:effectLst/>
                        </a:rPr>
                        <a:t>Contractual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$345,000.00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$285,000.00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-$60,000.00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7371758"/>
                  </a:ext>
                </a:extLst>
              </a:tr>
              <a:tr h="313895">
                <a:tc>
                  <a:txBody>
                    <a:bodyPr/>
                    <a:lstStyle/>
                    <a:p>
                      <a:pPr marL="0" marR="0">
                        <a:lnSpc>
                          <a:spcPct val="107000"/>
                        </a:lnSpc>
                        <a:spcBef>
                          <a:spcPts val="0"/>
                        </a:spcBef>
                        <a:spcAft>
                          <a:spcPts val="0"/>
                        </a:spcAft>
                      </a:pPr>
                      <a:r>
                        <a:rPr lang="en-US" sz="1100">
                          <a:effectLst/>
                        </a:rPr>
                        <a:t>Construction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7170245"/>
                  </a:ext>
                </a:extLst>
              </a:tr>
              <a:tr h="313895">
                <a:tc>
                  <a:txBody>
                    <a:bodyPr/>
                    <a:lstStyle/>
                    <a:p>
                      <a:pPr marL="0" marR="0">
                        <a:lnSpc>
                          <a:spcPct val="107000"/>
                        </a:lnSpc>
                        <a:spcBef>
                          <a:spcPts val="0"/>
                        </a:spcBef>
                        <a:spcAft>
                          <a:spcPts val="0"/>
                        </a:spcAft>
                      </a:pPr>
                      <a:r>
                        <a:rPr lang="en-US" sz="1100">
                          <a:effectLst/>
                        </a:rPr>
                        <a:t>Other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154823"/>
                  </a:ext>
                </a:extLst>
              </a:tr>
              <a:tr h="313895">
                <a:tc>
                  <a:txBody>
                    <a:bodyPr/>
                    <a:lstStyle/>
                    <a:p>
                      <a:pPr marL="0" marR="0">
                        <a:lnSpc>
                          <a:spcPct val="107000"/>
                        </a:lnSpc>
                        <a:spcBef>
                          <a:spcPts val="0"/>
                        </a:spcBef>
                        <a:spcAft>
                          <a:spcPts val="0"/>
                        </a:spcAft>
                      </a:pPr>
                      <a:r>
                        <a:rPr lang="en-US" sz="1100">
                          <a:effectLst/>
                        </a:rPr>
                        <a:t>Total Direct Charges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$1,680,000.00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$1,680,000.00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9318012"/>
                  </a:ext>
                </a:extLst>
              </a:tr>
              <a:tr h="313895">
                <a:tc>
                  <a:txBody>
                    <a:bodyPr/>
                    <a:lstStyle/>
                    <a:p>
                      <a:pPr marL="0" marR="0">
                        <a:lnSpc>
                          <a:spcPct val="107000"/>
                        </a:lnSpc>
                        <a:spcBef>
                          <a:spcPts val="0"/>
                        </a:spcBef>
                        <a:spcAft>
                          <a:spcPts val="0"/>
                        </a:spcAft>
                      </a:pPr>
                      <a:r>
                        <a:rPr lang="en-US" sz="1100">
                          <a:effectLst/>
                        </a:rPr>
                        <a:t>Indirect Charges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5989253"/>
                  </a:ext>
                </a:extLst>
              </a:tr>
              <a:tr h="313895">
                <a:tc>
                  <a:txBody>
                    <a:bodyPr/>
                    <a:lstStyle/>
                    <a:p>
                      <a:pPr marL="0" marR="0">
                        <a:lnSpc>
                          <a:spcPct val="107000"/>
                        </a:lnSpc>
                        <a:spcBef>
                          <a:spcPts val="0"/>
                        </a:spcBef>
                        <a:spcAft>
                          <a:spcPts val="0"/>
                        </a:spcAft>
                      </a:pPr>
                      <a:r>
                        <a:rPr lang="en-US" sz="1100">
                          <a:effectLst/>
                        </a:rPr>
                        <a:t>Totals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1879839"/>
                  </a:ext>
                </a:extLst>
              </a:tr>
            </a:tbl>
          </a:graphicData>
        </a:graphic>
      </p:graphicFrame>
    </p:spTree>
    <p:extLst>
      <p:ext uri="{BB962C8B-B14F-4D97-AF65-F5344CB8AC3E}">
        <p14:creationId xmlns:p14="http://schemas.microsoft.com/office/powerpoint/2010/main" val="31926946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4068"/>
            <a:ext cx="10972800" cy="960437"/>
          </a:xfrm>
        </p:spPr>
        <p:txBody>
          <a:bodyPr/>
          <a:lstStyle/>
          <a:p>
            <a:r>
              <a:rPr lang="en-US" dirty="0"/>
              <a:t>Example 3</a:t>
            </a:r>
          </a:p>
        </p:txBody>
      </p:sp>
      <p:sp>
        <p:nvSpPr>
          <p:cNvPr id="3" name="Content Placeholder 2"/>
          <p:cNvSpPr>
            <a:spLocks noGrp="1"/>
          </p:cNvSpPr>
          <p:nvPr>
            <p:ph idx="1"/>
          </p:nvPr>
        </p:nvSpPr>
        <p:spPr>
          <a:xfrm>
            <a:off x="609600" y="1189037"/>
            <a:ext cx="10972800" cy="4525963"/>
          </a:xfrm>
        </p:spPr>
        <p:txBody>
          <a:bodyPr>
            <a:normAutofit/>
          </a:bodyPr>
          <a:lstStyle/>
          <a:p>
            <a:pPr marL="0" indent="0">
              <a:buNone/>
            </a:pPr>
            <a:endParaRPr lang="en-US" dirty="0" smtClean="0"/>
          </a:p>
          <a:p>
            <a:pPr marL="0" indent="0">
              <a:buNone/>
            </a:pPr>
            <a:endParaRPr lang="en-US" dirty="0"/>
          </a:p>
          <a:p>
            <a:pPr marL="0" indent="0">
              <a:buNone/>
            </a:pPr>
            <a:endParaRPr lang="en-US" dirty="0" smtClean="0"/>
          </a:p>
          <a:p>
            <a:endParaRPr lang="en-US" dirty="0" smtClean="0"/>
          </a:p>
          <a:p>
            <a:endParaRPr lang="en-US" dirty="0" smtClean="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7" name="TextBox 6"/>
          <p:cNvSpPr txBox="1"/>
          <p:nvPr/>
        </p:nvSpPr>
        <p:spPr>
          <a:xfrm>
            <a:off x="11289" y="36689"/>
            <a:ext cx="3200400" cy="646331"/>
          </a:xfrm>
          <a:prstGeom prst="rect">
            <a:avLst/>
          </a:prstGeom>
          <a:noFill/>
        </p:spPr>
        <p:txBody>
          <a:bodyPr wrap="square" rtlCol="0">
            <a:spAutoFit/>
          </a:bodyPr>
          <a:lstStyle/>
          <a:p>
            <a:r>
              <a:rPr lang="en-US" dirty="0" smtClean="0"/>
              <a:t>OCFT 2019 </a:t>
            </a:r>
            <a:r>
              <a:rPr lang="en-US" dirty="0"/>
              <a:t>MPG, page </a:t>
            </a:r>
            <a:r>
              <a:rPr lang="en-US" dirty="0" smtClean="0"/>
              <a:t>22 </a:t>
            </a:r>
          </a:p>
          <a:p>
            <a:r>
              <a:rPr lang="en-US" dirty="0" smtClean="0"/>
              <a:t>“Programmatic </a:t>
            </a:r>
            <a:r>
              <a:rPr lang="en-US" dirty="0"/>
              <a:t>Revisions”</a:t>
            </a:r>
          </a:p>
        </p:txBody>
      </p:sp>
      <p:graphicFrame>
        <p:nvGraphicFramePr>
          <p:cNvPr id="8" name="Content Placeholder 3"/>
          <p:cNvGraphicFramePr>
            <a:graphicFrameLocks/>
          </p:cNvGraphicFramePr>
          <p:nvPr>
            <p:extLst>
              <p:ext uri="{D42A27DB-BD31-4B8C-83A1-F6EECF244321}">
                <p14:modId xmlns:p14="http://schemas.microsoft.com/office/powerpoint/2010/main" val="2203610471"/>
              </p:ext>
            </p:extLst>
          </p:nvPr>
        </p:nvGraphicFramePr>
        <p:xfrm>
          <a:off x="1219201" y="1380947"/>
          <a:ext cx="9829798" cy="3953052"/>
        </p:xfrm>
        <a:graphic>
          <a:graphicData uri="http://schemas.openxmlformats.org/drawingml/2006/table">
            <a:tbl>
              <a:tblPr firstRow="1" firstCol="1" bandRow="1">
                <a:tableStyleId>{5C22544A-7EE6-4342-B048-85BDC9FD1C3A}</a:tableStyleId>
              </a:tblPr>
              <a:tblGrid>
                <a:gridCol w="2466321">
                  <a:extLst>
                    <a:ext uri="{9D8B030D-6E8A-4147-A177-3AD203B41FA5}">
                      <a16:colId xmlns:a16="http://schemas.microsoft.com/office/drawing/2014/main" val="1220798412"/>
                    </a:ext>
                  </a:extLst>
                </a:gridCol>
                <a:gridCol w="2200171">
                  <a:extLst>
                    <a:ext uri="{9D8B030D-6E8A-4147-A177-3AD203B41FA5}">
                      <a16:colId xmlns:a16="http://schemas.microsoft.com/office/drawing/2014/main" val="4198931973"/>
                    </a:ext>
                  </a:extLst>
                </a:gridCol>
                <a:gridCol w="2235658">
                  <a:extLst>
                    <a:ext uri="{9D8B030D-6E8A-4147-A177-3AD203B41FA5}">
                      <a16:colId xmlns:a16="http://schemas.microsoft.com/office/drawing/2014/main" val="1039236452"/>
                    </a:ext>
                  </a:extLst>
                </a:gridCol>
                <a:gridCol w="2927648">
                  <a:extLst>
                    <a:ext uri="{9D8B030D-6E8A-4147-A177-3AD203B41FA5}">
                      <a16:colId xmlns:a16="http://schemas.microsoft.com/office/drawing/2014/main" val="1808238065"/>
                    </a:ext>
                  </a:extLst>
                </a:gridCol>
              </a:tblGrid>
              <a:tr h="329421">
                <a:tc>
                  <a:txBody>
                    <a:bodyPr/>
                    <a:lstStyle/>
                    <a:p>
                      <a:pPr marL="0" marR="0">
                        <a:lnSpc>
                          <a:spcPct val="107000"/>
                        </a:lnSpc>
                        <a:spcBef>
                          <a:spcPts val="0"/>
                        </a:spcBef>
                        <a:spcAft>
                          <a:spcPts val="0"/>
                        </a:spcAft>
                      </a:pPr>
                      <a:r>
                        <a:rPr lang="en-US" sz="1100">
                          <a:effectLst/>
                        </a:rPr>
                        <a:t>Cost Category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Original Budget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Revised Budget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Difference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7915706"/>
                  </a:ext>
                </a:extLst>
              </a:tr>
              <a:tr h="329421">
                <a:tc>
                  <a:txBody>
                    <a:bodyPr/>
                    <a:lstStyle/>
                    <a:p>
                      <a:pPr marL="0" marR="0">
                        <a:lnSpc>
                          <a:spcPct val="107000"/>
                        </a:lnSpc>
                        <a:spcBef>
                          <a:spcPts val="0"/>
                        </a:spcBef>
                        <a:spcAft>
                          <a:spcPts val="0"/>
                        </a:spcAft>
                      </a:pPr>
                      <a:r>
                        <a:rPr lang="en-US" sz="1100">
                          <a:effectLst/>
                        </a:rPr>
                        <a:t>Personnel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$450,000.00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00489497"/>
                  </a:ext>
                </a:extLst>
              </a:tr>
              <a:tr h="329421">
                <a:tc>
                  <a:txBody>
                    <a:bodyPr/>
                    <a:lstStyle/>
                    <a:p>
                      <a:pPr marL="0" marR="0">
                        <a:lnSpc>
                          <a:spcPct val="107000"/>
                        </a:lnSpc>
                        <a:spcBef>
                          <a:spcPts val="0"/>
                        </a:spcBef>
                        <a:spcAft>
                          <a:spcPts val="0"/>
                        </a:spcAft>
                      </a:pPr>
                      <a:r>
                        <a:rPr lang="en-US" sz="1100">
                          <a:effectLst/>
                        </a:rPr>
                        <a:t>Fringe Benefits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$250,000.00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24825181"/>
                  </a:ext>
                </a:extLst>
              </a:tr>
              <a:tr h="329421">
                <a:tc>
                  <a:txBody>
                    <a:bodyPr/>
                    <a:lstStyle/>
                    <a:p>
                      <a:pPr marL="0" marR="0">
                        <a:lnSpc>
                          <a:spcPct val="107000"/>
                        </a:lnSpc>
                        <a:spcBef>
                          <a:spcPts val="0"/>
                        </a:spcBef>
                        <a:spcAft>
                          <a:spcPts val="0"/>
                        </a:spcAft>
                      </a:pPr>
                      <a:r>
                        <a:rPr lang="en-US" sz="1100">
                          <a:effectLst/>
                        </a:rPr>
                        <a:t>Travel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$500,000.00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$475,000.00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861644"/>
                  </a:ext>
                </a:extLst>
              </a:tr>
              <a:tr h="329421">
                <a:tc>
                  <a:txBody>
                    <a:bodyPr/>
                    <a:lstStyle/>
                    <a:p>
                      <a:pPr marL="0" marR="0">
                        <a:lnSpc>
                          <a:spcPct val="107000"/>
                        </a:lnSpc>
                        <a:spcBef>
                          <a:spcPts val="0"/>
                        </a:spcBef>
                        <a:spcAft>
                          <a:spcPts val="0"/>
                        </a:spcAft>
                      </a:pPr>
                      <a:r>
                        <a:rPr lang="en-US" sz="1100">
                          <a:effectLst/>
                        </a:rPr>
                        <a:t>Equipment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5295633"/>
                  </a:ext>
                </a:extLst>
              </a:tr>
              <a:tr h="329421">
                <a:tc>
                  <a:txBody>
                    <a:bodyPr/>
                    <a:lstStyle/>
                    <a:p>
                      <a:pPr marL="0" marR="0">
                        <a:lnSpc>
                          <a:spcPct val="107000"/>
                        </a:lnSpc>
                        <a:spcBef>
                          <a:spcPts val="0"/>
                        </a:spcBef>
                        <a:spcAft>
                          <a:spcPts val="0"/>
                        </a:spcAft>
                      </a:pPr>
                      <a:r>
                        <a:rPr lang="en-US" sz="1100">
                          <a:effectLst/>
                        </a:rPr>
                        <a:t>Supplies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1734024"/>
                  </a:ext>
                </a:extLst>
              </a:tr>
              <a:tr h="329421">
                <a:tc>
                  <a:txBody>
                    <a:bodyPr/>
                    <a:lstStyle/>
                    <a:p>
                      <a:pPr marL="0" marR="0">
                        <a:lnSpc>
                          <a:spcPct val="107000"/>
                        </a:lnSpc>
                        <a:spcBef>
                          <a:spcPts val="0"/>
                        </a:spcBef>
                        <a:spcAft>
                          <a:spcPts val="0"/>
                        </a:spcAft>
                      </a:pPr>
                      <a:r>
                        <a:rPr lang="en-US" sz="1100">
                          <a:effectLst/>
                        </a:rPr>
                        <a:t>Contractual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$345,000.00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$445,000.00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7204474"/>
                  </a:ext>
                </a:extLst>
              </a:tr>
              <a:tr h="329421">
                <a:tc>
                  <a:txBody>
                    <a:bodyPr/>
                    <a:lstStyle/>
                    <a:p>
                      <a:pPr marL="0" marR="0">
                        <a:lnSpc>
                          <a:spcPct val="107000"/>
                        </a:lnSpc>
                        <a:spcBef>
                          <a:spcPts val="0"/>
                        </a:spcBef>
                        <a:spcAft>
                          <a:spcPts val="0"/>
                        </a:spcAft>
                      </a:pPr>
                      <a:r>
                        <a:rPr lang="en-US" sz="1100">
                          <a:effectLst/>
                        </a:rPr>
                        <a:t>Construction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599149"/>
                  </a:ext>
                </a:extLst>
              </a:tr>
              <a:tr h="329421">
                <a:tc>
                  <a:txBody>
                    <a:bodyPr/>
                    <a:lstStyle/>
                    <a:p>
                      <a:pPr marL="0" marR="0">
                        <a:lnSpc>
                          <a:spcPct val="107000"/>
                        </a:lnSpc>
                        <a:spcBef>
                          <a:spcPts val="0"/>
                        </a:spcBef>
                        <a:spcAft>
                          <a:spcPts val="0"/>
                        </a:spcAft>
                      </a:pPr>
                      <a:r>
                        <a:rPr lang="en-US" sz="1100">
                          <a:effectLst/>
                        </a:rPr>
                        <a:t>Other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5625331"/>
                  </a:ext>
                </a:extLst>
              </a:tr>
              <a:tr h="329421">
                <a:tc>
                  <a:txBody>
                    <a:bodyPr/>
                    <a:lstStyle/>
                    <a:p>
                      <a:pPr marL="0" marR="0">
                        <a:lnSpc>
                          <a:spcPct val="107000"/>
                        </a:lnSpc>
                        <a:spcBef>
                          <a:spcPts val="0"/>
                        </a:spcBef>
                        <a:spcAft>
                          <a:spcPts val="0"/>
                        </a:spcAft>
                      </a:pPr>
                      <a:r>
                        <a:rPr lang="en-US" sz="1100">
                          <a:effectLst/>
                        </a:rPr>
                        <a:t>Total Direct Charges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$1,680,000.00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$1,680,000.00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27582846"/>
                  </a:ext>
                </a:extLst>
              </a:tr>
              <a:tr h="329421">
                <a:tc>
                  <a:txBody>
                    <a:bodyPr/>
                    <a:lstStyle/>
                    <a:p>
                      <a:pPr marL="0" marR="0">
                        <a:lnSpc>
                          <a:spcPct val="107000"/>
                        </a:lnSpc>
                        <a:spcBef>
                          <a:spcPts val="0"/>
                        </a:spcBef>
                        <a:spcAft>
                          <a:spcPts val="0"/>
                        </a:spcAft>
                      </a:pPr>
                      <a:r>
                        <a:rPr lang="en-US" sz="1100">
                          <a:effectLst/>
                        </a:rPr>
                        <a:t>Indirect Charges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8704336"/>
                  </a:ext>
                </a:extLst>
              </a:tr>
              <a:tr h="329421">
                <a:tc>
                  <a:txBody>
                    <a:bodyPr/>
                    <a:lstStyle/>
                    <a:p>
                      <a:pPr marL="0" marR="0">
                        <a:lnSpc>
                          <a:spcPct val="107000"/>
                        </a:lnSpc>
                        <a:spcBef>
                          <a:spcPts val="0"/>
                        </a:spcBef>
                        <a:spcAft>
                          <a:spcPts val="0"/>
                        </a:spcAft>
                      </a:pPr>
                      <a:r>
                        <a:rPr lang="en-US" sz="1100">
                          <a:effectLst/>
                        </a:rPr>
                        <a:t>Totals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1653833"/>
                  </a:ext>
                </a:extLst>
              </a:tr>
            </a:tbl>
          </a:graphicData>
        </a:graphic>
      </p:graphicFrame>
    </p:spTree>
    <p:extLst>
      <p:ext uri="{BB962C8B-B14F-4D97-AF65-F5344CB8AC3E}">
        <p14:creationId xmlns:p14="http://schemas.microsoft.com/office/powerpoint/2010/main" val="39785759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4068"/>
            <a:ext cx="10972800" cy="960437"/>
          </a:xfrm>
        </p:spPr>
        <p:txBody>
          <a:bodyPr/>
          <a:lstStyle/>
          <a:p>
            <a:r>
              <a:rPr lang="en-US" dirty="0"/>
              <a:t>Example </a:t>
            </a:r>
            <a:r>
              <a:rPr lang="en-US" dirty="0" smtClean="0"/>
              <a:t>4</a:t>
            </a:r>
            <a:endParaRPr lang="en-US" dirty="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7" name="TextBox 6"/>
          <p:cNvSpPr txBox="1"/>
          <p:nvPr/>
        </p:nvSpPr>
        <p:spPr>
          <a:xfrm>
            <a:off x="11289" y="36689"/>
            <a:ext cx="3200400" cy="646331"/>
          </a:xfrm>
          <a:prstGeom prst="rect">
            <a:avLst/>
          </a:prstGeom>
          <a:noFill/>
        </p:spPr>
        <p:txBody>
          <a:bodyPr wrap="square" rtlCol="0">
            <a:spAutoFit/>
          </a:bodyPr>
          <a:lstStyle/>
          <a:p>
            <a:r>
              <a:rPr lang="en-US" dirty="0" smtClean="0"/>
              <a:t>OCFT 2019 </a:t>
            </a:r>
            <a:r>
              <a:rPr lang="en-US" dirty="0"/>
              <a:t>MPG, page </a:t>
            </a:r>
            <a:r>
              <a:rPr lang="en-US" dirty="0" smtClean="0"/>
              <a:t>22 </a:t>
            </a:r>
          </a:p>
          <a:p>
            <a:r>
              <a:rPr lang="en-US" dirty="0" smtClean="0"/>
              <a:t>“Programmatic </a:t>
            </a:r>
            <a:r>
              <a:rPr lang="en-US" dirty="0"/>
              <a:t>Revisions”</a:t>
            </a:r>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2547381883"/>
              </p:ext>
            </p:extLst>
          </p:nvPr>
        </p:nvGraphicFramePr>
        <p:xfrm>
          <a:off x="1447800" y="1380945"/>
          <a:ext cx="9601200" cy="3619680"/>
        </p:xfrm>
        <a:graphic>
          <a:graphicData uri="http://schemas.openxmlformats.org/drawingml/2006/table">
            <a:tbl>
              <a:tblPr firstRow="1" firstCol="1" bandRow="1">
                <a:tableStyleId>{5C22544A-7EE6-4342-B048-85BDC9FD1C3A}</a:tableStyleId>
              </a:tblPr>
              <a:tblGrid>
                <a:gridCol w="2408002">
                  <a:extLst>
                    <a:ext uri="{9D8B030D-6E8A-4147-A177-3AD203B41FA5}">
                      <a16:colId xmlns:a16="http://schemas.microsoft.com/office/drawing/2014/main" val="2411751484"/>
                    </a:ext>
                  </a:extLst>
                </a:gridCol>
                <a:gridCol w="2153339">
                  <a:extLst>
                    <a:ext uri="{9D8B030D-6E8A-4147-A177-3AD203B41FA5}">
                      <a16:colId xmlns:a16="http://schemas.microsoft.com/office/drawing/2014/main" val="1255178916"/>
                    </a:ext>
                  </a:extLst>
                </a:gridCol>
                <a:gridCol w="2187225">
                  <a:extLst>
                    <a:ext uri="{9D8B030D-6E8A-4147-A177-3AD203B41FA5}">
                      <a16:colId xmlns:a16="http://schemas.microsoft.com/office/drawing/2014/main" val="4239848921"/>
                    </a:ext>
                  </a:extLst>
                </a:gridCol>
                <a:gridCol w="2852634">
                  <a:extLst>
                    <a:ext uri="{9D8B030D-6E8A-4147-A177-3AD203B41FA5}">
                      <a16:colId xmlns:a16="http://schemas.microsoft.com/office/drawing/2014/main" val="2101494502"/>
                    </a:ext>
                  </a:extLst>
                </a:gridCol>
              </a:tblGrid>
              <a:tr h="301640">
                <a:tc>
                  <a:txBody>
                    <a:bodyPr/>
                    <a:lstStyle/>
                    <a:p>
                      <a:pPr marL="0" marR="0">
                        <a:lnSpc>
                          <a:spcPct val="107000"/>
                        </a:lnSpc>
                        <a:spcBef>
                          <a:spcPts val="0"/>
                        </a:spcBef>
                        <a:spcAft>
                          <a:spcPts val="0"/>
                        </a:spcAft>
                      </a:pPr>
                      <a:r>
                        <a:rPr lang="en-US" sz="1100">
                          <a:effectLst/>
                        </a:rPr>
                        <a:t>Cost Category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Original Budget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Revised Budget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Difference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16190755"/>
                  </a:ext>
                </a:extLst>
              </a:tr>
              <a:tr h="301640">
                <a:tc>
                  <a:txBody>
                    <a:bodyPr/>
                    <a:lstStyle/>
                    <a:p>
                      <a:pPr marL="0" marR="0">
                        <a:lnSpc>
                          <a:spcPct val="107000"/>
                        </a:lnSpc>
                        <a:spcBef>
                          <a:spcPts val="0"/>
                        </a:spcBef>
                        <a:spcAft>
                          <a:spcPts val="0"/>
                        </a:spcAft>
                      </a:pPr>
                      <a:r>
                        <a:rPr lang="en-US" sz="1100">
                          <a:effectLst/>
                        </a:rPr>
                        <a:t>Personnel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$600,000.00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9421365"/>
                  </a:ext>
                </a:extLst>
              </a:tr>
              <a:tr h="301640">
                <a:tc>
                  <a:txBody>
                    <a:bodyPr/>
                    <a:lstStyle/>
                    <a:p>
                      <a:pPr marL="0" marR="0">
                        <a:lnSpc>
                          <a:spcPct val="107000"/>
                        </a:lnSpc>
                        <a:spcBef>
                          <a:spcPts val="0"/>
                        </a:spcBef>
                        <a:spcAft>
                          <a:spcPts val="0"/>
                        </a:spcAft>
                      </a:pPr>
                      <a:r>
                        <a:rPr lang="en-US" sz="1100">
                          <a:effectLst/>
                        </a:rPr>
                        <a:t>Fringe Benefits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3698092"/>
                  </a:ext>
                </a:extLst>
              </a:tr>
              <a:tr h="301640">
                <a:tc>
                  <a:txBody>
                    <a:bodyPr/>
                    <a:lstStyle/>
                    <a:p>
                      <a:pPr marL="0" marR="0">
                        <a:lnSpc>
                          <a:spcPct val="107000"/>
                        </a:lnSpc>
                        <a:spcBef>
                          <a:spcPts val="0"/>
                        </a:spcBef>
                        <a:spcAft>
                          <a:spcPts val="0"/>
                        </a:spcAft>
                      </a:pPr>
                      <a:r>
                        <a:rPr lang="en-US" sz="1100" dirty="0">
                          <a:effectLst/>
                        </a:rPr>
                        <a:t>Travel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41799440"/>
                  </a:ext>
                </a:extLst>
              </a:tr>
              <a:tr h="301640">
                <a:tc>
                  <a:txBody>
                    <a:bodyPr/>
                    <a:lstStyle/>
                    <a:p>
                      <a:pPr marL="0" marR="0">
                        <a:lnSpc>
                          <a:spcPct val="107000"/>
                        </a:lnSpc>
                        <a:spcBef>
                          <a:spcPts val="0"/>
                        </a:spcBef>
                        <a:spcAft>
                          <a:spcPts val="0"/>
                        </a:spcAft>
                      </a:pPr>
                      <a:r>
                        <a:rPr lang="en-US" sz="1100">
                          <a:effectLst/>
                        </a:rPr>
                        <a:t>Equipment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4710806"/>
                  </a:ext>
                </a:extLst>
              </a:tr>
              <a:tr h="301640">
                <a:tc>
                  <a:txBody>
                    <a:bodyPr/>
                    <a:lstStyle/>
                    <a:p>
                      <a:pPr marL="0" marR="0">
                        <a:lnSpc>
                          <a:spcPct val="107000"/>
                        </a:lnSpc>
                        <a:spcBef>
                          <a:spcPts val="0"/>
                        </a:spcBef>
                        <a:spcAft>
                          <a:spcPts val="0"/>
                        </a:spcAft>
                      </a:pPr>
                      <a:r>
                        <a:rPr lang="en-US" sz="1100">
                          <a:effectLst/>
                        </a:rPr>
                        <a:t>Supplies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4776588"/>
                  </a:ext>
                </a:extLst>
              </a:tr>
              <a:tr h="301640">
                <a:tc>
                  <a:txBody>
                    <a:bodyPr/>
                    <a:lstStyle/>
                    <a:p>
                      <a:pPr marL="0" marR="0">
                        <a:lnSpc>
                          <a:spcPct val="107000"/>
                        </a:lnSpc>
                        <a:spcBef>
                          <a:spcPts val="0"/>
                        </a:spcBef>
                        <a:spcAft>
                          <a:spcPts val="0"/>
                        </a:spcAft>
                      </a:pPr>
                      <a:r>
                        <a:rPr lang="en-US" sz="1100">
                          <a:effectLst/>
                        </a:rPr>
                        <a:t>Contractual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$345,000.00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$345,000.00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631788"/>
                  </a:ext>
                </a:extLst>
              </a:tr>
              <a:tr h="301640">
                <a:tc>
                  <a:txBody>
                    <a:bodyPr/>
                    <a:lstStyle/>
                    <a:p>
                      <a:pPr marL="0" marR="0">
                        <a:lnSpc>
                          <a:spcPct val="107000"/>
                        </a:lnSpc>
                        <a:spcBef>
                          <a:spcPts val="0"/>
                        </a:spcBef>
                        <a:spcAft>
                          <a:spcPts val="0"/>
                        </a:spcAft>
                      </a:pPr>
                      <a:r>
                        <a:rPr lang="en-US" sz="1100">
                          <a:effectLst/>
                        </a:rPr>
                        <a:t>Construction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86936623"/>
                  </a:ext>
                </a:extLst>
              </a:tr>
              <a:tr h="301640">
                <a:tc>
                  <a:txBody>
                    <a:bodyPr/>
                    <a:lstStyle/>
                    <a:p>
                      <a:pPr marL="0" marR="0">
                        <a:lnSpc>
                          <a:spcPct val="107000"/>
                        </a:lnSpc>
                        <a:spcBef>
                          <a:spcPts val="0"/>
                        </a:spcBef>
                        <a:spcAft>
                          <a:spcPts val="0"/>
                        </a:spcAft>
                      </a:pPr>
                      <a:r>
                        <a:rPr lang="en-US" sz="1100">
                          <a:effectLst/>
                        </a:rPr>
                        <a:t>Other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$25,000.00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1819197"/>
                  </a:ext>
                </a:extLst>
              </a:tr>
              <a:tr h="301640">
                <a:tc>
                  <a:txBody>
                    <a:bodyPr/>
                    <a:lstStyle/>
                    <a:p>
                      <a:pPr marL="0" marR="0">
                        <a:lnSpc>
                          <a:spcPct val="107000"/>
                        </a:lnSpc>
                        <a:spcBef>
                          <a:spcPts val="0"/>
                        </a:spcBef>
                        <a:spcAft>
                          <a:spcPts val="0"/>
                        </a:spcAft>
                      </a:pPr>
                      <a:r>
                        <a:rPr lang="en-US" sz="1100">
                          <a:effectLst/>
                        </a:rPr>
                        <a:t>Total Direct Charges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$1,680,000.00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$1,680,000.00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83436537"/>
                  </a:ext>
                </a:extLst>
              </a:tr>
              <a:tr h="301640">
                <a:tc>
                  <a:txBody>
                    <a:bodyPr/>
                    <a:lstStyle/>
                    <a:p>
                      <a:pPr marL="0" marR="0">
                        <a:lnSpc>
                          <a:spcPct val="107000"/>
                        </a:lnSpc>
                        <a:spcBef>
                          <a:spcPts val="0"/>
                        </a:spcBef>
                        <a:spcAft>
                          <a:spcPts val="0"/>
                        </a:spcAft>
                      </a:pPr>
                      <a:r>
                        <a:rPr lang="en-US" sz="1100">
                          <a:effectLst/>
                        </a:rPr>
                        <a:t>Indirect Charges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$320,000.00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002463"/>
                  </a:ext>
                </a:extLst>
              </a:tr>
              <a:tr h="301640">
                <a:tc>
                  <a:txBody>
                    <a:bodyPr/>
                    <a:lstStyle/>
                    <a:p>
                      <a:pPr marL="0" marR="0">
                        <a:lnSpc>
                          <a:spcPct val="107000"/>
                        </a:lnSpc>
                        <a:spcBef>
                          <a:spcPts val="0"/>
                        </a:spcBef>
                        <a:spcAft>
                          <a:spcPts val="0"/>
                        </a:spcAft>
                      </a:pPr>
                      <a:r>
                        <a:rPr lang="en-US" sz="1100">
                          <a:effectLst/>
                        </a:rPr>
                        <a:t>Totals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$2,000,000.00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7938703"/>
                  </a:ext>
                </a:extLst>
              </a:tr>
            </a:tbl>
          </a:graphicData>
        </a:graphic>
      </p:graphicFrame>
    </p:spTree>
    <p:extLst>
      <p:ext uri="{BB962C8B-B14F-4D97-AF65-F5344CB8AC3E}">
        <p14:creationId xmlns:p14="http://schemas.microsoft.com/office/powerpoint/2010/main" val="40509237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0754" y="2566458"/>
            <a:ext cx="10363200" cy="1362075"/>
          </a:xfrm>
        </p:spPr>
        <p:txBody>
          <a:bodyPr>
            <a:normAutofit/>
          </a:bodyPr>
          <a:lstStyle/>
          <a:p>
            <a:r>
              <a:rPr lang="en-US" sz="6600" dirty="0" smtClean="0"/>
              <a:t>Financial monitoring</a:t>
            </a:r>
            <a:endParaRPr lang="en-US" sz="6600" dirty="0"/>
          </a:p>
        </p:txBody>
      </p:sp>
      <p:cxnSp>
        <p:nvCxnSpPr>
          <p:cNvPr id="6" name="Straight Connector 5"/>
          <p:cNvCxnSpPr/>
          <p:nvPr/>
        </p:nvCxnSpPr>
        <p:spPr>
          <a:xfrm>
            <a:off x="304800" y="3402365"/>
            <a:ext cx="11353800"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5" name="Title 3"/>
          <p:cNvSpPr txBox="1">
            <a:spLocks/>
          </p:cNvSpPr>
          <p:nvPr/>
        </p:nvSpPr>
        <p:spPr>
          <a:xfrm>
            <a:off x="2449689" y="3328458"/>
            <a:ext cx="9296400" cy="1133475"/>
          </a:xfrm>
          <a:prstGeom prst="rect">
            <a:avLst/>
          </a:prstGeom>
        </p:spPr>
        <p:txBody>
          <a:bodyPr vert="horz" lIns="91440" tIns="45720" rIns="91440" bIns="45720" rtlCol="0" anchor="t">
            <a:normAutofit fontScale="47500" lnSpcReduction="20000"/>
          </a:bodyPr>
          <a:lstStyle>
            <a:lvl1pPr algn="l" defTabSz="914400" rtl="0" eaLnBrk="1" latinLnBrk="0" hangingPunct="1">
              <a:spcBef>
                <a:spcPct val="0"/>
              </a:spcBef>
              <a:buNone/>
              <a:defRPr sz="4000" b="1" kern="1200" cap="all">
                <a:solidFill>
                  <a:schemeClr val="tx1"/>
                </a:solidFill>
                <a:latin typeface="+mj-lt"/>
                <a:ea typeface="+mj-ea"/>
                <a:cs typeface="+mj-cs"/>
              </a:defRPr>
            </a:lvl1pPr>
          </a:lstStyle>
          <a:p>
            <a:pPr algn="r"/>
            <a:r>
              <a:rPr lang="en-US" sz="6600" b="0" dirty="0" err="1" smtClean="0"/>
              <a:t>FedEral</a:t>
            </a:r>
            <a:r>
              <a:rPr lang="en-US" sz="6600" b="0" dirty="0" smtClean="0"/>
              <a:t> financial report (FFR) AND </a:t>
            </a:r>
          </a:p>
          <a:p>
            <a:pPr algn="r"/>
            <a:r>
              <a:rPr lang="en-US" sz="6600" b="0" dirty="0" smtClean="0"/>
              <a:t>payment management system (PMS) report </a:t>
            </a:r>
            <a:endParaRPr lang="en-US" sz="6600" b="0" dirty="0"/>
          </a:p>
        </p:txBody>
      </p:sp>
    </p:spTree>
    <p:extLst>
      <p:ext uri="{BB962C8B-B14F-4D97-AF65-F5344CB8AC3E}">
        <p14:creationId xmlns:p14="http://schemas.microsoft.com/office/powerpoint/2010/main" val="38922411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Final Financial Report</a:t>
            </a:r>
            <a:endParaRPr lang="en-US" dirty="0"/>
          </a:p>
        </p:txBody>
      </p:sp>
      <p:pic>
        <p:nvPicPr>
          <p:cNvPr id="4" name="Content Placeholder 3"/>
          <p:cNvPicPr>
            <a:picLocks noGrp="1" noChangeAspect="1"/>
          </p:cNvPicPr>
          <p:nvPr>
            <p:ph idx="1"/>
          </p:nvPr>
        </p:nvPicPr>
        <p:blipFill>
          <a:blip r:embed="rId3"/>
          <a:stretch>
            <a:fillRect/>
          </a:stretch>
        </p:blipFill>
        <p:spPr>
          <a:xfrm>
            <a:off x="609600" y="1295400"/>
            <a:ext cx="11582400" cy="4648200"/>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pic>
        <p:nvPicPr>
          <p:cNvPr id="7" name="Content Placeholder 3"/>
          <p:cNvPicPr>
            <a:picLocks noChangeAspect="1"/>
          </p:cNvPicPr>
          <p:nvPr/>
        </p:nvPicPr>
        <p:blipFill>
          <a:blip r:embed="rId3"/>
          <a:stretch>
            <a:fillRect/>
          </a:stretch>
        </p:blipFill>
        <p:spPr>
          <a:xfrm>
            <a:off x="762000" y="1447800"/>
            <a:ext cx="11582400" cy="3886200"/>
          </a:xfrm>
          <a:prstGeom prst="rect">
            <a:avLst/>
          </a:prstGeom>
        </p:spPr>
      </p:pic>
      <p:pic>
        <p:nvPicPr>
          <p:cNvPr id="10" name="Picture 9"/>
          <p:cNvPicPr>
            <a:picLocks noChangeAspect="1"/>
          </p:cNvPicPr>
          <p:nvPr/>
        </p:nvPicPr>
        <p:blipFill>
          <a:blip r:embed="rId5"/>
          <a:stretch>
            <a:fillRect/>
          </a:stretch>
        </p:blipFill>
        <p:spPr>
          <a:xfrm>
            <a:off x="2590800" y="1734969"/>
            <a:ext cx="6106387" cy="3311862"/>
          </a:xfrm>
          <a:prstGeom prst="rect">
            <a:avLst/>
          </a:prstGeom>
        </p:spPr>
      </p:pic>
      <p:pic>
        <p:nvPicPr>
          <p:cNvPr id="3" name="Picture 2"/>
          <p:cNvPicPr>
            <a:picLocks noChangeAspect="1"/>
          </p:cNvPicPr>
          <p:nvPr/>
        </p:nvPicPr>
        <p:blipFill>
          <a:blip r:embed="rId6"/>
          <a:stretch>
            <a:fillRect/>
          </a:stretch>
        </p:blipFill>
        <p:spPr>
          <a:xfrm>
            <a:off x="1685925" y="1295400"/>
            <a:ext cx="9429750" cy="4292827"/>
          </a:xfrm>
          <a:prstGeom prst="rect">
            <a:avLst/>
          </a:prstGeom>
        </p:spPr>
      </p:pic>
    </p:spTree>
    <p:extLst>
      <p:ext uri="{BB962C8B-B14F-4D97-AF65-F5344CB8AC3E}">
        <p14:creationId xmlns:p14="http://schemas.microsoft.com/office/powerpoint/2010/main" val="16420169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Final Financial Report (cont’d)</a:t>
            </a:r>
            <a:endParaRPr lang="en-US" dirty="0"/>
          </a:p>
        </p:txBody>
      </p:sp>
      <p:pic>
        <p:nvPicPr>
          <p:cNvPr id="4" name="Content Placeholder 3"/>
          <p:cNvPicPr>
            <a:picLocks noGrp="1" noChangeAspect="1"/>
          </p:cNvPicPr>
          <p:nvPr>
            <p:ph idx="1"/>
          </p:nvPr>
        </p:nvPicPr>
        <p:blipFill>
          <a:blip r:embed="rId3"/>
          <a:stretch>
            <a:fillRect/>
          </a:stretch>
        </p:blipFill>
        <p:spPr>
          <a:xfrm>
            <a:off x="990601" y="1092198"/>
            <a:ext cx="10591800" cy="4648200"/>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Tree>
    <p:extLst>
      <p:ext uri="{BB962C8B-B14F-4D97-AF65-F5344CB8AC3E}">
        <p14:creationId xmlns:p14="http://schemas.microsoft.com/office/powerpoint/2010/main" val="19409172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Payment Management System (PMS) </a:t>
            </a:r>
            <a:r>
              <a:rPr lang="en-US" sz="4000" dirty="0"/>
              <a:t>r</a:t>
            </a:r>
            <a:r>
              <a:rPr lang="en-US" sz="4000" dirty="0" smtClean="0"/>
              <a:t>eport</a:t>
            </a:r>
            <a:endParaRPr lang="en-US" sz="4000" dirty="0"/>
          </a:p>
        </p:txBody>
      </p:sp>
      <p:sp>
        <p:nvSpPr>
          <p:cNvPr id="3" name="Content Placeholder 2"/>
          <p:cNvSpPr>
            <a:spLocks noGrp="1"/>
          </p:cNvSpPr>
          <p:nvPr>
            <p:ph idx="1"/>
          </p:nvPr>
        </p:nvSpPr>
        <p:spPr>
          <a:xfrm>
            <a:off x="609600" y="1069622"/>
            <a:ext cx="10972800" cy="4648200"/>
          </a:xfrm>
        </p:spPr>
        <p:txBody>
          <a:bodyPr>
            <a:normAutofit fontScale="55000" lnSpcReduction="20000"/>
          </a:bodyPr>
          <a:lstStyle/>
          <a:p>
            <a:r>
              <a:rPr lang="en-US" dirty="0"/>
              <a:t>*ACCT** *PIN* ****EIN***** *****DUNS***** ********Organization Name********</a:t>
            </a:r>
          </a:p>
          <a:p>
            <a:r>
              <a:rPr lang="en-US" dirty="0">
                <a:solidFill>
                  <a:srgbClr val="FFFFFF"/>
                </a:solidFill>
              </a:rPr>
              <a:t>A1122P1 A1122 1529825802A4 605445980      INTERNATIONAL LABOR ORGANZATION</a:t>
            </a:r>
          </a:p>
          <a:p>
            <a:r>
              <a:rPr lang="en-US" dirty="0"/>
              <a:t>HHS-REG: 03 STATE: DC PMT: ACH STOP: N MAN-REV: N 272: File GROUP: F76 USER: VNK8NDD</a:t>
            </a:r>
          </a:p>
          <a:p>
            <a:r>
              <a:rPr lang="en-US" dirty="0"/>
              <a:t>AGY* *******GRANT********    *****AUTHORIZED**** *****DISBURSED**** ******CHG-ADV***** *RPT DISB* RS DS RI CT</a:t>
            </a:r>
          </a:p>
          <a:p>
            <a:r>
              <a:rPr lang="en-US" dirty="0"/>
              <a:t>          ****EIN*****       *****FUTURE AUTH*** ***SNAPSHOT DISB** ***SNAPSHOT CHRG** *****SUBACCT********</a:t>
            </a:r>
          </a:p>
          <a:p>
            <a:r>
              <a:rPr lang="en-US" dirty="0"/>
              <a:t>T   IL24943C55                       250,000.00         </a:t>
            </a:r>
            <a:r>
              <a:rPr lang="en-US" dirty="0">
                <a:solidFill>
                  <a:srgbClr val="C00000"/>
                </a:solidFill>
              </a:rPr>
              <a:t>250,000.00</a:t>
            </a:r>
            <a:r>
              <a:rPr lang="en-US" dirty="0"/>
              <a:t>          12,874.00 09/30/2019  I  O  N  1</a:t>
            </a:r>
          </a:p>
          <a:p>
            <a:r>
              <a:rPr lang="en-US" dirty="0"/>
              <a:t>          1529825802A4                       .00         250,000.00          12,874.00 IL24943C55            </a:t>
            </a:r>
          </a:p>
          <a:p>
            <a:r>
              <a:rPr lang="en-US" dirty="0"/>
              <a:t> </a:t>
            </a:r>
          </a:p>
          <a:p>
            <a:r>
              <a:rPr lang="en-US" dirty="0"/>
              <a:t>                             *****AUTHORIZED**** *****DISBURSED**** ******CHG-ADV*****</a:t>
            </a:r>
          </a:p>
          <a:p>
            <a:r>
              <a:rPr lang="en-US" dirty="0"/>
              <a:t>                             *****FUTURE AUTH*** ***SNAPSHOT DISB** ***SNAPSHOT CHRG**</a:t>
            </a:r>
          </a:p>
          <a:p>
            <a:r>
              <a:rPr lang="en-US" dirty="0"/>
              <a:t>                      TOTAL:          250,000.00         250,000.00          12,874.00</a:t>
            </a:r>
          </a:p>
          <a:p>
            <a:r>
              <a:rPr lang="en-US" dirty="0"/>
              <a:t>                                             .00         250,000.00          12,874.00    HITS:      1</a:t>
            </a:r>
          </a:p>
          <a:p>
            <a:r>
              <a:rPr lang="en-US" dirty="0"/>
              <a:t>              OPEN &amp; CLOSED:      688,845,709.38     655,961,326.54     657,814,461.46      CT:    277</a:t>
            </a:r>
          </a:p>
          <a:p>
            <a:r>
              <a:rPr lang="en-US" dirty="0"/>
              <a:t>                       OPEN:      135,627,454.00     102,743,071.16     104,596,206.08      CT:     41</a:t>
            </a:r>
          </a:p>
          <a:p>
            <a:r>
              <a:rPr lang="en-US" dirty="0"/>
              <a:t>                     CLOSED:      553,218,255.38     553,218,255.38     553,218,255.38      CT:    236</a:t>
            </a:r>
          </a:p>
          <a:p>
            <a:pPr marL="0" indent="0">
              <a:buNone/>
            </a:pPr>
            <a:endParaRPr 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
        <p:nvSpPr>
          <p:cNvPr id="4" name="Rectangle 3"/>
          <p:cNvSpPr/>
          <p:nvPr/>
        </p:nvSpPr>
        <p:spPr>
          <a:xfrm>
            <a:off x="1295400" y="2895600"/>
            <a:ext cx="1143000" cy="2286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p:cNvSpPr/>
          <p:nvPr/>
        </p:nvSpPr>
        <p:spPr>
          <a:xfrm>
            <a:off x="1524000" y="3200400"/>
            <a:ext cx="1600200" cy="2286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467600" y="3124200"/>
            <a:ext cx="1066800" cy="304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14400" y="1524000"/>
            <a:ext cx="8915400" cy="304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96668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Key Takeaways</a:t>
            </a:r>
            <a:endParaRPr lang="en-US" dirty="0"/>
          </a:p>
        </p:txBody>
      </p:sp>
      <p:sp>
        <p:nvSpPr>
          <p:cNvPr id="3" name="Content Placeholder 2"/>
          <p:cNvSpPr>
            <a:spLocks noGrp="1"/>
          </p:cNvSpPr>
          <p:nvPr>
            <p:ph idx="1"/>
          </p:nvPr>
        </p:nvSpPr>
        <p:spPr>
          <a:xfrm>
            <a:off x="609600" y="1295400"/>
            <a:ext cx="10972800" cy="4648200"/>
          </a:xfrm>
        </p:spPr>
        <p:txBody>
          <a:bodyPr>
            <a:normAutofit lnSpcReduction="10000"/>
          </a:bodyPr>
          <a:lstStyle/>
          <a:p>
            <a:r>
              <a:rPr lang="en-US" dirty="0" smtClean="0"/>
              <a:t>We’re here to provide technical assistance</a:t>
            </a:r>
          </a:p>
          <a:p>
            <a:r>
              <a:rPr lang="en-US" dirty="0" smtClean="0"/>
              <a:t>Communicate early and often</a:t>
            </a:r>
          </a:p>
          <a:p>
            <a:r>
              <a:rPr lang="en-US" dirty="0" smtClean="0"/>
              <a:t>Approvals and modifications take time</a:t>
            </a:r>
          </a:p>
          <a:p>
            <a:r>
              <a:rPr lang="en-US" dirty="0" smtClean="0"/>
              <a:t>The Terms and Conditions are the specifics of your award and the MPG should be a constant resource</a:t>
            </a:r>
          </a:p>
          <a:p>
            <a:r>
              <a:rPr lang="en-US" dirty="0"/>
              <a:t>2 CFR 200 - </a:t>
            </a:r>
            <a:r>
              <a:rPr lang="en-US" dirty="0">
                <a:hlinkClick r:id="rId3"/>
              </a:rPr>
              <a:t>https://www.ecfr.gov/cgi-bin/text-idx?tpl=/</a:t>
            </a:r>
            <a:r>
              <a:rPr lang="en-US" dirty="0" smtClean="0">
                <a:hlinkClick r:id="rId3"/>
              </a:rPr>
              <a:t>ecfrbrowse/Title02/2cfr200_main_02.tpl</a:t>
            </a:r>
            <a:endParaRPr lang="en-US" dirty="0" smtClean="0"/>
          </a:p>
          <a:p>
            <a:pPr marL="0" indent="0" algn="ctr">
              <a:buNone/>
            </a:pPr>
            <a:r>
              <a:rPr lang="en-US" sz="6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Questions?</a:t>
            </a:r>
          </a:p>
          <a:p>
            <a:pPr marL="0" indent="0">
              <a:buNone/>
            </a:pPr>
            <a:endParaRPr lang="en-US" dirty="0"/>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t="83248"/>
          <a:stretch/>
        </p:blipFill>
        <p:spPr>
          <a:xfrm>
            <a:off x="-12505" y="5715000"/>
            <a:ext cx="12204505" cy="1150034"/>
          </a:xfrm>
          <a:prstGeom prst="rect">
            <a:avLst/>
          </a:prstGeom>
        </p:spPr>
      </p:pic>
    </p:spTree>
    <p:extLst>
      <p:ext uri="{BB962C8B-B14F-4D97-AF65-F5344CB8AC3E}">
        <p14:creationId xmlns:p14="http://schemas.microsoft.com/office/powerpoint/2010/main" val="29032759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65F6B6D6-FB8B-4683-8CF0-1F2CAA9D5FD9}">
  <ds:schemaRefs>
    <ds:schemaRef ds:uri="http://schemas.microsoft.com/sharepoint/v3/contenttype/forms"/>
  </ds:schemaRefs>
</ds:datastoreItem>
</file>

<file path=customXml/itemProps2.xml><?xml version="1.0" encoding="utf-8"?>
<ds:datastoreItem xmlns:ds="http://schemas.openxmlformats.org/officeDocument/2006/customXml" ds:itemID="{9383800E-1BEB-4C33-ABD9-940BACF7FE98}"/>
</file>

<file path=customXml/itemProps3.xml><?xml version="1.0" encoding="utf-8"?>
<ds:datastoreItem xmlns:ds="http://schemas.openxmlformats.org/officeDocument/2006/customXml" ds:itemID="{6920A5EF-9A1E-4BE3-B593-34BC5572689F}">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2a1ba486-ff2f-4459-80ac-1ab5aa17f82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11989</TotalTime>
  <Words>3566</Words>
  <Application>Microsoft Office PowerPoint</Application>
  <PresentationFormat>Widescreen</PresentationFormat>
  <Paragraphs>483</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Symbol</vt:lpstr>
      <vt:lpstr>Times New Roman</vt:lpstr>
      <vt:lpstr>Verdana</vt:lpstr>
      <vt:lpstr>Office Theme</vt:lpstr>
      <vt:lpstr>WORKING TOGETHER</vt:lpstr>
      <vt:lpstr>Key players in the award</vt:lpstr>
      <vt:lpstr>Components of a Cooperative Agreement</vt:lpstr>
      <vt:lpstr>Modification</vt:lpstr>
      <vt:lpstr>Approval process</vt:lpstr>
      <vt:lpstr>Approval process (cont’d)</vt:lpstr>
      <vt:lpstr>Examples of prior approval</vt:lpstr>
      <vt:lpstr>Modification</vt:lpstr>
      <vt:lpstr>Scenarios for a budget revision  </vt:lpstr>
      <vt:lpstr>2 CFR 200 Reference</vt:lpstr>
      <vt:lpstr>Cost Principles</vt:lpstr>
      <vt:lpstr>Determining the 10 percent budget threshold</vt:lpstr>
      <vt:lpstr>Example 1</vt:lpstr>
      <vt:lpstr>Example 2</vt:lpstr>
      <vt:lpstr>Example 3</vt:lpstr>
      <vt:lpstr>Example 4</vt:lpstr>
      <vt:lpstr>Financial monitoring</vt:lpstr>
      <vt:lpstr>Final Financial Report</vt:lpstr>
      <vt:lpstr>Final Financial Report (cont’d)</vt:lpstr>
      <vt:lpstr>Payment Management System (PMS) report</vt:lpstr>
      <vt:lpstr>Key Takeaways</vt:lpstr>
    </vt:vector>
  </TitlesOfParts>
  <Company>Employment &amp; Training Administration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Sue Levenstein</dc:creator>
  <cp:lastModifiedBy>Schrenk, Kelsey L - ILAB</cp:lastModifiedBy>
  <cp:revision>268</cp:revision>
  <cp:lastPrinted>2020-03-25T13:38:19Z</cp:lastPrinted>
  <dcterms:created xsi:type="dcterms:W3CDTF">2017-05-01T13:04:43Z</dcterms:created>
  <dcterms:modified xsi:type="dcterms:W3CDTF">2021-09-14T16:52:45Z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ies>
</file>