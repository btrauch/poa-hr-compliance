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7" r:id="rId5"/>
    <p:sldId id="258" r:id="rId6"/>
    <p:sldId id="263" r:id="rId7"/>
    <p:sldId id="264" r:id="rId8"/>
    <p:sldId id="265" r:id="rId9"/>
    <p:sldId id="26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6" autoAdjust="0"/>
    <p:restoredTop sz="94249" autoAdjust="0"/>
  </p:normalViewPr>
  <p:slideViewPr>
    <p:cSldViewPr snapToGrid="0">
      <p:cViewPr varScale="1">
        <p:scale>
          <a:sx n="122" d="100"/>
          <a:sy n="122" d="100"/>
        </p:scale>
        <p:origin x="10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Boone" userId="5b787cbe-8192-4529-891b-69f6e4f7f777" providerId="ADAL" clId="{ECABA770-A213-46AE-8FD9-0BB94F773D40}"/>
    <pc:docChg chg="undo custSel modSld">
      <pc:chgData name="Nicole Boone" userId="5b787cbe-8192-4529-891b-69f6e4f7f777" providerId="ADAL" clId="{ECABA770-A213-46AE-8FD9-0BB94F773D40}" dt="2022-03-08T19:09:13.401" v="4" actId="1076"/>
      <pc:docMkLst>
        <pc:docMk/>
      </pc:docMkLst>
      <pc:sldChg chg="modSp mod">
        <pc:chgData name="Nicole Boone" userId="5b787cbe-8192-4529-891b-69f6e4f7f777" providerId="ADAL" clId="{ECABA770-A213-46AE-8FD9-0BB94F773D40}" dt="2022-03-08T19:09:13.401" v="4" actId="1076"/>
        <pc:sldMkLst>
          <pc:docMk/>
          <pc:sldMk cId="3255016759" sldId="265"/>
        </pc:sldMkLst>
        <pc:spChg chg="mod">
          <ac:chgData name="Nicole Boone" userId="5b787cbe-8192-4529-891b-69f6e4f7f777" providerId="ADAL" clId="{ECABA770-A213-46AE-8FD9-0BB94F773D40}" dt="2022-03-08T19:09:13.401" v="4" actId="1076"/>
          <ac:spMkLst>
            <pc:docMk/>
            <pc:sldMk cId="3255016759" sldId="265"/>
            <ac:spMk id="28" creationId="{0F77B9EB-9A83-4036-9896-A28552EC9E3D}"/>
          </ac:spMkLst>
        </pc:spChg>
        <pc:spChg chg="mod">
          <ac:chgData name="Nicole Boone" userId="5b787cbe-8192-4529-891b-69f6e4f7f777" providerId="ADAL" clId="{ECABA770-A213-46AE-8FD9-0BB94F773D40}" dt="2022-03-08T19:09:11.475" v="3" actId="1076"/>
          <ac:spMkLst>
            <pc:docMk/>
            <pc:sldMk cId="3255016759" sldId="265"/>
            <ac:spMk id="77" creationId="{5A310640-F7FD-4CE1-B2CE-052E1CC3DBA1}"/>
          </ac:spMkLst>
        </pc:spChg>
        <pc:picChg chg="mod">
          <ac:chgData name="Nicole Boone" userId="5b787cbe-8192-4529-891b-69f6e4f7f777" providerId="ADAL" clId="{ECABA770-A213-46AE-8FD9-0BB94F773D40}" dt="2022-03-08T19:09:08.506" v="1" actId="1076"/>
          <ac:picMkLst>
            <pc:docMk/>
            <pc:sldMk cId="3255016759" sldId="265"/>
            <ac:picMk id="23" creationId="{0CD4A2E8-7BAD-4610-90D2-D87CF25E69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A288A-DE96-4224-A0E8-BFA7733F2D9D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EAB25-5EEF-4971-9C6E-70311DCE2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Add an image behind the photo frame of the country or one related to the activity and remove the RED text.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Replace GREEN highlighted text with the organization’s name and below this name the county.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All images can be converted into JPEGs and can then be used within the country SSEMP or presentations.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Once images are placed into a Word Document or PowerPoint optimize the size of the image to allow for ease of emailing.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04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map shows office (organizational and client [C-Office]) and expatriate / key local staff residence [R] locations.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If the activity operates in multiple cities or towns then replicate this map to show all locations.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Replace the highlighted GREEN text with the city or town name.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Place a Google image ‘behind’ the ‘frame’ and remove unnecessary elements by cropping.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Move the icons to show relevant locations – copying, re-orientating or deleting icons as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relevant [emergency] hospitals or clinics and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on the right-hand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40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relevant embassies or government infrastructure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on the right-hand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1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a city or town level Hibernation, Relocation and Evacuation map.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in the highlighted green text in the right-hand bar.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local Safe Havens in or near the city or town and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a colored dotted lines for main evacuation routes out of the city – example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4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a national level Hibernation, Relocation and Evacuation map.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country in the highlighted green text in the right-hand bar.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country level map from Google or another source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land border crossings using the icons – you can change colors to show high risk (RED), medium risk (ORANGE) and low risk (GREEN) border crossing points.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airplane icon for air evacuation options.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shop icon for maritime evacuation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9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map allows you to quickly use the grid lines to indicate where an incident is occurring.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 and behind the A-I and 1-7 grid).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offices and residences in the map. The icons can be ‘on top’ of the grid lines using the icons found in earlier maps.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‘bring front’ and ‘send back’ feature on PPT to place the map behind the grid lines.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if offices and residences are in multiple cities and towns – adjusting the highlighted green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22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BC78-E87B-4B5A-9CEF-8D418149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7A17-3934-475B-B9AD-85204A07C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343D-DEB0-4E76-B8B8-A5E19450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9739-73C9-442E-A265-8EFBD5EF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293AE-E578-486C-80C9-90901598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5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F0ED-140F-4C87-95C2-53673478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95E5E-8188-4FE3-82AB-858E752A2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0305-5CD7-484B-A273-2837BA326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A528-B954-4C96-B99E-2C9E34A0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C1F5-A8D5-4E0A-AB5F-AC2029FA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6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342B-953A-4D76-91D4-E09B33C7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74484-24E0-4EBE-8A8D-D17868BD7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6F495-40E5-4991-A6BA-C94AD893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408A-4CCF-435A-89E5-EEA6FFE9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7EA1-E765-4638-A3FB-3722070C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1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C295-B859-4339-9664-D312E34F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50E0-821E-4ADC-A826-C7BFE3EC6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EA48E-9B33-4B20-8FBD-0240BAAA8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6D384-5630-4831-88FC-33603594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28840-B26C-4B4D-A7C8-4AFEE6A4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BE783-DB44-4C3E-BE40-A408B88A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3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3159-F2B9-479D-919F-60D31B8A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306D-5135-44DE-8841-F5D7C2A80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45226-DAA2-4942-8F0E-FB74534F1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E3708-D666-4A4B-BD2D-94098AAC7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7303B-BAF4-4771-822D-F059E91BA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891FC-3F77-4194-83B0-F97BBF2F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9D571-0C56-4D1A-B524-8A033407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9C2AF6-475C-4A06-874F-FEE46D57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4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9A6C-C31F-495B-892B-64183A41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21987-1648-4DBD-9DE3-89C0FB3E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256E-2C28-47F4-B0D7-7231FC00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03066-CC51-4E10-80CC-6CEFC62F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43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E7D8D-93F5-4373-8030-AE42D94E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DEC41-5A77-4900-8081-C05ECB7C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0358A-1F52-4007-B97F-B308F42C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8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1773-D1FC-4FD9-B283-4584B0CA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8970-F418-4FF6-872B-CF8CEF263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C456B-DE86-4064-9446-79DA48C6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41E59-9555-49E7-BA23-74BAB2C2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70111-41A2-4B6F-9817-1EBFC6B9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91465-BF51-4305-9386-9B117B05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9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8E2D-C773-42A0-A05B-ED50FD83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71BAF-7D2C-4CF4-BC29-62630D597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53A06-D712-4601-9E39-D135D8064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E39E4-9D01-4441-84DB-490B6F59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6ABFB-8C1A-4B65-BBFF-824C2631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C2152-A1DC-4A1F-A632-BEA953F7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8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5385-A970-404B-B8A4-2F13F578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112B5-DC1D-4A16-ADFF-E78B24562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AB4B-2F41-4ADD-9C69-A3FF959C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177E9-FB7C-4FC6-88A0-23E6A9E4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7ECAE-DFA2-4454-82FD-91E02582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3E8937-0B6B-4EAE-9CA5-08F13F124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5FAB4-E1A6-4CB6-BB69-563B9357C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AB9CA-A340-4A2C-91B0-A37FC3E3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C482-6A25-40BA-8ED5-EA1AD003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67026-8371-41E3-96C6-9D017653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0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F66D6-9B2B-48A4-B1E4-21E96335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65010-1C6D-4DE0-9062-93DB3DEA4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839B0-9575-416D-94F6-477741127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9138C-3B5E-41E9-B42D-17D9EDE56291}" type="datetimeFigureOut">
              <a:rPr lang="en-US" smtClean="0"/>
              <a:t>3/8/2022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F67BD-055A-4539-AED8-48C69C43E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6982D-00B7-4646-86C8-70D186B0B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2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hape, rectangle&#10;&#10;Description automatically generated">
            <a:extLst>
              <a:ext uri="{FF2B5EF4-FFF2-40B4-BE49-F238E27FC236}">
                <a16:creationId xmlns:a16="http://schemas.microsoft.com/office/drawing/2014/main" id="{037C1599-1943-48DB-954D-D5AE701D95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15"/>
          <a:stretch/>
        </p:blipFill>
        <p:spPr>
          <a:xfrm rot="10800000">
            <a:off x="4406901" y="0"/>
            <a:ext cx="7772114" cy="6200755"/>
          </a:xfrm>
          <a:prstGeom prst="rect">
            <a:avLst/>
          </a:prstGeom>
        </p:spPr>
      </p:pic>
      <p:pic>
        <p:nvPicPr>
          <p:cNvPr id="17" name="Picture 1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FFD4128-CA7E-495B-967C-164B4614C8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5" b="65783"/>
          <a:stretch/>
        </p:blipFill>
        <p:spPr>
          <a:xfrm>
            <a:off x="-6064" y="0"/>
            <a:ext cx="2977864" cy="13062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A4CCD5E-18FD-4802-839F-9B2B50E18BE6}"/>
              </a:ext>
            </a:extLst>
          </p:cNvPr>
          <p:cNvSpPr/>
          <p:nvPr/>
        </p:nvSpPr>
        <p:spPr>
          <a:xfrm>
            <a:off x="5593711" y="2864941"/>
            <a:ext cx="5686819" cy="21642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rgbClr val="FF0000"/>
                </a:solidFill>
              </a:rPr>
              <a:t>INSÉREZ L'IMAGE DU PAYS OU DE L'ACTIVITÉ DERRIÈRE LE CADRE ET LA TAILLE - CONVERTISSEZ CETTE PAGE EN UN FICHIER JPEG ET PLACEZ-LE SUR LE DOCUMENT PRINCIPAL EN TANT QU'IMAGE.</a:t>
            </a:r>
          </a:p>
          <a:p>
            <a:endParaRPr lang="fr-FR" dirty="0">
              <a:solidFill>
                <a:srgbClr val="FF0000"/>
              </a:solidFill>
            </a:endParaRPr>
          </a:p>
          <a:p>
            <a:r>
              <a:rPr lang="fr-FR" dirty="0">
                <a:solidFill>
                  <a:srgbClr val="FF0000"/>
                </a:solidFill>
              </a:rPr>
              <a:t>DES INSTRUCTIONS SONT FOURNIES POUR CHAQUE CARTE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05F0E1-E10E-4510-A992-EEDE3D32B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999" y="6137256"/>
            <a:ext cx="4702401" cy="4730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3381DF-22F0-46C5-A866-200B73BCC3DE}"/>
              </a:ext>
            </a:extLst>
          </p:cNvPr>
          <p:cNvSpPr txBox="1"/>
          <p:nvPr/>
        </p:nvSpPr>
        <p:spPr>
          <a:xfrm>
            <a:off x="7150100" y="6200756"/>
            <a:ext cx="5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Informations confidentielles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3926F7-CB8F-43E1-A830-872FA7D88436}"/>
              </a:ext>
            </a:extLst>
          </p:cNvPr>
          <p:cNvSpPr txBox="1"/>
          <p:nvPr/>
        </p:nvSpPr>
        <p:spPr>
          <a:xfrm>
            <a:off x="2971800" y="134481"/>
            <a:ext cx="8783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tx2"/>
                </a:solidFill>
                <a:highlight>
                  <a:srgbClr val="00FF00"/>
                </a:highlight>
              </a:rPr>
              <a:t>Nom de l'organisation</a:t>
            </a:r>
          </a:p>
          <a:p>
            <a:r>
              <a:rPr lang="en-US" sz="3600" b="1" dirty="0">
                <a:solidFill>
                  <a:schemeClr val="tx2"/>
                </a:solidFill>
                <a:highlight>
                  <a:srgbClr val="00FF00"/>
                </a:highlight>
              </a:rPr>
              <a:t>Pays </a:t>
            </a:r>
            <a:endParaRPr lang="en-US" sz="2400" b="1" dirty="0">
              <a:highlight>
                <a:srgbClr val="00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941A0C-DC5C-4BB1-88EA-02ED0A1F6E0F}"/>
              </a:ext>
            </a:extLst>
          </p:cNvPr>
          <p:cNvSpPr txBox="1"/>
          <p:nvPr/>
        </p:nvSpPr>
        <p:spPr>
          <a:xfrm>
            <a:off x="454478" y="2136338"/>
            <a:ext cx="42545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chemeClr val="tx2"/>
                </a:solidFill>
              </a:rPr>
              <a:t>Cartographie des points clés et des urgences </a:t>
            </a:r>
          </a:p>
        </p:txBody>
      </p:sp>
    </p:spTree>
    <p:extLst>
      <p:ext uri="{BB962C8B-B14F-4D97-AF65-F5344CB8AC3E}">
        <p14:creationId xmlns:p14="http://schemas.microsoft.com/office/powerpoint/2010/main" val="15805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18663" y="-97543"/>
            <a:ext cx="2077718" cy="6330799"/>
            <a:chOff x="5777902" y="2160239"/>
            <a:chExt cx="92039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47"/>
            <a:stretch/>
          </p:blipFill>
          <p:spPr>
            <a:xfrm>
              <a:off x="5777902" y="2160239"/>
              <a:ext cx="920396" cy="395798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3A1F28-0DA8-4E28-9A14-45FBEBAE9431}"/>
                </a:ext>
              </a:extLst>
            </p:cNvPr>
            <p:cNvSpPr txBox="1"/>
            <p:nvPr/>
          </p:nvSpPr>
          <p:spPr>
            <a:xfrm rot="16200000">
              <a:off x="5172099" y="4942602"/>
              <a:ext cx="1600498" cy="163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Nom de la ville/du village</a:t>
              </a:r>
              <a:endParaRPr lang="en-US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513127" y="3933187"/>
              <a:ext cx="3582555" cy="204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Localisation des bureaux et des résidences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D05DD3C-1AFE-4670-9427-A8526F2F6C06}"/>
              </a:ext>
            </a:extLst>
          </p:cNvPr>
          <p:cNvGrpSpPr/>
          <p:nvPr/>
        </p:nvGrpSpPr>
        <p:grpSpPr>
          <a:xfrm rot="10800000">
            <a:off x="844270" y="2196674"/>
            <a:ext cx="3744611" cy="682948"/>
            <a:chOff x="4791868" y="-869255"/>
            <a:chExt cx="3744611" cy="682948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92237FAE-B090-4FD7-992A-3D9A9EB94489}"/>
                </a:ext>
              </a:extLst>
            </p:cNvPr>
            <p:cNvGrpSpPr/>
            <p:nvPr/>
          </p:nvGrpSpPr>
          <p:grpSpPr>
            <a:xfrm rot="10800000">
              <a:off x="4791868" y="-839793"/>
              <a:ext cx="3405088" cy="653486"/>
              <a:chOff x="-4150842" y="2874086"/>
              <a:chExt cx="3405088" cy="653486"/>
            </a:xfrm>
          </p:grpSpPr>
          <p:sp>
            <p:nvSpPr>
              <p:cNvPr id="154" name="Freeform 63">
                <a:extLst>
                  <a:ext uri="{FF2B5EF4-FFF2-40B4-BE49-F238E27FC236}">
                    <a16:creationId xmlns:a16="http://schemas.microsoft.com/office/drawing/2014/main" id="{1BD05696-228D-47D5-A938-C4A8AE5A98C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56" name="Oval 64">
                <a:extLst>
                  <a:ext uri="{FF2B5EF4-FFF2-40B4-BE49-F238E27FC236}">
                    <a16:creationId xmlns:a16="http://schemas.microsoft.com/office/drawing/2014/main" id="{83456036-86F1-4B98-9625-9890C1181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157" name="Freeform 77">
                <a:extLst>
                  <a:ext uri="{FF2B5EF4-FFF2-40B4-BE49-F238E27FC236}">
                    <a16:creationId xmlns:a16="http://schemas.microsoft.com/office/drawing/2014/main" id="{4176D1BA-FFBC-4F81-86D0-A7F77F413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150842" y="3204845"/>
                <a:ext cx="738355" cy="322727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F5EBA0E-9037-4187-9908-3E08A616FB20}"/>
                </a:ext>
              </a:extLst>
            </p:cNvPr>
            <p:cNvSpPr txBox="1"/>
            <p:nvPr/>
          </p:nvSpPr>
          <p:spPr>
            <a:xfrm rot="10800000">
              <a:off x="7093584" y="-869255"/>
              <a:ext cx="1442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Bureau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158130" y="5986388"/>
            <a:ext cx="6033869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fr-FR" sz="1200" dirty="0">
                <a:solidFill>
                  <a:schemeClr val="tx1"/>
                </a:solidFill>
              </a:rPr>
              <a:t>Bureau : Lieu du bureau de l'organisation</a:t>
            </a:r>
            <a:r>
              <a:rPr lang="en-US" sz="1200" dirty="0">
                <a:solidFill>
                  <a:schemeClr val="tx1"/>
                </a:solidFill>
              </a:rPr>
              <a:t>	</a:t>
            </a:r>
            <a:r>
              <a:rPr lang="fr-FR" sz="1200" dirty="0">
                <a:solidFill>
                  <a:schemeClr val="tx1"/>
                </a:solidFill>
              </a:rPr>
              <a:t>Bureau-C : Lieu du bureau du client 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</a:rPr>
              <a:t>R.1: 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Nom du résident</a:t>
            </a:r>
            <a:r>
              <a:rPr lang="en-US" sz="1200" dirty="0">
                <a:solidFill>
                  <a:schemeClr val="tx1"/>
                </a:solidFill>
              </a:rPr>
              <a:t>	                          R.2: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Nom du résident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FF00"/>
                </a:solidFill>
              </a:rPr>
              <a:t>Cartographie confidentielle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2EE69C-5615-4B19-92B9-60E187F3AA60}"/>
              </a:ext>
            </a:extLst>
          </p:cNvPr>
          <p:cNvGrpSpPr/>
          <p:nvPr/>
        </p:nvGrpSpPr>
        <p:grpSpPr>
          <a:xfrm>
            <a:off x="1922146" y="3181829"/>
            <a:ext cx="2329279" cy="576813"/>
            <a:chOff x="1922146" y="3181829"/>
            <a:chExt cx="2329279" cy="57681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E82BDFA-627D-403D-A008-1DDB20CEDA82}"/>
                </a:ext>
              </a:extLst>
            </p:cNvPr>
            <p:cNvGrpSpPr/>
            <p:nvPr/>
          </p:nvGrpSpPr>
          <p:grpSpPr>
            <a:xfrm>
              <a:off x="1922146" y="3250785"/>
              <a:ext cx="2241878" cy="507857"/>
              <a:chOff x="-2333182" y="2983573"/>
              <a:chExt cx="1503817" cy="507857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965F2ED7-0C13-42B6-BE2B-E4C63B16703D}"/>
                  </a:ext>
                </a:extLst>
              </p:cNvPr>
              <p:cNvGrpSpPr/>
              <p:nvPr/>
            </p:nvGrpSpPr>
            <p:grpSpPr>
              <a:xfrm>
                <a:off x="-2333182" y="2983573"/>
                <a:ext cx="1503817" cy="501380"/>
                <a:chOff x="-2362718" y="2978949"/>
                <a:chExt cx="1503817" cy="501380"/>
              </a:xfrm>
            </p:grpSpPr>
            <p:sp>
              <p:nvSpPr>
                <p:cNvPr id="110" name="Freeform 63">
                  <a:extLst>
                    <a:ext uri="{FF2B5EF4-FFF2-40B4-BE49-F238E27FC236}">
                      <a16:creationId xmlns:a16="http://schemas.microsoft.com/office/drawing/2014/main" id="{36F04FFA-9035-4C06-8100-36074EFF2A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13" name="Freeform 77">
                  <a:extLst>
                    <a:ext uri="{FF2B5EF4-FFF2-40B4-BE49-F238E27FC236}">
                      <a16:creationId xmlns:a16="http://schemas.microsoft.com/office/drawing/2014/main" id="{774E570E-D40F-48E3-B642-3C44F9DA1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362718" y="3143781"/>
                  <a:ext cx="511817" cy="336548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BA41F91-688A-4106-8B31-820C43958D4E}"/>
                  </a:ext>
                </a:extLst>
              </p:cNvPr>
              <p:cNvSpPr txBox="1"/>
              <p:nvPr/>
            </p:nvSpPr>
            <p:spPr>
              <a:xfrm>
                <a:off x="-2333182" y="3122098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R.1</a:t>
                </a:r>
              </a:p>
            </p:txBody>
          </p:sp>
        </p:grpSp>
        <p:sp>
          <p:nvSpPr>
            <p:cNvPr id="41" name="Oval 64">
              <a:extLst>
                <a:ext uri="{FF2B5EF4-FFF2-40B4-BE49-F238E27FC236}">
                  <a16:creationId xmlns:a16="http://schemas.microsoft.com/office/drawing/2014/main" id="{64A2F7F4-0FC8-4803-BD19-BAB64B8A8D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735CB0-607C-4110-A22C-31DFB1113845}"/>
              </a:ext>
            </a:extLst>
          </p:cNvPr>
          <p:cNvGrpSpPr/>
          <p:nvPr/>
        </p:nvGrpSpPr>
        <p:grpSpPr>
          <a:xfrm rot="10800000">
            <a:off x="561196" y="4358173"/>
            <a:ext cx="4086974" cy="687752"/>
            <a:chOff x="4791868" y="-874059"/>
            <a:chExt cx="4086974" cy="68775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427DB86-B439-4322-9310-32017132569E}"/>
                </a:ext>
              </a:extLst>
            </p:cNvPr>
            <p:cNvGrpSpPr/>
            <p:nvPr/>
          </p:nvGrpSpPr>
          <p:grpSpPr>
            <a:xfrm rot="10800000">
              <a:off x="4791868" y="-849149"/>
              <a:ext cx="3803900" cy="662842"/>
              <a:chOff x="-4549654" y="2874086"/>
              <a:chExt cx="3803900" cy="662842"/>
            </a:xfrm>
          </p:grpSpPr>
          <p:sp>
            <p:nvSpPr>
              <p:cNvPr id="46" name="Freeform 63">
                <a:extLst>
                  <a:ext uri="{FF2B5EF4-FFF2-40B4-BE49-F238E27FC236}">
                    <a16:creationId xmlns:a16="http://schemas.microsoft.com/office/drawing/2014/main" id="{D7505075-472E-4C5D-89F6-FAC303A9FF0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" name="Oval 64">
                <a:extLst>
                  <a:ext uri="{FF2B5EF4-FFF2-40B4-BE49-F238E27FC236}">
                    <a16:creationId xmlns:a16="http://schemas.microsoft.com/office/drawing/2014/main" id="{41B0B92C-FA3E-477E-9D22-6BA0137E5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48" name="Freeform 77">
                <a:extLst>
                  <a:ext uri="{FF2B5EF4-FFF2-40B4-BE49-F238E27FC236}">
                    <a16:creationId xmlns:a16="http://schemas.microsoft.com/office/drawing/2014/main" id="{DAE24638-3D08-42D1-995F-F0E0071C2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549654" y="3204845"/>
                <a:ext cx="1137167" cy="332083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6B82761-99D2-44AB-9AD3-6875FF1CFF4B}"/>
                </a:ext>
              </a:extLst>
            </p:cNvPr>
            <p:cNvSpPr txBox="1"/>
            <p:nvPr/>
          </p:nvSpPr>
          <p:spPr>
            <a:xfrm rot="10800000">
              <a:off x="7185531" y="-874059"/>
              <a:ext cx="1693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Bureau-C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CE3F93-60AB-418D-B2F9-6D6640F1A34C}"/>
              </a:ext>
            </a:extLst>
          </p:cNvPr>
          <p:cNvGrpSpPr/>
          <p:nvPr/>
        </p:nvGrpSpPr>
        <p:grpSpPr>
          <a:xfrm>
            <a:off x="7064247" y="3463758"/>
            <a:ext cx="2329279" cy="576813"/>
            <a:chOff x="1922146" y="3181829"/>
            <a:chExt cx="2329279" cy="5768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2CA4C92-94DD-4C3F-867F-0D252D166B16}"/>
                </a:ext>
              </a:extLst>
            </p:cNvPr>
            <p:cNvGrpSpPr/>
            <p:nvPr/>
          </p:nvGrpSpPr>
          <p:grpSpPr>
            <a:xfrm>
              <a:off x="1922146" y="3250785"/>
              <a:ext cx="2241878" cy="507857"/>
              <a:chOff x="-2333182" y="2983573"/>
              <a:chExt cx="1503817" cy="507857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806D298-C6FB-46BE-891F-BB978212EC30}"/>
                  </a:ext>
                </a:extLst>
              </p:cNvPr>
              <p:cNvGrpSpPr/>
              <p:nvPr/>
            </p:nvGrpSpPr>
            <p:grpSpPr>
              <a:xfrm>
                <a:off x="-2333182" y="2983573"/>
                <a:ext cx="1503817" cy="501380"/>
                <a:chOff x="-2362718" y="2978949"/>
                <a:chExt cx="1503817" cy="501380"/>
              </a:xfrm>
            </p:grpSpPr>
            <p:sp>
              <p:nvSpPr>
                <p:cNvPr id="54" name="Freeform 63">
                  <a:extLst>
                    <a:ext uri="{FF2B5EF4-FFF2-40B4-BE49-F238E27FC236}">
                      <a16:creationId xmlns:a16="http://schemas.microsoft.com/office/drawing/2014/main" id="{1EFF0526-51FC-4357-8DA6-308907C4C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5" name="Freeform 77">
                  <a:extLst>
                    <a:ext uri="{FF2B5EF4-FFF2-40B4-BE49-F238E27FC236}">
                      <a16:creationId xmlns:a16="http://schemas.microsoft.com/office/drawing/2014/main" id="{973598FE-92FE-4210-9629-57BE9797BA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362718" y="3143781"/>
                  <a:ext cx="511817" cy="336548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B860A5-B56D-4D1A-AA65-041B35C69ABA}"/>
                  </a:ext>
                </a:extLst>
              </p:cNvPr>
              <p:cNvSpPr txBox="1"/>
              <p:nvPr/>
            </p:nvSpPr>
            <p:spPr>
              <a:xfrm>
                <a:off x="-2333182" y="3122098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R.2</a:t>
                </a:r>
              </a:p>
            </p:txBody>
          </p:sp>
        </p:grpSp>
        <p:sp>
          <p:nvSpPr>
            <p:cNvPr id="51" name="Oval 64">
              <a:extLst>
                <a:ext uri="{FF2B5EF4-FFF2-40B4-BE49-F238E27FC236}">
                  <a16:creationId xmlns:a16="http://schemas.microsoft.com/office/drawing/2014/main" id="{0B587A8A-6989-4A23-9660-4942DD1312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8188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928" y="3898371"/>
              <a:ext cx="3582555" cy="28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Infrastructure </a:t>
              </a:r>
              <a:r>
                <a:rPr lang="en-US" sz="3200" b="1" dirty="0" err="1">
                  <a:solidFill>
                    <a:schemeClr val="bg1"/>
                  </a:solidFill>
                </a:rPr>
                <a:t>médicale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125028" y="6102023"/>
            <a:ext cx="5889518" cy="702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MED.1: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de l'hôpital/clinique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	</a:t>
            </a:r>
          </a:p>
          <a:p>
            <a:r>
              <a:rPr lang="en-US" sz="1200" dirty="0">
                <a:solidFill>
                  <a:schemeClr val="tx1"/>
                </a:solidFill>
              </a:rPr>
              <a:t>MED.2.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de l'hôpital/clinique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MED.3.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de l'hôpital/clinique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	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Confidential Mapping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4F0B40E-2B7D-4A4A-B609-3AFC2B8C65E1}"/>
              </a:ext>
            </a:extLst>
          </p:cNvPr>
          <p:cNvSpPr txBox="1"/>
          <p:nvPr/>
        </p:nvSpPr>
        <p:spPr>
          <a:xfrm rot="16200000">
            <a:off x="9893723" y="4299029"/>
            <a:ext cx="2559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 de la ville/du village</a:t>
            </a:r>
          </a:p>
        </p:txBody>
      </p:sp>
    </p:spTree>
    <p:extLst>
      <p:ext uri="{BB962C8B-B14F-4D97-AF65-F5344CB8AC3E}">
        <p14:creationId xmlns:p14="http://schemas.microsoft.com/office/powerpoint/2010/main" val="220849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38329"/>
              <a:ext cx="3582555" cy="1968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>
                  <a:solidFill>
                    <a:schemeClr val="bg1"/>
                  </a:solidFill>
                </a:rPr>
                <a:t>Infrastructure diplomatique et gouvernementale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6000" y="6022195"/>
            <a:ext cx="2895600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E.1: </a:t>
            </a:r>
            <a:r>
              <a:rPr lang="fr-FR" sz="1050" dirty="0">
                <a:solidFill>
                  <a:schemeClr val="tx1"/>
                </a:solidFill>
                <a:highlight>
                  <a:srgbClr val="00FF00"/>
                </a:highlight>
              </a:rPr>
              <a:t>insérez le nom de l'ambassade ou du consul</a:t>
            </a:r>
            <a:endParaRPr lang="en-US" sz="8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E.2: </a:t>
            </a:r>
            <a:r>
              <a:rPr lang="fr-FR" sz="1050" dirty="0">
                <a:solidFill>
                  <a:schemeClr val="tx1"/>
                </a:solidFill>
                <a:highlight>
                  <a:srgbClr val="00FF00"/>
                </a:highlight>
              </a:rPr>
              <a:t>insérez le nom de l'ambassade ou du consul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E.3: </a:t>
            </a:r>
            <a:r>
              <a:rPr lang="fr-FR" sz="1050" dirty="0">
                <a:solidFill>
                  <a:schemeClr val="tx1"/>
                </a:solidFill>
                <a:highlight>
                  <a:srgbClr val="00FF00"/>
                </a:highlight>
              </a:rPr>
              <a:t>insérez le nom de l'ambassade ou du consul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FF00"/>
                </a:solidFill>
              </a:rPr>
              <a:t>Cartographie confidentielle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E.3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F77B9EB-9A83-4036-9896-A28552EC9E3D}"/>
              </a:ext>
            </a:extLst>
          </p:cNvPr>
          <p:cNvSpPr/>
          <p:nvPr/>
        </p:nvSpPr>
        <p:spPr>
          <a:xfrm>
            <a:off x="8839202" y="6009256"/>
            <a:ext cx="3146315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G.1: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du gouvernement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G.2: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du gouvernement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G.3: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du gouvernement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B52780-8EC9-407D-B686-D9D2AD508A72}"/>
              </a:ext>
            </a:extLst>
          </p:cNvPr>
          <p:cNvGrpSpPr/>
          <p:nvPr/>
        </p:nvGrpSpPr>
        <p:grpSpPr>
          <a:xfrm>
            <a:off x="1573307" y="4711556"/>
            <a:ext cx="1954009" cy="519963"/>
            <a:chOff x="-2660702" y="2930418"/>
            <a:chExt cx="1954009" cy="51996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168D44E-EFC2-4ACA-9867-3760263BD25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2" name="Freeform 63">
                <a:extLst>
                  <a:ext uri="{FF2B5EF4-FFF2-40B4-BE49-F238E27FC236}">
                    <a16:creationId xmlns:a16="http://schemas.microsoft.com/office/drawing/2014/main" id="{F7E3E288-D908-4003-AEEB-DC70CE90ABB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Oval 64">
                <a:extLst>
                  <a:ext uri="{FF2B5EF4-FFF2-40B4-BE49-F238E27FC236}">
                    <a16:creationId xmlns:a16="http://schemas.microsoft.com/office/drawing/2014/main" id="{21C2CE4D-1A76-428F-A057-A1B45F32D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" name="Freeform 77">
                <a:extLst>
                  <a:ext uri="{FF2B5EF4-FFF2-40B4-BE49-F238E27FC236}">
                    <a16:creationId xmlns:a16="http://schemas.microsoft.com/office/drawing/2014/main" id="{196C1B10-3631-4B0A-A977-17A13E505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E3B47B-B050-4F71-AC96-11940BAF16C0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2CA3411-C37D-4BAE-A8DB-C9C2DD4B0BC7}"/>
              </a:ext>
            </a:extLst>
          </p:cNvPr>
          <p:cNvGrpSpPr/>
          <p:nvPr/>
        </p:nvGrpSpPr>
        <p:grpSpPr>
          <a:xfrm>
            <a:off x="2499698" y="5092691"/>
            <a:ext cx="1954009" cy="519963"/>
            <a:chOff x="-2660702" y="2930418"/>
            <a:chExt cx="1954009" cy="51996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B074002-75A2-4773-B261-FD9CA992CCD9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50" name="Freeform 63">
                <a:extLst>
                  <a:ext uri="{FF2B5EF4-FFF2-40B4-BE49-F238E27FC236}">
                    <a16:creationId xmlns:a16="http://schemas.microsoft.com/office/drawing/2014/main" id="{8DF0B568-931A-4F66-B69C-DB66A9EE2AB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" name="Oval 64">
                <a:extLst>
                  <a:ext uri="{FF2B5EF4-FFF2-40B4-BE49-F238E27FC236}">
                    <a16:creationId xmlns:a16="http://schemas.microsoft.com/office/drawing/2014/main" id="{E5620EE9-D43F-4A43-A25C-B507E51DA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2" name="Freeform 77">
                <a:extLst>
                  <a:ext uri="{FF2B5EF4-FFF2-40B4-BE49-F238E27FC236}">
                    <a16:creationId xmlns:a16="http://schemas.microsoft.com/office/drawing/2014/main" id="{C65B2FB7-2D12-4BB1-BFCA-5DDE785DE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DA57D3-0B80-461A-A216-1C616953A32A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G.2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8A8472-F12C-4752-BFB5-BFA8E1836A78}"/>
              </a:ext>
            </a:extLst>
          </p:cNvPr>
          <p:cNvGrpSpPr/>
          <p:nvPr/>
        </p:nvGrpSpPr>
        <p:grpSpPr>
          <a:xfrm>
            <a:off x="3135407" y="3674233"/>
            <a:ext cx="1954009" cy="519963"/>
            <a:chOff x="-2660702" y="2930418"/>
            <a:chExt cx="1954009" cy="51996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D0F413B-E074-441A-8F4A-D39C168E62AD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56" name="Freeform 63">
                <a:extLst>
                  <a:ext uri="{FF2B5EF4-FFF2-40B4-BE49-F238E27FC236}">
                    <a16:creationId xmlns:a16="http://schemas.microsoft.com/office/drawing/2014/main" id="{16C441BE-4B1F-4E5E-A6C9-EA4CF8D768B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7" name="Oval 64">
                <a:extLst>
                  <a:ext uri="{FF2B5EF4-FFF2-40B4-BE49-F238E27FC236}">
                    <a16:creationId xmlns:a16="http://schemas.microsoft.com/office/drawing/2014/main" id="{ADC9021F-75DB-4BF9-961D-A13B21E96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8" name="Freeform 77">
                <a:extLst>
                  <a:ext uri="{FF2B5EF4-FFF2-40B4-BE49-F238E27FC236}">
                    <a16:creationId xmlns:a16="http://schemas.microsoft.com/office/drawing/2014/main" id="{0EA8E8D9-83DF-4990-9D64-D7CFFC351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908509-D8FD-41CB-9015-DE3C7B18A32D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G.3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9893723" y="4299029"/>
            <a:ext cx="2559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 de la ville/du village</a:t>
            </a:r>
            <a:endParaRPr lang="en-US" dirty="0">
              <a:solidFill>
                <a:srgbClr val="00B0F0"/>
              </a:solidFill>
              <a:highlight>
                <a:srgbClr val="00FF00"/>
              </a:highlight>
              <a:latin typeface="Bebas Neue Bold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55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23189"/>
              <a:ext cx="3582555" cy="22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Hibernation, relocalisation et évacuation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6000" y="6138307"/>
            <a:ext cx="2895600" cy="564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SH.1: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du refuge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SH.2: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du refuge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SH.3: </a:t>
            </a:r>
            <a:r>
              <a:rPr lang="fr-FR" sz="1200" dirty="0">
                <a:solidFill>
                  <a:schemeClr val="tx1"/>
                </a:solidFill>
                <a:highlight>
                  <a:srgbClr val="00FF00"/>
                </a:highlight>
              </a:rPr>
              <a:t>insérer le nom du refuge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FF00"/>
                </a:solidFill>
              </a:rPr>
              <a:t>Cartographie confidentielle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SH.3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F77B9EB-9A83-4036-9896-A28552EC9E3D}"/>
              </a:ext>
            </a:extLst>
          </p:cNvPr>
          <p:cNvSpPr/>
          <p:nvPr/>
        </p:nvSpPr>
        <p:spPr>
          <a:xfrm>
            <a:off x="9652206" y="6021258"/>
            <a:ext cx="3146315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ER.1: (ROUGE) Itinéraire d'evacuation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ER.2: (BLEU) Itinéraire d'évacuation </a:t>
            </a:r>
          </a:p>
          <a:p>
            <a:r>
              <a:rPr lang="en-US" sz="1200" dirty="0">
                <a:solidFill>
                  <a:schemeClr val="tx1"/>
                </a:solidFill>
              </a:rPr>
              <a:t>ER.3: (JAUNE) Itinéraire d'évacuation 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9893726" y="4299029"/>
            <a:ext cx="2559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 de la ville/du village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D4C9618-A431-4772-A854-C346070A1124}"/>
              </a:ext>
            </a:extLst>
          </p:cNvPr>
          <p:cNvSpPr/>
          <p:nvPr/>
        </p:nvSpPr>
        <p:spPr>
          <a:xfrm>
            <a:off x="2728686" y="3599543"/>
            <a:ext cx="3904343" cy="1480457"/>
          </a:xfrm>
          <a:custGeom>
            <a:avLst/>
            <a:gdLst>
              <a:gd name="connsiteX0" fmla="*/ 0 w 3904343"/>
              <a:gd name="connsiteY0" fmla="*/ 1480457 h 1480457"/>
              <a:gd name="connsiteX1" fmla="*/ 14514 w 3904343"/>
              <a:gd name="connsiteY1" fmla="*/ 1378857 h 1480457"/>
              <a:gd name="connsiteX2" fmla="*/ 333828 w 3904343"/>
              <a:gd name="connsiteY2" fmla="*/ 972457 h 1480457"/>
              <a:gd name="connsiteX3" fmla="*/ 827314 w 3904343"/>
              <a:gd name="connsiteY3" fmla="*/ 914400 h 1480457"/>
              <a:gd name="connsiteX4" fmla="*/ 1451428 w 3904343"/>
              <a:gd name="connsiteY4" fmla="*/ 1074057 h 1480457"/>
              <a:gd name="connsiteX5" fmla="*/ 2046514 w 3904343"/>
              <a:gd name="connsiteY5" fmla="*/ 1161143 h 1480457"/>
              <a:gd name="connsiteX6" fmla="*/ 2656114 w 3904343"/>
              <a:gd name="connsiteY6" fmla="*/ 1016000 h 1480457"/>
              <a:gd name="connsiteX7" fmla="*/ 2931885 w 3904343"/>
              <a:gd name="connsiteY7" fmla="*/ 624114 h 1480457"/>
              <a:gd name="connsiteX8" fmla="*/ 3352800 w 3904343"/>
              <a:gd name="connsiteY8" fmla="*/ 362857 h 1480457"/>
              <a:gd name="connsiteX9" fmla="*/ 3526971 w 3904343"/>
              <a:gd name="connsiteY9" fmla="*/ 290286 h 1480457"/>
              <a:gd name="connsiteX10" fmla="*/ 3701143 w 3904343"/>
              <a:gd name="connsiteY10" fmla="*/ 72571 h 1480457"/>
              <a:gd name="connsiteX11" fmla="*/ 3904343 w 3904343"/>
              <a:gd name="connsiteY11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04343" h="1480457">
                <a:moveTo>
                  <a:pt x="0" y="1480457"/>
                </a:moveTo>
                <a:cubicBezTo>
                  <a:pt x="4838" y="1446590"/>
                  <a:pt x="3696" y="1411312"/>
                  <a:pt x="14514" y="1378857"/>
                </a:cubicBezTo>
                <a:cubicBezTo>
                  <a:pt x="76191" y="1193824"/>
                  <a:pt x="119447" y="1038084"/>
                  <a:pt x="333828" y="972457"/>
                </a:cubicBezTo>
                <a:cubicBezTo>
                  <a:pt x="492203" y="923975"/>
                  <a:pt x="662819" y="933752"/>
                  <a:pt x="827314" y="914400"/>
                </a:cubicBezTo>
                <a:cubicBezTo>
                  <a:pt x="1508088" y="950230"/>
                  <a:pt x="636325" y="873416"/>
                  <a:pt x="1451428" y="1074057"/>
                </a:cubicBezTo>
                <a:cubicBezTo>
                  <a:pt x="1646092" y="1121974"/>
                  <a:pt x="1848152" y="1132114"/>
                  <a:pt x="2046514" y="1161143"/>
                </a:cubicBezTo>
                <a:cubicBezTo>
                  <a:pt x="2249714" y="1112762"/>
                  <a:pt x="2465237" y="1100834"/>
                  <a:pt x="2656114" y="1016000"/>
                </a:cubicBezTo>
                <a:cubicBezTo>
                  <a:pt x="2808291" y="948366"/>
                  <a:pt x="2842827" y="739365"/>
                  <a:pt x="2931885" y="624114"/>
                </a:cubicBezTo>
                <a:cubicBezTo>
                  <a:pt x="3043758" y="479337"/>
                  <a:pt x="3188341" y="437129"/>
                  <a:pt x="3352800" y="362857"/>
                </a:cubicBezTo>
                <a:cubicBezTo>
                  <a:pt x="3410121" y="336970"/>
                  <a:pt x="3468914" y="314476"/>
                  <a:pt x="3526971" y="290286"/>
                </a:cubicBezTo>
                <a:cubicBezTo>
                  <a:pt x="3587063" y="110010"/>
                  <a:pt x="3532324" y="185117"/>
                  <a:pt x="3701143" y="72571"/>
                </a:cubicBezTo>
                <a:cubicBezTo>
                  <a:pt x="3762819" y="-19945"/>
                  <a:pt x="3712964" y="31896"/>
                  <a:pt x="3904343" y="0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5501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23189"/>
              <a:ext cx="3582555" cy="22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Hibernation, relocalisation et évacuation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6000" y="6138308"/>
            <a:ext cx="28956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BC: </a:t>
            </a:r>
            <a:r>
              <a:rPr lang="fr-FR" sz="1200" dirty="0">
                <a:solidFill>
                  <a:schemeClr val="tx1"/>
                </a:solidFill>
              </a:rPr>
              <a:t>Passage de la </a:t>
            </a:r>
          </a:p>
          <a:p>
            <a:r>
              <a:rPr lang="fr-FR" sz="1200" dirty="0">
                <a:solidFill>
                  <a:schemeClr val="tx1"/>
                </a:solidFill>
              </a:rPr>
              <a:t>frontière terrestre 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FF00"/>
                </a:solidFill>
              </a:rPr>
              <a:t>Cartographie confidentielle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-1464575" y="936148"/>
            <a:ext cx="738356" cy="338554"/>
            <a:chOff x="-2720171" y="3084268"/>
            <a:chExt cx="738356" cy="338554"/>
          </a:xfrm>
        </p:grpSpPr>
        <p:sp>
          <p:nvSpPr>
            <p:cNvPr id="44" name="Freeform 77">
              <a:extLst>
                <a:ext uri="{FF2B5EF4-FFF2-40B4-BE49-F238E27FC236}">
                  <a16:creationId xmlns:a16="http://schemas.microsoft.com/office/drawing/2014/main" id="{B0877D37-875D-4ACD-BB86-306D30481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10232890" y="4252863"/>
            <a:ext cx="1881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 du pays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DC9C5E-E459-4F6D-A38A-ABAC0FC3AE75}"/>
              </a:ext>
            </a:extLst>
          </p:cNvPr>
          <p:cNvGrpSpPr/>
          <p:nvPr/>
        </p:nvGrpSpPr>
        <p:grpSpPr>
          <a:xfrm>
            <a:off x="-1464575" y="625173"/>
            <a:ext cx="738356" cy="338554"/>
            <a:chOff x="-2720171" y="3084268"/>
            <a:chExt cx="738356" cy="338554"/>
          </a:xfrm>
        </p:grpSpPr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64CF41C8-0A05-4FF8-84C0-9780293F6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B420BD-A8E9-40F8-BA66-7E919D482FA2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875049-293A-46F4-A241-E2F48B3F6B76}"/>
              </a:ext>
            </a:extLst>
          </p:cNvPr>
          <p:cNvGrpSpPr/>
          <p:nvPr/>
        </p:nvGrpSpPr>
        <p:grpSpPr>
          <a:xfrm>
            <a:off x="-1464575" y="329724"/>
            <a:ext cx="738356" cy="338554"/>
            <a:chOff x="-2720171" y="3084268"/>
            <a:chExt cx="738356" cy="338554"/>
          </a:xfrm>
        </p:grpSpPr>
        <p:sp>
          <p:nvSpPr>
            <p:cNvPr id="45" name="Freeform 77">
              <a:extLst>
                <a:ext uri="{FF2B5EF4-FFF2-40B4-BE49-F238E27FC236}">
                  <a16:creationId xmlns:a16="http://schemas.microsoft.com/office/drawing/2014/main" id="{43BC5E32-7032-4E56-A4A4-E1D1561CB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46CC099-01CB-4212-98AF-E7B26AC1A3F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DFE81D-CB3B-427F-802C-3EADF59C4806}"/>
              </a:ext>
            </a:extLst>
          </p:cNvPr>
          <p:cNvGrpSpPr/>
          <p:nvPr/>
        </p:nvGrpSpPr>
        <p:grpSpPr>
          <a:xfrm>
            <a:off x="-1464575" y="10278"/>
            <a:ext cx="738356" cy="338554"/>
            <a:chOff x="-2720171" y="3084268"/>
            <a:chExt cx="738356" cy="338554"/>
          </a:xfrm>
        </p:grpSpPr>
        <p:sp>
          <p:nvSpPr>
            <p:cNvPr id="48" name="Freeform 77">
              <a:extLst>
                <a:ext uri="{FF2B5EF4-FFF2-40B4-BE49-F238E27FC236}">
                  <a16:creationId xmlns:a16="http://schemas.microsoft.com/office/drawing/2014/main" id="{5B5090C3-B4AB-4630-B1D5-4AA0A7416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5F28B5-5362-41C6-B822-6E47AAA2AD7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6DCB3E6-F442-44AD-9643-81D3E2FD4E89}"/>
              </a:ext>
            </a:extLst>
          </p:cNvPr>
          <p:cNvGrpSpPr/>
          <p:nvPr/>
        </p:nvGrpSpPr>
        <p:grpSpPr>
          <a:xfrm>
            <a:off x="-1464575" y="2145248"/>
            <a:ext cx="738356" cy="338554"/>
            <a:chOff x="-2720171" y="3084268"/>
            <a:chExt cx="738356" cy="338554"/>
          </a:xfrm>
        </p:grpSpPr>
        <p:sp>
          <p:nvSpPr>
            <p:cNvPr id="51" name="Freeform 77">
              <a:extLst>
                <a:ext uri="{FF2B5EF4-FFF2-40B4-BE49-F238E27FC236}">
                  <a16:creationId xmlns:a16="http://schemas.microsoft.com/office/drawing/2014/main" id="{24E7E7C3-2F66-4A44-B816-5307E8321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F3F956A-4389-40AE-AB53-7ACDFE560D6D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BC.8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09FA83-5D98-46D0-9C7F-1E315AA69D8A}"/>
              </a:ext>
            </a:extLst>
          </p:cNvPr>
          <p:cNvGrpSpPr/>
          <p:nvPr/>
        </p:nvGrpSpPr>
        <p:grpSpPr>
          <a:xfrm>
            <a:off x="-1464575" y="1848787"/>
            <a:ext cx="738356" cy="338554"/>
            <a:chOff x="-2720171" y="3084268"/>
            <a:chExt cx="738356" cy="338554"/>
          </a:xfrm>
        </p:grpSpPr>
        <p:sp>
          <p:nvSpPr>
            <p:cNvPr id="54" name="Freeform 77">
              <a:extLst>
                <a:ext uri="{FF2B5EF4-FFF2-40B4-BE49-F238E27FC236}">
                  <a16:creationId xmlns:a16="http://schemas.microsoft.com/office/drawing/2014/main" id="{D9C286CE-333B-46FE-AE24-10174B727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A87369-3422-48B7-8759-B515CDE88966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0723E66-4EDC-4B34-A993-A4F9D75C6464}"/>
              </a:ext>
            </a:extLst>
          </p:cNvPr>
          <p:cNvGrpSpPr/>
          <p:nvPr/>
        </p:nvGrpSpPr>
        <p:grpSpPr>
          <a:xfrm>
            <a:off x="-1464575" y="1553338"/>
            <a:ext cx="738356" cy="338554"/>
            <a:chOff x="-2720171" y="3084268"/>
            <a:chExt cx="738356" cy="338554"/>
          </a:xfrm>
        </p:grpSpPr>
        <p:sp>
          <p:nvSpPr>
            <p:cNvPr id="57" name="Freeform 77">
              <a:extLst>
                <a:ext uri="{FF2B5EF4-FFF2-40B4-BE49-F238E27FC236}">
                  <a16:creationId xmlns:a16="http://schemas.microsoft.com/office/drawing/2014/main" id="{1601FACF-E7EA-4104-9265-B7FDFD461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63C616A-E91F-4CE6-82E9-1285D19C112D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3BAFE3-2A32-4935-A475-9BEA418AD061}"/>
              </a:ext>
            </a:extLst>
          </p:cNvPr>
          <p:cNvGrpSpPr/>
          <p:nvPr/>
        </p:nvGrpSpPr>
        <p:grpSpPr>
          <a:xfrm>
            <a:off x="-1464575" y="1233892"/>
            <a:ext cx="738356" cy="338554"/>
            <a:chOff x="-2720171" y="3084268"/>
            <a:chExt cx="738356" cy="338554"/>
          </a:xfrm>
        </p:grpSpPr>
        <p:sp>
          <p:nvSpPr>
            <p:cNvPr id="61" name="Freeform 77">
              <a:extLst>
                <a:ext uri="{FF2B5EF4-FFF2-40B4-BE49-F238E27FC236}">
                  <a16:creationId xmlns:a16="http://schemas.microsoft.com/office/drawing/2014/main" id="{18F69AE5-778F-4FB4-B8A0-DCADC665C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74C91EA-6217-4194-9729-3878F20D001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4571C6-1644-4C07-A18A-17820D7AE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442" y="2677930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09488D62-F23F-4CD6-9477-84D120545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603" y="3035846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>
            <a:extLst>
              <a:ext uri="{FF2B5EF4-FFF2-40B4-BE49-F238E27FC236}">
                <a16:creationId xmlns:a16="http://schemas.microsoft.com/office/drawing/2014/main" id="{783F16D6-5ACA-4E6A-8ED5-744CE284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6265" y="3118224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F8C85CF1-73AA-40F2-AA72-79E311B3D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9469" y="3509537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>
            <a:extLst>
              <a:ext uri="{FF2B5EF4-FFF2-40B4-BE49-F238E27FC236}">
                <a16:creationId xmlns:a16="http://schemas.microsoft.com/office/drawing/2014/main" id="{70E51C45-1778-4BF1-BCAD-4C444D2A9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8643" y="2627818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037E701E-16BB-40D7-A02F-2348634C2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088" y="6242153"/>
            <a:ext cx="465140" cy="46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6F1F5150-BD57-4195-8F0C-C9F8C0B11A50}"/>
              </a:ext>
            </a:extLst>
          </p:cNvPr>
          <p:cNvSpPr/>
          <p:nvPr/>
        </p:nvSpPr>
        <p:spPr>
          <a:xfrm>
            <a:off x="8360228" y="6290057"/>
            <a:ext cx="117252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solidFill>
                  <a:schemeClr val="tx1"/>
                </a:solidFill>
              </a:rPr>
              <a:t>Point d'extraction des avions</a:t>
            </a:r>
            <a:endParaRPr lang="fr-FR" sz="11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80F8009-7AEC-4737-8C64-EFDABEFA4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8105" y="4156303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>
            <a:extLst>
              <a:ext uri="{FF2B5EF4-FFF2-40B4-BE49-F238E27FC236}">
                <a16:creationId xmlns:a16="http://schemas.microsoft.com/office/drawing/2014/main" id="{806E9A9B-084A-4F6B-BA79-B948D90C1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0610" y="4501168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id="{26B4EEA0-416E-4267-A4BF-1258A6101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7820" y="4501168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4">
            <a:extLst>
              <a:ext uri="{FF2B5EF4-FFF2-40B4-BE49-F238E27FC236}">
                <a16:creationId xmlns:a16="http://schemas.microsoft.com/office/drawing/2014/main" id="{DCD4605F-7536-4676-8B7C-CBF9B3963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48" y="6231755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">
            <a:extLst>
              <a:ext uri="{FF2B5EF4-FFF2-40B4-BE49-F238E27FC236}">
                <a16:creationId xmlns:a16="http://schemas.microsoft.com/office/drawing/2014/main" id="{00273F20-574F-415F-8F33-2BAB5C49D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9076" y="4504646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4">
            <a:extLst>
              <a:ext uri="{FF2B5EF4-FFF2-40B4-BE49-F238E27FC236}">
                <a16:creationId xmlns:a16="http://schemas.microsoft.com/office/drawing/2014/main" id="{D03B4721-CBFA-472B-B6F0-03E07442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0048" y="4156303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D104365-0F16-41A4-AB77-DC0D883BEF2A}"/>
              </a:ext>
            </a:extLst>
          </p:cNvPr>
          <p:cNvSpPr/>
          <p:nvPr/>
        </p:nvSpPr>
        <p:spPr>
          <a:xfrm>
            <a:off x="10023925" y="6218370"/>
            <a:ext cx="134551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solidFill>
                  <a:schemeClr val="tx1"/>
                </a:solidFill>
              </a:rPr>
              <a:t>Point d'extraction maritime</a:t>
            </a:r>
            <a:endParaRPr lang="fr-FR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38" name="Freeform 77">
            <a:extLst>
              <a:ext uri="{FF2B5EF4-FFF2-40B4-BE49-F238E27FC236}">
                <a16:creationId xmlns:a16="http://schemas.microsoft.com/office/drawing/2014/main" id="{33E130EB-02DE-44AD-A916-1D6E536A3855}"/>
              </a:ext>
            </a:extLst>
          </p:cNvPr>
          <p:cNvSpPr>
            <a:spLocks/>
          </p:cNvSpPr>
          <p:nvPr/>
        </p:nvSpPr>
        <p:spPr bwMode="auto">
          <a:xfrm>
            <a:off x="-696031" y="2203250"/>
            <a:ext cx="564407" cy="249228"/>
          </a:xfrm>
          <a:custGeom>
            <a:avLst/>
            <a:gdLst>
              <a:gd name="T0" fmla="*/ 1517 w 1818"/>
              <a:gd name="T1" fmla="*/ 0 h 603"/>
              <a:gd name="T2" fmla="*/ 1517 w 1818"/>
              <a:gd name="T3" fmla="*/ 0 h 603"/>
              <a:gd name="T4" fmla="*/ 1517 w 1818"/>
              <a:gd name="T5" fmla="*/ 0 h 603"/>
              <a:gd name="T6" fmla="*/ 302 w 1818"/>
              <a:gd name="T7" fmla="*/ 0 h 603"/>
              <a:gd name="T8" fmla="*/ 0 w 1818"/>
              <a:gd name="T9" fmla="*/ 302 h 603"/>
              <a:gd name="T10" fmla="*/ 302 w 1818"/>
              <a:gd name="T11" fmla="*/ 603 h 603"/>
              <a:gd name="T12" fmla="*/ 1517 w 1818"/>
              <a:gd name="T13" fmla="*/ 603 h 603"/>
              <a:gd name="T14" fmla="*/ 1517 w 1818"/>
              <a:gd name="T15" fmla="*/ 603 h 603"/>
              <a:gd name="T16" fmla="*/ 1517 w 1818"/>
              <a:gd name="T17" fmla="*/ 603 h 603"/>
              <a:gd name="T18" fmla="*/ 1818 w 1818"/>
              <a:gd name="T19" fmla="*/ 302 h 603"/>
              <a:gd name="T20" fmla="*/ 1517 w 1818"/>
              <a:gd name="T21" fmla="*/ 0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8" h="603">
                <a:moveTo>
                  <a:pt x="1517" y="0"/>
                </a:moveTo>
                <a:cubicBezTo>
                  <a:pt x="1517" y="0"/>
                  <a:pt x="1517" y="0"/>
                  <a:pt x="1517" y="0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302" y="0"/>
                  <a:pt x="302" y="0"/>
                  <a:pt x="302" y="0"/>
                </a:cubicBezTo>
                <a:cubicBezTo>
                  <a:pt x="135" y="0"/>
                  <a:pt x="0" y="135"/>
                  <a:pt x="0" y="302"/>
                </a:cubicBezTo>
                <a:cubicBezTo>
                  <a:pt x="0" y="468"/>
                  <a:pt x="135" y="603"/>
                  <a:pt x="302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683" y="603"/>
                  <a:pt x="1818" y="468"/>
                  <a:pt x="1818" y="302"/>
                </a:cubicBezTo>
                <a:cubicBezTo>
                  <a:pt x="1818" y="135"/>
                  <a:pt x="1683" y="0"/>
                  <a:pt x="1517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innerShdw blurRad="266700" dist="50800" dir="13500000">
              <a:prstClr val="black">
                <a:alpha val="7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88F1DC-351C-410D-8F76-4864466AADAE}"/>
              </a:ext>
            </a:extLst>
          </p:cNvPr>
          <p:cNvGrpSpPr/>
          <p:nvPr/>
        </p:nvGrpSpPr>
        <p:grpSpPr>
          <a:xfrm>
            <a:off x="-2167341" y="-8830"/>
            <a:ext cx="738356" cy="338554"/>
            <a:chOff x="1808543" y="557606"/>
            <a:chExt cx="738356" cy="338554"/>
          </a:xfrm>
        </p:grpSpPr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3DC2F384-D898-4C6A-9F82-BAACBDF88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607859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8E620E8-4B2A-4186-8019-B937ECAA1C78}"/>
                </a:ext>
              </a:extLst>
            </p:cNvPr>
            <p:cNvSpPr txBox="1"/>
            <p:nvPr/>
          </p:nvSpPr>
          <p:spPr>
            <a:xfrm>
              <a:off x="1808543" y="55760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E8E4D4-8D1B-438B-BE95-201775EF7AE7}"/>
              </a:ext>
            </a:extLst>
          </p:cNvPr>
          <p:cNvGrpSpPr/>
          <p:nvPr/>
        </p:nvGrpSpPr>
        <p:grpSpPr>
          <a:xfrm>
            <a:off x="-2184020" y="603030"/>
            <a:ext cx="738356" cy="338554"/>
            <a:chOff x="1791864" y="1169466"/>
            <a:chExt cx="738356" cy="338554"/>
          </a:xfrm>
        </p:grpSpPr>
        <p:sp>
          <p:nvSpPr>
            <p:cNvPr id="101" name="Freeform 77">
              <a:extLst>
                <a:ext uri="{FF2B5EF4-FFF2-40B4-BE49-F238E27FC236}">
                  <a16:creationId xmlns:a16="http://schemas.microsoft.com/office/drawing/2014/main" id="{AB2FEF01-F94B-48D0-94C5-371E624E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22275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B674EF0-034E-40EC-B3A5-4DC84C6DBCA6}"/>
                </a:ext>
              </a:extLst>
            </p:cNvPr>
            <p:cNvSpPr txBox="1"/>
            <p:nvPr/>
          </p:nvSpPr>
          <p:spPr>
            <a:xfrm>
              <a:off x="1791864" y="116946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14BF8A-93FA-4508-978F-5D4715441534}"/>
              </a:ext>
            </a:extLst>
          </p:cNvPr>
          <p:cNvGrpSpPr/>
          <p:nvPr/>
        </p:nvGrpSpPr>
        <p:grpSpPr>
          <a:xfrm>
            <a:off x="-2154512" y="296858"/>
            <a:ext cx="738356" cy="338554"/>
            <a:chOff x="1821372" y="863294"/>
            <a:chExt cx="738356" cy="338554"/>
          </a:xfrm>
        </p:grpSpPr>
        <p:sp>
          <p:nvSpPr>
            <p:cNvPr id="132" name="Freeform 77">
              <a:extLst>
                <a:ext uri="{FF2B5EF4-FFF2-40B4-BE49-F238E27FC236}">
                  <a16:creationId xmlns:a16="http://schemas.microsoft.com/office/drawing/2014/main" id="{6F765532-B953-4DDD-BE78-6D3B5D7F1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906896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4D35664-8274-4B70-B4FF-213156ECDAC4}"/>
                </a:ext>
              </a:extLst>
            </p:cNvPr>
            <p:cNvSpPr txBox="1"/>
            <p:nvPr/>
          </p:nvSpPr>
          <p:spPr>
            <a:xfrm>
              <a:off x="1821372" y="863294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CB29297-735C-4923-B1C0-BD630F31AE17}"/>
              </a:ext>
            </a:extLst>
          </p:cNvPr>
          <p:cNvGrpSpPr/>
          <p:nvPr/>
        </p:nvGrpSpPr>
        <p:grpSpPr>
          <a:xfrm>
            <a:off x="-778356" y="306709"/>
            <a:ext cx="738356" cy="338554"/>
            <a:chOff x="-82325" y="335489"/>
            <a:chExt cx="738356" cy="338554"/>
          </a:xfrm>
        </p:grpSpPr>
        <p:sp>
          <p:nvSpPr>
            <p:cNvPr id="140" name="Freeform 77">
              <a:extLst>
                <a:ext uri="{FF2B5EF4-FFF2-40B4-BE49-F238E27FC236}">
                  <a16:creationId xmlns:a16="http://schemas.microsoft.com/office/drawing/2014/main" id="{502F8275-7ACF-4CE4-BDD8-059D9D0E1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7320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17FB7B-C00F-4168-8348-6B0B2AA0CA21}"/>
                </a:ext>
              </a:extLst>
            </p:cNvPr>
            <p:cNvSpPr txBox="1"/>
            <p:nvPr/>
          </p:nvSpPr>
          <p:spPr>
            <a:xfrm>
              <a:off x="-82325" y="335489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DFDA4E-0E7D-4C9F-AADC-9835D7CCC871}"/>
              </a:ext>
            </a:extLst>
          </p:cNvPr>
          <p:cNvGrpSpPr/>
          <p:nvPr/>
        </p:nvGrpSpPr>
        <p:grpSpPr>
          <a:xfrm>
            <a:off x="-768544" y="0"/>
            <a:ext cx="738356" cy="338554"/>
            <a:chOff x="-72513" y="28780"/>
            <a:chExt cx="738356" cy="338554"/>
          </a:xfrm>
        </p:grpSpPr>
        <p:sp>
          <p:nvSpPr>
            <p:cNvPr id="134" name="Freeform 77">
              <a:extLst>
                <a:ext uri="{FF2B5EF4-FFF2-40B4-BE49-F238E27FC236}">
                  <a16:creationId xmlns:a16="http://schemas.microsoft.com/office/drawing/2014/main" id="{B5E4239F-EFDF-4C68-8398-DE445A31B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416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424611E-3E4F-406F-BD8F-B0C6CAF837A1}"/>
                </a:ext>
              </a:extLst>
            </p:cNvPr>
            <p:cNvSpPr txBox="1"/>
            <p:nvPr/>
          </p:nvSpPr>
          <p:spPr>
            <a:xfrm>
              <a:off x="-72513" y="28780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26B4C60-CBD9-414D-8F78-5260DD5500CF}"/>
              </a:ext>
            </a:extLst>
          </p:cNvPr>
          <p:cNvGrpSpPr/>
          <p:nvPr/>
        </p:nvGrpSpPr>
        <p:grpSpPr>
          <a:xfrm>
            <a:off x="-786782" y="613075"/>
            <a:ext cx="738356" cy="338554"/>
            <a:chOff x="-90751" y="641855"/>
            <a:chExt cx="738356" cy="338554"/>
          </a:xfrm>
        </p:grpSpPr>
        <p:sp>
          <p:nvSpPr>
            <p:cNvPr id="133" name="Freeform 77">
              <a:extLst>
                <a:ext uri="{FF2B5EF4-FFF2-40B4-BE49-F238E27FC236}">
                  <a16:creationId xmlns:a16="http://schemas.microsoft.com/office/drawing/2014/main" id="{3F4443CF-BF5C-4010-93F6-75D3E0C3F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68906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3F00661-E065-4D3B-BC9D-4B6CF15F8646}"/>
                </a:ext>
              </a:extLst>
            </p:cNvPr>
            <p:cNvSpPr txBox="1"/>
            <p:nvPr/>
          </p:nvSpPr>
          <p:spPr>
            <a:xfrm>
              <a:off x="-90751" y="64185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5EBAD9-754B-49D8-8DE1-35C9563B6122}"/>
              </a:ext>
            </a:extLst>
          </p:cNvPr>
          <p:cNvGrpSpPr/>
          <p:nvPr/>
        </p:nvGrpSpPr>
        <p:grpSpPr>
          <a:xfrm>
            <a:off x="-788909" y="936847"/>
            <a:ext cx="738356" cy="338554"/>
            <a:chOff x="-92878" y="965627"/>
            <a:chExt cx="738356" cy="338554"/>
          </a:xfrm>
        </p:grpSpPr>
        <p:sp>
          <p:nvSpPr>
            <p:cNvPr id="139" name="Freeform 77">
              <a:extLst>
                <a:ext uri="{FF2B5EF4-FFF2-40B4-BE49-F238E27FC236}">
                  <a16:creationId xmlns:a16="http://schemas.microsoft.com/office/drawing/2014/main" id="{E27B7EC8-5453-4E86-920C-16D5275D1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14325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1BB776B-898C-40AE-85EF-0A14B2673B46}"/>
                </a:ext>
              </a:extLst>
            </p:cNvPr>
            <p:cNvSpPr txBox="1"/>
            <p:nvPr/>
          </p:nvSpPr>
          <p:spPr>
            <a:xfrm>
              <a:off x="-92878" y="9656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E90D72-2B14-40E6-AAA2-1BC775522FDF}"/>
              </a:ext>
            </a:extLst>
          </p:cNvPr>
          <p:cNvGrpSpPr/>
          <p:nvPr/>
        </p:nvGrpSpPr>
        <p:grpSpPr>
          <a:xfrm>
            <a:off x="-2179842" y="936868"/>
            <a:ext cx="738356" cy="338554"/>
            <a:chOff x="1796042" y="1503304"/>
            <a:chExt cx="738356" cy="338554"/>
          </a:xfrm>
        </p:grpSpPr>
        <p:sp>
          <p:nvSpPr>
            <p:cNvPr id="131" name="Freeform 77">
              <a:extLst>
                <a:ext uri="{FF2B5EF4-FFF2-40B4-BE49-F238E27FC236}">
                  <a16:creationId xmlns:a16="http://schemas.microsoft.com/office/drawing/2014/main" id="{11EBF0BE-3148-4DC0-8D72-16B8D8B46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54801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F722526-9EF7-4139-A334-03B45BD7B333}"/>
                </a:ext>
              </a:extLst>
            </p:cNvPr>
            <p:cNvSpPr txBox="1"/>
            <p:nvPr/>
          </p:nvSpPr>
          <p:spPr>
            <a:xfrm>
              <a:off x="1796042" y="1503304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A5FC01-3BE5-41D4-8C55-9EDF1884A1EE}"/>
              </a:ext>
            </a:extLst>
          </p:cNvPr>
          <p:cNvGrpSpPr/>
          <p:nvPr/>
        </p:nvGrpSpPr>
        <p:grpSpPr>
          <a:xfrm>
            <a:off x="-2171220" y="1222972"/>
            <a:ext cx="738356" cy="338554"/>
            <a:chOff x="1804664" y="1789408"/>
            <a:chExt cx="738356" cy="338554"/>
          </a:xfrm>
        </p:grpSpPr>
        <p:sp>
          <p:nvSpPr>
            <p:cNvPr id="121" name="Freeform 77">
              <a:extLst>
                <a:ext uri="{FF2B5EF4-FFF2-40B4-BE49-F238E27FC236}">
                  <a16:creationId xmlns:a16="http://schemas.microsoft.com/office/drawing/2014/main" id="{C75BFC96-0AB8-44D2-B6BA-9C1E927C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843360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138F30D-DB03-4EC6-88D7-2C1F62009B10}"/>
                </a:ext>
              </a:extLst>
            </p:cNvPr>
            <p:cNvSpPr txBox="1"/>
            <p:nvPr/>
          </p:nvSpPr>
          <p:spPr>
            <a:xfrm>
              <a:off x="1804664" y="178940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B4D916-8AEC-42B4-99A8-D6072CBEF5F5}"/>
              </a:ext>
            </a:extLst>
          </p:cNvPr>
          <p:cNvGrpSpPr/>
          <p:nvPr/>
        </p:nvGrpSpPr>
        <p:grpSpPr>
          <a:xfrm>
            <a:off x="-799838" y="1232802"/>
            <a:ext cx="738356" cy="338554"/>
            <a:chOff x="-103807" y="1261582"/>
            <a:chExt cx="738356" cy="338554"/>
          </a:xfrm>
        </p:grpSpPr>
        <p:sp>
          <p:nvSpPr>
            <p:cNvPr id="135" name="Freeform 77">
              <a:extLst>
                <a:ext uri="{FF2B5EF4-FFF2-40B4-BE49-F238E27FC236}">
                  <a16:creationId xmlns:a16="http://schemas.microsoft.com/office/drawing/2014/main" id="{9962750A-7C27-430A-A323-FA8AECB1E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309668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0F36620-27C4-4AED-A64E-8E6D855F71A3}"/>
                </a:ext>
              </a:extLst>
            </p:cNvPr>
            <p:cNvSpPr txBox="1"/>
            <p:nvPr/>
          </p:nvSpPr>
          <p:spPr>
            <a:xfrm>
              <a:off x="-103807" y="1261582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49AB09-51EA-4AB7-BD61-0459007EB84A}"/>
              </a:ext>
            </a:extLst>
          </p:cNvPr>
          <p:cNvGrpSpPr/>
          <p:nvPr/>
        </p:nvGrpSpPr>
        <p:grpSpPr>
          <a:xfrm>
            <a:off x="-771053" y="1527445"/>
            <a:ext cx="738356" cy="338554"/>
            <a:chOff x="-75022" y="1556225"/>
            <a:chExt cx="738356" cy="338554"/>
          </a:xfrm>
        </p:grpSpPr>
        <p:sp>
          <p:nvSpPr>
            <p:cNvPr id="136" name="Freeform 77">
              <a:extLst>
                <a:ext uri="{FF2B5EF4-FFF2-40B4-BE49-F238E27FC236}">
                  <a16:creationId xmlns:a16="http://schemas.microsoft.com/office/drawing/2014/main" id="{93A132A3-FCB3-4E32-A9E1-2D59CD0DA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1342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ED8109C-D3BC-4CEB-8449-9D17622A426F}"/>
                </a:ext>
              </a:extLst>
            </p:cNvPr>
            <p:cNvSpPr txBox="1"/>
            <p:nvPr/>
          </p:nvSpPr>
          <p:spPr>
            <a:xfrm>
              <a:off x="-75022" y="155622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7FEAB0-A71C-4533-B261-2A93EFA02E97}"/>
              </a:ext>
            </a:extLst>
          </p:cNvPr>
          <p:cNvGrpSpPr/>
          <p:nvPr/>
        </p:nvGrpSpPr>
        <p:grpSpPr>
          <a:xfrm>
            <a:off x="-2183468" y="1536443"/>
            <a:ext cx="738356" cy="338554"/>
            <a:chOff x="1792416" y="2102879"/>
            <a:chExt cx="738356" cy="338554"/>
          </a:xfrm>
        </p:grpSpPr>
        <p:sp>
          <p:nvSpPr>
            <p:cNvPr id="126" name="Freeform 77">
              <a:extLst>
                <a:ext uri="{FF2B5EF4-FFF2-40B4-BE49-F238E27FC236}">
                  <a16:creationId xmlns:a16="http://schemas.microsoft.com/office/drawing/2014/main" id="{8C3D5926-DE08-42A8-9DEF-E44A3061C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14711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E9BA103-12F2-4547-9FA0-350B3E16B378}"/>
                </a:ext>
              </a:extLst>
            </p:cNvPr>
            <p:cNvSpPr txBox="1"/>
            <p:nvPr/>
          </p:nvSpPr>
          <p:spPr>
            <a:xfrm>
              <a:off x="1792416" y="2102879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8FA424-AC86-4A7D-B60C-A54C33B91270}"/>
              </a:ext>
            </a:extLst>
          </p:cNvPr>
          <p:cNvGrpSpPr/>
          <p:nvPr/>
        </p:nvGrpSpPr>
        <p:grpSpPr>
          <a:xfrm>
            <a:off x="-2191342" y="1860651"/>
            <a:ext cx="738356" cy="338554"/>
            <a:chOff x="1784542" y="2427087"/>
            <a:chExt cx="738356" cy="338554"/>
          </a:xfrm>
        </p:grpSpPr>
        <p:sp>
          <p:nvSpPr>
            <p:cNvPr id="129" name="Freeform 77">
              <a:extLst>
                <a:ext uri="{FF2B5EF4-FFF2-40B4-BE49-F238E27FC236}">
                  <a16:creationId xmlns:a16="http://schemas.microsoft.com/office/drawing/2014/main" id="{22408189-1EEF-48DB-92C0-1C9A2FF5C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460600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62FCBA9-7DB7-42D4-8C10-0052D550F75A}"/>
                </a:ext>
              </a:extLst>
            </p:cNvPr>
            <p:cNvSpPr txBox="1"/>
            <p:nvPr/>
          </p:nvSpPr>
          <p:spPr>
            <a:xfrm>
              <a:off x="1784542" y="242708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BD16C0A-512B-421A-B8E5-9EE2494A69B1}"/>
              </a:ext>
            </a:extLst>
          </p:cNvPr>
          <p:cNvGrpSpPr/>
          <p:nvPr/>
        </p:nvGrpSpPr>
        <p:grpSpPr>
          <a:xfrm>
            <a:off x="-781230" y="1850765"/>
            <a:ext cx="738356" cy="338554"/>
            <a:chOff x="-85199" y="1879545"/>
            <a:chExt cx="738356" cy="338554"/>
          </a:xfrm>
        </p:grpSpPr>
        <p:sp>
          <p:nvSpPr>
            <p:cNvPr id="137" name="Freeform 77">
              <a:extLst>
                <a:ext uri="{FF2B5EF4-FFF2-40B4-BE49-F238E27FC236}">
                  <a16:creationId xmlns:a16="http://schemas.microsoft.com/office/drawing/2014/main" id="{90DCE5B7-540F-4BAF-BC4F-4DD56FB58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926908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CD9167F-57A8-4E1F-80C5-E7F5A27EEB31}"/>
                </a:ext>
              </a:extLst>
            </p:cNvPr>
            <p:cNvSpPr txBox="1"/>
            <p:nvPr/>
          </p:nvSpPr>
          <p:spPr>
            <a:xfrm>
              <a:off x="-85199" y="187954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4E998E-F4D8-4439-8754-4C199E881A4E}"/>
              </a:ext>
            </a:extLst>
          </p:cNvPr>
          <p:cNvGrpSpPr/>
          <p:nvPr/>
        </p:nvGrpSpPr>
        <p:grpSpPr>
          <a:xfrm>
            <a:off x="-2175594" y="2145370"/>
            <a:ext cx="738356" cy="338554"/>
            <a:chOff x="1800290" y="2711806"/>
            <a:chExt cx="738356" cy="338554"/>
          </a:xfrm>
        </p:grpSpPr>
        <p:sp>
          <p:nvSpPr>
            <p:cNvPr id="130" name="Freeform 77">
              <a:extLst>
                <a:ext uri="{FF2B5EF4-FFF2-40B4-BE49-F238E27FC236}">
                  <a16:creationId xmlns:a16="http://schemas.microsoft.com/office/drawing/2014/main" id="{2CCD774B-8CC5-48FE-9D22-70B3A0D4C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76572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E011FB5-885B-45E3-9A18-74D1AFBB9157}"/>
                </a:ext>
              </a:extLst>
            </p:cNvPr>
            <p:cNvSpPr txBox="1"/>
            <p:nvPr/>
          </p:nvSpPr>
          <p:spPr>
            <a:xfrm>
              <a:off x="1800290" y="271180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BC.8</a:t>
              </a: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2B94278F-8B16-4AC0-B885-2ABCA14F5C19}"/>
              </a:ext>
            </a:extLst>
          </p:cNvPr>
          <p:cNvSpPr txBox="1"/>
          <p:nvPr/>
        </p:nvSpPr>
        <p:spPr>
          <a:xfrm>
            <a:off x="-791407" y="2147017"/>
            <a:ext cx="738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BC.8</a:t>
            </a:r>
          </a:p>
        </p:txBody>
      </p:sp>
    </p:spTree>
    <p:extLst>
      <p:ext uri="{BB962C8B-B14F-4D97-AF65-F5344CB8AC3E}">
        <p14:creationId xmlns:p14="http://schemas.microsoft.com/office/powerpoint/2010/main" val="206578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0EE478-B563-453A-AE4F-2FAE57CA9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05000"/>
              </p:ext>
            </p:extLst>
          </p:nvPr>
        </p:nvGraphicFramePr>
        <p:xfrm>
          <a:off x="-9164" y="0"/>
          <a:ext cx="10660243" cy="685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111">
                  <a:extLst>
                    <a:ext uri="{9D8B030D-6E8A-4147-A177-3AD203B41FA5}">
                      <a16:colId xmlns:a16="http://schemas.microsoft.com/office/drawing/2014/main" val="2698839212"/>
                    </a:ext>
                  </a:extLst>
                </a:gridCol>
                <a:gridCol w="1081286">
                  <a:extLst>
                    <a:ext uri="{9D8B030D-6E8A-4147-A177-3AD203B41FA5}">
                      <a16:colId xmlns:a16="http://schemas.microsoft.com/office/drawing/2014/main" val="2846123437"/>
                    </a:ext>
                  </a:extLst>
                </a:gridCol>
                <a:gridCol w="1126974">
                  <a:extLst>
                    <a:ext uri="{9D8B030D-6E8A-4147-A177-3AD203B41FA5}">
                      <a16:colId xmlns:a16="http://schemas.microsoft.com/office/drawing/2014/main" val="3887895385"/>
                    </a:ext>
                  </a:extLst>
                </a:gridCol>
                <a:gridCol w="1157432">
                  <a:extLst>
                    <a:ext uri="{9D8B030D-6E8A-4147-A177-3AD203B41FA5}">
                      <a16:colId xmlns:a16="http://schemas.microsoft.com/office/drawing/2014/main" val="639850465"/>
                    </a:ext>
                  </a:extLst>
                </a:gridCol>
                <a:gridCol w="1126974">
                  <a:extLst>
                    <a:ext uri="{9D8B030D-6E8A-4147-A177-3AD203B41FA5}">
                      <a16:colId xmlns:a16="http://schemas.microsoft.com/office/drawing/2014/main" val="2582845831"/>
                    </a:ext>
                  </a:extLst>
                </a:gridCol>
                <a:gridCol w="1157640">
                  <a:extLst>
                    <a:ext uri="{9D8B030D-6E8A-4147-A177-3AD203B41FA5}">
                      <a16:colId xmlns:a16="http://schemas.microsoft.com/office/drawing/2014/main" val="2215552930"/>
                    </a:ext>
                  </a:extLst>
                </a:gridCol>
                <a:gridCol w="1117940">
                  <a:extLst>
                    <a:ext uri="{9D8B030D-6E8A-4147-A177-3AD203B41FA5}">
                      <a16:colId xmlns:a16="http://schemas.microsoft.com/office/drawing/2014/main" val="211477257"/>
                    </a:ext>
                  </a:extLst>
                </a:gridCol>
                <a:gridCol w="1117940">
                  <a:extLst>
                    <a:ext uri="{9D8B030D-6E8A-4147-A177-3AD203B41FA5}">
                      <a16:colId xmlns:a16="http://schemas.microsoft.com/office/drawing/2014/main" val="3546603921"/>
                    </a:ext>
                  </a:extLst>
                </a:gridCol>
                <a:gridCol w="1165176">
                  <a:extLst>
                    <a:ext uri="{9D8B030D-6E8A-4147-A177-3AD203B41FA5}">
                      <a16:colId xmlns:a16="http://schemas.microsoft.com/office/drawing/2014/main" val="3155616375"/>
                    </a:ext>
                  </a:extLst>
                </a:gridCol>
                <a:gridCol w="1136770">
                  <a:extLst>
                    <a:ext uri="{9D8B030D-6E8A-4147-A177-3AD203B41FA5}">
                      <a16:colId xmlns:a16="http://schemas.microsoft.com/office/drawing/2014/main" val="1083765387"/>
                    </a:ext>
                  </a:extLst>
                </a:gridCol>
              </a:tblGrid>
              <a:tr h="4483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G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98822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627779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119550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469257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48633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58596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686286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50103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18663" y="-97543"/>
            <a:ext cx="2077718" cy="6330799"/>
            <a:chOff x="5777902" y="2160239"/>
            <a:chExt cx="92039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47"/>
            <a:stretch/>
          </p:blipFill>
          <p:spPr>
            <a:xfrm>
              <a:off x="5777902" y="2160239"/>
              <a:ext cx="920396" cy="395798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3A1F28-0DA8-4E28-9A14-45FBEBAE9431}"/>
                </a:ext>
              </a:extLst>
            </p:cNvPr>
            <p:cNvSpPr txBox="1"/>
            <p:nvPr/>
          </p:nvSpPr>
          <p:spPr>
            <a:xfrm rot="16200000">
              <a:off x="5172099" y="4942602"/>
              <a:ext cx="1600498" cy="163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Nom de la ville/du village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513127" y="3946823"/>
              <a:ext cx="3582555" cy="177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>
                  <a:solidFill>
                    <a:schemeClr val="bg1"/>
                  </a:solidFill>
                </a:rPr>
                <a:t>Cartographie de référence des incidents d'urgence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FF00"/>
                </a:solidFill>
              </a:rPr>
              <a:t>Cartographie confidentielle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CE8F1CD-B3D9-4054-821E-750A2FE6CC95}"/>
              </a:ext>
            </a:extLst>
          </p:cNvPr>
          <p:cNvGrpSpPr/>
          <p:nvPr/>
        </p:nvGrpSpPr>
        <p:grpSpPr>
          <a:xfrm rot="10800000">
            <a:off x="974898" y="1637014"/>
            <a:ext cx="3744611" cy="682948"/>
            <a:chOff x="4791868" y="-869255"/>
            <a:chExt cx="3744611" cy="68294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EF61DC1-77F3-441C-B903-C36D1BF5BB78}"/>
                </a:ext>
              </a:extLst>
            </p:cNvPr>
            <p:cNvGrpSpPr/>
            <p:nvPr/>
          </p:nvGrpSpPr>
          <p:grpSpPr>
            <a:xfrm rot="10800000">
              <a:off x="4791868" y="-839793"/>
              <a:ext cx="3405088" cy="653486"/>
              <a:chOff x="-4150842" y="2874086"/>
              <a:chExt cx="3405088" cy="653486"/>
            </a:xfrm>
          </p:grpSpPr>
          <p:sp>
            <p:nvSpPr>
              <p:cNvPr id="44" name="Freeform 63">
                <a:extLst>
                  <a:ext uri="{FF2B5EF4-FFF2-40B4-BE49-F238E27FC236}">
                    <a16:creationId xmlns:a16="http://schemas.microsoft.com/office/drawing/2014/main" id="{3F661ABD-47C2-4CCF-9C7D-350A814F6AF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Oval 64">
                <a:extLst>
                  <a:ext uri="{FF2B5EF4-FFF2-40B4-BE49-F238E27FC236}">
                    <a16:creationId xmlns:a16="http://schemas.microsoft.com/office/drawing/2014/main" id="{48A17108-169D-405A-B34C-42DEF246F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46" name="Freeform 77">
                <a:extLst>
                  <a:ext uri="{FF2B5EF4-FFF2-40B4-BE49-F238E27FC236}">
                    <a16:creationId xmlns:a16="http://schemas.microsoft.com/office/drawing/2014/main" id="{11A1E3B7-EE40-4EAB-9B36-B7023C106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150842" y="3204845"/>
                <a:ext cx="738355" cy="322727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CA230D-21A0-4A6F-9BF9-4763170C923C}"/>
                </a:ext>
              </a:extLst>
            </p:cNvPr>
            <p:cNvSpPr txBox="1"/>
            <p:nvPr/>
          </p:nvSpPr>
          <p:spPr>
            <a:xfrm rot="10800000">
              <a:off x="7093584" y="-869255"/>
              <a:ext cx="1442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Bureau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752D94-EEA3-44A3-9F23-443BF1939195}"/>
              </a:ext>
            </a:extLst>
          </p:cNvPr>
          <p:cNvGrpSpPr/>
          <p:nvPr/>
        </p:nvGrpSpPr>
        <p:grpSpPr>
          <a:xfrm>
            <a:off x="2107703" y="2622169"/>
            <a:ext cx="2274350" cy="574092"/>
            <a:chOff x="1977075" y="3181829"/>
            <a:chExt cx="2274350" cy="57409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830F7F7-4096-4B97-9EB3-DED280880AE5}"/>
                </a:ext>
              </a:extLst>
            </p:cNvPr>
            <p:cNvGrpSpPr/>
            <p:nvPr/>
          </p:nvGrpSpPr>
          <p:grpSpPr>
            <a:xfrm>
              <a:off x="1977075" y="3250785"/>
              <a:ext cx="2186949" cy="505136"/>
              <a:chOff x="-2296337" y="2983573"/>
              <a:chExt cx="1466972" cy="505136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E6826F8-3B58-4158-9115-8CF7E31B7655}"/>
                  </a:ext>
                </a:extLst>
              </p:cNvPr>
              <p:cNvGrpSpPr/>
              <p:nvPr/>
            </p:nvGrpSpPr>
            <p:grpSpPr>
              <a:xfrm>
                <a:off x="-2240021" y="2983573"/>
                <a:ext cx="1410656" cy="505136"/>
                <a:chOff x="-2269557" y="2978949"/>
                <a:chExt cx="1410656" cy="505136"/>
              </a:xfrm>
            </p:grpSpPr>
            <p:sp>
              <p:nvSpPr>
                <p:cNvPr id="52" name="Freeform 63">
                  <a:extLst>
                    <a:ext uri="{FF2B5EF4-FFF2-40B4-BE49-F238E27FC236}">
                      <a16:creationId xmlns:a16="http://schemas.microsoft.com/office/drawing/2014/main" id="{2200E075-B0C4-45FA-B9C8-3248362E17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3" name="Freeform 77">
                  <a:extLst>
                    <a:ext uri="{FF2B5EF4-FFF2-40B4-BE49-F238E27FC236}">
                      <a16:creationId xmlns:a16="http://schemas.microsoft.com/office/drawing/2014/main" id="{D69CC5FE-E267-4FBC-829E-6A22516137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269557" y="3114753"/>
                  <a:ext cx="418657" cy="369332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8B116C-E131-4658-B1CB-2A2E80AAA153}"/>
                  </a:ext>
                </a:extLst>
              </p:cNvPr>
              <p:cNvSpPr txBox="1"/>
              <p:nvPr/>
            </p:nvSpPr>
            <p:spPr>
              <a:xfrm>
                <a:off x="-2296337" y="3119377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R.1</a:t>
                </a:r>
              </a:p>
            </p:txBody>
          </p:sp>
        </p:grpSp>
        <p:sp>
          <p:nvSpPr>
            <p:cNvPr id="49" name="Oval 64">
              <a:extLst>
                <a:ext uri="{FF2B5EF4-FFF2-40B4-BE49-F238E27FC236}">
                  <a16:creationId xmlns:a16="http://schemas.microsoft.com/office/drawing/2014/main" id="{FB9EC663-C94D-40CE-B5C9-EECC9E41D3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1796AFE1-E5E7-4E22-86BC-FABBD5E1F9B4}"/>
              </a:ext>
            </a:extLst>
          </p:cNvPr>
          <p:cNvSpPr/>
          <p:nvPr/>
        </p:nvSpPr>
        <p:spPr>
          <a:xfrm>
            <a:off x="6158131" y="6020224"/>
            <a:ext cx="6033869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R: </a:t>
            </a:r>
            <a:r>
              <a:rPr lang="fr-FR" sz="1400" dirty="0">
                <a:solidFill>
                  <a:schemeClr val="tx1"/>
                </a:solidFill>
              </a:rPr>
              <a:t>Résidences (voir le plan des résidences pour les noms des lieux)</a:t>
            </a:r>
          </a:p>
          <a:p>
            <a:pPr>
              <a:spcBef>
                <a:spcPts val="600"/>
              </a:spcBef>
            </a:pPr>
            <a:r>
              <a:rPr lang="fr-FR" sz="1400" dirty="0">
                <a:solidFill>
                  <a:schemeClr val="tx1"/>
                </a:solidFill>
              </a:rPr>
              <a:t>Bureau : Bureaux de l'organisation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E9F1B1B-0889-4D86-9744-925D0A0EF99A}"/>
              </a:ext>
            </a:extLst>
          </p:cNvPr>
          <p:cNvGrpSpPr/>
          <p:nvPr/>
        </p:nvGrpSpPr>
        <p:grpSpPr>
          <a:xfrm>
            <a:off x="1128302" y="3597766"/>
            <a:ext cx="2274350" cy="574092"/>
            <a:chOff x="1977075" y="3181829"/>
            <a:chExt cx="2274350" cy="57409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02A9583-DDB3-4A29-A0A3-92CD86E2C9BB}"/>
                </a:ext>
              </a:extLst>
            </p:cNvPr>
            <p:cNvGrpSpPr/>
            <p:nvPr/>
          </p:nvGrpSpPr>
          <p:grpSpPr>
            <a:xfrm>
              <a:off x="1977075" y="3250785"/>
              <a:ext cx="2186949" cy="505136"/>
              <a:chOff x="-2296337" y="2983573"/>
              <a:chExt cx="1466972" cy="505136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168F84BA-137A-47AD-B73C-6C92F89D1DD1}"/>
                  </a:ext>
                </a:extLst>
              </p:cNvPr>
              <p:cNvGrpSpPr/>
              <p:nvPr/>
            </p:nvGrpSpPr>
            <p:grpSpPr>
              <a:xfrm>
                <a:off x="-2240021" y="2983573"/>
                <a:ext cx="1410656" cy="505136"/>
                <a:chOff x="-2269557" y="2978949"/>
                <a:chExt cx="1410656" cy="505136"/>
              </a:xfrm>
            </p:grpSpPr>
            <p:sp>
              <p:nvSpPr>
                <p:cNvPr id="60" name="Freeform 63">
                  <a:extLst>
                    <a:ext uri="{FF2B5EF4-FFF2-40B4-BE49-F238E27FC236}">
                      <a16:creationId xmlns:a16="http://schemas.microsoft.com/office/drawing/2014/main" id="{864F4E07-39E4-401F-86E4-0D0010211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61" name="Freeform 77">
                  <a:extLst>
                    <a:ext uri="{FF2B5EF4-FFF2-40B4-BE49-F238E27FC236}">
                      <a16:creationId xmlns:a16="http://schemas.microsoft.com/office/drawing/2014/main" id="{37618202-C993-4AA5-BFFE-1877A67757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269557" y="3114753"/>
                  <a:ext cx="418657" cy="369332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9C46FF6-54AD-4376-8035-01CBFDA5704B}"/>
                  </a:ext>
                </a:extLst>
              </p:cNvPr>
              <p:cNvSpPr txBox="1"/>
              <p:nvPr/>
            </p:nvSpPr>
            <p:spPr>
              <a:xfrm>
                <a:off x="-2296337" y="3119377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R.2</a:t>
                </a:r>
              </a:p>
            </p:txBody>
          </p:sp>
        </p:grp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1502EB0E-305D-41EA-B379-8C8DC82F49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23971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f2466082-b6bf-4153-98c3-3c41e85fda18" xsi:nil="true"/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C6F567-5C22-4CA9-9A32-2AA7FFB5AD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C0E2D0-AF5B-4569-9070-0AB619951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735B31-EC3F-4A08-B65D-CCC8F6CDFA28}"/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1101</Words>
  <Application>Microsoft Office PowerPoint</Application>
  <PresentationFormat>Widescreen</PresentationFormat>
  <Paragraphs>155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Bebas Neue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Blyth</dc:creator>
  <cp:lastModifiedBy>Nicole Boone</cp:lastModifiedBy>
  <cp:revision>23</cp:revision>
  <dcterms:created xsi:type="dcterms:W3CDTF">2018-05-14T12:10:10Z</dcterms:created>
  <dcterms:modified xsi:type="dcterms:W3CDTF">2022-03-08T19:09:16Z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83600</vt:r8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