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7"/>
  </p:notesMasterIdLst>
  <p:sldIdLst>
    <p:sldId id="256" r:id="rId5"/>
    <p:sldId id="257" r:id="rId6"/>
    <p:sldId id="286" r:id="rId7"/>
    <p:sldId id="258" r:id="rId8"/>
    <p:sldId id="287" r:id="rId9"/>
    <p:sldId id="259" r:id="rId10"/>
    <p:sldId id="260" r:id="rId11"/>
    <p:sldId id="261" r:id="rId12"/>
    <p:sldId id="263" r:id="rId13"/>
    <p:sldId id="264" r:id="rId14"/>
    <p:sldId id="265" r:id="rId15"/>
    <p:sldId id="266" r:id="rId16"/>
    <p:sldId id="267" r:id="rId17"/>
    <p:sldId id="268" r:id="rId18"/>
    <p:sldId id="288" r:id="rId19"/>
    <p:sldId id="290" r:id="rId20"/>
    <p:sldId id="270" r:id="rId21"/>
    <p:sldId id="289" r:id="rId22"/>
    <p:sldId id="271" r:id="rId23"/>
    <p:sldId id="272" r:id="rId24"/>
    <p:sldId id="284" r:id="rId25"/>
    <p:sldId id="273" r:id="rId26"/>
    <p:sldId id="274" r:id="rId27"/>
    <p:sldId id="275" r:id="rId28"/>
    <p:sldId id="277" r:id="rId29"/>
    <p:sldId id="278" r:id="rId30"/>
    <p:sldId id="279" r:id="rId31"/>
    <p:sldId id="291" r:id="rId32"/>
    <p:sldId id="280" r:id="rId33"/>
    <p:sldId id="281" r:id="rId34"/>
    <p:sldId id="282" r:id="rId35"/>
    <p:sldId id="283"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70915B-DF2D-4EB4-BF30-DB72314725C9}" v="8" dt="2020-09-08T18:16:22.806"/>
    <p1510:client id="{939BDA6F-34BD-3845-40EC-18EF69F875C9}" v="1" dt="2023-08-30T16:10:09.0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057" autoAdjust="0"/>
  </p:normalViewPr>
  <p:slideViewPr>
    <p:cSldViewPr>
      <p:cViewPr varScale="1">
        <p:scale>
          <a:sx n="67" d="100"/>
          <a:sy n="67" d="100"/>
        </p:scale>
        <p:origin x="1906"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ra Cooper" userId="8ff297d0-d8d9-4a61-b271-a08faf8d5dbd" providerId="ADAL" clId="{7770915B-DF2D-4EB4-BF30-DB72314725C9}"/>
    <pc:docChg chg="modSld sldOrd">
      <pc:chgData name="Debra Cooper" userId="8ff297d0-d8d9-4a61-b271-a08faf8d5dbd" providerId="ADAL" clId="{7770915B-DF2D-4EB4-BF30-DB72314725C9}" dt="2020-09-08T18:16:22.806" v="8"/>
      <pc:docMkLst>
        <pc:docMk/>
      </pc:docMkLst>
      <pc:sldChg chg="addSp ord">
        <pc:chgData name="Debra Cooper" userId="8ff297d0-d8d9-4a61-b271-a08faf8d5dbd" providerId="ADAL" clId="{7770915B-DF2D-4EB4-BF30-DB72314725C9}" dt="2020-09-08T18:16:16.363" v="6"/>
        <pc:sldMkLst>
          <pc:docMk/>
          <pc:sldMk cId="2497409373" sldId="283"/>
        </pc:sldMkLst>
        <pc:graphicFrameChg chg="add">
          <ac:chgData name="Debra Cooper" userId="8ff297d0-d8d9-4a61-b271-a08faf8d5dbd" providerId="ADAL" clId="{7770915B-DF2D-4EB4-BF30-DB72314725C9}" dt="2020-09-08T18:16:00.605" v="4"/>
          <ac:graphicFrameMkLst>
            <pc:docMk/>
            <pc:sldMk cId="2497409373" sldId="283"/>
            <ac:graphicFrameMk id="5" creationId="{D03BCAE3-4019-4C05-B6E2-37259CEBDA4E}"/>
          </ac:graphicFrameMkLst>
        </pc:graphicFrameChg>
      </pc:sldChg>
      <pc:sldChg chg="ord">
        <pc:chgData name="Debra Cooper" userId="8ff297d0-d8d9-4a61-b271-a08faf8d5dbd" providerId="ADAL" clId="{7770915B-DF2D-4EB4-BF30-DB72314725C9}" dt="2020-09-08T18:16:22.806" v="8"/>
        <pc:sldMkLst>
          <pc:docMk/>
          <pc:sldMk cId="3566813917" sldId="284"/>
        </pc:sldMkLst>
      </pc:sldChg>
    </pc:docChg>
  </pc:docChgLst>
  <pc:docChgLst>
    <pc:chgData name="Sara Jebena" userId="S::sjebena@partners.net::6350a94c-984c-46af-a75b-dd47032abc2f" providerId="AD" clId="Web-{939BDA6F-34BD-3845-40EC-18EF69F875C9}"/>
    <pc:docChg chg="sldOrd">
      <pc:chgData name="Sara Jebena" userId="S::sjebena@partners.net::6350a94c-984c-46af-a75b-dd47032abc2f" providerId="AD" clId="Web-{939BDA6F-34BD-3845-40EC-18EF69F875C9}" dt="2023-08-30T16:10:09.090" v="0"/>
      <pc:docMkLst>
        <pc:docMk/>
      </pc:docMkLst>
      <pc:sldChg chg="ord">
        <pc:chgData name="Sara Jebena" userId="S::sjebena@partners.net::6350a94c-984c-46af-a75b-dd47032abc2f" providerId="AD" clId="Web-{939BDA6F-34BD-3845-40EC-18EF69F875C9}" dt="2023-08-30T16:10:09.090" v="0"/>
        <pc:sldMkLst>
          <pc:docMk/>
          <pc:sldMk cId="226560765"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82B6D5-6708-4269-9590-D207DD3FBD39}" type="datetimeFigureOut">
              <a:rPr lang="en-US" smtClean="0"/>
              <a:t>8/30/2023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35557F-2A13-4A05-B073-F8F343B7F3E3}" type="slidenum">
              <a:rPr lang="en-US" smtClean="0"/>
              <a:t>‹#›</a:t>
            </a:fld>
            <a:endParaRPr lang="en-US"/>
          </a:p>
        </p:txBody>
      </p:sp>
    </p:spTree>
    <p:extLst>
      <p:ext uri="{BB962C8B-B14F-4D97-AF65-F5344CB8AC3E}">
        <p14:creationId xmlns:p14="http://schemas.microsoft.com/office/powerpoint/2010/main" val="1023478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federalregister.gov/select-citation/2013/12/26/29-CFR-516"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1</a:t>
            </a:fld>
            <a:endParaRPr lang="en-US"/>
          </a:p>
        </p:txBody>
      </p:sp>
    </p:spTree>
    <p:extLst>
      <p:ext uri="{BB962C8B-B14F-4D97-AF65-F5344CB8AC3E}">
        <p14:creationId xmlns:p14="http://schemas.microsoft.com/office/powerpoint/2010/main" val="1381379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OMB stands for Office of Management and Budget. This</a:t>
            </a:r>
            <a:r>
              <a:rPr lang="en-US" baseline="0" dirty="0"/>
              <a:t> office publishes circulars. OMB Circular A-122 is the Cost Principles for Non-Profit Organizations.  It was codified in the Code of Regulations (CFR) and is now called 2 CFR 230.</a:t>
            </a:r>
          </a:p>
          <a:p>
            <a:r>
              <a:rPr lang="en-US" baseline="0" dirty="0"/>
              <a:t>The code specifically identifies categories of allowable and unallowable costs which we’ll see in subsequent slides.</a:t>
            </a:r>
          </a:p>
          <a:p>
            <a:r>
              <a:rPr lang="en-US" baseline="0" dirty="0"/>
              <a:t>The</a:t>
            </a:r>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2</a:t>
            </a:fld>
            <a:endParaRPr lang="en-US"/>
          </a:p>
        </p:txBody>
      </p:sp>
    </p:spTree>
    <p:extLst>
      <p:ext uri="{BB962C8B-B14F-4D97-AF65-F5344CB8AC3E}">
        <p14:creationId xmlns:p14="http://schemas.microsoft.com/office/powerpoint/2010/main" val="2101018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When does the uniform guidance become effective? </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The effective date is covered in section 200.110, Effective/applicability date. </a:t>
            </a:r>
          </a:p>
          <a:p>
            <a:r>
              <a:rPr lang="en-US" sz="1200" b="0" i="0" u="none" strike="noStrike" kern="1200" baseline="0" dirty="0">
                <a:solidFill>
                  <a:schemeClr val="tx1"/>
                </a:solidFill>
                <a:latin typeface="+mn-lt"/>
                <a:ea typeface="+mn-ea"/>
                <a:cs typeface="+mn-cs"/>
              </a:rPr>
              <a:t>• Federal agencies must implement the requirements to be effective by December 26, 2014. </a:t>
            </a:r>
          </a:p>
          <a:p>
            <a:r>
              <a:rPr lang="en-US" sz="1200" b="0" i="0" u="none" strike="noStrike" kern="1200" baseline="0" dirty="0">
                <a:solidFill>
                  <a:schemeClr val="tx1"/>
                </a:solidFill>
                <a:latin typeface="+mn-lt"/>
                <a:ea typeface="+mn-ea"/>
                <a:cs typeface="+mn-cs"/>
              </a:rPr>
              <a:t>• Subpart F, Audit requirements, will apply to audits of non-Federal entity fiscal years beginning on or after December 26, 2014. The revised audit requirements are not applicable to fiscal years beginning prior to that date. </a:t>
            </a:r>
          </a:p>
          <a:p>
            <a:r>
              <a:rPr lang="en-US" sz="1200" b="0" i="0" u="none" strike="noStrike" kern="1200" baseline="0" dirty="0">
                <a:solidFill>
                  <a:schemeClr val="tx1"/>
                </a:solidFill>
                <a:latin typeface="+mn-lt"/>
                <a:ea typeface="+mn-ea"/>
                <a:cs typeface="+mn-cs"/>
              </a:rPr>
              <a:t>• Administrative requirements and cost principles will apply to new awards and to additional funding (funding increments) to existing awards made after Dec 26, 2014. </a:t>
            </a:r>
          </a:p>
          <a:p>
            <a:r>
              <a:rPr lang="en-US" sz="1200" b="0" i="0" u="none" strike="noStrike" kern="1200" baseline="0" dirty="0">
                <a:solidFill>
                  <a:schemeClr val="tx1"/>
                </a:solidFill>
                <a:latin typeface="+mn-lt"/>
                <a:ea typeface="+mn-ea"/>
                <a:cs typeface="+mn-cs"/>
              </a:rPr>
              <a:t>• Existing Federal awards will continue to be governed by the terms and conditions of the Federal award.</a:t>
            </a:r>
          </a:p>
          <a:p>
            <a:endParaRPr lang="en-US" sz="1200" b="1"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Will this apply only to awards made after the effective date, or does it apply to awards made earlier? </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Once the uniform guidance goes into effect for non-Federal entities, it will apply to awards or funding increments after that date. It will not retroactively change the terms and conditions for funds a non-Federal entity has already received. </a:t>
            </a:r>
          </a:p>
          <a:p>
            <a:r>
              <a:rPr lang="en-US" sz="1200" b="0" i="0" u="none" strike="noStrike" kern="1200" baseline="0" dirty="0">
                <a:solidFill>
                  <a:schemeClr val="tx1"/>
                </a:solidFill>
                <a:latin typeface="+mn-lt"/>
                <a:ea typeface="+mn-ea"/>
                <a:cs typeface="+mn-cs"/>
              </a:rPr>
              <a:t>• We would anticipate that for many of the changes, non-Federal entities with both old and new awards may make changes to their entity-wide policies (for example to payroll or procurement systems). Practically speaking, these changes would impact their existing/older awards. Non-Federal entities wishing to implement entity-wide system changes to comply with the uniform guidance after the effective date of December 26, 2014 will not be penalized for doing so. </a:t>
            </a:r>
          </a:p>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3</a:t>
            </a:fld>
            <a:endParaRPr lang="en-US"/>
          </a:p>
        </p:txBody>
      </p:sp>
    </p:spTree>
    <p:extLst>
      <p:ext uri="{BB962C8B-B14F-4D97-AF65-F5344CB8AC3E}">
        <p14:creationId xmlns:p14="http://schemas.microsoft.com/office/powerpoint/2010/main" val="3518185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VA requires that non-profit grantees follow Circular A-122 as part of the agreement to receive VA funds.</a:t>
            </a:r>
          </a:p>
          <a:p>
            <a:r>
              <a:rPr lang="en-US" baseline="0" dirty="0"/>
              <a:t>Attachment A of the Circular contains the general principles.</a:t>
            </a:r>
          </a:p>
          <a:p>
            <a:r>
              <a:rPr lang="en-US" baseline="0" dirty="0"/>
              <a:t>Attachment B of the Circular contains the selected items of cost which we are going to see in subsequent slides of this presentation.</a:t>
            </a:r>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4</a:t>
            </a:fld>
            <a:endParaRPr lang="en-US"/>
          </a:p>
        </p:txBody>
      </p:sp>
    </p:spTree>
    <p:extLst>
      <p:ext uri="{BB962C8B-B14F-4D97-AF65-F5344CB8AC3E}">
        <p14:creationId xmlns:p14="http://schemas.microsoft.com/office/powerpoint/2010/main" val="3518185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VA requires that non-profit grantees follow Circular A-122 as part of the agreement to receive VA funds.</a:t>
            </a:r>
          </a:p>
          <a:p>
            <a:r>
              <a:rPr lang="en-US" baseline="0" dirty="0"/>
              <a:t>Attachment A of the Circular contains the general principles.</a:t>
            </a:r>
          </a:p>
          <a:p>
            <a:r>
              <a:rPr lang="en-US" baseline="0" dirty="0"/>
              <a:t>Attachment B of the Circular contains the selected items of cost which we are going to see in subsequent slides of this presentation.</a:t>
            </a:r>
          </a:p>
          <a:p>
            <a:r>
              <a:rPr lang="en-US" b="1" dirty="0"/>
              <a:t>§ 200.302 Financial management (Super Circular)</a:t>
            </a:r>
            <a:r>
              <a:rPr lang="en-US" b="1" baseline="0" dirty="0"/>
              <a:t> </a:t>
            </a:r>
            <a:endParaRPr lang="en-US" b="1" dirty="0"/>
          </a:p>
          <a:p>
            <a:r>
              <a:rPr lang="en-US" dirty="0"/>
              <a:t>(b) The financial management system of each non-Federal entity must provide for the following  </a:t>
            </a:r>
          </a:p>
          <a:p>
            <a:pPr marL="228600" indent="-228600">
              <a:buAutoNum type="arabicParenBoth"/>
            </a:pPr>
            <a:r>
              <a:rPr lang="en-US" dirty="0"/>
              <a:t>Identification, in its accounts, of all Federal awards received and expended and the Federal programs under which they were received  </a:t>
            </a:r>
          </a:p>
          <a:p>
            <a:pPr marL="0" indent="0">
              <a:buNone/>
            </a:pPr>
            <a:r>
              <a:rPr lang="en-US" dirty="0"/>
              <a:t>(3) Records that identify adequately the source and application of funds for federally-funded activities. These records must contain information pertaining to Federal awards, authorizations, obligations, unobligated balances, assets, expenditures, income and interest and be supported by source documentation.</a:t>
            </a:r>
          </a:p>
        </p:txBody>
      </p:sp>
      <p:sp>
        <p:nvSpPr>
          <p:cNvPr id="4" name="Slide Number Placeholder 3"/>
          <p:cNvSpPr>
            <a:spLocks noGrp="1"/>
          </p:cNvSpPr>
          <p:nvPr>
            <p:ph type="sldNum" sz="quarter" idx="10"/>
          </p:nvPr>
        </p:nvSpPr>
        <p:spPr/>
        <p:txBody>
          <a:bodyPr/>
          <a:lstStyle/>
          <a:p>
            <a:fld id="{0F35557F-2A13-4A05-B073-F8F343B7F3E3}" type="slidenum">
              <a:rPr lang="en-US" smtClean="0"/>
              <a:t>5</a:t>
            </a:fld>
            <a:endParaRPr lang="en-US"/>
          </a:p>
        </p:txBody>
      </p:sp>
    </p:spTree>
    <p:extLst>
      <p:ext uri="{BB962C8B-B14F-4D97-AF65-F5344CB8AC3E}">
        <p14:creationId xmlns:p14="http://schemas.microsoft.com/office/powerpoint/2010/main" val="3518185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Allowable cost must meet</a:t>
            </a:r>
            <a:r>
              <a:rPr lang="en-US" baseline="0" dirty="0"/>
              <a:t> ALL of these criteria</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Super circular reference :  § 200.403 Factors affecting </a:t>
            </a:r>
            <a:r>
              <a:rPr lang="en-US" sz="1200" b="1" i="0" u="none" strike="noStrike" kern="1200" baseline="0" dirty="0" err="1">
                <a:solidFill>
                  <a:schemeClr val="tx1"/>
                </a:solidFill>
                <a:latin typeface="+mn-lt"/>
                <a:ea typeface="+mn-ea"/>
                <a:cs typeface="+mn-cs"/>
              </a:rPr>
              <a:t>allowability</a:t>
            </a:r>
            <a:r>
              <a:rPr lang="en-US" sz="1200" b="1" i="0" u="none" strike="noStrike" kern="1200" baseline="0" dirty="0">
                <a:solidFill>
                  <a:schemeClr val="tx1"/>
                </a:solidFill>
                <a:latin typeface="+mn-lt"/>
                <a:ea typeface="+mn-ea"/>
                <a:cs typeface="+mn-cs"/>
              </a:rPr>
              <a:t> of costs.</a:t>
            </a:r>
            <a:endParaRPr lang="en-US" dirty="0"/>
          </a:p>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6</a:t>
            </a:fld>
            <a:endParaRPr lang="en-US"/>
          </a:p>
        </p:txBody>
      </p:sp>
    </p:spTree>
    <p:extLst>
      <p:ext uri="{BB962C8B-B14F-4D97-AF65-F5344CB8AC3E}">
        <p14:creationId xmlns:p14="http://schemas.microsoft.com/office/powerpoint/2010/main" val="1667510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7</a:t>
            </a:fld>
            <a:endParaRPr lang="en-US"/>
          </a:p>
        </p:txBody>
      </p:sp>
    </p:spTree>
    <p:extLst>
      <p:ext uri="{BB962C8B-B14F-4D97-AF65-F5344CB8AC3E}">
        <p14:creationId xmlns:p14="http://schemas.microsoft.com/office/powerpoint/2010/main" val="3590908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 200.425 Audit services.  </a:t>
            </a:r>
            <a:r>
              <a:rPr lang="en-US" sz="1200" b="0" i="0" u="none" strike="noStrike" kern="1200" baseline="0" dirty="0">
                <a:solidFill>
                  <a:schemeClr val="tx1"/>
                </a:solidFill>
                <a:latin typeface="+mn-lt"/>
                <a:ea typeface="+mn-ea"/>
                <a:cs typeface="+mn-cs"/>
              </a:rPr>
              <a:t>However, the following audit costs are unallowable:</a:t>
            </a:r>
          </a:p>
          <a:p>
            <a:pPr marL="228600" indent="-228600">
              <a:buAutoNum type="arabicParenBoth"/>
            </a:pPr>
            <a:r>
              <a:rPr lang="en-US" sz="1200" b="0" i="0" u="none" strike="noStrike" kern="1200" baseline="0" dirty="0">
                <a:solidFill>
                  <a:schemeClr val="tx1"/>
                </a:solidFill>
                <a:latin typeface="+mn-lt"/>
                <a:ea typeface="+mn-ea"/>
                <a:cs typeface="+mn-cs"/>
              </a:rPr>
              <a:t>Any costs when audits required by the Single Audit Act and Subpart F— Audit Requirements of this Part have not been conducted or have been conducted but not in accordance therewith; and </a:t>
            </a:r>
          </a:p>
          <a:p>
            <a:pPr marL="0" indent="0">
              <a:buNone/>
            </a:pP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(2) Any costs of auditing a non-Federal entity that is exempted from having an audit conducted under the Single Audit Act and Subpart F—Audit Requirements of this Part because its expenditures under Federal awards are</a:t>
            </a:r>
          </a:p>
          <a:p>
            <a:r>
              <a:rPr lang="en-US" sz="1200" b="0" i="0" u="none" strike="noStrike" kern="1200" baseline="0" dirty="0">
                <a:solidFill>
                  <a:schemeClr val="tx1"/>
                </a:solidFill>
                <a:latin typeface="+mn-lt"/>
                <a:ea typeface="+mn-ea"/>
                <a:cs typeface="+mn-cs"/>
              </a:rPr>
              <a:t>less than $750,000 during the non- Federal entity’s fiscal year.</a:t>
            </a:r>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12</a:t>
            </a:fld>
            <a:endParaRPr lang="en-US"/>
          </a:p>
        </p:txBody>
      </p:sp>
    </p:spTree>
    <p:extLst>
      <p:ext uri="{BB962C8B-B14F-4D97-AF65-F5344CB8AC3E}">
        <p14:creationId xmlns:p14="http://schemas.microsoft.com/office/powerpoint/2010/main" val="1124447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includes NSF fees, late fees, returned</a:t>
            </a:r>
            <a:r>
              <a:rPr lang="en-US" baseline="0" dirty="0"/>
              <a:t> check fees</a:t>
            </a:r>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13</a:t>
            </a:fld>
            <a:endParaRPr lang="en-US"/>
          </a:p>
        </p:txBody>
      </p:sp>
    </p:spTree>
    <p:extLst>
      <p:ext uri="{BB962C8B-B14F-4D97-AF65-F5344CB8AC3E}">
        <p14:creationId xmlns:p14="http://schemas.microsoft.com/office/powerpoint/2010/main" val="569587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200.430 Compensation—personal services. </a:t>
            </a:r>
            <a:r>
              <a:rPr lang="en-US" dirty="0"/>
              <a:t>Costs of compensation are allowable to the extent that they satisfy the specific requirements of this Part, and that the total compensation for individual employees:</a:t>
            </a:r>
          </a:p>
          <a:p>
            <a:pPr marL="228600" indent="-228600">
              <a:buAutoNum type="arabicParenBoth"/>
            </a:pPr>
            <a:r>
              <a:rPr lang="en-US" dirty="0"/>
              <a:t>Is reasonable for the services rendered </a:t>
            </a:r>
          </a:p>
          <a:p>
            <a:pPr marL="0" indent="0">
              <a:buNone/>
            </a:pPr>
            <a:r>
              <a:rPr lang="en-US" dirty="0"/>
              <a:t>(2) Follows an appointment made in accordance with a non-Federal entity's laws and/or rules or written policies</a:t>
            </a:r>
          </a:p>
          <a:p>
            <a:pPr marL="0" indent="0">
              <a:buNone/>
            </a:pPr>
            <a:r>
              <a:rPr lang="en-US" dirty="0"/>
              <a:t>(3) Is determined and supported as provided in paragraph (i) of this section, Standards for Documentation of Personnel Expenses, when applicable.</a:t>
            </a:r>
          </a:p>
          <a:p>
            <a:pPr marL="0" indent="0">
              <a:buNone/>
            </a:pPr>
            <a:endParaRPr lang="en-US" dirty="0"/>
          </a:p>
          <a:p>
            <a:pPr marL="285750" indent="-285750">
              <a:buAutoNum type="romanLcParenBoth"/>
            </a:pPr>
            <a:r>
              <a:rPr lang="en-US" dirty="0"/>
              <a:t>Standards for Documentation of Personnel Expenses </a:t>
            </a:r>
          </a:p>
          <a:p>
            <a:pPr marL="228600" indent="-228600">
              <a:buAutoNum type="arabicParenBoth"/>
            </a:pPr>
            <a:r>
              <a:rPr lang="en-US" dirty="0"/>
              <a:t>Charges to Federal awards for salaries and wages must be based on records that accurately reflect the work performed. These records must:</a:t>
            </a:r>
          </a:p>
          <a:p>
            <a:pPr marL="285750" indent="-285750">
              <a:buAutoNum type="romanLcParenBoth"/>
            </a:pPr>
            <a:r>
              <a:rPr lang="en-US" dirty="0"/>
              <a:t>Be supported by a system of internal control which provides reasonable assurance that the charges are accurate, allowable, and properly allocated;</a:t>
            </a:r>
          </a:p>
          <a:p>
            <a:pPr marL="0" indent="0">
              <a:buNone/>
            </a:pPr>
            <a:r>
              <a:rPr lang="en-US" dirty="0"/>
              <a:t>(ii) Be incorporated into the official records of the non-Federal entity;</a:t>
            </a:r>
          </a:p>
          <a:p>
            <a:pPr marL="0" indent="0">
              <a:buNone/>
            </a:pPr>
            <a:r>
              <a:rPr lang="en-US" dirty="0"/>
              <a:t>(iii) Reasonably reflect the total activity for which the employee is compensated by the non-Federal entity, not exceeding 100% of compensated activities </a:t>
            </a:r>
          </a:p>
          <a:p>
            <a:pPr marL="0" indent="0">
              <a:buNone/>
            </a:pPr>
            <a:r>
              <a:rPr lang="en-US" dirty="0"/>
              <a:t>(iv) Encompass both federally assisted and all other activities compensated by the non-Federal entity on an integrated basis, but may include the use of subsidiary records as defined in the non-Federal entity's written policy;</a:t>
            </a:r>
          </a:p>
          <a:p>
            <a:pPr marL="0" indent="0">
              <a:buNone/>
            </a:pPr>
            <a:r>
              <a:rPr lang="en-US" dirty="0"/>
              <a:t>(v) Comply with the established accounting policies and practices of the non-Federal entity </a:t>
            </a:r>
          </a:p>
          <a:p>
            <a:pPr marL="0" indent="0">
              <a:buNone/>
            </a:pPr>
            <a:r>
              <a:rPr lang="en-US" dirty="0"/>
              <a:t>(vii) Support the distribution of the employee's salary or wages among specific activities or cost objectives if the employee works on more than one Federal award; a Federal award and non-Federal award; an indirect cost activity and a direct cost activity; two or more indirect activities which are allocated using different allocation bases; or an unallowable activity and a direct or indirect cost activity.</a:t>
            </a:r>
          </a:p>
          <a:p>
            <a:pPr marL="0" indent="0">
              <a:buNone/>
            </a:pPr>
            <a:r>
              <a:rPr lang="en-US" dirty="0"/>
              <a:t>viii) Budget estimates (i.e., estimates determined before the services are performed) alone do not qualify as support for charges to Federal awards</a:t>
            </a:r>
          </a:p>
          <a:p>
            <a:pPr marL="0" indent="0">
              <a:buNone/>
            </a:pPr>
            <a:endParaRPr lang="en-US" dirty="0"/>
          </a:p>
          <a:p>
            <a:pPr marL="0" indent="0">
              <a:buNone/>
            </a:pPr>
            <a:r>
              <a:rPr lang="en-US" dirty="0"/>
              <a:t>(2) For records which meet the standards required in paragraph (i)(1) of this section, the non-Federal entity will not be required to provide additional support or documentation for the work performed, other than that referenced in paragraph (i)(3) of this section.</a:t>
            </a:r>
          </a:p>
          <a:p>
            <a:pPr marL="0" indent="0">
              <a:buNone/>
            </a:pPr>
            <a:endParaRPr lang="en-US" dirty="0"/>
          </a:p>
          <a:p>
            <a:pPr marL="0" indent="0">
              <a:buNone/>
            </a:pPr>
            <a:r>
              <a:rPr lang="en-US" dirty="0"/>
              <a:t>(3) In accordance with Department of Labor regulations implementing the Fair Labor Standards Act (FLSA) (</a:t>
            </a:r>
            <a:r>
              <a:rPr lang="en-US" dirty="0">
                <a:hlinkClick r:id="rId3" action="ppaction://hlinkfile"/>
              </a:rPr>
              <a:t>29 CFR Part 516</a:t>
            </a:r>
            <a:r>
              <a:rPr lang="en-US" dirty="0"/>
              <a:t>), charges for the salaries and wages of nonexempt employees, in addition to the supporting documentation described in this section, must also be supported by records indicating the total number of hours worked each day. </a:t>
            </a:r>
          </a:p>
        </p:txBody>
      </p:sp>
      <p:sp>
        <p:nvSpPr>
          <p:cNvPr id="4" name="Slide Number Placeholder 3"/>
          <p:cNvSpPr>
            <a:spLocks noGrp="1"/>
          </p:cNvSpPr>
          <p:nvPr>
            <p:ph type="sldNum" sz="quarter" idx="10"/>
          </p:nvPr>
        </p:nvSpPr>
        <p:spPr/>
        <p:txBody>
          <a:bodyPr/>
          <a:lstStyle/>
          <a:p>
            <a:fld id="{0F35557F-2A13-4A05-B073-F8F343B7F3E3}" type="slidenum">
              <a:rPr lang="en-US" smtClean="0"/>
              <a:t>14</a:t>
            </a:fld>
            <a:endParaRPr lang="en-US"/>
          </a:p>
        </p:txBody>
      </p:sp>
    </p:spTree>
    <p:extLst>
      <p:ext uri="{BB962C8B-B14F-4D97-AF65-F5344CB8AC3E}">
        <p14:creationId xmlns:p14="http://schemas.microsoft.com/office/powerpoint/2010/main" val="2803255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200.436 Depreciation.</a:t>
            </a:r>
          </a:p>
          <a:p>
            <a:endParaRPr lang="en-US" b="1" dirty="0"/>
          </a:p>
          <a:p>
            <a:r>
              <a:rPr lang="en-US" dirty="0"/>
              <a:t>(c) Depreciation is computed applying the following rules. The computation of depreciation must be based on the acquisition cost of the assets involved. </a:t>
            </a:r>
            <a:r>
              <a:rPr lang="en-US" b="1" u="sng" dirty="0"/>
              <a:t>For an asset donated to the non-Federal entity by a third party, its fair market value at the time of the donation must be considered as the acquisition cost. Such assets may be depreciated or claimed as matching but not both.</a:t>
            </a:r>
          </a:p>
          <a:p>
            <a:endParaRPr lang="en-US" b="1" dirty="0"/>
          </a:p>
          <a:p>
            <a:r>
              <a:rPr lang="en-US" dirty="0"/>
              <a:t>(e) Charges for depreciation must be supported by adequate property records, and physical inventories must be taken at least once every two years to ensure that the assets exist and are usable, used, and needed. Statistical sampling techniques may be used in taking these inventories. In addition, adequate depreciation records showing the amount of depreciation taken each period must also be maintained.</a:t>
            </a:r>
          </a:p>
        </p:txBody>
      </p:sp>
      <p:sp>
        <p:nvSpPr>
          <p:cNvPr id="4" name="Slide Number Placeholder 3"/>
          <p:cNvSpPr>
            <a:spLocks noGrp="1"/>
          </p:cNvSpPr>
          <p:nvPr>
            <p:ph type="sldNum" sz="quarter" idx="10"/>
          </p:nvPr>
        </p:nvSpPr>
        <p:spPr/>
        <p:txBody>
          <a:bodyPr/>
          <a:lstStyle/>
          <a:p>
            <a:fld id="{0F35557F-2A13-4A05-B073-F8F343B7F3E3}" type="slidenum">
              <a:rPr lang="en-US" smtClean="0"/>
              <a:t>16</a:t>
            </a:fld>
            <a:endParaRPr lang="en-US"/>
          </a:p>
        </p:txBody>
      </p:sp>
    </p:spTree>
    <p:extLst>
      <p:ext uri="{BB962C8B-B14F-4D97-AF65-F5344CB8AC3E}">
        <p14:creationId xmlns:p14="http://schemas.microsoft.com/office/powerpoint/2010/main" val="1359210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200.434 Contributions and donations. </a:t>
            </a:r>
          </a:p>
          <a:p>
            <a:endParaRPr lang="en-US" b="1"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solidFill>
                  <a:srgbClr val="002060"/>
                </a:solidFill>
                <a:latin typeface="Calibri" panose="020F0502020204030204" pitchFamily="34" charset="0"/>
                <a:cs typeface="Calibri" panose="020F0502020204030204" pitchFamily="34" charset="0"/>
              </a:rPr>
              <a:t>Contributions or donations </a:t>
            </a:r>
            <a:r>
              <a:rPr lang="en-US" altLang="en-US" u="sng" dirty="0">
                <a:solidFill>
                  <a:srgbClr val="002060"/>
                </a:solidFill>
                <a:latin typeface="Calibri" panose="020F0502020204030204" pitchFamily="34" charset="0"/>
                <a:cs typeface="Calibri" panose="020F0502020204030204" pitchFamily="34" charset="0"/>
              </a:rPr>
              <a:t>paid with grant funds or resources</a:t>
            </a:r>
            <a:r>
              <a:rPr lang="en-US" altLang="en-US" dirty="0">
                <a:solidFill>
                  <a:srgbClr val="002060"/>
                </a:solidFill>
                <a:latin typeface="Calibri" panose="020F0502020204030204" pitchFamily="34" charset="0"/>
                <a:cs typeface="Calibri" panose="020F0502020204030204" pitchFamily="34" charset="0"/>
              </a:rPr>
              <a:t>, including cash, property, and services, made by the organization, regardless of the recipient, are </a:t>
            </a:r>
            <a:r>
              <a:rPr lang="en-US" altLang="en-US" b="1" dirty="0">
                <a:solidFill>
                  <a:srgbClr val="002060"/>
                </a:solidFill>
                <a:latin typeface="Calibri" panose="020F0502020204030204" pitchFamily="34" charset="0"/>
                <a:cs typeface="Calibri" panose="020F0502020204030204" pitchFamily="34" charset="0"/>
              </a:rPr>
              <a:t>unallowable</a:t>
            </a:r>
            <a:r>
              <a:rPr lang="en-US" altLang="en-US" dirty="0">
                <a:solidFill>
                  <a:srgbClr val="002060"/>
                </a:solidFill>
                <a:latin typeface="Calibri" panose="020F0502020204030204" pitchFamily="34" charset="0"/>
                <a:cs typeface="Calibri" panose="020F0502020204030204" pitchFamily="34" charset="0"/>
              </a:rPr>
              <a:t>.</a:t>
            </a:r>
            <a:endParaRPr lang="en-US" dirty="0">
              <a:solidFill>
                <a:srgbClr val="002060"/>
              </a:solidFill>
              <a:latin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15</a:t>
            </a:fld>
            <a:endParaRPr lang="en-US"/>
          </a:p>
        </p:txBody>
      </p:sp>
    </p:spTree>
    <p:extLst>
      <p:ext uri="{BB962C8B-B14F-4D97-AF65-F5344CB8AC3E}">
        <p14:creationId xmlns:p14="http://schemas.microsoft.com/office/powerpoint/2010/main" val="4246549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17</a:t>
            </a:fld>
            <a:endParaRPr lang="en-US"/>
          </a:p>
        </p:txBody>
      </p:sp>
    </p:spTree>
    <p:extLst>
      <p:ext uri="{BB962C8B-B14F-4D97-AF65-F5344CB8AC3E}">
        <p14:creationId xmlns:p14="http://schemas.microsoft.com/office/powerpoint/2010/main" val="524217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Expenses incurred</a:t>
            </a:r>
            <a:r>
              <a:rPr lang="en-US" baseline="0" dirty="0"/>
              <a:t> for therapy and treatment must be detailed in the grant application, approved by the GPD Program Office, and documented as to cost and allocation to each veteran in the appropriate case file. The therapy and treatment must be documented in the Veteran’s case file as part of the treatment plan approved by the licensed clinician or licensed case worker.</a:t>
            </a:r>
          </a:p>
          <a:p>
            <a:endParaRPr lang="en-US" baseline="0" dirty="0"/>
          </a:p>
          <a:p>
            <a:r>
              <a:rPr lang="en-US" baseline="0" dirty="0"/>
              <a:t>Additional requirements related to costs incurred for treatment and therapy will also adhere to these expenses.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18</a:t>
            </a:fld>
            <a:endParaRPr lang="en-US"/>
          </a:p>
        </p:txBody>
      </p:sp>
    </p:spTree>
    <p:extLst>
      <p:ext uri="{BB962C8B-B14F-4D97-AF65-F5344CB8AC3E}">
        <p14:creationId xmlns:p14="http://schemas.microsoft.com/office/powerpoint/2010/main" val="797064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200.442 Fund raising and investment management costs. </a:t>
            </a:r>
          </a:p>
          <a:p>
            <a:r>
              <a:rPr lang="en-US" dirty="0"/>
              <a:t>Fund raising costs for the purposes of meeting the Federal program objectives are allowable with prior written approval from the Federal awarding agency. Proposal costs are covered in § 200.460 Proposal costs. </a:t>
            </a:r>
          </a:p>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20</a:t>
            </a:fld>
            <a:endParaRPr lang="en-US"/>
          </a:p>
        </p:txBody>
      </p:sp>
    </p:spTree>
    <p:extLst>
      <p:ext uri="{BB962C8B-B14F-4D97-AF65-F5344CB8AC3E}">
        <p14:creationId xmlns:p14="http://schemas.microsoft.com/office/powerpoint/2010/main" val="848861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Gift cards and gift certificates are considered cash according</a:t>
            </a:r>
            <a:r>
              <a:rPr lang="en-US" baseline="0" dirty="0"/>
              <a:t> to the IRS.  These items are generally redeemable for general merchandise or have a cash equivalent value.  Cash is a disallowed cost therefore Gift Cards are a disallowed cost.</a:t>
            </a:r>
          </a:p>
          <a:p>
            <a:endParaRPr lang="en-US" baseline="0"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21</a:t>
            </a:fld>
            <a:endParaRPr lang="en-US"/>
          </a:p>
        </p:txBody>
      </p:sp>
    </p:spTree>
    <p:extLst>
      <p:ext uri="{BB962C8B-B14F-4D97-AF65-F5344CB8AC3E}">
        <p14:creationId xmlns:p14="http://schemas.microsoft.com/office/powerpoint/2010/main" val="3928846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a:t>
            </a:r>
            <a:r>
              <a:rPr lang="en-US" baseline="0" dirty="0"/>
              <a:t> cost should be adequately documented. </a:t>
            </a:r>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25</a:t>
            </a:fld>
            <a:endParaRPr lang="en-US"/>
          </a:p>
        </p:txBody>
      </p:sp>
    </p:spTree>
    <p:extLst>
      <p:ext uri="{BB962C8B-B14F-4D97-AF65-F5344CB8AC3E}">
        <p14:creationId xmlns:p14="http://schemas.microsoft.com/office/powerpoint/2010/main" val="2820489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 tokens</a:t>
            </a:r>
            <a:r>
              <a:rPr lang="en-US" baseline="0" dirty="0"/>
              <a:t> should be tracked by keeping a log of who receives them, date received and signature of person receiving them.  Supplies tied to service / treatment plan should </a:t>
            </a:r>
            <a:r>
              <a:rPr lang="en-US" baseline="0"/>
              <a:t>be documented in the case notes. </a:t>
            </a:r>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28</a:t>
            </a:fld>
            <a:endParaRPr lang="en-US"/>
          </a:p>
        </p:txBody>
      </p:sp>
    </p:spTree>
    <p:extLst>
      <p:ext uri="{BB962C8B-B14F-4D97-AF65-F5344CB8AC3E}">
        <p14:creationId xmlns:p14="http://schemas.microsoft.com/office/powerpoint/2010/main" val="842679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 200.474 Travel costs.</a:t>
            </a:r>
            <a:endParaRPr lang="en-US" dirty="0"/>
          </a:p>
          <a:p>
            <a:endParaRPr lang="en-US" dirty="0"/>
          </a:p>
          <a:p>
            <a:r>
              <a:rPr lang="en-US" dirty="0"/>
              <a:t>must be considered reasonable and otherwise allowable only to the extent such costs do not exceed charges normally allowed by the non-Federal entity in its regular operations as the result of the non-Federal entity's written travel policy. In addition, if these costs are charged directly to the Federal award documentation must justify that:</a:t>
            </a:r>
          </a:p>
          <a:p>
            <a:r>
              <a:rPr lang="en-US" dirty="0"/>
              <a:t>(1) Participation of the individual is necessary to the Federal award; and</a:t>
            </a:r>
          </a:p>
          <a:p>
            <a:r>
              <a:rPr lang="en-US" dirty="0"/>
              <a:t>(2) The costs are reasonable and consistent with non-Federal entity's established travel policy.</a:t>
            </a:r>
          </a:p>
          <a:p>
            <a:endParaRPr lang="en-US" dirty="0"/>
          </a:p>
        </p:txBody>
      </p:sp>
      <p:sp>
        <p:nvSpPr>
          <p:cNvPr id="4" name="Slide Number Placeholder 3"/>
          <p:cNvSpPr>
            <a:spLocks noGrp="1"/>
          </p:cNvSpPr>
          <p:nvPr>
            <p:ph type="sldNum" sz="quarter" idx="10"/>
          </p:nvPr>
        </p:nvSpPr>
        <p:spPr/>
        <p:txBody>
          <a:bodyPr/>
          <a:lstStyle/>
          <a:p>
            <a:fld id="{0F35557F-2A13-4A05-B073-F8F343B7F3E3}" type="slidenum">
              <a:rPr lang="en-US" smtClean="0"/>
              <a:t>31</a:t>
            </a:fld>
            <a:endParaRPr lang="en-US"/>
          </a:p>
        </p:txBody>
      </p:sp>
    </p:spTree>
    <p:extLst>
      <p:ext uri="{BB962C8B-B14F-4D97-AF65-F5344CB8AC3E}">
        <p14:creationId xmlns:p14="http://schemas.microsoft.com/office/powerpoint/2010/main" val="843819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38CB673-C617-45BB-8CAB-B5A90D14DA0E}" type="datetimeFigureOut">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1022469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8CB673-C617-45BB-8CAB-B5A90D14DA0E}" type="datetimeFigureOut">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3714094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8CB673-C617-45BB-8CAB-B5A90D14DA0E}" type="datetimeFigureOut">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399496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8CB673-C617-45BB-8CAB-B5A90D14DA0E}" type="datetimeFigureOut">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2570566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8CB673-C617-45BB-8CAB-B5A90D14DA0E}" type="datetimeFigureOut">
              <a:rPr lang="en-US" smtClean="0"/>
              <a:t>8/30/2023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1938936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8CB673-C617-45BB-8CAB-B5A90D14DA0E}" type="datetimeFigureOut">
              <a:rPr lang="en-US" smtClean="0"/>
              <a:t>8/30/2023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121552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8CB673-C617-45BB-8CAB-B5A90D14DA0E}" type="datetimeFigureOut">
              <a:rPr lang="en-US" smtClean="0"/>
              <a:t>8/30/2023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208376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8CB673-C617-45BB-8CAB-B5A90D14DA0E}" type="datetimeFigureOut">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3651000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8CB673-C617-45BB-8CAB-B5A90D14DA0E}" type="datetimeFigureOut">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3229542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8CB673-C617-45BB-8CAB-B5A90D14DA0E}" type="datetimeFigureOut">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999365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8CB673-C617-45BB-8CAB-B5A90D14DA0E}" type="datetimeFigureOut">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7DF84-93D5-4599-AF4D-3DF2B6061E0C}" type="slidenum">
              <a:rPr lang="en-US" smtClean="0"/>
              <a:t>‹#›</a:t>
            </a:fld>
            <a:endParaRPr lang="en-US"/>
          </a:p>
        </p:txBody>
      </p:sp>
    </p:spTree>
    <p:extLst>
      <p:ext uri="{BB962C8B-B14F-4D97-AF65-F5344CB8AC3E}">
        <p14:creationId xmlns:p14="http://schemas.microsoft.com/office/powerpoint/2010/main" val="43756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CB673-C617-45BB-8CAB-B5A90D14DA0E}" type="datetimeFigureOut">
              <a:rPr lang="en-US" smtClean="0"/>
              <a:t>8/30/2023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F7DF84-93D5-4599-AF4D-3DF2B6061E0C}" type="slidenum">
              <a:rPr lang="en-US" smtClean="0"/>
              <a:t>‹#›</a:t>
            </a:fld>
            <a:endParaRPr lang="en-US"/>
          </a:p>
        </p:txBody>
      </p:sp>
    </p:spTree>
    <p:extLst>
      <p:ext uri="{BB962C8B-B14F-4D97-AF65-F5344CB8AC3E}">
        <p14:creationId xmlns:p14="http://schemas.microsoft.com/office/powerpoint/2010/main" val="20554595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gpo.gov/fdsys/pkg/FR-2013-12-26/pdf/2013-30465.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146175"/>
          </a:xfrm>
        </p:spPr>
        <p:txBody>
          <a:bodyPr/>
          <a:lstStyle/>
          <a:p>
            <a:r>
              <a:rPr lang="en-US" dirty="0">
                <a:solidFill>
                  <a:srgbClr val="002060"/>
                </a:solidFill>
              </a:rPr>
              <a:t>Allowable and Unallowable Costs</a:t>
            </a:r>
          </a:p>
        </p:txBody>
      </p:sp>
      <p:sp>
        <p:nvSpPr>
          <p:cNvPr id="3" name="Subtitle 2"/>
          <p:cNvSpPr>
            <a:spLocks noGrp="1"/>
          </p:cNvSpPr>
          <p:nvPr>
            <p:ph type="subTitle" idx="1"/>
          </p:nvPr>
        </p:nvSpPr>
        <p:spPr>
          <a:xfrm>
            <a:off x="1371600" y="3429000"/>
            <a:ext cx="6400800" cy="1371600"/>
          </a:xfrm>
        </p:spPr>
        <p:txBody>
          <a:bodyPr>
            <a:normAutofit fontScale="92500" lnSpcReduction="20000"/>
          </a:bodyPr>
          <a:lstStyle/>
          <a:p>
            <a:r>
              <a:rPr lang="en-US" dirty="0">
                <a:solidFill>
                  <a:srgbClr val="002060"/>
                </a:solidFill>
              </a:rPr>
              <a:t>2 CFR Part 230</a:t>
            </a:r>
          </a:p>
          <a:p>
            <a:r>
              <a:rPr lang="en-US" dirty="0">
                <a:solidFill>
                  <a:srgbClr val="002060"/>
                </a:solidFill>
              </a:rPr>
              <a:t>Appendix A – General Principles </a:t>
            </a:r>
            <a:br>
              <a:rPr lang="en-US" dirty="0">
                <a:solidFill>
                  <a:srgbClr val="002060"/>
                </a:solidFill>
              </a:rPr>
            </a:br>
            <a:r>
              <a:rPr lang="en-US" dirty="0">
                <a:solidFill>
                  <a:srgbClr val="002060"/>
                </a:solidFill>
              </a:rPr>
              <a:t>Appendix B – Selected Items of Cost</a:t>
            </a:r>
          </a:p>
          <a:p>
            <a:endParaRPr lang="en-US" dirty="0">
              <a:solidFill>
                <a:srgbClr val="002060"/>
              </a:solidFill>
            </a:endParaRPr>
          </a:p>
        </p:txBody>
      </p:sp>
      <p:sp>
        <p:nvSpPr>
          <p:cNvPr id="6" name="TextBox 5"/>
          <p:cNvSpPr txBox="1"/>
          <p:nvPr/>
        </p:nvSpPr>
        <p:spPr>
          <a:xfrm>
            <a:off x="5715000" y="5638800"/>
            <a:ext cx="2981325"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232601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dirty="0">
                <a:solidFill>
                  <a:schemeClr val="bg1"/>
                </a:solidFill>
              </a:rPr>
              <a:t>Topics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dirty="0">
                <a:solidFill>
                  <a:srgbClr val="002060"/>
                </a:solidFill>
              </a:rPr>
              <a:t>“Super Circular” Information</a:t>
            </a:r>
          </a:p>
          <a:p>
            <a:pPr marL="0" indent="0">
              <a:buNone/>
            </a:pPr>
            <a:endParaRPr lang="en-US" dirty="0">
              <a:solidFill>
                <a:srgbClr val="002060"/>
              </a:solidFill>
            </a:endParaRPr>
          </a:p>
          <a:p>
            <a:r>
              <a:rPr lang="en-US" dirty="0">
                <a:solidFill>
                  <a:srgbClr val="002060"/>
                </a:solidFill>
              </a:rPr>
              <a:t>Introduction to OMB Circular A-122 (2 CFR 230)</a:t>
            </a:r>
          </a:p>
          <a:p>
            <a:endParaRPr lang="en-US" dirty="0">
              <a:solidFill>
                <a:srgbClr val="002060"/>
              </a:solidFill>
            </a:endParaRPr>
          </a:p>
          <a:p>
            <a:r>
              <a:rPr lang="en-US" dirty="0">
                <a:solidFill>
                  <a:srgbClr val="002060"/>
                </a:solidFill>
              </a:rPr>
              <a:t>Categories of Allowable Costs</a:t>
            </a:r>
          </a:p>
          <a:p>
            <a:pPr marL="0" indent="0">
              <a:buNone/>
            </a:pPr>
            <a:endParaRPr lang="en-US" dirty="0">
              <a:solidFill>
                <a:srgbClr val="002060"/>
              </a:solidFill>
            </a:endParaRPr>
          </a:p>
          <a:p>
            <a:r>
              <a:rPr lang="en-US" dirty="0">
                <a:solidFill>
                  <a:srgbClr val="002060"/>
                </a:solidFill>
              </a:rPr>
              <a:t>Categories of Unallowable Costs</a:t>
            </a:r>
          </a:p>
        </p:txBody>
      </p:sp>
    </p:spTree>
    <p:extLst>
      <p:ext uri="{BB962C8B-B14F-4D97-AF65-F5344CB8AC3E}">
        <p14:creationId xmlns:p14="http://schemas.microsoft.com/office/powerpoint/2010/main" val="2261059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dirty="0"/>
              <a:t>Super Circular</a:t>
            </a:r>
            <a:br>
              <a:rPr lang="en-US" dirty="0"/>
            </a:br>
            <a:r>
              <a:rPr lang="en-US" sz="2200" dirty="0"/>
              <a:t>2 CFR Chapter I, and Chapter II, Parts 200,215,220, and 230</a:t>
            </a:r>
            <a:endParaRPr lang="en-US" sz="2200" dirty="0">
              <a:solidFill>
                <a:schemeClr val="bg1"/>
              </a:solidFill>
            </a:endParaRP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fontScale="55000" lnSpcReduction="20000"/>
          </a:bodyPr>
          <a:lstStyle/>
          <a:p>
            <a:pPr marL="0" indent="0">
              <a:buNone/>
            </a:pPr>
            <a:r>
              <a:rPr lang="en-US" dirty="0">
                <a:solidFill>
                  <a:srgbClr val="002060"/>
                </a:solidFill>
                <a:effectLst/>
              </a:rPr>
              <a:t>The Office and Management and Budget (OMB) has produced its long-awaited “super circular” and has published the final notice on December 26, 2013 in the Federal </a:t>
            </a:r>
            <a:r>
              <a:rPr lang="en-US" dirty="0">
                <a:solidFill>
                  <a:srgbClr val="002060"/>
                </a:solidFill>
              </a:rPr>
              <a:t>Register. </a:t>
            </a:r>
          </a:p>
          <a:p>
            <a:pPr marL="0" indent="0">
              <a:buNone/>
            </a:pPr>
            <a:endParaRPr lang="en-US" dirty="0">
              <a:solidFill>
                <a:srgbClr val="002060"/>
              </a:solidFill>
            </a:endParaRPr>
          </a:p>
          <a:p>
            <a:pPr marL="0" indent="0">
              <a:buNone/>
            </a:pPr>
            <a:r>
              <a:rPr lang="en-US" dirty="0">
                <a:solidFill>
                  <a:srgbClr val="002060"/>
                </a:solidFill>
                <a:hlinkClick r:id="rId3"/>
              </a:rPr>
              <a:t>http://www.gpo.gov/fdsys/pkg/FR-2013-12-26/pdf/2013-30465.pdf</a:t>
            </a:r>
            <a:endParaRPr lang="en-US" dirty="0">
              <a:solidFill>
                <a:srgbClr val="002060"/>
              </a:solidFill>
            </a:endParaRPr>
          </a:p>
          <a:p>
            <a:pPr marL="0" indent="0">
              <a:buNone/>
            </a:pPr>
            <a:endParaRPr lang="en-US" dirty="0">
              <a:solidFill>
                <a:srgbClr val="002060"/>
              </a:solidFill>
              <a:effectLst/>
            </a:endParaRPr>
          </a:p>
          <a:p>
            <a:pPr marL="0" indent="0">
              <a:buNone/>
            </a:pPr>
            <a:r>
              <a:rPr lang="en-US" dirty="0">
                <a:solidFill>
                  <a:srgbClr val="002060"/>
                </a:solidFill>
              </a:rPr>
              <a:t>This final guidance supersedes and streamlines requirements from OMB Circulars A-21, A-87, A-110, and A-122 (which have been placed in OMB guidance's); Circulars A-89, A-102, and A-133; and the guidance in Circular A-50 on Single Audit Act follow-up.</a:t>
            </a:r>
            <a:r>
              <a:rPr lang="en-US" dirty="0">
                <a:solidFill>
                  <a:srgbClr val="002060"/>
                </a:solidFill>
                <a:effectLst/>
              </a:rPr>
              <a:t> </a:t>
            </a:r>
          </a:p>
          <a:p>
            <a:pPr marL="0" indent="0">
              <a:buNone/>
            </a:pPr>
            <a:r>
              <a:rPr lang="en-US" dirty="0">
                <a:solidFill>
                  <a:srgbClr val="002060"/>
                </a:solidFill>
                <a:effectLst/>
              </a:rPr>
              <a:t>Federal agencies have one year to implement the policies and procedures applicable to Federal awards by promulgating a regulation by December 26, 2014." </a:t>
            </a:r>
          </a:p>
          <a:p>
            <a:pPr marL="0" indent="0">
              <a:buNone/>
            </a:pPr>
            <a:endParaRPr lang="en-US" dirty="0">
              <a:solidFill>
                <a:srgbClr val="002060"/>
              </a:solidFill>
            </a:endParaRPr>
          </a:p>
          <a:p>
            <a:pPr marL="0" indent="0">
              <a:buNone/>
            </a:pPr>
            <a:r>
              <a:rPr lang="en-US" dirty="0">
                <a:solidFill>
                  <a:srgbClr val="002060"/>
                </a:solidFill>
                <a:effectLst/>
              </a:rPr>
              <a:t>While the Super Circular took effect on December 26, 2013, Federal agencies have six months to submit draft implementing regulations to OMB, and non-Federal entities have until December 26, 2014, to comply and conform fully to the Super Circular. </a:t>
            </a:r>
            <a:endParaRPr lang="en-US" dirty="0">
              <a:solidFill>
                <a:srgbClr val="002060"/>
              </a:solidFill>
            </a:endParaRPr>
          </a:p>
        </p:txBody>
      </p:sp>
    </p:spTree>
    <p:extLst>
      <p:ext uri="{BB962C8B-B14F-4D97-AF65-F5344CB8AC3E}">
        <p14:creationId xmlns:p14="http://schemas.microsoft.com/office/powerpoint/2010/main" val="3220644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solidFill>
                  <a:schemeClr val="bg1"/>
                </a:solidFill>
              </a:rPr>
              <a:t>OMB Circular A-122</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r>
              <a:rPr lang="en-US" dirty="0">
                <a:solidFill>
                  <a:srgbClr val="002060"/>
                </a:solidFill>
              </a:rPr>
              <a:t>Why do you have to follow it</a:t>
            </a:r>
          </a:p>
          <a:p>
            <a:pPr marL="0" indent="0">
              <a:buNone/>
            </a:pPr>
            <a:endParaRPr lang="en-US" dirty="0">
              <a:solidFill>
                <a:srgbClr val="002060"/>
              </a:solidFill>
            </a:endParaRPr>
          </a:p>
          <a:p>
            <a:r>
              <a:rPr lang="en-US" dirty="0">
                <a:solidFill>
                  <a:srgbClr val="002060"/>
                </a:solidFill>
              </a:rPr>
              <a:t>Attachment A:		General Principles</a:t>
            </a:r>
          </a:p>
          <a:p>
            <a:pPr marL="0" indent="0">
              <a:buNone/>
            </a:pPr>
            <a:endParaRPr lang="en-US" dirty="0">
              <a:solidFill>
                <a:srgbClr val="002060"/>
              </a:solidFill>
            </a:endParaRPr>
          </a:p>
          <a:p>
            <a:r>
              <a:rPr lang="en-US" dirty="0">
                <a:solidFill>
                  <a:srgbClr val="002060"/>
                </a:solidFill>
              </a:rPr>
              <a:t>Attachment B:		Selected Items of Cost</a:t>
            </a:r>
          </a:p>
        </p:txBody>
      </p:sp>
    </p:spTree>
    <p:extLst>
      <p:ext uri="{BB962C8B-B14F-4D97-AF65-F5344CB8AC3E}">
        <p14:creationId xmlns:p14="http://schemas.microsoft.com/office/powerpoint/2010/main" val="263479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Segregation of Costs</a:t>
            </a:r>
            <a:endParaRPr lang="en-US" dirty="0">
              <a:solidFill>
                <a:schemeClr val="bg1"/>
              </a:solidFill>
            </a:endParaRP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fontScale="55000" lnSpcReduction="20000"/>
          </a:bodyPr>
          <a:lstStyle/>
          <a:p>
            <a:r>
              <a:rPr lang="en-US" dirty="0">
                <a:solidFill>
                  <a:srgbClr val="002060"/>
                </a:solidFill>
              </a:rPr>
              <a:t>Costs for each particular cost objective must be segregated</a:t>
            </a:r>
          </a:p>
          <a:p>
            <a:r>
              <a:rPr lang="en-US" dirty="0">
                <a:solidFill>
                  <a:srgbClr val="002060"/>
                </a:solidFill>
              </a:rPr>
              <a:t>A cost is allocable to a particular cost objective, such as a grant, contract, project, service, or other activity, in accordance with the relative benefits received. A cost is allocable to a Federal award if it is treated consistently with other costs incurred for the same purpose in like circumstances and if it:</a:t>
            </a:r>
            <a:br>
              <a:rPr lang="en-US" dirty="0">
                <a:solidFill>
                  <a:srgbClr val="002060"/>
                </a:solidFill>
              </a:rPr>
            </a:br>
            <a:br>
              <a:rPr lang="en-US" dirty="0">
                <a:solidFill>
                  <a:srgbClr val="002060"/>
                </a:solidFill>
              </a:rPr>
            </a:br>
            <a:r>
              <a:rPr lang="en-US" dirty="0">
                <a:solidFill>
                  <a:srgbClr val="002060"/>
                </a:solidFill>
              </a:rPr>
              <a:t>(1) Is incurred specifically for the award.</a:t>
            </a:r>
            <a:br>
              <a:rPr lang="en-US" dirty="0">
                <a:solidFill>
                  <a:srgbClr val="002060"/>
                </a:solidFill>
              </a:rPr>
            </a:br>
            <a:br>
              <a:rPr lang="en-US" dirty="0">
                <a:solidFill>
                  <a:srgbClr val="002060"/>
                </a:solidFill>
              </a:rPr>
            </a:br>
            <a:r>
              <a:rPr lang="en-US" dirty="0">
                <a:solidFill>
                  <a:srgbClr val="002060"/>
                </a:solidFill>
              </a:rPr>
              <a:t>(2) Benefits both the award and other work and can be distributed in reasonable proportion to the benefits received, or</a:t>
            </a:r>
            <a:br>
              <a:rPr lang="en-US" dirty="0">
                <a:solidFill>
                  <a:srgbClr val="002060"/>
                </a:solidFill>
              </a:rPr>
            </a:br>
            <a:br>
              <a:rPr lang="en-US" dirty="0">
                <a:solidFill>
                  <a:srgbClr val="002060"/>
                </a:solidFill>
              </a:rPr>
            </a:br>
            <a:r>
              <a:rPr lang="en-US" dirty="0">
                <a:solidFill>
                  <a:srgbClr val="002060"/>
                </a:solidFill>
              </a:rPr>
              <a:t>(3) Is necessary to the overall operation of the organization, although a direct relationship to any particular cost objective cannot be shown.</a:t>
            </a:r>
            <a:br>
              <a:rPr lang="en-US" dirty="0">
                <a:solidFill>
                  <a:srgbClr val="002060"/>
                </a:solidFill>
              </a:rPr>
            </a:br>
            <a:endParaRPr lang="en-US" dirty="0">
              <a:solidFill>
                <a:srgbClr val="002060"/>
              </a:solidFill>
            </a:endParaRPr>
          </a:p>
          <a:p>
            <a:r>
              <a:rPr lang="en-US" dirty="0">
                <a:solidFill>
                  <a:srgbClr val="002060"/>
                </a:solidFill>
              </a:rPr>
              <a:t>Any cost allocable to a particular award or other cost objective under these principles may not be shifted to other Federal awards to overcome funding deficiencies, or to avoid restrictions imposed by law or by the terms of the award.</a:t>
            </a:r>
          </a:p>
        </p:txBody>
      </p:sp>
    </p:spTree>
    <p:extLst>
      <p:ext uri="{BB962C8B-B14F-4D97-AF65-F5344CB8AC3E}">
        <p14:creationId xmlns:p14="http://schemas.microsoft.com/office/powerpoint/2010/main" val="248473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solidFill>
                  <a:schemeClr val="bg1"/>
                </a:solidFill>
              </a:rPr>
              <a:t>Allowable Costs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r>
              <a:rPr lang="en-US" altLang="en-US" dirty="0">
                <a:solidFill>
                  <a:srgbClr val="002060"/>
                </a:solidFill>
                <a:latin typeface="Calibri" panose="020F0502020204030204" pitchFamily="34" charset="0"/>
                <a:cs typeface="Calibri" panose="020F0502020204030204" pitchFamily="34" charset="0"/>
              </a:rPr>
              <a:t>Be necessary and reasonable, and allocable,</a:t>
            </a:r>
          </a:p>
          <a:p>
            <a:r>
              <a:rPr lang="en-US" altLang="en-US" dirty="0">
                <a:solidFill>
                  <a:srgbClr val="002060"/>
                </a:solidFill>
                <a:latin typeface="Calibri" panose="020F0502020204030204" pitchFamily="34" charset="0"/>
                <a:cs typeface="Calibri" panose="020F0502020204030204" pitchFamily="34" charset="0"/>
              </a:rPr>
              <a:t>Conform to any limitations or exclusions set forth in the cost principles or the award,</a:t>
            </a:r>
          </a:p>
          <a:p>
            <a:r>
              <a:rPr lang="en-US" altLang="en-US" dirty="0">
                <a:solidFill>
                  <a:srgbClr val="002060"/>
                </a:solidFill>
                <a:latin typeface="Calibri" panose="020F0502020204030204" pitchFamily="34" charset="0"/>
                <a:cs typeface="Calibri" panose="020F0502020204030204" pitchFamily="34" charset="0"/>
              </a:rPr>
              <a:t>Be consistent with policies and procedures afforded </a:t>
            </a:r>
            <a:r>
              <a:rPr lang="en-US" altLang="en-US" u="sng" dirty="0">
                <a:solidFill>
                  <a:srgbClr val="002060"/>
                </a:solidFill>
                <a:latin typeface="Calibri" panose="020F0502020204030204" pitchFamily="34" charset="0"/>
                <a:cs typeface="Calibri" panose="020F0502020204030204" pitchFamily="34" charset="0"/>
              </a:rPr>
              <a:t>all</a:t>
            </a:r>
            <a:r>
              <a:rPr lang="en-US" altLang="en-US" dirty="0">
                <a:solidFill>
                  <a:srgbClr val="002060"/>
                </a:solidFill>
                <a:latin typeface="Calibri" panose="020F0502020204030204" pitchFamily="34" charset="0"/>
                <a:cs typeface="Calibri" panose="020F0502020204030204" pitchFamily="34" charset="0"/>
              </a:rPr>
              <a:t> activities of the organization,</a:t>
            </a:r>
          </a:p>
          <a:p>
            <a:r>
              <a:rPr lang="en-US" altLang="en-US" dirty="0">
                <a:solidFill>
                  <a:srgbClr val="002060"/>
                </a:solidFill>
                <a:latin typeface="Calibri" panose="020F0502020204030204" pitchFamily="34" charset="0"/>
                <a:cs typeface="Calibri" panose="020F0502020204030204" pitchFamily="34" charset="0"/>
              </a:rPr>
              <a:t>Be accorded consistent treatment,</a:t>
            </a:r>
          </a:p>
          <a:p>
            <a:r>
              <a:rPr lang="en-US" altLang="en-US" dirty="0">
                <a:solidFill>
                  <a:srgbClr val="002060"/>
                </a:solidFill>
                <a:latin typeface="Calibri" panose="020F0502020204030204" pitchFamily="34" charset="0"/>
                <a:cs typeface="Calibri" panose="020F0502020204030204" pitchFamily="34" charset="0"/>
              </a:rPr>
              <a:t>Be determined in accordance with GAAP,</a:t>
            </a:r>
          </a:p>
          <a:p>
            <a:r>
              <a:rPr lang="en-US" altLang="en-US" dirty="0">
                <a:solidFill>
                  <a:srgbClr val="002060"/>
                </a:solidFill>
                <a:latin typeface="Calibri" panose="020F0502020204030204" pitchFamily="34" charset="0"/>
                <a:cs typeface="Calibri" panose="020F0502020204030204" pitchFamily="34" charset="0"/>
              </a:rPr>
              <a:t>Not be against the law,</a:t>
            </a:r>
          </a:p>
          <a:p>
            <a:r>
              <a:rPr lang="en-US" altLang="en-US" dirty="0">
                <a:solidFill>
                  <a:srgbClr val="002060"/>
                </a:solidFill>
                <a:latin typeface="Calibri" panose="020F0502020204030204" pitchFamily="34" charset="0"/>
                <a:cs typeface="Calibri" panose="020F0502020204030204" pitchFamily="34" charset="0"/>
              </a:rPr>
              <a:t>Not already be included in a cost sharing or matching requirement,</a:t>
            </a:r>
          </a:p>
          <a:p>
            <a:r>
              <a:rPr lang="en-US" altLang="en-US" dirty="0">
                <a:solidFill>
                  <a:srgbClr val="002060"/>
                </a:solidFill>
                <a:latin typeface="Calibri" panose="020F0502020204030204" pitchFamily="34" charset="0"/>
                <a:cs typeface="Calibri" panose="020F0502020204030204" pitchFamily="34" charset="0"/>
              </a:rPr>
              <a:t>Be net of applicable credits,</a:t>
            </a:r>
          </a:p>
          <a:p>
            <a:r>
              <a:rPr lang="en-US" altLang="en-US" dirty="0">
                <a:solidFill>
                  <a:srgbClr val="002060"/>
                </a:solidFill>
                <a:latin typeface="Calibri" panose="020F0502020204030204" pitchFamily="34" charset="0"/>
                <a:cs typeface="Calibri" panose="020F0502020204030204" pitchFamily="34" charset="0"/>
              </a:rPr>
              <a:t>Be adequately </a:t>
            </a:r>
            <a:r>
              <a:rPr lang="en-US" altLang="en-US" u="sng" dirty="0">
                <a:solidFill>
                  <a:srgbClr val="002060"/>
                </a:solidFill>
                <a:latin typeface="Calibri" panose="020F0502020204030204" pitchFamily="34" charset="0"/>
                <a:cs typeface="Calibri" panose="020F0502020204030204" pitchFamily="34" charset="0"/>
              </a:rPr>
              <a:t>documented.</a:t>
            </a:r>
          </a:p>
          <a:p>
            <a:endParaRPr lang="en-US" dirty="0">
              <a:solidFill>
                <a:srgbClr val="002060"/>
              </a:solidFill>
            </a:endParaRPr>
          </a:p>
        </p:txBody>
      </p:sp>
    </p:spTree>
    <p:extLst>
      <p:ext uri="{BB962C8B-B14F-4D97-AF65-F5344CB8AC3E}">
        <p14:creationId xmlns:p14="http://schemas.microsoft.com/office/powerpoint/2010/main" val="249439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solidFill>
                  <a:schemeClr val="bg1"/>
                </a:solidFill>
              </a:rPr>
              <a:t>Unallowable Costs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r>
              <a:rPr lang="en-US" altLang="en-US" sz="2800" dirty="0">
                <a:solidFill>
                  <a:srgbClr val="002060"/>
                </a:solidFill>
                <a:latin typeface="Calibri" panose="020F0502020204030204" pitchFamily="34" charset="0"/>
                <a:cs typeface="Calibri" panose="020F0502020204030204" pitchFamily="34" charset="0"/>
              </a:rPr>
              <a:t>Specifically identified in the </a:t>
            </a:r>
            <a:r>
              <a:rPr lang="en-US" altLang="en-US" sz="2800" u="sng" dirty="0">
                <a:solidFill>
                  <a:srgbClr val="002060"/>
                </a:solidFill>
                <a:latin typeface="Calibri" panose="020F0502020204030204" pitchFamily="34" charset="0"/>
                <a:cs typeface="Calibri" panose="020F0502020204030204" pitchFamily="34" charset="0"/>
              </a:rPr>
              <a:t>grant/contract</a:t>
            </a:r>
            <a:r>
              <a:rPr lang="en-US" altLang="en-US" sz="2800" dirty="0">
                <a:solidFill>
                  <a:srgbClr val="002060"/>
                </a:solidFill>
                <a:latin typeface="Calibri" panose="020F0502020204030204" pitchFamily="34" charset="0"/>
                <a:cs typeface="Calibri" panose="020F0502020204030204" pitchFamily="34" charset="0"/>
              </a:rPr>
              <a:t> as being unallowable.</a:t>
            </a:r>
          </a:p>
          <a:p>
            <a:endParaRPr lang="en-US" altLang="en-US" sz="2800" dirty="0">
              <a:solidFill>
                <a:srgbClr val="002060"/>
              </a:solidFill>
              <a:latin typeface="Calibri" panose="020F0502020204030204" pitchFamily="34" charset="0"/>
              <a:cs typeface="Calibri" panose="020F0502020204030204" pitchFamily="34" charset="0"/>
            </a:endParaRPr>
          </a:p>
          <a:p>
            <a:r>
              <a:rPr lang="en-US" altLang="en-US" sz="2800" dirty="0">
                <a:solidFill>
                  <a:srgbClr val="002060"/>
                </a:solidFill>
                <a:latin typeface="Calibri" panose="020F0502020204030204" pitchFamily="34" charset="0"/>
                <a:cs typeface="Calibri" panose="020F0502020204030204" pitchFamily="34" charset="0"/>
              </a:rPr>
              <a:t>Specifically identified in Circular A-122, as being unallowable.</a:t>
            </a:r>
          </a:p>
          <a:p>
            <a:endParaRPr lang="en-US" altLang="en-US" sz="2800" dirty="0">
              <a:solidFill>
                <a:srgbClr val="002060"/>
              </a:solidFill>
              <a:latin typeface="Calibri" panose="020F0502020204030204" pitchFamily="34" charset="0"/>
              <a:cs typeface="Calibri" panose="020F0502020204030204" pitchFamily="34" charset="0"/>
            </a:endParaRPr>
          </a:p>
          <a:p>
            <a:r>
              <a:rPr lang="en-US" altLang="en-US" sz="2800" dirty="0">
                <a:solidFill>
                  <a:srgbClr val="002060"/>
                </a:solidFill>
                <a:latin typeface="Calibri" panose="020F0502020204030204" pitchFamily="34" charset="0"/>
                <a:cs typeface="Calibri" panose="020F0502020204030204" pitchFamily="34" charset="0"/>
              </a:rPr>
              <a:t>Does not meet the criteria listed in Circular A-122 to be allowable.</a:t>
            </a:r>
          </a:p>
          <a:p>
            <a:pPr marL="0" indent="0">
              <a:buNone/>
            </a:pPr>
            <a:endParaRPr lang="en-US" dirty="0"/>
          </a:p>
        </p:txBody>
      </p:sp>
    </p:spTree>
    <p:extLst>
      <p:ext uri="{BB962C8B-B14F-4D97-AF65-F5344CB8AC3E}">
        <p14:creationId xmlns:p14="http://schemas.microsoft.com/office/powerpoint/2010/main" val="2073636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Sample Unallowable Costs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r>
              <a:rPr lang="en-US" altLang="en-US" sz="4000" dirty="0">
                <a:solidFill>
                  <a:srgbClr val="002060"/>
                </a:solidFill>
                <a:latin typeface="Calibri" panose="020F0502020204030204" pitchFamily="34" charset="0"/>
                <a:cs typeface="Calibri" panose="020F0502020204030204" pitchFamily="34" charset="0"/>
              </a:rPr>
              <a:t>Alcoholic Beverages, </a:t>
            </a:r>
          </a:p>
          <a:p>
            <a:r>
              <a:rPr lang="en-US" altLang="en-US" sz="4000" dirty="0">
                <a:solidFill>
                  <a:srgbClr val="002060"/>
                </a:solidFill>
                <a:latin typeface="Calibri" panose="020F0502020204030204" pitchFamily="34" charset="0"/>
                <a:cs typeface="Calibri" panose="020F0502020204030204" pitchFamily="34" charset="0"/>
              </a:rPr>
              <a:t>Bad Debts,</a:t>
            </a:r>
          </a:p>
          <a:p>
            <a:r>
              <a:rPr lang="en-US" altLang="en-US" sz="4000" dirty="0">
                <a:solidFill>
                  <a:srgbClr val="002060"/>
                </a:solidFill>
                <a:latin typeface="Calibri" panose="020F0502020204030204" pitchFamily="34" charset="0"/>
                <a:cs typeface="Calibri" panose="020F0502020204030204" pitchFamily="34" charset="0"/>
              </a:rPr>
              <a:t>Contingency Provisions,</a:t>
            </a:r>
          </a:p>
          <a:p>
            <a:r>
              <a:rPr lang="en-US" altLang="en-US" sz="4000" dirty="0">
                <a:solidFill>
                  <a:srgbClr val="002060"/>
                </a:solidFill>
                <a:latin typeface="Calibri" panose="020F0502020204030204" pitchFamily="34" charset="0"/>
                <a:cs typeface="Calibri" panose="020F0502020204030204" pitchFamily="34" charset="0"/>
              </a:rPr>
              <a:t>Contributions and Donations</a:t>
            </a:r>
          </a:p>
          <a:p>
            <a:r>
              <a:rPr lang="en-US" altLang="en-US" sz="4000" dirty="0">
                <a:solidFill>
                  <a:srgbClr val="002060"/>
                </a:solidFill>
                <a:latin typeface="Calibri" panose="020F0502020204030204" pitchFamily="34" charset="0"/>
                <a:cs typeface="Calibri" panose="020F0502020204030204" pitchFamily="34" charset="0"/>
              </a:rPr>
              <a:t>Entertainment,</a:t>
            </a:r>
          </a:p>
          <a:p>
            <a:r>
              <a:rPr lang="en-US" altLang="en-US" sz="4000" dirty="0">
                <a:solidFill>
                  <a:srgbClr val="002060"/>
                </a:solidFill>
                <a:latin typeface="Calibri" panose="020F0502020204030204" pitchFamily="34" charset="0"/>
                <a:cs typeface="Calibri" panose="020F0502020204030204" pitchFamily="34" charset="0"/>
              </a:rPr>
              <a:t>Fines and Penalties,</a:t>
            </a:r>
          </a:p>
          <a:p>
            <a:r>
              <a:rPr lang="en-US" altLang="en-US" sz="4000" dirty="0">
                <a:solidFill>
                  <a:srgbClr val="002060"/>
                </a:solidFill>
                <a:latin typeface="Calibri" panose="020F0502020204030204" pitchFamily="34" charset="0"/>
                <a:cs typeface="Calibri" panose="020F0502020204030204" pitchFamily="34" charset="0"/>
              </a:rPr>
              <a:t>Fund Raising Costs,</a:t>
            </a:r>
          </a:p>
          <a:p>
            <a:r>
              <a:rPr lang="en-US" altLang="en-US" sz="4000" dirty="0">
                <a:solidFill>
                  <a:srgbClr val="002060"/>
                </a:solidFill>
                <a:latin typeface="Calibri" panose="020F0502020204030204" pitchFamily="34" charset="0"/>
                <a:cs typeface="Calibri" panose="020F0502020204030204" pitchFamily="34" charset="0"/>
              </a:rPr>
              <a:t>Gift Cards,</a:t>
            </a:r>
          </a:p>
          <a:p>
            <a:r>
              <a:rPr lang="en-US" altLang="en-US" sz="4000" dirty="0">
                <a:solidFill>
                  <a:srgbClr val="002060"/>
                </a:solidFill>
                <a:latin typeface="Calibri" panose="020F0502020204030204" pitchFamily="34" charset="0"/>
                <a:cs typeface="Calibri" panose="020F0502020204030204" pitchFamily="34" charset="0"/>
              </a:rPr>
              <a:t>Interest on Borrowed Capital,</a:t>
            </a:r>
          </a:p>
          <a:p>
            <a:r>
              <a:rPr lang="en-US" altLang="en-US" sz="4000" dirty="0">
                <a:solidFill>
                  <a:srgbClr val="002060"/>
                </a:solidFill>
                <a:latin typeface="Calibri" panose="020F0502020204030204" pitchFamily="34" charset="0"/>
                <a:cs typeface="Calibri" panose="020F0502020204030204" pitchFamily="34" charset="0"/>
              </a:rPr>
              <a:t>Lobbying Costs,</a:t>
            </a:r>
          </a:p>
          <a:p>
            <a:r>
              <a:rPr lang="en-US" altLang="en-US" sz="4000" dirty="0">
                <a:solidFill>
                  <a:srgbClr val="002060"/>
                </a:solidFill>
                <a:latin typeface="Calibri" panose="020F0502020204030204" pitchFamily="34" charset="0"/>
                <a:cs typeface="Calibri" panose="020F0502020204030204" pitchFamily="34" charset="0"/>
              </a:rPr>
              <a:t>Social Memberships.</a:t>
            </a:r>
          </a:p>
          <a:p>
            <a:endParaRPr lang="en-US" dirty="0">
              <a:solidFill>
                <a:srgbClr val="00206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088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Advertising</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pPr marL="0" indent="0">
              <a:buNone/>
            </a:pPr>
            <a:r>
              <a:rPr lang="en-US" altLang="en-US" dirty="0">
                <a:solidFill>
                  <a:srgbClr val="002060"/>
                </a:solidFill>
                <a:latin typeface="Calibri" panose="020F0502020204030204" pitchFamily="34" charset="0"/>
                <a:cs typeface="Calibri" panose="020F0502020204030204" pitchFamily="34" charset="0"/>
              </a:rPr>
              <a:t>Allowable </a:t>
            </a:r>
          </a:p>
          <a:p>
            <a:pPr lvl="1">
              <a:buFont typeface="Arial" panose="020B0604020202020204" pitchFamily="34" charset="0"/>
              <a:buChar char="•"/>
            </a:pPr>
            <a:r>
              <a:rPr lang="en-US" altLang="en-US" dirty="0">
                <a:solidFill>
                  <a:srgbClr val="002060"/>
                </a:solidFill>
                <a:latin typeface="Calibri" panose="020F0502020204030204" pitchFamily="34" charset="0"/>
                <a:cs typeface="Calibri" panose="020F0502020204030204" pitchFamily="34" charset="0"/>
              </a:rPr>
              <a:t>Recruitment of personnel required for performance of Federal award.</a:t>
            </a:r>
          </a:p>
          <a:p>
            <a:pPr marL="457200" lvl="1" indent="0">
              <a:buNone/>
            </a:pPr>
            <a:endParaRPr lang="en-US" altLang="en-US" dirty="0">
              <a:solidFill>
                <a:srgbClr val="002060"/>
              </a:solidFill>
              <a:latin typeface="Calibri" panose="020F0502020204030204" pitchFamily="34" charset="0"/>
              <a:cs typeface="Calibri" panose="020F0502020204030204" pitchFamily="34" charset="0"/>
            </a:endParaRPr>
          </a:p>
          <a:p>
            <a:pPr lvl="1">
              <a:buFont typeface="Arial" panose="020B0604020202020204" pitchFamily="34" charset="0"/>
              <a:buChar char="•"/>
            </a:pPr>
            <a:r>
              <a:rPr lang="en-US" altLang="en-US" dirty="0">
                <a:solidFill>
                  <a:srgbClr val="002060"/>
                </a:solidFill>
                <a:latin typeface="Calibri" panose="020F0502020204030204" pitchFamily="34" charset="0"/>
                <a:cs typeface="Calibri" panose="020F0502020204030204" pitchFamily="34" charset="0"/>
              </a:rPr>
              <a:t>Procurement of goods &amp; services for the performance of the award.</a:t>
            </a:r>
          </a:p>
          <a:p>
            <a:pPr marL="457200" lvl="1" indent="0">
              <a:buNone/>
            </a:pPr>
            <a:endParaRPr lang="en-US" altLang="en-US" dirty="0">
              <a:solidFill>
                <a:srgbClr val="002060"/>
              </a:solidFill>
              <a:latin typeface="Calibri" panose="020F0502020204030204" pitchFamily="34" charset="0"/>
              <a:cs typeface="Calibri" panose="020F0502020204030204" pitchFamily="34" charset="0"/>
            </a:endParaRPr>
          </a:p>
          <a:p>
            <a:pPr lvl="1">
              <a:buFont typeface="Arial" panose="020B0604020202020204" pitchFamily="34" charset="0"/>
              <a:buChar char="•"/>
            </a:pPr>
            <a:r>
              <a:rPr lang="en-US" altLang="en-US" dirty="0">
                <a:solidFill>
                  <a:srgbClr val="002060"/>
                </a:solidFill>
                <a:latin typeface="Calibri" panose="020F0502020204030204" pitchFamily="34" charset="0"/>
                <a:cs typeface="Calibri" panose="020F0502020204030204" pitchFamily="34" charset="0"/>
              </a:rPr>
              <a:t>Disposal of scrap or surplus acquired in the performance of award.</a:t>
            </a:r>
          </a:p>
          <a:p>
            <a:pPr marL="0" indent="0">
              <a:buNone/>
            </a:pPr>
            <a:endParaRPr lang="en-US" dirty="0">
              <a:solidFill>
                <a:srgbClr val="002060"/>
              </a:solidFill>
            </a:endParaRPr>
          </a:p>
        </p:txBody>
      </p:sp>
    </p:spTree>
    <p:extLst>
      <p:ext uri="{BB962C8B-B14F-4D97-AF65-F5344CB8AC3E}">
        <p14:creationId xmlns:p14="http://schemas.microsoft.com/office/powerpoint/2010/main" val="739577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Advertising</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altLang="en-US" dirty="0">
                <a:solidFill>
                  <a:srgbClr val="002060"/>
                </a:solidFill>
                <a:latin typeface="Calibri" panose="020F0502020204030204" pitchFamily="34" charset="0"/>
                <a:cs typeface="Calibri" panose="020F0502020204030204" pitchFamily="34" charset="0"/>
              </a:rPr>
              <a:t>Unallowable</a:t>
            </a:r>
          </a:p>
          <a:p>
            <a:pPr lvl="1">
              <a:buFont typeface="Arial" panose="020B0604020202020204" pitchFamily="34" charset="0"/>
              <a:buChar char="•"/>
            </a:pPr>
            <a:r>
              <a:rPr lang="en-US" altLang="en-US" dirty="0">
                <a:solidFill>
                  <a:srgbClr val="002060"/>
                </a:solidFill>
                <a:latin typeface="Calibri" panose="020F0502020204030204" pitchFamily="34" charset="0"/>
                <a:cs typeface="Calibri" panose="020F0502020204030204" pitchFamily="34" charset="0"/>
              </a:rPr>
              <a:t>Costs of promotional items, memorabilia, gifts and souvenirs.</a:t>
            </a:r>
          </a:p>
          <a:p>
            <a:pPr lvl="1">
              <a:buFont typeface="Arial" panose="020B0604020202020204" pitchFamily="34" charset="0"/>
              <a:buChar char="•"/>
            </a:pPr>
            <a:endParaRPr lang="en-US" altLang="en-US" dirty="0">
              <a:solidFill>
                <a:srgbClr val="002060"/>
              </a:solidFill>
              <a:latin typeface="Calibri" panose="020F0502020204030204" pitchFamily="34" charset="0"/>
              <a:cs typeface="Calibri" panose="020F0502020204030204" pitchFamily="34" charset="0"/>
            </a:endParaRPr>
          </a:p>
          <a:p>
            <a:pPr lvl="1">
              <a:buFont typeface="Arial" panose="020B0604020202020204" pitchFamily="34" charset="0"/>
              <a:buChar char="•"/>
            </a:pPr>
            <a:r>
              <a:rPr lang="en-US" altLang="en-US" dirty="0">
                <a:solidFill>
                  <a:srgbClr val="002060"/>
                </a:solidFill>
                <a:latin typeface="Calibri" panose="020F0502020204030204" pitchFamily="34" charset="0"/>
                <a:cs typeface="Calibri" panose="020F0502020204030204" pitchFamily="34" charset="0"/>
              </a:rPr>
              <a:t>Costs of advertising and public relations designed solely to promote the organization.</a:t>
            </a:r>
          </a:p>
          <a:p>
            <a:pPr lvl="1">
              <a:buFont typeface="Arial" panose="020B0604020202020204" pitchFamily="34" charset="0"/>
              <a:buChar char="•"/>
            </a:pPr>
            <a:endParaRPr lang="en-US" altLang="en-US" dirty="0">
              <a:solidFill>
                <a:srgbClr val="002060"/>
              </a:solidFill>
              <a:latin typeface="Calibri" panose="020F0502020204030204" pitchFamily="34" charset="0"/>
              <a:cs typeface="Calibri" panose="020F0502020204030204" pitchFamily="34" charset="0"/>
            </a:endParaRPr>
          </a:p>
          <a:p>
            <a:pPr lvl="1">
              <a:buFont typeface="Arial" panose="020B0604020202020204" pitchFamily="34" charset="0"/>
              <a:buChar char="•"/>
            </a:pPr>
            <a:r>
              <a:rPr lang="en-US" altLang="en-US" dirty="0">
                <a:solidFill>
                  <a:srgbClr val="002060"/>
                </a:solidFill>
                <a:latin typeface="Calibri" panose="020F0502020204030204" pitchFamily="34" charset="0"/>
                <a:cs typeface="Calibri" panose="020F0502020204030204" pitchFamily="34" charset="0"/>
              </a:rPr>
              <a:t>SWAG – Stuff We All Get.</a:t>
            </a:r>
          </a:p>
        </p:txBody>
      </p:sp>
    </p:spTree>
    <p:extLst>
      <p:ext uri="{BB962C8B-B14F-4D97-AF65-F5344CB8AC3E}">
        <p14:creationId xmlns:p14="http://schemas.microsoft.com/office/powerpoint/2010/main" val="2898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solidFill>
                  <a:schemeClr val="bg1"/>
                </a:solidFill>
              </a:rPr>
              <a:t>Alcoholic Beverages</a:t>
            </a:r>
          </a:p>
        </p:txBody>
      </p:sp>
      <p:sp>
        <p:nvSpPr>
          <p:cNvPr id="3" name="Content Placeholder 2"/>
          <p:cNvSpPr>
            <a:spLocks noGrp="1"/>
          </p:cNvSpPr>
          <p:nvPr>
            <p:ph idx="1"/>
          </p:nvPr>
        </p:nvSpPr>
        <p:spPr>
          <a:xfrm>
            <a:off x="457200" y="1600200"/>
            <a:ext cx="8229600" cy="4572000"/>
          </a:xfrm>
          <a:ln>
            <a:solidFill>
              <a:schemeClr val="tx2"/>
            </a:solidFill>
          </a:ln>
        </p:spPr>
        <p:style>
          <a:lnRef idx="2">
            <a:schemeClr val="accent1"/>
          </a:lnRef>
          <a:fillRef idx="1">
            <a:schemeClr val="lt1"/>
          </a:fillRef>
          <a:effectRef idx="0">
            <a:schemeClr val="accent1"/>
          </a:effectRef>
          <a:fontRef idx="minor">
            <a:schemeClr val="dk1"/>
          </a:fontRef>
        </p:style>
        <p:txBody>
          <a:bodyPr/>
          <a:lstStyle/>
          <a:p>
            <a:pPr marL="0" indent="0">
              <a:buNone/>
            </a:pPr>
            <a:endParaRPr lang="en-US" dirty="0"/>
          </a:p>
          <a:p>
            <a:pPr marL="0" indent="0" algn="ctr">
              <a:buNone/>
            </a:pPr>
            <a:r>
              <a:rPr lang="en-US" b="1" dirty="0">
                <a:solidFill>
                  <a:srgbClr val="002060"/>
                </a:solidFill>
              </a:rPr>
              <a:t>Unallowable</a:t>
            </a:r>
            <a:r>
              <a:rPr lang="en-US" dirty="0">
                <a:solidFill>
                  <a:srgbClr val="002060"/>
                </a:solidFill>
              </a:rPr>
              <a:t> regardless of circumstance.</a:t>
            </a:r>
          </a:p>
          <a:p>
            <a:pPr marL="0" indent="0" algn="ctr">
              <a:buNone/>
            </a:pPr>
            <a:endParaRPr lang="en-US" dirty="0">
              <a:solidFill>
                <a:srgbClr val="002060"/>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506881468"/>
              </p:ext>
            </p:extLst>
          </p:nvPr>
        </p:nvGraphicFramePr>
        <p:xfrm>
          <a:off x="3200400" y="3352800"/>
          <a:ext cx="2209800" cy="2209800"/>
        </p:xfrm>
        <a:graphic>
          <a:graphicData uri="http://schemas.openxmlformats.org/presentationml/2006/ole">
            <mc:AlternateContent xmlns:mc="http://schemas.openxmlformats.org/markup-compatibility/2006">
              <mc:Choice xmlns:v="urn:schemas-microsoft-com:vml" Requires="v">
                <p:oleObj name="Drawing" r:id="rId2" imgW="198568" imgH="2319918" progId="FLW3Drawing">
                  <p:embed/>
                </p:oleObj>
              </mc:Choice>
              <mc:Fallback>
                <p:oleObj name="Drawing" r:id="rId2" imgW="198568" imgH="2319918" progId="FLW3Drawing">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352800"/>
                        <a:ext cx="2209800" cy="2209800"/>
                      </a:xfrm>
                      <a:prstGeom prst="rect">
                        <a:avLst/>
                      </a:prstGeom>
                      <a:noFill/>
                      <a:ln>
                        <a:noFill/>
                      </a:ln>
                      <a:effectLst/>
                    </p:spPr>
                  </p:pic>
                </p:oleObj>
              </mc:Fallback>
            </mc:AlternateContent>
          </a:graphicData>
        </a:graphic>
      </p:graphicFrame>
      <p:sp>
        <p:nvSpPr>
          <p:cNvPr id="5" name="AutoShape 7"/>
          <p:cNvSpPr>
            <a:spLocks noChangeArrowheads="1"/>
          </p:cNvSpPr>
          <p:nvPr/>
        </p:nvSpPr>
        <p:spPr bwMode="auto">
          <a:xfrm>
            <a:off x="2513202" y="2896998"/>
            <a:ext cx="3429000" cy="31242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932" y="16959"/>
                </a:moveTo>
                <a:cubicBezTo>
                  <a:pt x="19410" y="15248"/>
                  <a:pt x="20224" y="13061"/>
                  <a:pt x="20224" y="10800"/>
                </a:cubicBezTo>
                <a:cubicBezTo>
                  <a:pt x="20224" y="5595"/>
                  <a:pt x="16004" y="1376"/>
                  <a:pt x="10800" y="1376"/>
                </a:cubicBezTo>
                <a:cubicBezTo>
                  <a:pt x="8538" y="1375"/>
                  <a:pt x="6351" y="2189"/>
                  <a:pt x="4640" y="3667"/>
                </a:cubicBezTo>
                <a:lnTo>
                  <a:pt x="17932" y="16959"/>
                </a:lnTo>
                <a:close/>
                <a:moveTo>
                  <a:pt x="3667" y="4640"/>
                </a:moveTo>
                <a:cubicBezTo>
                  <a:pt x="2189" y="6351"/>
                  <a:pt x="1376" y="8538"/>
                  <a:pt x="1376" y="10799"/>
                </a:cubicBezTo>
                <a:cubicBezTo>
                  <a:pt x="1376" y="16004"/>
                  <a:pt x="5595" y="20224"/>
                  <a:pt x="10800" y="20224"/>
                </a:cubicBezTo>
                <a:cubicBezTo>
                  <a:pt x="13061" y="20224"/>
                  <a:pt x="15248" y="19410"/>
                  <a:pt x="16959" y="17932"/>
                </a:cubicBezTo>
                <a:lnTo>
                  <a:pt x="3667" y="464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048500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Audit Costs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fontScale="92500"/>
          </a:bodyPr>
          <a:lstStyle/>
          <a:p>
            <a:r>
              <a:rPr lang="en-US" altLang="en-US" dirty="0">
                <a:solidFill>
                  <a:srgbClr val="002060"/>
                </a:solidFill>
                <a:latin typeface="Calibri" panose="020F0502020204030204" pitchFamily="34" charset="0"/>
                <a:cs typeface="Calibri" panose="020F0502020204030204" pitchFamily="34" charset="0"/>
              </a:rPr>
              <a:t>Audits required by, and performed in accordance with, the Single Audit Act, as implemented Circular A-133 are allowable.</a:t>
            </a:r>
          </a:p>
          <a:p>
            <a:r>
              <a:rPr lang="en-US" altLang="en-US" dirty="0">
                <a:solidFill>
                  <a:srgbClr val="002060"/>
                </a:solidFill>
                <a:latin typeface="Calibri" panose="020F0502020204030204" pitchFamily="34" charset="0"/>
                <a:cs typeface="Calibri" panose="020F0502020204030204" pitchFamily="34" charset="0"/>
              </a:rPr>
              <a:t>Other audit costs are allowable if included in an indirect cost rate proposal, </a:t>
            </a:r>
            <a:r>
              <a:rPr lang="en-US" altLang="en-US" u="sng" dirty="0">
                <a:solidFill>
                  <a:srgbClr val="002060"/>
                </a:solidFill>
                <a:latin typeface="Calibri" panose="020F0502020204030204" pitchFamily="34" charset="0"/>
                <a:cs typeface="Calibri" panose="020F0502020204030204" pitchFamily="34" charset="0"/>
              </a:rPr>
              <a:t>or</a:t>
            </a:r>
            <a:r>
              <a:rPr lang="en-US" altLang="en-US" dirty="0">
                <a:solidFill>
                  <a:srgbClr val="002060"/>
                </a:solidFill>
                <a:latin typeface="Calibri" panose="020F0502020204030204" pitchFamily="34" charset="0"/>
                <a:cs typeface="Calibri" panose="020F0502020204030204" pitchFamily="34" charset="0"/>
              </a:rPr>
              <a:t> if specifically approved by the awarding agency as a direct cost.</a:t>
            </a:r>
          </a:p>
          <a:p>
            <a:r>
              <a:rPr lang="en-US" altLang="en-US" dirty="0">
                <a:solidFill>
                  <a:srgbClr val="002060"/>
                </a:solidFill>
                <a:latin typeface="Calibri" panose="020F0502020204030204" pitchFamily="34" charset="0"/>
                <a:cs typeface="Calibri" panose="020F0502020204030204" pitchFamily="34" charset="0"/>
              </a:rPr>
              <a:t>The cost of agreed-upon procedures engagements to monitor sub-recipients who are exempted from A-133 are allowable.</a:t>
            </a:r>
            <a:endParaRPr lang="en-US" dirty="0">
              <a:solidFill>
                <a:srgbClr val="00206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3125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Bad Debts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pPr marL="0" indent="0">
              <a:buNone/>
            </a:pPr>
            <a:endParaRPr lang="en-US" altLang="en-US" sz="3000" dirty="0">
              <a:latin typeface="Calibri" panose="020F0502020204030204" pitchFamily="34" charset="0"/>
              <a:cs typeface="Calibri" panose="020F0502020204030204" pitchFamily="34" charset="0"/>
            </a:endParaRPr>
          </a:p>
          <a:p>
            <a:pPr marL="0" indent="0">
              <a:buNone/>
            </a:pPr>
            <a:r>
              <a:rPr lang="en-US" altLang="en-US" sz="3000" dirty="0">
                <a:solidFill>
                  <a:srgbClr val="002060"/>
                </a:solidFill>
                <a:latin typeface="Calibri" panose="020F0502020204030204" pitchFamily="34" charset="0"/>
                <a:cs typeface="Calibri" panose="020F0502020204030204" pitchFamily="34" charset="0"/>
              </a:rPr>
              <a:t>Bad debts, including losses (whether actual or estimated) arising from uncollectible accounts and other claims, related collection costs, and related legal costs, are </a:t>
            </a:r>
            <a:r>
              <a:rPr lang="en-US" altLang="en-US" sz="3000" b="1" dirty="0">
                <a:solidFill>
                  <a:srgbClr val="002060"/>
                </a:solidFill>
                <a:latin typeface="Calibri" panose="020F0502020204030204" pitchFamily="34" charset="0"/>
                <a:cs typeface="Calibri" panose="020F0502020204030204" pitchFamily="34" charset="0"/>
              </a:rPr>
              <a:t>unallowable</a:t>
            </a:r>
            <a:r>
              <a:rPr lang="en-US" altLang="en-US" sz="3000" dirty="0">
                <a:solidFill>
                  <a:srgbClr val="002060"/>
                </a:solidFill>
                <a:latin typeface="Calibri" panose="020F0502020204030204" pitchFamily="34" charset="0"/>
                <a:cs typeface="Calibri" panose="020F0502020204030204" pitchFamily="34" charset="0"/>
              </a:rPr>
              <a:t>.</a:t>
            </a:r>
          </a:p>
          <a:p>
            <a:pPr marL="0" indent="0">
              <a:buNone/>
            </a:pPr>
            <a:endParaRPr lang="en-US" dirty="0"/>
          </a:p>
        </p:txBody>
      </p:sp>
      <p:pic>
        <p:nvPicPr>
          <p:cNvPr id="2051" name="Picture 3" descr="C:\Users\vafscsinglc\AppData\Local\Microsoft\Windows\Temporary Internet Files\Content.IE5\C4XE2102\MP900442197[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0800" y="3962400"/>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1466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dirty="0"/>
              <a:t>Compensation for Personal Services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marL="0" indent="0">
              <a:lnSpc>
                <a:spcPct val="90000"/>
              </a:lnSpc>
              <a:buNone/>
            </a:pPr>
            <a:r>
              <a:rPr lang="en-US" altLang="en-US" sz="3000" dirty="0">
                <a:solidFill>
                  <a:srgbClr val="002060"/>
                </a:solidFill>
                <a:latin typeface="Calibri" panose="020F0502020204030204" pitchFamily="34" charset="0"/>
                <a:cs typeface="Calibri" panose="020F0502020204030204" pitchFamily="34" charset="0"/>
              </a:rPr>
              <a:t>Support of salaries and wages must include a Personnel Activity Reports (PARs or Time Distribution Reports)</a:t>
            </a:r>
          </a:p>
          <a:p>
            <a:pPr marL="0" indent="0">
              <a:lnSpc>
                <a:spcPct val="90000"/>
              </a:lnSpc>
              <a:buNone/>
            </a:pPr>
            <a:endParaRPr lang="en-US" altLang="en-US" sz="3000" dirty="0">
              <a:solidFill>
                <a:srgbClr val="002060"/>
              </a:solidFill>
              <a:latin typeface="Calibri" panose="020F0502020204030204" pitchFamily="34" charset="0"/>
              <a:cs typeface="Calibri" panose="020F0502020204030204" pitchFamily="34" charset="0"/>
            </a:endParaRPr>
          </a:p>
          <a:p>
            <a:pPr marL="0" indent="0">
              <a:lnSpc>
                <a:spcPct val="90000"/>
              </a:lnSpc>
              <a:buNone/>
            </a:pPr>
            <a:r>
              <a:rPr lang="en-US" altLang="en-US" sz="3000" dirty="0">
                <a:solidFill>
                  <a:srgbClr val="002060"/>
                </a:solidFill>
                <a:latin typeface="Calibri" panose="020F0502020204030204" pitchFamily="34" charset="0"/>
                <a:cs typeface="Calibri" panose="020F0502020204030204" pitchFamily="34" charset="0"/>
              </a:rPr>
              <a:t>PARs must adhere to the following requirements:</a:t>
            </a:r>
          </a:p>
          <a:p>
            <a:pPr marL="0" indent="0">
              <a:lnSpc>
                <a:spcPct val="90000"/>
              </a:lnSpc>
              <a:buNone/>
            </a:pPr>
            <a:endParaRPr lang="en-US" altLang="en-US" sz="3000" dirty="0">
              <a:solidFill>
                <a:srgbClr val="002060"/>
              </a:solidFill>
              <a:latin typeface="Calibri" panose="020F0502020204030204" pitchFamily="34" charset="0"/>
              <a:cs typeface="Calibri" panose="020F0502020204030204" pitchFamily="34" charset="0"/>
            </a:endParaRPr>
          </a:p>
          <a:p>
            <a:pPr lvl="2">
              <a:lnSpc>
                <a:spcPct val="90000"/>
              </a:lnSpc>
            </a:pPr>
            <a:r>
              <a:rPr lang="en-US" altLang="en-US" sz="3000" dirty="0">
                <a:solidFill>
                  <a:srgbClr val="002060"/>
                </a:solidFill>
                <a:latin typeface="Calibri" panose="020F0502020204030204" pitchFamily="34" charset="0"/>
                <a:cs typeface="Calibri" panose="020F0502020204030204" pitchFamily="34" charset="0"/>
              </a:rPr>
              <a:t>Must reflect after-the-fact determination of activity (not budget estimates).</a:t>
            </a:r>
          </a:p>
          <a:p>
            <a:pPr lvl="2">
              <a:lnSpc>
                <a:spcPct val="90000"/>
              </a:lnSpc>
            </a:pPr>
            <a:r>
              <a:rPr lang="en-US" altLang="en-US" sz="3000" dirty="0">
                <a:solidFill>
                  <a:srgbClr val="002060"/>
                </a:solidFill>
                <a:latin typeface="Calibri" panose="020F0502020204030204" pitchFamily="34" charset="0"/>
                <a:cs typeface="Calibri" panose="020F0502020204030204" pitchFamily="34" charset="0"/>
              </a:rPr>
              <a:t>Must account for total activity for which employee is compensated.</a:t>
            </a:r>
          </a:p>
          <a:p>
            <a:pPr lvl="2">
              <a:lnSpc>
                <a:spcPct val="90000"/>
              </a:lnSpc>
            </a:pPr>
            <a:r>
              <a:rPr lang="en-US" altLang="en-US" sz="3000" dirty="0">
                <a:solidFill>
                  <a:srgbClr val="002060"/>
                </a:solidFill>
                <a:latin typeface="Calibri" panose="020F0502020204030204" pitchFamily="34" charset="0"/>
                <a:cs typeface="Calibri" panose="020F0502020204030204" pitchFamily="34" charset="0"/>
              </a:rPr>
              <a:t>Must be signed by the employee or responsible supervisor.</a:t>
            </a:r>
          </a:p>
          <a:p>
            <a:pPr lvl="2">
              <a:lnSpc>
                <a:spcPct val="90000"/>
              </a:lnSpc>
            </a:pPr>
            <a:r>
              <a:rPr lang="en-US" altLang="en-US" sz="3000" dirty="0">
                <a:solidFill>
                  <a:srgbClr val="002060"/>
                </a:solidFill>
                <a:latin typeface="Calibri" panose="020F0502020204030204" pitchFamily="34" charset="0"/>
                <a:cs typeface="Calibri" panose="020F0502020204030204" pitchFamily="34" charset="0"/>
              </a:rPr>
              <a:t>Must be prepared at least monthly and coincide with one or more pay periods.</a:t>
            </a:r>
          </a:p>
          <a:p>
            <a:endParaRPr lang="en-US" dirty="0"/>
          </a:p>
        </p:txBody>
      </p:sp>
    </p:spTree>
    <p:extLst>
      <p:ext uri="{BB962C8B-B14F-4D97-AF65-F5344CB8AC3E}">
        <p14:creationId xmlns:p14="http://schemas.microsoft.com/office/powerpoint/2010/main" val="4124133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dirty="0"/>
              <a:t>Depreciation</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400" dirty="0">
                <a:solidFill>
                  <a:srgbClr val="002060"/>
                </a:solidFill>
              </a:rPr>
              <a:t>Depreciation on buildings or equipment furnished by the federal government or purchased through federal grants are not an allowable expense.</a:t>
            </a:r>
          </a:p>
          <a:p>
            <a:pPr marL="0" indent="0" algn="just">
              <a:buNone/>
            </a:pPr>
            <a:r>
              <a:rPr lang="en-US" sz="2400" dirty="0">
                <a:solidFill>
                  <a:srgbClr val="002060"/>
                </a:solidFill>
              </a:rPr>
              <a:t>This pertains to capital items that are purchased with federal dollars. </a:t>
            </a:r>
          </a:p>
          <a:p>
            <a:r>
              <a:rPr lang="en-US" sz="2400" dirty="0">
                <a:solidFill>
                  <a:srgbClr val="002060"/>
                </a:solidFill>
              </a:rPr>
              <a:t>Compensation for the use of buildings, other capital improvements, and equipment on hand may be made through use allowance or depreciation. </a:t>
            </a:r>
          </a:p>
          <a:p>
            <a:pPr marL="0" indent="0" algn="just">
              <a:buNone/>
            </a:pPr>
            <a:r>
              <a:rPr lang="en-US" sz="2400" dirty="0">
                <a:solidFill>
                  <a:srgbClr val="002060"/>
                </a:solidFill>
              </a:rPr>
              <a:t>This pertains to capital items that were previously purchased with non federal funds.  Depreciation is </a:t>
            </a:r>
            <a:r>
              <a:rPr lang="en-US" sz="2400" i="1" u="sng" dirty="0">
                <a:solidFill>
                  <a:srgbClr val="002060"/>
                </a:solidFill>
              </a:rPr>
              <a:t>not allowable </a:t>
            </a:r>
            <a:r>
              <a:rPr lang="en-US" sz="2400" dirty="0">
                <a:solidFill>
                  <a:srgbClr val="002060"/>
                </a:solidFill>
              </a:rPr>
              <a:t>on cost sharing.  (Assets purchased with Capital Grant 35% Matching Requirement) </a:t>
            </a:r>
          </a:p>
        </p:txBody>
      </p:sp>
    </p:spTree>
    <p:extLst>
      <p:ext uri="{BB962C8B-B14F-4D97-AF65-F5344CB8AC3E}">
        <p14:creationId xmlns:p14="http://schemas.microsoft.com/office/powerpoint/2010/main" val="3180938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r>
              <a:rPr lang="en-US" dirty="0">
                <a:solidFill>
                  <a:schemeClr val="lt1"/>
                </a:solidFill>
              </a:rPr>
              <a:t>Contributions and Donations </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r>
              <a:rPr lang="en-US" dirty="0">
                <a:solidFill>
                  <a:schemeClr val="tx2"/>
                </a:solidFill>
              </a:rPr>
              <a:t>Costs of contributions and donations, including cash, property, and services, from the non – Federal entity to other entities, are unallowable.</a:t>
            </a:r>
          </a:p>
          <a:p>
            <a:r>
              <a:rPr lang="en-US" dirty="0">
                <a:solidFill>
                  <a:schemeClr val="tx2"/>
                </a:solidFill>
              </a:rPr>
              <a:t>The value of services and property donated to the non-Federal entity may not be charged to the Federal award either as a direct or indirect (F&amp;A) cost. </a:t>
            </a:r>
          </a:p>
          <a:p>
            <a:r>
              <a:rPr lang="en-US" dirty="0">
                <a:solidFill>
                  <a:schemeClr val="tx2"/>
                </a:solidFill>
              </a:rPr>
              <a:t>The value of donated services and property may be used to meet cost sharing or matching requirements (see § 200.306 Cost sharing or matching). </a:t>
            </a:r>
          </a:p>
          <a:p>
            <a:r>
              <a:rPr lang="en-US" i="1" dirty="0">
                <a:solidFill>
                  <a:schemeClr val="tx2"/>
                </a:solidFill>
              </a:rPr>
              <a:t>Depreciation on donated assets is permitted in accordance with § 200.436 Depreciation, as long as the donated property is not counted towards cost sharing or matching requirements.</a:t>
            </a:r>
          </a:p>
        </p:txBody>
      </p:sp>
    </p:spTree>
    <p:extLst>
      <p:ext uri="{BB962C8B-B14F-4D97-AF65-F5344CB8AC3E}">
        <p14:creationId xmlns:p14="http://schemas.microsoft.com/office/powerpoint/2010/main" val="22656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Entertainment</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pPr marL="0" indent="0">
              <a:buNone/>
            </a:pPr>
            <a:r>
              <a:rPr lang="en-US" altLang="en-US" dirty="0">
                <a:solidFill>
                  <a:srgbClr val="002060"/>
                </a:solidFill>
                <a:latin typeface="Calibri" panose="020F0502020204030204" pitchFamily="34" charset="0"/>
                <a:cs typeface="Calibri" panose="020F0502020204030204" pitchFamily="34" charset="0"/>
              </a:rPr>
              <a:t>Costs of entertainment, including amusement, diversion and  social activities and costs relating to these activities such as tickets, meals, lodging, rentals, transportation and gratuities are</a:t>
            </a:r>
            <a:r>
              <a:rPr lang="en-US" altLang="en-US" b="1" dirty="0">
                <a:solidFill>
                  <a:srgbClr val="002060"/>
                </a:solidFill>
                <a:latin typeface="Calibri" panose="020F0502020204030204" pitchFamily="34" charset="0"/>
                <a:cs typeface="Calibri" panose="020F0502020204030204" pitchFamily="34" charset="0"/>
              </a:rPr>
              <a:t> unallowable, unless…..</a:t>
            </a:r>
          </a:p>
          <a:p>
            <a:pPr marL="0" indent="0">
              <a:buNone/>
            </a:pPr>
            <a:r>
              <a:rPr lang="en-US" altLang="en-US" b="1" dirty="0">
                <a:solidFill>
                  <a:srgbClr val="002060"/>
                </a:solidFill>
                <a:latin typeface="Calibri" panose="020F0502020204030204" pitchFamily="34" charset="0"/>
                <a:cs typeface="Calibri" panose="020F0502020204030204" pitchFamily="34" charset="0"/>
              </a:rPr>
              <a:t> </a:t>
            </a:r>
          </a:p>
          <a:p>
            <a:pPr marL="0" indent="0">
              <a:buNone/>
            </a:pPr>
            <a:endParaRPr lang="en-US" altLang="en-US" b="1" dirty="0">
              <a:solidFill>
                <a:schemeClr val="tx2"/>
              </a:solidFill>
              <a:latin typeface="Calibri" panose="020F0502020204030204" pitchFamily="34" charset="0"/>
              <a:cs typeface="Calibri" panose="020F0502020204030204" pitchFamily="34" charset="0"/>
            </a:endParaRPr>
          </a:p>
          <a:p>
            <a:pPr marL="3543300" lvl="8" indent="0">
              <a:buNone/>
            </a:pPr>
            <a:endParaRPr lang="en-US" dirty="0">
              <a:solidFill>
                <a:schemeClr val="tx2"/>
              </a:solidFill>
              <a:latin typeface="Calibri" panose="020F0502020204030204" pitchFamily="34" charset="0"/>
              <a:cs typeface="Calibri" panose="020F0502020204030204" pitchFamily="34" charset="0"/>
            </a:endParaRPr>
          </a:p>
        </p:txBody>
      </p:sp>
      <p:pic>
        <p:nvPicPr>
          <p:cNvPr id="3077" name="Picture 5" descr="C:\Users\vafscsinglc\AppData\Local\Microsoft\Windows\Temporary Internet Files\Content.IE5\2PSWB2YT\MP900177898[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3733800"/>
            <a:ext cx="24384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Users\vafscsinglc\AppData\Local\Microsoft\Windows\Temporary Internet Files\Content.IE5\S2MWLA75\MP900305705[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648200"/>
            <a:ext cx="2749296"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751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a:bodyPr>
          <a:lstStyle/>
          <a:p>
            <a:r>
              <a:rPr lang="en-US" dirty="0">
                <a:solidFill>
                  <a:srgbClr val="002060"/>
                </a:solidFill>
                <a:latin typeface="Calibri" panose="020F0502020204030204" pitchFamily="34" charset="0"/>
                <a:cs typeface="Calibri" panose="020F0502020204030204" pitchFamily="34" charset="0"/>
              </a:rPr>
              <a:t>Those cost have a programmatic purpose and are authorized in the approved budget , or</a:t>
            </a:r>
          </a:p>
          <a:p>
            <a:r>
              <a:rPr lang="en-US" dirty="0">
                <a:solidFill>
                  <a:srgbClr val="002060"/>
                </a:solidFill>
                <a:latin typeface="Calibri" panose="020F0502020204030204" pitchFamily="34" charset="0"/>
                <a:cs typeface="Calibri" panose="020F0502020204030204" pitchFamily="34" charset="0"/>
              </a:rPr>
              <a:t>Those cost have prior written approval from the federal awarding agency.</a:t>
            </a:r>
          </a:p>
          <a:p>
            <a:pPr marL="0" indent="0" algn="just">
              <a:buNone/>
            </a:pPr>
            <a:r>
              <a:rPr lang="en-US" sz="2800" dirty="0">
                <a:solidFill>
                  <a:srgbClr val="002060"/>
                </a:solidFill>
                <a:latin typeface="Calibri" panose="020F0502020204030204" pitchFamily="34" charset="0"/>
                <a:cs typeface="Calibri" panose="020F0502020204030204" pitchFamily="34" charset="0"/>
              </a:rPr>
              <a:t>VA GPD will allow these cost when involving a Veteran population with a program specific purpose. Limits are set to no more than twice a year and no more than $20 per person. </a:t>
            </a:r>
          </a:p>
        </p:txBody>
      </p:sp>
      <p:sp>
        <p:nvSpPr>
          <p:cNvPr id="4"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Entertainment</a:t>
            </a:r>
          </a:p>
        </p:txBody>
      </p:sp>
    </p:spTree>
    <p:extLst>
      <p:ext uri="{BB962C8B-B14F-4D97-AF65-F5344CB8AC3E}">
        <p14:creationId xmlns:p14="http://schemas.microsoft.com/office/powerpoint/2010/main" val="345695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Fines and Penalties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r>
              <a:rPr lang="en-US" altLang="en-US" dirty="0">
                <a:solidFill>
                  <a:srgbClr val="002060"/>
                </a:solidFill>
                <a:latin typeface="Calibri" panose="020F0502020204030204" pitchFamily="34" charset="0"/>
                <a:cs typeface="Calibri" panose="020F0502020204030204" pitchFamily="34" charset="0"/>
              </a:rPr>
              <a:t>Costs of failures to comply with Federal, state, or local laws are </a:t>
            </a:r>
            <a:r>
              <a:rPr lang="en-US" altLang="en-US" b="1" dirty="0">
                <a:solidFill>
                  <a:srgbClr val="002060"/>
                </a:solidFill>
                <a:latin typeface="Calibri" panose="020F0502020204030204" pitchFamily="34" charset="0"/>
                <a:cs typeface="Calibri" panose="020F0502020204030204" pitchFamily="34" charset="0"/>
              </a:rPr>
              <a:t>unallowable</a:t>
            </a:r>
            <a:r>
              <a:rPr lang="en-US" altLang="en-US" dirty="0">
                <a:solidFill>
                  <a:srgbClr val="002060"/>
                </a:solidFill>
                <a:latin typeface="Calibri" panose="020F0502020204030204" pitchFamily="34" charset="0"/>
                <a:cs typeface="Calibri" panose="020F0502020204030204" pitchFamily="34" charset="0"/>
              </a:rPr>
              <a:t>.</a:t>
            </a:r>
          </a:p>
          <a:p>
            <a:r>
              <a:rPr lang="en-US" altLang="en-US" dirty="0">
                <a:solidFill>
                  <a:srgbClr val="002060"/>
                </a:solidFill>
                <a:latin typeface="Calibri" panose="020F0502020204030204" pitchFamily="34" charset="0"/>
                <a:cs typeface="Calibri" panose="020F0502020204030204" pitchFamily="34" charset="0"/>
              </a:rPr>
              <a:t>Allowable if incurred as a result of compliance with specific provisions of an award or instructions in writing from the awarding agency.</a:t>
            </a:r>
          </a:p>
          <a:p>
            <a:pPr marL="0" indent="0">
              <a:buNone/>
            </a:pPr>
            <a:endParaRPr lang="en-US" dirty="0"/>
          </a:p>
        </p:txBody>
      </p:sp>
    </p:spTree>
    <p:extLst>
      <p:ext uri="{BB962C8B-B14F-4D97-AF65-F5344CB8AC3E}">
        <p14:creationId xmlns:p14="http://schemas.microsoft.com/office/powerpoint/2010/main" val="4141593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Fund Raising</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a:bodyPr>
          <a:lstStyle/>
          <a:p>
            <a:r>
              <a:rPr lang="en-US" altLang="en-US" dirty="0">
                <a:solidFill>
                  <a:srgbClr val="002060"/>
                </a:solidFill>
                <a:latin typeface="Calibri" panose="020F0502020204030204" pitchFamily="34" charset="0"/>
                <a:cs typeface="Calibri" panose="020F0502020204030204" pitchFamily="34" charset="0"/>
              </a:rPr>
              <a:t>Fund raising and similar expenses incurred solely to raise capital or obtain contributions are </a:t>
            </a:r>
            <a:r>
              <a:rPr lang="en-US" altLang="en-US" b="1" dirty="0">
                <a:solidFill>
                  <a:srgbClr val="002060"/>
                </a:solidFill>
                <a:latin typeface="Calibri" panose="020F0502020204030204" pitchFamily="34" charset="0"/>
                <a:cs typeface="Calibri" panose="020F0502020204030204" pitchFamily="34" charset="0"/>
              </a:rPr>
              <a:t>unallowable</a:t>
            </a:r>
            <a:r>
              <a:rPr lang="en-US" altLang="en-US" dirty="0">
                <a:solidFill>
                  <a:srgbClr val="002060"/>
                </a:solidFill>
                <a:latin typeface="Calibri" panose="020F0502020204030204" pitchFamily="34" charset="0"/>
                <a:cs typeface="Calibri" panose="020F0502020204030204" pitchFamily="34" charset="0"/>
              </a:rPr>
              <a:t>.</a:t>
            </a:r>
          </a:p>
          <a:p>
            <a:pPr>
              <a:buNone/>
            </a:pPr>
            <a:endParaRPr lang="en-US" altLang="en-US" dirty="0">
              <a:solidFill>
                <a:srgbClr val="002060"/>
              </a:solidFill>
              <a:latin typeface="Calibri" panose="020F0502020204030204" pitchFamily="34" charset="0"/>
              <a:cs typeface="Calibri" panose="020F0502020204030204" pitchFamily="34" charset="0"/>
            </a:endParaRPr>
          </a:p>
          <a:p>
            <a:r>
              <a:rPr lang="en-US" altLang="en-US" dirty="0">
                <a:solidFill>
                  <a:srgbClr val="002060"/>
                </a:solidFill>
                <a:latin typeface="Calibri" panose="020F0502020204030204" pitchFamily="34" charset="0"/>
                <a:cs typeface="Calibri" panose="020F0502020204030204" pitchFamily="34" charset="0"/>
              </a:rPr>
              <a:t>Fund raising activities shall be allocated an appropriate share of indirect costs.</a:t>
            </a:r>
          </a:p>
        </p:txBody>
      </p:sp>
    </p:spTree>
    <p:extLst>
      <p:ext uri="{BB962C8B-B14F-4D97-AF65-F5344CB8AC3E}">
        <p14:creationId xmlns:p14="http://schemas.microsoft.com/office/powerpoint/2010/main" val="3106531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latin typeface="+mn-lt"/>
              </a:rPr>
              <a:t>Gift Cards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pPr marL="0" indent="0" algn="ctr">
              <a:buNone/>
            </a:pPr>
            <a:endParaRPr lang="en-US" dirty="0">
              <a:solidFill>
                <a:srgbClr val="002060"/>
              </a:solidFill>
            </a:endParaRPr>
          </a:p>
          <a:p>
            <a:pPr marL="0" indent="0" algn="ctr">
              <a:buNone/>
            </a:pPr>
            <a:r>
              <a:rPr lang="en-US" b="1" dirty="0">
                <a:solidFill>
                  <a:srgbClr val="002060"/>
                </a:solidFill>
              </a:rPr>
              <a:t>Unallowable</a:t>
            </a:r>
            <a:r>
              <a:rPr lang="en-US" dirty="0">
                <a:solidFill>
                  <a:srgbClr val="002060"/>
                </a:solidFill>
              </a:rPr>
              <a:t> regardless of the circumstance.</a:t>
            </a:r>
          </a:p>
          <a:p>
            <a:pPr marL="0" indent="0" algn="ctr">
              <a:buNone/>
            </a:pPr>
            <a:r>
              <a:rPr lang="en-US" dirty="0">
                <a:solidFill>
                  <a:srgbClr val="002060"/>
                </a:solidFill>
              </a:rPr>
              <a:t> </a:t>
            </a:r>
          </a:p>
        </p:txBody>
      </p:sp>
      <p:pic>
        <p:nvPicPr>
          <p:cNvPr id="2050" name="Picture 2" descr="C:\Users\vafscsinglc\AppData\Local\Microsoft\Windows\Temporary Internet Files\Content.IE5\C4XE2102\MP900442458[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3200" y="3197481"/>
            <a:ext cx="2971800" cy="2488932"/>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7"/>
          <p:cNvSpPr>
            <a:spLocks noChangeArrowheads="1"/>
          </p:cNvSpPr>
          <p:nvPr/>
        </p:nvSpPr>
        <p:spPr bwMode="auto">
          <a:xfrm>
            <a:off x="2513202" y="2896998"/>
            <a:ext cx="3429000" cy="31242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932" y="16959"/>
                </a:moveTo>
                <a:cubicBezTo>
                  <a:pt x="19410" y="15248"/>
                  <a:pt x="20224" y="13061"/>
                  <a:pt x="20224" y="10800"/>
                </a:cubicBezTo>
                <a:cubicBezTo>
                  <a:pt x="20224" y="5595"/>
                  <a:pt x="16004" y="1376"/>
                  <a:pt x="10800" y="1376"/>
                </a:cubicBezTo>
                <a:cubicBezTo>
                  <a:pt x="8538" y="1375"/>
                  <a:pt x="6351" y="2189"/>
                  <a:pt x="4640" y="3667"/>
                </a:cubicBezTo>
                <a:lnTo>
                  <a:pt x="17932" y="16959"/>
                </a:lnTo>
                <a:close/>
                <a:moveTo>
                  <a:pt x="3667" y="4640"/>
                </a:moveTo>
                <a:cubicBezTo>
                  <a:pt x="2189" y="6351"/>
                  <a:pt x="1376" y="8538"/>
                  <a:pt x="1376" y="10799"/>
                </a:cubicBezTo>
                <a:cubicBezTo>
                  <a:pt x="1376" y="16004"/>
                  <a:pt x="5595" y="20224"/>
                  <a:pt x="10800" y="20224"/>
                </a:cubicBezTo>
                <a:cubicBezTo>
                  <a:pt x="13061" y="20224"/>
                  <a:pt x="15248" y="19410"/>
                  <a:pt x="16959" y="17932"/>
                </a:cubicBezTo>
                <a:lnTo>
                  <a:pt x="3667" y="464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566813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Insurance</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Autofit/>
          </a:bodyPr>
          <a:lstStyle/>
          <a:p>
            <a:r>
              <a:rPr lang="en-US" altLang="en-US" dirty="0">
                <a:solidFill>
                  <a:srgbClr val="002060"/>
                </a:solidFill>
                <a:latin typeface="Calibri" panose="020F0502020204030204" pitchFamily="34" charset="0"/>
                <a:cs typeface="Calibri" panose="020F0502020204030204" pitchFamily="34" charset="0"/>
              </a:rPr>
              <a:t>Insurance required or approved pursuant to an award is allowable.</a:t>
            </a:r>
          </a:p>
          <a:p>
            <a:r>
              <a:rPr lang="en-US" altLang="en-US" dirty="0">
                <a:solidFill>
                  <a:srgbClr val="002060"/>
                </a:solidFill>
                <a:latin typeface="Calibri" panose="020F0502020204030204" pitchFamily="34" charset="0"/>
                <a:cs typeface="Calibri" panose="020F0502020204030204" pitchFamily="34" charset="0"/>
              </a:rPr>
              <a:t>Insurance carried by the organization in general conduct of business is allowable subject to the following limitations:</a:t>
            </a:r>
          </a:p>
          <a:p>
            <a:pPr lvl="1"/>
            <a:r>
              <a:rPr lang="en-US" altLang="en-US" dirty="0">
                <a:solidFill>
                  <a:srgbClr val="002060"/>
                </a:solidFill>
                <a:latin typeface="Calibri" panose="020F0502020204030204" pitchFamily="34" charset="0"/>
                <a:cs typeface="Calibri" panose="020F0502020204030204" pitchFamily="34" charset="0"/>
              </a:rPr>
              <a:t>Reasonable coverage,</a:t>
            </a:r>
          </a:p>
          <a:p>
            <a:pPr lvl="1"/>
            <a:r>
              <a:rPr lang="en-US" altLang="en-US" dirty="0">
                <a:solidFill>
                  <a:srgbClr val="002060"/>
                </a:solidFill>
                <a:latin typeface="Calibri" panose="020F0502020204030204" pitchFamily="34" charset="0"/>
                <a:cs typeface="Calibri" panose="020F0502020204030204" pitchFamily="34" charset="0"/>
              </a:rPr>
              <a:t>Cost of insurance on officers must represent additional compensation and the organization may not be identified as the beneficiary.</a:t>
            </a:r>
          </a:p>
        </p:txBody>
      </p:sp>
    </p:spTree>
    <p:extLst>
      <p:ext uri="{BB962C8B-B14F-4D97-AF65-F5344CB8AC3E}">
        <p14:creationId xmlns:p14="http://schemas.microsoft.com/office/powerpoint/2010/main" val="1610630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Lobbying</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a:bodyPr>
          <a:lstStyle/>
          <a:p>
            <a:r>
              <a:rPr lang="en-US" altLang="en-US" b="1" dirty="0">
                <a:solidFill>
                  <a:srgbClr val="002060"/>
                </a:solidFill>
                <a:latin typeface="Calibri" panose="020F0502020204030204" pitchFamily="34" charset="0"/>
                <a:cs typeface="Calibri" panose="020F0502020204030204" pitchFamily="34" charset="0"/>
              </a:rPr>
              <a:t>Unallowable</a:t>
            </a:r>
            <a:r>
              <a:rPr lang="en-US" altLang="en-US" dirty="0">
                <a:solidFill>
                  <a:srgbClr val="002060"/>
                </a:solidFill>
                <a:latin typeface="Calibri" panose="020F0502020204030204" pitchFamily="34" charset="0"/>
                <a:cs typeface="Calibri" panose="020F0502020204030204" pitchFamily="34" charset="0"/>
              </a:rPr>
              <a:t>:</a:t>
            </a:r>
          </a:p>
          <a:p>
            <a:pPr lvl="1"/>
            <a:r>
              <a:rPr lang="en-US" altLang="en-US" sz="3200" dirty="0">
                <a:solidFill>
                  <a:srgbClr val="002060"/>
                </a:solidFill>
                <a:latin typeface="Calibri" panose="020F0502020204030204" pitchFamily="34" charset="0"/>
                <a:cs typeface="Calibri" panose="020F0502020204030204" pitchFamily="34" charset="0"/>
              </a:rPr>
              <a:t>Attempts to influence election outcomes,</a:t>
            </a:r>
          </a:p>
          <a:p>
            <a:pPr lvl="1"/>
            <a:r>
              <a:rPr lang="en-US" altLang="en-US" sz="3200" dirty="0">
                <a:solidFill>
                  <a:srgbClr val="002060"/>
                </a:solidFill>
                <a:latin typeface="Calibri" panose="020F0502020204030204" pitchFamily="34" charset="0"/>
                <a:cs typeface="Calibri" panose="020F0502020204030204" pitchFamily="34" charset="0"/>
              </a:rPr>
              <a:t>Contributing to political causes,</a:t>
            </a:r>
          </a:p>
          <a:p>
            <a:pPr lvl="1"/>
            <a:r>
              <a:rPr lang="en-US" altLang="en-US" sz="3200" dirty="0">
                <a:solidFill>
                  <a:srgbClr val="002060"/>
                </a:solidFill>
                <a:latin typeface="Calibri" panose="020F0502020204030204" pitchFamily="34" charset="0"/>
                <a:cs typeface="Calibri" panose="020F0502020204030204" pitchFamily="34" charset="0"/>
              </a:rPr>
              <a:t>Attempts to influence Federal or State legislation through virtually any communicative device,</a:t>
            </a:r>
          </a:p>
          <a:p>
            <a:pPr lvl="1"/>
            <a:r>
              <a:rPr lang="en-US" altLang="en-US" sz="3200" dirty="0">
                <a:solidFill>
                  <a:srgbClr val="002060"/>
                </a:solidFill>
                <a:latin typeface="Calibri" panose="020F0502020204030204" pitchFamily="34" charset="0"/>
                <a:cs typeface="Calibri" panose="020F0502020204030204" pitchFamily="34" charset="0"/>
              </a:rPr>
              <a:t>Legislative liaison activities when performed in support of unallowable lobbying.</a:t>
            </a:r>
          </a:p>
        </p:txBody>
      </p:sp>
    </p:spTree>
    <p:extLst>
      <p:ext uri="{BB962C8B-B14F-4D97-AF65-F5344CB8AC3E}">
        <p14:creationId xmlns:p14="http://schemas.microsoft.com/office/powerpoint/2010/main" val="3234185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Maintenance and Repairs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r>
              <a:rPr lang="en-US" altLang="en-US" dirty="0">
                <a:solidFill>
                  <a:srgbClr val="002060"/>
                </a:solidFill>
                <a:latin typeface="Calibri" panose="020F0502020204030204" pitchFamily="34" charset="0"/>
                <a:cs typeface="Calibri" panose="020F0502020204030204" pitchFamily="34" charset="0"/>
              </a:rPr>
              <a:t>Costs necessary to keep buildings and equipment in efficient operating condition are allowable.</a:t>
            </a:r>
          </a:p>
          <a:p>
            <a:r>
              <a:rPr lang="en-US" altLang="en-US" dirty="0">
                <a:solidFill>
                  <a:srgbClr val="002060"/>
                </a:solidFill>
                <a:latin typeface="Calibri" panose="020F0502020204030204" pitchFamily="34" charset="0"/>
                <a:cs typeface="Calibri" panose="020F0502020204030204" pitchFamily="34" charset="0"/>
              </a:rPr>
              <a:t>Costs which add to the permanent value or appreciably prolong the life of the asset shall be treated as capital expenditures.</a:t>
            </a:r>
          </a:p>
          <a:p>
            <a:pPr marL="0" indent="0">
              <a:buNone/>
            </a:pPr>
            <a:endParaRPr lang="en-US" dirty="0">
              <a:solidFill>
                <a:srgbClr val="002060"/>
              </a:solidFill>
            </a:endParaRPr>
          </a:p>
        </p:txBody>
      </p:sp>
    </p:spTree>
    <p:extLst>
      <p:ext uri="{BB962C8B-B14F-4D97-AF65-F5344CB8AC3E}">
        <p14:creationId xmlns:p14="http://schemas.microsoft.com/office/powerpoint/2010/main" val="2234921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Meetings and Conferences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a:bodyPr>
          <a:lstStyle/>
          <a:p>
            <a:r>
              <a:rPr lang="en-US" altLang="en-US" dirty="0">
                <a:solidFill>
                  <a:srgbClr val="002060"/>
                </a:solidFill>
                <a:latin typeface="Calibri" panose="020F0502020204030204" pitchFamily="34" charset="0"/>
                <a:cs typeface="Calibri" panose="020F0502020204030204" pitchFamily="34" charset="0"/>
              </a:rPr>
              <a:t>Costs of meetings and conferences, the primary purpose of which is the dissemination of technical information, are allowable.</a:t>
            </a:r>
          </a:p>
          <a:p>
            <a:r>
              <a:rPr lang="en-US" altLang="en-US" dirty="0">
                <a:solidFill>
                  <a:srgbClr val="002060"/>
                </a:solidFill>
                <a:latin typeface="Calibri" panose="020F0502020204030204" pitchFamily="34" charset="0"/>
                <a:cs typeface="Calibri" panose="020F0502020204030204" pitchFamily="34" charset="0"/>
              </a:rPr>
              <a:t>Costs include meals, transportation, rental of facilities, speakers’ fees, and other items incidental to the meeting or conference.</a:t>
            </a:r>
          </a:p>
        </p:txBody>
      </p:sp>
    </p:spTree>
    <p:extLst>
      <p:ext uri="{BB962C8B-B14F-4D97-AF65-F5344CB8AC3E}">
        <p14:creationId xmlns:p14="http://schemas.microsoft.com/office/powerpoint/2010/main" val="1829185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Professional Service Costs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r>
              <a:rPr lang="en-US" altLang="en-US" dirty="0">
                <a:solidFill>
                  <a:srgbClr val="002060"/>
                </a:solidFill>
                <a:latin typeface="Calibri" panose="020F0502020204030204" pitchFamily="34" charset="0"/>
                <a:cs typeface="Calibri" panose="020F0502020204030204" pitchFamily="34" charset="0"/>
              </a:rPr>
              <a:t>Costs of professional and consultant services rendered by persons who are members of a particular profession or possess a special skill, and who are not officers or employees of the non-profit organization, are generally allowable if reasonable and not contingent on recovery of costs from the Federal government.</a:t>
            </a:r>
          </a:p>
          <a:p>
            <a:endParaRPr lang="en-US" dirty="0"/>
          </a:p>
        </p:txBody>
      </p:sp>
    </p:spTree>
    <p:extLst>
      <p:ext uri="{BB962C8B-B14F-4D97-AF65-F5344CB8AC3E}">
        <p14:creationId xmlns:p14="http://schemas.microsoft.com/office/powerpoint/2010/main" val="1673003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Recruiting</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a:bodyPr>
          <a:lstStyle/>
          <a:p>
            <a:r>
              <a:rPr lang="en-US" altLang="en-US" dirty="0">
                <a:solidFill>
                  <a:srgbClr val="002060"/>
                </a:solidFill>
                <a:latin typeface="Calibri" panose="020F0502020204030204" pitchFamily="34" charset="0"/>
                <a:cs typeface="Calibri" panose="020F0502020204030204" pitchFamily="34" charset="0"/>
              </a:rPr>
              <a:t>Generally, advertising and associated costs incurred for recruitment of staff are allowable but</a:t>
            </a:r>
          </a:p>
          <a:p>
            <a:pPr lvl="1"/>
            <a:r>
              <a:rPr lang="en-US" altLang="en-US" sz="3200" dirty="0">
                <a:solidFill>
                  <a:srgbClr val="002060"/>
                </a:solidFill>
                <a:latin typeface="Calibri" panose="020F0502020204030204" pitchFamily="34" charset="0"/>
                <a:cs typeface="Calibri" panose="020F0502020204030204" pitchFamily="34" charset="0"/>
              </a:rPr>
              <a:t>They must  meet the test of reasonableness and,</a:t>
            </a:r>
          </a:p>
          <a:p>
            <a:pPr lvl="1"/>
            <a:r>
              <a:rPr lang="en-US" altLang="en-US" sz="3200" dirty="0">
                <a:solidFill>
                  <a:srgbClr val="002060"/>
                </a:solidFill>
                <a:latin typeface="Calibri" panose="020F0502020204030204" pitchFamily="34" charset="0"/>
                <a:cs typeface="Calibri" panose="020F0502020204030204" pitchFamily="34" charset="0"/>
              </a:rPr>
              <a:t>They must conform with established practices of the organization.</a:t>
            </a:r>
          </a:p>
        </p:txBody>
      </p:sp>
    </p:spTree>
    <p:extLst>
      <p:ext uri="{BB962C8B-B14F-4D97-AF65-F5344CB8AC3E}">
        <p14:creationId xmlns:p14="http://schemas.microsoft.com/office/powerpoint/2010/main" val="3557955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Supplies to Support Veterans </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normAutofit/>
          </a:bodyPr>
          <a:lstStyle/>
          <a:p>
            <a:r>
              <a:rPr lang="en-US" altLang="en-US" dirty="0">
                <a:solidFill>
                  <a:srgbClr val="002060"/>
                </a:solidFill>
                <a:latin typeface="Calibri" panose="020F0502020204030204" pitchFamily="34" charset="0"/>
                <a:cs typeface="Calibri" panose="020F0502020204030204" pitchFamily="34" charset="0"/>
              </a:rPr>
              <a:t>Costs incurred for materials and supplies necessary to carry out a Federal award and are tied to a Veteran’s service / treatment plan  are allowable</a:t>
            </a:r>
            <a:r>
              <a:rPr lang="en-US" altLang="en-US" sz="3200" dirty="0">
                <a:solidFill>
                  <a:srgbClr val="002060"/>
                </a:solidFill>
                <a:latin typeface="Calibri" panose="020F0502020204030204" pitchFamily="34" charset="0"/>
                <a:cs typeface="Calibri" panose="020F0502020204030204" pitchFamily="34" charset="0"/>
              </a:rPr>
              <a:t>.  </a:t>
            </a:r>
          </a:p>
          <a:p>
            <a:pPr lvl="1"/>
            <a:r>
              <a:rPr lang="en-US" altLang="en-US" dirty="0">
                <a:solidFill>
                  <a:srgbClr val="002060"/>
                </a:solidFill>
                <a:latin typeface="Calibri" panose="020F0502020204030204" pitchFamily="34" charset="0"/>
                <a:cs typeface="Calibri" panose="020F0502020204030204" pitchFamily="34" charset="0"/>
              </a:rPr>
              <a:t>Bus Tokens</a:t>
            </a:r>
          </a:p>
          <a:p>
            <a:pPr lvl="1"/>
            <a:r>
              <a:rPr lang="en-US" altLang="en-US" dirty="0">
                <a:solidFill>
                  <a:srgbClr val="002060"/>
                </a:solidFill>
                <a:latin typeface="Calibri" panose="020F0502020204030204" pitchFamily="34" charset="0"/>
                <a:cs typeface="Calibri" panose="020F0502020204030204" pitchFamily="34" charset="0"/>
              </a:rPr>
              <a:t>Work / school related materials</a:t>
            </a:r>
          </a:p>
          <a:p>
            <a:pPr marL="457200" lvl="1" indent="0">
              <a:buNone/>
            </a:pPr>
            <a:r>
              <a:rPr lang="en-US" altLang="en-US" dirty="0">
                <a:solidFill>
                  <a:srgbClr val="002060"/>
                </a:solidFill>
                <a:latin typeface="Calibri" panose="020F0502020204030204" pitchFamily="34" charset="0"/>
                <a:cs typeface="Calibri" panose="020F0502020204030204" pitchFamily="34" charset="0"/>
              </a:rPr>
              <a:t>These costs should be adequately documented and tracked. </a:t>
            </a:r>
          </a:p>
          <a:p>
            <a:pPr marL="0" indent="0">
              <a:buNone/>
            </a:pPr>
            <a:endParaRPr lang="en-US" altLang="en-US" sz="3200" dirty="0">
              <a:solidFill>
                <a:srgbClr val="00206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58941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Training Costs</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r>
              <a:rPr lang="en-US" altLang="en-US" dirty="0">
                <a:solidFill>
                  <a:srgbClr val="002060"/>
                </a:solidFill>
                <a:latin typeface="Calibri" panose="020F0502020204030204" pitchFamily="34" charset="0"/>
                <a:cs typeface="Calibri" panose="020F0502020204030204" pitchFamily="34" charset="0"/>
              </a:rPr>
              <a:t>Generally, training and education costs related to employee development, such as, workshops, textbooks, classes, etc. are allowable.</a:t>
            </a:r>
          </a:p>
          <a:p>
            <a:pPr marL="0" indent="0">
              <a:buNone/>
            </a:pPr>
            <a:endParaRPr lang="en-US" dirty="0">
              <a:solidFill>
                <a:schemeClr val="tx2"/>
              </a:solidFill>
            </a:endParaRPr>
          </a:p>
        </p:txBody>
      </p:sp>
      <p:pic>
        <p:nvPicPr>
          <p:cNvPr id="4099" name="Picture 3" descr="C:\Users\vafscsinglc\AppData\Local\Microsoft\Windows\Temporary Internet Files\Content.IE5\S2MWLA75\MP900427762[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800" y="3276600"/>
            <a:ext cx="2667000" cy="2514600"/>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C:\Users\vafscsinglc\AppData\Local\Microsoft\Windows\Temporary Internet Files\Content.IE5\85FWO67T\dglxasset[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4114800"/>
            <a:ext cx="2051819"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4407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Transportation</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r>
              <a:rPr lang="en-US" altLang="en-US" dirty="0">
                <a:solidFill>
                  <a:srgbClr val="002060"/>
                </a:solidFill>
                <a:latin typeface="Calibri" panose="020F0502020204030204" pitchFamily="34" charset="0"/>
                <a:cs typeface="Calibri" panose="020F0502020204030204" pitchFamily="34" charset="0"/>
              </a:rPr>
              <a:t>Allowable as direct if provided for in the award.</a:t>
            </a:r>
          </a:p>
          <a:p>
            <a:r>
              <a:rPr lang="en-US" altLang="en-US" dirty="0">
                <a:solidFill>
                  <a:srgbClr val="002060"/>
                </a:solidFill>
                <a:latin typeface="Calibri" panose="020F0502020204030204" pitchFamily="34" charset="0"/>
                <a:cs typeface="Calibri" panose="020F0502020204030204" pitchFamily="34" charset="0"/>
              </a:rPr>
              <a:t>Allowable as indirect for equitable distribution to all benefiting activities.</a:t>
            </a:r>
          </a:p>
          <a:p>
            <a:pPr marL="0" indent="0">
              <a:buNone/>
            </a:pPr>
            <a:endParaRPr lang="en-US" dirty="0">
              <a:solidFill>
                <a:schemeClr val="tx2"/>
              </a:solidFill>
            </a:endParaRPr>
          </a:p>
          <a:p>
            <a:pPr marL="0" indent="0">
              <a:buNone/>
            </a:pPr>
            <a:endParaRPr lang="en-US" dirty="0">
              <a:solidFill>
                <a:schemeClr val="tx2"/>
              </a:solidFill>
            </a:endParaRPr>
          </a:p>
          <a:p>
            <a:pPr marL="0" indent="0">
              <a:buNone/>
            </a:pPr>
            <a:endParaRPr lang="en-US" dirty="0">
              <a:solidFill>
                <a:schemeClr val="tx2"/>
              </a:solidFill>
            </a:endParaRPr>
          </a:p>
        </p:txBody>
      </p:sp>
    </p:spTree>
    <p:extLst>
      <p:ext uri="{BB962C8B-B14F-4D97-AF65-F5344CB8AC3E}">
        <p14:creationId xmlns:p14="http://schemas.microsoft.com/office/powerpoint/2010/main" val="1002383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Travel</a:t>
            </a:r>
          </a:p>
        </p:txBody>
      </p:sp>
      <p:sp>
        <p:nvSpPr>
          <p:cNvPr id="3" name="Content Placeholder 2"/>
          <p:cNvSpPr>
            <a:spLocks noGrp="1"/>
          </p:cNvSpPr>
          <p:nvPr>
            <p:ph idx="1"/>
          </p:nvPr>
        </p:nvSpPr>
        <p:spPr>
          <a:ln>
            <a:solidFill>
              <a:schemeClr val="tx2"/>
            </a:solidFill>
          </a:ln>
        </p:spPr>
        <p:style>
          <a:lnRef idx="2">
            <a:schemeClr val="accent1"/>
          </a:lnRef>
          <a:fillRef idx="1">
            <a:schemeClr val="lt1"/>
          </a:fillRef>
          <a:effectRef idx="0">
            <a:schemeClr val="accent1"/>
          </a:effectRef>
          <a:fontRef idx="minor">
            <a:schemeClr val="dk1"/>
          </a:fontRef>
        </p:style>
        <p:txBody>
          <a:bodyPr/>
          <a:lstStyle/>
          <a:p>
            <a:pPr>
              <a:lnSpc>
                <a:spcPct val="90000"/>
              </a:lnSpc>
            </a:pPr>
            <a:r>
              <a:rPr lang="en-US" altLang="en-US" dirty="0">
                <a:solidFill>
                  <a:srgbClr val="002060"/>
                </a:solidFill>
                <a:latin typeface="Calibri" panose="020F0502020204030204" pitchFamily="34" charset="0"/>
                <a:cs typeface="Calibri" panose="020F0502020204030204" pitchFamily="34" charset="0"/>
              </a:rPr>
              <a:t>Expenses for transportation, lodging, subsistence, and related items incurred by employees on official business are allowable.</a:t>
            </a:r>
          </a:p>
          <a:p>
            <a:pPr>
              <a:lnSpc>
                <a:spcPct val="90000"/>
              </a:lnSpc>
            </a:pPr>
            <a:r>
              <a:rPr lang="en-US" altLang="en-US" dirty="0">
                <a:solidFill>
                  <a:srgbClr val="002060"/>
                </a:solidFill>
                <a:latin typeface="Calibri" panose="020F0502020204030204" pitchFamily="34" charset="0"/>
                <a:cs typeface="Calibri" panose="020F0502020204030204" pitchFamily="34" charset="0"/>
              </a:rPr>
              <a:t>Costs may be charged on an actual basis, per diem or mileage basis or a combination, but must be consistent with those normally allowed by the organization. </a:t>
            </a:r>
          </a:p>
          <a:p>
            <a:pPr marL="0" indent="0">
              <a:buNone/>
            </a:pPr>
            <a:endParaRPr lang="en-US" dirty="0">
              <a:solidFill>
                <a:schemeClr val="tx2"/>
              </a:solidFill>
            </a:endParaRPr>
          </a:p>
        </p:txBody>
      </p:sp>
    </p:spTree>
    <p:extLst>
      <p:ext uri="{BB962C8B-B14F-4D97-AF65-F5344CB8AC3E}">
        <p14:creationId xmlns:p14="http://schemas.microsoft.com/office/powerpoint/2010/main" val="3566244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Questions?</a:t>
            </a:r>
          </a:p>
        </p:txBody>
      </p:sp>
      <p:sp>
        <p:nvSpPr>
          <p:cNvPr id="4" name="Content Placeholder 3"/>
          <p:cNvSpPr>
            <a:spLocks noGrp="1"/>
          </p:cNvSpPr>
          <p:nvPr>
            <p:ph idx="1"/>
          </p:nvPr>
        </p:nvSpPr>
        <p:spPr/>
        <p:txBody>
          <a:bodyPr/>
          <a:lstStyle/>
          <a:p>
            <a:pPr marL="0" indent="0">
              <a:buNone/>
            </a:pPr>
            <a:endParaRPr lang="en-US" dirty="0"/>
          </a:p>
        </p:txBody>
      </p:sp>
      <p:pic>
        <p:nvPicPr>
          <p:cNvPr id="5123" name="Picture 3" descr="C:\Users\vafscsinglc\AppData\Local\Microsoft\Windows\Temporary Internet Files\Content.IE5\S2MWLA75\MC900441498[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427" y="2057400"/>
            <a:ext cx="3657143" cy="365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409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C456D4-E66F-4319-BD08-945DF12D38E5}">
  <ds:schemaRefs>
    <ds:schemaRef ds:uri="http://schemas.microsoft.com/sharepoint/v3/contenttype/forms"/>
  </ds:schemaRefs>
</ds:datastoreItem>
</file>

<file path=customXml/itemProps2.xml><?xml version="1.0" encoding="utf-8"?>
<ds:datastoreItem xmlns:ds="http://schemas.openxmlformats.org/officeDocument/2006/customXml" ds:itemID="{B30B9076-A439-4181-A851-C336DCA752F9}">
  <ds:schemaRefs>
    <ds:schemaRef ds:uri="http://schemas.microsoft.com/office/2006/metadata/properties"/>
    <ds:schemaRef ds:uri="http://schemas.microsoft.com/office/infopath/2007/PartnerControls"/>
    <ds:schemaRef ds:uri="f2466082-b6bf-4153-98c3-3c41e85fda18"/>
    <ds:schemaRef ds:uri="dc808d36-874f-4b27-aec2-2fd649817929"/>
  </ds:schemaRefs>
</ds:datastoreItem>
</file>

<file path=customXml/itemProps3.xml><?xml version="1.0" encoding="utf-8"?>
<ds:datastoreItem xmlns:ds="http://schemas.openxmlformats.org/officeDocument/2006/customXml" ds:itemID="{D31155C6-A6D9-4624-9FEA-51A83F022EC0}"/>
</file>

<file path=docProps/app.xml><?xml version="1.0" encoding="utf-8"?>
<Properties xmlns="http://schemas.openxmlformats.org/officeDocument/2006/extended-properties" xmlns:vt="http://schemas.openxmlformats.org/officeDocument/2006/docPropsVTypes">
  <Template/>
  <TotalTime>1369</TotalTime>
  <Words>3270</Words>
  <Application>Microsoft Office PowerPoint</Application>
  <PresentationFormat>On-screen Show (4:3)</PresentationFormat>
  <Paragraphs>250</Paragraphs>
  <Slides>32</Slides>
  <Notes>19</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Allowable and Unallowable Costs</vt:lpstr>
      <vt:lpstr>Topics</vt:lpstr>
      <vt:lpstr>Super Circular 2 CFR Chapter I, and Chapter II, Parts 200,215,220, and 230</vt:lpstr>
      <vt:lpstr>OMB Circular A-122</vt:lpstr>
      <vt:lpstr>Segregation of Costs</vt:lpstr>
      <vt:lpstr>Allowable Costs</vt:lpstr>
      <vt:lpstr>Unallowable Costs</vt:lpstr>
      <vt:lpstr>Sample Unallowable Costs</vt:lpstr>
      <vt:lpstr>Advertising</vt:lpstr>
      <vt:lpstr>Advertising</vt:lpstr>
      <vt:lpstr>Alcoholic Beverages</vt:lpstr>
      <vt:lpstr>Audit Costs</vt:lpstr>
      <vt:lpstr>Bad Debts</vt:lpstr>
      <vt:lpstr>Compensation for Personal Services</vt:lpstr>
      <vt:lpstr>Depreciation</vt:lpstr>
      <vt:lpstr>Contributions and Donations </vt:lpstr>
      <vt:lpstr>Entertainment</vt:lpstr>
      <vt:lpstr>Entertainment</vt:lpstr>
      <vt:lpstr>Fines and Penalties</vt:lpstr>
      <vt:lpstr>Fund Raising</vt:lpstr>
      <vt:lpstr>Gift Cards</vt:lpstr>
      <vt:lpstr>Insurance</vt:lpstr>
      <vt:lpstr>Lobbying</vt:lpstr>
      <vt:lpstr>Maintenance and Repairs</vt:lpstr>
      <vt:lpstr>Meetings and Conferences</vt:lpstr>
      <vt:lpstr>Professional Service Costs</vt:lpstr>
      <vt:lpstr>Recruiting</vt:lpstr>
      <vt:lpstr>Supplies to Support Veterans </vt:lpstr>
      <vt:lpstr>Training Costs</vt:lpstr>
      <vt:lpstr>Transportation</vt:lpstr>
      <vt:lpstr>Travel</vt:lpstr>
      <vt:lpstr>Questions?</vt:lpstr>
    </vt:vector>
  </TitlesOfParts>
  <Company>Dept. of Veterans Affairs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Allowable and Unallowable Costs</dc:title>
  <dc:creator>Etheridge, Sonya L.</dc:creator>
  <cp:lastModifiedBy>Debra Cooper</cp:lastModifiedBy>
  <cp:revision>63</cp:revision>
  <dcterms:created xsi:type="dcterms:W3CDTF">2013-12-06T15:53:49Z</dcterms:created>
  <dcterms:modified xsi:type="dcterms:W3CDTF">2023-08-30T16:10:09Z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12600</vt:r8>
  </property>
  <property fmtid="{D5CDD505-2E9C-101B-9397-08002B2CF9AE}" pid="4" name="MediaServiceImageTags">
    <vt:lpwstr/>
  </property>
</Properties>
</file>