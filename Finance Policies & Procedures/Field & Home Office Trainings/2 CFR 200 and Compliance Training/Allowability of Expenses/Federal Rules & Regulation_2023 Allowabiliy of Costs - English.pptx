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47"/>
  </p:notesMasterIdLst>
  <p:sldIdLst>
    <p:sldId id="257" r:id="rId7"/>
    <p:sldId id="263" r:id="rId8"/>
    <p:sldId id="264" r:id="rId9"/>
    <p:sldId id="265" r:id="rId10"/>
    <p:sldId id="273" r:id="rId11"/>
    <p:sldId id="274" r:id="rId12"/>
    <p:sldId id="291" r:id="rId13"/>
    <p:sldId id="275" r:id="rId14"/>
    <p:sldId id="284" r:id="rId15"/>
    <p:sldId id="285" r:id="rId16"/>
    <p:sldId id="276" r:id="rId17"/>
    <p:sldId id="315" r:id="rId18"/>
    <p:sldId id="316" r:id="rId19"/>
    <p:sldId id="278" r:id="rId20"/>
    <p:sldId id="287" r:id="rId21"/>
    <p:sldId id="290" r:id="rId22"/>
    <p:sldId id="292" r:id="rId23"/>
    <p:sldId id="293" r:id="rId24"/>
    <p:sldId id="294" r:id="rId25"/>
    <p:sldId id="295" r:id="rId26"/>
    <p:sldId id="297" r:id="rId27"/>
    <p:sldId id="296" r:id="rId28"/>
    <p:sldId id="298" r:id="rId29"/>
    <p:sldId id="306" r:id="rId30"/>
    <p:sldId id="300" r:id="rId31"/>
    <p:sldId id="305" r:id="rId32"/>
    <p:sldId id="301" r:id="rId33"/>
    <p:sldId id="302" r:id="rId34"/>
    <p:sldId id="303" r:id="rId35"/>
    <p:sldId id="304" r:id="rId36"/>
    <p:sldId id="307" r:id="rId37"/>
    <p:sldId id="308" r:id="rId38"/>
    <p:sldId id="309" r:id="rId39"/>
    <p:sldId id="310" r:id="rId40"/>
    <p:sldId id="311" r:id="rId41"/>
    <p:sldId id="317" r:id="rId42"/>
    <p:sldId id="312" r:id="rId43"/>
    <p:sldId id="313" r:id="rId44"/>
    <p:sldId id="314" r:id="rId45"/>
    <p:sldId id="283" r:id="rId4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A746"/>
    <a:srgbClr val="DEAE58"/>
    <a:srgbClr val="E16EE4"/>
    <a:srgbClr val="00B2D0"/>
    <a:srgbClr val="5FACB9"/>
    <a:srgbClr val="F8A15A"/>
    <a:srgbClr val="FCCFAA"/>
    <a:srgbClr val="00C9DA"/>
    <a:srgbClr val="8BCBC0"/>
    <a:srgbClr val="75D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3CDC77-E2F5-485D-8A61-2087EE7642FF}" v="2" dt="2023-07-23T21:51:55.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784" autoAdjust="0"/>
  </p:normalViewPr>
  <p:slideViewPr>
    <p:cSldViewPr>
      <p:cViewPr varScale="1">
        <p:scale>
          <a:sx n="34" d="100"/>
          <a:sy n="34" d="100"/>
        </p:scale>
        <p:origin x="586" y="24"/>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Verganza" userId="ffc5f8f4-b46c-4eb7-ad0a-4bc869c58a2c" providerId="ADAL" clId="{061D9593-4CA5-451D-B1B2-98B28B165DDF}"/>
    <pc:docChg chg="undo custSel addSld modSld">
      <pc:chgData name="Stephanie Verganza" userId="ffc5f8f4-b46c-4eb7-ad0a-4bc869c58a2c" providerId="ADAL" clId="{061D9593-4CA5-451D-B1B2-98B28B165DDF}" dt="2020-01-09T13:33:05.552" v="355" actId="20577"/>
      <pc:docMkLst>
        <pc:docMk/>
      </pc:docMkLst>
      <pc:sldChg chg="modSp add">
        <pc:chgData name="Stephanie Verganza" userId="ffc5f8f4-b46c-4eb7-ad0a-4bc869c58a2c" providerId="ADAL" clId="{061D9593-4CA5-451D-B1B2-98B28B165DDF}" dt="2020-01-09T00:30:51.150" v="1" actId="20577"/>
        <pc:sldMkLst>
          <pc:docMk/>
          <pc:sldMk cId="1256478544" sldId="286"/>
        </pc:sldMkLst>
        <pc:spChg chg="mod">
          <ac:chgData name="Stephanie Verganza" userId="ffc5f8f4-b46c-4eb7-ad0a-4bc869c58a2c" providerId="ADAL" clId="{061D9593-4CA5-451D-B1B2-98B28B165DDF}" dt="2020-01-09T00:30:51.150" v="1" actId="20577"/>
          <ac:spMkLst>
            <pc:docMk/>
            <pc:sldMk cId="1256478544" sldId="286"/>
            <ac:spMk id="67" creationId="{00000000-0000-0000-0000-000000000000}"/>
          </ac:spMkLst>
        </pc:spChg>
      </pc:sldChg>
      <pc:sldChg chg="addSp delSp modSp add modNotesTx">
        <pc:chgData name="Stephanie Verganza" userId="ffc5f8f4-b46c-4eb7-ad0a-4bc869c58a2c" providerId="ADAL" clId="{061D9593-4CA5-451D-B1B2-98B28B165DDF}" dt="2020-01-09T00:41:53.558" v="321" actId="20577"/>
        <pc:sldMkLst>
          <pc:docMk/>
          <pc:sldMk cId="1922730267" sldId="287"/>
        </pc:sldMkLst>
        <pc:spChg chg="add del mod">
          <ac:chgData name="Stephanie Verganza" userId="ffc5f8f4-b46c-4eb7-ad0a-4bc869c58a2c" providerId="ADAL" clId="{061D9593-4CA5-451D-B1B2-98B28B165DDF}" dt="2020-01-09T00:34:16.269" v="70" actId="20577"/>
          <ac:spMkLst>
            <pc:docMk/>
            <pc:sldMk cId="1922730267" sldId="287"/>
            <ac:spMk id="6" creationId="{00000000-0000-0000-0000-000000000000}"/>
          </ac:spMkLst>
        </pc:spChg>
        <pc:spChg chg="mod">
          <ac:chgData name="Stephanie Verganza" userId="ffc5f8f4-b46c-4eb7-ad0a-4bc869c58a2c" providerId="ADAL" clId="{061D9593-4CA5-451D-B1B2-98B28B165DDF}" dt="2020-01-09T00:33:37.612" v="59" actId="20577"/>
          <ac:spMkLst>
            <pc:docMk/>
            <pc:sldMk cId="1922730267" sldId="287"/>
            <ac:spMk id="199" creationId="{00000000-0000-0000-0000-000000000000}"/>
          </ac:spMkLst>
        </pc:spChg>
        <pc:spChg chg="mod">
          <ac:chgData name="Stephanie Verganza" userId="ffc5f8f4-b46c-4eb7-ad0a-4bc869c58a2c" providerId="ADAL" clId="{061D9593-4CA5-451D-B1B2-98B28B165DDF}" dt="2020-01-09T00:41:12.773" v="313" actId="313"/>
          <ac:spMkLst>
            <pc:docMk/>
            <pc:sldMk cId="1922730267" sldId="287"/>
            <ac:spMk id="200" creationId="{00000000-0000-0000-0000-000000000000}"/>
          </ac:spMkLst>
        </pc:spChg>
      </pc:sldChg>
      <pc:sldChg chg="modSp add modNotesTx">
        <pc:chgData name="Stephanie Verganza" userId="ffc5f8f4-b46c-4eb7-ad0a-4bc869c58a2c" providerId="ADAL" clId="{061D9593-4CA5-451D-B1B2-98B28B165DDF}" dt="2020-01-09T13:33:05.552" v="355" actId="20577"/>
        <pc:sldMkLst>
          <pc:docMk/>
          <pc:sldMk cId="3085414058" sldId="288"/>
        </pc:sldMkLst>
        <pc:spChg chg="mod">
          <ac:chgData name="Stephanie Verganza" userId="ffc5f8f4-b46c-4eb7-ad0a-4bc869c58a2c" providerId="ADAL" clId="{061D9593-4CA5-451D-B1B2-98B28B165DDF}" dt="2020-01-09T13:32:22.940" v="349" actId="20577"/>
          <ac:spMkLst>
            <pc:docMk/>
            <pc:sldMk cId="3085414058" sldId="288"/>
            <ac:spMk id="6" creationId="{00000000-0000-0000-0000-000000000000}"/>
          </ac:spMkLst>
        </pc:spChg>
        <pc:spChg chg="mod">
          <ac:chgData name="Stephanie Verganza" userId="ffc5f8f4-b46c-4eb7-ad0a-4bc869c58a2c" providerId="ADAL" clId="{061D9593-4CA5-451D-B1B2-98B28B165DDF}" dt="2020-01-09T13:33:05.552" v="355" actId="20577"/>
          <ac:spMkLst>
            <pc:docMk/>
            <pc:sldMk cId="3085414058" sldId="288"/>
            <ac:spMk id="7" creationId="{00000000-0000-0000-0000-000000000000}"/>
          </ac:spMkLst>
        </pc:spChg>
        <pc:spChg chg="mod">
          <ac:chgData name="Stephanie Verganza" userId="ffc5f8f4-b46c-4eb7-ad0a-4bc869c58a2c" providerId="ADAL" clId="{061D9593-4CA5-451D-B1B2-98B28B165DDF}" dt="2020-01-09T13:32:04.622" v="338" actId="207"/>
          <ac:spMkLst>
            <pc:docMk/>
            <pc:sldMk cId="3085414058" sldId="288"/>
            <ac:spMk id="20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7/23/2023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Generally Accepted Accounting Principles (GAAP)</a:t>
            </a:r>
          </a:p>
          <a:p>
            <a:endParaRPr lang="en-US" dirty="0"/>
          </a:p>
          <a:p>
            <a:r>
              <a:rPr lang="en-US" dirty="0"/>
              <a:t>Must be NECESSARY,</a:t>
            </a:r>
            <a:r>
              <a:rPr lang="en-US" baseline="0" dirty="0"/>
              <a:t> REASONABLE, ALLOCABLE, and CONFORMS to grant terms &amp; conditions </a:t>
            </a:r>
          </a:p>
          <a:p>
            <a:endParaRPr lang="en-US" baseline="0" dirty="0"/>
          </a:p>
          <a:p>
            <a:r>
              <a:rPr lang="en-US" baseline="0" dirty="0"/>
              <a:t>Consistency in proposing, charging, and reporting costs: </a:t>
            </a:r>
          </a:p>
          <a:p>
            <a:endParaRPr lang="en-US" baseline="0" dirty="0"/>
          </a:p>
          <a:p>
            <a:r>
              <a:rPr lang="en-US" dirty="0"/>
              <a:t>§200.403 (d) states: "A cost may not be assigned to a Federal award as a direct cost if any other cost incurred for the same purpose in like circumstances has been allocated to the Federal award as an indirect cost."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Generally Accepted Accounting Principles (GAAP)</a:t>
            </a:r>
          </a:p>
          <a:p>
            <a:endParaRPr lang="en-US" dirty="0"/>
          </a:p>
          <a:p>
            <a:r>
              <a:rPr lang="en-US" dirty="0"/>
              <a:t>Must be NECESSARY,</a:t>
            </a:r>
            <a:r>
              <a:rPr lang="en-US" baseline="0" dirty="0"/>
              <a:t> REASONABLE, ALLOCABLE, and CONFORMS to grant terms &amp; conditions </a:t>
            </a:r>
          </a:p>
          <a:p>
            <a:endParaRPr lang="en-US" baseline="0" dirty="0"/>
          </a:p>
          <a:p>
            <a:r>
              <a:rPr lang="en-US" baseline="0" dirty="0"/>
              <a:t>Consistency in proposing, charging, and reporting costs: </a:t>
            </a:r>
          </a:p>
          <a:p>
            <a:endParaRPr lang="en-US" baseline="0" dirty="0"/>
          </a:p>
          <a:p>
            <a:r>
              <a:rPr lang="en-US" dirty="0"/>
              <a:t>§200.403 (d) states: "A cost may not be assigned to a Federal award as a direct cost if any other cost incurred for the same purpose in like circumstances has been allocated to the Federal award as an indirect cost." </a:t>
            </a:r>
          </a:p>
        </p:txBody>
      </p:sp>
    </p:spTree>
    <p:extLst>
      <p:ext uri="{BB962C8B-B14F-4D97-AF65-F5344CB8AC3E}">
        <p14:creationId xmlns:p14="http://schemas.microsoft.com/office/powerpoint/2010/main" val="4048405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76664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35987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15869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790347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13369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1955959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0411491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59692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86930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1042293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3493681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341887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748194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3205532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231603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949112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520693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68336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7257715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4912510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497372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3767283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37105554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1658875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0517156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28914965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Tree>
    <p:extLst>
      <p:ext uri="{BB962C8B-B14F-4D97-AF65-F5344CB8AC3E}">
        <p14:creationId xmlns:p14="http://schemas.microsoft.com/office/powerpoint/2010/main" val="40334748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7/23/2023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7/23/2023</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hyperlink" Target="https://www.ecfr.gov/current/title-2/subtitle-A/chapter-II/part-200?toc=1"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D/section-200.302"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a20080eff2ea53/section-200.40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0"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partnersnet107.sharepoint.com/:x:/s/External/EcGY8UdL7vdGlypWvWJF-TEBSk3KvSkRpHN4b6XTa4DkpQ?e=tuSPVY" TargetMode="External"/><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hyperlink" Target="https://www.ecfr.gov/current/title-2/subtitle-A/chapter-II/part-200/subpart-E/subject-group-ECFRed1f39f9b3d4e72/section-200.430#p-200.430(i)" TargetMode="External"/><Relationship Id="rId5" Type="http://schemas.openxmlformats.org/officeDocument/2006/relationships/image" Target="../media/image9.png"/><Relationship Id="rId4" Type="http://schemas.openxmlformats.org/officeDocument/2006/relationships/hyperlink" Target="https://partnersnet107.sharepoint.com/:x:/s/External/Ecc_ECqCC11AiHX8aH3tugUBWUthVSEpuGqLieznQzoqRg?e=DN5c8o"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1"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D/subject-group-ECFR8feb98c2e3e5ad2/section-200.314"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hyperlink" Target="govinfo.gov/content/pkg/CFR-2014-title2-vol1/pdf/CFR-2014-title2-vol1-sec200-20.pdf"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D/subject-group-ECFR8feb98c2e3e5ad2/section-200.313"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75" TargetMode="Externa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75" TargetMode="Externa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hyperlink" Target="https://www.ecfr.gov/current/title-2/subtitle-A/chapter-II/part-200/subpart-E/subject-group-ECFRed1f39f9b3d4e72/section-200.475" TargetMode="External"/><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hyperlink" Target="https://aoprals.state.gov/web920/per_diem.asp" TargetMode="External"/><Relationship Id="rId5" Type="http://schemas.openxmlformats.org/officeDocument/2006/relationships/hyperlink" Target="https://www.gsa.gov/travel/plan-book/per-diem-rates" TargetMode="Externa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hyperlink" Target="https://www.ecfr.gov/current/title-2/subtitle-A/chapter-II/part-200/subpart-E/subject-group-ECFRed1f39f9b3d4e72/section-200.475" TargetMode="External"/><Relationship Id="rId2" Type="http://schemas.openxmlformats.org/officeDocument/2006/relationships/notesSlide" Target="../notesSlides/notesSlide26.xml"/><Relationship Id="rId1" Type="http://schemas.openxmlformats.org/officeDocument/2006/relationships/slideLayout" Target="../slideLayouts/slideLayout16.xml"/><Relationship Id="rId6" Type="http://schemas.openxmlformats.org/officeDocument/2006/relationships/hyperlink" Target="https://aoprals.state.gov/web920/per_diem.asp" TargetMode="External"/><Relationship Id="rId5" Type="http://schemas.openxmlformats.org/officeDocument/2006/relationships/hyperlink" Target="https://www.gsa.gov/travel/plan-book/per-diem-rates" TargetMode="Externa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75" TargetMode="External"/><Relationship Id="rId5" Type="http://schemas.openxmlformats.org/officeDocument/2006/relationships/hyperlink" Target="https://www.irs.gov/newsroom/irs-issues-standard-mileage-rates-for-2023-business-use-increases-3-cents-per-mile" TargetMode="Externa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8.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75" TargetMode="External"/><Relationship Id="rId5" Type="http://schemas.openxmlformats.org/officeDocument/2006/relationships/hyperlink" Target="https://partnersnet107.sharepoint.com/:w:/s/External/EXu9Cz1A0OFPsL5GSI0TsWkBV2x9MJQmiWFxgU_NBT9Tag?e=LURpgE" TargetMode="Externa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16.xml"/><Relationship Id="rId5" Type="http://schemas.openxmlformats.org/officeDocument/2006/relationships/hyperlink" Target="https://partnersnet107.sharepoint.com/:w:/s/External/EXu9Cz1A0OFPsL5GSI0TsWkBV2x9MJQmiWFxgU_NBT9Tag?e=LURpgE" TargetMode="Externa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32" TargetMode="Externa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2.xml"/><Relationship Id="rId1" Type="http://schemas.openxmlformats.org/officeDocument/2006/relationships/slideLayout" Target="../slideLayouts/slideLayout16.xml"/><Relationship Id="rId5" Type="http://schemas.openxmlformats.org/officeDocument/2006/relationships/hyperlink" Target="https://www.ecfr.gov/current/title-2/subtitle-A/chapter-II/part-200/subpart-E/subject-group-ECFRed1f39f9b3d4e72/section-200.432" TargetMode="Externa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www.dol.gov/sites/dolgov/files/ILAB/MPG_2021_OCFT_FINAL_12312020.pdf" TargetMode="External"/><Relationship Id="rId2" Type="http://schemas.openxmlformats.org/officeDocument/2006/relationships/notesSlide" Target="../notesSlides/notesSlide33.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a20080eff2ea53/section-200.410" TargetMode="External"/><Relationship Id="rId5" Type="http://schemas.openxmlformats.org/officeDocument/2006/relationships/image" Target="../media/image9.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www.dol.gov/sites/dolgov/files/ILAB/MPG_2021_OCFT_FINAL_12312020.pdf" TargetMode="External"/><Relationship Id="rId2" Type="http://schemas.openxmlformats.org/officeDocument/2006/relationships/notesSlide" Target="../notesSlides/notesSlide34.xml"/><Relationship Id="rId1" Type="http://schemas.openxmlformats.org/officeDocument/2006/relationships/slideLayout" Target="../slideLayouts/slideLayout16.xml"/><Relationship Id="rId6" Type="http://schemas.openxmlformats.org/officeDocument/2006/relationships/hyperlink" Target="https://www.ecfr.gov/current/title-2/subtitle-A/chapter-II/part-200/subpart-E/subject-group-ECFRed1f39f9b3d4e72/section-200.438" TargetMode="External"/><Relationship Id="rId5" Type="http://schemas.openxmlformats.org/officeDocument/2006/relationships/image" Target="../media/image9.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6.xml"/><Relationship Id="rId5" Type="http://schemas.openxmlformats.org/officeDocument/2006/relationships/image" Target="../media/image9.pn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0.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1905000" y="1047750"/>
            <a:ext cx="7162800" cy="2435323"/>
          </a:xfrm>
          <a:prstGeom prst="rect">
            <a:avLst/>
          </a:prstGeom>
        </p:spPr>
        <p:txBody>
          <a:bodyPr spcFirstLastPara="1" wrap="square" lIns="91425" tIns="91425" rIns="91425" bIns="91425" anchor="b" anchorCtr="0">
            <a:noAutofit/>
          </a:bodyPr>
          <a:lstStyle/>
          <a:p>
            <a:r>
              <a:rPr lang="en-US" sz="4400" dirty="0">
                <a:solidFill>
                  <a:schemeClr val="bg1"/>
                </a:solidFill>
                <a:latin typeface="Segoe UI" pitchFamily="34" charset="0"/>
                <a:ea typeface="Segoe UI" pitchFamily="34" charset="0"/>
                <a:cs typeface="Segoe UI" pitchFamily="34" charset="0"/>
              </a:rPr>
              <a:t>Federal Rules and Regulations: Allowable Cost</a:t>
            </a:r>
            <a:br>
              <a:rPr lang="en-US" sz="4400" dirty="0">
                <a:solidFill>
                  <a:schemeClr val="bg1"/>
                </a:solidFill>
                <a:latin typeface="Segoe UI" pitchFamily="34" charset="0"/>
                <a:ea typeface="Segoe UI" pitchFamily="34" charset="0"/>
                <a:cs typeface="Segoe UI" pitchFamily="34" charset="0"/>
              </a:rPr>
            </a:br>
            <a:endParaRPr sz="4800"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320006"/>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959226" y="2971800"/>
            <a:ext cx="5867400" cy="400110"/>
          </a:xfrm>
          <a:prstGeom prst="rect">
            <a:avLst/>
          </a:prstGeom>
        </p:spPr>
        <p:txBody>
          <a:bodyPr wrap="square">
            <a:spAutoFit/>
          </a:bodyPr>
          <a:lstStyle/>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The new Code of Federal Regulations (2 CFR 200)</a:t>
            </a:r>
          </a:p>
        </p:txBody>
      </p:sp>
    </p:spTree>
    <p:extLst>
      <p:ext uri="{BB962C8B-B14F-4D97-AF65-F5344CB8AC3E}">
        <p14:creationId xmlns:p14="http://schemas.microsoft.com/office/powerpoint/2010/main" val="3963571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Administrative Requirements</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cs typeface="Segoe UI" pitchFamily="34" charset="0"/>
              </a:rPr>
              <a:t>Federal Regulations</a:t>
            </a:r>
            <a:endParaRPr sz="3600" dirty="0">
              <a:solidFill>
                <a:schemeClr val="tx1"/>
              </a:solidFill>
            </a:endParaRPr>
          </a:p>
        </p:txBody>
      </p:sp>
      <p:sp>
        <p:nvSpPr>
          <p:cNvPr id="95" name="Google Shape;95;p18"/>
          <p:cNvSpPr txBox="1">
            <a:spLocks noGrp="1"/>
          </p:cNvSpPr>
          <p:nvPr>
            <p:ph type="body" idx="1"/>
          </p:nvPr>
        </p:nvSpPr>
        <p:spPr>
          <a:xfrm>
            <a:off x="304800" y="1519803"/>
            <a:ext cx="60198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3"/>
              </a:rPr>
              <a:t>2 CFR 200 (Code of Federal Regulations)</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Department of Labor MPG (Management Procedures Guidelines)</a:t>
            </a:r>
          </a:p>
          <a:p>
            <a:pPr marL="114300" indent="0">
              <a:lnSpc>
                <a:spcPts val="2300"/>
              </a:lnSpc>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20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For an expense to be allowable on the award, they must comply with the above regulations</a:t>
            </a:r>
          </a:p>
          <a:p>
            <a:pPr>
              <a:lnSpc>
                <a:spcPts val="2300"/>
              </a:lnSpc>
              <a:buClrTx/>
              <a:buFont typeface="Arial" panose="020B0604020202020204" pitchFamily="34" charset="0"/>
              <a:buChar char="•"/>
            </a:pPr>
            <a:endParaRPr lang="en-US" sz="2000" b="1" u="sng"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If in doubt about an expense, check with POA</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Financial Management System</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Identification, in accounts, of all Federal awards received &amp; expended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accurate, current, and complete disclosure of financial results of each federal award or program</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Maintain records documenting the source and application of funds for federally-funded activities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effective internal controls and accountability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Provide comparison of expenditures with budget amounts for each federal award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written procedures: (1) to implement payment requirements; (2) determining allowability of costs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200.302</a:t>
            </a:r>
            <a:endParaRPr lang="en-US" dirty="0"/>
          </a:p>
        </p:txBody>
      </p:sp>
    </p:spTree>
    <p:extLst>
      <p:ext uri="{BB962C8B-B14F-4D97-AF65-F5344CB8AC3E}">
        <p14:creationId xmlns:p14="http://schemas.microsoft.com/office/powerpoint/2010/main" val="2429378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Cost Principles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General Test of Allowability</a:t>
            </a:r>
            <a:endParaRPr sz="3600" dirty="0">
              <a:solidFill>
                <a:schemeClr val="tx1"/>
              </a:solidFill>
            </a:endParaRPr>
          </a:p>
        </p:txBody>
      </p:sp>
      <p:sp>
        <p:nvSpPr>
          <p:cNvPr id="200" name="Google Shape;200;p30"/>
          <p:cNvSpPr txBox="1">
            <a:spLocks noGrp="1"/>
          </p:cNvSpPr>
          <p:nvPr>
            <p:ph type="body" idx="1"/>
          </p:nvPr>
        </p:nvSpPr>
        <p:spPr>
          <a:xfrm>
            <a:off x="260023" y="1200150"/>
            <a:ext cx="6638082" cy="3810000"/>
          </a:xfrm>
          <a:prstGeom prst="rect">
            <a:avLst/>
          </a:prstGeom>
        </p:spPr>
        <p:txBody>
          <a:bodyPr spcFirstLastPara="1" wrap="square" lIns="91425" tIns="91425" rIns="91425" bIns="91425" anchor="t" anchorCtr="0">
            <a:noAutofit/>
          </a:bodyPr>
          <a:lstStyle/>
          <a:p>
            <a:pPr marL="495300" indent="-342900">
              <a:lnSpc>
                <a:spcPct val="150000"/>
              </a:lnSpc>
              <a:buClrTx/>
              <a:buSzPct val="106000"/>
              <a:buFont typeface="+mj-lt"/>
              <a:buAutoNum type="arabicPeriod"/>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Necessary</a:t>
            </a:r>
          </a:p>
          <a:p>
            <a:pPr marL="495300" indent="-342900">
              <a:lnSpc>
                <a:spcPct val="150000"/>
              </a:lnSpc>
              <a:buClrTx/>
              <a:buSzPct val="106000"/>
              <a:buFont typeface="+mj-lt"/>
              <a:buAutoNum type="arabicPeriod"/>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a:t>
            </a:r>
          </a:p>
          <a:p>
            <a:pPr marL="495300" indent="-342900">
              <a:lnSpc>
                <a:spcPct val="150000"/>
              </a:lnSpc>
              <a:buClrTx/>
              <a:buSzPct val="106000"/>
              <a:buFont typeface="+mj-lt"/>
              <a:buAutoNum type="arabicPeriod"/>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Allocable</a:t>
            </a:r>
          </a:p>
          <a:p>
            <a:pPr marL="495300" indent="-342900">
              <a:lnSpc>
                <a:spcPct val="150000"/>
              </a:lnSpc>
              <a:buClrTx/>
              <a:buSzPct val="106000"/>
              <a:buFont typeface="+mj-lt"/>
              <a:buAutoNum type="arabicPeriod"/>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a:t>
            </a:r>
            <a:r>
              <a:rPr lang="en-US" sz="1400" dirty="0">
                <a:solidFill>
                  <a:srgbClr val="000000"/>
                </a:solidFill>
                <a:latin typeface="Segoe UI" panose="020B0502040204020203" pitchFamily="34" charset="0"/>
                <a:ea typeface="Segoe UI" panose="020B0502040204020203" pitchFamily="34" charset="0"/>
                <a:cs typeface="Segoe UI" panose="020B0502040204020203" pitchFamily="34" charset="0"/>
              </a:rPr>
              <a:t> and uniform treat of expense across all organizational activities</a:t>
            </a:r>
          </a:p>
          <a:p>
            <a:pPr marL="495300" indent="-342900">
              <a:lnSpc>
                <a:spcPct val="150000"/>
              </a:lnSpc>
              <a:buClrTx/>
              <a:buSzPct val="106000"/>
              <a:buFont typeface="+mj-lt"/>
              <a:buAutoNum type="arabicPeriod"/>
            </a:pPr>
            <a:r>
              <a:rPr lang="en-US" sz="1400"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Consistently treated as </a:t>
            </a: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direct/indirect costs </a:t>
            </a:r>
            <a:r>
              <a:rPr lang="en-US" sz="14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 Double Charging)</a:t>
            </a:r>
            <a:endParaRPr lang="en-US" sz="1400"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495300" indent="-342900">
              <a:lnSpc>
                <a:spcPct val="150000"/>
              </a:lnSpc>
              <a:buClrTx/>
              <a:buSzPct val="106000"/>
              <a:buFont typeface="+mj-lt"/>
              <a:buAutoNum type="arabicPeriod"/>
            </a:pPr>
            <a:r>
              <a:rPr lang="en-US" sz="1400" dirty="0">
                <a:solidFill>
                  <a:srgbClr val="000000"/>
                </a:solidFill>
                <a:latin typeface="Segoe UI" panose="020B0502040204020203" pitchFamily="34" charset="0"/>
                <a:ea typeface="Segoe UI" panose="020B0502040204020203" pitchFamily="34" charset="0"/>
                <a:cs typeface="Segoe UI" panose="020B0502040204020203" pitchFamily="34" charset="0"/>
              </a:rPr>
              <a:t>Conform to any award limitations</a:t>
            </a:r>
          </a:p>
          <a:p>
            <a:pPr marL="495300" indent="-342900">
              <a:lnSpc>
                <a:spcPct val="150000"/>
              </a:lnSpc>
              <a:buClrTx/>
              <a:buSzPct val="106000"/>
              <a:buFont typeface="+mj-lt"/>
              <a:buAutoNum type="arabicPeriod"/>
            </a:pPr>
            <a:r>
              <a:rPr lang="en-US" sz="1400" dirty="0">
                <a:solidFill>
                  <a:srgbClr val="000000"/>
                </a:solidFill>
                <a:latin typeface="Segoe UI" panose="020B0502040204020203" pitchFamily="34" charset="0"/>
                <a:ea typeface="Segoe UI" panose="020B0502040204020203" pitchFamily="34" charset="0"/>
                <a:cs typeface="Segoe UI" panose="020B0502040204020203" pitchFamily="34" charset="0"/>
              </a:rPr>
              <a:t>Accordance with generally acceptable accounting principles (GAAP)</a:t>
            </a:r>
            <a:endParaRPr lang="en-US" sz="14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marL="495300" indent="-342900">
              <a:lnSpc>
                <a:spcPct val="150000"/>
              </a:lnSpc>
              <a:buClrTx/>
              <a:buSzPct val="106000"/>
              <a:buFont typeface="+mj-lt"/>
              <a:buAutoNum type="arabicPeriod"/>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Adequately Documented</a:t>
            </a:r>
          </a:p>
          <a:p>
            <a:pPr marL="495300" indent="-342900">
              <a:lnSpc>
                <a:spcPct val="150000"/>
              </a:lnSpc>
              <a:buClrTx/>
              <a:buSzPct val="106000"/>
              <a:buFont typeface="+mj-lt"/>
              <a:buAutoNum type="arabicPeriod"/>
            </a:pPr>
            <a:r>
              <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Expense incurred during award effective dates</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A2CA04-C8EB-830E-0D2B-88A7DDC0D552}"/>
              </a:ext>
            </a:extLst>
          </p:cNvPr>
          <p:cNvSpPr/>
          <p:nvPr/>
        </p:nvSpPr>
        <p:spPr>
          <a:xfrm>
            <a:off x="-228600" y="819150"/>
            <a:ext cx="2593848" cy="428625"/>
          </a:xfrm>
          <a:prstGeom prst="rect">
            <a:avLst/>
          </a:prstGeom>
          <a:solidFill>
            <a:srgbClr val="E16EE4">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200.403</a:t>
            </a:r>
            <a:endParaRPr lang="en-US" dirty="0"/>
          </a:p>
        </p:txBody>
      </p:sp>
    </p:spTree>
    <p:extLst>
      <p:ext uri="{BB962C8B-B14F-4D97-AF65-F5344CB8AC3E}">
        <p14:creationId xmlns:p14="http://schemas.microsoft.com/office/powerpoint/2010/main" val="4150192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Necessary</a:t>
            </a:r>
            <a:endParaRPr sz="3600" dirty="0">
              <a:solidFill>
                <a:schemeClr val="tx1"/>
              </a:solidFill>
            </a:endParaRPr>
          </a:p>
        </p:txBody>
      </p:sp>
      <p:sp>
        <p:nvSpPr>
          <p:cNvPr id="200" name="Google Shape;200;p30"/>
          <p:cNvSpPr txBox="1">
            <a:spLocks noGrp="1"/>
          </p:cNvSpPr>
          <p:nvPr>
            <p:ph type="body" idx="1"/>
          </p:nvPr>
        </p:nvSpPr>
        <p:spPr>
          <a:xfrm>
            <a:off x="296118" y="971550"/>
            <a:ext cx="6409482" cy="3810000"/>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 Cost is Necessary if:</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It is required for successful programmatic implementation</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It is included in your budget</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Not duplicative good or service</a:t>
            </a:r>
            <a:r>
              <a:rPr lang="en-US" sz="1600" dirty="0">
                <a:solidFill>
                  <a:schemeClr val="accent6">
                    <a:lumMod val="60000"/>
                    <a:lumOff val="40000"/>
                  </a:schemeClr>
                </a:solidFill>
                <a:latin typeface="Segoe UI" panose="020B0502040204020203" pitchFamily="34" charset="0"/>
                <a:ea typeface="Segoe UI" panose="020B0502040204020203" pitchFamily="34" charset="0"/>
                <a:cs typeface="Segoe UI" panose="020B0502040204020203" pitchFamily="34" charset="0"/>
              </a:rPr>
              <a:t> (i.e. hiring a consultant to perform monitoring &amp; evaluation (M&amp;E) on a project, when there is a full-time position for M&amp;E)</a:t>
            </a:r>
          </a:p>
          <a:p>
            <a:pPr lvl="0" algn="l" rtl="0">
              <a:spcBef>
                <a:spcPts val="1200"/>
              </a:spcBef>
              <a:spcAft>
                <a:spcPts val="0"/>
              </a:spcAft>
              <a:buSzPts val="1800"/>
              <a:buFont typeface="Wingdings" panose="05000000000000000000" pitchFamily="2" charset="2"/>
              <a:buChar char="§"/>
            </a:pPr>
            <a:endParaRPr lang="en-US" sz="1400"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1595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15017" y="1123950"/>
            <a:ext cx="6202679"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 Cost is Reasonable if:</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Does not exceed what a “prudent” person would do under similar circumstances</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Ordinary and necessary for organization’s operations </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Follows good business practices</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Comply with federal, state, and local laws</a:t>
            </a:r>
          </a:p>
          <a:p>
            <a:pPr lvl="1">
              <a:lnSpc>
                <a:spcPct val="150000"/>
              </a:lnSpc>
              <a:buClrTx/>
              <a:buFont typeface="Segoe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Consistent with organization’s established policies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Reasonability</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Allocability</a:t>
            </a:r>
            <a:endParaRPr lang="en-US" sz="3600" kern="0" dirty="0">
              <a:solidFill>
                <a:schemeClr val="tx1"/>
              </a:solidFill>
            </a:endParaRPr>
          </a:p>
        </p:txBody>
      </p:sp>
      <p:sp>
        <p:nvSpPr>
          <p:cNvPr id="6" name="Google Shape;95;p18"/>
          <p:cNvSpPr txBox="1">
            <a:spLocks noGrp="1"/>
          </p:cNvSpPr>
          <p:nvPr>
            <p:ph type="body" idx="1"/>
          </p:nvPr>
        </p:nvSpPr>
        <p:spPr>
          <a:xfrm>
            <a:off x="304800" y="971550"/>
            <a:ext cx="60231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Test for Allocability:</a:t>
            </a:r>
          </a:p>
          <a:p>
            <a:pPr lvl="1">
              <a:lnSpc>
                <a:spcPct val="150000"/>
              </a:lnSpc>
              <a:buClrTx/>
              <a:buFont typeface="Lao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Cost incurred solely for a specific grant </a:t>
            </a:r>
          </a:p>
          <a:p>
            <a:pPr marL="584200" lvl="1" indent="0">
              <a:lnSpc>
                <a:spcPct val="150000"/>
              </a:lnSpc>
              <a:buClrTx/>
              <a:buNone/>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Lao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Assignable to more than one cost objective—in reasonable proportion to the benefit provided</a:t>
            </a:r>
          </a:p>
          <a:p>
            <a:pPr marL="584200" lvl="1" indent="0">
              <a:buClrTx/>
              <a:buNone/>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Lao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Necessary for the organization’s overall operations</a:t>
            </a:r>
          </a:p>
          <a:p>
            <a:pPr marL="584200" lvl="1" indent="0">
              <a:buClrTx/>
              <a:buNone/>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Lao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There is no shifting of costs from one fund to another to cover cost overruns</a:t>
            </a:r>
          </a:p>
          <a:p>
            <a:pPr lvl="2">
              <a:buClrTx/>
              <a:buFont typeface="Lao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To avoid restrictions on agreement, or</a:t>
            </a:r>
          </a:p>
          <a:p>
            <a:pPr lvl="2">
              <a:buClrTx/>
              <a:buFont typeface="Lao UI" panose="020B0502040204020203"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For convenience</a:t>
            </a:r>
          </a:p>
        </p:txBody>
      </p:sp>
    </p:spTree>
    <p:extLst>
      <p:ext uri="{BB962C8B-B14F-4D97-AF65-F5344CB8AC3E}">
        <p14:creationId xmlns:p14="http://schemas.microsoft.com/office/powerpoint/2010/main" val="4164642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5">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Indirect vs Direct Costs</a:t>
            </a:r>
          </a:p>
        </p:txBody>
      </p:sp>
      <p:sp>
        <p:nvSpPr>
          <p:cNvPr id="6" name="Google Shape;95;p18"/>
          <p:cNvSpPr txBox="1">
            <a:spLocks noGrp="1"/>
          </p:cNvSpPr>
          <p:nvPr>
            <p:ph type="body" idx="1"/>
          </p:nvPr>
        </p:nvSpPr>
        <p:spPr>
          <a:xfrm>
            <a:off x="60872" y="1156119"/>
            <a:ext cx="6084162" cy="3773068"/>
          </a:xfrm>
          <a:prstGeom prst="rect">
            <a:avLst/>
          </a:prstGeom>
        </p:spPr>
        <p:txBody>
          <a:bodyPr spcFirstLastPara="1" wrap="square" lIns="91425" tIns="91425" rIns="91425" bIns="91425" anchor="t" anchorCtr="0">
            <a:noAutofit/>
          </a:bodyPr>
          <a:lstStyle/>
          <a:p>
            <a:pPr marL="457200" lvl="1" indent="0">
              <a:buClrTx/>
              <a:buSzTx/>
              <a:buNone/>
            </a:pPr>
            <a:r>
              <a:rPr lang="en-US" b="1" kern="1200" dirty="0">
                <a:solidFill>
                  <a:srgbClr val="000000"/>
                </a:solidFill>
                <a:latin typeface="Segoe UI" panose="020B0502040204020203" pitchFamily="34" charset="0"/>
                <a:ea typeface="+mn-ea"/>
                <a:cs typeface="Segoe UI" panose="020B0502040204020203" pitchFamily="34" charset="0"/>
              </a:rPr>
              <a:t>Total Costs = Direct Costs + Indirect Costs – Credits</a:t>
            </a:r>
          </a:p>
          <a:p>
            <a:pPr marL="742950" lvl="1" indent="-285750">
              <a:buClrTx/>
              <a:buSzTx/>
              <a:buFont typeface="Arial" panose="020B0604020202020204" pitchFamily="34" charset="0"/>
              <a:buChar char="•"/>
            </a:pPr>
            <a:endParaRPr lang="en-US" sz="1400" b="1" kern="1200" dirty="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b="1" kern="1200" dirty="0">
                <a:solidFill>
                  <a:srgbClr val="000000"/>
                </a:solidFill>
                <a:latin typeface="Segoe UI" panose="020B0502040204020203" pitchFamily="34" charset="0"/>
                <a:ea typeface="+mn-ea"/>
                <a:cs typeface="Segoe UI" panose="020B0502040204020203" pitchFamily="34" charset="0"/>
              </a:rPr>
              <a:t>Direct Costs: </a:t>
            </a:r>
            <a:r>
              <a:rPr lang="en-US" sz="1400" kern="1200" dirty="0">
                <a:solidFill>
                  <a:srgbClr val="000000"/>
                </a:solidFill>
                <a:latin typeface="Segoe UI" panose="020B0502040204020203" pitchFamily="34" charset="0"/>
                <a:ea typeface="+mn-ea"/>
                <a:cs typeface="Segoe UI" panose="020B0502040204020203" pitchFamily="34" charset="0"/>
              </a:rPr>
              <a:t>that can be identified specifically with a particular final cost objective (activity) or that can be directly assigned to an activity relatively easily with a high degree of accuracy </a:t>
            </a:r>
          </a:p>
          <a:p>
            <a:pPr marL="742950" lvl="1" indent="-285750">
              <a:buClrTx/>
              <a:buSzTx/>
              <a:buFont typeface="Arial" panose="020B0604020202020204" pitchFamily="34" charset="0"/>
              <a:buChar char="•"/>
            </a:pPr>
            <a:endParaRPr lang="en-US" sz="1400" b="1" kern="1200" dirty="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b="1" kern="1200" dirty="0">
                <a:solidFill>
                  <a:srgbClr val="000000"/>
                </a:solidFill>
                <a:latin typeface="Segoe UI" panose="020B0502040204020203" pitchFamily="34" charset="0"/>
                <a:ea typeface="+mn-ea"/>
                <a:cs typeface="Segoe UI" panose="020B0502040204020203" pitchFamily="34" charset="0"/>
              </a:rPr>
              <a:t>Indirect Costs: </a:t>
            </a:r>
            <a:r>
              <a:rPr lang="en-US" sz="1400" kern="1200" dirty="0">
                <a:solidFill>
                  <a:srgbClr val="000000"/>
                </a:solidFill>
                <a:latin typeface="Segoe UI" panose="020B0502040204020203" pitchFamily="34" charset="0"/>
                <a:ea typeface="+mn-ea"/>
                <a:cs typeface="Segoe UI" panose="020B0502040204020203" pitchFamily="34" charset="0"/>
              </a:rPr>
              <a:t>incurred for a common or joint purpose benefitting more than one cost objective (activity), and difficult to assign specifically to objectives (activities) benefitted</a:t>
            </a:r>
          </a:p>
          <a:p>
            <a:pPr marL="457200" lvl="1" indent="0">
              <a:buClrTx/>
              <a:buSzTx/>
              <a:buNone/>
            </a:pPr>
            <a:endParaRPr lang="en-US" sz="1400" kern="1200" dirty="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kern="1200" dirty="0">
                <a:solidFill>
                  <a:srgbClr val="000000"/>
                </a:solidFill>
                <a:latin typeface="Segoe UI" panose="020B0502040204020203" pitchFamily="34" charset="0"/>
                <a:ea typeface="+mn-ea"/>
                <a:cs typeface="Segoe UI" panose="020B0502040204020203" pitchFamily="34" charset="0"/>
              </a:rPr>
              <a:t>No universal rule for classifying costs as direct or indirect</a:t>
            </a:r>
          </a:p>
          <a:p>
            <a:pPr marL="1200150" lvl="2" indent="-285750">
              <a:buClrTx/>
              <a:buSzTx/>
              <a:buFont typeface="Arial" panose="020B0604020202020204" pitchFamily="34" charset="0"/>
              <a:buChar char="•"/>
            </a:pPr>
            <a:endParaRPr lang="en-US" sz="1400" kern="1200" dirty="0">
              <a:solidFill>
                <a:srgbClr val="000000"/>
              </a:solidFill>
              <a:latin typeface="Segoe UI" panose="020B0502040204020203" pitchFamily="34" charset="0"/>
              <a:ea typeface="+mn-ea"/>
              <a:cs typeface="Segoe UI" panose="020B0502040204020203" pitchFamily="34" charset="0"/>
            </a:endParaRPr>
          </a:p>
          <a:p>
            <a:pPr marL="742950" lvl="1" indent="-285750">
              <a:buClrTx/>
              <a:buSzTx/>
              <a:buFont typeface="Arial" panose="020B0604020202020204" pitchFamily="34" charset="0"/>
              <a:buChar char="•"/>
            </a:pPr>
            <a:r>
              <a:rPr lang="en-US" sz="1400" kern="1200" dirty="0">
                <a:solidFill>
                  <a:srgbClr val="000000"/>
                </a:solidFill>
                <a:latin typeface="Segoe UI" panose="020B0502040204020203" pitchFamily="34" charset="0"/>
                <a:ea typeface="+mn-ea"/>
                <a:cs typeface="Segoe UI" panose="020B0502040204020203" pitchFamily="34" charset="0"/>
              </a:rPr>
              <a:t>Cost of item incurred for same purpose needs to be consistency treated in similar circumstances as direct or indirect</a:t>
            </a:r>
          </a:p>
          <a:p>
            <a:pPr>
              <a:lnSpc>
                <a:spcPct val="150000"/>
              </a:lnSpc>
              <a:buClrTx/>
              <a:buSzPct val="106000"/>
              <a:buFont typeface="Arial"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blip>
          <a:stretch>
            <a:fillRect/>
          </a:stretch>
        </a:blipFill>
        <a:effectLst/>
      </p:bgPr>
    </p:bg>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000500"/>
          </a:xfrm>
          <a:prstGeom prst="rect">
            <a:avLst/>
          </a:prstGeom>
        </p:spPr>
        <p:txBody>
          <a:bodyPr spcFirstLastPara="1" wrap="square" lIns="91425" tIns="91425" rIns="91425" bIns="91425" anchor="t" anchorCtr="0">
            <a:noAutofit/>
          </a:bodyPr>
          <a:lstStyle/>
          <a:p>
            <a:pPr marL="0" indent="0">
              <a:lnSpc>
                <a:spcPct val="150000"/>
              </a:lnSpc>
              <a:buNone/>
            </a:pPr>
            <a:r>
              <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All conditions for allowability need to be met:</a:t>
            </a:r>
          </a:p>
          <a:p>
            <a:pPr>
              <a:lnSpc>
                <a:spcPct val="150000"/>
              </a:lnSpc>
              <a:spcBef>
                <a:spcPts val="0"/>
              </a:spcBef>
              <a:buClrTx/>
              <a:buSzPct val="106000"/>
              <a:buFont typeface="Arial" panose="020B0604020202020204" pitchFamily="34" charset="0"/>
              <a:buChar char="•"/>
            </a:pPr>
            <a:r>
              <a:rPr lang="en-US" sz="1700" dirty="0">
                <a:solidFill>
                  <a:srgbClr val="000000"/>
                </a:solidFill>
                <a:latin typeface="Segoe UI" panose="020B0502040204020203" pitchFamily="34" charset="0"/>
                <a:ea typeface="Segoe UI" panose="020B0502040204020203" pitchFamily="34" charset="0"/>
                <a:cs typeface="Segoe UI" panose="020B0502040204020203" pitchFamily="34" charset="0"/>
              </a:rPr>
              <a:t>A cost can be allocable to grant but not necessarily reasonable:</a:t>
            </a:r>
          </a:p>
          <a:p>
            <a:pPr lvl="1">
              <a:lnSpc>
                <a:spcPct val="150000"/>
              </a:lnSpc>
              <a:buClrTx/>
              <a:buSzPct val="106000"/>
              <a:buFont typeface="Segoe UI" panose="020B0502040204020203" pitchFamily="34" charset="0"/>
              <a:buChar char="−"/>
            </a:pPr>
            <a:r>
              <a:rPr lang="en-US" sz="15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an airplane to travel to sit visits</a:t>
            </a:r>
            <a:endParaRPr lang="en-US" sz="800" dirty="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sz="1700"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but not allocable to specific award:</a:t>
            </a:r>
          </a:p>
          <a:p>
            <a:pPr lvl="1">
              <a:lnSpc>
                <a:spcPct val="150000"/>
              </a:lnSpc>
              <a:buClrTx/>
              <a:buSzPct val="106000"/>
              <a:buFont typeface="Segoe UI" panose="020B0502040204020203" pitchFamily="34" charset="0"/>
              <a:buChar char="−"/>
            </a:pPr>
            <a:r>
              <a:rPr lang="en-US" sz="15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 copier (that everyone in the office uses)</a:t>
            </a:r>
            <a:endParaRPr lang="en-US" sz="8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sz="1700"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and allocable but does not conform to terms and conditions awards</a:t>
            </a:r>
          </a:p>
          <a:p>
            <a:pPr lvl="1">
              <a:lnSpc>
                <a:spcPct val="150000"/>
              </a:lnSpc>
              <a:buClrTx/>
              <a:buSzPct val="106000"/>
              <a:buFont typeface="Segoe UI" panose="020B0502040204020203" pitchFamily="34" charset="0"/>
              <a:buChar char="−"/>
            </a:pPr>
            <a:r>
              <a:rPr lang="en-US" sz="15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Union engagement costs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Allowability</a:t>
            </a:r>
            <a:endParaRPr lang="en-US" sz="3600" kern="0" dirty="0">
              <a:solidFill>
                <a:schemeClr val="tx1"/>
              </a:solidFill>
            </a:endParaRPr>
          </a:p>
        </p:txBody>
      </p:sp>
    </p:spTree>
    <p:extLst>
      <p:ext uri="{BB962C8B-B14F-4D97-AF65-F5344CB8AC3E}">
        <p14:creationId xmlns:p14="http://schemas.microsoft.com/office/powerpoint/2010/main" val="2934135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5">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361950"/>
            <a:ext cx="69341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ea typeface="Segoe UI" pitchFamily="34" charset="0"/>
                <a:cs typeface="Segoe UI" pitchFamily="34" charset="0"/>
              </a:rPr>
              <a:t>Exercise – Necessary, Reasonable &amp; Allocable?</a:t>
            </a:r>
          </a:p>
        </p:txBody>
      </p:sp>
      <p:sp>
        <p:nvSpPr>
          <p:cNvPr id="6" name="Google Shape;95;p18"/>
          <p:cNvSpPr txBox="1">
            <a:spLocks noGrp="1"/>
          </p:cNvSpPr>
          <p:nvPr>
            <p:ph type="body" idx="1"/>
          </p:nvPr>
        </p:nvSpPr>
        <p:spPr>
          <a:xfrm>
            <a:off x="52851" y="1232384"/>
            <a:ext cx="6084162" cy="3773068"/>
          </a:xfrm>
          <a:prstGeom prst="rect">
            <a:avLst/>
          </a:prstGeom>
        </p:spPr>
        <p:txBody>
          <a:bodyPr spcFirstLastPara="1" wrap="square" lIns="91425" tIns="91425" rIns="91425" bIns="91425" anchor="t" anchorCtr="0">
            <a:noAutofit/>
          </a:bodyPr>
          <a:lstStyle/>
          <a:p>
            <a:pPr marL="457200" lvl="1" indent="0">
              <a:buClrTx/>
              <a:buSzTx/>
              <a:buNone/>
            </a:pPr>
            <a:r>
              <a:rPr lang="es-ES" kern="1200" dirty="0">
                <a:solidFill>
                  <a:srgbClr val="000000"/>
                </a:solidFill>
                <a:latin typeface="Segoe UI" panose="020B0502040204020203" pitchFamily="34" charset="0"/>
                <a:ea typeface="+mn-ea"/>
                <a:cs typeface="Segoe UI" panose="020B0502040204020203" pitchFamily="34" charset="0"/>
              </a:rPr>
              <a:t>Se requiere alquilar un espacio para realizar un taller para ensenar participantes para el proyecto de GEM. Un miembro del equipo encuentra una sala de conferencias muy bonita en un hotel de cinco estrellas, a una tarifa de $10,000 MXN por hora. Hay muchos otras opciones más económicas que se podría elegir, pero el equipo prefiere usar el espacio mas caro.</a:t>
            </a:r>
          </a:p>
          <a:p>
            <a:pPr marL="457200" lvl="1" indent="0">
              <a:buClrTx/>
              <a:buSzTx/>
              <a:buNone/>
            </a:pPr>
            <a:endParaRPr lang="es-ES"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s-ES" kern="1200" dirty="0">
                <a:solidFill>
                  <a:srgbClr val="000000"/>
                </a:solidFill>
                <a:latin typeface="Segoe UI" panose="020B0502040204020203" pitchFamily="34" charset="0"/>
                <a:ea typeface="+mn-ea"/>
                <a:cs typeface="Segoe UI" panose="020B0502040204020203" pitchFamily="34" charset="0"/>
              </a:rPr>
              <a:t>Es este gasto </a:t>
            </a:r>
          </a:p>
          <a:p>
            <a:pPr marL="1257300" lvl="2" indent="-342900">
              <a:buClrTx/>
              <a:buSzTx/>
              <a:buFont typeface="+mj-lt"/>
              <a:buAutoNum type="arabicPeriod"/>
            </a:pPr>
            <a:r>
              <a:rPr lang="es-ES" kern="1200" dirty="0">
                <a:solidFill>
                  <a:srgbClr val="000000"/>
                </a:solidFill>
                <a:latin typeface="Segoe UI" panose="020B0502040204020203" pitchFamily="34" charset="0"/>
                <a:ea typeface="+mn-ea"/>
                <a:cs typeface="Segoe UI" panose="020B0502040204020203" pitchFamily="34" charset="0"/>
              </a:rPr>
              <a:t>Necesario?</a:t>
            </a:r>
          </a:p>
          <a:p>
            <a:pPr marL="1257300" lvl="2" indent="-342900">
              <a:buClrTx/>
              <a:buSzTx/>
              <a:buFont typeface="+mj-lt"/>
              <a:buAutoNum type="arabicPeriod"/>
            </a:pPr>
            <a:r>
              <a:rPr lang="es-ES" kern="1200" dirty="0">
                <a:solidFill>
                  <a:srgbClr val="000000"/>
                </a:solidFill>
                <a:latin typeface="Segoe UI" panose="020B0502040204020203" pitchFamily="34" charset="0"/>
                <a:ea typeface="+mn-ea"/>
                <a:cs typeface="Segoe UI" panose="020B0502040204020203" pitchFamily="34" charset="0"/>
              </a:rPr>
              <a:t>Razonable?</a:t>
            </a:r>
          </a:p>
          <a:p>
            <a:pPr marL="1257300" lvl="2" indent="-342900">
              <a:buClrTx/>
              <a:buSzTx/>
              <a:buFont typeface="+mj-lt"/>
              <a:buAutoNum type="arabicPeriod"/>
            </a:pPr>
            <a:r>
              <a:rPr lang="es-ES" kern="1200" dirty="0">
                <a:solidFill>
                  <a:srgbClr val="000000"/>
                </a:solidFill>
                <a:latin typeface="Segoe UI" panose="020B0502040204020203" pitchFamily="34" charset="0"/>
                <a:ea typeface="+mn-ea"/>
                <a:cs typeface="Segoe UI" panose="020B0502040204020203" pitchFamily="34" charset="0"/>
              </a:rPr>
              <a:t>Asignable?  </a:t>
            </a:r>
          </a:p>
          <a:p>
            <a:pPr marL="1257300" lvl="2" indent="-342900">
              <a:buClrTx/>
              <a:buSzTx/>
              <a:buFont typeface="+mj-lt"/>
              <a:buAutoNum type="arabicPeriod"/>
            </a:pPr>
            <a:endParaRPr lang="es-ES" sz="1400" kern="1200" dirty="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s-ES" sz="1400" kern="1200" dirty="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57462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5">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361950"/>
            <a:ext cx="69341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ea typeface="Segoe UI" pitchFamily="34" charset="0"/>
                <a:cs typeface="Segoe UI" pitchFamily="34" charset="0"/>
              </a:rPr>
              <a:t>Exercise – Necessary, Reasonable &amp; Allocable?</a:t>
            </a:r>
          </a:p>
        </p:txBody>
      </p:sp>
      <p:sp>
        <p:nvSpPr>
          <p:cNvPr id="6" name="Google Shape;95;p18"/>
          <p:cNvSpPr txBox="1">
            <a:spLocks noGrp="1"/>
          </p:cNvSpPr>
          <p:nvPr>
            <p:ph type="body" idx="1"/>
          </p:nvPr>
        </p:nvSpPr>
        <p:spPr>
          <a:xfrm>
            <a:off x="52851" y="1232384"/>
            <a:ext cx="6084162" cy="3773068"/>
          </a:xfrm>
          <a:prstGeom prst="rect">
            <a:avLst/>
          </a:prstGeom>
        </p:spPr>
        <p:txBody>
          <a:bodyPr spcFirstLastPara="1" wrap="square" lIns="91425" tIns="91425" rIns="91425" bIns="91425" anchor="t" anchorCtr="0">
            <a:noAutofit/>
          </a:bodyPr>
          <a:lstStyle/>
          <a:p>
            <a:pPr marL="457200" lvl="1" indent="0">
              <a:buClrTx/>
              <a:buSzTx/>
              <a:buNone/>
            </a:pPr>
            <a:r>
              <a:rPr lang="es-ES" kern="1200" dirty="0">
                <a:solidFill>
                  <a:srgbClr val="000000"/>
                </a:solidFill>
                <a:latin typeface="Segoe UI" panose="020B0502040204020203" pitchFamily="34" charset="0"/>
                <a:ea typeface="+mn-ea"/>
                <a:cs typeface="Segoe UI" panose="020B0502040204020203" pitchFamily="34" charset="0"/>
              </a:rPr>
              <a:t>Se requiere alquilar un espacio para realizar un taller para ensenar participantes para el proyecto de GEM. Un miembro del equipo encuentra una sala de conferencias muy bonita en un hotel de cinco estrellas, a una tarifa de $10,000 MXN por hora. Hay muchos otras opciones más económicas que se podría elegir, pero el equipo prefiere usar el espacio mas caro.</a:t>
            </a:r>
          </a:p>
          <a:p>
            <a:pPr marL="457200" lvl="1" indent="0">
              <a:buClrTx/>
              <a:buSzTx/>
              <a:buNone/>
            </a:pPr>
            <a:endParaRPr lang="es-ES"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s-ES" kern="1200" dirty="0">
                <a:solidFill>
                  <a:srgbClr val="000000"/>
                </a:solidFill>
                <a:latin typeface="Segoe UI" panose="020B0502040204020203" pitchFamily="34" charset="0"/>
                <a:ea typeface="+mn-ea"/>
                <a:cs typeface="Segoe UI" panose="020B0502040204020203" pitchFamily="34" charset="0"/>
              </a:rPr>
              <a:t>Es este gasto </a:t>
            </a:r>
          </a:p>
          <a:p>
            <a:pPr marL="1257300" lvl="2" indent="-342900">
              <a:buClrTx/>
              <a:buSzTx/>
              <a:buFont typeface="+mj-lt"/>
              <a:buAutoNum type="arabicPeriod"/>
            </a:pPr>
            <a:r>
              <a:rPr lang="es-ES" kern="1200" dirty="0">
                <a:solidFill>
                  <a:srgbClr val="000000"/>
                </a:solidFill>
                <a:latin typeface="Segoe UI" panose="020B0502040204020203" pitchFamily="34" charset="0"/>
                <a:ea typeface="+mn-ea"/>
                <a:cs typeface="Segoe UI" panose="020B0502040204020203" pitchFamily="34" charset="0"/>
              </a:rPr>
              <a:t>Necesario?</a:t>
            </a:r>
          </a:p>
          <a:p>
            <a:pPr marL="1257300" lvl="2" indent="-342900">
              <a:buClrTx/>
              <a:buSzTx/>
              <a:buFont typeface="+mj-lt"/>
              <a:buAutoNum type="arabicPeriod"/>
            </a:pPr>
            <a:r>
              <a:rPr lang="es-ES" kern="1200" dirty="0">
                <a:solidFill>
                  <a:srgbClr val="000000"/>
                </a:solidFill>
                <a:latin typeface="Segoe UI" panose="020B0502040204020203" pitchFamily="34" charset="0"/>
                <a:ea typeface="+mn-ea"/>
                <a:cs typeface="Segoe UI" panose="020B0502040204020203" pitchFamily="34" charset="0"/>
              </a:rPr>
              <a:t>Razonable?</a:t>
            </a:r>
          </a:p>
          <a:p>
            <a:pPr marL="1257300" lvl="2" indent="-342900">
              <a:buClrTx/>
              <a:buSzTx/>
              <a:buFont typeface="+mj-lt"/>
              <a:buAutoNum type="arabicPeriod"/>
            </a:pPr>
            <a:r>
              <a:rPr lang="es-ES" kern="1200" dirty="0">
                <a:solidFill>
                  <a:srgbClr val="000000"/>
                </a:solidFill>
                <a:latin typeface="Segoe UI" panose="020B0502040204020203" pitchFamily="34" charset="0"/>
                <a:ea typeface="+mn-ea"/>
                <a:cs typeface="Segoe UI" panose="020B0502040204020203" pitchFamily="34" charset="0"/>
              </a:rPr>
              <a:t>Asignable?  </a:t>
            </a:r>
          </a:p>
          <a:p>
            <a:pPr marL="1257300" lvl="2" indent="-342900">
              <a:buClrTx/>
              <a:buSzTx/>
              <a:buFont typeface="+mj-lt"/>
              <a:buAutoNum type="arabicPeriod"/>
            </a:pPr>
            <a:endParaRPr lang="es-ES" sz="1400" kern="1200" dirty="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s-ES" sz="1400" kern="1200" dirty="0">
              <a:solidFill>
                <a:srgbClr val="000000"/>
              </a:solidFill>
              <a:latin typeface="Segoe UI" panose="020B0502040204020203" pitchFamily="34" charset="0"/>
              <a:ea typeface="+mn-ea"/>
              <a:cs typeface="Segoe UI" panose="020B0502040204020203" pitchFamily="34" charset="0"/>
            </a:endParaRPr>
          </a:p>
          <a:p>
            <a:pPr marL="1257300" lvl="2" indent="-342900">
              <a:buClrTx/>
              <a:buSzTx/>
              <a:buFont typeface="+mj-lt"/>
              <a:buAutoNum type="arabicPeriod"/>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32724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28600" y="1123950"/>
            <a:ext cx="6023112" cy="3428999"/>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600" dirty="0">
                <a:solidFill>
                  <a:schemeClr val="tx1"/>
                </a:solidFill>
                <a:latin typeface="Segoe UI" panose="020B0502040204020203" pitchFamily="34" charset="0"/>
                <a:cs typeface="Segoe UI" panose="020B0502040204020203" pitchFamily="34" charset="0"/>
              </a:rPr>
              <a:t>Compensation for personal services includes all remuneration, for services of employees and is allowable if:</a:t>
            </a:r>
          </a:p>
          <a:p>
            <a:pPr lvl="1">
              <a:buClrTx/>
              <a:buFont typeface="Arial" panose="020B0604020202020204" pitchFamily="34" charset="0"/>
              <a:buChar char="•"/>
            </a:pPr>
            <a:r>
              <a:rPr lang="en-US" sz="1600" dirty="0">
                <a:solidFill>
                  <a:schemeClr val="tx1"/>
                </a:solidFill>
                <a:latin typeface="Segoe UI" panose="020B0502040204020203" pitchFamily="34" charset="0"/>
                <a:cs typeface="Segoe UI" panose="020B0502040204020203" pitchFamily="34" charset="0"/>
              </a:rPr>
              <a:t>It is reasonable for the services rendered (fair market price);</a:t>
            </a:r>
          </a:p>
          <a:p>
            <a:pPr lvl="1">
              <a:buClrTx/>
              <a:buFont typeface="Arial" panose="020B0604020202020204" pitchFamily="34" charset="0"/>
              <a:buChar char="•"/>
            </a:pPr>
            <a:r>
              <a:rPr lang="en-US" sz="1600" dirty="0">
                <a:solidFill>
                  <a:schemeClr val="tx1"/>
                </a:solidFill>
                <a:latin typeface="Segoe UI" panose="020B0502040204020203" pitchFamily="34" charset="0"/>
                <a:cs typeface="Segoe UI" panose="020B0502040204020203" pitchFamily="34" charset="0"/>
              </a:rPr>
              <a:t>Must be consistently applied to both non-USG and USG activities; </a:t>
            </a:r>
          </a:p>
          <a:p>
            <a:pPr lvl="1">
              <a:buClrTx/>
              <a:buFont typeface="Arial" panose="020B0604020202020204" pitchFamily="34" charset="0"/>
              <a:buChar char="•"/>
            </a:pPr>
            <a:r>
              <a:rPr lang="en-US" sz="1600" dirty="0">
                <a:solidFill>
                  <a:schemeClr val="tx1"/>
                </a:solidFill>
                <a:latin typeface="Segoe UI" panose="020B0502040204020203" pitchFamily="34" charset="0"/>
                <a:cs typeface="Segoe UI" panose="020B0502040204020203" pitchFamily="34" charset="0"/>
              </a:rPr>
              <a:t>Conforms to the written policy of the subrecipient; and</a:t>
            </a:r>
          </a:p>
          <a:p>
            <a:pPr lvl="1">
              <a:buClrTx/>
              <a:buFont typeface="Arial" panose="020B0604020202020204" pitchFamily="34" charset="0"/>
              <a:buChar char="•"/>
            </a:pPr>
            <a:r>
              <a:rPr lang="en-US" sz="1600" dirty="0">
                <a:solidFill>
                  <a:schemeClr val="tx1"/>
                </a:solidFill>
                <a:latin typeface="Segoe UI" panose="020B0502040204020203" pitchFamily="34" charset="0"/>
                <a:cs typeface="Segoe UI" panose="020B0502040204020203" pitchFamily="34" charset="0"/>
              </a:rPr>
              <a:t>Is adequately documented </a:t>
            </a:r>
            <a:r>
              <a:rPr lang="en-US" sz="1600" dirty="0">
                <a:solidFill>
                  <a:schemeClr val="accent4">
                    <a:lumMod val="75000"/>
                  </a:schemeClr>
                </a:solidFill>
                <a:latin typeface="Segoe UI" panose="020B0502040204020203" pitchFamily="34" charset="0"/>
                <a:ea typeface="Segoe UI" panose="020B0502040204020203" pitchFamily="34" charset="0"/>
                <a:cs typeface="Segoe UI" panose="020B0502040204020203" pitchFamily="34" charset="0"/>
              </a:rPr>
              <a:t>(i.e. salaries and wages are based on records that accurately reflect the work performed)</a:t>
            </a:r>
            <a:endParaRPr lang="en-US" sz="1600" dirty="0">
              <a:solidFill>
                <a:schemeClr val="tx1"/>
              </a:solidFill>
              <a:latin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05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Must be incorporated into official records &amp; comply with accounting policies of the entity</a:t>
            </a:r>
          </a:p>
          <a:p>
            <a:pPr>
              <a:buClrTx/>
              <a:buFont typeface="Arial" panose="020B0604020202020204" pitchFamily="34" charset="0"/>
              <a:buChar char="•"/>
            </a:pPr>
            <a:endParaRPr lang="en-US" sz="105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1905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Personnel Costs</a:t>
            </a:r>
            <a:endParaRPr lang="en-US" sz="3600" kern="0" dirty="0">
              <a:solidFill>
                <a:schemeClr val="tx1"/>
              </a:solidFill>
            </a:endParaRPr>
          </a:p>
        </p:txBody>
      </p:sp>
      <p:sp>
        <p:nvSpPr>
          <p:cNvPr id="7" name="Rectangle 6">
            <a:extLst>
              <a:ext uri="{FF2B5EF4-FFF2-40B4-BE49-F238E27FC236}">
                <a16:creationId xmlns:a16="http://schemas.microsoft.com/office/drawing/2014/main" id="{9B4264CF-A315-05FD-9B23-44B4DA685366}"/>
              </a:ext>
            </a:extLst>
          </p:cNvPr>
          <p:cNvSpPr/>
          <p:nvPr/>
        </p:nvSpPr>
        <p:spPr>
          <a:xfrm>
            <a:off x="-228600" y="742950"/>
            <a:ext cx="2593848" cy="428625"/>
          </a:xfrm>
          <a:prstGeom prst="rect">
            <a:avLst/>
          </a:prstGeom>
          <a:solidFill>
            <a:srgbClr val="00B2D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200.430</a:t>
            </a:r>
            <a:endParaRPr lang="en-US" dirty="0"/>
          </a:p>
        </p:txBody>
      </p:sp>
    </p:spTree>
    <p:extLst>
      <p:ext uri="{BB962C8B-B14F-4D97-AF65-F5344CB8AC3E}">
        <p14:creationId xmlns:p14="http://schemas.microsoft.com/office/powerpoint/2010/main" val="1253243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28600" y="1123950"/>
            <a:ext cx="6023112" cy="3428999"/>
          </a:xfrm>
          <a:prstGeom prst="rect">
            <a:avLst/>
          </a:prstGeom>
        </p:spPr>
        <p:txBody>
          <a:bodyPr spcFirstLastPara="1" wrap="square" lIns="91425" tIns="91425" rIns="91425" bIns="91425" anchor="t" anchorCtr="0">
            <a:noAutofit/>
          </a:bodyPr>
          <a:lstStyle/>
          <a:p>
            <a:pPr marL="285750"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Must reflect the total activity for which the employee is being compensated, not exceeding 100% </a:t>
            </a:r>
            <a:endParaRPr lang="en-US" sz="150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Overtime charges will not be accepted</a:t>
            </a:r>
          </a:p>
          <a:p>
            <a:pPr marL="285750" marR="0" lvl="0" indent="-285750">
              <a:lnSpc>
                <a:spcPct val="150000"/>
              </a:lnSpc>
              <a:spcBef>
                <a:spcPts val="75"/>
              </a:spcBef>
              <a:spcAft>
                <a:spcPts val="0"/>
              </a:spcAft>
              <a:buClr>
                <a:schemeClr val="tx1"/>
              </a:buClr>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Documentation must include: one of the following signed and dated by the employee and approved by the Supervisor.</a:t>
            </a:r>
          </a:p>
          <a:p>
            <a:pPr marL="1200150" lvl="2"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hlinkClick r:id="rId3"/>
              </a:rPr>
              <a:t>Example Timesheet</a:t>
            </a:r>
            <a:endParaRPr lang="en-US" sz="1500" dirty="0">
              <a:solidFill>
                <a:schemeClr val="tx1"/>
              </a:solidFill>
              <a:latin typeface="Segoe UI" panose="020B0502040204020203" pitchFamily="34" charset="0"/>
              <a:cs typeface="Segoe UI" panose="020B0502040204020203" pitchFamily="34" charset="0"/>
            </a:endParaRPr>
          </a:p>
          <a:p>
            <a:pPr marL="1200150" lvl="2"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hlinkClick r:id="rId4"/>
              </a:rPr>
              <a:t>Example Level of effort statement</a:t>
            </a:r>
            <a:endParaRPr lang="en-US" sz="150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Cannot charge level of effort based on the amount in the budget</a:t>
            </a:r>
          </a:p>
          <a:p>
            <a:pPr marL="285750"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Amount charged on monthly expense report must be in accordance with level of effort statement or timesheets submitted for that month</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0" y="-19050"/>
            <a:ext cx="7391400"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Personnel Costs - Documentation</a:t>
            </a:r>
            <a:endParaRPr lang="en-US" sz="3600" kern="0" dirty="0">
              <a:solidFill>
                <a:schemeClr val="tx1"/>
              </a:solidFill>
            </a:endParaRPr>
          </a:p>
        </p:txBody>
      </p:sp>
      <p:sp>
        <p:nvSpPr>
          <p:cNvPr id="7" name="Rectangle 6">
            <a:extLst>
              <a:ext uri="{FF2B5EF4-FFF2-40B4-BE49-F238E27FC236}">
                <a16:creationId xmlns:a16="http://schemas.microsoft.com/office/drawing/2014/main" id="{9B4264CF-A315-05FD-9B23-44B4DA685366}"/>
              </a:ext>
            </a:extLst>
          </p:cNvPr>
          <p:cNvSpPr/>
          <p:nvPr/>
        </p:nvSpPr>
        <p:spPr>
          <a:xfrm>
            <a:off x="-228600" y="742950"/>
            <a:ext cx="2593848" cy="428625"/>
          </a:xfrm>
          <a:prstGeom prst="rect">
            <a:avLst/>
          </a:prstGeom>
          <a:solidFill>
            <a:srgbClr val="00B2D0">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6"/>
              </a:rPr>
              <a:t>   2 CFR 200.430(i)</a:t>
            </a:r>
            <a:endParaRPr lang="en-US" dirty="0"/>
          </a:p>
        </p:txBody>
      </p:sp>
    </p:spTree>
    <p:extLst>
      <p:ext uri="{BB962C8B-B14F-4D97-AF65-F5344CB8AC3E}">
        <p14:creationId xmlns:p14="http://schemas.microsoft.com/office/powerpoint/2010/main" val="1172253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117673" y="361950"/>
            <a:ext cx="9046285" cy="4095600"/>
          </a:xfrm>
          <a:prstGeom prst="rect">
            <a:avLst/>
          </a:prstGeom>
        </p:spPr>
        <p:txBody>
          <a:bodyPr spcFirstLastPara="1" wrap="square" lIns="91425" tIns="91425" rIns="91425" bIns="91425" anchor="t" anchorCtr="0">
            <a:noAutofit/>
          </a:bodyPr>
          <a:lstStyle/>
          <a:p>
            <a:pPr marL="0" indent="0">
              <a:lnSpc>
                <a:spcPct val="150000"/>
              </a:lnSpc>
              <a:spcBef>
                <a:spcPts val="75"/>
              </a:spcBef>
              <a:buNone/>
            </a:pPr>
            <a:r>
              <a:rPr lang="en-US" sz="1400" dirty="0">
                <a:solidFill>
                  <a:schemeClr val="tx1"/>
                </a:solidFill>
                <a:latin typeface="Segoe UI" panose="020B0502040204020203" pitchFamily="34" charset="0"/>
                <a:cs typeface="Segoe UI" panose="020B0502040204020203" pitchFamily="34" charset="0"/>
              </a:rPr>
              <a:t>John is an employee for Labor United. John’s monthly salary is $2,000 USD and he splits his time between administrative functions for the organization and on a Department of Labor (DOL) project on labor rights. Based on the DOL budget, he is supposed to work 25% on administrative functions and 75% on the DOL project. In May 2022, he submitted the following timesheet:</a:t>
            </a: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2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r>
              <a:rPr lang="en-US" sz="1400" dirty="0">
                <a:solidFill>
                  <a:schemeClr val="tx1"/>
                </a:solidFill>
                <a:latin typeface="Segoe UI" panose="020B0502040204020203" pitchFamily="34" charset="0"/>
                <a:cs typeface="Segoe UI" panose="020B0502040204020203" pitchFamily="34" charset="0"/>
              </a:rPr>
              <a:t>Based on the information above, what is the dollar value for personnel can be charged to the DOL award in May 2022 for John?</a:t>
            </a: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endParaRPr lang="en-US" sz="1400" dirty="0">
              <a:solidFill>
                <a:schemeClr val="tx1"/>
              </a:solidFill>
              <a:latin typeface="Segoe UI" panose="020B0502040204020203" pitchFamily="34" charset="0"/>
              <a:cs typeface="Segoe UI" panose="020B0502040204020203" pitchFamily="34" charset="0"/>
            </a:endParaRP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152400" y="-247650"/>
            <a:ext cx="7391400"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2800" kern="0" dirty="0">
                <a:solidFill>
                  <a:schemeClr val="tx1"/>
                </a:solidFill>
                <a:latin typeface="Segoe UI" pitchFamily="34" charset="0"/>
                <a:ea typeface="Segoe UI" pitchFamily="34" charset="0"/>
                <a:cs typeface="Segoe UI" pitchFamily="34" charset="0"/>
              </a:rPr>
              <a:t>Personnel Costs - Exercise</a:t>
            </a:r>
            <a:endParaRPr lang="en-US" sz="2800" kern="0" dirty="0">
              <a:solidFill>
                <a:schemeClr val="tx1"/>
              </a:solidFill>
            </a:endParaRPr>
          </a:p>
        </p:txBody>
      </p:sp>
      <p:pic>
        <p:nvPicPr>
          <p:cNvPr id="9" name="Picture 8">
            <a:extLst>
              <a:ext uri="{FF2B5EF4-FFF2-40B4-BE49-F238E27FC236}">
                <a16:creationId xmlns:a16="http://schemas.microsoft.com/office/drawing/2014/main" id="{0BAD6A55-6E9C-166D-6A7D-D1D6CEA5FBCC}"/>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0" y="1809750"/>
            <a:ext cx="9158487" cy="2438400"/>
          </a:xfrm>
          <a:prstGeom prst="rect">
            <a:avLst/>
          </a:prstGeom>
        </p:spPr>
      </p:pic>
    </p:spTree>
    <p:extLst>
      <p:ext uri="{BB962C8B-B14F-4D97-AF65-F5344CB8AC3E}">
        <p14:creationId xmlns:p14="http://schemas.microsoft.com/office/powerpoint/2010/main" val="166222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Fringe Benefit Costs</a:t>
            </a:r>
            <a:endParaRPr sz="3600" dirty="0">
              <a:solidFill>
                <a:schemeClr val="tx1"/>
              </a:solidFill>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A2CA04-C8EB-830E-0D2B-88A7DDC0D552}"/>
              </a:ext>
            </a:extLst>
          </p:cNvPr>
          <p:cNvSpPr/>
          <p:nvPr/>
        </p:nvSpPr>
        <p:spPr>
          <a:xfrm>
            <a:off x="-228600" y="819150"/>
            <a:ext cx="2593848" cy="428625"/>
          </a:xfrm>
          <a:prstGeom prst="rect">
            <a:avLst/>
          </a:prstGeom>
          <a:solidFill>
            <a:srgbClr val="E16EE4">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200.431</a:t>
            </a:r>
            <a:endParaRPr lang="en-US" dirty="0"/>
          </a:p>
        </p:txBody>
      </p:sp>
      <p:sp>
        <p:nvSpPr>
          <p:cNvPr id="7" name="TextBox 6">
            <a:extLst>
              <a:ext uri="{FF2B5EF4-FFF2-40B4-BE49-F238E27FC236}">
                <a16:creationId xmlns:a16="http://schemas.microsoft.com/office/drawing/2014/main" id="{B37FB4E7-B8CD-9AB2-13AB-E2D6FED793FF}"/>
              </a:ext>
            </a:extLst>
          </p:cNvPr>
          <p:cNvSpPr txBox="1"/>
          <p:nvPr/>
        </p:nvSpPr>
        <p:spPr>
          <a:xfrm>
            <a:off x="228600" y="1276350"/>
            <a:ext cx="6090631" cy="3934988"/>
          </a:xfrm>
          <a:prstGeom prst="rect">
            <a:avLst/>
          </a:prstGeom>
          <a:noFill/>
        </p:spPr>
        <p:txBody>
          <a:bodyPr wrap="square">
            <a:spAutoFit/>
          </a:bodyPr>
          <a:lstStyle/>
          <a:p>
            <a:pPr marL="285750" indent="-285750">
              <a:lnSpc>
                <a:spcPct val="150000"/>
              </a:lnSpc>
              <a:spcBef>
                <a:spcPts val="75"/>
              </a:spcBef>
              <a:buClr>
                <a:schemeClr val="tx1"/>
              </a:buClr>
              <a:buFont typeface="Arial" panose="020B0604020202020204" pitchFamily="34" charset="0"/>
              <a:buChar char="•"/>
            </a:pPr>
            <a:r>
              <a:rPr lang="en-US" sz="1450" dirty="0">
                <a:solidFill>
                  <a:schemeClr val="tx1"/>
                </a:solidFill>
                <a:latin typeface="Segoe UI" panose="020B0502040204020203" pitchFamily="34" charset="0"/>
                <a:ea typeface="Segoe UI" panose="020B0502040204020203" pitchFamily="34" charset="0"/>
                <a:cs typeface="Segoe UI" panose="020B0502040204020203" pitchFamily="34" charset="0"/>
              </a:rPr>
              <a:t>Fringe benefits are items in addition to regular salaries and wages</a:t>
            </a:r>
          </a:p>
          <a:p>
            <a:pPr marL="742950" lvl="1" indent="-285750">
              <a:lnSpc>
                <a:spcPct val="150000"/>
              </a:lnSpc>
              <a:spcBef>
                <a:spcPts val="75"/>
              </a:spcBef>
              <a:buClr>
                <a:schemeClr val="tx1"/>
              </a:buClr>
              <a:buFont typeface="Arial" panose="020B0604020202020204" pitchFamily="34" charset="0"/>
              <a:buChar char="•"/>
            </a:pPr>
            <a:r>
              <a:rPr lang="en-US" sz="1450" dirty="0">
                <a:solidFill>
                  <a:schemeClr val="tx1"/>
                </a:solidFill>
                <a:latin typeface="Segoe UI" panose="020B0502040204020203" pitchFamily="34" charset="0"/>
                <a:ea typeface="Segoe UI" panose="020B0502040204020203" pitchFamily="34" charset="0"/>
                <a:cs typeface="Segoe UI" panose="020B0502040204020203" pitchFamily="34" charset="0"/>
              </a:rPr>
              <a:t>Fringe benefits include, but are not limited to, the costs of leave (vacation, family-related, or sick), mandatory taxes, employee insurances, aguinaldo, pensions, severance, and all other benefits per local laws</a:t>
            </a:r>
          </a:p>
          <a:p>
            <a:pPr marL="742950" lvl="1" indent="-285750">
              <a:lnSpc>
                <a:spcPct val="150000"/>
              </a:lnSpc>
              <a:spcBef>
                <a:spcPts val="75"/>
              </a:spcBef>
              <a:buClr>
                <a:schemeClr val="tx1"/>
              </a:buClr>
              <a:buFont typeface="Arial" panose="020B0604020202020204" pitchFamily="34" charset="0"/>
              <a:buChar char="•"/>
            </a:pPr>
            <a:r>
              <a:rPr lang="en-US" sz="1450" u="sng" dirty="0">
                <a:latin typeface="Segoe UI" panose="020B0502040204020203" pitchFamily="34" charset="0"/>
                <a:ea typeface="Segoe UI" panose="020B0502040204020203" pitchFamily="34" charset="0"/>
                <a:cs typeface="Segoe UI" panose="020B0502040204020203" pitchFamily="34" charset="0"/>
              </a:rPr>
              <a:t>Only employer costs </a:t>
            </a:r>
            <a:endParaRPr lang="en-US" sz="1450" u="sng"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spcBef>
                <a:spcPts val="75"/>
              </a:spcBef>
              <a:buClr>
                <a:schemeClr val="tx1"/>
              </a:buClr>
              <a:buFont typeface="Arial" panose="020B0604020202020204" pitchFamily="34" charset="0"/>
              <a:buChar char="•"/>
            </a:pPr>
            <a:r>
              <a:rPr lang="en-US" sz="1450" dirty="0">
                <a:solidFill>
                  <a:schemeClr val="tx1"/>
                </a:solidFill>
                <a:latin typeface="Segoe UI" panose="020B0502040204020203" pitchFamily="34" charset="0"/>
                <a:ea typeface="Segoe UI" panose="020B0502040204020203" pitchFamily="34" charset="0"/>
                <a:cs typeface="Segoe UI" panose="020B0502040204020203" pitchFamily="34" charset="0"/>
              </a:rPr>
              <a:t>To be allowabl</a:t>
            </a:r>
            <a:r>
              <a:rPr lang="en-US" sz="1450" dirty="0">
                <a:latin typeface="Segoe UI" panose="020B0502040204020203" pitchFamily="34" charset="0"/>
                <a:ea typeface="Segoe UI" panose="020B0502040204020203" pitchFamily="34" charset="0"/>
                <a:cs typeface="Segoe UI" panose="020B0502040204020203" pitchFamily="34" charset="0"/>
              </a:rPr>
              <a:t>e they must:</a:t>
            </a:r>
          </a:p>
          <a:p>
            <a:pPr marL="742950" lvl="1" indent="-285750">
              <a:lnSpc>
                <a:spcPct val="150000"/>
              </a:lnSpc>
              <a:spcBef>
                <a:spcPts val="75"/>
              </a:spcBef>
              <a:buClr>
                <a:schemeClr val="tx1"/>
              </a:buClr>
              <a:buFont typeface="Arial" panose="020B0604020202020204" pitchFamily="34" charset="0"/>
              <a:buChar char="•"/>
            </a:pPr>
            <a:r>
              <a:rPr lang="en-US" sz="1450" dirty="0">
                <a:solidFill>
                  <a:schemeClr val="tx1"/>
                </a:solidFill>
                <a:latin typeface="Segoe UI" panose="020B0502040204020203" pitchFamily="34" charset="0"/>
                <a:ea typeface="Segoe UI" panose="020B0502040204020203" pitchFamily="34" charset="0"/>
                <a:cs typeface="Segoe UI" panose="020B0502040204020203" pitchFamily="34" charset="0"/>
              </a:rPr>
              <a:t>Be reasonable;</a:t>
            </a:r>
          </a:p>
          <a:p>
            <a:pPr marL="742950" lvl="1" indent="-285750">
              <a:lnSpc>
                <a:spcPct val="150000"/>
              </a:lnSpc>
              <a:spcBef>
                <a:spcPts val="75"/>
              </a:spcBef>
              <a:buClr>
                <a:schemeClr val="tx1"/>
              </a:buClr>
              <a:buFont typeface="Arial" panose="020B0604020202020204" pitchFamily="34" charset="0"/>
              <a:buChar char="•"/>
            </a:pPr>
            <a:r>
              <a:rPr lang="en-US" sz="1450" dirty="0">
                <a:latin typeface="Segoe UI" panose="020B0502040204020203" pitchFamily="34" charset="0"/>
                <a:ea typeface="Segoe UI" panose="020B0502040204020203" pitchFamily="34" charset="0"/>
                <a:cs typeface="Segoe UI" panose="020B0502040204020203" pitchFamily="34" charset="0"/>
              </a:rPr>
              <a:t>R</a:t>
            </a:r>
            <a:r>
              <a:rPr lang="en-US" sz="1450" dirty="0">
                <a:solidFill>
                  <a:schemeClr val="tx1"/>
                </a:solidFill>
                <a:latin typeface="Segoe UI" panose="020B0502040204020203" pitchFamily="34" charset="0"/>
                <a:ea typeface="Segoe UI" panose="020B0502040204020203" pitchFamily="34" charset="0"/>
                <a:cs typeface="Segoe UI" panose="020B0502040204020203" pitchFamily="34" charset="0"/>
              </a:rPr>
              <a:t>equired by local law, employee agreement, or an established policy of the subrecipient; and</a:t>
            </a:r>
          </a:p>
          <a:p>
            <a:pPr marL="742950" lvl="1" indent="-285750">
              <a:lnSpc>
                <a:spcPct val="150000"/>
              </a:lnSpc>
              <a:spcBef>
                <a:spcPts val="75"/>
              </a:spcBef>
              <a:buClr>
                <a:schemeClr val="tx1"/>
              </a:buClr>
              <a:buFont typeface="Arial" panose="020B0604020202020204" pitchFamily="34" charset="0"/>
              <a:buChar char="•"/>
            </a:pPr>
            <a:r>
              <a:rPr lang="en-US" sz="1450" dirty="0">
                <a:latin typeface="Segoe UI" panose="020B0502040204020203" pitchFamily="34" charset="0"/>
                <a:cs typeface="Segoe UI" panose="020B0502040204020203" pitchFamily="34" charset="0"/>
              </a:rPr>
              <a:t>Proportional to time worked</a:t>
            </a:r>
            <a:endParaRPr lang="en-US" sz="145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22750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7019082" cy="857400"/>
          </a:xfrm>
          <a:prstGeom prst="rect">
            <a:avLst/>
          </a:prstGeom>
        </p:spPr>
        <p:txBody>
          <a:bodyPr spcFirstLastPara="1" wrap="square" lIns="91425" tIns="91425" rIns="91425" bIns="91425" anchor="b" anchorCtr="0">
            <a:noAutofit/>
          </a:bodyPr>
          <a:lstStyle/>
          <a:p>
            <a:pPr lvl="0"/>
            <a:r>
              <a:rPr lang="en-US" sz="3200" dirty="0">
                <a:solidFill>
                  <a:schemeClr val="tx1"/>
                </a:solidFill>
                <a:latin typeface="Segoe UI" pitchFamily="34" charset="0"/>
                <a:ea typeface="Segoe UI" pitchFamily="34" charset="0"/>
                <a:cs typeface="Segoe UI" pitchFamily="34" charset="0"/>
              </a:rPr>
              <a:t>Fringe Benefit Costs - Documentation</a:t>
            </a:r>
            <a:endParaRPr sz="3200" dirty="0">
              <a:solidFill>
                <a:schemeClr val="tx1"/>
              </a:solidFill>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A2CA04-C8EB-830E-0D2B-88A7DDC0D552}"/>
              </a:ext>
            </a:extLst>
          </p:cNvPr>
          <p:cNvSpPr/>
          <p:nvPr/>
        </p:nvSpPr>
        <p:spPr>
          <a:xfrm>
            <a:off x="-228600" y="819150"/>
            <a:ext cx="2593848" cy="428625"/>
          </a:xfrm>
          <a:prstGeom prst="rect">
            <a:avLst/>
          </a:prstGeom>
          <a:solidFill>
            <a:srgbClr val="E16EE4">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200.431</a:t>
            </a:r>
            <a:endParaRPr lang="en-US" dirty="0"/>
          </a:p>
        </p:txBody>
      </p:sp>
      <p:sp>
        <p:nvSpPr>
          <p:cNvPr id="7" name="TextBox 6">
            <a:extLst>
              <a:ext uri="{FF2B5EF4-FFF2-40B4-BE49-F238E27FC236}">
                <a16:creationId xmlns:a16="http://schemas.microsoft.com/office/drawing/2014/main" id="{B37FB4E7-B8CD-9AB2-13AB-E2D6FED793FF}"/>
              </a:ext>
            </a:extLst>
          </p:cNvPr>
          <p:cNvSpPr txBox="1"/>
          <p:nvPr/>
        </p:nvSpPr>
        <p:spPr>
          <a:xfrm>
            <a:off x="490437" y="1352550"/>
            <a:ext cx="6023113" cy="3229667"/>
          </a:xfrm>
          <a:prstGeom prst="rect">
            <a:avLst/>
          </a:prstGeom>
          <a:noFill/>
        </p:spPr>
        <p:txBody>
          <a:bodyPr wrap="square">
            <a:spAutoFit/>
          </a:bodyPr>
          <a:lstStyle/>
          <a:p>
            <a:pPr marL="285750"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Pay stub for employee, or other documentation showing th</a:t>
            </a:r>
            <a:r>
              <a:rPr lang="en-US" sz="1500" dirty="0">
                <a:latin typeface="Segoe UI" panose="020B0502040204020203" pitchFamily="34" charset="0"/>
                <a:ea typeface="Segoe UI" panose="020B0502040204020203" pitchFamily="34" charset="0"/>
                <a:cs typeface="Segoe UI" panose="020B0502040204020203" pitchFamily="34" charset="0"/>
              </a:rPr>
              <a:t>e total fringe costs per employee</a:t>
            </a:r>
            <a:endPar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Amount charged on monthly expense report must be in accordance with level of effort statement or timesheets submitted for that month</a:t>
            </a:r>
          </a:p>
          <a:p>
            <a:pPr marL="742950" lvl="1"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Only the proportional amount of benefits is allowable</a:t>
            </a:r>
          </a:p>
          <a:p>
            <a:pPr marL="285750" indent="-285750">
              <a:lnSpc>
                <a:spcPct val="150000"/>
              </a:lnSpc>
              <a:spcBef>
                <a:spcPts val="75"/>
              </a:spcBef>
              <a:buClr>
                <a:schemeClr val="tx1"/>
              </a:buClr>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Cost of fringe benefit should be paid on </a:t>
            </a:r>
            <a:r>
              <a:rPr lang="en-US" sz="15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actual cost incurred</a:t>
            </a:r>
          </a:p>
          <a:p>
            <a:pPr marL="285750" indent="-285750">
              <a:lnSpc>
                <a:spcPct val="150000"/>
              </a:lnSpc>
              <a:spcBef>
                <a:spcPts val="75"/>
              </a:spcBef>
              <a:buClr>
                <a:schemeClr val="tx1"/>
              </a:buClr>
              <a:buFont typeface="Arial" panose="020B0604020202020204" pitchFamily="34" charset="0"/>
              <a:buChar char="•"/>
            </a:pPr>
            <a:r>
              <a:rPr lang="en-US" sz="1500" u="sng" dirty="0">
                <a:solidFill>
                  <a:schemeClr val="tx1"/>
                </a:solidFill>
                <a:latin typeface="Segoe UI" panose="020B0502040204020203" pitchFamily="34" charset="0"/>
                <a:ea typeface="Segoe UI" panose="020B0502040204020203" pitchFamily="34" charset="0"/>
                <a:cs typeface="Segoe UI" panose="020B0502040204020203" pitchFamily="34" charset="0"/>
              </a:rPr>
              <a:t>Cannot charge based the rate in the award budget</a:t>
            </a:r>
          </a:p>
          <a:p>
            <a:pPr marL="742950" lvl="1" indent="-285750">
              <a:lnSpc>
                <a:spcPct val="150000"/>
              </a:lnSpc>
              <a:spcBef>
                <a:spcPts val="75"/>
              </a:spcBef>
              <a:buClr>
                <a:schemeClr val="tx1"/>
              </a:buClr>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2542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296118" y="37097"/>
            <a:ext cx="7019082" cy="857400"/>
          </a:xfrm>
          <a:prstGeom prst="rect">
            <a:avLst/>
          </a:prstGeom>
        </p:spPr>
        <p:txBody>
          <a:bodyPr spcFirstLastPara="1" wrap="square" lIns="91425" tIns="91425" rIns="91425" bIns="91425" anchor="b" anchorCtr="0">
            <a:noAutofit/>
          </a:bodyPr>
          <a:lstStyle/>
          <a:p>
            <a:pPr lvl="0"/>
            <a:r>
              <a:rPr lang="en-US" sz="3200" dirty="0">
                <a:solidFill>
                  <a:schemeClr val="tx1"/>
                </a:solidFill>
                <a:latin typeface="Segoe UI" pitchFamily="34" charset="0"/>
                <a:ea typeface="Segoe UI" pitchFamily="34" charset="0"/>
                <a:cs typeface="Segoe UI" pitchFamily="34" charset="0"/>
              </a:rPr>
              <a:t>Fringe Benefit Costs - Exercise</a:t>
            </a:r>
            <a:endParaRPr sz="3200" dirty="0">
              <a:solidFill>
                <a:schemeClr val="tx1"/>
              </a:solidFill>
            </a:endParaRP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7FB4E7-B8CD-9AB2-13AB-E2D6FED793FF}"/>
              </a:ext>
            </a:extLst>
          </p:cNvPr>
          <p:cNvSpPr txBox="1"/>
          <p:nvPr/>
        </p:nvSpPr>
        <p:spPr>
          <a:xfrm>
            <a:off x="296118" y="742950"/>
            <a:ext cx="8238282" cy="4281237"/>
          </a:xfrm>
          <a:prstGeom prst="rect">
            <a:avLst/>
          </a:prstGeom>
          <a:noFill/>
        </p:spPr>
        <p:txBody>
          <a:bodyPr wrap="square">
            <a:spAutoFit/>
          </a:bodyPr>
          <a:lstStyle/>
          <a:p>
            <a:pPr marL="0" indent="0">
              <a:lnSpc>
                <a:spcPct val="150000"/>
              </a:lnSpc>
              <a:spcBef>
                <a:spcPts val="75"/>
              </a:spcBef>
              <a:buNone/>
            </a:pPr>
            <a:r>
              <a:rPr lang="en-US" sz="1500" dirty="0">
                <a:solidFill>
                  <a:schemeClr val="tx1"/>
                </a:solidFill>
                <a:latin typeface="Segoe UI" panose="020B0502040204020203" pitchFamily="34" charset="0"/>
                <a:cs typeface="Segoe UI" panose="020B0502040204020203" pitchFamily="34" charset="0"/>
              </a:rPr>
              <a:t>John splits his time between administrative functions for the organization and on a DOL project on labor rights. Based on the budget, he is supposed to work 25% on administrative functions and 75% on the DOL project. In May 2022, his time sheet he charged 55% of his time to the DOL project, and 45% to admin functions. </a:t>
            </a:r>
            <a:r>
              <a:rPr lang="en-US" sz="1500" dirty="0">
                <a:latin typeface="Segoe UI" panose="020B0502040204020203" pitchFamily="34" charset="0"/>
                <a:cs typeface="Segoe UI" panose="020B0502040204020203" pitchFamily="34" charset="0"/>
              </a:rPr>
              <a:t>In May  2022, John’s employer fringe benefits were as follows: </a:t>
            </a:r>
          </a:p>
          <a:p>
            <a:pPr marL="742950" lvl="1" indent="-285750">
              <a:lnSpc>
                <a:spcPct val="150000"/>
              </a:lnSpc>
              <a:spcBef>
                <a:spcPts val="75"/>
              </a:spcBef>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$100 for payroll taxes</a:t>
            </a:r>
          </a:p>
          <a:p>
            <a:pPr marL="742950" lvl="1" indent="-285750">
              <a:lnSpc>
                <a:spcPct val="150000"/>
              </a:lnSpc>
              <a:spcBef>
                <a:spcPts val="75"/>
              </a:spcBef>
              <a:buFont typeface="Arial" panose="020B0604020202020204" pitchFamily="34" charset="0"/>
              <a:buChar char="•"/>
            </a:pPr>
            <a:r>
              <a:rPr lang="en-US" sz="1500" dirty="0">
                <a:latin typeface="Segoe UI" panose="020B0502040204020203" pitchFamily="34" charset="0"/>
                <a:cs typeface="Segoe UI" panose="020B0502040204020203" pitchFamily="34" charset="0"/>
              </a:rPr>
              <a:t>$250 medical insurance</a:t>
            </a:r>
          </a:p>
          <a:p>
            <a:pPr marL="742950" lvl="1" indent="-285750">
              <a:lnSpc>
                <a:spcPct val="150000"/>
              </a:lnSpc>
              <a:spcBef>
                <a:spcPts val="75"/>
              </a:spcBef>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$150 retirement contributions</a:t>
            </a:r>
          </a:p>
          <a:p>
            <a:pPr lvl="1">
              <a:lnSpc>
                <a:spcPct val="150000"/>
              </a:lnSpc>
              <a:spcBef>
                <a:spcPts val="75"/>
              </a:spcBef>
            </a:pPr>
            <a:r>
              <a:rPr lang="en-US" sz="1500" dirty="0">
                <a:latin typeface="Segoe UI" panose="020B0502040204020203" pitchFamily="34" charset="0"/>
                <a:cs typeface="Segoe UI" panose="020B0502040204020203" pitchFamily="34" charset="0"/>
              </a:rPr>
              <a:t>Total employer fringe benefits: $500 USD</a:t>
            </a:r>
          </a:p>
          <a:p>
            <a:pPr marL="742950" lvl="1" indent="-285750">
              <a:lnSpc>
                <a:spcPct val="150000"/>
              </a:lnSpc>
              <a:spcBef>
                <a:spcPts val="75"/>
              </a:spcBef>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0" indent="0">
              <a:lnSpc>
                <a:spcPct val="150000"/>
              </a:lnSpc>
              <a:spcBef>
                <a:spcPts val="75"/>
              </a:spcBef>
              <a:buNone/>
            </a:pPr>
            <a:r>
              <a:rPr lang="en-US" sz="1500" dirty="0">
                <a:solidFill>
                  <a:schemeClr val="tx1"/>
                </a:solidFill>
                <a:latin typeface="Segoe UI" panose="020B0502040204020203" pitchFamily="34" charset="0"/>
                <a:cs typeface="Segoe UI" panose="020B0502040204020203" pitchFamily="34" charset="0"/>
              </a:rPr>
              <a:t>Based on the information above, what is the dollar value that can be charged to the DOL award on Labor Rights for John’s fringe benefits in May 2022?</a:t>
            </a:r>
          </a:p>
        </p:txBody>
      </p:sp>
    </p:spTree>
    <p:extLst>
      <p:ext uri="{BB962C8B-B14F-4D97-AF65-F5344CB8AC3E}">
        <p14:creationId xmlns:p14="http://schemas.microsoft.com/office/powerpoint/2010/main" val="1955999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Supplies</a:t>
            </a:r>
            <a:endParaRPr lang="en-US" sz="3600" kern="0" dirty="0">
              <a:solidFill>
                <a:schemeClr val="tx1"/>
              </a:solidFill>
            </a:endParaRPr>
          </a:p>
        </p:txBody>
      </p:sp>
      <p:sp>
        <p:nvSpPr>
          <p:cNvPr id="6" name="Google Shape;95;p18"/>
          <p:cNvSpPr txBox="1">
            <a:spLocks noGrp="1"/>
          </p:cNvSpPr>
          <p:nvPr>
            <p:ph type="body" idx="1"/>
          </p:nvPr>
        </p:nvSpPr>
        <p:spPr>
          <a:xfrm>
            <a:off x="304798" y="1123950"/>
            <a:ext cx="602311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Per unit value less than $5,000 USD regardless of the length of its useful life</a:t>
            </a:r>
          </a:p>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Subrecipient must not use supplies acquired with USG funds to provide services to other organizations or for non-programmatic purposes</a:t>
            </a:r>
          </a:p>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Documentation: invoice and receipt </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rgbClr val="F0A746">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200.314</a:t>
            </a:r>
            <a:endParaRPr lang="en-US" dirty="0"/>
          </a:p>
        </p:txBody>
      </p:sp>
    </p:spTree>
    <p:extLst>
      <p:ext uri="{BB962C8B-B14F-4D97-AF65-F5344CB8AC3E}">
        <p14:creationId xmlns:p14="http://schemas.microsoft.com/office/powerpoint/2010/main" val="687924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Computing Devices</a:t>
            </a:r>
            <a:endParaRPr lang="en-US" sz="3600" kern="0" dirty="0">
              <a:solidFill>
                <a:schemeClr val="tx1"/>
              </a:solidFill>
            </a:endParaRPr>
          </a:p>
        </p:txBody>
      </p:sp>
      <p:sp>
        <p:nvSpPr>
          <p:cNvPr id="6" name="Google Shape;95;p18"/>
          <p:cNvSpPr txBox="1">
            <a:spLocks noGrp="1"/>
          </p:cNvSpPr>
          <p:nvPr>
            <p:ph type="body" idx="1"/>
          </p:nvPr>
        </p:nvSpPr>
        <p:spPr>
          <a:xfrm>
            <a:off x="304799" y="1280862"/>
            <a:ext cx="6023113" cy="3392068"/>
          </a:xfrm>
          <a:prstGeom prst="rect">
            <a:avLst/>
          </a:prstGeom>
        </p:spPr>
        <p:txBody>
          <a:bodyPr spcFirstLastPara="1" wrap="square" lIns="91425" tIns="91425" rIns="91425" bIns="91425" anchor="t" anchorCtr="0">
            <a:noAutofit/>
          </a:bodyPr>
          <a:lstStyle/>
          <a:p>
            <a:pPr marL="342900" indent="-342900">
              <a:lnSpc>
                <a:spcPts val="2500"/>
              </a:lnSpc>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Machines used to acquire, store, analyze, process, and publish data and other info electronically, including accessories for printing, transmitting and receiving or storing electronic information</a:t>
            </a:r>
          </a:p>
          <a:p>
            <a:pPr marL="800100" lvl="1" indent="-342900">
              <a:lnSpc>
                <a:spcPts val="2500"/>
              </a:lnSpc>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Laptops</a:t>
            </a:r>
          </a:p>
          <a:p>
            <a:pPr marL="800100" lvl="1" indent="-342900">
              <a:lnSpc>
                <a:spcPts val="2500"/>
              </a:lnSpc>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Computers</a:t>
            </a:r>
          </a:p>
          <a:p>
            <a:pPr marL="800100" lvl="1" indent="-342900">
              <a:lnSpc>
                <a:spcPts val="2500"/>
              </a:lnSpc>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Tablets </a:t>
            </a:r>
          </a:p>
          <a:p>
            <a:pPr marL="342900" indent="-342900">
              <a:lnSpc>
                <a:spcPts val="2500"/>
              </a:lnSpc>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Computing devices allowable as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direct costs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under “materials and supplies” as long as they are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essential</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and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allocable</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rgbClr val="F0A746">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ction="ppaction://hlinkfile"/>
              </a:rPr>
              <a:t>   2 CFR 200.20</a:t>
            </a:r>
            <a:endParaRPr lang="en-US" dirty="0"/>
          </a:p>
        </p:txBody>
      </p:sp>
    </p:spTree>
    <p:extLst>
      <p:ext uri="{BB962C8B-B14F-4D97-AF65-F5344CB8AC3E}">
        <p14:creationId xmlns:p14="http://schemas.microsoft.com/office/powerpoint/2010/main" val="813357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Equipment</a:t>
            </a:r>
            <a:endParaRPr lang="en-US" sz="3600" kern="0" dirty="0">
              <a:solidFill>
                <a:schemeClr val="tx1"/>
              </a:solidFill>
            </a:endParaRPr>
          </a:p>
        </p:txBody>
      </p:sp>
      <p:sp>
        <p:nvSpPr>
          <p:cNvPr id="6" name="Google Shape;95;p18"/>
          <p:cNvSpPr txBox="1">
            <a:spLocks noGrp="1"/>
          </p:cNvSpPr>
          <p:nvPr>
            <p:ph type="body" idx="1"/>
          </p:nvPr>
        </p:nvSpPr>
        <p:spPr>
          <a:xfrm>
            <a:off x="304798" y="1123950"/>
            <a:ext cx="602311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Per unit value more than $5,000 USD and useful life of more than one </a:t>
            </a:r>
          </a:p>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Subrecipient must not use equipment acquired with USG funds to provide services to other organizations or for non-programmatic purposes</a:t>
            </a:r>
          </a:p>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Requires prior approval from POA</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rgbClr val="F0A746">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2 CFR 200.313</a:t>
            </a:r>
            <a:endParaRPr lang="en-US" dirty="0"/>
          </a:p>
        </p:txBody>
      </p:sp>
    </p:spTree>
    <p:extLst>
      <p:ext uri="{BB962C8B-B14F-4D97-AF65-F5344CB8AC3E}">
        <p14:creationId xmlns:p14="http://schemas.microsoft.com/office/powerpoint/2010/main" val="2947183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a:t>
            </a:r>
            <a:endParaRPr lang="en-US" sz="3600" kern="0" dirty="0">
              <a:solidFill>
                <a:schemeClr val="tx1"/>
              </a:solidFill>
            </a:endParaRPr>
          </a:p>
        </p:txBody>
      </p:sp>
      <p:sp>
        <p:nvSpPr>
          <p:cNvPr id="6" name="Google Shape;95;p18"/>
          <p:cNvSpPr txBox="1">
            <a:spLocks noGrp="1"/>
          </p:cNvSpPr>
          <p:nvPr>
            <p:ph type="body" idx="1"/>
          </p:nvPr>
        </p:nvSpPr>
        <p:spPr>
          <a:xfrm>
            <a:off x="304798" y="1123950"/>
            <a:ext cx="602311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Travel costs are the expenses for transportation, lodging, meals, and related items incurred by individuals on official award business</a:t>
            </a:r>
          </a:p>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comply with organization written travel policy</a:t>
            </a:r>
          </a:p>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Such costs may be charged on an actual cost basis, on a per diem or mileage basis in lieu of actual costs incurred</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method used must be applied consistently </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5"/>
              </a:rPr>
              <a:t>   2 CFR 200.475</a:t>
            </a:r>
            <a:endParaRPr lang="en-US" dirty="0"/>
          </a:p>
        </p:txBody>
      </p:sp>
    </p:spTree>
    <p:extLst>
      <p:ext uri="{BB962C8B-B14F-4D97-AF65-F5344CB8AC3E}">
        <p14:creationId xmlns:p14="http://schemas.microsoft.com/office/powerpoint/2010/main" val="3592066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Prior Approval for Travel</a:t>
            </a:r>
            <a:endParaRPr lang="en-US" sz="3600" kern="0" dirty="0">
              <a:solidFill>
                <a:schemeClr val="tx1"/>
              </a:solidFill>
            </a:endParaRPr>
          </a:p>
        </p:txBody>
      </p:sp>
      <p:sp>
        <p:nvSpPr>
          <p:cNvPr id="6" name="Google Shape;95;p18"/>
          <p:cNvSpPr txBox="1">
            <a:spLocks noGrp="1"/>
          </p:cNvSpPr>
          <p:nvPr>
            <p:ph type="body" idx="1"/>
          </p:nvPr>
        </p:nvSpPr>
        <p:spPr>
          <a:xfrm>
            <a:off x="304798" y="1123950"/>
            <a:ext cx="602311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 </a:t>
            </a:r>
            <a:r>
              <a:rPr lang="en-US" sz="1700" u="sng" dirty="0">
                <a:solidFill>
                  <a:schemeClr val="tx1"/>
                </a:solidFill>
                <a:latin typeface="Segoe UI" panose="020B0502040204020203" pitchFamily="34" charset="0"/>
                <a:ea typeface="Segoe UI" panose="020B0502040204020203" pitchFamily="34" charset="0"/>
                <a:cs typeface="Segoe UI" panose="020B0502040204020203" pitchFamily="34" charset="0"/>
              </a:rPr>
              <a:t>written justification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and approval must be provided for each trip to a conference, workshop, field trip, or any other travel purpose (travel request)</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approval from the supervisor before expenses are incurred </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have an approved budget to cover cost</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5"/>
              </a:rPr>
              <a:t>   2 CFR 200.475</a:t>
            </a:r>
            <a:endParaRPr lang="en-US" dirty="0"/>
          </a:p>
        </p:txBody>
      </p:sp>
    </p:spTree>
    <p:extLst>
      <p:ext uri="{BB962C8B-B14F-4D97-AF65-F5344CB8AC3E}">
        <p14:creationId xmlns:p14="http://schemas.microsoft.com/office/powerpoint/2010/main" val="917300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Lodging</a:t>
            </a:r>
            <a:endParaRPr lang="en-US" sz="3600" kern="0" dirty="0">
              <a:solidFill>
                <a:schemeClr val="tx1"/>
              </a:solidFill>
            </a:endParaRPr>
          </a:p>
        </p:txBody>
      </p:sp>
      <p:sp>
        <p:nvSpPr>
          <p:cNvPr id="6" name="Google Shape;95;p18"/>
          <p:cNvSpPr txBox="1">
            <a:spLocks noGrp="1"/>
          </p:cNvSpPr>
          <p:nvPr>
            <p:ph type="body" idx="1"/>
          </p:nvPr>
        </p:nvSpPr>
        <p:spPr>
          <a:xfrm>
            <a:off x="228600" y="1247775"/>
            <a:ext cx="621677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Lodging is allowable when: </a:t>
            </a:r>
          </a:p>
          <a:p>
            <a:pPr marL="927100" lvl="1" indent="-342900">
              <a:lnSpc>
                <a:spcPct val="150000"/>
              </a:lnSpc>
              <a:buClrTx/>
              <a:buAutoNum type="arabicParenBoth"/>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Participation of the individual is necessary to the USG award; and </a:t>
            </a:r>
          </a:p>
          <a:p>
            <a:pPr marL="927100" lvl="1" indent="-342900">
              <a:lnSpc>
                <a:spcPct val="150000"/>
              </a:lnSpc>
              <a:buClrTx/>
              <a:buAutoNum type="arabicParenBoth"/>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The costs are reasonable and consistent organization’s travel policy</a:t>
            </a:r>
          </a:p>
          <a:p>
            <a:pPr marL="285750"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Hotel invoice must include: name of traveler, name of hotel,  start and end date of the stay, number of hotel nights, rate per night, and if the room includes breakfast</a:t>
            </a:r>
          </a:p>
          <a:p>
            <a:pPr marL="285750"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Maximum allowable rate:</a:t>
            </a:r>
          </a:p>
          <a:p>
            <a:pPr marL="742950" lvl="1"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In U.S.: </a:t>
            </a:r>
            <a:r>
              <a:rPr lang="en-US" sz="140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https://www.gsa.gov/travel/plan-book/per-diem-rates</a:t>
            </a:r>
            <a:r>
              <a:rPr lang="en-US" sz="1400" dirty="0">
                <a:solidFill>
                  <a:schemeClr val="tx1"/>
                </a:solidFill>
                <a:latin typeface="Segoe UI" panose="020B0502040204020203" pitchFamily="34" charset="0"/>
                <a:cs typeface="Segoe UI" panose="020B0502040204020203" pitchFamily="34" charset="0"/>
              </a:rPr>
              <a:t> </a:t>
            </a:r>
          </a:p>
          <a:p>
            <a:pPr marL="742950" lvl="1" indent="-285750"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All other countries: </a:t>
            </a:r>
            <a:r>
              <a:rPr lang="en-US" sz="140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https://aoprals.state.gov/web920/per_diem.asp</a:t>
            </a:r>
            <a:r>
              <a:rPr lang="en-US" sz="1400" dirty="0">
                <a:solidFill>
                  <a:schemeClr val="tx1"/>
                </a:solidFill>
                <a:latin typeface="Segoe UI" panose="020B0502040204020203" pitchFamily="34" charset="0"/>
                <a:cs typeface="Segoe UI" panose="020B0502040204020203" pitchFamily="34" charset="0"/>
              </a:rPr>
              <a:t> </a:t>
            </a:r>
          </a:p>
          <a:p>
            <a:pPr>
              <a:lnSpc>
                <a:spcPct val="150000"/>
              </a:lnSpc>
              <a:buClrTx/>
              <a:buFont typeface="Arial" panose="020B0604020202020204"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7"/>
              </a:rPr>
              <a:t>   2 CFR 200.475</a:t>
            </a:r>
            <a:endParaRPr lang="en-US" dirty="0"/>
          </a:p>
        </p:txBody>
      </p:sp>
    </p:spTree>
    <p:extLst>
      <p:ext uri="{BB962C8B-B14F-4D97-AF65-F5344CB8AC3E}">
        <p14:creationId xmlns:p14="http://schemas.microsoft.com/office/powerpoint/2010/main" val="273270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Meals and Incidental Costs</a:t>
            </a:r>
            <a:endParaRPr lang="en-US" sz="3600" kern="0" dirty="0">
              <a:solidFill>
                <a:schemeClr val="tx1"/>
              </a:solidFill>
            </a:endParaRPr>
          </a:p>
        </p:txBody>
      </p:sp>
      <p:sp>
        <p:nvSpPr>
          <p:cNvPr id="6" name="Google Shape;95;p18"/>
          <p:cNvSpPr txBox="1">
            <a:spLocks noGrp="1"/>
          </p:cNvSpPr>
          <p:nvPr>
            <p:ph type="body" idx="1"/>
          </p:nvPr>
        </p:nvSpPr>
        <p:spPr>
          <a:xfrm>
            <a:off x="228601" y="1247775"/>
            <a:ext cx="6172199" cy="3392068"/>
          </a:xfrm>
          <a:prstGeom prst="rect">
            <a:avLst/>
          </a:prstGeom>
        </p:spPr>
        <p:txBody>
          <a:bodyPr spcFirstLastPara="1" wrap="square" lIns="91425" tIns="91425" rIns="91425" bIns="91425" anchor="t" anchorCtr="0">
            <a:noAutofit/>
          </a:bodyPr>
          <a:lstStyle/>
          <a:p>
            <a:pPr marL="285750"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Must apply either per diem or reimbursement for meals consistently on the project </a:t>
            </a:r>
          </a:p>
          <a:p>
            <a:pPr marL="742950" lvl="1"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Cannot do both process</a:t>
            </a:r>
          </a:p>
          <a:p>
            <a:pPr marL="742950" lvl="1"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Must have written policy and follow it</a:t>
            </a:r>
          </a:p>
          <a:p>
            <a:pPr marL="285750"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If doing reimburses for meals, must be the actual costs, cannot request $10, etc. for every meal</a:t>
            </a:r>
          </a:p>
          <a:p>
            <a:pPr marL="285750"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Maximum allowable rate:</a:t>
            </a:r>
          </a:p>
          <a:p>
            <a:pPr marL="742950" lvl="1" indent="-285750" algn="just"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In U.S.: </a:t>
            </a:r>
            <a:r>
              <a:rPr lang="en-US" sz="140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https://www.gsa.gov/travel/plan-book/per-diem-rates</a:t>
            </a:r>
            <a:r>
              <a:rPr lang="en-US" sz="1400" dirty="0">
                <a:solidFill>
                  <a:schemeClr val="tx1"/>
                </a:solidFill>
                <a:latin typeface="Segoe UI" panose="020B0502040204020203" pitchFamily="34" charset="0"/>
                <a:cs typeface="Segoe UI" panose="020B0502040204020203" pitchFamily="34" charset="0"/>
              </a:rPr>
              <a:t> </a:t>
            </a:r>
          </a:p>
          <a:p>
            <a:pPr marL="742950" lvl="1" indent="-285750" fontAlgn="base">
              <a:lnSpc>
                <a:spcPct val="150000"/>
              </a:lnSpc>
              <a:buClr>
                <a:schemeClr val="tx1"/>
              </a:buClr>
              <a:buFont typeface="Arial" panose="020B0604020202020204" pitchFamily="34" charset="0"/>
              <a:buChar char="•"/>
            </a:pPr>
            <a:r>
              <a:rPr lang="en-US" sz="1400" dirty="0">
                <a:solidFill>
                  <a:schemeClr val="tx1"/>
                </a:solidFill>
                <a:latin typeface="Segoe UI" panose="020B0502040204020203" pitchFamily="34" charset="0"/>
                <a:cs typeface="Segoe UI" panose="020B0502040204020203" pitchFamily="34" charset="0"/>
              </a:rPr>
              <a:t>All other countries: </a:t>
            </a:r>
            <a:r>
              <a:rPr lang="en-US" sz="140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https://aoprals.state.gov/web920/per_diem.asp</a:t>
            </a:r>
            <a:r>
              <a:rPr lang="en-US" sz="1400" dirty="0">
                <a:solidFill>
                  <a:schemeClr val="tx1"/>
                </a:solidFill>
                <a:latin typeface="Segoe UI" panose="020B0502040204020203" pitchFamily="34" charset="0"/>
                <a:cs typeface="Segoe UI" panose="020B0502040204020203" pitchFamily="34" charset="0"/>
              </a:rPr>
              <a:t> </a:t>
            </a:r>
          </a:p>
          <a:p>
            <a:pPr>
              <a:lnSpc>
                <a:spcPct val="150000"/>
              </a:lnSpc>
              <a:buClrTx/>
              <a:buFont typeface="Arial" panose="020B0604020202020204"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7"/>
              </a:rPr>
              <a:t>   2 CFR 200.475</a:t>
            </a:r>
            <a:endParaRPr lang="en-US" dirty="0"/>
          </a:p>
        </p:txBody>
      </p:sp>
    </p:spTree>
    <p:extLst>
      <p:ext uri="{BB962C8B-B14F-4D97-AF65-F5344CB8AC3E}">
        <p14:creationId xmlns:p14="http://schemas.microsoft.com/office/powerpoint/2010/main" val="891313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Local Transportation</a:t>
            </a:r>
            <a:endParaRPr lang="en-US" sz="3600" kern="0" dirty="0">
              <a:solidFill>
                <a:schemeClr val="tx1"/>
              </a:solidFill>
            </a:endParaRPr>
          </a:p>
        </p:txBody>
      </p:sp>
      <p:sp>
        <p:nvSpPr>
          <p:cNvPr id="6" name="Google Shape;95;p18"/>
          <p:cNvSpPr txBox="1">
            <a:spLocks noGrp="1"/>
          </p:cNvSpPr>
          <p:nvPr>
            <p:ph type="body" idx="1"/>
          </p:nvPr>
        </p:nvSpPr>
        <p:spPr>
          <a:xfrm>
            <a:off x="152400" y="1123950"/>
            <a:ext cx="6369171" cy="3962400"/>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rPr>
              <a:t>For other transport (taxis, Ubers, etc., a receipt or invoice with the date and amount, and in the description of the expense the place of origin and destination</a:t>
            </a:r>
          </a:p>
          <a:p>
            <a:pPr lvl="1">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rPr>
              <a:t>Cannot cover taxis for entertainment purposes</a:t>
            </a:r>
          </a:p>
          <a:p>
            <a:pPr lvl="1">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rPr>
              <a:t>Only cover taxis for meetings, site visits, and to/from hotel and airport</a:t>
            </a:r>
          </a:p>
          <a:p>
            <a:pPr>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rPr>
              <a:t>If using personal vehicle for business purposes, cannot pay gasoline, only can pay based on mileage</a:t>
            </a:r>
          </a:p>
          <a:p>
            <a:pPr lvl="1">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Using IRS rate per mile: 65.5 cents </a:t>
            </a:r>
            <a:endPar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rPr>
              <a:t>Rate is intended to cover gas, portion of insurance and portion of maintenance </a:t>
            </a:r>
          </a:p>
          <a:p>
            <a:pPr lvl="1">
              <a:lnSpc>
                <a:spcPct val="150000"/>
              </a:lnSpc>
              <a:buClrTx/>
              <a:buFont typeface="Arial" panose="020B0604020202020204" pitchFamily="34" charset="0"/>
              <a:buChar char="•"/>
            </a:pPr>
            <a:r>
              <a:rPr lang="en-US" sz="1300" dirty="0">
                <a:solidFill>
                  <a:schemeClr val="tx1"/>
                </a:solidFill>
                <a:latin typeface="Segoe UI" panose="020B0502040204020203" pitchFamily="34" charset="0"/>
                <a:ea typeface="Segoe UI" panose="020B0502040204020203" pitchFamily="34" charset="0"/>
                <a:cs typeface="Segoe UI" panose="020B0502040204020203" pitchFamily="34" charset="0"/>
              </a:rPr>
              <a:t>Use Google Maps to calculate the miles driven on route (include screenshot) and multiply by 65.5 cents each mile  </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6"/>
              </a:rPr>
              <a:t>   2 CFR 200.475</a:t>
            </a:r>
            <a:endParaRPr lang="en-US" dirty="0"/>
          </a:p>
        </p:txBody>
      </p:sp>
    </p:spTree>
    <p:extLst>
      <p:ext uri="{BB962C8B-B14F-4D97-AF65-F5344CB8AC3E}">
        <p14:creationId xmlns:p14="http://schemas.microsoft.com/office/powerpoint/2010/main" val="1901913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Airfare</a:t>
            </a:r>
            <a:endParaRPr lang="en-US" sz="3600" kern="0" dirty="0">
              <a:solidFill>
                <a:schemeClr val="tx1"/>
              </a:solidFill>
            </a:endParaRPr>
          </a:p>
        </p:txBody>
      </p:sp>
      <p:sp>
        <p:nvSpPr>
          <p:cNvPr id="6" name="Google Shape;95;p18"/>
          <p:cNvSpPr txBox="1">
            <a:spLocks noGrp="1"/>
          </p:cNvSpPr>
          <p:nvPr>
            <p:ph type="body" idx="1"/>
          </p:nvPr>
        </p:nvSpPr>
        <p:spPr>
          <a:xfrm>
            <a:off x="228601" y="1247775"/>
            <a:ext cx="5638800"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Only </a:t>
            </a:r>
            <a:r>
              <a:rPr lang="en-US" sz="1400" u="sng" dirty="0">
                <a:solidFill>
                  <a:schemeClr val="tx1"/>
                </a:solidFill>
                <a:latin typeface="Segoe UI" panose="020B0502040204020203" pitchFamily="34" charset="0"/>
                <a:ea typeface="Segoe UI" panose="020B0502040204020203" pitchFamily="34" charset="0"/>
                <a:cs typeface="Segoe UI" panose="020B0502040204020203" pitchFamily="34" charset="0"/>
              </a:rPr>
              <a:t>economy class </a:t>
            </a: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travel is allowable</a:t>
            </a:r>
          </a:p>
          <a:p>
            <a:pPr lvl="1">
              <a:lnSpc>
                <a:spcPct val="150000"/>
              </a:lnSpc>
              <a:buClrTx/>
              <a:buFont typeface="Arial" panose="020B0604020202020204" pitchFamily="34" charset="0"/>
              <a:buChar char="•"/>
            </a:pPr>
            <a:r>
              <a:rPr lang="en-US" sz="1400" u="sng" dirty="0">
                <a:solidFill>
                  <a:schemeClr val="tx1"/>
                </a:solidFill>
                <a:latin typeface="Segoe UI" panose="020B0502040204020203" pitchFamily="34" charset="0"/>
                <a:ea typeface="Segoe UI" panose="020B0502040204020203" pitchFamily="34" charset="0"/>
                <a:cs typeface="Segoe UI" panose="020B0502040204020203" pitchFamily="34" charset="0"/>
              </a:rPr>
              <a:t>No upgrades </a:t>
            </a: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are permitted including seat upgrades</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Must comply with the Fly America Act which states that you must fly on U.S. flag carriers or U.S. airline codes for all travel</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Unless an exception is documented: Wavier for Fly America Exception</a:t>
            </a: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3">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6"/>
              </a:rPr>
              <a:t>   2 CFR 200.475</a:t>
            </a:r>
            <a:endParaRPr lang="en-US" dirty="0"/>
          </a:p>
        </p:txBody>
      </p:sp>
    </p:spTree>
    <p:extLst>
      <p:ext uri="{BB962C8B-B14F-4D97-AF65-F5344CB8AC3E}">
        <p14:creationId xmlns:p14="http://schemas.microsoft.com/office/powerpoint/2010/main" val="1245181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6405"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Fly America Act</a:t>
            </a:r>
            <a:endParaRPr lang="en-US" sz="3600" kern="0" dirty="0">
              <a:solidFill>
                <a:schemeClr val="tx1"/>
              </a:solidFill>
            </a:endParaRPr>
          </a:p>
        </p:txBody>
      </p:sp>
      <p:sp>
        <p:nvSpPr>
          <p:cNvPr id="6" name="Google Shape;95;p18"/>
          <p:cNvSpPr txBox="1">
            <a:spLocks noGrp="1"/>
          </p:cNvSpPr>
          <p:nvPr>
            <p:ph type="body" idx="1"/>
          </p:nvPr>
        </p:nvSpPr>
        <p:spPr>
          <a:xfrm>
            <a:off x="304800" y="742950"/>
            <a:ext cx="6431279" cy="4080383"/>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Must use U.S. Flag Air Carriers for all air transportation to the extent service by such carriers is available</a:t>
            </a:r>
          </a:p>
          <a:p>
            <a:pPr>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"U.S. Flag Air Carrier" means:</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AirTran Airways (FL)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Alaska Airlines (AS)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American Airlines (AA)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Delta Airlines (DL)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Frontier Airlines (F9)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Hawaiian Airlines (HA)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JetBlue Airways (B6)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Midwest Express (YX)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Southwest Airlines (WN)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Spirit Airlines (NK)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United Airlines (UA) </a:t>
            </a:r>
          </a:p>
          <a:p>
            <a:pPr lvl="1">
              <a:lnSpc>
                <a:spcPct val="150000"/>
              </a:lnSpc>
              <a:buClrTx/>
              <a:buSzPct val="106000"/>
              <a:buFont typeface="Arial" pitchFamily="34" charset="0"/>
              <a:buChar char="•"/>
            </a:pPr>
            <a:r>
              <a:rPr lang="en-US" sz="1100" dirty="0">
                <a:solidFill>
                  <a:schemeClr val="tx1"/>
                </a:solidFill>
                <a:latin typeface="Segoe UI" panose="020B0502040204020203" pitchFamily="34" charset="0"/>
                <a:ea typeface="Segoe UI" panose="020B0502040204020203" pitchFamily="34" charset="0"/>
                <a:cs typeface="Segoe UI" panose="020B0502040204020203" pitchFamily="34" charset="0"/>
              </a:rPr>
              <a:t>US Airways (US)</a:t>
            </a:r>
          </a:p>
        </p:txBody>
      </p:sp>
    </p:spTree>
    <p:extLst>
      <p:ext uri="{BB962C8B-B14F-4D97-AF65-F5344CB8AC3E}">
        <p14:creationId xmlns:p14="http://schemas.microsoft.com/office/powerpoint/2010/main" val="2833272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415" y="-19050"/>
            <a:ext cx="662939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ea typeface="Segoe UI" pitchFamily="34" charset="0"/>
                <a:cs typeface="Segoe UI" pitchFamily="34" charset="0"/>
              </a:rPr>
              <a:t>Exception Wavier - Fly America Act</a:t>
            </a:r>
            <a:endParaRPr lang="en-US" sz="3200" kern="0" dirty="0">
              <a:solidFill>
                <a:schemeClr val="tx1"/>
              </a:solidFill>
            </a:endParaRPr>
          </a:p>
        </p:txBody>
      </p:sp>
      <p:sp>
        <p:nvSpPr>
          <p:cNvPr id="6" name="Google Shape;95;p18"/>
          <p:cNvSpPr txBox="1">
            <a:spLocks noGrp="1"/>
          </p:cNvSpPr>
          <p:nvPr>
            <p:ph type="body" idx="1"/>
          </p:nvPr>
        </p:nvSpPr>
        <p:spPr>
          <a:xfrm>
            <a:off x="228600" y="666750"/>
            <a:ext cx="6431280" cy="3999420"/>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If not using a U.S. Flag Air Carrier, must complete a Fly America Act Wavier and </a:t>
            </a:r>
            <a:r>
              <a:rPr lang="en-US" sz="1200" u="sng"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5"/>
              </a:rPr>
              <a:t>retain proof of exception </a:t>
            </a:r>
            <a:endParaRPr lang="en-US" sz="1200" u="sng"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U.S. flag air carrier must be used service on every portion of the route that it provides service, unless such use would:</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No U.S. carrier servicing the route (i.e. most domestic flights in Mexico)</a:t>
            </a:r>
          </a:p>
          <a:p>
            <a:pPr lvl="2">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For domestic flight complete wavier once to verify no U.S. carrier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Increase the number of aircraft changes outside of the U.S. by 2 or more; or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Extend your travel time by at least 6 hours or more; or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Require a connecting time of 4 hours or oversees (outside of US); or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Double the travel time when service on a foreign air carrier is 3 hours or less; or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Use of a foreign air carrier is necessary for medical reasons; or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Use of foreign air carrier to avoid unreasonable risk to traveler’s safety; or</a:t>
            </a:r>
          </a:p>
          <a:p>
            <a:pPr lvl="1">
              <a:lnSpc>
                <a:spcPct val="150000"/>
              </a:lnSpc>
              <a:buClrTx/>
              <a:buSzPct val="106000"/>
              <a:buFont typeface="Arial"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A seat on U.S. air carrier in economy class is unavailable and a seat on foreign air carrier is in economy class is available</a:t>
            </a:r>
          </a:p>
        </p:txBody>
      </p:sp>
    </p:spTree>
    <p:extLst>
      <p:ext uri="{BB962C8B-B14F-4D97-AF65-F5344CB8AC3E}">
        <p14:creationId xmlns:p14="http://schemas.microsoft.com/office/powerpoint/2010/main" val="456219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1">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799" y="0"/>
            <a:ext cx="68580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Training and Workshop Costs</a:t>
            </a:r>
            <a:endParaRPr lang="en-US" sz="3600" kern="0" dirty="0">
              <a:solidFill>
                <a:schemeClr val="tx1"/>
              </a:solidFill>
            </a:endParaRPr>
          </a:p>
        </p:txBody>
      </p:sp>
      <p:sp>
        <p:nvSpPr>
          <p:cNvPr id="6" name="Google Shape;95;p18"/>
          <p:cNvSpPr txBox="1">
            <a:spLocks noGrp="1"/>
          </p:cNvSpPr>
          <p:nvPr>
            <p:ph type="body" idx="1"/>
          </p:nvPr>
        </p:nvSpPr>
        <p:spPr>
          <a:xfrm>
            <a:off x="228600" y="1247775"/>
            <a:ext cx="621677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A conference is defined as a training, meeting, retreat, seminar, symposium, workshop or event whose primary purpose is the dissemination of technical information </a:t>
            </a:r>
          </a:p>
          <a:p>
            <a:pPr lvl="1">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Must be necessary and reasonable for successful implementation of the award</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Allowable costs may include rental of facilities, speakers' fees, costs of meals and refreshments (if over 3-4 hours), local transportation, and other items incidental for event</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Must minimizes costs to the USG award</a:t>
            </a:r>
          </a:p>
          <a:p>
            <a:pPr>
              <a:lnSpc>
                <a:spcPct val="150000"/>
              </a:lnSpc>
              <a:buClrTx/>
              <a:buFont typeface="Arial" panose="020B0604020202020204"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1">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5"/>
              </a:rPr>
              <a:t>   2 CFR 200.432</a:t>
            </a:r>
            <a:endParaRPr lang="en-US" dirty="0"/>
          </a:p>
        </p:txBody>
      </p:sp>
    </p:spTree>
    <p:extLst>
      <p:ext uri="{BB962C8B-B14F-4D97-AF65-F5344CB8AC3E}">
        <p14:creationId xmlns:p14="http://schemas.microsoft.com/office/powerpoint/2010/main" val="595429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1">
                <a:tint val="45000"/>
                <a:satMod val="400000"/>
              </a:schemeClr>
            </a:duotone>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76200" y="-95250"/>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Training and Workshop - Documentation</a:t>
            </a:r>
            <a:endParaRPr lang="en-US" sz="3200" kern="0" dirty="0">
              <a:solidFill>
                <a:schemeClr val="tx1"/>
              </a:solidFill>
            </a:endParaRPr>
          </a:p>
        </p:txBody>
      </p:sp>
      <p:sp>
        <p:nvSpPr>
          <p:cNvPr id="6" name="Google Shape;95;p18"/>
          <p:cNvSpPr txBox="1">
            <a:spLocks noGrp="1"/>
          </p:cNvSpPr>
          <p:nvPr>
            <p:ph type="body" idx="1"/>
          </p:nvPr>
        </p:nvSpPr>
        <p:spPr>
          <a:xfrm>
            <a:off x="228600" y="1247775"/>
            <a:ext cx="6216773" cy="339206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Required documentation:</a:t>
            </a:r>
          </a:p>
          <a:p>
            <a:pPr lvl="1">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Copy of the invoice and receipt*</a:t>
            </a:r>
          </a:p>
          <a:p>
            <a:pPr lvl="1">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Agenda for event/training/workshop</a:t>
            </a:r>
          </a:p>
          <a:p>
            <a:pPr lvl="1">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List of attendees for event/training/workshop</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If the above documentation is not provided the cost will be disallowed until proper supporting documentation can be provided</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 If one person is paying for food/drinks, need itemized receipt for costs</a:t>
            </a:r>
          </a:p>
          <a:p>
            <a:pPr lvl="1">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If itemized receipt cannot be provided,  then a signed affidavit with amount spent per meal per participant is needed</a:t>
            </a:r>
          </a:p>
          <a:p>
            <a:pPr>
              <a:lnSpc>
                <a:spcPct val="150000"/>
              </a:lnSpc>
              <a:buClrTx/>
              <a:buFont typeface="Arial" panose="020B0604020202020204"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lnSpc>
                <a:spcPct val="150000"/>
              </a:lnSpc>
              <a:buClrTx/>
              <a:buNone/>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1">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5"/>
              </a:rPr>
              <a:t>   2 CFR 200.432</a:t>
            </a:r>
            <a:endParaRPr lang="en-US" dirty="0"/>
          </a:p>
        </p:txBody>
      </p:sp>
    </p:spTree>
    <p:extLst>
      <p:ext uri="{BB962C8B-B14F-4D97-AF65-F5344CB8AC3E}">
        <p14:creationId xmlns:p14="http://schemas.microsoft.com/office/powerpoint/2010/main" val="3796518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76200" y="-95250"/>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Unallowable Cost</a:t>
            </a:r>
            <a:endParaRPr lang="en-US" sz="3200" kern="0" dirty="0">
              <a:solidFill>
                <a:schemeClr val="tx1"/>
              </a:solidFill>
            </a:endParaRPr>
          </a:p>
        </p:txBody>
      </p:sp>
      <p:sp>
        <p:nvSpPr>
          <p:cNvPr id="6" name="Google Shape;95;p18"/>
          <p:cNvSpPr txBox="1">
            <a:spLocks noGrp="1"/>
          </p:cNvSpPr>
          <p:nvPr>
            <p:ph type="body" idx="1"/>
          </p:nvPr>
        </p:nvSpPr>
        <p:spPr>
          <a:xfrm>
            <a:off x="228600" y="1273192"/>
            <a:ext cx="6477000" cy="3457575"/>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Direct cash transfers to target participants, including communities, parents, or children</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Upgrades</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Alcoholic beverages</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Childcare and babysitting expenses </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Gasoline expenses when the automobile mileage reimbursement rate is claimed</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Hair, spa, nails or other treatments</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Kennel/boarding expenses for pets</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Costs incurred for speeding, parking, towing, impound fees and other traffic/law violations </a:t>
            </a:r>
          </a:p>
          <a:p>
            <a:pPr>
              <a:lnSpc>
                <a:spcPct val="150000"/>
              </a:lnSpc>
              <a:buClrTx/>
              <a:buFont typeface="Arial" panose="020B0604020202020204" pitchFamily="34" charset="0"/>
              <a:buChar cha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Other expenses not directly related to the award</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6"/>
              </a:rPr>
              <a:t>   2 CFR 200.410</a:t>
            </a:r>
            <a:endParaRPr lang="en-US" dirty="0"/>
          </a:p>
        </p:txBody>
      </p:sp>
      <p:sp>
        <p:nvSpPr>
          <p:cNvPr id="8" name="Rectangle 7">
            <a:extLst>
              <a:ext uri="{FF2B5EF4-FFF2-40B4-BE49-F238E27FC236}">
                <a16:creationId xmlns:a16="http://schemas.microsoft.com/office/drawing/2014/main" id="{B30CF0E1-0E4C-7E1A-628E-F9A522568585}"/>
              </a:ext>
            </a:extLst>
          </p:cNvPr>
          <p:cNvSpPr/>
          <p:nvPr/>
        </p:nvSpPr>
        <p:spPr>
          <a:xfrm>
            <a:off x="2438400" y="81163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7"/>
              </a:rPr>
              <a:t>MPG 12</a:t>
            </a:r>
            <a:endParaRPr lang="en-US" dirty="0"/>
          </a:p>
        </p:txBody>
      </p:sp>
    </p:spTree>
    <p:extLst>
      <p:ext uri="{BB962C8B-B14F-4D97-AF65-F5344CB8AC3E}">
        <p14:creationId xmlns:p14="http://schemas.microsoft.com/office/powerpoint/2010/main" val="343750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6">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76200" y="-95250"/>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Meal &amp; Entertainment Costs</a:t>
            </a:r>
            <a:endParaRPr lang="en-US" sz="3200" kern="0" dirty="0">
              <a:solidFill>
                <a:schemeClr val="tx1"/>
              </a:solidFill>
            </a:endParaRPr>
          </a:p>
        </p:txBody>
      </p:sp>
      <p:sp>
        <p:nvSpPr>
          <p:cNvPr id="6" name="Google Shape;95;p18"/>
          <p:cNvSpPr txBox="1">
            <a:spLocks noGrp="1"/>
          </p:cNvSpPr>
          <p:nvPr>
            <p:ph type="body" idx="1"/>
          </p:nvPr>
        </p:nvSpPr>
        <p:spPr>
          <a:xfrm>
            <a:off x="228600" y="1273192"/>
            <a:ext cx="6216773"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Except for per diem, or other travel costs, food and beverage costs generally fall under the category of “entertainment costs” which are unallowable</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In rare circumstances, modest refreshments during a meeting that has a primary purpose to dissemination of technical information</a:t>
            </a:r>
          </a:p>
          <a:p>
            <a:pPr lvl="1">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Best practice for meetings of 3-4 hours or more</a:t>
            </a:r>
          </a:p>
          <a:p>
            <a:pPr>
              <a:lnSpc>
                <a:spcPct val="150000"/>
              </a:lnSpc>
              <a:buClrTx/>
              <a:buFont typeface="Arial" panose="020B0604020202020204" pitchFamily="34" charset="0"/>
              <a:buChar char="•"/>
            </a:pPr>
            <a:r>
              <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rPr>
              <a:t>Staff meetings, and general subrecipient meeting are examples of when refreshments and food is unallowable</a:t>
            </a:r>
          </a:p>
        </p:txBody>
      </p:sp>
      <p:sp>
        <p:nvSpPr>
          <p:cNvPr id="7" name="Rectangle 6">
            <a:extLst>
              <a:ext uri="{FF2B5EF4-FFF2-40B4-BE49-F238E27FC236}">
                <a16:creationId xmlns:a16="http://schemas.microsoft.com/office/drawing/2014/main" id="{533AF332-9811-7D23-4208-4D604E488F0B}"/>
              </a:ext>
            </a:extLst>
          </p:cNvPr>
          <p:cNvSpPr/>
          <p:nvPr/>
        </p:nvSpPr>
        <p:spPr>
          <a:xfrm>
            <a:off x="-228600" y="81915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6"/>
              </a:rPr>
              <a:t>2 CFR 200.438</a:t>
            </a:r>
            <a:endParaRPr lang="en-US" dirty="0"/>
          </a:p>
        </p:txBody>
      </p:sp>
      <p:sp>
        <p:nvSpPr>
          <p:cNvPr id="8" name="Rectangle 7">
            <a:extLst>
              <a:ext uri="{FF2B5EF4-FFF2-40B4-BE49-F238E27FC236}">
                <a16:creationId xmlns:a16="http://schemas.microsoft.com/office/drawing/2014/main" id="{88A55A04-2EFA-0A40-CD1D-659BBA4ED14B}"/>
              </a:ext>
            </a:extLst>
          </p:cNvPr>
          <p:cNvSpPr/>
          <p:nvPr/>
        </p:nvSpPr>
        <p:spPr>
          <a:xfrm>
            <a:off x="2438400" y="811630"/>
            <a:ext cx="2593848" cy="428625"/>
          </a:xfrm>
          <a:prstGeom prst="rect">
            <a:avLst/>
          </a:prstGeom>
          <a:solidFill>
            <a:schemeClr val="accent6">
              <a:lumMod val="40000"/>
              <a:lumOff val="6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7"/>
              </a:rPr>
              <a:t>MPG 12.9</a:t>
            </a:r>
            <a:endParaRPr lang="en-US" dirty="0"/>
          </a:p>
        </p:txBody>
      </p:sp>
    </p:spTree>
    <p:extLst>
      <p:ext uri="{BB962C8B-B14F-4D97-AF65-F5344CB8AC3E}">
        <p14:creationId xmlns:p14="http://schemas.microsoft.com/office/powerpoint/2010/main" val="2152854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29076"/>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Allowable or Unallowable - Exercise</a:t>
            </a:r>
            <a:endParaRPr lang="en-US" sz="3200" kern="0" dirty="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Un miembro del equipo esta viajando para implementar una actividad del proyecto GEM. Después de un taller con 30 participantes, el grupo decide ir a un restaurante para cenar. Se incluye los gasto de comida de cada participante en el informe financiero par reembolso, como fue con un grupo de individuales que están parte del proyecto.</a:t>
            </a:r>
          </a:p>
          <a:p>
            <a:pPr>
              <a:lnSpc>
                <a:spcPct val="150000"/>
              </a:lnSpc>
              <a:buClrTx/>
              <a:buFont typeface="Arial" panose="020B0604020202020204" pitchFamily="34" charset="0"/>
              <a:buChar char="•"/>
            </a:pPr>
            <a:endPar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Porque?</a:t>
            </a: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41554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29076"/>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Allowable or Unallowable - Exercise</a:t>
            </a:r>
            <a:endParaRPr lang="en-US" sz="3200" kern="0" dirty="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El equipo tiene una capacitación para el proyecto GEM que dura una hora en la mañana. Contrata a un restaurant para hacer un gran desayuno para todos los participantes. </a:t>
            </a:r>
          </a:p>
          <a:p>
            <a:pPr>
              <a:lnSpc>
                <a:spcPct val="150000"/>
              </a:lnSpc>
              <a:buClrTx/>
              <a:buFont typeface="Arial" panose="020B0604020202020204" pitchFamily="34" charset="0"/>
              <a:buChar char="•"/>
            </a:pPr>
            <a:endPar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Porque?</a:t>
            </a: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41797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37097"/>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Allowable or Unallowable - Exercise</a:t>
            </a:r>
            <a:endParaRPr lang="en-US" sz="3200" kern="0" dirty="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Un miembro del equipo renta un carro para viajar a un taller fuera de su lugar de residencia, como no hay otra opción de transporte publico para llegar a su destino. La política de la organización es reembolsar los costos de gasolina por kilómetro recorrido. Sin embargo, el miembro del equipo está pidiendo reembolso por el monto de gasolina comprado en la gasolinera, presentando una factura y recibo con dicho monto.</a:t>
            </a:r>
          </a:p>
          <a:p>
            <a:pPr>
              <a:lnSpc>
                <a:spcPct val="150000"/>
              </a:lnSpc>
              <a:buClrTx/>
              <a:buFont typeface="Arial" panose="020B0604020202020204" pitchFamily="34" charset="0"/>
              <a:buChar char="•"/>
            </a:pPr>
            <a:endPar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Porque?</a:t>
            </a: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45643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37097"/>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Allowable or Unallowable - Exercise</a:t>
            </a:r>
            <a:endParaRPr lang="en-US" sz="3200" kern="0" dirty="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Para un taller, el equipo contrata a una persona local para brindar pequeños refrescos para los participantes. Como esta persona no tiene un negocio formal, no presenta una factura ni un recibo para la comida comprada. Se compra la comida con efectivo. El equipo incluye estos gastos en el informe financiero sin documentación soporte, explicando que no se pudo obtener documentación por las razones anteriormente mencionadas. </a:t>
            </a:r>
          </a:p>
          <a:p>
            <a:pPr>
              <a:lnSpc>
                <a:spcPct val="150000"/>
              </a:lnSpc>
              <a:buClrTx/>
              <a:buFont typeface="Arial" panose="020B0604020202020204" pitchFamily="34" charset="0"/>
              <a:buChar char="•"/>
            </a:pPr>
            <a:endPar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Porque?</a:t>
            </a: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80653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4">
                <a:tint val="45000"/>
                <a:satMod val="400000"/>
              </a:schemeClr>
            </a:duotone>
            <a:extLst>
              <a:ext uri="{BEBA8EAE-BF5A-486C-A8C5-ECC9F3942E4B}">
                <a14:imgProps xmlns:a14="http://schemas.microsoft.com/office/drawing/2010/main">
                  <a14:imgLayer r:embed="rId4">
                    <a14:imgEffect>
                      <a14:colorTemperature colorTemp="6714"/>
                    </a14:imgEffect>
                    <a14:imgEffect>
                      <a14:saturation sat="400000"/>
                    </a14:imgEffect>
                  </a14:imgLayer>
                </a14:imgProps>
              </a:ext>
            </a:extLst>
          </a:blip>
          <a:stretch>
            <a:fillRect/>
          </a:stretch>
        </a:blipFill>
        <a:effectLst/>
      </p:bgPr>
    </p:bg>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228600" y="37097"/>
            <a:ext cx="7848601"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200" kern="0" dirty="0">
                <a:solidFill>
                  <a:schemeClr val="tx1"/>
                </a:solidFill>
                <a:latin typeface="Segoe UI" pitchFamily="34" charset="0"/>
                <a:cs typeface="Segoe UI" pitchFamily="34" charset="0"/>
              </a:rPr>
              <a:t>Allowable or Unallowable - Exercise</a:t>
            </a:r>
            <a:endParaRPr lang="en-US" sz="3200" kern="0" dirty="0">
              <a:solidFill>
                <a:schemeClr val="tx1"/>
              </a:solidFill>
            </a:endParaRPr>
          </a:p>
        </p:txBody>
      </p:sp>
      <p:sp>
        <p:nvSpPr>
          <p:cNvPr id="6" name="Google Shape;95;p18"/>
          <p:cNvSpPr txBox="1">
            <a:spLocks noGrp="1"/>
          </p:cNvSpPr>
          <p:nvPr>
            <p:ph type="body" idx="1"/>
          </p:nvPr>
        </p:nvSpPr>
        <p:spPr>
          <a:xfrm>
            <a:off x="152400" y="819150"/>
            <a:ext cx="5791200" cy="3736958"/>
          </a:xfrm>
          <a:prstGeom prst="rect">
            <a:avLst/>
          </a:prstGeom>
        </p:spPr>
        <p:txBody>
          <a:bodyPr spcFirstLastPara="1" wrap="square" lIns="91425" tIns="91425" rIns="91425" bIns="91425" anchor="t" anchorCtr="0">
            <a:noAutofit/>
          </a:bodyPr>
          <a:lstStyle/>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El equipo del proyecto GEM viaja a la Ciudad de México para reunirse con la directora del proyecto. Quieren tener asientos específicos para el vuelo, por lo cual se requiere hacer una compra adicional. Incluyen los gastos de asientos en su informe financiero para reembolso. </a:t>
            </a:r>
          </a:p>
          <a:p>
            <a:pPr>
              <a:lnSpc>
                <a:spcPct val="150000"/>
              </a:lnSpc>
              <a:buClrTx/>
              <a:buFont typeface="Arial" panose="020B0604020202020204" pitchFamily="34" charset="0"/>
              <a:buChar char="•"/>
            </a:pPr>
            <a:endPar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buClrTx/>
              <a:buFont typeface="Arial" panose="020B0604020202020204" pitchFamily="34" charset="0"/>
              <a:buChar char="•"/>
            </a:pPr>
            <a:r>
              <a:rPr lang="es-ES" sz="1400" dirty="0">
                <a:solidFill>
                  <a:schemeClr val="tx1"/>
                </a:solidFill>
                <a:latin typeface="Segoe UI" panose="020B0502040204020203" pitchFamily="34" charset="0"/>
                <a:ea typeface="Segoe UI" panose="020B0502040204020203" pitchFamily="34" charset="0"/>
                <a:cs typeface="Segoe UI" panose="020B0502040204020203" pitchFamily="34" charset="0"/>
              </a:rPr>
              <a:t>Esto es un gasto permisible o no? Porque?</a:t>
            </a: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14153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Questions?</a:t>
            </a:r>
          </a:p>
        </p:txBody>
      </p:sp>
    </p:spTree>
    <p:extLst>
      <p:ext uri="{BB962C8B-B14F-4D97-AF65-F5344CB8AC3E}">
        <p14:creationId xmlns:p14="http://schemas.microsoft.com/office/powerpoint/2010/main" val="2645672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CA712-DB8D-4621-B2A5-2B37108E0470}">
  <ds:schemaRefs>
    <ds:schemaRef ds:uri="http://schemas.microsoft.com/sharepoint/v3/contenttype/forms"/>
  </ds:schemaRefs>
</ds:datastoreItem>
</file>

<file path=customXml/itemProps2.xml><?xml version="1.0" encoding="utf-8"?>
<ds:datastoreItem xmlns:ds="http://schemas.openxmlformats.org/officeDocument/2006/customXml" ds:itemID="{326CE710-A902-4782-88C8-87AB82C50BFF}">
  <ds:schemaRefs>
    <ds:schemaRef ds:uri="http://schemas.microsoft.com/office/2006/metadata/properties"/>
    <ds:schemaRef ds:uri="http://purl.org/dc/terms/"/>
    <ds:schemaRef ds:uri="http://schemas.microsoft.com/office/2006/documentManagement/types"/>
    <ds:schemaRef ds:uri="http://purl.org/dc/dcmitype/"/>
    <ds:schemaRef ds:uri="http://purl.org/dc/elements/1.1/"/>
    <ds:schemaRef ds:uri="dc808d36-874f-4b27-aec2-2fd649817929"/>
    <ds:schemaRef ds:uri="http://schemas.microsoft.com/office/infopath/2007/PartnerControls"/>
    <ds:schemaRef ds:uri="http://schemas.openxmlformats.org/package/2006/metadata/core-properties"/>
    <ds:schemaRef ds:uri="ba2e8617-29ee-40b9-b822-c9e0f853d80d"/>
    <ds:schemaRef ds:uri="http://www.w3.org/XML/1998/namespace"/>
    <ds:schemaRef ds:uri="f2466082-b6bf-4153-98c3-3c41e85fda18"/>
  </ds:schemaRefs>
</ds:datastoreItem>
</file>

<file path=customXml/itemProps3.xml><?xml version="1.0" encoding="utf-8"?>
<ds:datastoreItem xmlns:ds="http://schemas.openxmlformats.org/officeDocument/2006/customXml" ds:itemID="{A05FE676-5653-4C62-98D4-A3A611D47A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2466082-b6bf-4153-98c3-3c41e85fda18"/>
    <ds:schemaRef ds:uri="dc808d36-874f-4b27-aec2-2fd6498179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2745</TotalTime>
  <Words>3141</Words>
  <Application>Microsoft Office PowerPoint</Application>
  <PresentationFormat>On-screen Show (16:9)</PresentationFormat>
  <Paragraphs>301</Paragraphs>
  <Slides>40</Slides>
  <Notes>40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40</vt:i4>
      </vt:variant>
    </vt:vector>
  </HeadingPairs>
  <TitlesOfParts>
    <vt:vector size="51" baseType="lpstr">
      <vt:lpstr>Arial</vt:lpstr>
      <vt:lpstr>Calibri</vt:lpstr>
      <vt:lpstr>Lao UI</vt:lpstr>
      <vt:lpstr>Lato Hairline</vt:lpstr>
      <vt:lpstr>Lato Light</vt:lpstr>
      <vt:lpstr>Segoe UI</vt:lpstr>
      <vt:lpstr>Trade Gothic</vt:lpstr>
      <vt:lpstr>Wingdings</vt:lpstr>
      <vt:lpstr>Office Theme</vt:lpstr>
      <vt:lpstr>Eglamour template</vt:lpstr>
      <vt:lpstr>1_Eglamour template</vt:lpstr>
      <vt:lpstr>Federal Rules and Regulations: Allowable Cost </vt:lpstr>
      <vt:lpstr>Administrative Requirements</vt:lpstr>
      <vt:lpstr>Federal Regulations</vt:lpstr>
      <vt:lpstr>Financial Management System</vt:lpstr>
      <vt:lpstr>PowerPoint Presentation</vt:lpstr>
      <vt:lpstr>General Test of Allowability</vt:lpstr>
      <vt:lpstr>Necessary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Fringe Benefit Costs</vt:lpstr>
      <vt:lpstr>Fringe Benefit Costs - Documentation</vt:lpstr>
      <vt:lpstr>Fringe Benefit Costs - 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Danielle Martin</cp:lastModifiedBy>
  <cp:revision>73</cp:revision>
  <dcterms:created xsi:type="dcterms:W3CDTF">2019-06-24T13:16:26Z</dcterms:created>
  <dcterms:modified xsi:type="dcterms:W3CDTF">2023-07-24T04:18:16Z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13945400</vt:r8>
  </property>
  <property fmtid="{D5CDD505-2E9C-101B-9397-08002B2CF9AE}" pid="3" name="MediaServiceImageTags">
    <vt:lpwstr/>
  </property>
  <property fmtid="{D5CDD505-2E9C-101B-9397-08002B2CF9AE}" pid="4" name="ContentTypeId">
    <vt:lpwstr>0x0101003206C8355D678A459F2EF8957171B231</vt:lpwstr>
  </property>
</Properties>
</file>