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4" r:id="rId5"/>
    <p:sldMasterId id="2147483671" r:id="rId6"/>
  </p:sldMasterIdLst>
  <p:notesMasterIdLst>
    <p:notesMasterId r:id="rId24"/>
  </p:notesMasterIdLst>
  <p:sldIdLst>
    <p:sldId id="257" r:id="rId7"/>
    <p:sldId id="325" r:id="rId8"/>
    <p:sldId id="266" r:id="rId9"/>
    <p:sldId id="321" r:id="rId10"/>
    <p:sldId id="322" r:id="rId11"/>
    <p:sldId id="323" r:id="rId12"/>
    <p:sldId id="320" r:id="rId13"/>
    <p:sldId id="319" r:id="rId14"/>
    <p:sldId id="311" r:id="rId15"/>
    <p:sldId id="324" r:id="rId16"/>
    <p:sldId id="271" r:id="rId17"/>
    <p:sldId id="287" r:id="rId18"/>
    <p:sldId id="267" r:id="rId19"/>
    <p:sldId id="272" r:id="rId20"/>
    <p:sldId id="326" r:id="rId21"/>
    <p:sldId id="328" r:id="rId22"/>
    <p:sldId id="290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AE58"/>
    <a:srgbClr val="FE9B8E"/>
    <a:srgbClr val="FCCFAA"/>
    <a:srgbClr val="F866D3"/>
    <a:srgbClr val="5FACB9"/>
    <a:srgbClr val="F8A15A"/>
    <a:srgbClr val="00B2D0"/>
    <a:srgbClr val="00C9DA"/>
    <a:srgbClr val="8BCBC0"/>
    <a:srgbClr val="75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1D9593-4CA5-451D-B1B2-98B28B165DDF}" v="47" dt="2020-01-09T13:32:50.5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20" autoAdjust="0"/>
    <p:restoredTop sz="81784" autoAdjust="0"/>
  </p:normalViewPr>
  <p:slideViewPr>
    <p:cSldViewPr>
      <p:cViewPr>
        <p:scale>
          <a:sx n="76" d="100"/>
          <a:sy n="76" d="100"/>
        </p:scale>
        <p:origin x="569" y="341"/>
      </p:cViewPr>
      <p:guideLst>
        <p:guide orient="horz" pos="162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ie Verganza" userId="ffc5f8f4-b46c-4eb7-ad0a-4bc869c58a2c" providerId="ADAL" clId="{061D9593-4CA5-451D-B1B2-98B28B165DDF}"/>
    <pc:docChg chg="undo custSel addSld modSld">
      <pc:chgData name="Stephanie Verganza" userId="ffc5f8f4-b46c-4eb7-ad0a-4bc869c58a2c" providerId="ADAL" clId="{061D9593-4CA5-451D-B1B2-98B28B165DDF}" dt="2020-01-09T13:33:05.552" v="355" actId="20577"/>
      <pc:docMkLst>
        <pc:docMk/>
      </pc:docMkLst>
      <pc:sldChg chg="modSp add">
        <pc:chgData name="Stephanie Verganza" userId="ffc5f8f4-b46c-4eb7-ad0a-4bc869c58a2c" providerId="ADAL" clId="{061D9593-4CA5-451D-B1B2-98B28B165DDF}" dt="2020-01-09T00:30:51.150" v="1" actId="20577"/>
        <pc:sldMkLst>
          <pc:docMk/>
          <pc:sldMk cId="1256478544" sldId="286"/>
        </pc:sldMkLst>
        <pc:spChg chg="mod">
          <ac:chgData name="Stephanie Verganza" userId="ffc5f8f4-b46c-4eb7-ad0a-4bc869c58a2c" providerId="ADAL" clId="{061D9593-4CA5-451D-B1B2-98B28B165DDF}" dt="2020-01-09T00:30:51.150" v="1" actId="20577"/>
          <ac:spMkLst>
            <pc:docMk/>
            <pc:sldMk cId="1256478544" sldId="286"/>
            <ac:spMk id="67" creationId="{00000000-0000-0000-0000-000000000000}"/>
          </ac:spMkLst>
        </pc:spChg>
      </pc:sldChg>
      <pc:sldChg chg="addSp delSp modSp add modNotesTx">
        <pc:chgData name="Stephanie Verganza" userId="ffc5f8f4-b46c-4eb7-ad0a-4bc869c58a2c" providerId="ADAL" clId="{061D9593-4CA5-451D-B1B2-98B28B165DDF}" dt="2020-01-09T00:41:53.558" v="321" actId="20577"/>
        <pc:sldMkLst>
          <pc:docMk/>
          <pc:sldMk cId="1922730267" sldId="287"/>
        </pc:sldMkLst>
        <pc:spChg chg="add del mod">
          <ac:chgData name="Stephanie Verganza" userId="ffc5f8f4-b46c-4eb7-ad0a-4bc869c58a2c" providerId="ADAL" clId="{061D9593-4CA5-451D-B1B2-98B28B165DDF}" dt="2020-01-09T00:34:16.269" v="70" actId="20577"/>
          <ac:spMkLst>
            <pc:docMk/>
            <pc:sldMk cId="1922730267" sldId="287"/>
            <ac:spMk id="6" creationId="{00000000-0000-0000-0000-000000000000}"/>
          </ac:spMkLst>
        </pc:spChg>
        <pc:spChg chg="mod">
          <ac:chgData name="Stephanie Verganza" userId="ffc5f8f4-b46c-4eb7-ad0a-4bc869c58a2c" providerId="ADAL" clId="{061D9593-4CA5-451D-B1B2-98B28B165DDF}" dt="2020-01-09T00:33:37.612" v="59" actId="20577"/>
          <ac:spMkLst>
            <pc:docMk/>
            <pc:sldMk cId="1922730267" sldId="287"/>
            <ac:spMk id="199" creationId="{00000000-0000-0000-0000-000000000000}"/>
          </ac:spMkLst>
        </pc:spChg>
        <pc:spChg chg="mod">
          <ac:chgData name="Stephanie Verganza" userId="ffc5f8f4-b46c-4eb7-ad0a-4bc869c58a2c" providerId="ADAL" clId="{061D9593-4CA5-451D-B1B2-98B28B165DDF}" dt="2020-01-09T00:41:12.773" v="313" actId="313"/>
          <ac:spMkLst>
            <pc:docMk/>
            <pc:sldMk cId="1922730267" sldId="287"/>
            <ac:spMk id="200" creationId="{00000000-0000-0000-0000-000000000000}"/>
          </ac:spMkLst>
        </pc:spChg>
      </pc:sldChg>
      <pc:sldChg chg="modSp add modNotesTx">
        <pc:chgData name="Stephanie Verganza" userId="ffc5f8f4-b46c-4eb7-ad0a-4bc869c58a2c" providerId="ADAL" clId="{061D9593-4CA5-451D-B1B2-98B28B165DDF}" dt="2020-01-09T13:33:05.552" v="355" actId="20577"/>
        <pc:sldMkLst>
          <pc:docMk/>
          <pc:sldMk cId="3085414058" sldId="288"/>
        </pc:sldMkLst>
        <pc:spChg chg="mod">
          <ac:chgData name="Stephanie Verganza" userId="ffc5f8f4-b46c-4eb7-ad0a-4bc869c58a2c" providerId="ADAL" clId="{061D9593-4CA5-451D-B1B2-98B28B165DDF}" dt="2020-01-09T13:32:22.940" v="349" actId="20577"/>
          <ac:spMkLst>
            <pc:docMk/>
            <pc:sldMk cId="3085414058" sldId="288"/>
            <ac:spMk id="6" creationId="{00000000-0000-0000-0000-000000000000}"/>
          </ac:spMkLst>
        </pc:spChg>
        <pc:spChg chg="mod">
          <ac:chgData name="Stephanie Verganza" userId="ffc5f8f4-b46c-4eb7-ad0a-4bc869c58a2c" providerId="ADAL" clId="{061D9593-4CA5-451D-B1B2-98B28B165DDF}" dt="2020-01-09T13:33:05.552" v="355" actId="20577"/>
          <ac:spMkLst>
            <pc:docMk/>
            <pc:sldMk cId="3085414058" sldId="288"/>
            <ac:spMk id="7" creationId="{00000000-0000-0000-0000-000000000000}"/>
          </ac:spMkLst>
        </pc:spChg>
        <pc:spChg chg="mod">
          <ac:chgData name="Stephanie Verganza" userId="ffc5f8f4-b46c-4eb7-ad0a-4bc869c58a2c" providerId="ADAL" clId="{061D9593-4CA5-451D-B1B2-98B28B165DDF}" dt="2020-01-09T13:32:04.622" v="338" actId="207"/>
          <ac:spMkLst>
            <pc:docMk/>
            <pc:sldMk cId="3085414058" sldId="288"/>
            <ac:spMk id="20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03F82-69B2-4E0B-BA84-A107AD31EA49}" type="datetimeFigureOut">
              <a:rPr lang="en-US" smtClean="0"/>
              <a:t>1/25/2023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1F323-6A80-4D1A-89AA-49486A57E6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3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211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601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968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066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222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181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86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511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9978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209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6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42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93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364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34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46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86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91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661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71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958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687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paint_transparent1.png"/>
          <p:cNvPicPr preferRelativeResize="0"/>
          <p:nvPr/>
        </p:nvPicPr>
        <p:blipFill rotWithShape="1">
          <a:blip r:embed="rId3">
            <a:alphaModFix/>
          </a:blip>
          <a:srcRect l="55211"/>
          <a:stretch/>
        </p:blipFill>
        <p:spPr>
          <a:xfrm>
            <a:off x="5" y="1"/>
            <a:ext cx="40956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208125" y="3287226"/>
            <a:ext cx="5250300" cy="1159801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7233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paint_transparent1.png"/>
          <p:cNvPicPr preferRelativeResize="0"/>
          <p:nvPr/>
        </p:nvPicPr>
        <p:blipFill rotWithShape="1">
          <a:blip r:embed="rId3">
            <a:alphaModFix/>
          </a:blip>
          <a:srcRect l="55211"/>
          <a:stretch/>
        </p:blipFill>
        <p:spPr>
          <a:xfrm>
            <a:off x="3" y="0"/>
            <a:ext cx="40956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208125" y="3287225"/>
            <a:ext cx="52503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3976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57200" y="2244400"/>
            <a:ext cx="5511300" cy="260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×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4229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57200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3293406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4682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89775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2415136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3"/>
          </p:nvPr>
        </p:nvSpPr>
        <p:spPr>
          <a:xfrm>
            <a:off x="4340497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608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ircle" type="blank">
  <p:cSld name="Blank circ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1109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paint_transparent1.png"/>
          <p:cNvPicPr preferRelativeResize="0"/>
          <p:nvPr/>
        </p:nvPicPr>
        <p:blipFill rotWithShape="1">
          <a:blip r:embed="rId3">
            <a:alphaModFix/>
          </a:blip>
          <a:srcRect l="55211"/>
          <a:stretch/>
        </p:blipFill>
        <p:spPr>
          <a:xfrm>
            <a:off x="3" y="0"/>
            <a:ext cx="40956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208125" y="3287225"/>
            <a:ext cx="52503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58160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483350" y="836125"/>
            <a:ext cx="4177200" cy="34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2400" i="1">
                <a:solidFill>
                  <a:srgbClr val="FFFFFF"/>
                </a:solidFill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2400" i="1">
                <a:solidFill>
                  <a:srgbClr val="FFFFFF"/>
                </a:solidFill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 i="1">
                <a:solidFill>
                  <a:srgbClr val="FFFFFF"/>
                </a:solidFill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2400" i="1">
                <a:solidFill>
                  <a:srgbClr val="FFFFFF"/>
                </a:solidFill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24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05581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57200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3293406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2378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89775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2415136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3"/>
          </p:nvPr>
        </p:nvSpPr>
        <p:spPr>
          <a:xfrm>
            <a:off x="4340497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972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ircle" type="blank">
  <p:cSld name="Blank circ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36214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rectangle">
  <p:cSld name="Blank rectang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 descr="paint_transparent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4297650" y="444797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solidFill>
                  <a:srgbClr val="999999"/>
                </a:solidFill>
              </a:defRPr>
            </a:lvl1pPr>
            <a:lvl2pPr lvl="1" algn="ctr" rtl="0">
              <a:buNone/>
              <a:defRPr>
                <a:solidFill>
                  <a:srgbClr val="999999"/>
                </a:solidFill>
              </a:defRPr>
            </a:lvl2pPr>
            <a:lvl3pPr lvl="2" algn="ctr" rtl="0">
              <a:buNone/>
              <a:defRPr>
                <a:solidFill>
                  <a:srgbClr val="999999"/>
                </a:solidFill>
              </a:defRPr>
            </a:lvl3pPr>
            <a:lvl4pPr lvl="3" algn="ctr" rtl="0">
              <a:buNone/>
              <a:defRPr>
                <a:solidFill>
                  <a:srgbClr val="999999"/>
                </a:solidFill>
              </a:defRPr>
            </a:lvl4pPr>
            <a:lvl5pPr lvl="4" algn="ctr" rtl="0">
              <a:buNone/>
              <a:defRPr>
                <a:solidFill>
                  <a:srgbClr val="999999"/>
                </a:solidFill>
              </a:defRPr>
            </a:lvl5pPr>
            <a:lvl6pPr lvl="5" algn="ctr" rtl="0">
              <a:buNone/>
              <a:defRPr>
                <a:solidFill>
                  <a:srgbClr val="999999"/>
                </a:solidFill>
              </a:defRPr>
            </a:lvl6pPr>
            <a:lvl7pPr lvl="6" algn="ctr" rtl="0">
              <a:buNone/>
              <a:defRPr>
                <a:solidFill>
                  <a:srgbClr val="999999"/>
                </a:solidFill>
              </a:defRPr>
            </a:lvl7pPr>
            <a:lvl8pPr lvl="7" algn="ctr" rtl="0">
              <a:buNone/>
              <a:defRPr>
                <a:solidFill>
                  <a:srgbClr val="999999"/>
                </a:solidFill>
              </a:defRPr>
            </a:lvl8pPr>
            <a:lvl9pPr lvl="8" algn="ctr" rtl="0">
              <a:buNone/>
              <a:defRPr>
                <a:solidFill>
                  <a:srgbClr val="999999"/>
                </a:solidFill>
              </a:defRPr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262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3C591-59DC-4018-8F9B-DC064D3F1B80}" type="datetimeFigureOut">
              <a:rPr lang="en-US" smtClean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33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244400"/>
            <a:ext cx="5511300" cy="26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●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 dirty="0"/>
          </a:p>
        </p:txBody>
      </p:sp>
    </p:spTree>
    <p:extLst>
      <p:ext uri="{BB962C8B-B14F-4D97-AF65-F5344CB8AC3E}">
        <p14:creationId xmlns:p14="http://schemas.microsoft.com/office/powerpoint/2010/main" val="34543645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8" r:id="rId3"/>
    <p:sldLayoutId id="2147483669" r:id="rId4"/>
    <p:sldLayoutId id="214748367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244400"/>
            <a:ext cx="5511300" cy="26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●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 dirty="0"/>
          </a:p>
        </p:txBody>
      </p:sp>
    </p:spTree>
    <p:extLst>
      <p:ext uri="{BB962C8B-B14F-4D97-AF65-F5344CB8AC3E}">
        <p14:creationId xmlns:p14="http://schemas.microsoft.com/office/powerpoint/2010/main" val="953175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5" r:id="rId3"/>
    <p:sldLayoutId id="2147483676" r:id="rId4"/>
    <p:sldLayoutId id="2147483677" r:id="rId5"/>
    <p:sldLayoutId id="2147483678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arico@partners.net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6" Type="http://schemas.openxmlformats.org/officeDocument/2006/relationships/hyperlink" Target="mailto:jcmendoza@partners.net" TargetMode="External"/><Relationship Id="rId5" Type="http://schemas.openxmlformats.org/officeDocument/2006/relationships/hyperlink" Target="mailto:amcgovern@partners.net" TargetMode="External"/><Relationship Id="rId4" Type="http://schemas.openxmlformats.org/officeDocument/2006/relationships/hyperlink" Target="mailto:mash@partners.net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349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2133600" y="549143"/>
            <a:ext cx="6768773" cy="24353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Review of Contract Articles and Budget Management</a:t>
            </a:r>
            <a:endParaRPr sz="40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5854826" y="4262520"/>
            <a:ext cx="29718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952" y="4347705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>
            <a:spLocks noChangeAspect="1"/>
          </p:cNvSpPr>
          <p:nvPr/>
        </p:nvSpPr>
        <p:spPr>
          <a:xfrm>
            <a:off x="4608095" y="63364"/>
            <a:ext cx="3970254" cy="4113972"/>
          </a:xfrm>
          <a:prstGeom prst="rect">
            <a:avLst/>
          </a:prstGeom>
          <a:blipFill dpi="0" rotWithShape="1">
            <a:blip r:embed="rId6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959226" y="3181350"/>
            <a:ext cx="5867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new Code of Federal Regulations (2 CFR 200)</a:t>
            </a:r>
          </a:p>
        </p:txBody>
      </p:sp>
    </p:spTree>
    <p:extLst>
      <p:ext uri="{BB962C8B-B14F-4D97-AF65-F5344CB8AC3E}">
        <p14:creationId xmlns:p14="http://schemas.microsoft.com/office/powerpoint/2010/main" val="3963571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spect="1"/>
          </p:cNvSpPr>
          <p:nvPr/>
        </p:nvSpPr>
        <p:spPr>
          <a:xfrm>
            <a:off x="2406766" y="293314"/>
            <a:ext cx="4347714" cy="4505097"/>
          </a:xfrm>
          <a:prstGeom prst="rect">
            <a:avLst/>
          </a:prstGeom>
          <a:blipFill dpi="0" rotWithShape="1"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n-US" sz="1400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01" name="Google Shape;101;p19"/>
          <p:cNvSpPr txBox="1">
            <a:spLocks noGrp="1"/>
          </p:cNvSpPr>
          <p:nvPr>
            <p:ph type="ctrTitle" idx="4294967295"/>
          </p:nvPr>
        </p:nvSpPr>
        <p:spPr>
          <a:xfrm>
            <a:off x="2590800" y="1733550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Lato Light"/>
              </a:rPr>
              <a:t>Contract Articles</a:t>
            </a:r>
            <a:endParaRPr sz="4000" dirty="0">
              <a:solidFill>
                <a:srgbClr val="FFFFFF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  <a:sym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447264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731215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Period of Performance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381000" y="1428750"/>
            <a:ext cx="5559551" cy="3244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Start date: December 1, 2022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End date: December 31, 2025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Means you can only incur costs for the project during the above dates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No expenses outside of those dates will be approved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B32962-69F8-4C52-2FEF-8D0E8312662B}"/>
              </a:ext>
            </a:extLst>
          </p:cNvPr>
          <p:cNvSpPr/>
          <p:nvPr/>
        </p:nvSpPr>
        <p:spPr>
          <a:xfrm>
            <a:off x="-228600" y="925831"/>
            <a:ext cx="1752600" cy="426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Article 3</a:t>
            </a:r>
          </a:p>
        </p:txBody>
      </p:sp>
    </p:spTree>
    <p:extLst>
      <p:ext uri="{BB962C8B-B14F-4D97-AF65-F5344CB8AC3E}">
        <p14:creationId xmlns:p14="http://schemas.microsoft.com/office/powerpoint/2010/main" val="3368432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731215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Contents of Sub-award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182931" y="1326007"/>
            <a:ext cx="6553200" cy="3244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ClrTx/>
              <a:buNone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following provisions are included in the official sub-award</a:t>
            </a:r>
          </a:p>
          <a:p>
            <a:pPr marL="857250" lvl="1" indent="-400050">
              <a:lnSpc>
                <a:spcPct val="150000"/>
              </a:lnSpc>
              <a:buClrTx/>
              <a:buAutoNum type="romanLcParenBoth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Section I: Summary Sheet of Sub-Award Data </a:t>
            </a:r>
          </a:p>
          <a:p>
            <a:pPr marL="857250" lvl="1" indent="-400050">
              <a:lnSpc>
                <a:spcPct val="150000"/>
              </a:lnSpc>
              <a:buClrTx/>
              <a:buAutoNum type="romanLcParenBoth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Section II: Partners Terms and Conditions</a:t>
            </a:r>
          </a:p>
          <a:p>
            <a:pPr marL="857250" lvl="1" indent="-400050">
              <a:lnSpc>
                <a:spcPct val="150000"/>
              </a:lnSpc>
              <a:buClrTx/>
              <a:buAutoNum type="romanLcParenBoth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Section III: Program Description and Objectives</a:t>
            </a:r>
          </a:p>
          <a:p>
            <a:pPr marL="857250" lvl="1" indent="-400050">
              <a:lnSpc>
                <a:spcPct val="150000"/>
              </a:lnSpc>
              <a:buClrTx/>
              <a:buAutoNum type="romanLcParenBoth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Section IV: Budget and Financial Management</a:t>
            </a:r>
          </a:p>
          <a:p>
            <a:pPr marL="857250" lvl="1" indent="-400050">
              <a:lnSpc>
                <a:spcPct val="150000"/>
              </a:lnSpc>
              <a:buClrTx/>
              <a:buAutoNum type="romanLcParenBoth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Section V: Representations and Certifications</a:t>
            </a:r>
          </a:p>
          <a:p>
            <a:pPr marL="857250" lvl="1" indent="-400050">
              <a:lnSpc>
                <a:spcPct val="150000"/>
              </a:lnSpc>
              <a:buClrTx/>
              <a:buAutoNum type="romanLcParenBoth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Section VI: Branding and Marking</a:t>
            </a:r>
          </a:p>
          <a:p>
            <a:pPr marL="857250" lvl="1" indent="-400050">
              <a:lnSpc>
                <a:spcPct val="150000"/>
              </a:lnSpc>
              <a:buClrTx/>
              <a:buAutoNum type="romanLcParenBoth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Section VII: Prime Award Provisions 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B32962-69F8-4C52-2FEF-8D0E8312662B}"/>
              </a:ext>
            </a:extLst>
          </p:cNvPr>
          <p:cNvSpPr/>
          <p:nvPr/>
        </p:nvSpPr>
        <p:spPr>
          <a:xfrm>
            <a:off x="-228600" y="925831"/>
            <a:ext cx="1752600" cy="4267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Article 4</a:t>
            </a:r>
          </a:p>
        </p:txBody>
      </p:sp>
    </p:spTree>
    <p:extLst>
      <p:ext uri="{BB962C8B-B14F-4D97-AF65-F5344CB8AC3E}">
        <p14:creationId xmlns:p14="http://schemas.microsoft.com/office/powerpoint/2010/main" val="634221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731215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Type of Award and Award Amount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381000" y="1428750"/>
            <a:ext cx="5559551" cy="3244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Cost reimbursable 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Only will receive payment for allowable costs that have all the necessary supporting  documentation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All expenses must comply with 2 CFR 200 and the DOL Management Procedures &amp; Guidelines (MPG)</a:t>
            </a:r>
          </a:p>
          <a:p>
            <a:pPr marL="742950" lvl="1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If they do not comply, they will not be reimbursed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B32962-69F8-4C52-2FEF-8D0E8312662B}"/>
              </a:ext>
            </a:extLst>
          </p:cNvPr>
          <p:cNvSpPr/>
          <p:nvPr/>
        </p:nvSpPr>
        <p:spPr>
          <a:xfrm>
            <a:off x="-228600" y="925831"/>
            <a:ext cx="1752600" cy="4267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Article 5</a:t>
            </a:r>
          </a:p>
        </p:txBody>
      </p:sp>
    </p:spTree>
    <p:extLst>
      <p:ext uri="{BB962C8B-B14F-4D97-AF65-F5344CB8AC3E}">
        <p14:creationId xmlns:p14="http://schemas.microsoft.com/office/powerpoint/2010/main" val="1669839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731215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Substantial Involvement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228600" y="1139191"/>
            <a:ext cx="6096000" cy="3244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Annual Work Plan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Monitoring and evaluation plan, in accordance with the Project Monitoring Plan (PMP);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Approval of Key Personnel; 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Monitoring to provide direction or redirection 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subawarding, transferring, or contracting out of any work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B32962-69F8-4C52-2FEF-8D0E8312662B}"/>
              </a:ext>
            </a:extLst>
          </p:cNvPr>
          <p:cNvSpPr/>
          <p:nvPr/>
        </p:nvSpPr>
        <p:spPr>
          <a:xfrm>
            <a:off x="-228600" y="925831"/>
            <a:ext cx="1752600" cy="426720"/>
          </a:xfrm>
          <a:prstGeom prst="rect">
            <a:avLst/>
          </a:prstGeom>
          <a:solidFill>
            <a:srgbClr val="DEAE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Article 6</a:t>
            </a:r>
          </a:p>
        </p:txBody>
      </p:sp>
    </p:spTree>
    <p:extLst>
      <p:ext uri="{BB962C8B-B14F-4D97-AF65-F5344CB8AC3E}">
        <p14:creationId xmlns:p14="http://schemas.microsoft.com/office/powerpoint/2010/main" val="3341761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731215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Total Estimated Award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381000" y="1428750"/>
            <a:ext cx="5559551" cy="3244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Total estimated award, </a:t>
            </a:r>
            <a:r>
              <a:rPr lang="en-US" sz="1800" b="1" u="sng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the award is fully funded.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Fully funded is subject to </a:t>
            </a:r>
            <a:r>
              <a:rPr lang="en-US" sz="1800" b="1" u="sng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performance</a:t>
            </a: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sz="1800" b="1" u="sng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availability of funds from the donor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B32962-69F8-4C52-2FEF-8D0E8312662B}"/>
              </a:ext>
            </a:extLst>
          </p:cNvPr>
          <p:cNvSpPr/>
          <p:nvPr/>
        </p:nvSpPr>
        <p:spPr>
          <a:xfrm>
            <a:off x="-228600" y="925831"/>
            <a:ext cx="1752600" cy="426720"/>
          </a:xfrm>
          <a:prstGeom prst="rect">
            <a:avLst/>
          </a:prstGeom>
          <a:solidFill>
            <a:srgbClr val="FE9B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Article 7</a:t>
            </a:r>
          </a:p>
        </p:txBody>
      </p:sp>
    </p:spTree>
    <p:extLst>
      <p:ext uri="{BB962C8B-B14F-4D97-AF65-F5344CB8AC3E}">
        <p14:creationId xmlns:p14="http://schemas.microsoft.com/office/powerpoint/2010/main" val="411186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0"/>
            <a:ext cx="731215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Obligated Funds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155449" y="643411"/>
            <a:ext cx="6550151" cy="3244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Amount currently available for the subrecipient to spend on allowable program costs</a:t>
            </a:r>
          </a:p>
          <a:p>
            <a:pPr marL="742950" lvl="1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subrecipient cannot exceed the obligated amount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POA is not required to pay any amounts to subrecipient above the current obligated amount</a:t>
            </a:r>
          </a:p>
          <a:p>
            <a:pPr marL="742950" lvl="1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Sub-recipient must notify PARTNERS within 20 business days when expenses reach 70% of the obligated amount</a:t>
            </a:r>
          </a:p>
          <a:p>
            <a:pPr marL="742950" lvl="1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Pending availability of funding and review of performance, POA will increase the obligated amount </a:t>
            </a:r>
          </a:p>
          <a:p>
            <a:pPr marL="742950" lvl="1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Requires formal award modification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2FC7BC6-9464-FE93-B11B-C585958DCB29}"/>
              </a:ext>
            </a:extLst>
          </p:cNvPr>
          <p:cNvSpPr/>
          <p:nvPr/>
        </p:nvSpPr>
        <p:spPr>
          <a:xfrm>
            <a:off x="-228600" y="829029"/>
            <a:ext cx="1752600" cy="426720"/>
          </a:xfrm>
          <a:prstGeom prst="rect">
            <a:avLst/>
          </a:prstGeom>
          <a:solidFill>
            <a:srgbClr val="FE9B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Article 7</a:t>
            </a:r>
          </a:p>
        </p:txBody>
      </p:sp>
    </p:spTree>
    <p:extLst>
      <p:ext uri="{BB962C8B-B14F-4D97-AF65-F5344CB8AC3E}">
        <p14:creationId xmlns:p14="http://schemas.microsoft.com/office/powerpoint/2010/main" val="1901777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776935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Indirect Costs</a:t>
            </a:r>
            <a:endParaRPr lang="en-US" sz="1400" dirty="0"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228600" y="1354455"/>
            <a:ext cx="5791200" cy="3244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De minimis rate of 10% of modified total direct costs (MTDC)</a:t>
            </a:r>
          </a:p>
          <a:p>
            <a:pPr marL="628650" lvl="1" indent="-17145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MTDC includes all direct salaries, wages, applicable fringe benefits, materials, supplies, services, and travel</a:t>
            </a:r>
          </a:p>
          <a:p>
            <a:pPr marL="628650" lvl="1" indent="-17145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MTDC excludes equipment, capital expenditures, charges for patient care, rental costs, tuition remission, scholarships and fellowships, participant support costs</a:t>
            </a:r>
          </a:p>
          <a:p>
            <a:pPr marL="628650" lvl="1" indent="-17145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  <a:p>
            <a:pPr marL="171450" indent="-17145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No documentation is required for the 10% indirect cost </a:t>
            </a:r>
          </a:p>
          <a:p>
            <a:pPr marL="628650" lvl="1" indent="-17145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Sum the total allowable direct costs and multiply by 10%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chemeClr val="accent1">
              <a:lumMod val="75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Article 11</a:t>
            </a:r>
          </a:p>
        </p:txBody>
      </p:sp>
    </p:spTree>
    <p:extLst>
      <p:ext uri="{BB962C8B-B14F-4D97-AF65-F5344CB8AC3E}">
        <p14:creationId xmlns:p14="http://schemas.microsoft.com/office/powerpoint/2010/main" val="3635998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776935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Advance &amp; Payments</a:t>
            </a:r>
            <a:endParaRPr lang="en-US" sz="1400" dirty="0"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228600" y="1354455"/>
            <a:ext cx="5791200" cy="3244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For now, no project advances will be provided </a:t>
            </a:r>
          </a:p>
          <a:p>
            <a:pPr marL="171450" indent="-17145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Payments will be reimbursed after submission of an invoice, financial report, and all required supporting documentation</a:t>
            </a:r>
          </a:p>
          <a:p>
            <a:pPr marL="628650" lvl="1" indent="-17145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Once approved by POA payment is made within 30 days</a:t>
            </a:r>
          </a:p>
          <a:p>
            <a:pPr marL="628650" lvl="1" indent="-17145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POA will reduce the payment for any unallowable costs in accordance </a:t>
            </a: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with 2 CFR 200 and the DOL Management Procedures &amp; Guidelines (MPG)</a:t>
            </a:r>
          </a:p>
          <a:p>
            <a:pPr marL="628650" lvl="1" indent="-17145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chemeClr val="accent2">
              <a:lumMod val="75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Article 12</a:t>
            </a:r>
          </a:p>
        </p:txBody>
      </p:sp>
    </p:spTree>
    <p:extLst>
      <p:ext uri="{BB962C8B-B14F-4D97-AF65-F5344CB8AC3E}">
        <p14:creationId xmlns:p14="http://schemas.microsoft.com/office/powerpoint/2010/main" val="3643999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0" y="821665"/>
            <a:ext cx="6781802" cy="35004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Follow organizational procurement policies and procedures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Create a reasonable micro-purchase threshold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Procurements above micro-purchase amount must be fair and open competition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Solicitation requests must clearly establish all requirements the vendor must fulfill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Contracts must be made to the vendor whose offers most advantageous to the program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Must justify the type of contract used (can justify in memo)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Retain all procurement documentation and provide copies to POA upon request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Must include all provisions required by this Sub-award in other contracts for this award to ensure complete and proper contract</a:t>
            </a:r>
          </a:p>
        </p:txBody>
      </p:sp>
      <p:pic>
        <p:nvPicPr>
          <p:cNvPr id="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28600" y="563233"/>
            <a:ext cx="2590800" cy="428625"/>
          </a:xfrm>
          <a:prstGeom prst="rect">
            <a:avLst/>
          </a:prstGeom>
          <a:solidFill>
            <a:srgbClr val="5FACB9">
              <a:alpha val="83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Article 14</a:t>
            </a:r>
          </a:p>
        </p:txBody>
      </p:sp>
      <p:sp>
        <p:nvSpPr>
          <p:cNvPr id="7" name="Google Shape;199;p30"/>
          <p:cNvSpPr txBox="1">
            <a:spLocks/>
          </p:cNvSpPr>
          <p:nvPr/>
        </p:nvSpPr>
        <p:spPr>
          <a:xfrm>
            <a:off x="91440" y="-177880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 kern="0" dirty="0">
                <a:solidFill>
                  <a:schemeClr val="tx1"/>
                </a:solidFill>
                <a:latin typeface="Segoe UI" pitchFamily="34" charset="0"/>
                <a:cs typeface="Segoe UI" pitchFamily="34" charset="0"/>
              </a:rPr>
              <a:t>Procurement</a:t>
            </a:r>
            <a:endParaRPr lang="en-US" sz="36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594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2400" y="133350"/>
            <a:ext cx="602311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Branding and Marking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228600" y="1486401"/>
            <a:ext cx="6019800" cy="3686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spcBef>
                <a:spcPts val="0"/>
              </a:spcBef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All communication materials and publications produced must meet the standards in Section VI: Branding and Marking prior to printing, reproducing, disseminating, or airing</a:t>
            </a:r>
          </a:p>
          <a:p>
            <a:pPr marL="342900" lvl="0" indent="-342900">
              <a:spcBef>
                <a:spcPts val="0"/>
              </a:spcBef>
              <a:buClrTx/>
              <a:buSzPct val="106000"/>
              <a:buFont typeface="Arial" panose="020B0604020202020204" pitchFamily="34" charset="0"/>
              <a:buChar char="•"/>
            </a:pPr>
            <a:endParaRPr lang="en-US" sz="1800" kern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spcBef>
                <a:spcPts val="0"/>
              </a:spcBef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publicly distributed materials pertaining to this award must be compliant with the U.S. Department of Labor Management Procedures and Guidelines Section 7, Communication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990750"/>
            <a:ext cx="2590800" cy="428625"/>
          </a:xfrm>
          <a:prstGeom prst="rect">
            <a:avLst/>
          </a:prstGeom>
          <a:solidFill>
            <a:schemeClr val="accent3">
              <a:lumMod val="75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Article 18</a:t>
            </a:r>
          </a:p>
        </p:txBody>
      </p:sp>
    </p:spTree>
    <p:extLst>
      <p:ext uri="{BB962C8B-B14F-4D97-AF65-F5344CB8AC3E}">
        <p14:creationId xmlns:p14="http://schemas.microsoft.com/office/powerpoint/2010/main" val="1922730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155448" y="1354455"/>
            <a:ext cx="6169152" cy="34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All requests for modifications to the sub-award must be made in writing PARTNERS’ Authorized Technical Representative 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Alma Rico Diaz – </a:t>
            </a: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arico@partners.net</a:t>
            </a: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With a copy to:</a:t>
            </a:r>
          </a:p>
          <a:p>
            <a:pPr marL="1200150" lvl="2" indent="-285750"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Megan Ash – </a:t>
            </a: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4"/>
              </a:rPr>
              <a:t>mash@partners.net</a:t>
            </a:r>
            <a:endParaRPr lang="en-US" sz="17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1200150" lvl="2" indent="-285750"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Allison McGovern – </a:t>
            </a: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5"/>
              </a:rPr>
              <a:t>amcgovern@partners.net</a:t>
            </a:r>
            <a:endParaRPr lang="en-US" sz="17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1200150" lvl="2" indent="-285750"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Juan Carlos Mendoza – </a:t>
            </a: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6"/>
              </a:rPr>
              <a:t>jcmendoza@partners.net</a:t>
            </a: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Must request 30 days before the modification is needed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Formal modification will be made to sub-award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99;p30"/>
          <p:cNvSpPr txBox="1">
            <a:spLocks/>
          </p:cNvSpPr>
          <p:nvPr/>
        </p:nvSpPr>
        <p:spPr>
          <a:xfrm>
            <a:off x="155449" y="102870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 kern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Modifications</a:t>
            </a:r>
            <a:endParaRPr lang="en-US" sz="3600" kern="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chemeClr val="accent6">
              <a:lumMod val="60000"/>
              <a:lumOff val="4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Article 20</a:t>
            </a:r>
          </a:p>
        </p:txBody>
      </p:sp>
    </p:spTree>
    <p:extLst>
      <p:ext uri="{BB962C8B-B14F-4D97-AF65-F5344CB8AC3E}">
        <p14:creationId xmlns:p14="http://schemas.microsoft.com/office/powerpoint/2010/main" val="2502525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91439" y="1285875"/>
            <a:ext cx="6309361" cy="3559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buClrTx/>
              <a:buNone/>
            </a:pP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Budget Flexibility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Sub-recipient may transfer funds between costs categories up to 5% of the total award amount without prior approval of PARTNERS. 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Requires formal modification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For minor budget deviations below the 5% of the total award, the subrecipient must inform POA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Does not require a formal budget modification </a:t>
            </a:r>
          </a:p>
        </p:txBody>
      </p:sp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28600" y="728068"/>
            <a:ext cx="2362200" cy="428625"/>
          </a:xfrm>
          <a:prstGeom prst="rect">
            <a:avLst/>
          </a:prstGeom>
          <a:solidFill>
            <a:srgbClr val="DEAE58">
              <a:alpha val="83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Article 4: </a:t>
            </a:r>
          </a:p>
        </p:txBody>
      </p:sp>
      <p:sp>
        <p:nvSpPr>
          <p:cNvPr id="6" name="Google Shape;199;p30"/>
          <p:cNvSpPr txBox="1">
            <a:spLocks/>
          </p:cNvSpPr>
          <p:nvPr/>
        </p:nvSpPr>
        <p:spPr>
          <a:xfrm>
            <a:off x="10048" y="-132838"/>
            <a:ext cx="7391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Section IV: Budget and Financial Management</a:t>
            </a:r>
            <a:endParaRPr lang="en-US" sz="28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516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48D86C-F928-9D9E-8DCE-2B7F1BE39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535872"/>
              </p:ext>
            </p:extLst>
          </p:nvPr>
        </p:nvGraphicFramePr>
        <p:xfrm>
          <a:off x="120771" y="231656"/>
          <a:ext cx="6400800" cy="38585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56029">
                  <a:extLst>
                    <a:ext uri="{9D8B030D-6E8A-4147-A177-3AD203B41FA5}">
                      <a16:colId xmlns:a16="http://schemas.microsoft.com/office/drawing/2014/main" val="513216653"/>
                    </a:ext>
                  </a:extLst>
                </a:gridCol>
                <a:gridCol w="1644771">
                  <a:extLst>
                    <a:ext uri="{9D8B030D-6E8A-4147-A177-3AD203B41FA5}">
                      <a16:colId xmlns:a16="http://schemas.microsoft.com/office/drawing/2014/main" val="2849345475"/>
                    </a:ext>
                  </a:extLst>
                </a:gridCol>
              </a:tblGrid>
              <a:tr h="257701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Categories/ Categorías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Amount/ Monto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3011865508"/>
                  </a:ext>
                </a:extLst>
              </a:tr>
              <a:tr h="257701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 Personnel/Personal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$100,000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626646928"/>
                  </a:ext>
                </a:extLst>
              </a:tr>
              <a:tr h="333883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2. Fringe Benefits/ Beneficios Complementarios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$25,000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3247947856"/>
                  </a:ext>
                </a:extLst>
              </a:tr>
              <a:tr h="257701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 Travel/ Viajes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$10,000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914053195"/>
                  </a:ext>
                </a:extLst>
              </a:tr>
              <a:tr h="257701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4. Equipment/ Equipos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2351920314"/>
                  </a:ext>
                </a:extLst>
              </a:tr>
              <a:tr h="257701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5. Supplies/ Suministros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$20,000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2710328719"/>
                  </a:ext>
                </a:extLst>
              </a:tr>
              <a:tr h="257701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6. Contractual*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$0 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1542463899"/>
                  </a:ext>
                </a:extLst>
              </a:tr>
              <a:tr h="420249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7. Other Direct Costs/ Otros Costos Directos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$250,000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3773240606"/>
                  </a:ext>
                </a:extLst>
              </a:tr>
              <a:tr h="420249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8. Total Direct Costs/ Total Costos Directos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$405,000 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2392913002"/>
                  </a:ext>
                </a:extLst>
              </a:tr>
              <a:tr h="420249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 Indirect Costs/ Costos Indirectos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$40,500 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3758147143"/>
                  </a:ext>
                </a:extLst>
              </a:tr>
              <a:tr h="420249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10. Total Costs/ Costos Totales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$445,500 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3348553966"/>
                  </a:ext>
                </a:extLst>
              </a:tr>
            </a:tbl>
          </a:graphicData>
        </a:graphic>
      </p:graphicFrame>
      <p:sp>
        <p:nvSpPr>
          <p:cNvPr id="10" name="Google Shape;67;p14">
            <a:extLst>
              <a:ext uri="{FF2B5EF4-FFF2-40B4-BE49-F238E27FC236}">
                <a16:creationId xmlns:a16="http://schemas.microsoft.com/office/drawing/2014/main" id="{1E361B1B-42EC-BCDE-42A4-189E1E9572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4087452"/>
            <a:ext cx="6309361" cy="3559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buClrTx/>
              <a:buNone/>
            </a:pP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 this example 5% of total award value is $22,275</a:t>
            </a:r>
          </a:p>
        </p:txBody>
      </p:sp>
    </p:spTree>
    <p:extLst>
      <p:ext uri="{BB962C8B-B14F-4D97-AF65-F5344CB8AC3E}">
        <p14:creationId xmlns:p14="http://schemas.microsoft.com/office/powerpoint/2010/main" val="2223604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6006" y="2886662"/>
            <a:ext cx="6309361" cy="14351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buClrTx/>
              <a:buNone/>
            </a:pP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program team needs to spend an extra $1,000 on supplies, they realized they didn’t spend any money on travel, so they could take $1,000 from the travel line and move to supplies.</a:t>
            </a:r>
          </a:p>
          <a:p>
            <a:pPr marL="127000" indent="0">
              <a:buClrTx/>
              <a:buNone/>
            </a:pP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Would this budget change require prior approval from POA?</a:t>
            </a:r>
          </a:p>
        </p:txBody>
      </p:sp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99;p30"/>
          <p:cNvSpPr txBox="1">
            <a:spLocks/>
          </p:cNvSpPr>
          <p:nvPr/>
        </p:nvSpPr>
        <p:spPr>
          <a:xfrm>
            <a:off x="10048" y="-132838"/>
            <a:ext cx="7391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Budget Flexibility - Exercise</a:t>
            </a:r>
            <a:endParaRPr lang="en-US" sz="2800" kern="0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CFB7BF-D8C6-8FCA-8002-F8626D250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688670"/>
              </p:ext>
            </p:extLst>
          </p:nvPr>
        </p:nvGraphicFramePr>
        <p:xfrm>
          <a:off x="120771" y="116435"/>
          <a:ext cx="6400800" cy="28474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56029">
                  <a:extLst>
                    <a:ext uri="{9D8B030D-6E8A-4147-A177-3AD203B41FA5}">
                      <a16:colId xmlns:a16="http://schemas.microsoft.com/office/drawing/2014/main" val="513216653"/>
                    </a:ext>
                  </a:extLst>
                </a:gridCol>
                <a:gridCol w="1644771">
                  <a:extLst>
                    <a:ext uri="{9D8B030D-6E8A-4147-A177-3AD203B41FA5}">
                      <a16:colId xmlns:a16="http://schemas.microsoft.com/office/drawing/2014/main" val="2849345475"/>
                    </a:ext>
                  </a:extLst>
                </a:gridCol>
              </a:tblGrid>
              <a:tr h="289816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Categories/ Categorías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Amount/ Monto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3011865508"/>
                  </a:ext>
                </a:extLst>
              </a:tr>
              <a:tr h="289816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 Personnel/Personal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$10,000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626646928"/>
                  </a:ext>
                </a:extLst>
              </a:tr>
              <a:tr h="289816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2. Fringe Benefits/ Beneficios Complementarios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$2,000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3247947856"/>
                  </a:ext>
                </a:extLst>
              </a:tr>
              <a:tr h="289816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 Travel/ Viajes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$1,000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914053195"/>
                  </a:ext>
                </a:extLst>
              </a:tr>
              <a:tr h="289816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5. Supplies/ Suministros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$1,000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2710328719"/>
                  </a:ext>
                </a:extLst>
              </a:tr>
              <a:tr h="327759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7. Other Direct Costs/ Otros Costos Directos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$6,000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3773240606"/>
                  </a:ext>
                </a:extLst>
              </a:tr>
              <a:tr h="327759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8. Total Direct Costs/ Total Costos Directos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$20,000 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2392913002"/>
                  </a:ext>
                </a:extLst>
              </a:tr>
              <a:tr h="327759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 Indirect Costs/ Costos Indirectos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$2,000 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3758147143"/>
                  </a:ext>
                </a:extLst>
              </a:tr>
              <a:tr h="327759"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10. Total Costs/ Costos Totales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tc>
                  <a:txBody>
                    <a:bodyPr/>
                    <a:lstStyle/>
                    <a:p>
                      <a:pPr marL="66675" marR="6667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$22,000 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2061" marR="42061" marT="40892" marB="40892"/>
                </a:tc>
                <a:extLst>
                  <a:ext uri="{0D108BD9-81ED-4DB2-BD59-A6C34878D82A}">
                    <a16:rowId xmlns:a16="http://schemas.microsoft.com/office/drawing/2014/main" val="3348553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6130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spect="1"/>
          </p:cNvSpPr>
          <p:nvPr/>
        </p:nvSpPr>
        <p:spPr>
          <a:xfrm>
            <a:off x="2656932" y="632797"/>
            <a:ext cx="3590142" cy="3720102"/>
          </a:xfrm>
          <a:prstGeom prst="rect">
            <a:avLst/>
          </a:prstGeom>
          <a:blipFill dpi="0" rotWithShape="1"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n-US" sz="1400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6930997" y="3495599"/>
            <a:ext cx="113397" cy="150888"/>
          </a:xfrm>
          <a:custGeom>
            <a:avLst/>
            <a:gdLst/>
            <a:ahLst/>
            <a:cxnLst/>
            <a:rect l="l" t="t" r="r" b="b"/>
            <a:pathLst>
              <a:path w="12289" h="16352" extrusionOk="0">
                <a:moveTo>
                  <a:pt x="6303" y="3991"/>
                </a:moveTo>
                <a:lnTo>
                  <a:pt x="6546" y="4015"/>
                </a:lnTo>
                <a:lnTo>
                  <a:pt x="6789" y="4064"/>
                </a:lnTo>
                <a:lnTo>
                  <a:pt x="7008" y="4137"/>
                </a:lnTo>
                <a:lnTo>
                  <a:pt x="7252" y="4234"/>
                </a:lnTo>
                <a:lnTo>
                  <a:pt x="7446" y="4356"/>
                </a:lnTo>
                <a:lnTo>
                  <a:pt x="7665" y="4502"/>
                </a:lnTo>
                <a:lnTo>
                  <a:pt x="7836" y="4672"/>
                </a:lnTo>
                <a:lnTo>
                  <a:pt x="8030" y="4842"/>
                </a:lnTo>
                <a:lnTo>
                  <a:pt x="8176" y="5037"/>
                </a:lnTo>
                <a:lnTo>
                  <a:pt x="8322" y="5256"/>
                </a:lnTo>
                <a:lnTo>
                  <a:pt x="8468" y="5475"/>
                </a:lnTo>
                <a:lnTo>
                  <a:pt x="8566" y="5718"/>
                </a:lnTo>
                <a:lnTo>
                  <a:pt x="8639" y="5986"/>
                </a:lnTo>
                <a:lnTo>
                  <a:pt x="8712" y="6229"/>
                </a:lnTo>
                <a:lnTo>
                  <a:pt x="8736" y="6473"/>
                </a:lnTo>
                <a:lnTo>
                  <a:pt x="8712" y="6716"/>
                </a:lnTo>
                <a:lnTo>
                  <a:pt x="8687" y="6959"/>
                </a:lnTo>
                <a:lnTo>
                  <a:pt x="8639" y="7178"/>
                </a:lnTo>
                <a:lnTo>
                  <a:pt x="8541" y="7397"/>
                </a:lnTo>
                <a:lnTo>
                  <a:pt x="8444" y="7592"/>
                </a:lnTo>
                <a:lnTo>
                  <a:pt x="8322" y="7787"/>
                </a:lnTo>
                <a:lnTo>
                  <a:pt x="8152" y="7981"/>
                </a:lnTo>
                <a:lnTo>
                  <a:pt x="7982" y="8152"/>
                </a:lnTo>
                <a:lnTo>
                  <a:pt x="7811" y="8298"/>
                </a:lnTo>
                <a:lnTo>
                  <a:pt x="7592" y="8419"/>
                </a:lnTo>
                <a:lnTo>
                  <a:pt x="7373" y="8517"/>
                </a:lnTo>
                <a:lnTo>
                  <a:pt x="7130" y="8614"/>
                </a:lnTo>
                <a:lnTo>
                  <a:pt x="6887" y="8687"/>
                </a:lnTo>
                <a:lnTo>
                  <a:pt x="6668" y="8711"/>
                </a:lnTo>
                <a:lnTo>
                  <a:pt x="6424" y="8736"/>
                </a:lnTo>
                <a:lnTo>
                  <a:pt x="6205" y="8736"/>
                </a:lnTo>
                <a:lnTo>
                  <a:pt x="5986" y="8711"/>
                </a:lnTo>
                <a:lnTo>
                  <a:pt x="5743" y="8663"/>
                </a:lnTo>
                <a:lnTo>
                  <a:pt x="5524" y="8614"/>
                </a:lnTo>
                <a:lnTo>
                  <a:pt x="5305" y="8541"/>
                </a:lnTo>
                <a:lnTo>
                  <a:pt x="5110" y="8444"/>
                </a:lnTo>
                <a:lnTo>
                  <a:pt x="4891" y="8346"/>
                </a:lnTo>
                <a:lnTo>
                  <a:pt x="4697" y="8225"/>
                </a:lnTo>
                <a:lnTo>
                  <a:pt x="4502" y="8103"/>
                </a:lnTo>
                <a:lnTo>
                  <a:pt x="4332" y="7957"/>
                </a:lnTo>
                <a:lnTo>
                  <a:pt x="4186" y="7787"/>
                </a:lnTo>
                <a:lnTo>
                  <a:pt x="4015" y="7616"/>
                </a:lnTo>
                <a:lnTo>
                  <a:pt x="3894" y="7446"/>
                </a:lnTo>
                <a:lnTo>
                  <a:pt x="3772" y="7251"/>
                </a:lnTo>
                <a:lnTo>
                  <a:pt x="3723" y="7105"/>
                </a:lnTo>
                <a:lnTo>
                  <a:pt x="3650" y="6935"/>
                </a:lnTo>
                <a:lnTo>
                  <a:pt x="3602" y="6643"/>
                </a:lnTo>
                <a:lnTo>
                  <a:pt x="3577" y="6327"/>
                </a:lnTo>
                <a:lnTo>
                  <a:pt x="3602" y="6010"/>
                </a:lnTo>
                <a:lnTo>
                  <a:pt x="3699" y="5718"/>
                </a:lnTo>
                <a:lnTo>
                  <a:pt x="3821" y="5426"/>
                </a:lnTo>
                <a:lnTo>
                  <a:pt x="3967" y="5134"/>
                </a:lnTo>
                <a:lnTo>
                  <a:pt x="4161" y="4891"/>
                </a:lnTo>
                <a:lnTo>
                  <a:pt x="4332" y="4696"/>
                </a:lnTo>
                <a:lnTo>
                  <a:pt x="4551" y="4502"/>
                </a:lnTo>
                <a:lnTo>
                  <a:pt x="4794" y="4356"/>
                </a:lnTo>
                <a:lnTo>
                  <a:pt x="5037" y="4210"/>
                </a:lnTo>
                <a:lnTo>
                  <a:pt x="5062" y="4210"/>
                </a:lnTo>
                <a:lnTo>
                  <a:pt x="5110" y="4234"/>
                </a:lnTo>
                <a:lnTo>
                  <a:pt x="5232" y="4234"/>
                </a:lnTo>
                <a:lnTo>
                  <a:pt x="5305" y="4210"/>
                </a:lnTo>
                <a:lnTo>
                  <a:pt x="5548" y="4112"/>
                </a:lnTo>
                <a:lnTo>
                  <a:pt x="5816" y="4039"/>
                </a:lnTo>
                <a:lnTo>
                  <a:pt x="6059" y="4015"/>
                </a:lnTo>
                <a:lnTo>
                  <a:pt x="6303" y="3991"/>
                </a:lnTo>
                <a:close/>
                <a:moveTo>
                  <a:pt x="6254" y="3480"/>
                </a:moveTo>
                <a:lnTo>
                  <a:pt x="5986" y="3504"/>
                </a:lnTo>
                <a:lnTo>
                  <a:pt x="5694" y="3553"/>
                </a:lnTo>
                <a:lnTo>
                  <a:pt x="5427" y="3626"/>
                </a:lnTo>
                <a:lnTo>
                  <a:pt x="5305" y="3650"/>
                </a:lnTo>
                <a:lnTo>
                  <a:pt x="5183" y="3699"/>
                </a:lnTo>
                <a:lnTo>
                  <a:pt x="4916" y="3796"/>
                </a:lnTo>
                <a:lnTo>
                  <a:pt x="4599" y="3966"/>
                </a:lnTo>
                <a:lnTo>
                  <a:pt x="4283" y="4161"/>
                </a:lnTo>
                <a:lnTo>
                  <a:pt x="3991" y="4404"/>
                </a:lnTo>
                <a:lnTo>
                  <a:pt x="3748" y="4672"/>
                </a:lnTo>
                <a:lnTo>
                  <a:pt x="3529" y="4940"/>
                </a:lnTo>
                <a:lnTo>
                  <a:pt x="3359" y="5232"/>
                </a:lnTo>
                <a:lnTo>
                  <a:pt x="3237" y="5572"/>
                </a:lnTo>
                <a:lnTo>
                  <a:pt x="3164" y="5889"/>
                </a:lnTo>
                <a:lnTo>
                  <a:pt x="3115" y="6229"/>
                </a:lnTo>
                <a:lnTo>
                  <a:pt x="3140" y="6570"/>
                </a:lnTo>
                <a:lnTo>
                  <a:pt x="3188" y="6911"/>
                </a:lnTo>
                <a:lnTo>
                  <a:pt x="3261" y="7251"/>
                </a:lnTo>
                <a:lnTo>
                  <a:pt x="3383" y="7495"/>
                </a:lnTo>
                <a:lnTo>
                  <a:pt x="3529" y="7762"/>
                </a:lnTo>
                <a:lnTo>
                  <a:pt x="3699" y="7981"/>
                </a:lnTo>
                <a:lnTo>
                  <a:pt x="3869" y="8200"/>
                </a:lnTo>
                <a:lnTo>
                  <a:pt x="4088" y="8371"/>
                </a:lnTo>
                <a:lnTo>
                  <a:pt x="4307" y="8541"/>
                </a:lnTo>
                <a:lnTo>
                  <a:pt x="4551" y="8711"/>
                </a:lnTo>
                <a:lnTo>
                  <a:pt x="4794" y="8833"/>
                </a:lnTo>
                <a:lnTo>
                  <a:pt x="5062" y="8930"/>
                </a:lnTo>
                <a:lnTo>
                  <a:pt x="5329" y="9028"/>
                </a:lnTo>
                <a:lnTo>
                  <a:pt x="5597" y="9101"/>
                </a:lnTo>
                <a:lnTo>
                  <a:pt x="5889" y="9149"/>
                </a:lnTo>
                <a:lnTo>
                  <a:pt x="6181" y="9174"/>
                </a:lnTo>
                <a:lnTo>
                  <a:pt x="6449" y="9198"/>
                </a:lnTo>
                <a:lnTo>
                  <a:pt x="6741" y="9174"/>
                </a:lnTo>
                <a:lnTo>
                  <a:pt x="7008" y="9149"/>
                </a:lnTo>
                <a:lnTo>
                  <a:pt x="7325" y="9076"/>
                </a:lnTo>
                <a:lnTo>
                  <a:pt x="7617" y="8979"/>
                </a:lnTo>
                <a:lnTo>
                  <a:pt x="7884" y="8833"/>
                </a:lnTo>
                <a:lnTo>
                  <a:pt x="8128" y="8687"/>
                </a:lnTo>
                <a:lnTo>
                  <a:pt x="8347" y="8492"/>
                </a:lnTo>
                <a:lnTo>
                  <a:pt x="8541" y="8273"/>
                </a:lnTo>
                <a:lnTo>
                  <a:pt x="8712" y="8054"/>
                </a:lnTo>
                <a:lnTo>
                  <a:pt x="8858" y="7787"/>
                </a:lnTo>
                <a:lnTo>
                  <a:pt x="8979" y="7543"/>
                </a:lnTo>
                <a:lnTo>
                  <a:pt x="9052" y="7251"/>
                </a:lnTo>
                <a:lnTo>
                  <a:pt x="9125" y="6959"/>
                </a:lnTo>
                <a:lnTo>
                  <a:pt x="9150" y="6667"/>
                </a:lnTo>
                <a:lnTo>
                  <a:pt x="9150" y="6375"/>
                </a:lnTo>
                <a:lnTo>
                  <a:pt x="9125" y="6083"/>
                </a:lnTo>
                <a:lnTo>
                  <a:pt x="9052" y="5791"/>
                </a:lnTo>
                <a:lnTo>
                  <a:pt x="8955" y="5499"/>
                </a:lnTo>
                <a:lnTo>
                  <a:pt x="8858" y="5232"/>
                </a:lnTo>
                <a:lnTo>
                  <a:pt x="8712" y="4988"/>
                </a:lnTo>
                <a:lnTo>
                  <a:pt x="8566" y="4769"/>
                </a:lnTo>
                <a:lnTo>
                  <a:pt x="8395" y="4550"/>
                </a:lnTo>
                <a:lnTo>
                  <a:pt x="8201" y="4356"/>
                </a:lnTo>
                <a:lnTo>
                  <a:pt x="7982" y="4161"/>
                </a:lnTo>
                <a:lnTo>
                  <a:pt x="7763" y="3991"/>
                </a:lnTo>
                <a:lnTo>
                  <a:pt x="7544" y="3845"/>
                </a:lnTo>
                <a:lnTo>
                  <a:pt x="7300" y="3723"/>
                </a:lnTo>
                <a:lnTo>
                  <a:pt x="7033" y="3626"/>
                </a:lnTo>
                <a:lnTo>
                  <a:pt x="6789" y="3553"/>
                </a:lnTo>
                <a:lnTo>
                  <a:pt x="6522" y="3504"/>
                </a:lnTo>
                <a:lnTo>
                  <a:pt x="6254" y="3480"/>
                </a:lnTo>
                <a:close/>
                <a:moveTo>
                  <a:pt x="6303" y="536"/>
                </a:moveTo>
                <a:lnTo>
                  <a:pt x="6668" y="560"/>
                </a:lnTo>
                <a:lnTo>
                  <a:pt x="7033" y="633"/>
                </a:lnTo>
                <a:lnTo>
                  <a:pt x="7422" y="706"/>
                </a:lnTo>
                <a:lnTo>
                  <a:pt x="7763" y="828"/>
                </a:lnTo>
                <a:lnTo>
                  <a:pt x="8128" y="949"/>
                </a:lnTo>
                <a:lnTo>
                  <a:pt x="8468" y="1095"/>
                </a:lnTo>
                <a:lnTo>
                  <a:pt x="8809" y="1266"/>
                </a:lnTo>
                <a:lnTo>
                  <a:pt x="9125" y="1460"/>
                </a:lnTo>
                <a:lnTo>
                  <a:pt x="9442" y="1679"/>
                </a:lnTo>
                <a:lnTo>
                  <a:pt x="9734" y="1898"/>
                </a:lnTo>
                <a:lnTo>
                  <a:pt x="10026" y="2166"/>
                </a:lnTo>
                <a:lnTo>
                  <a:pt x="10050" y="2287"/>
                </a:lnTo>
                <a:lnTo>
                  <a:pt x="10074" y="2409"/>
                </a:lnTo>
                <a:lnTo>
                  <a:pt x="10196" y="2798"/>
                </a:lnTo>
                <a:lnTo>
                  <a:pt x="10220" y="2847"/>
                </a:lnTo>
                <a:lnTo>
                  <a:pt x="10269" y="2871"/>
                </a:lnTo>
                <a:lnTo>
                  <a:pt x="10342" y="2896"/>
                </a:lnTo>
                <a:lnTo>
                  <a:pt x="10391" y="2896"/>
                </a:lnTo>
                <a:lnTo>
                  <a:pt x="10439" y="2871"/>
                </a:lnTo>
                <a:lnTo>
                  <a:pt x="10464" y="2847"/>
                </a:lnTo>
                <a:lnTo>
                  <a:pt x="10488" y="2798"/>
                </a:lnTo>
                <a:lnTo>
                  <a:pt x="10512" y="2677"/>
                </a:lnTo>
                <a:lnTo>
                  <a:pt x="10585" y="2774"/>
                </a:lnTo>
                <a:lnTo>
                  <a:pt x="10537" y="3090"/>
                </a:lnTo>
                <a:lnTo>
                  <a:pt x="10537" y="3261"/>
                </a:lnTo>
                <a:lnTo>
                  <a:pt x="10561" y="3334"/>
                </a:lnTo>
                <a:lnTo>
                  <a:pt x="10610" y="3382"/>
                </a:lnTo>
                <a:lnTo>
                  <a:pt x="10634" y="3431"/>
                </a:lnTo>
                <a:lnTo>
                  <a:pt x="10683" y="3407"/>
                </a:lnTo>
                <a:lnTo>
                  <a:pt x="10756" y="3382"/>
                </a:lnTo>
                <a:lnTo>
                  <a:pt x="10804" y="3309"/>
                </a:lnTo>
                <a:lnTo>
                  <a:pt x="10877" y="3163"/>
                </a:lnTo>
                <a:lnTo>
                  <a:pt x="10877" y="3188"/>
                </a:lnTo>
                <a:lnTo>
                  <a:pt x="10950" y="3285"/>
                </a:lnTo>
                <a:lnTo>
                  <a:pt x="10853" y="3553"/>
                </a:lnTo>
                <a:lnTo>
                  <a:pt x="10804" y="3674"/>
                </a:lnTo>
                <a:lnTo>
                  <a:pt x="10756" y="3796"/>
                </a:lnTo>
                <a:lnTo>
                  <a:pt x="10756" y="3893"/>
                </a:lnTo>
                <a:lnTo>
                  <a:pt x="10804" y="4015"/>
                </a:lnTo>
                <a:lnTo>
                  <a:pt x="10829" y="4088"/>
                </a:lnTo>
                <a:lnTo>
                  <a:pt x="10902" y="4112"/>
                </a:lnTo>
                <a:lnTo>
                  <a:pt x="10975" y="4112"/>
                </a:lnTo>
                <a:lnTo>
                  <a:pt x="11023" y="4088"/>
                </a:lnTo>
                <a:lnTo>
                  <a:pt x="11096" y="4039"/>
                </a:lnTo>
                <a:lnTo>
                  <a:pt x="11169" y="3966"/>
                </a:lnTo>
                <a:lnTo>
                  <a:pt x="11242" y="3820"/>
                </a:lnTo>
                <a:lnTo>
                  <a:pt x="11340" y="4039"/>
                </a:lnTo>
                <a:lnTo>
                  <a:pt x="11194" y="4307"/>
                </a:lnTo>
                <a:lnTo>
                  <a:pt x="11048" y="4575"/>
                </a:lnTo>
                <a:lnTo>
                  <a:pt x="11023" y="4696"/>
                </a:lnTo>
                <a:lnTo>
                  <a:pt x="11023" y="4794"/>
                </a:lnTo>
                <a:lnTo>
                  <a:pt x="11048" y="4867"/>
                </a:lnTo>
                <a:lnTo>
                  <a:pt x="11121" y="4915"/>
                </a:lnTo>
                <a:lnTo>
                  <a:pt x="11169" y="4915"/>
                </a:lnTo>
                <a:lnTo>
                  <a:pt x="11218" y="4891"/>
                </a:lnTo>
                <a:lnTo>
                  <a:pt x="11340" y="4794"/>
                </a:lnTo>
                <a:lnTo>
                  <a:pt x="11510" y="4575"/>
                </a:lnTo>
                <a:lnTo>
                  <a:pt x="11534" y="4550"/>
                </a:lnTo>
                <a:lnTo>
                  <a:pt x="11607" y="4818"/>
                </a:lnTo>
                <a:lnTo>
                  <a:pt x="11510" y="4940"/>
                </a:lnTo>
                <a:lnTo>
                  <a:pt x="11388" y="5061"/>
                </a:lnTo>
                <a:lnTo>
                  <a:pt x="11291" y="5183"/>
                </a:lnTo>
                <a:lnTo>
                  <a:pt x="11218" y="5280"/>
                </a:lnTo>
                <a:lnTo>
                  <a:pt x="11096" y="5524"/>
                </a:lnTo>
                <a:lnTo>
                  <a:pt x="11072" y="5548"/>
                </a:lnTo>
                <a:lnTo>
                  <a:pt x="11096" y="5572"/>
                </a:lnTo>
                <a:lnTo>
                  <a:pt x="11121" y="5597"/>
                </a:lnTo>
                <a:lnTo>
                  <a:pt x="11145" y="5572"/>
                </a:lnTo>
                <a:lnTo>
                  <a:pt x="11388" y="5475"/>
                </a:lnTo>
                <a:lnTo>
                  <a:pt x="11510" y="5402"/>
                </a:lnTo>
                <a:lnTo>
                  <a:pt x="11631" y="5305"/>
                </a:lnTo>
                <a:lnTo>
                  <a:pt x="11680" y="5256"/>
                </a:lnTo>
                <a:lnTo>
                  <a:pt x="11729" y="5499"/>
                </a:lnTo>
                <a:lnTo>
                  <a:pt x="11364" y="5840"/>
                </a:lnTo>
                <a:lnTo>
                  <a:pt x="11048" y="6229"/>
                </a:lnTo>
                <a:lnTo>
                  <a:pt x="11023" y="6278"/>
                </a:lnTo>
                <a:lnTo>
                  <a:pt x="11048" y="6327"/>
                </a:lnTo>
                <a:lnTo>
                  <a:pt x="11072" y="6351"/>
                </a:lnTo>
                <a:lnTo>
                  <a:pt x="11121" y="6351"/>
                </a:lnTo>
                <a:lnTo>
                  <a:pt x="11291" y="6254"/>
                </a:lnTo>
                <a:lnTo>
                  <a:pt x="11461" y="6156"/>
                </a:lnTo>
                <a:lnTo>
                  <a:pt x="11753" y="5913"/>
                </a:lnTo>
                <a:lnTo>
                  <a:pt x="11753" y="6302"/>
                </a:lnTo>
                <a:lnTo>
                  <a:pt x="11631" y="6424"/>
                </a:lnTo>
                <a:lnTo>
                  <a:pt x="11534" y="6546"/>
                </a:lnTo>
                <a:lnTo>
                  <a:pt x="11412" y="6692"/>
                </a:lnTo>
                <a:lnTo>
                  <a:pt x="11291" y="6789"/>
                </a:lnTo>
                <a:lnTo>
                  <a:pt x="11048" y="6935"/>
                </a:lnTo>
                <a:lnTo>
                  <a:pt x="10999" y="6984"/>
                </a:lnTo>
                <a:lnTo>
                  <a:pt x="10950" y="7032"/>
                </a:lnTo>
                <a:lnTo>
                  <a:pt x="10926" y="7105"/>
                </a:lnTo>
                <a:lnTo>
                  <a:pt x="10950" y="7154"/>
                </a:lnTo>
                <a:lnTo>
                  <a:pt x="11023" y="7203"/>
                </a:lnTo>
                <a:lnTo>
                  <a:pt x="11096" y="7251"/>
                </a:lnTo>
                <a:lnTo>
                  <a:pt x="11169" y="7251"/>
                </a:lnTo>
                <a:lnTo>
                  <a:pt x="11267" y="7227"/>
                </a:lnTo>
                <a:lnTo>
                  <a:pt x="11437" y="7178"/>
                </a:lnTo>
                <a:lnTo>
                  <a:pt x="11583" y="7081"/>
                </a:lnTo>
                <a:lnTo>
                  <a:pt x="11704" y="6984"/>
                </a:lnTo>
                <a:lnTo>
                  <a:pt x="11631" y="7470"/>
                </a:lnTo>
                <a:lnTo>
                  <a:pt x="11583" y="7470"/>
                </a:lnTo>
                <a:lnTo>
                  <a:pt x="11534" y="7495"/>
                </a:lnTo>
                <a:lnTo>
                  <a:pt x="11291" y="7665"/>
                </a:lnTo>
                <a:lnTo>
                  <a:pt x="11023" y="7811"/>
                </a:lnTo>
                <a:lnTo>
                  <a:pt x="10902" y="7884"/>
                </a:lnTo>
                <a:lnTo>
                  <a:pt x="10804" y="7957"/>
                </a:lnTo>
                <a:lnTo>
                  <a:pt x="10731" y="8054"/>
                </a:lnTo>
                <a:lnTo>
                  <a:pt x="10707" y="8103"/>
                </a:lnTo>
                <a:lnTo>
                  <a:pt x="10707" y="8176"/>
                </a:lnTo>
                <a:lnTo>
                  <a:pt x="10707" y="8200"/>
                </a:lnTo>
                <a:lnTo>
                  <a:pt x="10853" y="8200"/>
                </a:lnTo>
                <a:lnTo>
                  <a:pt x="10950" y="8176"/>
                </a:lnTo>
                <a:lnTo>
                  <a:pt x="11194" y="8079"/>
                </a:lnTo>
                <a:lnTo>
                  <a:pt x="11534" y="7933"/>
                </a:lnTo>
                <a:lnTo>
                  <a:pt x="11437" y="8273"/>
                </a:lnTo>
                <a:lnTo>
                  <a:pt x="11340" y="8298"/>
                </a:lnTo>
                <a:lnTo>
                  <a:pt x="11242" y="8322"/>
                </a:lnTo>
                <a:lnTo>
                  <a:pt x="11072" y="8419"/>
                </a:lnTo>
                <a:lnTo>
                  <a:pt x="10829" y="8541"/>
                </a:lnTo>
                <a:lnTo>
                  <a:pt x="10561" y="8614"/>
                </a:lnTo>
                <a:lnTo>
                  <a:pt x="10537" y="8638"/>
                </a:lnTo>
                <a:lnTo>
                  <a:pt x="10512" y="8663"/>
                </a:lnTo>
                <a:lnTo>
                  <a:pt x="10537" y="8687"/>
                </a:lnTo>
                <a:lnTo>
                  <a:pt x="10561" y="8711"/>
                </a:lnTo>
                <a:lnTo>
                  <a:pt x="10731" y="8736"/>
                </a:lnTo>
                <a:lnTo>
                  <a:pt x="10926" y="8736"/>
                </a:lnTo>
                <a:lnTo>
                  <a:pt x="11121" y="8711"/>
                </a:lnTo>
                <a:lnTo>
                  <a:pt x="11315" y="8663"/>
                </a:lnTo>
                <a:lnTo>
                  <a:pt x="11169" y="9028"/>
                </a:lnTo>
                <a:lnTo>
                  <a:pt x="10926" y="9028"/>
                </a:lnTo>
                <a:lnTo>
                  <a:pt x="10683" y="9052"/>
                </a:lnTo>
                <a:lnTo>
                  <a:pt x="10439" y="9125"/>
                </a:lnTo>
                <a:lnTo>
                  <a:pt x="10220" y="9198"/>
                </a:lnTo>
                <a:lnTo>
                  <a:pt x="10196" y="9222"/>
                </a:lnTo>
                <a:lnTo>
                  <a:pt x="10196" y="9247"/>
                </a:lnTo>
                <a:lnTo>
                  <a:pt x="10220" y="9271"/>
                </a:lnTo>
                <a:lnTo>
                  <a:pt x="10245" y="9295"/>
                </a:lnTo>
                <a:lnTo>
                  <a:pt x="10488" y="9295"/>
                </a:lnTo>
                <a:lnTo>
                  <a:pt x="10731" y="9320"/>
                </a:lnTo>
                <a:lnTo>
                  <a:pt x="11048" y="9368"/>
                </a:lnTo>
                <a:lnTo>
                  <a:pt x="10853" y="9757"/>
                </a:lnTo>
                <a:lnTo>
                  <a:pt x="10561" y="9733"/>
                </a:lnTo>
                <a:lnTo>
                  <a:pt x="10245" y="9709"/>
                </a:lnTo>
                <a:lnTo>
                  <a:pt x="10099" y="9709"/>
                </a:lnTo>
                <a:lnTo>
                  <a:pt x="9977" y="9733"/>
                </a:lnTo>
                <a:lnTo>
                  <a:pt x="9904" y="9782"/>
                </a:lnTo>
                <a:lnTo>
                  <a:pt x="9880" y="9806"/>
                </a:lnTo>
                <a:lnTo>
                  <a:pt x="9880" y="9830"/>
                </a:lnTo>
                <a:lnTo>
                  <a:pt x="9928" y="9928"/>
                </a:lnTo>
                <a:lnTo>
                  <a:pt x="9977" y="10001"/>
                </a:lnTo>
                <a:lnTo>
                  <a:pt x="10050" y="10074"/>
                </a:lnTo>
                <a:lnTo>
                  <a:pt x="10147" y="10122"/>
                </a:lnTo>
                <a:lnTo>
                  <a:pt x="10391" y="10171"/>
                </a:lnTo>
                <a:lnTo>
                  <a:pt x="10610" y="10220"/>
                </a:lnTo>
                <a:lnTo>
                  <a:pt x="10439" y="10512"/>
                </a:lnTo>
                <a:lnTo>
                  <a:pt x="10439" y="10439"/>
                </a:lnTo>
                <a:lnTo>
                  <a:pt x="10391" y="10390"/>
                </a:lnTo>
                <a:lnTo>
                  <a:pt x="10342" y="10341"/>
                </a:lnTo>
                <a:lnTo>
                  <a:pt x="10220" y="10293"/>
                </a:lnTo>
                <a:lnTo>
                  <a:pt x="9977" y="10268"/>
                </a:lnTo>
                <a:lnTo>
                  <a:pt x="9709" y="10220"/>
                </a:lnTo>
                <a:lnTo>
                  <a:pt x="9588" y="10220"/>
                </a:lnTo>
                <a:lnTo>
                  <a:pt x="9466" y="10244"/>
                </a:lnTo>
                <a:lnTo>
                  <a:pt x="9417" y="10268"/>
                </a:lnTo>
                <a:lnTo>
                  <a:pt x="9393" y="10317"/>
                </a:lnTo>
                <a:lnTo>
                  <a:pt x="9393" y="10366"/>
                </a:lnTo>
                <a:lnTo>
                  <a:pt x="9417" y="10414"/>
                </a:lnTo>
                <a:lnTo>
                  <a:pt x="9515" y="10487"/>
                </a:lnTo>
                <a:lnTo>
                  <a:pt x="9636" y="10560"/>
                </a:lnTo>
                <a:lnTo>
                  <a:pt x="9880" y="10633"/>
                </a:lnTo>
                <a:lnTo>
                  <a:pt x="10123" y="10682"/>
                </a:lnTo>
                <a:lnTo>
                  <a:pt x="10245" y="10682"/>
                </a:lnTo>
                <a:lnTo>
                  <a:pt x="10366" y="10633"/>
                </a:lnTo>
                <a:lnTo>
                  <a:pt x="10001" y="11242"/>
                </a:lnTo>
                <a:lnTo>
                  <a:pt x="9782" y="11169"/>
                </a:lnTo>
                <a:lnTo>
                  <a:pt x="9588" y="11144"/>
                </a:lnTo>
                <a:lnTo>
                  <a:pt x="9417" y="11096"/>
                </a:lnTo>
                <a:lnTo>
                  <a:pt x="9247" y="11071"/>
                </a:lnTo>
                <a:lnTo>
                  <a:pt x="9052" y="11047"/>
                </a:lnTo>
                <a:lnTo>
                  <a:pt x="8882" y="11096"/>
                </a:lnTo>
                <a:lnTo>
                  <a:pt x="8858" y="11120"/>
                </a:lnTo>
                <a:lnTo>
                  <a:pt x="8833" y="11169"/>
                </a:lnTo>
                <a:lnTo>
                  <a:pt x="8833" y="11193"/>
                </a:lnTo>
                <a:lnTo>
                  <a:pt x="8858" y="11242"/>
                </a:lnTo>
                <a:lnTo>
                  <a:pt x="9052" y="11315"/>
                </a:lnTo>
                <a:lnTo>
                  <a:pt x="9223" y="11363"/>
                </a:lnTo>
                <a:lnTo>
                  <a:pt x="9588" y="11485"/>
                </a:lnTo>
                <a:lnTo>
                  <a:pt x="9782" y="11558"/>
                </a:lnTo>
                <a:lnTo>
                  <a:pt x="9490" y="11996"/>
                </a:lnTo>
                <a:lnTo>
                  <a:pt x="9344" y="11923"/>
                </a:lnTo>
                <a:lnTo>
                  <a:pt x="9223" y="11874"/>
                </a:lnTo>
                <a:lnTo>
                  <a:pt x="8931" y="11801"/>
                </a:lnTo>
                <a:lnTo>
                  <a:pt x="8566" y="11704"/>
                </a:lnTo>
                <a:lnTo>
                  <a:pt x="8371" y="11655"/>
                </a:lnTo>
                <a:lnTo>
                  <a:pt x="8176" y="11655"/>
                </a:lnTo>
                <a:lnTo>
                  <a:pt x="8103" y="11680"/>
                </a:lnTo>
                <a:lnTo>
                  <a:pt x="8079" y="11728"/>
                </a:lnTo>
                <a:lnTo>
                  <a:pt x="8055" y="11801"/>
                </a:lnTo>
                <a:lnTo>
                  <a:pt x="8103" y="11850"/>
                </a:lnTo>
                <a:lnTo>
                  <a:pt x="8249" y="11947"/>
                </a:lnTo>
                <a:lnTo>
                  <a:pt x="8395" y="12045"/>
                </a:lnTo>
                <a:lnTo>
                  <a:pt x="8736" y="12166"/>
                </a:lnTo>
                <a:lnTo>
                  <a:pt x="8979" y="12239"/>
                </a:lnTo>
                <a:lnTo>
                  <a:pt x="9247" y="12312"/>
                </a:lnTo>
                <a:lnTo>
                  <a:pt x="9004" y="12629"/>
                </a:lnTo>
                <a:lnTo>
                  <a:pt x="8712" y="12580"/>
                </a:lnTo>
                <a:lnTo>
                  <a:pt x="8420" y="12531"/>
                </a:lnTo>
                <a:lnTo>
                  <a:pt x="8201" y="12458"/>
                </a:lnTo>
                <a:lnTo>
                  <a:pt x="8006" y="12361"/>
                </a:lnTo>
                <a:lnTo>
                  <a:pt x="7787" y="12239"/>
                </a:lnTo>
                <a:lnTo>
                  <a:pt x="7592" y="12142"/>
                </a:lnTo>
                <a:lnTo>
                  <a:pt x="7544" y="12142"/>
                </a:lnTo>
                <a:lnTo>
                  <a:pt x="7495" y="12166"/>
                </a:lnTo>
                <a:lnTo>
                  <a:pt x="7495" y="12215"/>
                </a:lnTo>
                <a:lnTo>
                  <a:pt x="7471" y="12264"/>
                </a:lnTo>
                <a:lnTo>
                  <a:pt x="7519" y="12385"/>
                </a:lnTo>
                <a:lnTo>
                  <a:pt x="7592" y="12507"/>
                </a:lnTo>
                <a:lnTo>
                  <a:pt x="7690" y="12604"/>
                </a:lnTo>
                <a:lnTo>
                  <a:pt x="7811" y="12677"/>
                </a:lnTo>
                <a:lnTo>
                  <a:pt x="8055" y="12823"/>
                </a:lnTo>
                <a:lnTo>
                  <a:pt x="8298" y="12921"/>
                </a:lnTo>
                <a:lnTo>
                  <a:pt x="8493" y="12994"/>
                </a:lnTo>
                <a:lnTo>
                  <a:pt x="8687" y="13018"/>
                </a:lnTo>
                <a:lnTo>
                  <a:pt x="8371" y="13407"/>
                </a:lnTo>
                <a:lnTo>
                  <a:pt x="8274" y="13310"/>
                </a:lnTo>
                <a:lnTo>
                  <a:pt x="8152" y="13261"/>
                </a:lnTo>
                <a:lnTo>
                  <a:pt x="7909" y="13188"/>
                </a:lnTo>
                <a:lnTo>
                  <a:pt x="7471" y="12994"/>
                </a:lnTo>
                <a:lnTo>
                  <a:pt x="7252" y="12921"/>
                </a:lnTo>
                <a:lnTo>
                  <a:pt x="7033" y="12896"/>
                </a:lnTo>
                <a:lnTo>
                  <a:pt x="7008" y="12896"/>
                </a:lnTo>
                <a:lnTo>
                  <a:pt x="7008" y="12945"/>
                </a:lnTo>
                <a:lnTo>
                  <a:pt x="7057" y="13042"/>
                </a:lnTo>
                <a:lnTo>
                  <a:pt x="7130" y="13115"/>
                </a:lnTo>
                <a:lnTo>
                  <a:pt x="7300" y="13261"/>
                </a:lnTo>
                <a:lnTo>
                  <a:pt x="7495" y="13359"/>
                </a:lnTo>
                <a:lnTo>
                  <a:pt x="7690" y="13456"/>
                </a:lnTo>
                <a:lnTo>
                  <a:pt x="7909" y="13578"/>
                </a:lnTo>
                <a:lnTo>
                  <a:pt x="8006" y="13626"/>
                </a:lnTo>
                <a:lnTo>
                  <a:pt x="8128" y="13675"/>
                </a:lnTo>
                <a:lnTo>
                  <a:pt x="7836" y="14016"/>
                </a:lnTo>
                <a:lnTo>
                  <a:pt x="7665" y="13967"/>
                </a:lnTo>
                <a:lnTo>
                  <a:pt x="7179" y="13724"/>
                </a:lnTo>
                <a:lnTo>
                  <a:pt x="6814" y="13553"/>
                </a:lnTo>
                <a:lnTo>
                  <a:pt x="6619" y="13480"/>
                </a:lnTo>
                <a:lnTo>
                  <a:pt x="6424" y="13480"/>
                </a:lnTo>
                <a:lnTo>
                  <a:pt x="6400" y="13505"/>
                </a:lnTo>
                <a:lnTo>
                  <a:pt x="6400" y="13553"/>
                </a:lnTo>
                <a:lnTo>
                  <a:pt x="6449" y="13651"/>
                </a:lnTo>
                <a:lnTo>
                  <a:pt x="6497" y="13724"/>
                </a:lnTo>
                <a:lnTo>
                  <a:pt x="6595" y="13821"/>
                </a:lnTo>
                <a:lnTo>
                  <a:pt x="6692" y="13894"/>
                </a:lnTo>
                <a:lnTo>
                  <a:pt x="6887" y="14016"/>
                </a:lnTo>
                <a:lnTo>
                  <a:pt x="7081" y="14137"/>
                </a:lnTo>
                <a:lnTo>
                  <a:pt x="7276" y="14235"/>
                </a:lnTo>
                <a:lnTo>
                  <a:pt x="7519" y="14381"/>
                </a:lnTo>
                <a:lnTo>
                  <a:pt x="7106" y="14843"/>
                </a:lnTo>
                <a:lnTo>
                  <a:pt x="6814" y="14697"/>
                </a:lnTo>
                <a:lnTo>
                  <a:pt x="6546" y="14527"/>
                </a:lnTo>
                <a:lnTo>
                  <a:pt x="6376" y="14405"/>
                </a:lnTo>
                <a:lnTo>
                  <a:pt x="6230" y="14259"/>
                </a:lnTo>
                <a:lnTo>
                  <a:pt x="6157" y="14162"/>
                </a:lnTo>
                <a:lnTo>
                  <a:pt x="6035" y="14064"/>
                </a:lnTo>
                <a:lnTo>
                  <a:pt x="5962" y="14064"/>
                </a:lnTo>
                <a:lnTo>
                  <a:pt x="5913" y="14089"/>
                </a:lnTo>
                <a:lnTo>
                  <a:pt x="5840" y="14186"/>
                </a:lnTo>
                <a:lnTo>
                  <a:pt x="5840" y="14283"/>
                </a:lnTo>
                <a:lnTo>
                  <a:pt x="5865" y="14381"/>
                </a:lnTo>
                <a:lnTo>
                  <a:pt x="5913" y="14478"/>
                </a:lnTo>
                <a:lnTo>
                  <a:pt x="6059" y="14673"/>
                </a:lnTo>
                <a:lnTo>
                  <a:pt x="6205" y="14794"/>
                </a:lnTo>
                <a:lnTo>
                  <a:pt x="6449" y="15013"/>
                </a:lnTo>
                <a:lnTo>
                  <a:pt x="6595" y="15135"/>
                </a:lnTo>
                <a:lnTo>
                  <a:pt x="6765" y="15208"/>
                </a:lnTo>
                <a:lnTo>
                  <a:pt x="6132" y="15816"/>
                </a:lnTo>
                <a:lnTo>
                  <a:pt x="5986" y="15573"/>
                </a:lnTo>
                <a:lnTo>
                  <a:pt x="5792" y="15354"/>
                </a:lnTo>
                <a:lnTo>
                  <a:pt x="5402" y="14916"/>
                </a:lnTo>
                <a:lnTo>
                  <a:pt x="5013" y="14527"/>
                </a:lnTo>
                <a:lnTo>
                  <a:pt x="4818" y="14332"/>
                </a:lnTo>
                <a:lnTo>
                  <a:pt x="4648" y="14113"/>
                </a:lnTo>
                <a:lnTo>
                  <a:pt x="4332" y="13724"/>
                </a:lnTo>
                <a:lnTo>
                  <a:pt x="3991" y="13359"/>
                </a:lnTo>
                <a:lnTo>
                  <a:pt x="3310" y="12629"/>
                </a:lnTo>
                <a:lnTo>
                  <a:pt x="2969" y="12264"/>
                </a:lnTo>
                <a:lnTo>
                  <a:pt x="2653" y="11874"/>
                </a:lnTo>
                <a:lnTo>
                  <a:pt x="2361" y="11485"/>
                </a:lnTo>
                <a:lnTo>
                  <a:pt x="2069" y="11071"/>
                </a:lnTo>
                <a:lnTo>
                  <a:pt x="1704" y="10439"/>
                </a:lnTo>
                <a:lnTo>
                  <a:pt x="1363" y="9757"/>
                </a:lnTo>
                <a:lnTo>
                  <a:pt x="1096" y="9052"/>
                </a:lnTo>
                <a:lnTo>
                  <a:pt x="974" y="8711"/>
                </a:lnTo>
                <a:lnTo>
                  <a:pt x="877" y="8346"/>
                </a:lnTo>
                <a:lnTo>
                  <a:pt x="779" y="7981"/>
                </a:lnTo>
                <a:lnTo>
                  <a:pt x="706" y="7616"/>
                </a:lnTo>
                <a:lnTo>
                  <a:pt x="633" y="7251"/>
                </a:lnTo>
                <a:lnTo>
                  <a:pt x="609" y="6862"/>
                </a:lnTo>
                <a:lnTo>
                  <a:pt x="585" y="6497"/>
                </a:lnTo>
                <a:lnTo>
                  <a:pt x="585" y="6132"/>
                </a:lnTo>
                <a:lnTo>
                  <a:pt x="585" y="5743"/>
                </a:lnTo>
                <a:lnTo>
                  <a:pt x="609" y="5378"/>
                </a:lnTo>
                <a:lnTo>
                  <a:pt x="682" y="4988"/>
                </a:lnTo>
                <a:lnTo>
                  <a:pt x="755" y="4599"/>
                </a:lnTo>
                <a:lnTo>
                  <a:pt x="877" y="4210"/>
                </a:lnTo>
                <a:lnTo>
                  <a:pt x="1023" y="3845"/>
                </a:lnTo>
                <a:lnTo>
                  <a:pt x="1193" y="3504"/>
                </a:lnTo>
                <a:lnTo>
                  <a:pt x="1363" y="3163"/>
                </a:lnTo>
                <a:lnTo>
                  <a:pt x="1582" y="2823"/>
                </a:lnTo>
                <a:lnTo>
                  <a:pt x="1826" y="2506"/>
                </a:lnTo>
                <a:lnTo>
                  <a:pt x="2093" y="2214"/>
                </a:lnTo>
                <a:lnTo>
                  <a:pt x="2361" y="1947"/>
                </a:lnTo>
                <a:lnTo>
                  <a:pt x="2653" y="1679"/>
                </a:lnTo>
                <a:lnTo>
                  <a:pt x="2969" y="1460"/>
                </a:lnTo>
                <a:lnTo>
                  <a:pt x="3310" y="1241"/>
                </a:lnTo>
                <a:lnTo>
                  <a:pt x="3650" y="1047"/>
                </a:lnTo>
                <a:lnTo>
                  <a:pt x="4015" y="901"/>
                </a:lnTo>
                <a:lnTo>
                  <a:pt x="4405" y="755"/>
                </a:lnTo>
                <a:lnTo>
                  <a:pt x="4770" y="657"/>
                </a:lnTo>
                <a:lnTo>
                  <a:pt x="5159" y="584"/>
                </a:lnTo>
                <a:lnTo>
                  <a:pt x="5524" y="536"/>
                </a:lnTo>
                <a:close/>
                <a:moveTo>
                  <a:pt x="5646" y="0"/>
                </a:moveTo>
                <a:lnTo>
                  <a:pt x="5256" y="49"/>
                </a:lnTo>
                <a:lnTo>
                  <a:pt x="4843" y="98"/>
                </a:lnTo>
                <a:lnTo>
                  <a:pt x="4453" y="195"/>
                </a:lnTo>
                <a:lnTo>
                  <a:pt x="4088" y="317"/>
                </a:lnTo>
                <a:lnTo>
                  <a:pt x="3723" y="438"/>
                </a:lnTo>
                <a:lnTo>
                  <a:pt x="3359" y="609"/>
                </a:lnTo>
                <a:lnTo>
                  <a:pt x="2994" y="803"/>
                </a:lnTo>
                <a:lnTo>
                  <a:pt x="2653" y="998"/>
                </a:lnTo>
                <a:lnTo>
                  <a:pt x="2337" y="1241"/>
                </a:lnTo>
                <a:lnTo>
                  <a:pt x="2020" y="1509"/>
                </a:lnTo>
                <a:lnTo>
                  <a:pt x="1728" y="1776"/>
                </a:lnTo>
                <a:lnTo>
                  <a:pt x="1461" y="2093"/>
                </a:lnTo>
                <a:lnTo>
                  <a:pt x="1193" y="2409"/>
                </a:lnTo>
                <a:lnTo>
                  <a:pt x="925" y="2798"/>
                </a:lnTo>
                <a:lnTo>
                  <a:pt x="682" y="3188"/>
                </a:lnTo>
                <a:lnTo>
                  <a:pt x="487" y="3601"/>
                </a:lnTo>
                <a:lnTo>
                  <a:pt x="341" y="4015"/>
                </a:lnTo>
                <a:lnTo>
                  <a:pt x="220" y="4453"/>
                </a:lnTo>
                <a:lnTo>
                  <a:pt x="122" y="4891"/>
                </a:lnTo>
                <a:lnTo>
                  <a:pt x="49" y="5329"/>
                </a:lnTo>
                <a:lnTo>
                  <a:pt x="25" y="5791"/>
                </a:lnTo>
                <a:lnTo>
                  <a:pt x="1" y="6254"/>
                </a:lnTo>
                <a:lnTo>
                  <a:pt x="25" y="6692"/>
                </a:lnTo>
                <a:lnTo>
                  <a:pt x="74" y="7154"/>
                </a:lnTo>
                <a:lnTo>
                  <a:pt x="122" y="7616"/>
                </a:lnTo>
                <a:lnTo>
                  <a:pt x="220" y="8054"/>
                </a:lnTo>
                <a:lnTo>
                  <a:pt x="317" y="8492"/>
                </a:lnTo>
                <a:lnTo>
                  <a:pt x="463" y="8930"/>
                </a:lnTo>
                <a:lnTo>
                  <a:pt x="609" y="9368"/>
                </a:lnTo>
                <a:lnTo>
                  <a:pt x="779" y="9806"/>
                </a:lnTo>
                <a:lnTo>
                  <a:pt x="974" y="10244"/>
                </a:lnTo>
                <a:lnTo>
                  <a:pt x="1193" y="10682"/>
                </a:lnTo>
                <a:lnTo>
                  <a:pt x="1412" y="11096"/>
                </a:lnTo>
                <a:lnTo>
                  <a:pt x="1680" y="11509"/>
                </a:lnTo>
                <a:lnTo>
                  <a:pt x="1947" y="11899"/>
                </a:lnTo>
                <a:lnTo>
                  <a:pt x="2239" y="12288"/>
                </a:lnTo>
                <a:lnTo>
                  <a:pt x="2531" y="12677"/>
                </a:lnTo>
                <a:lnTo>
                  <a:pt x="2969" y="13213"/>
                </a:lnTo>
                <a:lnTo>
                  <a:pt x="3407" y="13748"/>
                </a:lnTo>
                <a:lnTo>
                  <a:pt x="3626" y="14040"/>
                </a:lnTo>
                <a:lnTo>
                  <a:pt x="3869" y="14283"/>
                </a:lnTo>
                <a:lnTo>
                  <a:pt x="4113" y="14527"/>
                </a:lnTo>
                <a:lnTo>
                  <a:pt x="4380" y="14746"/>
                </a:lnTo>
                <a:lnTo>
                  <a:pt x="4502" y="14867"/>
                </a:lnTo>
                <a:lnTo>
                  <a:pt x="4697" y="15086"/>
                </a:lnTo>
                <a:lnTo>
                  <a:pt x="5159" y="15622"/>
                </a:lnTo>
                <a:lnTo>
                  <a:pt x="5621" y="16133"/>
                </a:lnTo>
                <a:lnTo>
                  <a:pt x="5792" y="16303"/>
                </a:lnTo>
                <a:lnTo>
                  <a:pt x="5865" y="16352"/>
                </a:lnTo>
                <a:lnTo>
                  <a:pt x="5913" y="16352"/>
                </a:lnTo>
                <a:lnTo>
                  <a:pt x="6084" y="16327"/>
                </a:lnTo>
                <a:lnTo>
                  <a:pt x="6230" y="16279"/>
                </a:lnTo>
                <a:lnTo>
                  <a:pt x="6351" y="16230"/>
                </a:lnTo>
                <a:lnTo>
                  <a:pt x="6473" y="16157"/>
                </a:lnTo>
                <a:lnTo>
                  <a:pt x="6716" y="15962"/>
                </a:lnTo>
                <a:lnTo>
                  <a:pt x="6911" y="15743"/>
                </a:lnTo>
                <a:lnTo>
                  <a:pt x="8176" y="14259"/>
                </a:lnTo>
                <a:lnTo>
                  <a:pt x="8833" y="13480"/>
                </a:lnTo>
                <a:lnTo>
                  <a:pt x="9466" y="12677"/>
                </a:lnTo>
                <a:lnTo>
                  <a:pt x="10074" y="11874"/>
                </a:lnTo>
                <a:lnTo>
                  <a:pt x="10634" y="11023"/>
                </a:lnTo>
                <a:lnTo>
                  <a:pt x="10877" y="10609"/>
                </a:lnTo>
                <a:lnTo>
                  <a:pt x="11121" y="10195"/>
                </a:lnTo>
                <a:lnTo>
                  <a:pt x="11340" y="9782"/>
                </a:lnTo>
                <a:lnTo>
                  <a:pt x="11534" y="9344"/>
                </a:lnTo>
                <a:lnTo>
                  <a:pt x="11704" y="8930"/>
                </a:lnTo>
                <a:lnTo>
                  <a:pt x="11875" y="8492"/>
                </a:lnTo>
                <a:lnTo>
                  <a:pt x="12021" y="8030"/>
                </a:lnTo>
                <a:lnTo>
                  <a:pt x="12118" y="7592"/>
                </a:lnTo>
                <a:lnTo>
                  <a:pt x="12215" y="7130"/>
                </a:lnTo>
                <a:lnTo>
                  <a:pt x="12264" y="6667"/>
                </a:lnTo>
                <a:lnTo>
                  <a:pt x="12288" y="6205"/>
                </a:lnTo>
                <a:lnTo>
                  <a:pt x="12288" y="5743"/>
                </a:lnTo>
                <a:lnTo>
                  <a:pt x="12240" y="5280"/>
                </a:lnTo>
                <a:lnTo>
                  <a:pt x="12167" y="4818"/>
                </a:lnTo>
                <a:lnTo>
                  <a:pt x="12045" y="4380"/>
                </a:lnTo>
                <a:lnTo>
                  <a:pt x="11899" y="3918"/>
                </a:lnTo>
                <a:lnTo>
                  <a:pt x="11729" y="3528"/>
                </a:lnTo>
                <a:lnTo>
                  <a:pt x="11534" y="3163"/>
                </a:lnTo>
                <a:lnTo>
                  <a:pt x="11315" y="2798"/>
                </a:lnTo>
                <a:lnTo>
                  <a:pt x="11096" y="2458"/>
                </a:lnTo>
                <a:lnTo>
                  <a:pt x="10829" y="2141"/>
                </a:lnTo>
                <a:lnTo>
                  <a:pt x="10537" y="1825"/>
                </a:lnTo>
                <a:lnTo>
                  <a:pt x="10245" y="1557"/>
                </a:lnTo>
                <a:lnTo>
                  <a:pt x="9928" y="1290"/>
                </a:lnTo>
                <a:lnTo>
                  <a:pt x="9588" y="1047"/>
                </a:lnTo>
                <a:lnTo>
                  <a:pt x="9223" y="828"/>
                </a:lnTo>
                <a:lnTo>
                  <a:pt x="8858" y="633"/>
                </a:lnTo>
                <a:lnTo>
                  <a:pt x="8493" y="463"/>
                </a:lnTo>
                <a:lnTo>
                  <a:pt x="8103" y="317"/>
                </a:lnTo>
                <a:lnTo>
                  <a:pt x="7714" y="195"/>
                </a:lnTo>
                <a:lnTo>
                  <a:pt x="7300" y="98"/>
                </a:lnTo>
                <a:lnTo>
                  <a:pt x="6887" y="49"/>
                </a:lnTo>
                <a:lnTo>
                  <a:pt x="6473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18303" y="2161026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8338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glamour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Eglamour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808d36-874f-4b27-aec2-2fd649817929" xsi:nil="true"/>
    <lcf76f155ced4ddcb4097134ff3c332f xmlns="f2466082-b6bf-4153-98c3-3c41e85fda1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6C3B06-D285-43E9-BDBC-6D9F92A37136}"/>
</file>

<file path=customXml/itemProps2.xml><?xml version="1.0" encoding="utf-8"?>
<ds:datastoreItem xmlns:ds="http://schemas.openxmlformats.org/officeDocument/2006/customXml" ds:itemID="{326CE710-A902-4782-88C8-87AB82C50BFF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dc808d36-874f-4b27-aec2-2fd649817929"/>
    <ds:schemaRef ds:uri="http://schemas.microsoft.com/office/infopath/2007/PartnerControls"/>
    <ds:schemaRef ds:uri="http://schemas.openxmlformats.org/package/2006/metadata/core-properties"/>
    <ds:schemaRef ds:uri="ba2e8617-29ee-40b9-b822-c9e0f853d80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B2CA712-DB8D-4621-B2A5-2B37108E04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3047</TotalTime>
  <Words>995</Words>
  <Application>Microsoft Office PowerPoint</Application>
  <PresentationFormat>On-screen Show (16:9)</PresentationFormat>
  <Paragraphs>138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Calibri</vt:lpstr>
      <vt:lpstr>Lato Hairline</vt:lpstr>
      <vt:lpstr>Lato Light</vt:lpstr>
      <vt:lpstr>Roboto Slab</vt:lpstr>
      <vt:lpstr>Segoe UI</vt:lpstr>
      <vt:lpstr>Times New Roman</vt:lpstr>
      <vt:lpstr>Trade Gothic</vt:lpstr>
      <vt:lpstr>Office Theme</vt:lpstr>
      <vt:lpstr>Eglamour template</vt:lpstr>
      <vt:lpstr>1_Eglamour template</vt:lpstr>
      <vt:lpstr>Review of Contract Articles and Budget Management</vt:lpstr>
      <vt:lpstr>Contract Articles</vt:lpstr>
      <vt:lpstr>Period of Performance</vt:lpstr>
      <vt:lpstr>Contents of Sub-award</vt:lpstr>
      <vt:lpstr>Type of Award and Award Amount</vt:lpstr>
      <vt:lpstr>Substantial Involvement</vt:lpstr>
      <vt:lpstr>Total Estimated Award</vt:lpstr>
      <vt:lpstr>Obligated Funds</vt:lpstr>
      <vt:lpstr>Indirect Costs</vt:lpstr>
      <vt:lpstr>Advance &amp; Payments</vt:lpstr>
      <vt:lpstr>PowerPoint Presentation</vt:lpstr>
      <vt:lpstr>Branding and Marking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Federal Rules and Regulations:</dc:title>
  <dc:creator>Abigail Shepard- Moore</dc:creator>
  <cp:lastModifiedBy>Danielle Martin</cp:lastModifiedBy>
  <cp:revision>87</cp:revision>
  <dcterms:created xsi:type="dcterms:W3CDTF">2019-06-24T13:16:26Z</dcterms:created>
  <dcterms:modified xsi:type="dcterms:W3CDTF">2023-01-25T19:48:07Z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0x01010071960EB616B91245AC8F3E8FF0F4BA78</vt:lpwstr>
  </property>
  <property fmtid="{D5CDD505-2E9C-101B-9397-08002B2CF9AE}" pid="3" name="Order">
    <vt:r8>13945400</vt:r8>
  </property>
</Properties>
</file>