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4" r:id="rId5"/>
    <p:sldMasterId id="2147483671" r:id="rId6"/>
  </p:sldMasterIdLst>
  <p:notesMasterIdLst>
    <p:notesMasterId r:id="rId28"/>
  </p:notesMasterIdLst>
  <p:sldIdLst>
    <p:sldId id="257" r:id="rId7"/>
    <p:sldId id="266" r:id="rId8"/>
    <p:sldId id="263" r:id="rId9"/>
    <p:sldId id="311" r:id="rId10"/>
    <p:sldId id="312" r:id="rId11"/>
    <p:sldId id="313" r:id="rId12"/>
    <p:sldId id="314" r:id="rId13"/>
    <p:sldId id="316" r:id="rId14"/>
    <p:sldId id="287" r:id="rId15"/>
    <p:sldId id="315" r:id="rId16"/>
    <p:sldId id="267" r:id="rId17"/>
    <p:sldId id="268" r:id="rId18"/>
    <p:sldId id="318" r:id="rId19"/>
    <p:sldId id="269" r:id="rId20"/>
    <p:sldId id="317" r:id="rId21"/>
    <p:sldId id="291" r:id="rId22"/>
    <p:sldId id="271" r:id="rId23"/>
    <p:sldId id="272" r:id="rId24"/>
    <p:sldId id="292" r:id="rId25"/>
    <p:sldId id="282" r:id="rId26"/>
    <p:sldId id="290" r:id="rId2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E58"/>
    <a:srgbClr val="5FACB9"/>
    <a:srgbClr val="F8A15A"/>
    <a:srgbClr val="FCCFAA"/>
    <a:srgbClr val="00B2D0"/>
    <a:srgbClr val="00C9DA"/>
    <a:srgbClr val="8BCBC0"/>
    <a:srgbClr val="75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D9593-4CA5-451D-B1B2-98B28B165DDF}" v="47" dt="2020-01-09T13:32:50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24" autoAdjust="0"/>
    <p:restoredTop sz="81784" autoAdjust="0"/>
  </p:normalViewPr>
  <p:slideViewPr>
    <p:cSldViewPr>
      <p:cViewPr>
        <p:scale>
          <a:sx n="73" d="100"/>
          <a:sy n="73" d="100"/>
        </p:scale>
        <p:origin x="905" y="389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Verganza" userId="ffc5f8f4-b46c-4eb7-ad0a-4bc869c58a2c" providerId="ADAL" clId="{061D9593-4CA5-451D-B1B2-98B28B165DDF}"/>
    <pc:docChg chg="undo custSel addSld modSld">
      <pc:chgData name="Stephanie Verganza" userId="ffc5f8f4-b46c-4eb7-ad0a-4bc869c58a2c" providerId="ADAL" clId="{061D9593-4CA5-451D-B1B2-98B28B165DDF}" dt="2020-01-09T13:33:05.552" v="355" actId="20577"/>
      <pc:docMkLst>
        <pc:docMk/>
      </pc:docMkLst>
      <pc:sldChg chg="modSp add">
        <pc:chgData name="Stephanie Verganza" userId="ffc5f8f4-b46c-4eb7-ad0a-4bc869c58a2c" providerId="ADAL" clId="{061D9593-4CA5-451D-B1B2-98B28B165DDF}" dt="2020-01-09T00:30:51.150" v="1" actId="20577"/>
        <pc:sldMkLst>
          <pc:docMk/>
          <pc:sldMk cId="1256478544" sldId="286"/>
        </pc:sldMkLst>
        <pc:spChg chg="mod">
          <ac:chgData name="Stephanie Verganza" userId="ffc5f8f4-b46c-4eb7-ad0a-4bc869c58a2c" providerId="ADAL" clId="{061D9593-4CA5-451D-B1B2-98B28B165DDF}" dt="2020-01-09T00:30:51.150" v="1" actId="20577"/>
          <ac:spMkLst>
            <pc:docMk/>
            <pc:sldMk cId="1256478544" sldId="286"/>
            <ac:spMk id="67" creationId="{00000000-0000-0000-0000-000000000000}"/>
          </ac:spMkLst>
        </pc:spChg>
      </pc:sldChg>
      <pc:sldChg chg="addSp delSp modSp add modNotesTx">
        <pc:chgData name="Stephanie Verganza" userId="ffc5f8f4-b46c-4eb7-ad0a-4bc869c58a2c" providerId="ADAL" clId="{061D9593-4CA5-451D-B1B2-98B28B165DDF}" dt="2020-01-09T00:41:53.558" v="321" actId="20577"/>
        <pc:sldMkLst>
          <pc:docMk/>
          <pc:sldMk cId="1922730267" sldId="287"/>
        </pc:sldMkLst>
        <pc:spChg chg="add del mod">
          <ac:chgData name="Stephanie Verganza" userId="ffc5f8f4-b46c-4eb7-ad0a-4bc869c58a2c" providerId="ADAL" clId="{061D9593-4CA5-451D-B1B2-98B28B165DDF}" dt="2020-01-09T00:34:16.269" v="70" actId="20577"/>
          <ac:spMkLst>
            <pc:docMk/>
            <pc:sldMk cId="1922730267" sldId="287"/>
            <ac:spMk id="6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00:33:37.612" v="59" actId="20577"/>
          <ac:spMkLst>
            <pc:docMk/>
            <pc:sldMk cId="1922730267" sldId="287"/>
            <ac:spMk id="199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00:41:12.773" v="313" actId="313"/>
          <ac:spMkLst>
            <pc:docMk/>
            <pc:sldMk cId="1922730267" sldId="287"/>
            <ac:spMk id="200" creationId="{00000000-0000-0000-0000-000000000000}"/>
          </ac:spMkLst>
        </pc:spChg>
      </pc:sldChg>
      <pc:sldChg chg="modSp add modNotesTx">
        <pc:chgData name="Stephanie Verganza" userId="ffc5f8f4-b46c-4eb7-ad0a-4bc869c58a2c" providerId="ADAL" clId="{061D9593-4CA5-451D-B1B2-98B28B165DDF}" dt="2020-01-09T13:33:05.552" v="355" actId="20577"/>
        <pc:sldMkLst>
          <pc:docMk/>
          <pc:sldMk cId="3085414058" sldId="288"/>
        </pc:sldMkLst>
        <pc:spChg chg="mod">
          <ac:chgData name="Stephanie Verganza" userId="ffc5f8f4-b46c-4eb7-ad0a-4bc869c58a2c" providerId="ADAL" clId="{061D9593-4CA5-451D-B1B2-98B28B165DDF}" dt="2020-01-09T13:32:22.940" v="349" actId="20577"/>
          <ac:spMkLst>
            <pc:docMk/>
            <pc:sldMk cId="3085414058" sldId="288"/>
            <ac:spMk id="6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13:33:05.552" v="355" actId="20577"/>
          <ac:spMkLst>
            <pc:docMk/>
            <pc:sldMk cId="3085414058" sldId="288"/>
            <ac:spMk id="7" creationId="{00000000-0000-0000-0000-000000000000}"/>
          </ac:spMkLst>
        </pc:spChg>
        <pc:spChg chg="mod">
          <ac:chgData name="Stephanie Verganza" userId="ffc5f8f4-b46c-4eb7-ad0a-4bc869c58a2c" providerId="ADAL" clId="{061D9593-4CA5-451D-B1B2-98B28B165DDF}" dt="2020-01-09T13:32:04.622" v="338" actId="207"/>
          <ac:spMkLst>
            <pc:docMk/>
            <pc:sldMk cId="3085414058" sldId="288"/>
            <ac:spMk id="2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03F82-69B2-4E0B-BA84-A107AD31EA49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1F323-6A80-4D1A-89AA-49486A57E6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3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8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313537"/>
                </a:solidFill>
                <a:effectLst/>
                <a:latin typeface="Merriweathe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Conflicts of interest do occur and there is no crime in having a conflict of interest. The problem is in not declaring it. For this reason, it is important to be able to recognize a conflict of interest and to take the correct steps when you identify one. </a:t>
            </a:r>
            <a:endParaRPr lang="en-US" sz="2000" dirty="0"/>
          </a:p>
          <a:p>
            <a:endParaRPr lang="en-US" sz="2000" dirty="0"/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800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313537"/>
                </a:solidFill>
                <a:effectLst/>
                <a:latin typeface="Merriweather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Conflicts of interest do occur and there is no crime in having a conflict of interest. The problem is in not declaring it. For this reason, it is important to be able to recognize a conflict of interest and to take the correct steps when you identify one. </a:t>
            </a:r>
            <a:endParaRPr lang="en-US" sz="2000" dirty="0"/>
          </a:p>
          <a:p>
            <a:endParaRPr lang="en-US" sz="2000" dirty="0"/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246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258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92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aseline="0" dirty="0">
                <a:latin typeface="Trade Gothic" panose="02000503020000020004" pitchFamily="2" charset="0"/>
              </a:rPr>
              <a:t>Suspended or debarred entities or individuals are excluded from receiving any new work or any additional U.S. Government funding for the duration of the exclusion period</a:t>
            </a:r>
          </a:p>
          <a:p>
            <a:r>
              <a: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XVIII. DEBARMENT AND SUSPENSION (page 92)</a:t>
            </a:r>
          </a:p>
          <a:p>
            <a:r>
              <a:rPr lang="en-US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list contains those individuals and entities that the U.S. Government has suspended or debarred based on misconduct or a determination by the U.S. Government that the person or entity cannot be trusted to safeguard funds</a:t>
            </a:r>
            <a:endParaRPr lang="en-US" sz="2000" dirty="0"/>
          </a:p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aseline="0" dirty="0">
              <a:latin typeface="Trade Gothic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997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236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latin typeface="Trade Gothic" panose="02000503020000020004" pitchFamily="2" charset="0"/>
              </a:rPr>
              <a:t>Detailed record of procurement process:</a:t>
            </a:r>
          </a:p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000" baseline="0" dirty="0">
                <a:latin typeface="Trade Gothic" panose="02000503020000020004" pitchFamily="2" charset="0"/>
              </a:rPr>
              <a:t>Rationale for method of procurement</a:t>
            </a:r>
          </a:p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000" baseline="0" dirty="0">
                <a:latin typeface="Trade Gothic" panose="02000503020000020004" pitchFamily="2" charset="0"/>
              </a:rPr>
              <a:t>Selection of contract type</a:t>
            </a:r>
          </a:p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000" baseline="0" dirty="0">
                <a:latin typeface="Trade Gothic" panose="02000503020000020004" pitchFamily="2" charset="0"/>
              </a:rPr>
              <a:t>Contractor selection or rejection</a:t>
            </a:r>
          </a:p>
          <a:p>
            <a:pPr marL="3429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2000" baseline="0" dirty="0">
                <a:latin typeface="Trade Gothic" panose="02000503020000020004" pitchFamily="2" charset="0"/>
              </a:rPr>
              <a:t>Cost and price analysis to determine price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344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Micro-purchases- </a:t>
            </a:r>
            <a:r>
              <a:rPr lang="en-US" dirty="0"/>
              <a:t>Acquisition of supplies/ services, does not exceed the micro-purchase threshold.  May be awarded without soliciting competitive quotations if price is reasonable.</a:t>
            </a:r>
          </a:p>
          <a:p>
            <a:endParaRPr lang="en-US" dirty="0"/>
          </a:p>
          <a:p>
            <a:r>
              <a:rPr lang="en-US" b="1" dirty="0"/>
              <a:t>Small purchase - </a:t>
            </a:r>
            <a:r>
              <a:rPr lang="en-US" dirty="0"/>
              <a:t>Relatively simple and informal procurement method.</a:t>
            </a:r>
            <a:r>
              <a:rPr lang="en-US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Non-Federal entities adopt small purchase procedures in order to expedite the purchase of items costing less than the simplified acquisition threshold.</a:t>
            </a:r>
            <a:r>
              <a:rPr lang="en-US" dirty="0"/>
              <a:t> Seek offers from reasonable # of sources (3 generally used). </a:t>
            </a:r>
          </a:p>
          <a:p>
            <a:endParaRPr lang="en-US" dirty="0"/>
          </a:p>
          <a:p>
            <a:r>
              <a:rPr lang="en-US" b="1" dirty="0"/>
              <a:t>Sealed bids (formal advertising)</a:t>
            </a:r>
            <a:r>
              <a:rPr lang="en-US" dirty="0"/>
              <a:t> - Publicly solicited and firm fixed price contract (lump sum or unit price) awarded to lowest bid (reasonable + responsive). Preferred method for procuring construction. Bids opened on specified time and place. </a:t>
            </a:r>
          </a:p>
          <a:p>
            <a:endParaRPr lang="en-US" dirty="0"/>
          </a:p>
          <a:p>
            <a:r>
              <a:rPr lang="en-US" b="1" dirty="0"/>
              <a:t>Competitive proposals - </a:t>
            </a:r>
            <a:r>
              <a:rPr lang="en-US" dirty="0"/>
              <a:t>More than one source submits an offer, and either a fixed price or cost-reimbursement type contract is awarded. Generally used when conditions are not appropriate for the use of sealed bids.</a:t>
            </a:r>
          </a:p>
          <a:p>
            <a:endParaRPr lang="en-US" dirty="0"/>
          </a:p>
          <a:p>
            <a:r>
              <a:rPr lang="en-US" b="1" dirty="0"/>
              <a:t>Noncompetitive proposals - </a:t>
            </a:r>
            <a:r>
              <a:rPr lang="en-US" dirty="0"/>
              <a:t>Solicitation of a proposal from only one source if:</a:t>
            </a:r>
          </a:p>
          <a:p>
            <a:r>
              <a:rPr lang="en-US" dirty="0"/>
              <a:t>-</a:t>
            </a:r>
            <a:r>
              <a:rPr lang="en-US" baseline="0" dirty="0"/>
              <a:t> T</a:t>
            </a:r>
            <a:r>
              <a:rPr lang="en-US" dirty="0"/>
              <a:t>he item is available only from a single source;</a:t>
            </a:r>
          </a:p>
          <a:p>
            <a:r>
              <a:rPr lang="en-US" dirty="0"/>
              <a:t>- The public exigency or emergency for the requirement will not permit a delay resulting from competitive solicitation;</a:t>
            </a:r>
          </a:p>
          <a:p>
            <a:r>
              <a:rPr lang="en-US" dirty="0"/>
              <a:t>- The Federal awarding agency or pass-through entity expressly authorizes noncompetitive proposals; or</a:t>
            </a:r>
          </a:p>
          <a:p>
            <a:r>
              <a:rPr lang="en-US" dirty="0"/>
              <a:t>- After solicitation of a number of sources, competition is determined inadequate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148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7067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baseline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2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93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6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4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6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6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91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6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7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95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87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5" y="1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6"/>
            <a:ext cx="5250300" cy="1159801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7233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976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 Hairline"/>
              <a:buNone/>
              <a:defRPr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×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4229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682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608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109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3" y="0"/>
            <a:ext cx="4095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208125" y="3287225"/>
            <a:ext cx="5250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 Light"/>
              <a:buNone/>
              <a:defRPr sz="50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5816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483350" y="836125"/>
            <a:ext cx="4177200" cy="34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2400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2400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24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558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293406" y="2211825"/>
            <a:ext cx="2675100" cy="26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×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×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2378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89775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2415136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4340497" y="2312475"/>
            <a:ext cx="1831500" cy="2613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×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×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97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3621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4297650" y="444797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262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3C591-59DC-4018-8F9B-DC064D3F1B80}" type="datetimeFigureOut">
              <a:rPr lang="en-US" smtClean="0"/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2E89-3652-49D8-B08D-2B87096A29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3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 dirty="0"/>
          </a:p>
        </p:txBody>
      </p:sp>
    </p:spTree>
    <p:extLst>
      <p:ext uri="{BB962C8B-B14F-4D97-AF65-F5344CB8AC3E}">
        <p14:creationId xmlns:p14="http://schemas.microsoft.com/office/powerpoint/2010/main" val="34543645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348975"/>
            <a:ext cx="551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44400"/>
            <a:ext cx="5511300" cy="26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×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●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○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Lato Light"/>
              <a:buChar char="■"/>
              <a:defRPr sz="18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algn="r">
              <a:buNone/>
              <a:defRPr sz="18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 dirty="0"/>
          </a:p>
        </p:txBody>
      </p:sp>
    </p:spTree>
    <p:extLst>
      <p:ext uri="{BB962C8B-B14F-4D97-AF65-F5344CB8AC3E}">
        <p14:creationId xmlns:p14="http://schemas.microsoft.com/office/powerpoint/2010/main" val="953175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76" r:id="rId4"/>
    <p:sldLayoutId id="2147483677" r:id="rId5"/>
    <p:sldLayoutId id="214748367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ecfr.gov/current/title-2/subtitle-A/chapter-II/part-200/subpart-D/subject-group-ECFR45ddd4419ad436d/section-200.31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cfr.gov/current/title-2/subtitle-A/chapter-II/part-200/subpart-C/section-200.214" TargetMode="External"/><Relationship Id="rId3" Type="http://schemas.openxmlformats.org/officeDocument/2006/relationships/image" Target="../media/image4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scsanctions.un.org/search/" TargetMode="External"/><Relationship Id="rId5" Type="http://schemas.openxmlformats.org/officeDocument/2006/relationships/hyperlink" Target="https://sanctionssearch.ofac.treas.gov/" TargetMode="External"/><Relationship Id="rId4" Type="http://schemas.openxmlformats.org/officeDocument/2006/relationships/hyperlink" Target="http://www.sam.gov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snet107.sharepoint.com/:f:/s/External/Ei6aMOYW8uZMqTcm9IxIXk8B0BiT6NqSwL8zRyQ8fY29dw?e=qNynO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18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ecfr.gov/current/title-2/subtitle-A/chapter-II/part-200/subpart-D/subject-group-ECFR45ddd4419ad436d/section-200.31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ecfr.gov/current/title-2/subtitle-A/chapter-II/part-200/subpart-D/subject-group-ECFR45ddd4419ad436d/section-200.31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info.gov/app/details/CFR-2014-title2-vol1/CFR-2014-title2-vol1-sec200-6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ecfr.gov/current/title-2/subtitle-A/chapter-II/part-200/subpart-D/subject-group-ECFR45ddd4419ad436d/section-200.320" TargetMode="Externa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ecfr.gov/current/title-2/subtitle-A/chapter-II/part-200/subpart-D/subject-group-ECFR45ddd4419ad436d/section-200.320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ecfr.gov/current/title-2/subtitle-A/chapter-II/part-200/subpart-D/subject-group-ECFR8feb98c2e3e5ad2/section-200.31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nersnet107.sharepoint.com/:x:/s/External/EYxAd0NwsNRGnhN6V4n100IBHR5ez1qQq_cj2zP6y1TpiA?e=58DgOX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www.ecfr.gov/current/title-2/subtitle-A/chapter-II/part-200/subpart-D/subject-group-ECFR8feb98c2e3e5ad2/section-200.313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ecfr.gov/current/title-2/subtitle-A/chapter-II/part-200/subpart-D/subject-group-ECFR4acc10e7e3b676f/section-200.334" TargetMode="Externa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133600" y="1504950"/>
            <a:ext cx="6768773" cy="24353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Federal Rules and Regulations: Procurement, Inventory &amp; Record Retention</a:t>
            </a:r>
            <a:br>
              <a:rPr lang="en-US" sz="36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</a:br>
            <a:endParaRPr sz="4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5854826" y="4262520"/>
            <a:ext cx="29718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952" y="4347705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spect="1"/>
          </p:cNvSpPr>
          <p:nvPr/>
        </p:nvSpPr>
        <p:spPr>
          <a:xfrm>
            <a:off x="4608095" y="63364"/>
            <a:ext cx="3970254" cy="4113972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959226" y="3181350"/>
            <a:ext cx="5867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new Code of Federal Regulations (2 CFR 200)</a:t>
            </a:r>
          </a:p>
        </p:txBody>
      </p:sp>
    </p:spTree>
    <p:extLst>
      <p:ext uri="{BB962C8B-B14F-4D97-AF65-F5344CB8AC3E}">
        <p14:creationId xmlns:p14="http://schemas.microsoft.com/office/powerpoint/2010/main" val="396357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Procurement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60198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Definition: </a:t>
            </a: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process of obtaining goods, supplies, and services in a way that prevents conflict of interest and facilitates open and free competition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000" b="1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Applies to any acquisition of goods, activities, or services based on organizational thresholds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400" b="1" dirty="0"/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43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83059" y="1912324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Code of Conduct for Procurement</a:t>
            </a:r>
            <a:endParaRPr sz="4000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24444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Ethical Conduct for Procurement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60198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Subrecipient must have a formal ethical code of conduct for procurements </a:t>
            </a:r>
          </a:p>
          <a:p>
            <a:pPr marL="628650" lvl="1" indent="-171450" algn="just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Code of conduct must include disciplinary actions to be applied for violations of the code</a:t>
            </a: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1. Checks and Balances</a:t>
            </a:r>
            <a:endParaRPr lang="en-US" b="1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Separation of duties throughout the procurement process must be strictly enforced</a:t>
            </a:r>
          </a:p>
          <a:p>
            <a:pPr marL="457200" lvl="1" indent="0" algn="just">
              <a:lnSpc>
                <a:spcPct val="150000"/>
              </a:lnSpc>
              <a:buClr>
                <a:schemeClr val="tx1"/>
              </a:buClr>
              <a:buNone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2. </a:t>
            </a: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Confidentiality</a:t>
            </a:r>
            <a:endParaRPr lang="en-US" b="1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Staff participating in a procurement process must not disclose information related to provider quotes, bids/proposals, or other sensitive information – need to know basis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99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Ethical Conduct for Procurement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200150"/>
            <a:ext cx="6019800" cy="3579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3. Conf</a:t>
            </a:r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lict of Interest</a:t>
            </a:r>
          </a:p>
          <a:p>
            <a:pPr marL="171450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Any situation where a provider may be perceived to be shown unfair favoritism due to a relationship or other connection to an employee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Financial conflicts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: financial interest in a potential provider/bidder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Personal conflicts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: friend/family member who works for, or interest in provider 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Employment offers</a:t>
            </a: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:  job offer or was a former employee of a potential provider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Any other fact or situation where there is a division of loyalty</a:t>
            </a:r>
          </a:p>
          <a:p>
            <a:pPr marL="171450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All procurement decisions must be made impartially </a:t>
            </a:r>
          </a:p>
          <a:p>
            <a:pPr marL="171450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Employees are responsible for disclosing known or suspected conflicts of interest, whether actual or perceived to their supervisor or project director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4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Exercise – Conflict of Interest?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5"/>
            <a:ext cx="5791200" cy="324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The procurement committee is meeting to consider bids for a bulk purchase of new computers. John is a supplier who has submitted a bid. He will receive a nice bonus from his company if his bid is accepted.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Fred sits on the procurement committee and is an old school friend of John, although they haven’t been in touch for some time. Is there a conflict of interest? 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685800" lvl="1" indent="-228600" algn="just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Yes, both John and Fred have a potential conflict of interest</a:t>
            </a:r>
          </a:p>
          <a:p>
            <a:pPr marL="685800" lvl="1" indent="-228600" algn="just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John has a potential conflict of interest</a:t>
            </a:r>
          </a:p>
          <a:p>
            <a:pPr marL="685800" lvl="1" indent="-228600" algn="just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Fred has a potential conflict of interest</a:t>
            </a:r>
          </a:p>
          <a:p>
            <a:pPr marL="685800" lvl="1" indent="-228600" algn="just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Neither John or Fred have a potential conflict of interest 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7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5449" y="10287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Ethical Conduct for Procurement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354454"/>
            <a:ext cx="5867400" cy="3789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4. Gratuities from Suppliers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Sub-recipients</a:t>
            </a: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 are prohibited from soliciting or accepting money, loans, credits, entertainment, favors, services, or gifts from current or prospective suppliers, </a:t>
            </a:r>
            <a:r>
              <a:rPr lang="en-US" sz="1200" u="sng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regardless of amount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2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5. Free and Open Competition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Sub-recipients must encourage free and open competition to maximum extent possible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Reduce unfair competitive advantage (vendors who help develop scope of work cannot bid)</a:t>
            </a:r>
          </a:p>
          <a:p>
            <a:pPr marL="628650" lvl="1" indent="-17145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Create clear evaluation criteria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4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2400" y="-95250"/>
            <a:ext cx="776935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General Procurement Standards</a:t>
            </a:r>
            <a:endParaRPr lang="en-US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04800" y="971550"/>
            <a:ext cx="5866686" cy="3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Purchase must comply with organization’s written policy on procurement</a:t>
            </a:r>
          </a:p>
          <a:p>
            <a:pPr marL="228600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Purchases are necessary and not duplicative </a:t>
            </a:r>
          </a:p>
          <a:p>
            <a:pPr marL="685800" lvl="1" indent="-2286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Consider consolidating or breaking out procurements for more economical purchase</a:t>
            </a:r>
          </a:p>
          <a:p>
            <a:pPr marL="685800" lvl="1" indent="-2286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Consider lease versus purchase alternatives</a:t>
            </a:r>
          </a:p>
          <a:p>
            <a:pPr marL="228600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Use of common or shared goods and services</a:t>
            </a:r>
          </a:p>
          <a:p>
            <a:pPr marL="742950" lvl="1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i.e., Negotiate organizational contract to receive bulk discount</a:t>
            </a:r>
          </a:p>
          <a:p>
            <a:pPr marL="228600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Only provide contracts to responsible contractors (compliance checks)</a:t>
            </a:r>
          </a:p>
          <a:p>
            <a:pPr marL="685800" lvl="1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Contractor integrity, </a:t>
            </a:r>
          </a:p>
          <a:p>
            <a:pPr marL="685800" lvl="1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Compliance with public policy, </a:t>
            </a:r>
          </a:p>
          <a:p>
            <a:pPr marL="685800" lvl="1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Record of past performance, and </a:t>
            </a:r>
          </a:p>
          <a:p>
            <a:pPr marL="685800" lvl="1" indent="-228600">
              <a:lnSpc>
                <a:spcPct val="150000"/>
              </a:lnSpc>
              <a:buClrTx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Financial and technical resources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692617"/>
            <a:ext cx="2590800" cy="4286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49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52400" y="217421"/>
            <a:ext cx="602311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Suspension &amp; Debarment (Compliance Checks)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228600" y="1486401"/>
            <a:ext cx="6019800" cy="3686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Subrecipient must not transact or conduct business under award with any individual or entity that has an active exclusion on:</a:t>
            </a:r>
          </a:p>
          <a:p>
            <a:pPr marL="800100" lvl="1" indent="-342900"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for Award Management</a:t>
            </a: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Subrecipient must not engage in transactions with, or provide resources or support to, individuals and organizations associated with terrorism by running a compliance check on:</a:t>
            </a:r>
          </a:p>
          <a:p>
            <a:pPr marL="800100" lvl="1" indent="-342900"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Specially Designated Nationals and Blocked Persons List  </a:t>
            </a: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6"/>
              </a:rPr>
              <a:t>United Nations Security designation list </a:t>
            </a: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conduct all three screenings on any person or entity receiving federal funding to ensure compliance for </a:t>
            </a:r>
            <a:r>
              <a:rPr lang="en-US" sz="1400" u="sng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any amount of money</a:t>
            </a: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prstClr val="black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b="1" u="sng" kern="1200" dirty="0">
                <a:solidFill>
                  <a:prstClr val="black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run compliance checks before transaction occurs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400" b="1" dirty="0"/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1057776"/>
            <a:ext cx="2590800" cy="428625"/>
          </a:xfrm>
          <a:prstGeom prst="rect">
            <a:avLst/>
          </a:prstGeom>
          <a:solidFill>
            <a:schemeClr val="accent3">
              <a:lumMod val="7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8"/>
              </a:rPr>
              <a:t>2 CFR 200.214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3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90800" y="2114550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Procurement Minimum Requirements</a:t>
            </a:r>
            <a:endParaRPr sz="4000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115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55448" y="1354455"/>
            <a:ext cx="6169152" cy="34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Basic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7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Requirements:</a:t>
            </a:r>
          </a:p>
          <a:p>
            <a:pPr marL="742950" lvl="1" indent="-28575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Detailed record of history of procurement</a:t>
            </a:r>
          </a:p>
          <a:p>
            <a:pPr marL="1200150" lvl="2" indent="-28575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Rationale for procurement method</a:t>
            </a:r>
          </a:p>
          <a:p>
            <a:pPr marL="1200150" lvl="2" indent="-28575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Contract type selection</a:t>
            </a:r>
          </a:p>
          <a:p>
            <a:pPr marL="1200150" lvl="2" indent="-28575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Contractor selection/rejection </a:t>
            </a:r>
          </a:p>
          <a:p>
            <a:pPr marL="1200150" lvl="2" indent="-285750">
              <a:spcAft>
                <a:spcPts val="6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Cost and price analysis to determine price </a:t>
            </a:r>
          </a:p>
          <a:p>
            <a:pPr marL="742950" lvl="1" indent="-285750"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Oversight of contractors to ensure compliance</a:t>
            </a:r>
          </a:p>
          <a:p>
            <a:pPr marL="457200" lvl="1" indent="0">
              <a:spcAft>
                <a:spcPts val="1200"/>
              </a:spcAft>
              <a:buClrTx/>
              <a:buSzPct val="106000"/>
              <a:buNone/>
            </a:pPr>
            <a:r>
              <a:rPr lang="en-US" sz="1800" dirty="0">
                <a:solidFill>
                  <a:schemeClr val="tx1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hlinkClick r:id="rId3"/>
              </a:rPr>
              <a:t>Example procurement memos that contain the required information</a:t>
            </a:r>
            <a:endParaRPr lang="en-US" sz="1800" dirty="0">
              <a:solidFill>
                <a:schemeClr val="tx1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ClrTx/>
              <a:buSzPct val="106000"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kern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Procurement</a:t>
            </a:r>
            <a:endParaRPr lang="en-US" sz="3600" kern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2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-77981" y="1080336"/>
            <a:ext cx="6783581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Full and open competition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without any unfair advantage</a:t>
            </a:r>
          </a:p>
          <a:p>
            <a:pPr>
              <a:spcBef>
                <a:spcPts val="0"/>
              </a:spcBef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Situations considered to be restrictive of competition: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Unreasonable requirements on firms to qualify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Requiring unnecessary experience or bonding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Noncompetitive pricing practices 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Noncompetitive contracts to consultants on retainers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Organizational conflicts of interest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Specifying only a “brand name” product instead allowing “equal to”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Any arbitrary action in the procurement process</a:t>
            </a:r>
          </a:p>
          <a:p>
            <a:pPr lvl="1">
              <a:lnSpc>
                <a:spcPct val="150000"/>
              </a:lnSpc>
              <a:buClrTx/>
              <a:buFont typeface="Lao UI" panose="020B0502040204020203" pitchFamily="34" charset="0"/>
              <a:buChar char="−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Use of statutorily or administratively imposed state, local, or tribal geographical preferences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400" b="1" dirty="0"/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66675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/>
              </a:rPr>
              <a:t>2 CFR 200.319</a:t>
            </a:r>
            <a:endParaRPr lang="en-US" dirty="0"/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15503" y="-168668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kern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Competition</a:t>
            </a:r>
            <a:endParaRPr 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09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0" y="1047750"/>
            <a:ext cx="65532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Written procedures for procurement transactions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request for proposal or quotes must:</a:t>
            </a:r>
          </a:p>
          <a:p>
            <a:pPr lvl="1">
              <a:lnSpc>
                <a:spcPct val="150000"/>
              </a:lnSpc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Have a clear and accurate description of the technical requirements for the material, product, or service</a:t>
            </a:r>
          </a:p>
          <a:p>
            <a:pPr lvl="2">
              <a:lnSpc>
                <a:spcPct val="150000"/>
              </a:lnSpc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May include a statement of the qualitative nature or</a:t>
            </a:r>
          </a:p>
          <a:p>
            <a:pPr lvl="2">
              <a:lnSpc>
                <a:spcPct val="150000"/>
              </a:lnSpc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Minimum characteristics and standards </a:t>
            </a:r>
          </a:p>
          <a:p>
            <a:pPr lvl="1">
              <a:lnSpc>
                <a:spcPct val="150000"/>
              </a:lnSpc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Identify all requirements which the bidders must fulfill and all other factors used to evaluate proposals/quotes</a:t>
            </a:r>
            <a:endParaRPr lang="en-US" sz="1500" dirty="0">
              <a:solidFill>
                <a:schemeClr val="accent6">
                  <a:lumMod val="75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1400" b="1" dirty="0"/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-228600" y="66675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4"/>
              </a:rPr>
              <a:t>2 CFR 200.319</a:t>
            </a:r>
            <a:endParaRPr lang="en-US" dirty="0"/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15503" y="-168668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kern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Competition</a:t>
            </a:r>
            <a:endParaRPr 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88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-76200" y="1290430"/>
            <a:ext cx="6780276" cy="37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Micro-purchase threshold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2 CFR 200.67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Means purchase of supplies or services using simplified procedures</a:t>
            </a:r>
          </a:p>
          <a:p>
            <a:pPr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Small purchase contracts must have:</a:t>
            </a:r>
            <a:endParaRPr lang="en-US" sz="16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Wingdings" panose="05000000000000000000" pitchFamily="2" charset="2"/>
            </a:endParaRP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Must have written price or rate quotations - generally 3 quotes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Memo to justify the process 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Competitive Proposals contracts must have: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Publicized request &amp; identify all evaluation factors and their importance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Written price or rate quotations - generally 3 quotes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Written method for conducting technical evaluations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Memo to justify the process</a:t>
            </a:r>
          </a:p>
          <a:p>
            <a:pPr lvl="1"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Most advantageous with price and other factors considered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Methods of Procurement</a:t>
            </a:r>
            <a:endParaRPr lang="en-US" sz="3600" kern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03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77722" y="1202055"/>
            <a:ext cx="6178561" cy="37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ClrTx/>
              <a:buSzPct val="106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Procurement by noncompetitive proposals. Procurement by noncompetitive proposals is procurement through solicitation of a proposal from only one source and may be used only when one or more of the following circumstances apply:</a:t>
            </a:r>
          </a:p>
          <a:p>
            <a:pPr marL="952500" lvl="1" indent="-342900">
              <a:spcAft>
                <a:spcPts val="1000"/>
              </a:spcAft>
              <a:buClrTx/>
              <a:buSzPct val="106000"/>
              <a:buFont typeface="+mj-lt"/>
              <a:buAutoNum type="arabicPeriod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Item is below the organization’s micro-purchase threshold</a:t>
            </a:r>
          </a:p>
          <a:p>
            <a:pPr marL="952500" lvl="1" indent="-342900">
              <a:spcAft>
                <a:spcPts val="1000"/>
              </a:spcAft>
              <a:buClrTx/>
              <a:buSzPct val="106000"/>
              <a:buFont typeface="+mj-lt"/>
              <a:buAutoNum type="arabicPeriod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item is available only from a single source;</a:t>
            </a:r>
          </a:p>
          <a:p>
            <a:pPr marL="952500" lvl="1" indent="-342900">
              <a:spcAft>
                <a:spcPts val="1000"/>
              </a:spcAft>
              <a:buClrTx/>
              <a:buSzPct val="106000"/>
              <a:buFont typeface="+mj-lt"/>
              <a:buAutoNum type="arabicPeriod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public exigency or emergency for the requirement will not permit a delay resulting from competitive solicitation;</a:t>
            </a:r>
          </a:p>
          <a:p>
            <a:pPr marL="952500" lvl="1" indent="-342900">
              <a:spcAft>
                <a:spcPts val="1000"/>
              </a:spcAft>
              <a:buClrTx/>
              <a:buSzPct val="106000"/>
              <a:buFont typeface="+mj-lt"/>
              <a:buAutoNum type="arabicPeriod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Federal awarding agency or POA expressly authorizes noncompetitive proposals in response to a written request from the sub-recipient; or</a:t>
            </a:r>
          </a:p>
          <a:p>
            <a:pPr marL="952500" lvl="1" indent="-342900">
              <a:spcAft>
                <a:spcPts val="1000"/>
              </a:spcAft>
              <a:buClrTx/>
              <a:buSzPct val="106000"/>
              <a:buFont typeface="+mj-lt"/>
              <a:buAutoNum type="arabicPeriod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After solicitation of a number of sources, competition is determined inadequate.</a:t>
            </a:r>
          </a:p>
        </p:txBody>
      </p:sp>
      <p:pic>
        <p:nvPicPr>
          <p:cNvPr id="102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99;p30"/>
          <p:cNvSpPr txBox="1">
            <a:spLocks/>
          </p:cNvSpPr>
          <p:nvPr/>
        </p:nvSpPr>
        <p:spPr>
          <a:xfrm>
            <a:off x="155447" y="-9525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Sole Source Procurement</a:t>
            </a:r>
            <a:endParaRPr lang="en-US" sz="3600" kern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52400" y="742950"/>
            <a:ext cx="3048000" cy="459105"/>
          </a:xfrm>
          <a:prstGeom prst="rect">
            <a:avLst/>
          </a:prstGeom>
          <a:solidFill>
            <a:schemeClr val="accent6">
              <a:lumMod val="60000"/>
              <a:lumOff val="4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hlinkClick r:id="rId4"/>
              </a:rPr>
              <a:t>2 CFR CFR 200.320(c)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5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83059" y="1912324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Inventory</a:t>
            </a:r>
            <a:endParaRPr sz="4000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4104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91440" y="1285875"/>
            <a:ext cx="5739900" cy="3500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Use:</a:t>
            </a:r>
            <a:r>
              <a:rPr lang="en-US" sz="17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All property acquired with federal funds must be used for the originally authorized purpose as long as needed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Cannot use supplies or equipment for non program activities </a:t>
            </a:r>
          </a:p>
          <a:p>
            <a:pPr>
              <a:buClrTx/>
            </a:pPr>
            <a:endParaRPr lang="en-US" sz="11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Disposition (end of project): </a:t>
            </a:r>
          </a:p>
          <a:p>
            <a:pPr marL="742950" lvl="1" indent="-285750">
              <a:buClrTx/>
              <a:buFont typeface="Segoe UI" panose="020B0502040204020203" pitchFamily="34" charset="0"/>
              <a:buChar char="−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Equipment—$5,000+ &amp; useful life of 1+ years</a:t>
            </a:r>
          </a:p>
          <a:p>
            <a:pPr marL="742950" lvl="1" indent="-285750">
              <a:buClrTx/>
              <a:buFont typeface="Segoe UI" panose="020B0502040204020203" pitchFamily="34" charset="0"/>
              <a:buChar char="−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Supplies—everything under $5,000 unit value</a:t>
            </a:r>
          </a:p>
          <a:p>
            <a:pPr marL="742950" lvl="1" indent="-285750">
              <a:buClrTx/>
              <a:buFont typeface="Segoe UI" panose="020B0502040204020203" pitchFamily="34" charset="0"/>
              <a:buChar char="−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Intangible Property—no physical existence (trademarks, copyrights, patents, etc.)</a:t>
            </a:r>
          </a:p>
        </p:txBody>
      </p:sp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590800" cy="428625"/>
          </a:xfrm>
          <a:prstGeom prst="rect">
            <a:avLst/>
          </a:prstGeom>
          <a:solidFill>
            <a:srgbClr val="5FACB9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>
                <a:hlinkClick r:id="rId4"/>
              </a:rPr>
              <a:t>2 CFR 200.313</a:t>
            </a:r>
            <a:endParaRPr lang="en-US" dirty="0"/>
          </a:p>
        </p:txBody>
      </p:sp>
      <p:sp>
        <p:nvSpPr>
          <p:cNvPr id="7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Inventory Management</a:t>
            </a:r>
            <a:endParaRPr 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594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39" y="1285875"/>
            <a:ext cx="6430131" cy="3559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b="1" u="sng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Definition:</a:t>
            </a:r>
            <a:r>
              <a:rPr lang="en-US" sz="17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 complete list of physical items such as equipment, supplies, or other property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Example of inventory list</a:t>
            </a: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The inventory threshold is set by the organizational policy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 physical inventory must be taken and the results reconciled with the records at least once every two years.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 control system must be developed to ensure adequate safeguards to prevent loss, damage, or theft of the property.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Any loss, damage, or theft must be investigated.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have adequate maintenance procedures</a:t>
            </a:r>
          </a:p>
        </p:txBody>
      </p:sp>
      <p:pic>
        <p:nvPicPr>
          <p:cNvPr id="9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228600" y="925830"/>
            <a:ext cx="2362200" cy="428625"/>
          </a:xfrm>
          <a:prstGeom prst="rect">
            <a:avLst/>
          </a:prstGeom>
          <a:solidFill>
            <a:srgbClr val="DEAE58">
              <a:alpha val="8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200.313</a:t>
            </a:r>
            <a:endParaRPr lang="en-US" dirty="0"/>
          </a:p>
        </p:txBody>
      </p:sp>
      <p:sp>
        <p:nvSpPr>
          <p:cNvPr id="6" name="Google Shape;199;p30"/>
          <p:cNvSpPr txBox="1">
            <a:spLocks/>
          </p:cNvSpPr>
          <p:nvPr/>
        </p:nvSpPr>
        <p:spPr>
          <a:xfrm>
            <a:off x="155449" y="102870"/>
            <a:ext cx="602311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Lato Hairline"/>
              <a:buNone/>
              <a:defRPr sz="4800" b="0" i="0" u="none" strike="noStrike" cap="none">
                <a:solidFill>
                  <a:srgbClr val="434343"/>
                </a:solidFill>
                <a:latin typeface="Lato Hairline"/>
                <a:ea typeface="Lato Hairline"/>
                <a:cs typeface="Lato Hairline"/>
                <a:sym typeface="Lato Hairli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Inventory Register</a:t>
            </a:r>
            <a:endParaRPr 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51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2406766" y="293314"/>
            <a:ext cx="4347714" cy="4505097"/>
          </a:xfrm>
          <a:prstGeom prst="rect">
            <a:avLst/>
          </a:prstGeom>
          <a:blipFill dpi="0"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ctrTitle" idx="4294967295"/>
          </p:nvPr>
        </p:nvSpPr>
        <p:spPr>
          <a:xfrm>
            <a:off x="2583059" y="1912324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Lato Light"/>
              </a:rPr>
              <a:t>Record Retention</a:t>
            </a:r>
            <a:endParaRPr sz="4000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51917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:\USAID649_F2F 2018-2023 Caribbean Region\Program Management\Public Relations &amp; Outreach\Logos\POA\Partners Logos\Partners-Logo_Whit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1" y="3853070"/>
            <a:ext cx="2561557" cy="46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65;p14"/>
          <p:cNvSpPr txBox="1">
            <a:spLocks noGrp="1"/>
          </p:cNvSpPr>
          <p:nvPr>
            <p:ph type="title"/>
          </p:nvPr>
        </p:nvSpPr>
        <p:spPr>
          <a:xfrm>
            <a:off x="457200" y="174909"/>
            <a:ext cx="551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Record Retention</a:t>
            </a:r>
            <a:endParaRPr sz="3600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81000" y="1352550"/>
            <a:ext cx="5864352" cy="3530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Designates the appropriate length of time to maintain official records and accounting records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Must maintain financial records, supporting documents, and other records for a minimum of 3 years </a:t>
            </a:r>
            <a:r>
              <a:rPr lang="en-US" sz="1700" b="1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 country </a:t>
            </a: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from the date of submission of the final expenditure report</a:t>
            </a:r>
          </a:p>
          <a:p>
            <a:pPr marL="0" indent="0">
              <a:buClrTx/>
              <a:buNone/>
            </a:pPr>
            <a:endParaRPr lang="en-US" sz="1700" dirty="0">
              <a:solidFill>
                <a:schemeClr val="tx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Follow local record retention law (can be longer)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3693DC-D92F-8E1B-8039-0DE9636E113E}"/>
              </a:ext>
            </a:extLst>
          </p:cNvPr>
          <p:cNvSpPr/>
          <p:nvPr/>
        </p:nvSpPr>
        <p:spPr>
          <a:xfrm>
            <a:off x="-228600" y="978117"/>
            <a:ext cx="2590800" cy="428625"/>
          </a:xfrm>
          <a:prstGeom prst="rect">
            <a:avLst/>
          </a:prstGeom>
          <a:solidFill>
            <a:schemeClr val="accent5">
              <a:lumMod val="75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5"/>
              </a:rPr>
              <a:t>2 CFR 200.334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49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2656932" y="632797"/>
            <a:ext cx="3590142" cy="3720102"/>
          </a:xfrm>
          <a:prstGeom prst="rect">
            <a:avLst/>
          </a:prstGeom>
          <a:blipFill dpi="0"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32" t="-7587" r="-633108" b="-25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n-US" sz="1400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930997" y="3495599"/>
            <a:ext cx="113397" cy="150888"/>
          </a:xfrm>
          <a:custGeom>
            <a:avLst/>
            <a:gdLst/>
            <a:ahLst/>
            <a:cxnLst/>
            <a:rect l="l" t="t" r="r" b="b"/>
            <a:pathLst>
              <a:path w="12289" h="16352" extrusionOk="0">
                <a:moveTo>
                  <a:pt x="6303" y="3991"/>
                </a:moveTo>
                <a:lnTo>
                  <a:pt x="6546" y="4015"/>
                </a:lnTo>
                <a:lnTo>
                  <a:pt x="6789" y="4064"/>
                </a:lnTo>
                <a:lnTo>
                  <a:pt x="7008" y="4137"/>
                </a:lnTo>
                <a:lnTo>
                  <a:pt x="7252" y="4234"/>
                </a:lnTo>
                <a:lnTo>
                  <a:pt x="7446" y="4356"/>
                </a:lnTo>
                <a:lnTo>
                  <a:pt x="7665" y="4502"/>
                </a:lnTo>
                <a:lnTo>
                  <a:pt x="7836" y="4672"/>
                </a:lnTo>
                <a:lnTo>
                  <a:pt x="8030" y="4842"/>
                </a:lnTo>
                <a:lnTo>
                  <a:pt x="8176" y="5037"/>
                </a:lnTo>
                <a:lnTo>
                  <a:pt x="8322" y="5256"/>
                </a:lnTo>
                <a:lnTo>
                  <a:pt x="8468" y="5475"/>
                </a:lnTo>
                <a:lnTo>
                  <a:pt x="8566" y="5718"/>
                </a:lnTo>
                <a:lnTo>
                  <a:pt x="8639" y="5986"/>
                </a:lnTo>
                <a:lnTo>
                  <a:pt x="8712" y="6229"/>
                </a:lnTo>
                <a:lnTo>
                  <a:pt x="8736" y="6473"/>
                </a:lnTo>
                <a:lnTo>
                  <a:pt x="8712" y="6716"/>
                </a:lnTo>
                <a:lnTo>
                  <a:pt x="8687" y="6959"/>
                </a:lnTo>
                <a:lnTo>
                  <a:pt x="8639" y="7178"/>
                </a:lnTo>
                <a:lnTo>
                  <a:pt x="8541" y="7397"/>
                </a:lnTo>
                <a:lnTo>
                  <a:pt x="8444" y="7592"/>
                </a:lnTo>
                <a:lnTo>
                  <a:pt x="8322" y="7787"/>
                </a:lnTo>
                <a:lnTo>
                  <a:pt x="8152" y="7981"/>
                </a:lnTo>
                <a:lnTo>
                  <a:pt x="7982" y="8152"/>
                </a:lnTo>
                <a:lnTo>
                  <a:pt x="7811" y="8298"/>
                </a:lnTo>
                <a:lnTo>
                  <a:pt x="7592" y="8419"/>
                </a:lnTo>
                <a:lnTo>
                  <a:pt x="7373" y="8517"/>
                </a:lnTo>
                <a:lnTo>
                  <a:pt x="7130" y="8614"/>
                </a:lnTo>
                <a:lnTo>
                  <a:pt x="6887" y="8687"/>
                </a:lnTo>
                <a:lnTo>
                  <a:pt x="6668" y="8711"/>
                </a:lnTo>
                <a:lnTo>
                  <a:pt x="6424" y="8736"/>
                </a:lnTo>
                <a:lnTo>
                  <a:pt x="6205" y="8736"/>
                </a:lnTo>
                <a:lnTo>
                  <a:pt x="5986" y="8711"/>
                </a:lnTo>
                <a:lnTo>
                  <a:pt x="5743" y="8663"/>
                </a:lnTo>
                <a:lnTo>
                  <a:pt x="5524" y="8614"/>
                </a:lnTo>
                <a:lnTo>
                  <a:pt x="5305" y="8541"/>
                </a:lnTo>
                <a:lnTo>
                  <a:pt x="5110" y="8444"/>
                </a:lnTo>
                <a:lnTo>
                  <a:pt x="4891" y="8346"/>
                </a:lnTo>
                <a:lnTo>
                  <a:pt x="4697" y="8225"/>
                </a:lnTo>
                <a:lnTo>
                  <a:pt x="4502" y="8103"/>
                </a:lnTo>
                <a:lnTo>
                  <a:pt x="4332" y="7957"/>
                </a:lnTo>
                <a:lnTo>
                  <a:pt x="4186" y="7787"/>
                </a:lnTo>
                <a:lnTo>
                  <a:pt x="4015" y="7616"/>
                </a:lnTo>
                <a:lnTo>
                  <a:pt x="3894" y="7446"/>
                </a:lnTo>
                <a:lnTo>
                  <a:pt x="3772" y="7251"/>
                </a:lnTo>
                <a:lnTo>
                  <a:pt x="3723" y="7105"/>
                </a:lnTo>
                <a:lnTo>
                  <a:pt x="3650" y="6935"/>
                </a:lnTo>
                <a:lnTo>
                  <a:pt x="3602" y="6643"/>
                </a:lnTo>
                <a:lnTo>
                  <a:pt x="3577" y="6327"/>
                </a:lnTo>
                <a:lnTo>
                  <a:pt x="3602" y="6010"/>
                </a:lnTo>
                <a:lnTo>
                  <a:pt x="3699" y="5718"/>
                </a:lnTo>
                <a:lnTo>
                  <a:pt x="3821" y="5426"/>
                </a:lnTo>
                <a:lnTo>
                  <a:pt x="3967" y="5134"/>
                </a:lnTo>
                <a:lnTo>
                  <a:pt x="4161" y="4891"/>
                </a:lnTo>
                <a:lnTo>
                  <a:pt x="4332" y="4696"/>
                </a:lnTo>
                <a:lnTo>
                  <a:pt x="4551" y="4502"/>
                </a:lnTo>
                <a:lnTo>
                  <a:pt x="4794" y="4356"/>
                </a:lnTo>
                <a:lnTo>
                  <a:pt x="5037" y="4210"/>
                </a:lnTo>
                <a:lnTo>
                  <a:pt x="5062" y="4210"/>
                </a:lnTo>
                <a:lnTo>
                  <a:pt x="5110" y="4234"/>
                </a:lnTo>
                <a:lnTo>
                  <a:pt x="5232" y="4234"/>
                </a:lnTo>
                <a:lnTo>
                  <a:pt x="5305" y="4210"/>
                </a:lnTo>
                <a:lnTo>
                  <a:pt x="5548" y="4112"/>
                </a:lnTo>
                <a:lnTo>
                  <a:pt x="5816" y="4039"/>
                </a:lnTo>
                <a:lnTo>
                  <a:pt x="6059" y="4015"/>
                </a:lnTo>
                <a:lnTo>
                  <a:pt x="6303" y="3991"/>
                </a:lnTo>
                <a:close/>
                <a:moveTo>
                  <a:pt x="6254" y="3480"/>
                </a:moveTo>
                <a:lnTo>
                  <a:pt x="5986" y="3504"/>
                </a:lnTo>
                <a:lnTo>
                  <a:pt x="5694" y="3553"/>
                </a:lnTo>
                <a:lnTo>
                  <a:pt x="5427" y="3626"/>
                </a:lnTo>
                <a:lnTo>
                  <a:pt x="5305" y="3650"/>
                </a:lnTo>
                <a:lnTo>
                  <a:pt x="5183" y="3699"/>
                </a:lnTo>
                <a:lnTo>
                  <a:pt x="4916" y="3796"/>
                </a:lnTo>
                <a:lnTo>
                  <a:pt x="4599" y="3966"/>
                </a:lnTo>
                <a:lnTo>
                  <a:pt x="4283" y="4161"/>
                </a:lnTo>
                <a:lnTo>
                  <a:pt x="3991" y="4404"/>
                </a:lnTo>
                <a:lnTo>
                  <a:pt x="3748" y="4672"/>
                </a:lnTo>
                <a:lnTo>
                  <a:pt x="3529" y="4940"/>
                </a:lnTo>
                <a:lnTo>
                  <a:pt x="3359" y="5232"/>
                </a:lnTo>
                <a:lnTo>
                  <a:pt x="3237" y="5572"/>
                </a:lnTo>
                <a:lnTo>
                  <a:pt x="3164" y="5889"/>
                </a:lnTo>
                <a:lnTo>
                  <a:pt x="3115" y="6229"/>
                </a:lnTo>
                <a:lnTo>
                  <a:pt x="3140" y="6570"/>
                </a:lnTo>
                <a:lnTo>
                  <a:pt x="3188" y="6911"/>
                </a:lnTo>
                <a:lnTo>
                  <a:pt x="3261" y="7251"/>
                </a:lnTo>
                <a:lnTo>
                  <a:pt x="3383" y="7495"/>
                </a:lnTo>
                <a:lnTo>
                  <a:pt x="3529" y="7762"/>
                </a:lnTo>
                <a:lnTo>
                  <a:pt x="3699" y="7981"/>
                </a:lnTo>
                <a:lnTo>
                  <a:pt x="3869" y="8200"/>
                </a:lnTo>
                <a:lnTo>
                  <a:pt x="4088" y="8371"/>
                </a:lnTo>
                <a:lnTo>
                  <a:pt x="4307" y="8541"/>
                </a:lnTo>
                <a:lnTo>
                  <a:pt x="4551" y="8711"/>
                </a:lnTo>
                <a:lnTo>
                  <a:pt x="4794" y="8833"/>
                </a:lnTo>
                <a:lnTo>
                  <a:pt x="5062" y="8930"/>
                </a:lnTo>
                <a:lnTo>
                  <a:pt x="5329" y="9028"/>
                </a:lnTo>
                <a:lnTo>
                  <a:pt x="5597" y="9101"/>
                </a:lnTo>
                <a:lnTo>
                  <a:pt x="5889" y="9149"/>
                </a:lnTo>
                <a:lnTo>
                  <a:pt x="6181" y="9174"/>
                </a:lnTo>
                <a:lnTo>
                  <a:pt x="6449" y="9198"/>
                </a:lnTo>
                <a:lnTo>
                  <a:pt x="6741" y="9174"/>
                </a:lnTo>
                <a:lnTo>
                  <a:pt x="7008" y="9149"/>
                </a:lnTo>
                <a:lnTo>
                  <a:pt x="7325" y="9076"/>
                </a:lnTo>
                <a:lnTo>
                  <a:pt x="7617" y="8979"/>
                </a:lnTo>
                <a:lnTo>
                  <a:pt x="7884" y="8833"/>
                </a:lnTo>
                <a:lnTo>
                  <a:pt x="8128" y="8687"/>
                </a:lnTo>
                <a:lnTo>
                  <a:pt x="8347" y="8492"/>
                </a:lnTo>
                <a:lnTo>
                  <a:pt x="8541" y="8273"/>
                </a:lnTo>
                <a:lnTo>
                  <a:pt x="8712" y="8054"/>
                </a:lnTo>
                <a:lnTo>
                  <a:pt x="8858" y="7787"/>
                </a:lnTo>
                <a:lnTo>
                  <a:pt x="8979" y="7543"/>
                </a:lnTo>
                <a:lnTo>
                  <a:pt x="9052" y="7251"/>
                </a:lnTo>
                <a:lnTo>
                  <a:pt x="9125" y="6959"/>
                </a:lnTo>
                <a:lnTo>
                  <a:pt x="9150" y="6667"/>
                </a:lnTo>
                <a:lnTo>
                  <a:pt x="9150" y="6375"/>
                </a:lnTo>
                <a:lnTo>
                  <a:pt x="9125" y="6083"/>
                </a:lnTo>
                <a:lnTo>
                  <a:pt x="9052" y="5791"/>
                </a:lnTo>
                <a:lnTo>
                  <a:pt x="8955" y="5499"/>
                </a:lnTo>
                <a:lnTo>
                  <a:pt x="8858" y="5232"/>
                </a:lnTo>
                <a:lnTo>
                  <a:pt x="8712" y="4988"/>
                </a:lnTo>
                <a:lnTo>
                  <a:pt x="8566" y="4769"/>
                </a:lnTo>
                <a:lnTo>
                  <a:pt x="8395" y="4550"/>
                </a:lnTo>
                <a:lnTo>
                  <a:pt x="8201" y="4356"/>
                </a:lnTo>
                <a:lnTo>
                  <a:pt x="7982" y="4161"/>
                </a:lnTo>
                <a:lnTo>
                  <a:pt x="7763" y="3991"/>
                </a:lnTo>
                <a:lnTo>
                  <a:pt x="7544" y="3845"/>
                </a:lnTo>
                <a:lnTo>
                  <a:pt x="7300" y="3723"/>
                </a:lnTo>
                <a:lnTo>
                  <a:pt x="7033" y="3626"/>
                </a:lnTo>
                <a:lnTo>
                  <a:pt x="6789" y="3553"/>
                </a:lnTo>
                <a:lnTo>
                  <a:pt x="6522" y="3504"/>
                </a:lnTo>
                <a:lnTo>
                  <a:pt x="6254" y="3480"/>
                </a:lnTo>
                <a:close/>
                <a:moveTo>
                  <a:pt x="6303" y="536"/>
                </a:moveTo>
                <a:lnTo>
                  <a:pt x="6668" y="560"/>
                </a:lnTo>
                <a:lnTo>
                  <a:pt x="7033" y="633"/>
                </a:lnTo>
                <a:lnTo>
                  <a:pt x="7422" y="706"/>
                </a:lnTo>
                <a:lnTo>
                  <a:pt x="7763" y="828"/>
                </a:lnTo>
                <a:lnTo>
                  <a:pt x="8128" y="949"/>
                </a:lnTo>
                <a:lnTo>
                  <a:pt x="8468" y="1095"/>
                </a:lnTo>
                <a:lnTo>
                  <a:pt x="8809" y="1266"/>
                </a:lnTo>
                <a:lnTo>
                  <a:pt x="9125" y="1460"/>
                </a:lnTo>
                <a:lnTo>
                  <a:pt x="9442" y="1679"/>
                </a:lnTo>
                <a:lnTo>
                  <a:pt x="9734" y="1898"/>
                </a:lnTo>
                <a:lnTo>
                  <a:pt x="10026" y="2166"/>
                </a:lnTo>
                <a:lnTo>
                  <a:pt x="10050" y="2287"/>
                </a:lnTo>
                <a:lnTo>
                  <a:pt x="10074" y="2409"/>
                </a:lnTo>
                <a:lnTo>
                  <a:pt x="10196" y="2798"/>
                </a:lnTo>
                <a:lnTo>
                  <a:pt x="10220" y="2847"/>
                </a:lnTo>
                <a:lnTo>
                  <a:pt x="10269" y="2871"/>
                </a:lnTo>
                <a:lnTo>
                  <a:pt x="10342" y="2896"/>
                </a:lnTo>
                <a:lnTo>
                  <a:pt x="10391" y="2896"/>
                </a:lnTo>
                <a:lnTo>
                  <a:pt x="10439" y="2871"/>
                </a:lnTo>
                <a:lnTo>
                  <a:pt x="10464" y="2847"/>
                </a:lnTo>
                <a:lnTo>
                  <a:pt x="10488" y="2798"/>
                </a:lnTo>
                <a:lnTo>
                  <a:pt x="10512" y="2677"/>
                </a:lnTo>
                <a:lnTo>
                  <a:pt x="10585" y="2774"/>
                </a:lnTo>
                <a:lnTo>
                  <a:pt x="10537" y="3090"/>
                </a:lnTo>
                <a:lnTo>
                  <a:pt x="10537" y="3261"/>
                </a:lnTo>
                <a:lnTo>
                  <a:pt x="10561" y="3334"/>
                </a:lnTo>
                <a:lnTo>
                  <a:pt x="10610" y="3382"/>
                </a:lnTo>
                <a:lnTo>
                  <a:pt x="10634" y="3431"/>
                </a:lnTo>
                <a:lnTo>
                  <a:pt x="10683" y="3407"/>
                </a:lnTo>
                <a:lnTo>
                  <a:pt x="10756" y="3382"/>
                </a:lnTo>
                <a:lnTo>
                  <a:pt x="10804" y="3309"/>
                </a:lnTo>
                <a:lnTo>
                  <a:pt x="10877" y="3163"/>
                </a:lnTo>
                <a:lnTo>
                  <a:pt x="10877" y="3188"/>
                </a:lnTo>
                <a:lnTo>
                  <a:pt x="10950" y="3285"/>
                </a:lnTo>
                <a:lnTo>
                  <a:pt x="10853" y="3553"/>
                </a:lnTo>
                <a:lnTo>
                  <a:pt x="10804" y="3674"/>
                </a:lnTo>
                <a:lnTo>
                  <a:pt x="10756" y="3796"/>
                </a:lnTo>
                <a:lnTo>
                  <a:pt x="10756" y="3893"/>
                </a:lnTo>
                <a:lnTo>
                  <a:pt x="10804" y="4015"/>
                </a:lnTo>
                <a:lnTo>
                  <a:pt x="10829" y="4088"/>
                </a:lnTo>
                <a:lnTo>
                  <a:pt x="10902" y="4112"/>
                </a:lnTo>
                <a:lnTo>
                  <a:pt x="10975" y="4112"/>
                </a:lnTo>
                <a:lnTo>
                  <a:pt x="11023" y="4088"/>
                </a:lnTo>
                <a:lnTo>
                  <a:pt x="11096" y="4039"/>
                </a:lnTo>
                <a:lnTo>
                  <a:pt x="11169" y="3966"/>
                </a:lnTo>
                <a:lnTo>
                  <a:pt x="11242" y="3820"/>
                </a:lnTo>
                <a:lnTo>
                  <a:pt x="11340" y="4039"/>
                </a:lnTo>
                <a:lnTo>
                  <a:pt x="11194" y="4307"/>
                </a:lnTo>
                <a:lnTo>
                  <a:pt x="11048" y="4575"/>
                </a:lnTo>
                <a:lnTo>
                  <a:pt x="11023" y="4696"/>
                </a:lnTo>
                <a:lnTo>
                  <a:pt x="11023" y="4794"/>
                </a:lnTo>
                <a:lnTo>
                  <a:pt x="11048" y="4867"/>
                </a:lnTo>
                <a:lnTo>
                  <a:pt x="11121" y="4915"/>
                </a:lnTo>
                <a:lnTo>
                  <a:pt x="11169" y="4915"/>
                </a:lnTo>
                <a:lnTo>
                  <a:pt x="11218" y="4891"/>
                </a:lnTo>
                <a:lnTo>
                  <a:pt x="11340" y="4794"/>
                </a:lnTo>
                <a:lnTo>
                  <a:pt x="11510" y="4575"/>
                </a:lnTo>
                <a:lnTo>
                  <a:pt x="11534" y="4550"/>
                </a:lnTo>
                <a:lnTo>
                  <a:pt x="11607" y="4818"/>
                </a:lnTo>
                <a:lnTo>
                  <a:pt x="11510" y="4940"/>
                </a:lnTo>
                <a:lnTo>
                  <a:pt x="11388" y="5061"/>
                </a:lnTo>
                <a:lnTo>
                  <a:pt x="11291" y="5183"/>
                </a:lnTo>
                <a:lnTo>
                  <a:pt x="11218" y="5280"/>
                </a:lnTo>
                <a:lnTo>
                  <a:pt x="11096" y="5524"/>
                </a:lnTo>
                <a:lnTo>
                  <a:pt x="11072" y="5548"/>
                </a:lnTo>
                <a:lnTo>
                  <a:pt x="11096" y="5572"/>
                </a:lnTo>
                <a:lnTo>
                  <a:pt x="11121" y="5597"/>
                </a:lnTo>
                <a:lnTo>
                  <a:pt x="11145" y="5572"/>
                </a:lnTo>
                <a:lnTo>
                  <a:pt x="11388" y="5475"/>
                </a:lnTo>
                <a:lnTo>
                  <a:pt x="11510" y="5402"/>
                </a:lnTo>
                <a:lnTo>
                  <a:pt x="11631" y="5305"/>
                </a:lnTo>
                <a:lnTo>
                  <a:pt x="11680" y="5256"/>
                </a:lnTo>
                <a:lnTo>
                  <a:pt x="11729" y="5499"/>
                </a:lnTo>
                <a:lnTo>
                  <a:pt x="11364" y="5840"/>
                </a:lnTo>
                <a:lnTo>
                  <a:pt x="11048" y="6229"/>
                </a:lnTo>
                <a:lnTo>
                  <a:pt x="11023" y="6278"/>
                </a:lnTo>
                <a:lnTo>
                  <a:pt x="11048" y="6327"/>
                </a:lnTo>
                <a:lnTo>
                  <a:pt x="11072" y="6351"/>
                </a:lnTo>
                <a:lnTo>
                  <a:pt x="11121" y="6351"/>
                </a:lnTo>
                <a:lnTo>
                  <a:pt x="11291" y="6254"/>
                </a:lnTo>
                <a:lnTo>
                  <a:pt x="11461" y="6156"/>
                </a:lnTo>
                <a:lnTo>
                  <a:pt x="11753" y="5913"/>
                </a:lnTo>
                <a:lnTo>
                  <a:pt x="11753" y="6302"/>
                </a:lnTo>
                <a:lnTo>
                  <a:pt x="11631" y="6424"/>
                </a:lnTo>
                <a:lnTo>
                  <a:pt x="11534" y="6546"/>
                </a:lnTo>
                <a:lnTo>
                  <a:pt x="11412" y="6692"/>
                </a:lnTo>
                <a:lnTo>
                  <a:pt x="11291" y="6789"/>
                </a:lnTo>
                <a:lnTo>
                  <a:pt x="11048" y="6935"/>
                </a:lnTo>
                <a:lnTo>
                  <a:pt x="10999" y="6984"/>
                </a:lnTo>
                <a:lnTo>
                  <a:pt x="10950" y="7032"/>
                </a:lnTo>
                <a:lnTo>
                  <a:pt x="10926" y="7105"/>
                </a:lnTo>
                <a:lnTo>
                  <a:pt x="10950" y="7154"/>
                </a:lnTo>
                <a:lnTo>
                  <a:pt x="11023" y="7203"/>
                </a:lnTo>
                <a:lnTo>
                  <a:pt x="11096" y="7251"/>
                </a:lnTo>
                <a:lnTo>
                  <a:pt x="11169" y="7251"/>
                </a:lnTo>
                <a:lnTo>
                  <a:pt x="11267" y="7227"/>
                </a:lnTo>
                <a:lnTo>
                  <a:pt x="11437" y="7178"/>
                </a:lnTo>
                <a:lnTo>
                  <a:pt x="11583" y="7081"/>
                </a:lnTo>
                <a:lnTo>
                  <a:pt x="11704" y="6984"/>
                </a:lnTo>
                <a:lnTo>
                  <a:pt x="11631" y="7470"/>
                </a:lnTo>
                <a:lnTo>
                  <a:pt x="11583" y="7470"/>
                </a:lnTo>
                <a:lnTo>
                  <a:pt x="11534" y="7495"/>
                </a:lnTo>
                <a:lnTo>
                  <a:pt x="11291" y="7665"/>
                </a:lnTo>
                <a:lnTo>
                  <a:pt x="11023" y="7811"/>
                </a:lnTo>
                <a:lnTo>
                  <a:pt x="10902" y="7884"/>
                </a:lnTo>
                <a:lnTo>
                  <a:pt x="10804" y="7957"/>
                </a:lnTo>
                <a:lnTo>
                  <a:pt x="10731" y="8054"/>
                </a:lnTo>
                <a:lnTo>
                  <a:pt x="10707" y="8103"/>
                </a:lnTo>
                <a:lnTo>
                  <a:pt x="10707" y="8176"/>
                </a:lnTo>
                <a:lnTo>
                  <a:pt x="10707" y="8200"/>
                </a:lnTo>
                <a:lnTo>
                  <a:pt x="10853" y="8200"/>
                </a:lnTo>
                <a:lnTo>
                  <a:pt x="10950" y="8176"/>
                </a:lnTo>
                <a:lnTo>
                  <a:pt x="11194" y="8079"/>
                </a:lnTo>
                <a:lnTo>
                  <a:pt x="11534" y="7933"/>
                </a:lnTo>
                <a:lnTo>
                  <a:pt x="11437" y="8273"/>
                </a:lnTo>
                <a:lnTo>
                  <a:pt x="11340" y="8298"/>
                </a:lnTo>
                <a:lnTo>
                  <a:pt x="11242" y="8322"/>
                </a:lnTo>
                <a:lnTo>
                  <a:pt x="11072" y="8419"/>
                </a:lnTo>
                <a:lnTo>
                  <a:pt x="10829" y="8541"/>
                </a:lnTo>
                <a:lnTo>
                  <a:pt x="10561" y="8614"/>
                </a:lnTo>
                <a:lnTo>
                  <a:pt x="10537" y="8638"/>
                </a:lnTo>
                <a:lnTo>
                  <a:pt x="10512" y="8663"/>
                </a:lnTo>
                <a:lnTo>
                  <a:pt x="10537" y="8687"/>
                </a:lnTo>
                <a:lnTo>
                  <a:pt x="10561" y="8711"/>
                </a:lnTo>
                <a:lnTo>
                  <a:pt x="10731" y="8736"/>
                </a:lnTo>
                <a:lnTo>
                  <a:pt x="10926" y="8736"/>
                </a:lnTo>
                <a:lnTo>
                  <a:pt x="11121" y="8711"/>
                </a:lnTo>
                <a:lnTo>
                  <a:pt x="11315" y="8663"/>
                </a:lnTo>
                <a:lnTo>
                  <a:pt x="11169" y="9028"/>
                </a:lnTo>
                <a:lnTo>
                  <a:pt x="10926" y="9028"/>
                </a:lnTo>
                <a:lnTo>
                  <a:pt x="10683" y="9052"/>
                </a:lnTo>
                <a:lnTo>
                  <a:pt x="10439" y="9125"/>
                </a:lnTo>
                <a:lnTo>
                  <a:pt x="10220" y="9198"/>
                </a:lnTo>
                <a:lnTo>
                  <a:pt x="10196" y="9222"/>
                </a:lnTo>
                <a:lnTo>
                  <a:pt x="10196" y="9247"/>
                </a:lnTo>
                <a:lnTo>
                  <a:pt x="10220" y="9271"/>
                </a:lnTo>
                <a:lnTo>
                  <a:pt x="10245" y="9295"/>
                </a:lnTo>
                <a:lnTo>
                  <a:pt x="10488" y="9295"/>
                </a:lnTo>
                <a:lnTo>
                  <a:pt x="10731" y="9320"/>
                </a:lnTo>
                <a:lnTo>
                  <a:pt x="11048" y="9368"/>
                </a:lnTo>
                <a:lnTo>
                  <a:pt x="10853" y="9757"/>
                </a:lnTo>
                <a:lnTo>
                  <a:pt x="10561" y="9733"/>
                </a:lnTo>
                <a:lnTo>
                  <a:pt x="10245" y="9709"/>
                </a:lnTo>
                <a:lnTo>
                  <a:pt x="10099" y="9709"/>
                </a:lnTo>
                <a:lnTo>
                  <a:pt x="9977" y="9733"/>
                </a:lnTo>
                <a:lnTo>
                  <a:pt x="9904" y="9782"/>
                </a:lnTo>
                <a:lnTo>
                  <a:pt x="9880" y="9806"/>
                </a:lnTo>
                <a:lnTo>
                  <a:pt x="9880" y="9830"/>
                </a:lnTo>
                <a:lnTo>
                  <a:pt x="9928" y="9928"/>
                </a:lnTo>
                <a:lnTo>
                  <a:pt x="9977" y="10001"/>
                </a:lnTo>
                <a:lnTo>
                  <a:pt x="10050" y="10074"/>
                </a:lnTo>
                <a:lnTo>
                  <a:pt x="10147" y="10122"/>
                </a:lnTo>
                <a:lnTo>
                  <a:pt x="10391" y="10171"/>
                </a:lnTo>
                <a:lnTo>
                  <a:pt x="10610" y="10220"/>
                </a:lnTo>
                <a:lnTo>
                  <a:pt x="10439" y="10512"/>
                </a:lnTo>
                <a:lnTo>
                  <a:pt x="10439" y="10439"/>
                </a:lnTo>
                <a:lnTo>
                  <a:pt x="10391" y="10390"/>
                </a:lnTo>
                <a:lnTo>
                  <a:pt x="10342" y="10341"/>
                </a:lnTo>
                <a:lnTo>
                  <a:pt x="10220" y="10293"/>
                </a:lnTo>
                <a:lnTo>
                  <a:pt x="9977" y="10268"/>
                </a:lnTo>
                <a:lnTo>
                  <a:pt x="9709" y="10220"/>
                </a:lnTo>
                <a:lnTo>
                  <a:pt x="9588" y="10220"/>
                </a:lnTo>
                <a:lnTo>
                  <a:pt x="9466" y="10244"/>
                </a:lnTo>
                <a:lnTo>
                  <a:pt x="9417" y="10268"/>
                </a:lnTo>
                <a:lnTo>
                  <a:pt x="9393" y="10317"/>
                </a:lnTo>
                <a:lnTo>
                  <a:pt x="9393" y="10366"/>
                </a:lnTo>
                <a:lnTo>
                  <a:pt x="9417" y="10414"/>
                </a:lnTo>
                <a:lnTo>
                  <a:pt x="9515" y="10487"/>
                </a:lnTo>
                <a:lnTo>
                  <a:pt x="9636" y="10560"/>
                </a:lnTo>
                <a:lnTo>
                  <a:pt x="9880" y="10633"/>
                </a:lnTo>
                <a:lnTo>
                  <a:pt x="10123" y="10682"/>
                </a:lnTo>
                <a:lnTo>
                  <a:pt x="10245" y="10682"/>
                </a:lnTo>
                <a:lnTo>
                  <a:pt x="10366" y="10633"/>
                </a:lnTo>
                <a:lnTo>
                  <a:pt x="10001" y="11242"/>
                </a:lnTo>
                <a:lnTo>
                  <a:pt x="9782" y="11169"/>
                </a:lnTo>
                <a:lnTo>
                  <a:pt x="9588" y="11144"/>
                </a:lnTo>
                <a:lnTo>
                  <a:pt x="9417" y="11096"/>
                </a:lnTo>
                <a:lnTo>
                  <a:pt x="9247" y="11071"/>
                </a:lnTo>
                <a:lnTo>
                  <a:pt x="9052" y="11047"/>
                </a:lnTo>
                <a:lnTo>
                  <a:pt x="8882" y="11096"/>
                </a:lnTo>
                <a:lnTo>
                  <a:pt x="8858" y="11120"/>
                </a:lnTo>
                <a:lnTo>
                  <a:pt x="8833" y="11169"/>
                </a:lnTo>
                <a:lnTo>
                  <a:pt x="8833" y="11193"/>
                </a:lnTo>
                <a:lnTo>
                  <a:pt x="8858" y="11242"/>
                </a:lnTo>
                <a:lnTo>
                  <a:pt x="9052" y="11315"/>
                </a:lnTo>
                <a:lnTo>
                  <a:pt x="9223" y="11363"/>
                </a:lnTo>
                <a:lnTo>
                  <a:pt x="9588" y="11485"/>
                </a:lnTo>
                <a:lnTo>
                  <a:pt x="9782" y="11558"/>
                </a:lnTo>
                <a:lnTo>
                  <a:pt x="9490" y="11996"/>
                </a:lnTo>
                <a:lnTo>
                  <a:pt x="9344" y="11923"/>
                </a:lnTo>
                <a:lnTo>
                  <a:pt x="9223" y="11874"/>
                </a:lnTo>
                <a:lnTo>
                  <a:pt x="8931" y="11801"/>
                </a:lnTo>
                <a:lnTo>
                  <a:pt x="8566" y="11704"/>
                </a:lnTo>
                <a:lnTo>
                  <a:pt x="8371" y="11655"/>
                </a:lnTo>
                <a:lnTo>
                  <a:pt x="8176" y="11655"/>
                </a:lnTo>
                <a:lnTo>
                  <a:pt x="8103" y="11680"/>
                </a:lnTo>
                <a:lnTo>
                  <a:pt x="8079" y="11728"/>
                </a:lnTo>
                <a:lnTo>
                  <a:pt x="8055" y="11801"/>
                </a:lnTo>
                <a:lnTo>
                  <a:pt x="8103" y="11850"/>
                </a:lnTo>
                <a:lnTo>
                  <a:pt x="8249" y="11947"/>
                </a:lnTo>
                <a:lnTo>
                  <a:pt x="8395" y="12045"/>
                </a:lnTo>
                <a:lnTo>
                  <a:pt x="8736" y="12166"/>
                </a:lnTo>
                <a:lnTo>
                  <a:pt x="8979" y="12239"/>
                </a:lnTo>
                <a:lnTo>
                  <a:pt x="9247" y="12312"/>
                </a:lnTo>
                <a:lnTo>
                  <a:pt x="9004" y="12629"/>
                </a:lnTo>
                <a:lnTo>
                  <a:pt x="8712" y="12580"/>
                </a:lnTo>
                <a:lnTo>
                  <a:pt x="8420" y="12531"/>
                </a:lnTo>
                <a:lnTo>
                  <a:pt x="8201" y="12458"/>
                </a:lnTo>
                <a:lnTo>
                  <a:pt x="8006" y="12361"/>
                </a:lnTo>
                <a:lnTo>
                  <a:pt x="7787" y="12239"/>
                </a:lnTo>
                <a:lnTo>
                  <a:pt x="7592" y="12142"/>
                </a:lnTo>
                <a:lnTo>
                  <a:pt x="7544" y="12142"/>
                </a:lnTo>
                <a:lnTo>
                  <a:pt x="7495" y="12166"/>
                </a:lnTo>
                <a:lnTo>
                  <a:pt x="7495" y="12215"/>
                </a:lnTo>
                <a:lnTo>
                  <a:pt x="7471" y="12264"/>
                </a:lnTo>
                <a:lnTo>
                  <a:pt x="7519" y="12385"/>
                </a:lnTo>
                <a:lnTo>
                  <a:pt x="7592" y="12507"/>
                </a:lnTo>
                <a:lnTo>
                  <a:pt x="7690" y="12604"/>
                </a:lnTo>
                <a:lnTo>
                  <a:pt x="7811" y="12677"/>
                </a:lnTo>
                <a:lnTo>
                  <a:pt x="8055" y="12823"/>
                </a:lnTo>
                <a:lnTo>
                  <a:pt x="8298" y="12921"/>
                </a:lnTo>
                <a:lnTo>
                  <a:pt x="8493" y="12994"/>
                </a:lnTo>
                <a:lnTo>
                  <a:pt x="8687" y="13018"/>
                </a:lnTo>
                <a:lnTo>
                  <a:pt x="8371" y="13407"/>
                </a:lnTo>
                <a:lnTo>
                  <a:pt x="8274" y="13310"/>
                </a:lnTo>
                <a:lnTo>
                  <a:pt x="8152" y="13261"/>
                </a:lnTo>
                <a:lnTo>
                  <a:pt x="7909" y="13188"/>
                </a:lnTo>
                <a:lnTo>
                  <a:pt x="7471" y="12994"/>
                </a:lnTo>
                <a:lnTo>
                  <a:pt x="7252" y="12921"/>
                </a:lnTo>
                <a:lnTo>
                  <a:pt x="7033" y="12896"/>
                </a:lnTo>
                <a:lnTo>
                  <a:pt x="7008" y="12896"/>
                </a:lnTo>
                <a:lnTo>
                  <a:pt x="7008" y="12945"/>
                </a:lnTo>
                <a:lnTo>
                  <a:pt x="7057" y="13042"/>
                </a:lnTo>
                <a:lnTo>
                  <a:pt x="7130" y="13115"/>
                </a:lnTo>
                <a:lnTo>
                  <a:pt x="7300" y="13261"/>
                </a:lnTo>
                <a:lnTo>
                  <a:pt x="7495" y="13359"/>
                </a:lnTo>
                <a:lnTo>
                  <a:pt x="7690" y="13456"/>
                </a:lnTo>
                <a:lnTo>
                  <a:pt x="7909" y="13578"/>
                </a:lnTo>
                <a:lnTo>
                  <a:pt x="8006" y="13626"/>
                </a:lnTo>
                <a:lnTo>
                  <a:pt x="8128" y="13675"/>
                </a:lnTo>
                <a:lnTo>
                  <a:pt x="7836" y="14016"/>
                </a:lnTo>
                <a:lnTo>
                  <a:pt x="7665" y="13967"/>
                </a:lnTo>
                <a:lnTo>
                  <a:pt x="7179" y="13724"/>
                </a:lnTo>
                <a:lnTo>
                  <a:pt x="6814" y="13553"/>
                </a:lnTo>
                <a:lnTo>
                  <a:pt x="6619" y="13480"/>
                </a:lnTo>
                <a:lnTo>
                  <a:pt x="6424" y="13480"/>
                </a:lnTo>
                <a:lnTo>
                  <a:pt x="6400" y="13505"/>
                </a:lnTo>
                <a:lnTo>
                  <a:pt x="6400" y="13553"/>
                </a:lnTo>
                <a:lnTo>
                  <a:pt x="6449" y="13651"/>
                </a:lnTo>
                <a:lnTo>
                  <a:pt x="6497" y="13724"/>
                </a:lnTo>
                <a:lnTo>
                  <a:pt x="6595" y="13821"/>
                </a:lnTo>
                <a:lnTo>
                  <a:pt x="6692" y="13894"/>
                </a:lnTo>
                <a:lnTo>
                  <a:pt x="6887" y="14016"/>
                </a:lnTo>
                <a:lnTo>
                  <a:pt x="7081" y="14137"/>
                </a:lnTo>
                <a:lnTo>
                  <a:pt x="7276" y="14235"/>
                </a:lnTo>
                <a:lnTo>
                  <a:pt x="7519" y="14381"/>
                </a:lnTo>
                <a:lnTo>
                  <a:pt x="7106" y="14843"/>
                </a:lnTo>
                <a:lnTo>
                  <a:pt x="6814" y="14697"/>
                </a:lnTo>
                <a:lnTo>
                  <a:pt x="6546" y="14527"/>
                </a:lnTo>
                <a:lnTo>
                  <a:pt x="6376" y="14405"/>
                </a:lnTo>
                <a:lnTo>
                  <a:pt x="6230" y="14259"/>
                </a:lnTo>
                <a:lnTo>
                  <a:pt x="6157" y="14162"/>
                </a:lnTo>
                <a:lnTo>
                  <a:pt x="6035" y="14064"/>
                </a:lnTo>
                <a:lnTo>
                  <a:pt x="5962" y="14064"/>
                </a:lnTo>
                <a:lnTo>
                  <a:pt x="5913" y="14089"/>
                </a:lnTo>
                <a:lnTo>
                  <a:pt x="5840" y="14186"/>
                </a:lnTo>
                <a:lnTo>
                  <a:pt x="5840" y="14283"/>
                </a:lnTo>
                <a:lnTo>
                  <a:pt x="5865" y="14381"/>
                </a:lnTo>
                <a:lnTo>
                  <a:pt x="5913" y="14478"/>
                </a:lnTo>
                <a:lnTo>
                  <a:pt x="6059" y="14673"/>
                </a:lnTo>
                <a:lnTo>
                  <a:pt x="6205" y="14794"/>
                </a:lnTo>
                <a:lnTo>
                  <a:pt x="6449" y="15013"/>
                </a:lnTo>
                <a:lnTo>
                  <a:pt x="6595" y="15135"/>
                </a:lnTo>
                <a:lnTo>
                  <a:pt x="6765" y="15208"/>
                </a:lnTo>
                <a:lnTo>
                  <a:pt x="6132" y="15816"/>
                </a:lnTo>
                <a:lnTo>
                  <a:pt x="5986" y="15573"/>
                </a:lnTo>
                <a:lnTo>
                  <a:pt x="5792" y="15354"/>
                </a:lnTo>
                <a:lnTo>
                  <a:pt x="5402" y="14916"/>
                </a:lnTo>
                <a:lnTo>
                  <a:pt x="5013" y="14527"/>
                </a:lnTo>
                <a:lnTo>
                  <a:pt x="4818" y="14332"/>
                </a:lnTo>
                <a:lnTo>
                  <a:pt x="4648" y="14113"/>
                </a:lnTo>
                <a:lnTo>
                  <a:pt x="4332" y="13724"/>
                </a:lnTo>
                <a:lnTo>
                  <a:pt x="3991" y="13359"/>
                </a:lnTo>
                <a:lnTo>
                  <a:pt x="3310" y="12629"/>
                </a:lnTo>
                <a:lnTo>
                  <a:pt x="2969" y="12264"/>
                </a:lnTo>
                <a:lnTo>
                  <a:pt x="2653" y="11874"/>
                </a:lnTo>
                <a:lnTo>
                  <a:pt x="2361" y="11485"/>
                </a:lnTo>
                <a:lnTo>
                  <a:pt x="2069" y="11071"/>
                </a:lnTo>
                <a:lnTo>
                  <a:pt x="1704" y="10439"/>
                </a:lnTo>
                <a:lnTo>
                  <a:pt x="1363" y="9757"/>
                </a:lnTo>
                <a:lnTo>
                  <a:pt x="1096" y="9052"/>
                </a:lnTo>
                <a:lnTo>
                  <a:pt x="974" y="8711"/>
                </a:lnTo>
                <a:lnTo>
                  <a:pt x="877" y="8346"/>
                </a:lnTo>
                <a:lnTo>
                  <a:pt x="779" y="7981"/>
                </a:lnTo>
                <a:lnTo>
                  <a:pt x="706" y="7616"/>
                </a:lnTo>
                <a:lnTo>
                  <a:pt x="633" y="7251"/>
                </a:lnTo>
                <a:lnTo>
                  <a:pt x="609" y="6862"/>
                </a:lnTo>
                <a:lnTo>
                  <a:pt x="585" y="6497"/>
                </a:lnTo>
                <a:lnTo>
                  <a:pt x="585" y="6132"/>
                </a:lnTo>
                <a:lnTo>
                  <a:pt x="585" y="5743"/>
                </a:lnTo>
                <a:lnTo>
                  <a:pt x="609" y="5378"/>
                </a:lnTo>
                <a:lnTo>
                  <a:pt x="682" y="4988"/>
                </a:lnTo>
                <a:lnTo>
                  <a:pt x="755" y="4599"/>
                </a:lnTo>
                <a:lnTo>
                  <a:pt x="877" y="4210"/>
                </a:lnTo>
                <a:lnTo>
                  <a:pt x="1023" y="3845"/>
                </a:lnTo>
                <a:lnTo>
                  <a:pt x="1193" y="3504"/>
                </a:lnTo>
                <a:lnTo>
                  <a:pt x="1363" y="3163"/>
                </a:lnTo>
                <a:lnTo>
                  <a:pt x="1582" y="2823"/>
                </a:lnTo>
                <a:lnTo>
                  <a:pt x="1826" y="2506"/>
                </a:lnTo>
                <a:lnTo>
                  <a:pt x="2093" y="2214"/>
                </a:lnTo>
                <a:lnTo>
                  <a:pt x="2361" y="1947"/>
                </a:lnTo>
                <a:lnTo>
                  <a:pt x="2653" y="1679"/>
                </a:lnTo>
                <a:lnTo>
                  <a:pt x="2969" y="1460"/>
                </a:lnTo>
                <a:lnTo>
                  <a:pt x="3310" y="1241"/>
                </a:lnTo>
                <a:lnTo>
                  <a:pt x="3650" y="1047"/>
                </a:lnTo>
                <a:lnTo>
                  <a:pt x="4015" y="901"/>
                </a:lnTo>
                <a:lnTo>
                  <a:pt x="4405" y="755"/>
                </a:lnTo>
                <a:lnTo>
                  <a:pt x="4770" y="657"/>
                </a:lnTo>
                <a:lnTo>
                  <a:pt x="5159" y="584"/>
                </a:lnTo>
                <a:lnTo>
                  <a:pt x="5524" y="536"/>
                </a:lnTo>
                <a:close/>
                <a:moveTo>
                  <a:pt x="5646" y="0"/>
                </a:moveTo>
                <a:lnTo>
                  <a:pt x="5256" y="49"/>
                </a:lnTo>
                <a:lnTo>
                  <a:pt x="4843" y="98"/>
                </a:lnTo>
                <a:lnTo>
                  <a:pt x="4453" y="195"/>
                </a:lnTo>
                <a:lnTo>
                  <a:pt x="4088" y="317"/>
                </a:lnTo>
                <a:lnTo>
                  <a:pt x="3723" y="438"/>
                </a:lnTo>
                <a:lnTo>
                  <a:pt x="3359" y="609"/>
                </a:lnTo>
                <a:lnTo>
                  <a:pt x="2994" y="803"/>
                </a:lnTo>
                <a:lnTo>
                  <a:pt x="2653" y="998"/>
                </a:lnTo>
                <a:lnTo>
                  <a:pt x="2337" y="1241"/>
                </a:lnTo>
                <a:lnTo>
                  <a:pt x="2020" y="1509"/>
                </a:lnTo>
                <a:lnTo>
                  <a:pt x="1728" y="1776"/>
                </a:lnTo>
                <a:lnTo>
                  <a:pt x="1461" y="2093"/>
                </a:lnTo>
                <a:lnTo>
                  <a:pt x="1193" y="2409"/>
                </a:lnTo>
                <a:lnTo>
                  <a:pt x="925" y="2798"/>
                </a:lnTo>
                <a:lnTo>
                  <a:pt x="682" y="3188"/>
                </a:lnTo>
                <a:lnTo>
                  <a:pt x="487" y="3601"/>
                </a:lnTo>
                <a:lnTo>
                  <a:pt x="341" y="4015"/>
                </a:lnTo>
                <a:lnTo>
                  <a:pt x="220" y="4453"/>
                </a:lnTo>
                <a:lnTo>
                  <a:pt x="122" y="4891"/>
                </a:lnTo>
                <a:lnTo>
                  <a:pt x="49" y="5329"/>
                </a:lnTo>
                <a:lnTo>
                  <a:pt x="25" y="5791"/>
                </a:lnTo>
                <a:lnTo>
                  <a:pt x="1" y="6254"/>
                </a:lnTo>
                <a:lnTo>
                  <a:pt x="25" y="6692"/>
                </a:lnTo>
                <a:lnTo>
                  <a:pt x="74" y="7154"/>
                </a:lnTo>
                <a:lnTo>
                  <a:pt x="122" y="7616"/>
                </a:lnTo>
                <a:lnTo>
                  <a:pt x="220" y="8054"/>
                </a:lnTo>
                <a:lnTo>
                  <a:pt x="317" y="8492"/>
                </a:lnTo>
                <a:lnTo>
                  <a:pt x="463" y="8930"/>
                </a:lnTo>
                <a:lnTo>
                  <a:pt x="609" y="9368"/>
                </a:lnTo>
                <a:lnTo>
                  <a:pt x="779" y="9806"/>
                </a:lnTo>
                <a:lnTo>
                  <a:pt x="974" y="10244"/>
                </a:lnTo>
                <a:lnTo>
                  <a:pt x="1193" y="10682"/>
                </a:lnTo>
                <a:lnTo>
                  <a:pt x="1412" y="11096"/>
                </a:lnTo>
                <a:lnTo>
                  <a:pt x="1680" y="11509"/>
                </a:lnTo>
                <a:lnTo>
                  <a:pt x="1947" y="11899"/>
                </a:lnTo>
                <a:lnTo>
                  <a:pt x="2239" y="12288"/>
                </a:lnTo>
                <a:lnTo>
                  <a:pt x="2531" y="12677"/>
                </a:lnTo>
                <a:lnTo>
                  <a:pt x="2969" y="13213"/>
                </a:lnTo>
                <a:lnTo>
                  <a:pt x="3407" y="13748"/>
                </a:lnTo>
                <a:lnTo>
                  <a:pt x="3626" y="14040"/>
                </a:lnTo>
                <a:lnTo>
                  <a:pt x="3869" y="14283"/>
                </a:lnTo>
                <a:lnTo>
                  <a:pt x="4113" y="14527"/>
                </a:lnTo>
                <a:lnTo>
                  <a:pt x="4380" y="14746"/>
                </a:lnTo>
                <a:lnTo>
                  <a:pt x="4502" y="14867"/>
                </a:lnTo>
                <a:lnTo>
                  <a:pt x="4697" y="15086"/>
                </a:lnTo>
                <a:lnTo>
                  <a:pt x="5159" y="15622"/>
                </a:lnTo>
                <a:lnTo>
                  <a:pt x="5621" y="16133"/>
                </a:lnTo>
                <a:lnTo>
                  <a:pt x="5792" y="16303"/>
                </a:lnTo>
                <a:lnTo>
                  <a:pt x="5865" y="16352"/>
                </a:lnTo>
                <a:lnTo>
                  <a:pt x="5913" y="16352"/>
                </a:lnTo>
                <a:lnTo>
                  <a:pt x="6084" y="16327"/>
                </a:lnTo>
                <a:lnTo>
                  <a:pt x="6230" y="16279"/>
                </a:lnTo>
                <a:lnTo>
                  <a:pt x="6351" y="16230"/>
                </a:lnTo>
                <a:lnTo>
                  <a:pt x="6473" y="16157"/>
                </a:lnTo>
                <a:lnTo>
                  <a:pt x="6716" y="15962"/>
                </a:lnTo>
                <a:lnTo>
                  <a:pt x="6911" y="15743"/>
                </a:lnTo>
                <a:lnTo>
                  <a:pt x="8176" y="14259"/>
                </a:lnTo>
                <a:lnTo>
                  <a:pt x="8833" y="13480"/>
                </a:lnTo>
                <a:lnTo>
                  <a:pt x="9466" y="12677"/>
                </a:lnTo>
                <a:lnTo>
                  <a:pt x="10074" y="11874"/>
                </a:lnTo>
                <a:lnTo>
                  <a:pt x="10634" y="11023"/>
                </a:lnTo>
                <a:lnTo>
                  <a:pt x="10877" y="10609"/>
                </a:lnTo>
                <a:lnTo>
                  <a:pt x="11121" y="10195"/>
                </a:lnTo>
                <a:lnTo>
                  <a:pt x="11340" y="9782"/>
                </a:lnTo>
                <a:lnTo>
                  <a:pt x="11534" y="9344"/>
                </a:lnTo>
                <a:lnTo>
                  <a:pt x="11704" y="8930"/>
                </a:lnTo>
                <a:lnTo>
                  <a:pt x="11875" y="8492"/>
                </a:lnTo>
                <a:lnTo>
                  <a:pt x="12021" y="8030"/>
                </a:lnTo>
                <a:lnTo>
                  <a:pt x="12118" y="7592"/>
                </a:lnTo>
                <a:lnTo>
                  <a:pt x="12215" y="7130"/>
                </a:lnTo>
                <a:lnTo>
                  <a:pt x="12264" y="6667"/>
                </a:lnTo>
                <a:lnTo>
                  <a:pt x="12288" y="6205"/>
                </a:lnTo>
                <a:lnTo>
                  <a:pt x="12288" y="5743"/>
                </a:lnTo>
                <a:lnTo>
                  <a:pt x="12240" y="5280"/>
                </a:lnTo>
                <a:lnTo>
                  <a:pt x="12167" y="4818"/>
                </a:lnTo>
                <a:lnTo>
                  <a:pt x="12045" y="4380"/>
                </a:lnTo>
                <a:lnTo>
                  <a:pt x="11899" y="3918"/>
                </a:lnTo>
                <a:lnTo>
                  <a:pt x="11729" y="3528"/>
                </a:lnTo>
                <a:lnTo>
                  <a:pt x="11534" y="3163"/>
                </a:lnTo>
                <a:lnTo>
                  <a:pt x="11315" y="2798"/>
                </a:lnTo>
                <a:lnTo>
                  <a:pt x="11096" y="2458"/>
                </a:lnTo>
                <a:lnTo>
                  <a:pt x="10829" y="2141"/>
                </a:lnTo>
                <a:lnTo>
                  <a:pt x="10537" y="1825"/>
                </a:lnTo>
                <a:lnTo>
                  <a:pt x="10245" y="1557"/>
                </a:lnTo>
                <a:lnTo>
                  <a:pt x="9928" y="1290"/>
                </a:lnTo>
                <a:lnTo>
                  <a:pt x="9588" y="1047"/>
                </a:lnTo>
                <a:lnTo>
                  <a:pt x="9223" y="828"/>
                </a:lnTo>
                <a:lnTo>
                  <a:pt x="8858" y="633"/>
                </a:lnTo>
                <a:lnTo>
                  <a:pt x="8493" y="463"/>
                </a:lnTo>
                <a:lnTo>
                  <a:pt x="8103" y="317"/>
                </a:lnTo>
                <a:lnTo>
                  <a:pt x="7714" y="195"/>
                </a:lnTo>
                <a:lnTo>
                  <a:pt x="7300" y="98"/>
                </a:lnTo>
                <a:lnTo>
                  <a:pt x="6887" y="49"/>
                </a:lnTo>
                <a:lnTo>
                  <a:pt x="6473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18303" y="2161026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33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glamou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4BBA70A-D485-496A-85C1-338FB461D10A}"/>
</file>

<file path=customXml/itemProps2.xml><?xml version="1.0" encoding="utf-8"?>
<ds:datastoreItem xmlns:ds="http://schemas.openxmlformats.org/officeDocument/2006/customXml" ds:itemID="{EB2CA712-DB8D-4621-B2A5-2B37108E04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6CE710-A902-4782-88C8-87AB82C50BF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dc808d36-874f-4b27-aec2-2fd649817929"/>
    <ds:schemaRef ds:uri="http://schemas.microsoft.com/office/infopath/2007/PartnerControls"/>
    <ds:schemaRef ds:uri="http://schemas.openxmlformats.org/package/2006/metadata/core-properties"/>
    <ds:schemaRef ds:uri="ba2e8617-29ee-40b9-b822-c9e0f853d80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1707</Words>
  <Application>Microsoft Office PowerPoint</Application>
  <PresentationFormat>On-screen Show (16:9)</PresentationFormat>
  <Paragraphs>173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Calibri</vt:lpstr>
      <vt:lpstr>Lao UI</vt:lpstr>
      <vt:lpstr>Lato Hairline</vt:lpstr>
      <vt:lpstr>Lato Light</vt:lpstr>
      <vt:lpstr>Merriweather</vt:lpstr>
      <vt:lpstr>Roboto Slab</vt:lpstr>
      <vt:lpstr>Segoe UI</vt:lpstr>
      <vt:lpstr>Trade Gothic</vt:lpstr>
      <vt:lpstr>Office Theme</vt:lpstr>
      <vt:lpstr>Eglamour template</vt:lpstr>
      <vt:lpstr>1_Eglamour template</vt:lpstr>
      <vt:lpstr>Federal Rules and Regulations: Procurement, Inventory &amp; Record Retention </vt:lpstr>
      <vt:lpstr>Procurement</vt:lpstr>
      <vt:lpstr>Code of Conduct for Procurement</vt:lpstr>
      <vt:lpstr>Ethical Conduct for Procurement</vt:lpstr>
      <vt:lpstr>Ethical Conduct for Procurement</vt:lpstr>
      <vt:lpstr>Exercise – Conflict of Interest?</vt:lpstr>
      <vt:lpstr>Ethical Conduct for Procurement</vt:lpstr>
      <vt:lpstr>General Procurement Standards</vt:lpstr>
      <vt:lpstr>Suspension &amp; Debarment (Compliance Checks)</vt:lpstr>
      <vt:lpstr>Procurement Minimum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Inventory</vt:lpstr>
      <vt:lpstr>PowerPoint Presentation</vt:lpstr>
      <vt:lpstr>PowerPoint Presentation</vt:lpstr>
      <vt:lpstr>Record Retention</vt:lpstr>
      <vt:lpstr>Record Retention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Rules and Regulations:</dc:title>
  <dc:creator>Abigail Shepard- Moore</dc:creator>
  <cp:lastModifiedBy>Danielle Martin</cp:lastModifiedBy>
  <cp:revision>65</cp:revision>
  <dcterms:created xsi:type="dcterms:W3CDTF">2019-06-24T13:16:26Z</dcterms:created>
  <dcterms:modified xsi:type="dcterms:W3CDTF">2023-01-24T19:45:54Z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13945400</vt:r8>
  </property>
  <property fmtid="{D5CDD505-2E9C-101B-9397-08002B2CF9AE}" pid="4" name="MediaServiceImageTags">
    <vt:lpwstr/>
  </property>
</Properties>
</file>