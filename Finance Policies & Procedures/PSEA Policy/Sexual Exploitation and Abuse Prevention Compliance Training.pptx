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8" r:id="rId13"/>
    <p:sldId id="269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8" autoAdjust="0"/>
    <p:restoredTop sz="77635" autoAdjust="0"/>
  </p:normalViewPr>
  <p:slideViewPr>
    <p:cSldViewPr>
      <p:cViewPr varScale="1">
        <p:scale>
          <a:sx n="71" d="100"/>
          <a:sy n="71" d="100"/>
        </p:scale>
        <p:origin x="-1136" y="-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48" y="1451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customXml" Target="../customXml/item2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E16F13-8A84-44C9-B08F-86989CB982DE}" type="datetimeFigureOut">
              <a:rPr lang="en-US" smtClean="0"/>
              <a:t>1/24/2019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7FA105-7A6D-4D27-83E5-32585B43F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402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C8CDDC-CBDB-4294-98C4-98A2F202DD61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274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Examples of Sexual Abuse</a:t>
            </a:r>
          </a:p>
          <a:p>
            <a:r>
              <a:rPr lang="en-US" dirty="0" smtClean="0"/>
              <a:t> A refugee, who is employed as an incentive worker by WFP, lures a female refugee</a:t>
            </a:r>
          </a:p>
          <a:p>
            <a:r>
              <a:rPr lang="en-US" dirty="0" smtClean="0"/>
              <a:t>collecting food to a deserted warehouse and rapes her, announcing that he will tell her</a:t>
            </a:r>
          </a:p>
          <a:p>
            <a:r>
              <a:rPr lang="en-US" dirty="0" smtClean="0"/>
              <a:t>husband they are having an affair if she reports the case.</a:t>
            </a:r>
          </a:p>
          <a:p>
            <a:r>
              <a:rPr lang="en-US" dirty="0" smtClean="0"/>
              <a:t> A local Red cross worker touches a 6-year- old girl inappropriately while playing with her as</a:t>
            </a:r>
          </a:p>
          <a:p>
            <a:r>
              <a:rPr lang="en-US" dirty="0" smtClean="0"/>
              <a:t>part of a psycho-social intervention.</a:t>
            </a:r>
          </a:p>
          <a:p>
            <a:r>
              <a:rPr lang="en-US" dirty="0" smtClean="0"/>
              <a:t> Solicitation of a prostitute.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FA105-7A6D-4D27-83E5-32585B43F7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96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Examples of Sexual Exploitation</a:t>
            </a:r>
          </a:p>
          <a:p>
            <a:r>
              <a:rPr lang="en-US" dirty="0" smtClean="0"/>
              <a:t> A head teacher at a school, employed by an NGO, who refuses to allow a displaced child to</a:t>
            </a:r>
          </a:p>
          <a:p>
            <a:r>
              <a:rPr lang="en-US" dirty="0" smtClean="0"/>
              <a:t>enter his school unless her mother sleeps with him.</a:t>
            </a:r>
          </a:p>
          <a:p>
            <a:r>
              <a:rPr lang="en-US" dirty="0" smtClean="0"/>
              <a:t> A UN driver who regularly provides rides in the official UN vehicle to village schoolboys</a:t>
            </a:r>
          </a:p>
          <a:p>
            <a:r>
              <a:rPr lang="en-US" dirty="0" smtClean="0"/>
              <a:t>travelling to school in a neighboring town, in exchange for him taking photographs of them</a:t>
            </a:r>
          </a:p>
          <a:p>
            <a:r>
              <a:rPr lang="en-US" dirty="0" smtClean="0"/>
              <a:t>posing naked.</a:t>
            </a:r>
          </a:p>
          <a:p>
            <a:r>
              <a:rPr lang="en-US" dirty="0" smtClean="0"/>
              <a:t> The female boss of an NGO office, refusing to give employment to a young man applying to</a:t>
            </a:r>
          </a:p>
          <a:p>
            <a:r>
              <a:rPr lang="en-US" dirty="0" smtClean="0"/>
              <a:t>be a kitchen server unless he sleeps with her. (Remember: even if the young man refuses to</a:t>
            </a:r>
          </a:p>
          <a:p>
            <a:r>
              <a:rPr lang="en-US" dirty="0" smtClean="0"/>
              <a:t>sleep with her, if she attempts to abuse her position by making such a request, she is guilty</a:t>
            </a:r>
          </a:p>
          <a:p>
            <a:r>
              <a:rPr lang="en-US" dirty="0" smtClean="0"/>
              <a:t>of sexual exploitation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C8CDDC-CBDB-4294-98C4-98A2F202DD61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01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2016,</a:t>
            </a:r>
            <a:r>
              <a:rPr lang="en-US" baseline="0" dirty="0" smtClean="0"/>
              <a:t> UN received 145 allegations of SEA: 80 against peacekeepers </a:t>
            </a:r>
          </a:p>
          <a:p>
            <a:r>
              <a:rPr lang="en-US" baseline="0" dirty="0" smtClean="0"/>
              <a:t>311 known victims: 309 women and girls </a:t>
            </a:r>
          </a:p>
          <a:p>
            <a:endParaRPr lang="en-US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 smtClean="0">
                <a:latin typeface="Memphis Medium" panose="02000603050000020003" pitchFamily="2" charset="0"/>
              </a:rPr>
              <a:t>Csaky</a:t>
            </a:r>
            <a:r>
              <a:rPr lang="en-US" sz="1200" dirty="0" smtClean="0">
                <a:latin typeface="Memphis Medium" panose="02000603050000020003" pitchFamily="2" charset="0"/>
              </a:rPr>
              <a:t>, C. “No One to Turn To – The under-reporting of child sexual exploitation and abuse by aid workers and peacekeepers,” Save the Children, </a:t>
            </a:r>
            <a:r>
              <a:rPr lang="en-US" sz="1200" dirty="0" smtClean="0">
                <a:latin typeface="Memphis Medium" panose="02000603050000020003" pitchFamily="2" charset="0"/>
              </a:rPr>
              <a:t>2008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 smtClean="0">
              <a:latin typeface="Memphis Medium" panose="02000603050000020003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last few years, a wide range of technical guidance, instruments, initiatives and policies have been produced by UN agencies, NGOs and others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Memphis Medium" panose="02000603050000020003" pitchFamily="2" charset="0"/>
              </a:rPr>
              <a:t>Children as young as six are trading sex with</a:t>
            </a:r>
            <a:r>
              <a:rPr lang="en-US" sz="1200" baseline="0" dirty="0" smtClean="0">
                <a:latin typeface="Memphis Medium" panose="02000603050000020003" pitchFamily="2" charset="0"/>
              </a:rPr>
              <a:t> </a:t>
            </a:r>
            <a:r>
              <a:rPr lang="en-US" sz="1200" dirty="0" smtClean="0">
                <a:latin typeface="Memphis Medium" panose="02000603050000020003" pitchFamily="2" charset="0"/>
              </a:rPr>
              <a:t>aid workers and peacekeepers in exchange for food,</a:t>
            </a:r>
            <a:r>
              <a:rPr lang="en-US" sz="1200" baseline="0" dirty="0" smtClean="0">
                <a:latin typeface="Memphis Medium" panose="02000603050000020003" pitchFamily="2" charset="0"/>
              </a:rPr>
              <a:t> </a:t>
            </a:r>
            <a:r>
              <a:rPr lang="en-US" sz="1200" dirty="0" smtClean="0">
                <a:latin typeface="Memphis Medium" panose="02000603050000020003" pitchFamily="2" charset="0"/>
              </a:rPr>
              <a:t>money, soap and, in a very few cases, luxury items such</a:t>
            </a:r>
            <a:r>
              <a:rPr lang="en-US" sz="1200" baseline="0" dirty="0" smtClean="0">
                <a:latin typeface="Memphis Medium" panose="02000603050000020003" pitchFamily="2" charset="0"/>
              </a:rPr>
              <a:t> </a:t>
            </a:r>
            <a:r>
              <a:rPr lang="en-US" sz="1200" dirty="0" smtClean="0">
                <a:latin typeface="Memphis Medium" panose="02000603050000020003" pitchFamily="2" charset="0"/>
              </a:rPr>
              <a:t>as mobile </a:t>
            </a:r>
            <a:r>
              <a:rPr lang="en-US" sz="1200" dirty="0" err="1" smtClean="0">
                <a:latin typeface="Memphis Medium" panose="02000603050000020003" pitchFamily="2" charset="0"/>
              </a:rPr>
              <a:t>phones.Although</a:t>
            </a:r>
            <a:r>
              <a:rPr lang="en-US" sz="1200" dirty="0" smtClean="0">
                <a:latin typeface="Memphis Medium" panose="02000603050000020003" pitchFamily="2" charset="0"/>
              </a:rPr>
              <a:t> forced sex was reported</a:t>
            </a:r>
            <a:r>
              <a:rPr lang="en-US" sz="1200" baseline="0" dirty="0" smtClean="0">
                <a:latin typeface="Memphis Medium" panose="02000603050000020003" pitchFamily="2" charset="0"/>
              </a:rPr>
              <a:t> </a:t>
            </a:r>
            <a:r>
              <a:rPr lang="en-US" sz="1200" dirty="0" smtClean="0">
                <a:latin typeface="Memphis Medium" panose="02000603050000020003" pitchFamily="2" charset="0"/>
              </a:rPr>
              <a:t>to be the least common, adults and children in all</a:t>
            </a:r>
            <a:r>
              <a:rPr lang="en-US" sz="1200" baseline="0" dirty="0" smtClean="0">
                <a:latin typeface="Memphis Medium" panose="02000603050000020003" pitchFamily="2" charset="0"/>
              </a:rPr>
              <a:t> </a:t>
            </a:r>
            <a:r>
              <a:rPr lang="en-US" sz="1200" dirty="0" smtClean="0">
                <a:latin typeface="Memphis Medium" panose="02000603050000020003" pitchFamily="2" charset="0"/>
              </a:rPr>
              <a:t>fieldwork locations visited as part of this study</a:t>
            </a:r>
            <a:r>
              <a:rPr lang="en-US" sz="1200" baseline="0" dirty="0" smtClean="0">
                <a:latin typeface="Memphis Medium" panose="02000603050000020003" pitchFamily="2" charset="0"/>
              </a:rPr>
              <a:t> </a:t>
            </a:r>
            <a:r>
              <a:rPr lang="en-US" sz="1200" dirty="0" err="1" smtClean="0">
                <a:latin typeface="Memphis Medium" panose="02000603050000020003" pitchFamily="2" charset="0"/>
              </a:rPr>
              <a:t>emphasised</a:t>
            </a:r>
            <a:r>
              <a:rPr lang="en-US" sz="1200" dirty="0" smtClean="0">
                <a:latin typeface="Memphis Medium" panose="02000603050000020003" pitchFamily="2" charset="0"/>
              </a:rPr>
              <a:t> that it was of key concern to them. Many</a:t>
            </a:r>
            <a:r>
              <a:rPr lang="en-US" sz="1200" baseline="0" dirty="0" smtClean="0">
                <a:latin typeface="Memphis Medium" panose="02000603050000020003" pitchFamily="2" charset="0"/>
              </a:rPr>
              <a:t> </a:t>
            </a:r>
            <a:r>
              <a:rPr lang="en-US" sz="1200" dirty="0" smtClean="0">
                <a:latin typeface="Memphis Medium" panose="02000603050000020003" pitchFamily="2" charset="0"/>
              </a:rPr>
              <a:t>incidences of forced sex perpetrated by individuals and</a:t>
            </a:r>
            <a:r>
              <a:rPr lang="en-US" sz="1200" baseline="0" dirty="0" smtClean="0">
                <a:latin typeface="Memphis Medium" panose="02000603050000020003" pitchFamily="2" charset="0"/>
              </a:rPr>
              <a:t> </a:t>
            </a:r>
            <a:r>
              <a:rPr lang="en-US" sz="1200" dirty="0" smtClean="0">
                <a:latin typeface="Memphis Medium" panose="02000603050000020003" pitchFamily="2" charset="0"/>
              </a:rPr>
              <a:t>groups were cited. Verbal sexual abuse was identified to</a:t>
            </a:r>
            <a:r>
              <a:rPr lang="en-US" sz="1200" baseline="0" dirty="0" smtClean="0">
                <a:latin typeface="Memphis Medium" panose="02000603050000020003" pitchFamily="2" charset="0"/>
              </a:rPr>
              <a:t> </a:t>
            </a:r>
            <a:r>
              <a:rPr lang="en-US" sz="1200" dirty="0" smtClean="0">
                <a:latin typeface="Memphis Medium" panose="02000603050000020003" pitchFamily="2" charset="0"/>
              </a:rPr>
              <a:t>be the most common. Cases of sexual touching were</a:t>
            </a:r>
            <a:r>
              <a:rPr lang="en-US" sz="1200" baseline="0" dirty="0" smtClean="0">
                <a:latin typeface="Memphis Medium" panose="02000603050000020003" pitchFamily="2" charset="0"/>
              </a:rPr>
              <a:t> </a:t>
            </a:r>
            <a:r>
              <a:rPr lang="en-US" sz="1200" dirty="0" smtClean="0">
                <a:latin typeface="Memphis Medium" panose="02000603050000020003" pitchFamily="2" charset="0"/>
              </a:rPr>
              <a:t>cited by more than half the fieldwork participants and</a:t>
            </a:r>
            <a:r>
              <a:rPr lang="en-US" sz="1200" baseline="0" dirty="0" smtClean="0">
                <a:latin typeface="Memphis Medium" panose="02000603050000020003" pitchFamily="2" charset="0"/>
              </a:rPr>
              <a:t> </a:t>
            </a:r>
            <a:r>
              <a:rPr lang="en-US" sz="1200" dirty="0" smtClean="0">
                <a:latin typeface="Memphis Medium" panose="02000603050000020003" pitchFamily="2" charset="0"/>
              </a:rPr>
              <a:t>kissing by just over one-third.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 smtClean="0">
              <a:latin typeface="Memphis Medium" panose="02000603050000020003" pitchFamily="2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FA105-7A6D-4D27-83E5-32585B43F7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06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latin typeface="Memphis Medium" panose="02000603050000020003" pitchFamily="2" charset="0"/>
              </a:rPr>
              <a:t>62% of 856 cases between 2004-2006 were not resolved within the same year </a:t>
            </a:r>
          </a:p>
          <a:p>
            <a:r>
              <a:rPr lang="en-US" dirty="0" smtClean="0"/>
              <a:t>Local authorities feel powerless to act against international</a:t>
            </a:r>
            <a:r>
              <a:rPr lang="en-US" baseline="0" dirty="0" smtClean="0"/>
              <a:t> actor, are unable to gather sufficient evidence, are unwilling to act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FA105-7A6D-4D27-83E5-32585B43F7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4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 recommend that this watchdog be located within</a:t>
            </a:r>
            <a:r>
              <a:rPr lang="en-US" baseline="0" dirty="0" smtClean="0"/>
              <a:t> </a:t>
            </a:r>
            <a:r>
              <a:rPr lang="en-US" dirty="0" smtClean="0"/>
              <a:t>the existing Executive Committees on Humanitarian</a:t>
            </a:r>
            <a:r>
              <a:rPr lang="en-US" baseline="0" dirty="0" smtClean="0"/>
              <a:t> </a:t>
            </a:r>
            <a:r>
              <a:rPr lang="en-US" dirty="0" smtClean="0"/>
              <a:t>Affairs and Peace and Security UN and NGO Task</a:t>
            </a:r>
            <a:r>
              <a:rPr lang="en-US" baseline="0" dirty="0" smtClean="0"/>
              <a:t> </a:t>
            </a:r>
            <a:r>
              <a:rPr lang="en-US" dirty="0" smtClean="0"/>
              <a:t>Force on Sexual Exploitation and Abuse (Task Force).</a:t>
            </a:r>
            <a:r>
              <a:rPr lang="en-US" baseline="0" dirty="0" smtClean="0"/>
              <a:t> </a:t>
            </a:r>
            <a:r>
              <a:rPr lang="en-US" dirty="0" smtClean="0"/>
              <a:t>This Task Force is a critical focal point for</a:t>
            </a:r>
            <a:r>
              <a:rPr lang="en-US" baseline="0" dirty="0" smtClean="0"/>
              <a:t> </a:t>
            </a:r>
            <a:r>
              <a:rPr lang="en-US" dirty="0" smtClean="0"/>
              <a:t>international</a:t>
            </a:r>
            <a:r>
              <a:rPr lang="en-US" baseline="0" dirty="0" smtClean="0"/>
              <a:t> </a:t>
            </a:r>
            <a:r>
              <a:rPr lang="en-US" dirty="0" smtClean="0"/>
              <a:t>action and already contains sound representation,</a:t>
            </a:r>
            <a:r>
              <a:rPr lang="en-US" baseline="0" dirty="0" smtClean="0"/>
              <a:t> </a:t>
            </a:r>
            <a:r>
              <a:rPr lang="en-US" dirty="0" smtClean="0"/>
              <a:t>expertise and dedication from a range of humanitarian,</a:t>
            </a:r>
            <a:r>
              <a:rPr lang="en-US" baseline="0" dirty="0" smtClean="0"/>
              <a:t> </a:t>
            </a:r>
            <a:r>
              <a:rPr lang="en-US" dirty="0" smtClean="0"/>
              <a:t>development and security UN agencies and NGOs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FA105-7A6D-4D27-83E5-32585B43F7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4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ISAC,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task force.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Inter-Agency Standing Committee is an inter-agency forum of UN 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FA105-7A6D-4D27-83E5-32585B43F7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4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7816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399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8021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5833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717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5472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6392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903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1715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8301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5247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1889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3379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9227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475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6722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5982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1173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1226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5486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3494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217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57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9EC4A-3862-4BFA-BE6E-F29D0FBF5C4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1/24/2019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98911-A112-4376-9709-510CD927615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69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aid.gov/work-usaid/aapds-cibs/aapd-18-03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s://www.usaid.gov/ads/policy/300/303" TargetMode="External"/><Relationship Id="rId1" Type="http://schemas.openxmlformats.org/officeDocument/2006/relationships/slideLayout" Target="../slideLayouts/slideLayout24.xml"/><Relationship Id="rId6" Type="http://schemas.openxmlformats.org/officeDocument/2006/relationships/hyperlink" Target="mailto:ig.hotline@usaid.gov" TargetMode="External"/><Relationship Id="rId5" Type="http://schemas.openxmlformats.org/officeDocument/2006/relationships/hyperlink" Target="https://sites.google.com/site/usaidipnforassistance/general-notices" TargetMode="External"/><Relationship Id="rId4" Type="http://schemas.openxmlformats.org/officeDocument/2006/relationships/hyperlink" Target="https://sites.google.com/site/usaidipnforacquisitions/general-notic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358" y="1504950"/>
            <a:ext cx="54366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prstClr val="white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Compliance Training</a:t>
            </a:r>
            <a:endParaRPr lang="en-US" sz="4400" dirty="0">
              <a:solidFill>
                <a:prstClr val="white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8356" y="2266950"/>
            <a:ext cx="406504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i="1" dirty="0" smtClean="0">
                <a:solidFill>
                  <a:prstClr val="white"/>
                </a:solidFill>
                <a:latin typeface="Lato" pitchFamily="34" charset="0"/>
                <a:ea typeface="Lato" pitchFamily="34" charset="0"/>
                <a:cs typeface="Lato" pitchFamily="34" charset="0"/>
              </a:rPr>
              <a:t>Protecting Vulnerable Groups from Sexual Exploitation and Abuse</a:t>
            </a:r>
            <a:endParaRPr lang="en-US" sz="1900" i="1" dirty="0">
              <a:solidFill>
                <a:prstClr val="white"/>
              </a:solidFill>
              <a:latin typeface="Lato" pitchFamily="34" charset="0"/>
              <a:ea typeface="Lato" pitchFamily="34" charset="0"/>
              <a:cs typeface="Lato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04800" y="4019550"/>
            <a:ext cx="3536950" cy="0"/>
          </a:xfrm>
          <a:prstGeom prst="line">
            <a:avLst/>
          </a:prstGeom>
          <a:ln w="12700">
            <a:solidFill>
              <a:schemeClr val="bg1">
                <a:alpha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4324350"/>
            <a:ext cx="1524000" cy="58293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2" y="4410915"/>
            <a:ext cx="2239369" cy="40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757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"/>
            <a:ext cx="8229600" cy="857250"/>
          </a:xfrm>
        </p:spPr>
        <p:txBody>
          <a:bodyPr>
            <a:normAutofit/>
          </a:bodyPr>
          <a:lstStyle/>
          <a:p>
            <a:r>
              <a:rPr lang="en-US" sz="3000" dirty="0" smtClean="0">
                <a:solidFill>
                  <a:srgbClr val="658E2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What is SEA?</a:t>
            </a:r>
            <a:endParaRPr lang="en-US" sz="3000" dirty="0">
              <a:solidFill>
                <a:srgbClr val="658E22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5276850" y="4781551"/>
            <a:ext cx="3810000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 smtClean="0">
                <a:solidFill>
                  <a:srgbClr val="658E22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900" b="1" dirty="0" smtClean="0">
                <a:solidFill>
                  <a:srgbClr val="658E22"/>
                </a:solidFill>
                <a:latin typeface="Courier New"/>
                <a:cs typeface="Courier New"/>
              </a:rPr>
              <a:t>│</a:t>
            </a:r>
            <a:r>
              <a:rPr lang="en-US" sz="900" b="1" dirty="0" smtClean="0">
                <a:solidFill>
                  <a:srgbClr val="658E22"/>
                </a:solidFill>
                <a:latin typeface="Lao UI" pitchFamily="34" charset="0"/>
                <a:cs typeface="Lao UI" pitchFamily="34" charset="0"/>
              </a:rPr>
              <a:t> Economic Development &amp; Health</a:t>
            </a:r>
            <a:endParaRPr lang="en-US" sz="900" b="1" dirty="0">
              <a:solidFill>
                <a:srgbClr val="658E22"/>
              </a:solidFill>
              <a:latin typeface="Lao UI" pitchFamily="34" charset="0"/>
              <a:cs typeface="Lao UI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8362666" y="-123683"/>
            <a:ext cx="609600" cy="914400"/>
            <a:chOff x="8185123" y="-95250"/>
            <a:chExt cx="609600" cy="914400"/>
          </a:xfrm>
        </p:grpSpPr>
        <p:sp>
          <p:nvSpPr>
            <p:cNvPr id="16" name="Rectangle 15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658E22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0122" y="285750"/>
              <a:ext cx="539602" cy="457200"/>
            </a:xfrm>
            <a:prstGeom prst="rect">
              <a:avLst/>
            </a:prstGeom>
          </p:spPr>
        </p:pic>
      </p:grp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971550"/>
            <a:ext cx="8229600" cy="362307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400" dirty="0">
                <a:latin typeface="Lao UI" pitchFamily="34" charset="0"/>
                <a:ea typeface="Segoe UI" pitchFamily="34" charset="0"/>
                <a:cs typeface="Lao UI" pitchFamily="34" charset="0"/>
              </a:rPr>
              <a:t>The sexual exploitation and abuse of vulnerable populations by personnel of humanitarian, NGOs, and other international organizations</a:t>
            </a:r>
          </a:p>
          <a:p>
            <a:endParaRPr lang="en-US" sz="64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r>
              <a:rPr lang="en-US" sz="6400" dirty="0">
                <a:latin typeface="Lao UI" pitchFamily="34" charset="0"/>
                <a:ea typeface="Segoe UI" pitchFamily="34" charset="0"/>
                <a:cs typeface="Lao UI" pitchFamily="34" charset="0"/>
              </a:rPr>
              <a:t>99% of perpetrators are </a:t>
            </a:r>
            <a:r>
              <a:rPr lang="en-US" sz="64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male</a:t>
            </a:r>
            <a:endParaRPr lang="en-US" sz="64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r>
              <a:rPr lang="en-US" sz="6400" dirty="0">
                <a:latin typeface="Lao UI" pitchFamily="34" charset="0"/>
                <a:ea typeface="Segoe UI" pitchFamily="34" charset="0"/>
                <a:cs typeface="Lao UI" pitchFamily="34" charset="0"/>
              </a:rPr>
              <a:t>Younger children are the most vulnerable</a:t>
            </a:r>
          </a:p>
          <a:p>
            <a:pPr lvl="1"/>
            <a:r>
              <a:rPr lang="en-US" sz="5600" dirty="0">
                <a:solidFill>
                  <a:srgbClr val="658E22"/>
                </a:solidFill>
                <a:latin typeface="Lao UI" panose="020B0502040204020203" pitchFamily="34" charset="0"/>
                <a:ea typeface="Segoe UI" pitchFamily="34" charset="0"/>
                <a:cs typeface="Lao UI" panose="020B0502040204020203" pitchFamily="34" charset="0"/>
              </a:rPr>
              <a:t>Orphans, children separated from parents, or displaced from their home communities</a:t>
            </a:r>
          </a:p>
          <a:p>
            <a:pPr lvl="1"/>
            <a:r>
              <a:rPr lang="en-US" sz="5600" dirty="0">
                <a:solidFill>
                  <a:srgbClr val="658E22"/>
                </a:solidFill>
                <a:latin typeface="Lao UI" panose="020B0502040204020203" pitchFamily="34" charset="0"/>
                <a:ea typeface="Segoe UI" pitchFamily="34" charset="0"/>
                <a:cs typeface="Lao UI" panose="020B0502040204020203" pitchFamily="34" charset="0"/>
              </a:rPr>
              <a:t>From poor families </a:t>
            </a:r>
          </a:p>
          <a:p>
            <a:pPr lvl="1"/>
            <a:r>
              <a:rPr lang="en-US" sz="5600" dirty="0">
                <a:solidFill>
                  <a:srgbClr val="658E22"/>
                </a:solidFill>
                <a:latin typeface="Lao UI" panose="020B0502040204020203" pitchFamily="34" charset="0"/>
                <a:ea typeface="Segoe UI" pitchFamily="34" charset="0"/>
                <a:cs typeface="Lao UI" panose="020B0502040204020203" pitchFamily="34" charset="0"/>
              </a:rPr>
              <a:t>Children discriminated against</a:t>
            </a:r>
          </a:p>
          <a:p>
            <a:pPr lvl="1"/>
            <a:r>
              <a:rPr lang="en-US" sz="5600" dirty="0">
                <a:solidFill>
                  <a:srgbClr val="658E22"/>
                </a:solidFill>
                <a:latin typeface="Lao UI" panose="020B0502040204020203" pitchFamily="34" charset="0"/>
                <a:ea typeface="Segoe UI" pitchFamily="34" charset="0"/>
                <a:cs typeface="Lao UI" panose="020B0502040204020203" pitchFamily="34" charset="0"/>
              </a:rPr>
              <a:t>Children dependent on humanitarian assistance</a:t>
            </a:r>
          </a:p>
          <a:p>
            <a:pPr>
              <a:lnSpc>
                <a:spcPct val="170000"/>
              </a:lnSpc>
            </a:pPr>
            <a:r>
              <a:rPr lang="en-US" sz="64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Linked </a:t>
            </a:r>
            <a:r>
              <a:rPr lang="en-US" sz="6400" dirty="0">
                <a:latin typeface="Lao UI" pitchFamily="34" charset="0"/>
                <a:ea typeface="Segoe UI" pitchFamily="34" charset="0"/>
                <a:cs typeface="Lao UI" pitchFamily="34" charset="0"/>
              </a:rPr>
              <a:t>to Power </a:t>
            </a:r>
          </a:p>
          <a:p>
            <a:pPr>
              <a:lnSpc>
                <a:spcPct val="170000"/>
              </a:lnSpc>
            </a:pPr>
            <a:r>
              <a:rPr lang="en-US" sz="6400" dirty="0">
                <a:latin typeface="Lao UI" pitchFamily="34" charset="0"/>
                <a:ea typeface="Segoe UI" pitchFamily="34" charset="0"/>
                <a:cs typeface="Lao UI" pitchFamily="34" charset="0"/>
              </a:rPr>
              <a:t>Failure to protect those whom these organizations are meant to protect and/or assist</a:t>
            </a:r>
          </a:p>
          <a:p>
            <a:pPr>
              <a:lnSpc>
                <a:spcPct val="170000"/>
              </a:lnSpc>
            </a:pPr>
            <a:r>
              <a:rPr lang="en-US" sz="6400" dirty="0">
                <a:latin typeface="Lao UI" pitchFamily="34" charset="0"/>
                <a:ea typeface="Segoe UI" pitchFamily="34" charset="0"/>
                <a:cs typeface="Lao UI" pitchFamily="34" charset="0"/>
              </a:rPr>
              <a:t>Illustrates the vulnerability of these populations &amp; shortcomings or absence of systems to prevent and report these abuses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87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866" y="67312"/>
            <a:ext cx="8229600" cy="857250"/>
          </a:xfrm>
        </p:spPr>
        <p:txBody>
          <a:bodyPr>
            <a:normAutofit/>
          </a:bodyPr>
          <a:lstStyle/>
          <a:p>
            <a:r>
              <a:rPr lang="en-US" sz="3000" dirty="0" smtClean="0">
                <a:solidFill>
                  <a:srgbClr val="658E2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Sexual Exploitation</a:t>
            </a:r>
            <a:endParaRPr lang="en-US" sz="3000" dirty="0">
              <a:solidFill>
                <a:srgbClr val="658E22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5276850" y="4781551"/>
            <a:ext cx="3810000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 smtClean="0">
                <a:solidFill>
                  <a:srgbClr val="658E22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900" b="1" dirty="0" smtClean="0">
                <a:solidFill>
                  <a:srgbClr val="658E22"/>
                </a:solidFill>
                <a:latin typeface="Courier New"/>
                <a:cs typeface="Courier New"/>
              </a:rPr>
              <a:t>│</a:t>
            </a:r>
            <a:r>
              <a:rPr lang="en-US" sz="900" b="1" dirty="0" smtClean="0">
                <a:solidFill>
                  <a:srgbClr val="658E22"/>
                </a:solidFill>
                <a:latin typeface="Lao UI" pitchFamily="34" charset="0"/>
                <a:cs typeface="Lao UI" pitchFamily="34" charset="0"/>
              </a:rPr>
              <a:t> Economic Development &amp; Health</a:t>
            </a:r>
            <a:endParaRPr lang="en-US" sz="900" b="1" dirty="0">
              <a:solidFill>
                <a:srgbClr val="658E22"/>
              </a:solidFill>
              <a:latin typeface="Lao UI" pitchFamily="34" charset="0"/>
              <a:cs typeface="Lao UI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8362666" y="-123683"/>
            <a:ext cx="609600" cy="914400"/>
            <a:chOff x="8185123" y="-95250"/>
            <a:chExt cx="609600" cy="914400"/>
          </a:xfrm>
        </p:grpSpPr>
        <p:sp>
          <p:nvSpPr>
            <p:cNvPr id="16" name="Rectangle 15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658E22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0122" y="285750"/>
              <a:ext cx="539602" cy="457200"/>
            </a:xfrm>
            <a:prstGeom prst="rect">
              <a:avLst/>
            </a:prstGeom>
          </p:spPr>
        </p:pic>
      </p:grp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971551"/>
            <a:ext cx="8229600" cy="99060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Lao UI" pitchFamily="34" charset="0"/>
                <a:ea typeface="Segoe UI" pitchFamily="34" charset="0"/>
                <a:cs typeface="Lao UI" pitchFamily="34" charset="0"/>
              </a:rPr>
              <a:t>Any actual or attempted abuse of a position of vulnerability, differential power or trust for sexual purposes, including, but not limited to, profiting monetarily, socially, or politically from the sexual exploitation of another 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81000" y="2495550"/>
            <a:ext cx="82864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658E2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Sexual </a:t>
            </a:r>
            <a:r>
              <a:rPr lang="en-US" sz="3000" dirty="0" smtClean="0">
                <a:solidFill>
                  <a:srgbClr val="658E2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Abuse</a:t>
            </a:r>
            <a:endParaRPr lang="en-US" sz="3000" dirty="0"/>
          </a:p>
        </p:txBody>
      </p:sp>
      <p:sp>
        <p:nvSpPr>
          <p:cNvPr id="5" name="TextBox 4"/>
          <p:cNvSpPr txBox="1"/>
          <p:nvPr/>
        </p:nvSpPr>
        <p:spPr>
          <a:xfrm>
            <a:off x="381000" y="3333750"/>
            <a:ext cx="8286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o UI" pitchFamily="34" charset="0"/>
                <a:cs typeface="Lao UI" pitchFamily="34" charset="0"/>
              </a:rPr>
              <a:t>The </a:t>
            </a:r>
            <a:r>
              <a:rPr lang="en-US" b="1" dirty="0">
                <a:latin typeface="Lao UI" pitchFamily="34" charset="0"/>
                <a:cs typeface="Lao UI" pitchFamily="34" charset="0"/>
              </a:rPr>
              <a:t>actual</a:t>
            </a:r>
            <a:r>
              <a:rPr lang="en-US" dirty="0">
                <a:latin typeface="Lao UI" pitchFamily="34" charset="0"/>
                <a:cs typeface="Lao UI" pitchFamily="34" charset="0"/>
              </a:rPr>
              <a:t> or </a:t>
            </a:r>
            <a:r>
              <a:rPr lang="en-US" b="1" dirty="0">
                <a:latin typeface="Lao UI" pitchFamily="34" charset="0"/>
                <a:cs typeface="Lao UI" pitchFamily="34" charset="0"/>
              </a:rPr>
              <a:t>threatened</a:t>
            </a:r>
            <a:r>
              <a:rPr lang="en-US" dirty="0">
                <a:latin typeface="Lao UI" pitchFamily="34" charset="0"/>
                <a:cs typeface="Lao UI" pitchFamily="34" charset="0"/>
              </a:rPr>
              <a:t> physical intrusion of a sexual nature, whether by force or under equal or coercive conditions</a:t>
            </a:r>
          </a:p>
        </p:txBody>
      </p:sp>
    </p:spTree>
    <p:extLst>
      <p:ext uri="{BB962C8B-B14F-4D97-AF65-F5344CB8AC3E}">
        <p14:creationId xmlns:p14="http://schemas.microsoft.com/office/powerpoint/2010/main" val="610807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49726" y="263004"/>
            <a:ext cx="3883526" cy="500125"/>
          </a:xfrm>
          <a:prstGeom prst="rect">
            <a:avLst/>
          </a:prstGeom>
          <a:solidFill>
            <a:srgbClr val="658E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-1424754" y="5829"/>
            <a:ext cx="5020176" cy="9715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400" dirty="0" smtClean="0">
                <a:solidFill>
                  <a:prstClr val="white"/>
                </a:solidFill>
                <a:latin typeface="Gill Sans MT" pitchFamily="34" charset="0"/>
              </a:rPr>
              <a:t>Examples</a:t>
            </a:r>
            <a:endParaRPr lang="en-US" sz="2400" dirty="0">
              <a:solidFill>
                <a:prstClr val="white"/>
              </a:solidFill>
              <a:latin typeface="Gill Sans MT" pitchFamily="34" charset="0"/>
            </a:endParaRPr>
          </a:p>
        </p:txBody>
      </p:sp>
      <p:sp>
        <p:nvSpPr>
          <p:cNvPr id="37" name="Title 1"/>
          <p:cNvSpPr txBox="1">
            <a:spLocks/>
          </p:cNvSpPr>
          <p:nvPr/>
        </p:nvSpPr>
        <p:spPr>
          <a:xfrm>
            <a:off x="-149726" y="4785845"/>
            <a:ext cx="3724777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b="1" dirty="0" smtClean="0">
                <a:solidFill>
                  <a:srgbClr val="658E22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1050" b="1" dirty="0" smtClean="0">
                <a:solidFill>
                  <a:srgbClr val="658E22"/>
                </a:solidFill>
                <a:latin typeface="Courier New"/>
                <a:cs typeface="Courier New"/>
              </a:rPr>
              <a:t>│</a:t>
            </a:r>
            <a:r>
              <a:rPr lang="en-US" sz="1050" b="1" dirty="0" smtClean="0">
                <a:solidFill>
                  <a:srgbClr val="658E22"/>
                </a:solidFill>
                <a:latin typeface="Lao UI" pitchFamily="34" charset="0"/>
                <a:cs typeface="Lao UI" pitchFamily="34" charset="0"/>
              </a:rPr>
              <a:t> Economic Development &amp; Health</a:t>
            </a:r>
            <a:endParaRPr lang="en-US" sz="1050" b="1" dirty="0">
              <a:solidFill>
                <a:srgbClr val="658E22"/>
              </a:solidFill>
              <a:latin typeface="Lao UI" pitchFamily="34" charset="0"/>
              <a:cs typeface="Lao UI" pitchFamily="34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8362924" y="-117996"/>
            <a:ext cx="609600" cy="914400"/>
            <a:chOff x="8185123" y="-95250"/>
            <a:chExt cx="609600" cy="914400"/>
          </a:xfrm>
        </p:grpSpPr>
        <p:sp>
          <p:nvSpPr>
            <p:cNvPr id="38" name="Rectangle 37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658E22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0122" y="285750"/>
              <a:ext cx="539602" cy="457200"/>
            </a:xfrm>
            <a:prstGeom prst="rect">
              <a:avLst/>
            </a:prstGeom>
          </p:spPr>
        </p:pic>
      </p:grpSp>
      <p:sp>
        <p:nvSpPr>
          <p:cNvPr id="10" name="TextBox 9"/>
          <p:cNvSpPr txBox="1"/>
          <p:nvPr/>
        </p:nvSpPr>
        <p:spPr>
          <a:xfrm>
            <a:off x="590475" y="839452"/>
            <a:ext cx="77724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ao UI" pitchFamily="34" charset="0"/>
                <a:cs typeface="Lao UI" pitchFamily="34" charset="0"/>
              </a:rPr>
              <a:t>Trading Sex for food and other non-monetary items or services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ao UI" pitchFamily="34" charset="0"/>
                <a:cs typeface="Lao UI" pitchFamily="34" charset="0"/>
              </a:rPr>
              <a:t>Child Trafficking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ao UI" pitchFamily="34" charset="0"/>
                <a:cs typeface="Lao UI" pitchFamily="34" charset="0"/>
              </a:rPr>
              <a:t>Forced Sex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ao UI" pitchFamily="34" charset="0"/>
                <a:cs typeface="Lao UI" pitchFamily="34" charset="0"/>
              </a:rPr>
              <a:t>Verbal Sexual Abuse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ao UI" pitchFamily="34" charset="0"/>
                <a:cs typeface="Lao UI" pitchFamily="34" charset="0"/>
              </a:rPr>
              <a:t>Child Prostitution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ao UI" pitchFamily="34" charset="0"/>
                <a:cs typeface="Lao UI" pitchFamily="34" charset="0"/>
              </a:rPr>
              <a:t>Child Pornography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ao UI" pitchFamily="34" charset="0"/>
                <a:cs typeface="Lao UI" pitchFamily="34" charset="0"/>
              </a:rPr>
              <a:t>Sexual Slavery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ao UI" pitchFamily="34" charset="0"/>
                <a:cs typeface="Lao UI" pitchFamily="34" charset="0"/>
              </a:rPr>
              <a:t>Indecent Sexual Assault</a:t>
            </a:r>
          </a:p>
          <a:p>
            <a:pPr lvl="4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</a:rPr>
              <a:t>                                                               </a:t>
            </a:r>
          </a:p>
          <a:p>
            <a:pPr lvl="4"/>
            <a:r>
              <a:rPr lang="en-US" sz="2000" dirty="0">
                <a:solidFill>
                  <a:srgbClr val="000000"/>
                </a:solidFill>
              </a:rPr>
              <a:t>			</a:t>
            </a:r>
            <a:r>
              <a:rPr lang="en-US" sz="2000" dirty="0">
                <a:solidFill>
                  <a:srgbClr val="000000"/>
                </a:solidFill>
                <a:latin typeface="Lao UI" pitchFamily="34" charset="0"/>
                <a:cs typeface="Lao UI" pitchFamily="34" charset="0"/>
              </a:rPr>
              <a:t>  </a:t>
            </a:r>
            <a:r>
              <a:rPr lang="en-US" sz="2000" dirty="0" smtClean="0">
                <a:solidFill>
                  <a:srgbClr val="000000"/>
                </a:solidFill>
                <a:latin typeface="Lao UI" pitchFamily="34" charset="0"/>
                <a:cs typeface="Lao UI" pitchFamily="34" charset="0"/>
              </a:rPr>
              <a:t>  </a:t>
            </a:r>
            <a:r>
              <a:rPr lang="en-US" sz="800" dirty="0" err="1">
                <a:solidFill>
                  <a:srgbClr val="000000"/>
                </a:solidFill>
                <a:latin typeface="Lao UI" pitchFamily="34" charset="0"/>
                <a:cs typeface="Lao UI" pitchFamily="34" charset="0"/>
              </a:rPr>
              <a:t>Csaky</a:t>
            </a:r>
            <a:r>
              <a:rPr lang="en-US" sz="800" dirty="0">
                <a:solidFill>
                  <a:srgbClr val="000000"/>
                </a:solidFill>
                <a:latin typeface="Lao UI" pitchFamily="34" charset="0"/>
                <a:cs typeface="Lao UI" pitchFamily="34" charset="0"/>
              </a:rPr>
              <a:t>, C. “No One to Turn To,” Save the Children, </a:t>
            </a:r>
            <a:r>
              <a:rPr lang="en-US" sz="800" dirty="0" smtClean="0">
                <a:solidFill>
                  <a:srgbClr val="000000"/>
                </a:solidFill>
                <a:latin typeface="Lao UI" pitchFamily="34" charset="0"/>
                <a:cs typeface="Lao UI" pitchFamily="34" charset="0"/>
              </a:rPr>
              <a:t> 2008</a:t>
            </a:r>
            <a:endParaRPr lang="en-US" sz="800" dirty="0">
              <a:solidFill>
                <a:srgbClr val="000000"/>
              </a:solidFill>
              <a:latin typeface="Lao UI" pitchFamily="34" charset="0"/>
              <a:cs typeface="Lao UI" pitchFamily="34" charset="0"/>
            </a:endParaRPr>
          </a:p>
          <a:p>
            <a:endParaRPr lang="en-US" sz="1200" dirty="0">
              <a:solidFill>
                <a:prstClr val="black"/>
              </a:solidFill>
              <a:latin typeface="Lao UI" pitchFamily="34" charset="0"/>
              <a:ea typeface="Lato" pitchFamily="34" charset="0"/>
              <a:cs typeface="Lao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641" y="1352550"/>
            <a:ext cx="5567729" cy="293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04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"/>
            <a:ext cx="8229600" cy="857250"/>
          </a:xfrm>
        </p:spPr>
        <p:txBody>
          <a:bodyPr>
            <a:normAutofit/>
          </a:bodyPr>
          <a:lstStyle/>
          <a:p>
            <a:r>
              <a:rPr lang="en-US" sz="3000" dirty="0" smtClean="0">
                <a:solidFill>
                  <a:srgbClr val="658E2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Who are the Abusers?</a:t>
            </a:r>
            <a:endParaRPr lang="en-US" sz="3000" dirty="0">
              <a:solidFill>
                <a:srgbClr val="658E22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5276850" y="4781551"/>
            <a:ext cx="3810000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 smtClean="0">
                <a:solidFill>
                  <a:srgbClr val="658E22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900" b="1" dirty="0" smtClean="0">
                <a:solidFill>
                  <a:srgbClr val="658E22"/>
                </a:solidFill>
                <a:latin typeface="Courier New"/>
                <a:cs typeface="Courier New"/>
              </a:rPr>
              <a:t>│</a:t>
            </a:r>
            <a:r>
              <a:rPr lang="en-US" sz="900" b="1" dirty="0" smtClean="0">
                <a:solidFill>
                  <a:srgbClr val="658E22"/>
                </a:solidFill>
                <a:latin typeface="Lao UI" pitchFamily="34" charset="0"/>
                <a:cs typeface="Lao UI" pitchFamily="34" charset="0"/>
              </a:rPr>
              <a:t> Economic Development &amp; Health</a:t>
            </a:r>
            <a:endParaRPr lang="en-US" sz="900" b="1" dirty="0">
              <a:solidFill>
                <a:srgbClr val="658E22"/>
              </a:solidFill>
              <a:latin typeface="Lao UI" pitchFamily="34" charset="0"/>
              <a:cs typeface="Lao UI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8362666" y="-123683"/>
            <a:ext cx="609600" cy="914400"/>
            <a:chOff x="8185123" y="-95250"/>
            <a:chExt cx="609600" cy="914400"/>
          </a:xfrm>
        </p:grpSpPr>
        <p:sp>
          <p:nvSpPr>
            <p:cNvPr id="16" name="Rectangle 15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658E22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0122" y="285750"/>
              <a:ext cx="539602" cy="457200"/>
            </a:xfrm>
            <a:prstGeom prst="rect">
              <a:avLst/>
            </a:prstGeom>
          </p:spPr>
        </p:pic>
      </p:grp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821413"/>
            <a:ext cx="4038600" cy="4119835"/>
          </a:xfrm>
        </p:spPr>
        <p:txBody>
          <a:bodyPr>
            <a:normAutofit/>
          </a:bodyPr>
          <a:lstStyle/>
          <a:p>
            <a:r>
              <a:rPr lang="en-US" sz="1500" dirty="0">
                <a:latin typeface="Lao UI" pitchFamily="34" charset="0"/>
                <a:ea typeface="Segoe UI" pitchFamily="34" charset="0"/>
                <a:cs typeface="Lao UI" pitchFamily="34" charset="0"/>
              </a:rPr>
              <a:t>The UN Department of Peacekeeping Operations (DPKO) identified disproportionally as a source of </a:t>
            </a:r>
            <a:r>
              <a:rPr lang="en-US" sz="15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abuse</a:t>
            </a:r>
          </a:p>
          <a:p>
            <a:pPr lvl="1"/>
            <a:r>
              <a:rPr lang="en-US" sz="14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Peacekeepers </a:t>
            </a:r>
            <a:r>
              <a:rPr lang="en-US" sz="1400" dirty="0">
                <a:latin typeface="Lao UI" pitchFamily="34" charset="0"/>
                <a:ea typeface="Segoe UI" pitchFamily="34" charset="0"/>
                <a:cs typeface="Lao UI" pitchFamily="34" charset="0"/>
              </a:rPr>
              <a:t>have a significant influence over </a:t>
            </a:r>
            <a:r>
              <a:rPr lang="en-US" sz="14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communities</a:t>
            </a:r>
          </a:p>
          <a:p>
            <a:pPr lvl="1"/>
            <a:r>
              <a:rPr lang="en-US" sz="14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Usually armed/militarization</a:t>
            </a:r>
          </a:p>
          <a:p>
            <a:pPr lvl="1"/>
            <a:r>
              <a:rPr lang="en-US" sz="14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Located </a:t>
            </a:r>
            <a:r>
              <a:rPr lang="en-US" sz="1400" dirty="0">
                <a:latin typeface="Lao UI" pitchFamily="34" charset="0"/>
                <a:ea typeface="Segoe UI" pitchFamily="34" charset="0"/>
                <a:cs typeface="Lao UI" pitchFamily="34" charset="0"/>
              </a:rPr>
              <a:t>in areas of extreme conflict and/or high </a:t>
            </a:r>
            <a:r>
              <a:rPr lang="en-US" sz="14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vulnerability</a:t>
            </a:r>
          </a:p>
          <a:p>
            <a:pPr marL="457200" lvl="1" indent="0">
              <a:buNone/>
            </a:pPr>
            <a:endParaRPr lang="en-US" sz="14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r>
              <a:rPr lang="en-US" sz="1500" dirty="0">
                <a:latin typeface="Lao UI" pitchFamily="34" charset="0"/>
                <a:ea typeface="Segoe UI" pitchFamily="34" charset="0"/>
                <a:cs typeface="Lao UI" pitchFamily="34" charset="0"/>
              </a:rPr>
              <a:t>Also, other NGOs and International Organizations (OXFAM, Save the </a:t>
            </a:r>
            <a:r>
              <a:rPr lang="en-US" sz="15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Children)</a:t>
            </a:r>
          </a:p>
          <a:p>
            <a:pPr marL="0" indent="0">
              <a:buNone/>
            </a:pPr>
            <a:endParaRPr lang="en-US" sz="1500" dirty="0" smtClean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r>
              <a:rPr lang="en-US" sz="15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In </a:t>
            </a:r>
            <a:r>
              <a:rPr lang="en-US" sz="1500" dirty="0">
                <a:latin typeface="Lao UI" pitchFamily="34" charset="0"/>
                <a:ea typeface="Segoe UI" pitchFamily="34" charset="0"/>
                <a:cs typeface="Lao UI" pitchFamily="34" charset="0"/>
              </a:rPr>
              <a:t>2016, UN received 145 allegations of SEA: 80 against peacekeepers  </a:t>
            </a:r>
            <a:r>
              <a:rPr lang="en-US" sz="15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311 </a:t>
            </a:r>
            <a:r>
              <a:rPr lang="en-US" sz="1500" dirty="0">
                <a:latin typeface="Lao UI" pitchFamily="34" charset="0"/>
                <a:ea typeface="Segoe UI" pitchFamily="34" charset="0"/>
                <a:cs typeface="Lao UI" pitchFamily="34" charset="0"/>
              </a:rPr>
              <a:t>known victims: 309 women and girls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599" y="726805"/>
            <a:ext cx="3428999" cy="40547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09866" y="4558978"/>
            <a:ext cx="3657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>
                <a:latin typeface="Memphis Medium" panose="02000603050000020003" pitchFamily="2" charset="0"/>
              </a:rPr>
              <a:t>Source: </a:t>
            </a:r>
            <a:r>
              <a:rPr lang="en-US" sz="800" dirty="0" err="1" smtClean="0">
                <a:latin typeface="Memphis Medium" panose="02000603050000020003" pitchFamily="2" charset="0"/>
              </a:rPr>
              <a:t>Csaky</a:t>
            </a:r>
            <a:r>
              <a:rPr lang="en-US" sz="800" dirty="0">
                <a:latin typeface="Memphis Medium" panose="02000603050000020003" pitchFamily="2" charset="0"/>
              </a:rPr>
              <a:t>, C. “No One to Turn </a:t>
            </a:r>
            <a:r>
              <a:rPr lang="en-US" sz="800" dirty="0" smtClean="0">
                <a:latin typeface="Memphis Medium" panose="02000603050000020003" pitchFamily="2" charset="0"/>
              </a:rPr>
              <a:t>To,” </a:t>
            </a:r>
            <a:r>
              <a:rPr lang="en-US" sz="800" dirty="0">
                <a:latin typeface="Memphis Medium" panose="02000603050000020003" pitchFamily="2" charset="0"/>
              </a:rPr>
              <a:t>Save the Children, 2008</a:t>
            </a:r>
          </a:p>
        </p:txBody>
      </p:sp>
    </p:spTree>
    <p:extLst>
      <p:ext uri="{BB962C8B-B14F-4D97-AF65-F5344CB8AC3E}">
        <p14:creationId xmlns:p14="http://schemas.microsoft.com/office/powerpoint/2010/main" val="2246524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6934200" cy="5143500"/>
          </a:xfrm>
          <a:prstGeom prst="rect">
            <a:avLst/>
          </a:prstGeom>
          <a:blipFill dpi="0" rotWithShape="1">
            <a:blip r:embed="rId2" cstate="print">
              <a:alphaModFix amt="6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41927" y="2313368"/>
            <a:ext cx="8001000" cy="990600"/>
          </a:xfrm>
          <a:prstGeom prst="rect">
            <a:avLst/>
          </a:prstGeom>
          <a:solidFill>
            <a:srgbClr val="658E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2433364"/>
            <a:ext cx="885891" cy="7506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2547057"/>
            <a:ext cx="510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Challenges of SEA Prevention</a:t>
            </a:r>
            <a:endParaRPr lang="en-US" sz="2800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475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"/>
            <a:ext cx="8229600" cy="857250"/>
          </a:xfrm>
        </p:spPr>
        <p:txBody>
          <a:bodyPr>
            <a:normAutofit/>
          </a:bodyPr>
          <a:lstStyle/>
          <a:p>
            <a:r>
              <a:rPr lang="en-US" sz="3000" dirty="0" smtClean="0">
                <a:solidFill>
                  <a:srgbClr val="658E2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Under-Reporting</a:t>
            </a:r>
            <a:endParaRPr lang="en-US" sz="3000" dirty="0">
              <a:solidFill>
                <a:srgbClr val="658E22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5276850" y="4781551"/>
            <a:ext cx="3810000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 smtClean="0">
                <a:solidFill>
                  <a:srgbClr val="658E22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900" b="1" dirty="0" smtClean="0">
                <a:solidFill>
                  <a:srgbClr val="658E22"/>
                </a:solidFill>
                <a:latin typeface="Courier New"/>
                <a:cs typeface="Courier New"/>
              </a:rPr>
              <a:t>│</a:t>
            </a:r>
            <a:r>
              <a:rPr lang="en-US" sz="900" b="1" dirty="0" smtClean="0">
                <a:solidFill>
                  <a:srgbClr val="658E22"/>
                </a:solidFill>
                <a:latin typeface="Lao UI" pitchFamily="34" charset="0"/>
                <a:cs typeface="Lao UI" pitchFamily="34" charset="0"/>
              </a:rPr>
              <a:t> Economic Development &amp; Health</a:t>
            </a:r>
            <a:endParaRPr lang="en-US" sz="900" b="1" dirty="0">
              <a:solidFill>
                <a:srgbClr val="658E22"/>
              </a:solidFill>
              <a:latin typeface="Lao UI" pitchFamily="34" charset="0"/>
              <a:cs typeface="Lao UI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8362666" y="-123683"/>
            <a:ext cx="609600" cy="914400"/>
            <a:chOff x="8185123" y="-95250"/>
            <a:chExt cx="609600" cy="914400"/>
          </a:xfrm>
        </p:grpSpPr>
        <p:sp>
          <p:nvSpPr>
            <p:cNvPr id="16" name="Rectangle 15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658E22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0122" y="285750"/>
              <a:ext cx="539602" cy="457200"/>
            </a:xfrm>
            <a:prstGeom prst="rect">
              <a:avLst/>
            </a:prstGeom>
          </p:spPr>
        </p:pic>
      </p:grp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971550"/>
            <a:ext cx="8229600" cy="3623073"/>
          </a:xfrm>
        </p:spPr>
        <p:txBody>
          <a:bodyPr>
            <a:normAutofit fontScale="32500" lnSpcReduction="20000"/>
          </a:bodyPr>
          <a:lstStyle/>
          <a:p>
            <a:r>
              <a:rPr lang="en-US" sz="5200" dirty="0">
                <a:latin typeface="Lao UI" pitchFamily="34" charset="0"/>
                <a:ea typeface="Segoe UI" pitchFamily="34" charset="0"/>
                <a:cs typeface="Lao UI" pitchFamily="34" charset="0"/>
              </a:rPr>
              <a:t>Fear of losing much needed </a:t>
            </a:r>
            <a:r>
              <a:rPr lang="en-US" sz="52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assistance</a:t>
            </a:r>
          </a:p>
          <a:p>
            <a:endParaRPr lang="en-US" sz="52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r>
              <a:rPr lang="en-US" sz="5200" dirty="0">
                <a:latin typeface="Lao UI" pitchFamily="34" charset="0"/>
                <a:ea typeface="Segoe UI" pitchFamily="34" charset="0"/>
                <a:cs typeface="Lao UI" pitchFamily="34" charset="0"/>
              </a:rPr>
              <a:t>Fear of retaliation or retribution, and </a:t>
            </a:r>
            <a:r>
              <a:rPr lang="en-US" sz="52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stigmatization</a:t>
            </a:r>
          </a:p>
          <a:p>
            <a:endParaRPr lang="en-US" sz="52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r>
              <a:rPr lang="en-US" sz="5200" dirty="0">
                <a:latin typeface="Lao UI" pitchFamily="34" charset="0"/>
                <a:ea typeface="Segoe UI" pitchFamily="34" charset="0"/>
                <a:cs typeface="Lao UI" pitchFamily="34" charset="0"/>
              </a:rPr>
              <a:t>Lack of knowledge on SEA and/or how to report </a:t>
            </a:r>
            <a:r>
              <a:rPr lang="en-US" sz="52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it</a:t>
            </a:r>
          </a:p>
          <a:p>
            <a:endParaRPr lang="en-US" sz="5200" dirty="0" smtClean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r>
              <a:rPr lang="en-US" sz="52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Lack </a:t>
            </a:r>
            <a:r>
              <a:rPr lang="en-US" sz="5200" dirty="0">
                <a:latin typeface="Lao UI" pitchFamily="34" charset="0"/>
                <a:ea typeface="Segoe UI" pitchFamily="34" charset="0"/>
                <a:cs typeface="Lao UI" pitchFamily="34" charset="0"/>
              </a:rPr>
              <a:t>of effective and trustworthy reporting system </a:t>
            </a:r>
            <a:endParaRPr lang="en-US" sz="5200" dirty="0" smtClean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endParaRPr lang="en-US" sz="5200" dirty="0" smtClean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r>
              <a:rPr lang="en-US" sz="52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Feeling </a:t>
            </a:r>
            <a:r>
              <a:rPr lang="en-US" sz="5200" dirty="0">
                <a:latin typeface="Lao UI" pitchFamily="34" charset="0"/>
                <a:ea typeface="Segoe UI" pitchFamily="34" charset="0"/>
                <a:cs typeface="Lao UI" pitchFamily="34" charset="0"/>
              </a:rPr>
              <a:t>of powerlessness among vulnerable </a:t>
            </a:r>
            <a:r>
              <a:rPr lang="en-US" sz="52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groups</a:t>
            </a:r>
          </a:p>
          <a:p>
            <a:endParaRPr lang="en-US" sz="5200" dirty="0" smtClean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r>
              <a:rPr lang="en-US" sz="52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Acceptance </a:t>
            </a:r>
            <a:r>
              <a:rPr lang="en-US" sz="5200" dirty="0">
                <a:latin typeface="Lao UI" pitchFamily="34" charset="0"/>
                <a:ea typeface="Segoe UI" pitchFamily="34" charset="0"/>
                <a:cs typeface="Lao UI" pitchFamily="34" charset="0"/>
              </a:rPr>
              <a:t>of or resignation to </a:t>
            </a:r>
            <a:r>
              <a:rPr lang="en-US" sz="52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abuse</a:t>
            </a:r>
          </a:p>
          <a:p>
            <a:endParaRPr lang="en-US" sz="5200" dirty="0" smtClean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r>
              <a:rPr lang="en-US" sz="52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Cultural barriers</a:t>
            </a:r>
          </a:p>
          <a:p>
            <a:pPr marL="0" indent="0">
              <a:buNone/>
            </a:pPr>
            <a:endParaRPr lang="en-US" sz="50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724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"/>
            <a:ext cx="8229600" cy="857250"/>
          </a:xfrm>
        </p:spPr>
        <p:txBody>
          <a:bodyPr>
            <a:normAutofit/>
          </a:bodyPr>
          <a:lstStyle/>
          <a:p>
            <a:r>
              <a:rPr lang="en-US" sz="3000" dirty="0" smtClean="0">
                <a:solidFill>
                  <a:srgbClr val="658E2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Other Challenges</a:t>
            </a:r>
            <a:endParaRPr lang="en-US" sz="3000" dirty="0">
              <a:solidFill>
                <a:srgbClr val="658E22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5276850" y="4781551"/>
            <a:ext cx="3810000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 smtClean="0">
                <a:solidFill>
                  <a:srgbClr val="658E22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900" b="1" dirty="0" smtClean="0">
                <a:solidFill>
                  <a:srgbClr val="658E22"/>
                </a:solidFill>
                <a:latin typeface="Courier New"/>
                <a:cs typeface="Courier New"/>
              </a:rPr>
              <a:t>│</a:t>
            </a:r>
            <a:r>
              <a:rPr lang="en-US" sz="900" b="1" dirty="0" smtClean="0">
                <a:solidFill>
                  <a:srgbClr val="658E22"/>
                </a:solidFill>
                <a:latin typeface="Lao UI" pitchFamily="34" charset="0"/>
                <a:cs typeface="Lao UI" pitchFamily="34" charset="0"/>
              </a:rPr>
              <a:t> Economic Development &amp; Health</a:t>
            </a:r>
            <a:endParaRPr lang="en-US" sz="900" b="1" dirty="0">
              <a:solidFill>
                <a:srgbClr val="658E22"/>
              </a:solidFill>
              <a:latin typeface="Lao UI" pitchFamily="34" charset="0"/>
              <a:cs typeface="Lao UI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8362666" y="-123683"/>
            <a:ext cx="609600" cy="914400"/>
            <a:chOff x="8185123" y="-95250"/>
            <a:chExt cx="609600" cy="914400"/>
          </a:xfrm>
        </p:grpSpPr>
        <p:sp>
          <p:nvSpPr>
            <p:cNvPr id="16" name="Rectangle 15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658E22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0122" y="285750"/>
              <a:ext cx="539602" cy="457200"/>
            </a:xfrm>
            <a:prstGeom prst="rect">
              <a:avLst/>
            </a:prstGeom>
          </p:spPr>
        </p:pic>
      </p:grp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81000" y="790718"/>
            <a:ext cx="8305800" cy="3803906"/>
          </a:xfrm>
        </p:spPr>
        <p:txBody>
          <a:bodyPr>
            <a:noAutofit/>
          </a:bodyPr>
          <a:lstStyle/>
          <a:p>
            <a:r>
              <a:rPr lang="en-US" sz="1400" dirty="0">
                <a:latin typeface="Lao UI" pitchFamily="34" charset="0"/>
                <a:ea typeface="Segoe UI" pitchFamily="34" charset="0"/>
                <a:cs typeface="Lao UI" pitchFamily="34" charset="0"/>
              </a:rPr>
              <a:t>Weak chains of commands and little </a:t>
            </a:r>
            <a:r>
              <a:rPr lang="en-US" sz="14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oversight</a:t>
            </a:r>
          </a:p>
          <a:p>
            <a:endParaRPr lang="en-US" sz="14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r>
              <a:rPr lang="en-US" sz="1400" dirty="0">
                <a:latin typeface="Lao UI" pitchFamily="34" charset="0"/>
                <a:ea typeface="Segoe UI" pitchFamily="34" charset="0"/>
                <a:cs typeface="Lao UI" pitchFamily="34" charset="0"/>
              </a:rPr>
              <a:t>Local cultural, socioeconomic, and gender norms </a:t>
            </a:r>
            <a:endParaRPr lang="en-US" sz="1400" dirty="0" smtClean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endParaRPr lang="en-US" sz="14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r>
              <a:rPr lang="en-US" sz="1400" dirty="0">
                <a:latin typeface="Lao UI" pitchFamily="34" charset="0"/>
                <a:ea typeface="Segoe UI" pitchFamily="34" charset="0"/>
                <a:cs typeface="Lao UI" pitchFamily="34" charset="0"/>
              </a:rPr>
              <a:t>Sense of </a:t>
            </a:r>
            <a:r>
              <a:rPr lang="en-US" sz="14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impunity</a:t>
            </a:r>
          </a:p>
          <a:p>
            <a:endParaRPr lang="en-US" sz="14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r>
              <a:rPr lang="en-US" sz="1400" dirty="0">
                <a:latin typeface="Lao UI" pitchFamily="34" charset="0"/>
                <a:ea typeface="Segoe UI" pitchFamily="34" charset="0"/>
                <a:cs typeface="Lao UI" pitchFamily="34" charset="0"/>
              </a:rPr>
              <a:t>Poorly enforced hiring standards (screenings for prior misconduct) </a:t>
            </a:r>
            <a:endParaRPr lang="en-US" sz="1400" dirty="0" smtClean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endParaRPr lang="en-US" sz="14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r>
              <a:rPr lang="en-US" sz="1400" dirty="0">
                <a:latin typeface="Lao UI" pitchFamily="34" charset="0"/>
                <a:ea typeface="Segoe UI" pitchFamily="34" charset="0"/>
                <a:cs typeface="Lao UI" pitchFamily="34" charset="0"/>
              </a:rPr>
              <a:t>Poor or lack of SEA training and Code of Conduct enforcement </a:t>
            </a:r>
            <a:endParaRPr lang="en-US" sz="1400" dirty="0" smtClean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endParaRPr lang="en-US" sz="14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r>
              <a:rPr lang="en-US" sz="1400" dirty="0">
                <a:latin typeface="Lao UI" pitchFamily="34" charset="0"/>
                <a:ea typeface="Segoe UI" pitchFamily="34" charset="0"/>
                <a:cs typeface="Lao UI" pitchFamily="34" charset="0"/>
              </a:rPr>
              <a:t>Absence of system to detect and report abuse </a:t>
            </a:r>
            <a:endParaRPr lang="en-US" sz="1400" dirty="0" smtClean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endParaRPr lang="en-US" sz="14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r>
              <a:rPr lang="en-US" sz="1400" dirty="0">
                <a:latin typeface="Lao UI" pitchFamily="34" charset="0"/>
                <a:ea typeface="Segoe UI" pitchFamily="34" charset="0"/>
                <a:cs typeface="Lao UI" pitchFamily="34" charset="0"/>
              </a:rPr>
              <a:t>Slow rate of response </a:t>
            </a:r>
            <a:endParaRPr lang="en-US" sz="1400" dirty="0" smtClean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endParaRPr lang="en-US" sz="14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r>
              <a:rPr lang="en-US" sz="1400" dirty="0">
                <a:latin typeface="Lao UI" pitchFamily="34" charset="0"/>
                <a:ea typeface="Segoe UI" pitchFamily="34" charset="0"/>
                <a:cs typeface="Lao UI" pitchFamily="34" charset="0"/>
              </a:rPr>
              <a:t>Conflict between local authorities and international </a:t>
            </a:r>
            <a:r>
              <a:rPr lang="en-US" sz="14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community</a:t>
            </a:r>
            <a:endParaRPr lang="en-US" sz="14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969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"/>
            <a:ext cx="8229600" cy="857250"/>
          </a:xfrm>
        </p:spPr>
        <p:txBody>
          <a:bodyPr>
            <a:normAutofit/>
          </a:bodyPr>
          <a:lstStyle/>
          <a:p>
            <a:r>
              <a:rPr lang="en-US" sz="3000" dirty="0" smtClean="0">
                <a:solidFill>
                  <a:srgbClr val="658E2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Prevention of SEA</a:t>
            </a:r>
            <a:endParaRPr lang="en-US" sz="3000" dirty="0">
              <a:solidFill>
                <a:srgbClr val="658E22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5276850" y="4781551"/>
            <a:ext cx="3810000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 smtClean="0">
                <a:solidFill>
                  <a:srgbClr val="658E22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900" b="1" dirty="0" smtClean="0">
                <a:solidFill>
                  <a:srgbClr val="658E22"/>
                </a:solidFill>
                <a:latin typeface="Courier New"/>
                <a:cs typeface="Courier New"/>
              </a:rPr>
              <a:t>│</a:t>
            </a:r>
            <a:r>
              <a:rPr lang="en-US" sz="900" b="1" dirty="0" smtClean="0">
                <a:solidFill>
                  <a:srgbClr val="658E22"/>
                </a:solidFill>
                <a:latin typeface="Lao UI" pitchFamily="34" charset="0"/>
                <a:cs typeface="Lao UI" pitchFamily="34" charset="0"/>
              </a:rPr>
              <a:t> Economic Development &amp; Health</a:t>
            </a:r>
            <a:endParaRPr lang="en-US" sz="900" b="1" dirty="0">
              <a:solidFill>
                <a:srgbClr val="658E22"/>
              </a:solidFill>
              <a:latin typeface="Lao UI" pitchFamily="34" charset="0"/>
              <a:cs typeface="Lao UI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8362666" y="-123683"/>
            <a:ext cx="609600" cy="914400"/>
            <a:chOff x="8185123" y="-95250"/>
            <a:chExt cx="609600" cy="914400"/>
          </a:xfrm>
        </p:grpSpPr>
        <p:sp>
          <p:nvSpPr>
            <p:cNvPr id="16" name="Rectangle 15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658E22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0122" y="285750"/>
              <a:ext cx="539602" cy="457200"/>
            </a:xfrm>
            <a:prstGeom prst="rect">
              <a:avLst/>
            </a:prstGeom>
          </p:spPr>
        </p:pic>
      </p:grp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81000" y="790718"/>
            <a:ext cx="8382000" cy="3914632"/>
          </a:xfrm>
        </p:spPr>
        <p:txBody>
          <a:bodyPr>
            <a:noAutofit/>
          </a:bodyPr>
          <a:lstStyle/>
          <a:p>
            <a:r>
              <a:rPr lang="en-US" sz="1500" b="1" dirty="0">
                <a:latin typeface="Lao UI" pitchFamily="34" charset="0"/>
                <a:ea typeface="Segoe UI" pitchFamily="34" charset="0"/>
                <a:cs typeface="Lao UI" pitchFamily="34" charset="0"/>
              </a:rPr>
              <a:t>Management &amp; Coordination: </a:t>
            </a:r>
          </a:p>
          <a:p>
            <a:pPr lvl="1"/>
            <a:r>
              <a:rPr lang="en-US" sz="1300" dirty="0">
                <a:latin typeface="Lao UI" pitchFamily="34" charset="0"/>
                <a:ea typeface="Segoe UI" pitchFamily="34" charset="0"/>
                <a:cs typeface="Lao UI" pitchFamily="34" charset="0"/>
              </a:rPr>
              <a:t>Provide training to all staff and partners (esp. field staff/in-country partners)</a:t>
            </a:r>
          </a:p>
          <a:p>
            <a:pPr lvl="1"/>
            <a:r>
              <a:rPr lang="en-US" sz="1300" dirty="0">
                <a:latin typeface="Lao UI" pitchFamily="34" charset="0"/>
                <a:ea typeface="Segoe UI" pitchFamily="34" charset="0"/>
                <a:cs typeface="Lao UI" pitchFamily="34" charset="0"/>
              </a:rPr>
              <a:t>Commitment and leadership of management staff </a:t>
            </a:r>
          </a:p>
          <a:p>
            <a:pPr lvl="1"/>
            <a:r>
              <a:rPr lang="en-US" sz="1300" dirty="0">
                <a:latin typeface="Lao UI" pitchFamily="34" charset="0"/>
                <a:ea typeface="Segoe UI" pitchFamily="34" charset="0"/>
                <a:cs typeface="Lao UI" pitchFamily="34" charset="0"/>
              </a:rPr>
              <a:t>Identify potential gaps in protection from SEA and develop action plan </a:t>
            </a:r>
          </a:p>
          <a:p>
            <a:r>
              <a:rPr lang="en-US" sz="1500" b="1" dirty="0">
                <a:latin typeface="Lao UI" pitchFamily="34" charset="0"/>
                <a:ea typeface="Segoe UI" pitchFamily="34" charset="0"/>
                <a:cs typeface="Lao UI" pitchFamily="34" charset="0"/>
              </a:rPr>
              <a:t>Engagement with &amp; support of community populations:</a:t>
            </a:r>
          </a:p>
          <a:p>
            <a:pPr lvl="1"/>
            <a:r>
              <a:rPr lang="en-US" sz="1300" dirty="0">
                <a:latin typeface="Lao UI" pitchFamily="34" charset="0"/>
                <a:ea typeface="Segoe UI" pitchFamily="34" charset="0"/>
                <a:cs typeface="Lao UI" pitchFamily="34" charset="0"/>
              </a:rPr>
              <a:t>Collaborate with community members/representatives to raise awareness of SEA and establish protocols for reporting </a:t>
            </a:r>
          </a:p>
          <a:p>
            <a:pPr lvl="1"/>
            <a:r>
              <a:rPr lang="en-US" sz="1300" dirty="0">
                <a:latin typeface="Lao UI" pitchFamily="34" charset="0"/>
                <a:ea typeface="Segoe UI" pitchFamily="34" charset="0"/>
                <a:cs typeface="Lao UI" pitchFamily="34" charset="0"/>
              </a:rPr>
              <a:t>Incentivize reporting by establishing a safe, confidential, and efficient complaints </a:t>
            </a:r>
            <a:r>
              <a:rPr lang="en-US" sz="13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mechanism</a:t>
            </a:r>
            <a:endParaRPr lang="en-US" sz="13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r>
              <a:rPr lang="en-US" sz="1500" b="1" dirty="0">
                <a:latin typeface="Lao UI" pitchFamily="34" charset="0"/>
                <a:ea typeface="Segoe UI" pitchFamily="34" charset="0"/>
                <a:cs typeface="Lao UI" pitchFamily="34" charset="0"/>
              </a:rPr>
              <a:t>Prevention</a:t>
            </a:r>
            <a:r>
              <a:rPr lang="en-US" sz="1400" b="1" dirty="0">
                <a:latin typeface="Lao UI" pitchFamily="34" charset="0"/>
                <a:ea typeface="Segoe UI" pitchFamily="34" charset="0"/>
                <a:cs typeface="Lao UI" pitchFamily="34" charset="0"/>
              </a:rPr>
              <a:t>:</a:t>
            </a:r>
          </a:p>
          <a:p>
            <a:pPr lvl="1"/>
            <a:r>
              <a:rPr lang="en-US" sz="1300" dirty="0">
                <a:latin typeface="Lao UI" pitchFamily="34" charset="0"/>
                <a:ea typeface="Segoe UI" pitchFamily="34" charset="0"/>
                <a:cs typeface="Lao UI" pitchFamily="34" charset="0"/>
              </a:rPr>
              <a:t>Staff training on SEA and responsibility to report</a:t>
            </a:r>
          </a:p>
          <a:p>
            <a:pPr lvl="1"/>
            <a:r>
              <a:rPr lang="en-US" sz="1300" dirty="0">
                <a:latin typeface="Lao UI" pitchFamily="34" charset="0"/>
                <a:ea typeface="Segoe UI" pitchFamily="34" charset="0"/>
                <a:cs typeface="Lao UI" pitchFamily="34" charset="0"/>
              </a:rPr>
              <a:t>Communicate with beneficiaries what their rights and entitlements are</a:t>
            </a:r>
          </a:p>
          <a:p>
            <a:pPr lvl="1"/>
            <a:r>
              <a:rPr lang="en-US" sz="1300" dirty="0">
                <a:latin typeface="Lao UI" pitchFamily="34" charset="0"/>
                <a:ea typeface="Segoe UI" pitchFamily="34" charset="0"/>
                <a:cs typeface="Lao UI" pitchFamily="34" charset="0"/>
              </a:rPr>
              <a:t>Collaborate with field staff to identify potential risks and ways to prevent </a:t>
            </a:r>
            <a:r>
              <a:rPr lang="en-US" sz="13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them</a:t>
            </a:r>
            <a:endParaRPr lang="en-US" sz="13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r>
              <a:rPr lang="en-US" sz="1500" b="1" dirty="0">
                <a:latin typeface="Lao UI" pitchFamily="34" charset="0"/>
                <a:ea typeface="Segoe UI" pitchFamily="34" charset="0"/>
                <a:cs typeface="Lao UI" pitchFamily="34" charset="0"/>
              </a:rPr>
              <a:t>Response</a:t>
            </a:r>
            <a:r>
              <a:rPr lang="en-US" sz="1400" b="1" dirty="0">
                <a:latin typeface="Lao UI" pitchFamily="34" charset="0"/>
                <a:ea typeface="Segoe UI" pitchFamily="34" charset="0"/>
                <a:cs typeface="Lao UI" pitchFamily="34" charset="0"/>
              </a:rPr>
              <a:t>:</a:t>
            </a:r>
          </a:p>
          <a:p>
            <a:pPr lvl="1"/>
            <a:r>
              <a:rPr lang="en-US" sz="13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Establish protocols for responding to reports of SEA (points of contact)</a:t>
            </a:r>
          </a:p>
          <a:p>
            <a:pPr lvl="1"/>
            <a:r>
              <a:rPr lang="en-US" sz="13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Set up system and procedures for conducting an investigation</a:t>
            </a:r>
            <a:endParaRPr lang="en-US" sz="13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227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398" y="57292"/>
            <a:ext cx="8229600" cy="857250"/>
          </a:xfrm>
        </p:spPr>
        <p:txBody>
          <a:bodyPr>
            <a:normAutofit/>
          </a:bodyPr>
          <a:lstStyle/>
          <a:p>
            <a:r>
              <a:rPr lang="en-US" sz="2500" dirty="0" smtClean="0">
                <a:solidFill>
                  <a:srgbClr val="658E22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SIX CORE PRINCIPLES RELATING TO SEXUAL EXPLOITATION AND ABUSE</a:t>
            </a:r>
            <a:endParaRPr lang="en-US" sz="2500" dirty="0">
              <a:solidFill>
                <a:srgbClr val="658E22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5276850" y="4781551"/>
            <a:ext cx="3810000" cy="25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 smtClean="0">
                <a:solidFill>
                  <a:srgbClr val="658E22"/>
                </a:solidFill>
                <a:latin typeface="Lao UI" pitchFamily="34" charset="0"/>
                <a:cs typeface="Lao UI" pitchFamily="34" charset="0"/>
              </a:rPr>
              <a:t>Partners of the Americas </a:t>
            </a:r>
            <a:r>
              <a:rPr lang="en-US" sz="900" b="1" dirty="0" smtClean="0">
                <a:solidFill>
                  <a:srgbClr val="658E22"/>
                </a:solidFill>
                <a:latin typeface="Courier New"/>
                <a:cs typeface="Courier New"/>
              </a:rPr>
              <a:t>│</a:t>
            </a:r>
            <a:r>
              <a:rPr lang="en-US" sz="900" b="1" dirty="0" smtClean="0">
                <a:solidFill>
                  <a:srgbClr val="658E22"/>
                </a:solidFill>
                <a:latin typeface="Lao UI" pitchFamily="34" charset="0"/>
                <a:cs typeface="Lao UI" pitchFamily="34" charset="0"/>
              </a:rPr>
              <a:t> Economic Development &amp; Health</a:t>
            </a:r>
            <a:endParaRPr lang="en-US" sz="900" b="1" dirty="0">
              <a:solidFill>
                <a:srgbClr val="658E22"/>
              </a:solidFill>
              <a:latin typeface="Lao UI" pitchFamily="34" charset="0"/>
              <a:cs typeface="Lao UI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8362666" y="-123683"/>
            <a:ext cx="609600" cy="914400"/>
            <a:chOff x="8185123" y="-95250"/>
            <a:chExt cx="609600" cy="914400"/>
          </a:xfrm>
        </p:grpSpPr>
        <p:sp>
          <p:nvSpPr>
            <p:cNvPr id="16" name="Rectangle 15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658E22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0122" y="285750"/>
              <a:ext cx="539602" cy="457200"/>
            </a:xfrm>
            <a:prstGeom prst="rect">
              <a:avLst/>
            </a:prstGeom>
          </p:spPr>
        </p:pic>
      </p:grp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799" y="895350"/>
            <a:ext cx="8632467" cy="3810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>
                <a:latin typeface="Lao UI" pitchFamily="34" charset="0"/>
                <a:ea typeface="Segoe UI" pitchFamily="34" charset="0"/>
                <a:cs typeface="Lao UI" pitchFamily="34" charset="0"/>
              </a:rPr>
              <a:t>1. “Sexual exploitation and abuse by humanitarian workers constitute acts of gross misconduct and are </a:t>
            </a:r>
            <a:r>
              <a:rPr lang="en-US" sz="12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therefore </a:t>
            </a:r>
            <a:r>
              <a:rPr lang="en-US" sz="1200" b="1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grounds for termination </a:t>
            </a:r>
            <a:r>
              <a:rPr lang="en-US" sz="1200" b="1" dirty="0">
                <a:latin typeface="Lao UI" pitchFamily="34" charset="0"/>
                <a:ea typeface="Segoe UI" pitchFamily="34" charset="0"/>
                <a:cs typeface="Lao UI" pitchFamily="34" charset="0"/>
              </a:rPr>
              <a:t>of </a:t>
            </a:r>
            <a:r>
              <a:rPr lang="en-US" sz="1200" b="1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employment</a:t>
            </a:r>
          </a:p>
          <a:p>
            <a:pPr marL="0" indent="0">
              <a:buNone/>
            </a:pPr>
            <a:endParaRPr lang="en-US" sz="12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Lao UI" pitchFamily="34" charset="0"/>
                <a:ea typeface="Segoe UI" pitchFamily="34" charset="0"/>
                <a:cs typeface="Lao UI" pitchFamily="34" charset="0"/>
              </a:rPr>
              <a:t>2. </a:t>
            </a:r>
            <a:r>
              <a:rPr lang="en-US" sz="1200" b="1" dirty="0">
                <a:latin typeface="Lao UI" pitchFamily="34" charset="0"/>
                <a:ea typeface="Segoe UI" pitchFamily="34" charset="0"/>
                <a:cs typeface="Lao UI" pitchFamily="34" charset="0"/>
              </a:rPr>
              <a:t>Sexual activity with children (persons under the age of 18) is prohibited </a:t>
            </a:r>
            <a:r>
              <a:rPr lang="en-US" sz="1200" dirty="0">
                <a:latin typeface="Lao UI" pitchFamily="34" charset="0"/>
                <a:ea typeface="Segoe UI" pitchFamily="34" charset="0"/>
                <a:cs typeface="Lao UI" pitchFamily="34" charset="0"/>
              </a:rPr>
              <a:t>regardless of the age of majority </a:t>
            </a:r>
            <a:r>
              <a:rPr lang="en-US" sz="12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or age </a:t>
            </a:r>
            <a:r>
              <a:rPr lang="en-US" sz="1200" dirty="0">
                <a:latin typeface="Lao UI" pitchFamily="34" charset="0"/>
                <a:ea typeface="Segoe UI" pitchFamily="34" charset="0"/>
                <a:cs typeface="Lao UI" pitchFamily="34" charset="0"/>
              </a:rPr>
              <a:t>of consent locally. Mistaken belief regarding the age of a child is not a </a:t>
            </a:r>
            <a:r>
              <a:rPr lang="en-US" sz="12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defense.</a:t>
            </a:r>
          </a:p>
          <a:p>
            <a:pPr marL="0" indent="0">
              <a:buNone/>
            </a:pPr>
            <a:endParaRPr lang="en-US" sz="12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Lao UI" pitchFamily="34" charset="0"/>
                <a:ea typeface="Segoe UI" pitchFamily="34" charset="0"/>
                <a:cs typeface="Lao UI" pitchFamily="34" charset="0"/>
              </a:rPr>
              <a:t>3. </a:t>
            </a:r>
            <a:r>
              <a:rPr lang="en-US" sz="1200" b="1" dirty="0">
                <a:latin typeface="Lao UI" pitchFamily="34" charset="0"/>
                <a:ea typeface="Segoe UI" pitchFamily="34" charset="0"/>
                <a:cs typeface="Lao UI" pitchFamily="34" charset="0"/>
              </a:rPr>
              <a:t>Exchange of money, employment, goods, or services for sex</a:t>
            </a:r>
            <a:r>
              <a:rPr lang="en-US" sz="1200" dirty="0">
                <a:latin typeface="Lao UI" pitchFamily="34" charset="0"/>
                <a:ea typeface="Segoe UI" pitchFamily="34" charset="0"/>
                <a:cs typeface="Lao UI" pitchFamily="34" charset="0"/>
              </a:rPr>
              <a:t>, including sexual favors or other forms </a:t>
            </a:r>
            <a:r>
              <a:rPr lang="en-US" sz="12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of humiliating</a:t>
            </a:r>
            <a:r>
              <a:rPr lang="en-US" sz="1200" dirty="0">
                <a:latin typeface="Lao UI" pitchFamily="34" charset="0"/>
                <a:ea typeface="Segoe UI" pitchFamily="34" charset="0"/>
                <a:cs typeface="Lao UI" pitchFamily="34" charset="0"/>
              </a:rPr>
              <a:t>, degrading or exploitative behavior is prohibited. This includes exchange of assistance that </a:t>
            </a:r>
            <a:r>
              <a:rPr lang="en-US" sz="12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is due </a:t>
            </a:r>
            <a:r>
              <a:rPr lang="en-US" sz="1200" dirty="0">
                <a:latin typeface="Lao UI" pitchFamily="34" charset="0"/>
                <a:ea typeface="Segoe UI" pitchFamily="34" charset="0"/>
                <a:cs typeface="Lao UI" pitchFamily="34" charset="0"/>
              </a:rPr>
              <a:t>to beneficiaries</a:t>
            </a:r>
            <a:r>
              <a:rPr lang="en-US" sz="12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.</a:t>
            </a:r>
          </a:p>
          <a:p>
            <a:pPr marL="0" indent="0">
              <a:buNone/>
            </a:pPr>
            <a:endParaRPr lang="en-US" sz="12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Lao UI" pitchFamily="34" charset="0"/>
                <a:ea typeface="Segoe UI" pitchFamily="34" charset="0"/>
                <a:cs typeface="Lao UI" pitchFamily="34" charset="0"/>
              </a:rPr>
              <a:t>4. </a:t>
            </a:r>
            <a:r>
              <a:rPr lang="en-US" sz="1200" b="1" dirty="0">
                <a:latin typeface="Lao UI" pitchFamily="34" charset="0"/>
                <a:ea typeface="Segoe UI" pitchFamily="34" charset="0"/>
                <a:cs typeface="Lao UI" pitchFamily="34" charset="0"/>
              </a:rPr>
              <a:t>Sexual relationships between humanitarian workers and beneficiaries are strongly discouraged since they </a:t>
            </a:r>
            <a:r>
              <a:rPr lang="en-US" sz="1200" b="1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are based </a:t>
            </a:r>
            <a:r>
              <a:rPr lang="en-US" sz="1200" b="1" dirty="0">
                <a:latin typeface="Lao UI" pitchFamily="34" charset="0"/>
                <a:ea typeface="Segoe UI" pitchFamily="34" charset="0"/>
                <a:cs typeface="Lao UI" pitchFamily="34" charset="0"/>
              </a:rPr>
              <a:t>on inherently unequal power dynamics. </a:t>
            </a:r>
            <a:r>
              <a:rPr lang="en-US" sz="1200" dirty="0">
                <a:latin typeface="Lao UI" pitchFamily="34" charset="0"/>
                <a:ea typeface="Segoe UI" pitchFamily="34" charset="0"/>
                <a:cs typeface="Lao UI" pitchFamily="34" charset="0"/>
              </a:rPr>
              <a:t>Such relationships undermine the credibility and integrity </a:t>
            </a:r>
            <a:r>
              <a:rPr lang="en-US" sz="12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of humanitarian </a:t>
            </a:r>
            <a:r>
              <a:rPr lang="en-US" sz="1200" dirty="0">
                <a:latin typeface="Lao UI" pitchFamily="34" charset="0"/>
                <a:ea typeface="Segoe UI" pitchFamily="34" charset="0"/>
                <a:cs typeface="Lao UI" pitchFamily="34" charset="0"/>
              </a:rPr>
              <a:t>aid work</a:t>
            </a:r>
            <a:r>
              <a:rPr lang="en-US" sz="12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.</a:t>
            </a:r>
          </a:p>
          <a:p>
            <a:pPr marL="0" indent="0">
              <a:buNone/>
            </a:pPr>
            <a:endParaRPr lang="en-US" sz="12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Lao UI" pitchFamily="34" charset="0"/>
                <a:ea typeface="Segoe UI" pitchFamily="34" charset="0"/>
                <a:cs typeface="Lao UI" pitchFamily="34" charset="0"/>
              </a:rPr>
              <a:t>5. Where a humanitarian worker develops concerns or suspicions regarding sexual abuse or exploitation </a:t>
            </a:r>
            <a:r>
              <a:rPr lang="en-US" sz="12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by a </a:t>
            </a:r>
            <a:r>
              <a:rPr lang="en-US" sz="1200" dirty="0">
                <a:latin typeface="Lao UI" pitchFamily="34" charset="0"/>
                <a:ea typeface="Segoe UI" pitchFamily="34" charset="0"/>
                <a:cs typeface="Lao UI" pitchFamily="34" charset="0"/>
              </a:rPr>
              <a:t>fellow worker, whether in the same agency or not, </a:t>
            </a:r>
            <a:r>
              <a:rPr lang="en-US" sz="1200" b="1" dirty="0">
                <a:latin typeface="Lao UI" pitchFamily="34" charset="0"/>
                <a:ea typeface="Segoe UI" pitchFamily="34" charset="0"/>
                <a:cs typeface="Lao UI" pitchFamily="34" charset="0"/>
              </a:rPr>
              <a:t>he or she must report such concerns via </a:t>
            </a:r>
            <a:r>
              <a:rPr lang="en-US" sz="1200" b="1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established agency </a:t>
            </a:r>
            <a:r>
              <a:rPr lang="en-US" sz="1200" b="1" dirty="0">
                <a:latin typeface="Lao UI" pitchFamily="34" charset="0"/>
                <a:ea typeface="Segoe UI" pitchFamily="34" charset="0"/>
                <a:cs typeface="Lao UI" pitchFamily="34" charset="0"/>
              </a:rPr>
              <a:t>reporting mechanisms</a:t>
            </a:r>
            <a:r>
              <a:rPr lang="en-US" sz="1200" b="1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.</a:t>
            </a:r>
          </a:p>
          <a:p>
            <a:pPr marL="0" indent="0">
              <a:buNone/>
            </a:pPr>
            <a:endParaRPr lang="en-US" sz="1200" b="1" dirty="0">
              <a:latin typeface="Lao UI" pitchFamily="34" charset="0"/>
              <a:ea typeface="Segoe UI" pitchFamily="34" charset="0"/>
              <a:cs typeface="Lao UI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Lao UI" pitchFamily="34" charset="0"/>
                <a:ea typeface="Segoe UI" pitchFamily="34" charset="0"/>
                <a:cs typeface="Lao UI" pitchFamily="34" charset="0"/>
              </a:rPr>
              <a:t>6. </a:t>
            </a:r>
            <a:r>
              <a:rPr lang="en-US" sz="1200" b="1" dirty="0">
                <a:latin typeface="Lao UI" pitchFamily="34" charset="0"/>
                <a:ea typeface="Segoe UI" pitchFamily="34" charset="0"/>
                <a:cs typeface="Lao UI" pitchFamily="34" charset="0"/>
              </a:rPr>
              <a:t>Humanitarian workers are obliged to create and maintain an environment, which prevents sexual </a:t>
            </a:r>
            <a:r>
              <a:rPr lang="en-US" sz="1200" b="1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exploitation and </a:t>
            </a:r>
            <a:r>
              <a:rPr lang="en-US" sz="1200" b="1" dirty="0">
                <a:latin typeface="Lao UI" pitchFamily="34" charset="0"/>
                <a:ea typeface="Segoe UI" pitchFamily="34" charset="0"/>
                <a:cs typeface="Lao UI" pitchFamily="34" charset="0"/>
              </a:rPr>
              <a:t>abuse and promotes the implementation of their code of conduct</a:t>
            </a:r>
            <a:r>
              <a:rPr lang="en-US" sz="1200" dirty="0">
                <a:latin typeface="Lao UI" pitchFamily="34" charset="0"/>
                <a:ea typeface="Segoe UI" pitchFamily="34" charset="0"/>
                <a:cs typeface="Lao UI" pitchFamily="34" charset="0"/>
              </a:rPr>
              <a:t>. Managers at all levels have </a:t>
            </a:r>
            <a:r>
              <a:rPr lang="en-US" sz="1200" dirty="0" smtClean="0">
                <a:latin typeface="Lao UI" pitchFamily="34" charset="0"/>
                <a:ea typeface="Segoe UI" pitchFamily="34" charset="0"/>
                <a:cs typeface="Lao UI" pitchFamily="34" charset="0"/>
              </a:rPr>
              <a:t>particular responsibilities </a:t>
            </a:r>
            <a:r>
              <a:rPr lang="en-US" sz="1200" dirty="0">
                <a:latin typeface="Lao UI" pitchFamily="34" charset="0"/>
                <a:ea typeface="Segoe UI" pitchFamily="34" charset="0"/>
                <a:cs typeface="Lao UI" pitchFamily="34" charset="0"/>
              </a:rPr>
              <a:t>to support and develop systems which maintain this environment.”</a:t>
            </a:r>
          </a:p>
          <a:p>
            <a:pPr marL="0" indent="0">
              <a:buNone/>
            </a:pPr>
            <a:endParaRPr lang="en-US" sz="2100" dirty="0">
              <a:latin typeface="Lao UI" pitchFamily="34" charset="0"/>
              <a:ea typeface="Segoe UI" pitchFamily="34" charset="0"/>
              <a:cs typeface="Lao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309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 smtClean="0">
                <a:solidFill>
                  <a:schemeClr val="accent3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USAID</a:t>
            </a:r>
            <a:endParaRPr lang="en-US" sz="3000" dirty="0">
              <a:solidFill>
                <a:schemeClr val="accent3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 smtClean="0">
                <a:latin typeface="Lao UI"/>
                <a:cs typeface="Segoe UI" panose="020B0502040204020203" pitchFamily="34" charset="0"/>
              </a:rPr>
              <a:t>Refer to section M.27 in our F2F 2018-2023 Award Statement</a:t>
            </a:r>
          </a:p>
          <a:p>
            <a:pPr fontAlgn="base"/>
            <a:r>
              <a:rPr lang="en-US" sz="1400" dirty="0" smtClean="0">
                <a:latin typeface="Lao UI"/>
              </a:rPr>
              <a:t>Actions taken by USAID, as reported in 2018 by Administrator Mark Green:</a:t>
            </a:r>
          </a:p>
          <a:p>
            <a:pPr lvl="1" fontAlgn="base"/>
            <a:r>
              <a:rPr lang="en-US" sz="1000" dirty="0" smtClean="0">
                <a:latin typeface="Lao UI"/>
              </a:rPr>
              <a:t>Revised </a:t>
            </a:r>
            <a:r>
              <a:rPr lang="en-US" sz="1000" dirty="0">
                <a:latin typeface="Lao UI"/>
              </a:rPr>
              <a:t>standard provisions for </a:t>
            </a:r>
            <a:r>
              <a:rPr lang="en-US" sz="1000" b="1" dirty="0">
                <a:latin typeface="Lao UI"/>
                <a:hlinkClick r:id="rId2"/>
              </a:rPr>
              <a:t>grants</a:t>
            </a:r>
            <a:r>
              <a:rPr lang="en-US" sz="1000" dirty="0">
                <a:latin typeface="Lao UI"/>
              </a:rPr>
              <a:t> and </a:t>
            </a:r>
            <a:r>
              <a:rPr lang="en-US" sz="1000" b="1" dirty="0">
                <a:latin typeface="Lao UI"/>
                <a:hlinkClick r:id="rId3"/>
              </a:rPr>
              <a:t>contracts</a:t>
            </a:r>
            <a:r>
              <a:rPr lang="en-US" sz="1000" dirty="0">
                <a:latin typeface="Lao UI"/>
              </a:rPr>
              <a:t> to clarify that our implementers’ employee codes of conduct must be consistent with international standards on protection from sexual exploitation and abuse, and issued guidance to </a:t>
            </a:r>
            <a:r>
              <a:rPr lang="en-US" sz="1000" b="1" dirty="0">
                <a:latin typeface="Lao UI"/>
                <a:hlinkClick r:id="rId4"/>
              </a:rPr>
              <a:t>acquisition(link is external)</a:t>
            </a:r>
            <a:r>
              <a:rPr lang="en-US" sz="1000" dirty="0">
                <a:latin typeface="Lao UI"/>
              </a:rPr>
              <a:t> and </a:t>
            </a:r>
            <a:r>
              <a:rPr lang="en-US" sz="1000" b="1" dirty="0">
                <a:latin typeface="Lao UI"/>
                <a:hlinkClick r:id="rId5"/>
              </a:rPr>
              <a:t>assistance(link is external)</a:t>
            </a:r>
            <a:r>
              <a:rPr lang="en-US" sz="1000" dirty="0">
                <a:latin typeface="Lao UI"/>
              </a:rPr>
              <a:t> implementing partners to reaffirm USAID’s zero tolerance for sexual exploitation, abuse and fraud;</a:t>
            </a:r>
          </a:p>
          <a:p>
            <a:pPr lvl="1" fontAlgn="base"/>
            <a:r>
              <a:rPr lang="en-US" sz="1000" dirty="0">
                <a:latin typeface="Lao UI"/>
              </a:rPr>
              <a:t>Launched a mandatory, Agency-wide sexual harassment training, released an enhanced, mandatory counter-trafficking in persons (C-TIP) training, and piloted a new Unwanted Attention/Sexual Harassment and Bystander Intervention training for field </a:t>
            </a:r>
            <a:r>
              <a:rPr lang="en-US" sz="1000" dirty="0" smtClean="0">
                <a:latin typeface="Lao UI"/>
              </a:rPr>
              <a:t>staff</a:t>
            </a:r>
          </a:p>
          <a:p>
            <a:pPr fontAlgn="base"/>
            <a:r>
              <a:rPr lang="en-US" sz="1400" dirty="0">
                <a:latin typeface="Lao UI"/>
              </a:rPr>
              <a:t>USAID employees are required, and implementing partners are encouraged, to report all allegations of sexual misconduct that affect beneficiaries — whether the allegations involve USAID personnel, grantees or contractors — to the Office of the Inspector General at </a:t>
            </a:r>
            <a:r>
              <a:rPr lang="en-US" sz="1400" b="1" u="sng" dirty="0">
                <a:latin typeface="Lao UI"/>
                <a:hlinkClick r:id="rId6"/>
              </a:rPr>
              <a:t>ig.hotline@usaid.gov</a:t>
            </a:r>
            <a:r>
              <a:rPr lang="en-US" sz="1400" dirty="0">
                <a:latin typeface="Lao UI"/>
              </a:rPr>
              <a:t>. </a:t>
            </a:r>
            <a:endParaRPr lang="en-US" sz="2700" dirty="0" smtClean="0">
              <a:latin typeface="Lao UI"/>
              <a:cs typeface="Segoe UI" panose="020B0502040204020203" pitchFamily="34" charset="0"/>
            </a:endParaRPr>
          </a:p>
          <a:p>
            <a:endParaRPr lang="en-US" sz="2300" dirty="0">
              <a:latin typeface="Lao UI"/>
              <a:cs typeface="Segoe UI" panose="020B0502040204020203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8305800" y="-123683"/>
            <a:ext cx="609600" cy="914400"/>
            <a:chOff x="8185123" y="-95250"/>
            <a:chExt cx="609600" cy="914400"/>
          </a:xfrm>
        </p:grpSpPr>
        <p:sp>
          <p:nvSpPr>
            <p:cNvPr id="5" name="Rectangle 4"/>
            <p:cNvSpPr/>
            <p:nvPr/>
          </p:nvSpPr>
          <p:spPr>
            <a:xfrm>
              <a:off x="8185123" y="-95250"/>
              <a:ext cx="609600" cy="914400"/>
            </a:xfrm>
            <a:prstGeom prst="rect">
              <a:avLst/>
            </a:prstGeom>
            <a:solidFill>
              <a:srgbClr val="658E22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0122" y="285750"/>
              <a:ext cx="539602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8434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8" ma:contentTypeDescription="Create a new document." ma:contentTypeScope="" ma:versionID="efd9b4af885478ed0a3e84c6362c6fb3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b6abc503e38a49174dd9e5072c65339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466082-b6bf-4153-98c3-3c41e85fda18">
      <Terms xmlns="http://schemas.microsoft.com/office/infopath/2007/PartnerControls"/>
    </lcf76f155ced4ddcb4097134ff3c332f>
    <TaxCatchAll xmlns="dc808d36-874f-4b27-aec2-2fd649817929" xsi:nil="true"/>
  </documentManagement>
</p:properties>
</file>

<file path=customXml/itemProps1.xml><?xml version="1.0" encoding="utf-8"?>
<ds:datastoreItem xmlns:ds="http://schemas.openxmlformats.org/officeDocument/2006/customXml" ds:itemID="{F5F62A47-6F30-4D23-870B-1334E39BB4B6}"/>
</file>

<file path=customXml/itemProps2.xml><?xml version="1.0" encoding="utf-8"?>
<ds:datastoreItem xmlns:ds="http://schemas.openxmlformats.org/officeDocument/2006/customXml" ds:itemID="{CA755993-ECAF-4A0C-9163-E6095A336907}"/>
</file>

<file path=customXml/itemProps3.xml><?xml version="1.0" encoding="utf-8"?>
<ds:datastoreItem xmlns:ds="http://schemas.openxmlformats.org/officeDocument/2006/customXml" ds:itemID="{4260ED96-817B-413C-92DE-FD6A92785557}"/>
</file>

<file path=docProps/app.xml><?xml version="1.0" encoding="utf-8"?>
<Properties xmlns="http://schemas.openxmlformats.org/officeDocument/2006/extended-properties" xmlns:vt="http://schemas.openxmlformats.org/officeDocument/2006/docPropsVTypes">
  <TotalTime>5479</TotalTime>
  <Words>1389</Words>
  <Application>Microsoft Office PowerPoint</Application>
  <PresentationFormat>On-screen Show (16:9)</PresentationFormat>
  <Paragraphs>147</Paragraphs>
  <Slides>11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Office Theme</vt:lpstr>
      <vt:lpstr>1_Office Theme</vt:lpstr>
      <vt:lpstr>2_Office Theme</vt:lpstr>
      <vt:lpstr>PowerPoint Presentation</vt:lpstr>
      <vt:lpstr>What is SEA?</vt:lpstr>
      <vt:lpstr>Sexual Exploitation</vt:lpstr>
      <vt:lpstr>PowerPoint Presentation</vt:lpstr>
      <vt:lpstr>Who are the Abusers?</vt:lpstr>
      <vt:lpstr>PowerPoint Presentation</vt:lpstr>
      <vt:lpstr>Under-Reporting</vt:lpstr>
      <vt:lpstr>Other Challenges</vt:lpstr>
      <vt:lpstr>Prevention of SEA</vt:lpstr>
      <vt:lpstr>SIX CORE PRINCIPLES RELATING TO SEXUAL EXPLOITATION AND ABUSE</vt:lpstr>
      <vt:lpstr>USAID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Olivia Robertson-Moe</dc:creator>
  <cp:lastModifiedBy>PARAdmin</cp:lastModifiedBy>
  <cp:revision>15</cp:revision>
  <dcterms:created xsi:type="dcterms:W3CDTF">2006-08-16T00:00:00Z</dcterms:created>
  <dcterms:modified xsi:type="dcterms:W3CDTF">2019-01-28T18:22:41Z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MediaServiceImageTags">
    <vt:lpwstr/>
  </property>
</Properties>
</file>