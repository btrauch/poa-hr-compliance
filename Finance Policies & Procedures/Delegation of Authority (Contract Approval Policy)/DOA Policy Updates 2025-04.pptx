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0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3BE313-850A-1731-C501-F2C9A1503126}" name="Melissa Simmonds" initials="MS" userId="2f7760ad45dda0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F32"/>
    <a:srgbClr val="17B6C4"/>
    <a:srgbClr val="2EB39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98"/>
    <p:restoredTop sz="95153"/>
  </p:normalViewPr>
  <p:slideViewPr>
    <p:cSldViewPr snapToGrid="0" showGuides="1">
      <p:cViewPr varScale="1">
        <p:scale>
          <a:sx n="83" d="100"/>
          <a:sy n="83" d="100"/>
        </p:scale>
        <p:origin x="437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67C9B-5986-3545-8DD6-44FEADFBBD8B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F2CEF-6A0D-2B42-A64A-2F6EBCA675CD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6980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Intro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2CEF-6A0D-2B42-A64A-2F6EBCA675C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38377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Content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2CEF-6A0D-2B42-A64A-2F6EBCA675CD}" type="slidenum">
              <a:rPr lang="es-ES_tradnl" smtClean="0"/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94550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Content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2CEF-6A0D-2B42-A64A-2F6EBCA675CD}" type="slidenum">
              <a:rPr lang="es-ES_tradnl" smtClean="0"/>
              <a:t>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493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Content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2CEF-6A0D-2B42-A64A-2F6EBCA675CD}" type="slidenum">
              <a:rPr lang="es-ES_tradnl" smtClean="0"/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82546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Closure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2CEF-6A0D-2B42-A64A-2F6EBCA675CD}" type="slidenum">
              <a:rPr lang="es-ES_tradnl" smtClean="0"/>
              <a:t>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4706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5FF0-B8CB-228C-E349-EFA4F50C2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9AF0A-A5E3-D7D0-64CF-46EDF70FC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C04CE-7E8B-91AE-9A6D-907F25B3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2D524-7A96-C9D6-3D90-705005E1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C3CF4-A425-F026-AFC7-D9162498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2180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A86E-ACEF-AFE5-0B5D-064C76FD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952B-46DB-C5C3-646E-C09566079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13398-5F43-25D2-3FD5-9657B9AA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16B30-0CD0-EDCF-2625-AD6B53DB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D7179-6B26-64D9-BBD1-F94CFCEA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2497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1B13-BA34-9EAC-2876-9693597E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81761-5EE9-CC09-28C5-47E08390E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AA9E3-D63F-CC90-4FE0-58CFBF12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5F8A-2CC4-A8B3-7F33-9E57A2D3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698A-1BA7-31C1-9D45-E9533229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9745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4CE6-CBC1-6B06-5E2B-52EDD820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209F5-F2B4-409C-A7A8-8CB4E06B7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FB562-31BF-DD73-C9D0-79AB77A33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C9578-19BC-669A-C207-B2500DA9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D2C3B-BE22-91F5-3654-DF541847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79B54-D922-1946-EE52-F0AB6336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012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FA2F-036B-33FF-96B0-3E6449BE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DED61-4DA5-483B-CADD-0C5AB77BF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38E2F-F75D-BFAC-EC11-F2CC27B52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FC378C-5A56-C418-5B41-E0C1AF7A0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239AC-916A-247E-6D6A-A17665481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DAF96-413A-EE1A-CD45-F2E44945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1A878-B441-6A9A-4067-1B455883E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B5310-1AB5-4337-5319-1088AD06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6150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819B-EA03-E6EC-75B7-9E547ADB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6F496-BF00-D6CD-8088-39F8D3B1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AFFAE-55C8-1B00-4CA5-674DCC8A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C413E-1EFE-424E-E8EA-D9788A28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1809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20A28-A67C-D1BC-8AD5-4EA89F06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240AF-08E0-F821-6391-060D90C6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E997E-A5FA-1D46-28C9-9DC6744E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6960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2F34-6C57-C87A-E8EE-CFC3E3EA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34435-6A7F-2D73-CEBE-7A4D929BA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CF895-13AD-FA2F-70A3-049C73DC3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05DA0-1DF7-9746-66C7-FC5E0D2B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E4084-0992-B4F7-5114-FAD8AEC4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24322-AE91-16AF-9FF8-7368F4B4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9396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1994-0616-584D-7C84-3941D0BD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6C496-66B3-3D85-1139-41EC40AA2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52517-EBE9-779D-2DDD-ADCA3FB01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6F623-86F3-2FFB-E5B4-BAC44569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C171-2314-7E27-2E58-1437DD16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6D722-8792-E69C-977B-F5B87C3A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3809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DAA0-F40A-F0BA-0D7C-387530B3F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013FC-89AD-D2AB-9718-DD26409A1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B2B9C-E47A-9680-9813-365D549F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1D1E6-08A5-B124-AF73-67EE0339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8A1A0-D048-1F4C-5248-25549706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6939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16F8C-D5AE-946B-2AB7-5C81217E8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E3775-86C0-903A-7A82-EA6E76C57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4AE3A-7288-4EB8-1BA7-80A034CA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DA4DA-0EB2-3705-4855-1B6BD2B3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227BE-589F-665E-1165-3F4DFCF6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7458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23EE9-DF0D-2C44-96F3-49B10939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DFE83-23ED-886D-FD42-E0461A297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DEF2-869F-ECE0-2BD3-0D2124A30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739FD-343E-CA4C-8F0E-E24893484FAF}" type="datetimeFigureOut">
              <a:rPr lang="es-ES_tradnl" smtClean="0"/>
              <a:t>26/01/2026</a:t>
            </a:fld>
            <a:endParaRPr lang="es-ES_trad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F909-3D51-628D-C5AA-BA0ABD657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B85C-6317-5542-89CC-DF23CF4B0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62A33-ABCC-C845-A5AE-D7F551AD3D02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15325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E5EF03D0-67F8-DF61-9206-C1460D420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B57153-5DE1-9FA3-5689-87C981E30CE3}"/>
              </a:ext>
            </a:extLst>
          </p:cNvPr>
          <p:cNvSpPr txBox="1"/>
          <p:nvPr/>
        </p:nvSpPr>
        <p:spPr>
          <a:xfrm>
            <a:off x="414757" y="2984848"/>
            <a:ext cx="112417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Update on POA’s Delegation of Authority Policy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99CA2-2816-784F-5D24-508A267BAE6A}"/>
              </a:ext>
            </a:extLst>
          </p:cNvPr>
          <p:cNvSpPr txBox="1"/>
          <p:nvPr/>
        </p:nvSpPr>
        <p:spPr>
          <a:xfrm>
            <a:off x="6258356" y="3868970"/>
            <a:ext cx="327743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/>
              <a:t>Effective January 1, 2025</a:t>
            </a:r>
          </a:p>
        </p:txBody>
      </p:sp>
    </p:spTree>
    <p:extLst>
      <p:ext uri="{BB962C8B-B14F-4D97-AF65-F5344CB8AC3E}">
        <p14:creationId xmlns:p14="http://schemas.microsoft.com/office/powerpoint/2010/main" val="1078361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creen with red dots&#10;&#10;Description automatically generated">
            <a:extLst>
              <a:ext uri="{FF2B5EF4-FFF2-40B4-BE49-F238E27FC236}">
                <a16:creationId xmlns:a16="http://schemas.microsoft.com/office/drawing/2014/main" id="{6ABEFA86-EA04-0595-A989-5531C0BA6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yellow diamond on a black background&#10;&#10;Description automatically generated">
            <a:extLst>
              <a:ext uri="{FF2B5EF4-FFF2-40B4-BE49-F238E27FC236}">
                <a16:creationId xmlns:a16="http://schemas.microsoft.com/office/drawing/2014/main" id="{A84FA2B8-47D4-5FC0-5A5D-355F5D4B0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68" y="643625"/>
            <a:ext cx="1062737" cy="25966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C97102-64D1-525B-3556-62420301C25A}"/>
              </a:ext>
            </a:extLst>
          </p:cNvPr>
          <p:cNvCxnSpPr>
            <a:cxnSpLocks/>
          </p:cNvCxnSpPr>
          <p:nvPr/>
        </p:nvCxnSpPr>
        <p:spPr>
          <a:xfrm>
            <a:off x="1354668" y="1131838"/>
            <a:ext cx="8933481" cy="0"/>
          </a:xfrm>
          <a:prstGeom prst="line">
            <a:avLst/>
          </a:prstGeom>
          <a:ln w="28575">
            <a:solidFill>
              <a:srgbClr val="F3A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6991DD-F8D2-8DD1-D3CD-58C724E8C2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932" b="2393"/>
          <a:stretch/>
        </p:blipFill>
        <p:spPr>
          <a:xfrm>
            <a:off x="1704995" y="2425247"/>
            <a:ext cx="8327883" cy="3823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C23102-DAC6-5575-BE90-76D88EB3C329}"/>
              </a:ext>
            </a:extLst>
          </p:cNvPr>
          <p:cNvSpPr txBox="1"/>
          <p:nvPr/>
        </p:nvSpPr>
        <p:spPr>
          <a:xfrm>
            <a:off x="1002788" y="1386489"/>
            <a:ext cx="9744891" cy="91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Authorization to sign payment requests, procurements, cover sheets, and contracts/grants in USD: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6">
            <a:extLst>
              <a:ext uri="{FF2B5EF4-FFF2-40B4-BE49-F238E27FC236}">
                <a16:creationId xmlns:a16="http://schemas.microsoft.com/office/drawing/2014/main" id="{D699E26F-88F3-6C59-0857-6600C5039548}"/>
              </a:ext>
            </a:extLst>
          </p:cNvPr>
          <p:cNvSpPr txBox="1"/>
          <p:nvPr/>
        </p:nvSpPr>
        <p:spPr>
          <a:xfrm>
            <a:off x="1588871" y="93080"/>
            <a:ext cx="8858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2EB393"/>
                </a:solidFill>
                <a:ea typeface="Roboto Slab" pitchFamily="2" charset="0"/>
              </a:rPr>
              <a:t>New DOA Limits</a:t>
            </a:r>
          </a:p>
        </p:txBody>
      </p:sp>
    </p:spTree>
    <p:extLst>
      <p:ext uri="{BB962C8B-B14F-4D97-AF65-F5344CB8AC3E}">
        <p14:creationId xmlns:p14="http://schemas.microsoft.com/office/powerpoint/2010/main" val="157378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and white lines&#10;&#10;Description automatically generated">
            <a:extLst>
              <a:ext uri="{FF2B5EF4-FFF2-40B4-BE49-F238E27FC236}">
                <a16:creationId xmlns:a16="http://schemas.microsoft.com/office/drawing/2014/main" id="{4262BA95-5671-576B-5659-65C1B6340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CC1F6B-4A2A-4176-5EA2-BB45F2C5683D}"/>
              </a:ext>
            </a:extLst>
          </p:cNvPr>
          <p:cNvSpPr txBox="1"/>
          <p:nvPr/>
        </p:nvSpPr>
        <p:spPr>
          <a:xfrm>
            <a:off x="1145439" y="1558316"/>
            <a:ext cx="9744891" cy="43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*Associate Directors will provide approvals where DPDs/DCOPs are not available or when thresholds are lowered below $50,000.</a:t>
            </a:r>
          </a:p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**On case-by-case basis with approval from the Senior VP of Programs, the limit may be reduced to a minimum of $10,000 for PD/COPs an $5,000 for DPD/DCOPs. 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performance and compliance with POA policies.  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include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requirements necessary to adjust thresholds upwards.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Colombia, all payment requests, procurements, cover sheets, and contracts/grants can be signed by Leonardo up to $250,000. 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COPs/DCOPs should sign up to their limits, and anything above up to $250,000 signed by Leonardo.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A8E443-95A3-12EA-58CE-F685F32CFC5D}"/>
              </a:ext>
            </a:extLst>
          </p:cNvPr>
          <p:cNvSpPr txBox="1"/>
          <p:nvPr/>
        </p:nvSpPr>
        <p:spPr>
          <a:xfrm>
            <a:off x="1588871" y="93080"/>
            <a:ext cx="8858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7B6C4"/>
                </a:solidFill>
                <a:ea typeface="Roboto Slab" pitchFamily="2" charset="0"/>
              </a:rPr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56091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955365A-70B6-CB22-0395-826C31A28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962" t="2" r="53690" b="59199"/>
          <a:stretch/>
        </p:blipFill>
        <p:spPr>
          <a:xfrm>
            <a:off x="0" y="4268732"/>
            <a:ext cx="4288441" cy="261830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BBAFE0D-7937-4240-65AB-F9A150BCDC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39" t="12973" r="52342" b="18724"/>
          <a:stretch/>
        </p:blipFill>
        <p:spPr>
          <a:xfrm>
            <a:off x="-1" y="1"/>
            <a:ext cx="2521671" cy="3428999"/>
          </a:xfrm>
          <a:prstGeom prst="rect">
            <a:avLst/>
          </a:prstGeom>
        </p:spPr>
      </p:pic>
      <p:pic>
        <p:nvPicPr>
          <p:cNvPr id="6" name="Gráfico 10">
            <a:extLst>
              <a:ext uri="{FF2B5EF4-FFF2-40B4-BE49-F238E27FC236}">
                <a16:creationId xmlns:a16="http://schemas.microsoft.com/office/drawing/2014/main" id="{41E10BA1-EDF7-22AE-85A5-E8E864FCB8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3231" y="435407"/>
            <a:ext cx="796879" cy="796879"/>
          </a:xfrm>
          <a:prstGeom prst="rect">
            <a:avLst/>
          </a:prstGeom>
        </p:spPr>
      </p:pic>
      <p:pic>
        <p:nvPicPr>
          <p:cNvPr id="7" name="Picture 6" descr="A yellow diamond on a black background&#10;&#10;Description automatically generated">
            <a:extLst>
              <a:ext uri="{FF2B5EF4-FFF2-40B4-BE49-F238E27FC236}">
                <a16:creationId xmlns:a16="http://schemas.microsoft.com/office/drawing/2014/main" id="{3DD43B15-5B23-D50C-38CC-03711CF8D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301" y="6162932"/>
            <a:ext cx="1062737" cy="259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4A64D-1598-360C-2055-977994276F6D}"/>
              </a:ext>
            </a:extLst>
          </p:cNvPr>
          <p:cNvSpPr txBox="1"/>
          <p:nvPr/>
        </p:nvSpPr>
        <p:spPr>
          <a:xfrm>
            <a:off x="2416957" y="1232286"/>
            <a:ext cx="9710524" cy="537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spot check criteria for contracts and procurements</a:t>
            </a: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 training modules on POA policies (i.e. contracts, procurement, etc.)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who from each unit/team will serve as the compliance reviewer </a:t>
            </a:r>
          </a:p>
          <a:p>
            <a:pPr marL="1257300" lvl="2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 delegated compliance reviewer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ccountability framework for compliance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Framework will be incorporated in an update to the DOA policy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 impact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performance and merit increases annually 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Committe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to develop accountability framework	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 office, and 2 field staff</a:t>
            </a:r>
          </a:p>
          <a:p>
            <a:pPr marL="800100" lvl="1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Want to volunteer? – Email Debbie and Danielle</a:t>
            </a:r>
          </a:p>
          <a:p>
            <a:pPr marL="342900" marR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goal for updated policy:  6 weeks – by June 1</a:t>
            </a: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E2F0C1F3-2ADF-3576-421E-117B99E400CE}"/>
              </a:ext>
            </a:extLst>
          </p:cNvPr>
          <p:cNvSpPr txBox="1"/>
          <p:nvPr/>
        </p:nvSpPr>
        <p:spPr>
          <a:xfrm>
            <a:off x="1588871" y="93080"/>
            <a:ext cx="8858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39F32"/>
                </a:solidFill>
                <a:ea typeface="Roboto Slab" pitchFamily="2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81690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3">
            <a:extLst>
              <a:ext uri="{FF2B5EF4-FFF2-40B4-BE49-F238E27FC236}">
                <a16:creationId xmlns:a16="http://schemas.microsoft.com/office/drawing/2014/main" id="{27D441D2-494E-5AED-86E6-39760E9ABEE4}"/>
              </a:ext>
            </a:extLst>
          </p:cNvPr>
          <p:cNvSpPr/>
          <p:nvPr/>
        </p:nvSpPr>
        <p:spPr>
          <a:xfrm>
            <a:off x="-31533" y="0"/>
            <a:ext cx="12438612" cy="6858000"/>
          </a:xfrm>
          <a:prstGeom prst="rect">
            <a:avLst/>
          </a:prstGeom>
          <a:solidFill>
            <a:srgbClr val="EE8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9786789-7CF1-8804-634B-458F06CD92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6105" b="45019"/>
          <a:stretch/>
        </p:blipFill>
        <p:spPr>
          <a:xfrm flipH="1">
            <a:off x="-31533" y="1550030"/>
            <a:ext cx="9484243" cy="530797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9C66BD2-6695-664C-DE2B-6587B70149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7557"/>
          <a:stretch/>
        </p:blipFill>
        <p:spPr>
          <a:xfrm>
            <a:off x="10340405" y="1478815"/>
            <a:ext cx="2066674" cy="3940763"/>
          </a:xfrm>
          <a:prstGeom prst="rect">
            <a:avLst/>
          </a:prstGeom>
        </p:spPr>
      </p:pic>
      <p:sp>
        <p:nvSpPr>
          <p:cNvPr id="12" name="CuadroTexto 6">
            <a:extLst>
              <a:ext uri="{FF2B5EF4-FFF2-40B4-BE49-F238E27FC236}">
                <a16:creationId xmlns:a16="http://schemas.microsoft.com/office/drawing/2014/main" id="{691375A4-71CC-4034-2402-A691DBA919E0}"/>
              </a:ext>
            </a:extLst>
          </p:cNvPr>
          <p:cNvSpPr txBox="1"/>
          <p:nvPr/>
        </p:nvSpPr>
        <p:spPr>
          <a:xfrm>
            <a:off x="1181383" y="1262355"/>
            <a:ext cx="6070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solidFill>
                  <a:schemeClr val="bg1"/>
                </a:solidFill>
                <a:latin typeface="Aptos Display" panose="020B0004020202020204" pitchFamily="34" charset="0"/>
                <a:ea typeface="Roboto Slab" pitchFamily="2" charset="0"/>
              </a:rPr>
              <a:t>Thank you!</a:t>
            </a:r>
          </a:p>
        </p:txBody>
      </p:sp>
      <p:pic>
        <p:nvPicPr>
          <p:cNvPr id="13" name="Gráfico 19">
            <a:extLst>
              <a:ext uri="{FF2B5EF4-FFF2-40B4-BE49-F238E27FC236}">
                <a16:creationId xmlns:a16="http://schemas.microsoft.com/office/drawing/2014/main" id="{146CF89C-4B0B-C939-5C73-A2E3A521239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1055" t="3008" r="-699" b="-3008"/>
          <a:stretch/>
        </p:blipFill>
        <p:spPr>
          <a:xfrm>
            <a:off x="1640079" y="1478815"/>
            <a:ext cx="304235" cy="767407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82C075B6-C474-023B-7CAA-E1B513306A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4683604" y="1862518"/>
            <a:ext cx="1462072" cy="146207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4375FB8-AD02-BED3-9469-542607F1DB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1871" y="405268"/>
            <a:ext cx="2800350" cy="342900"/>
          </a:xfrm>
          <a:prstGeom prst="rect">
            <a:avLst/>
          </a:prstGeom>
        </p:spPr>
      </p:pic>
      <p:pic>
        <p:nvPicPr>
          <p:cNvPr id="16" name="Picture 15" descr="A group of white circles with black text&#10;&#10;Description automatically generated">
            <a:extLst>
              <a:ext uri="{FF2B5EF4-FFF2-40B4-BE49-F238E27FC236}">
                <a16:creationId xmlns:a16="http://schemas.microsoft.com/office/drawing/2014/main" id="{AFCCE68E-C12F-3AD6-A24F-F6071EA4AF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1079" y="2429167"/>
            <a:ext cx="3763680" cy="3429000"/>
          </a:xfrm>
          <a:prstGeom prst="rect">
            <a:avLst/>
          </a:prstGeom>
        </p:spPr>
      </p:pic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0351DED-201D-8393-1B5C-6B6BB2EB2A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828" y="5844201"/>
            <a:ext cx="2264362" cy="5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55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9" ma:contentTypeDescription="Create a new document." ma:contentTypeScope="" ma:versionID="a5577d833b9f28dcc6be37a04859b9a8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ae50cb7862d574a2d96b6910b4abdc85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93C53C-708B-4D86-AD23-DD4EB13464A5}">
  <ds:schemaRefs>
    <ds:schemaRef ds:uri="http://schemas.microsoft.com/office/2006/metadata/properties"/>
    <ds:schemaRef ds:uri="http://schemas.microsoft.com/office/infopath/2007/PartnerControls"/>
    <ds:schemaRef ds:uri="f2466082-b6bf-4153-98c3-3c41e85fda18"/>
    <ds:schemaRef ds:uri="dc808d36-874f-4b27-aec2-2fd649817929"/>
  </ds:schemaRefs>
</ds:datastoreItem>
</file>

<file path=customXml/itemProps2.xml><?xml version="1.0" encoding="utf-8"?>
<ds:datastoreItem xmlns:ds="http://schemas.openxmlformats.org/officeDocument/2006/customXml" ds:itemID="{282A60B1-2818-42A6-AADA-292D0444C5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79CED6-22A1-4A07-975B-2AEE18F49F6B}"/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283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Simmonds</dc:creator>
  <cp:lastModifiedBy>Danielle Martin</cp:lastModifiedBy>
  <cp:revision>6</cp:revision>
  <dcterms:created xsi:type="dcterms:W3CDTF">2023-11-13T13:15:46Z</dcterms:created>
  <dcterms:modified xsi:type="dcterms:W3CDTF">2026-01-26T20:17:35Z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