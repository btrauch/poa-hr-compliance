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320" r:id="rId6"/>
    <p:sldId id="321" r:id="rId7"/>
    <p:sldId id="322" r:id="rId8"/>
    <p:sldId id="271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1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issa Simmonds" initials="MS" lastIdx="12" clrIdx="0">
    <p:extLst>
      <p:ext uri="{19B8F6BF-5375-455C-9EA6-DF929625EA0E}">
        <p15:presenceInfo xmlns:p15="http://schemas.microsoft.com/office/powerpoint/2012/main" userId="S::msimmonds@partners.net::4a411859-1b8f-4167-9e90-91bab183407f" providerId="AD"/>
      </p:ext>
    </p:extLst>
  </p:cmAuthor>
  <p:cmAuthor id="2" name="Melissa Simmonds" initials="MS [2]" lastIdx="2" clrIdx="1">
    <p:extLst>
      <p:ext uri="{19B8F6BF-5375-455C-9EA6-DF929625EA0E}">
        <p15:presenceInfo xmlns:p15="http://schemas.microsoft.com/office/powerpoint/2012/main" userId="Melissa Simmonds" providerId="None"/>
      </p:ext>
    </p:extLst>
  </p:cmAuthor>
  <p:cmAuthor id="3" name="Rachel Falek" initials="RF" lastIdx="7" clrIdx="2">
    <p:extLst>
      <p:ext uri="{19B8F6BF-5375-455C-9EA6-DF929625EA0E}">
        <p15:presenceInfo xmlns:p15="http://schemas.microsoft.com/office/powerpoint/2012/main" userId="S::rfalek@partners.net::55533168-bcd8-444e-a652-3f40067fbc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2AAA"/>
    <a:srgbClr val="E46054"/>
    <a:srgbClr val="F39F33"/>
    <a:srgbClr val="000000"/>
    <a:srgbClr val="F08C72"/>
    <a:srgbClr val="3C2A63"/>
    <a:srgbClr val="BC2E84"/>
    <a:srgbClr val="6D1E4B"/>
    <a:srgbClr val="32B595"/>
    <a:srgbClr val="EE8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0A038-0FB2-431C-B32F-073779FAB855}" v="1" dt="2024-01-25T17:23:0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5"/>
    <p:restoredTop sz="94624"/>
  </p:normalViewPr>
  <p:slideViewPr>
    <p:cSldViewPr snapToGrid="0">
      <p:cViewPr varScale="1">
        <p:scale>
          <a:sx n="82" d="100"/>
          <a:sy n="82" d="100"/>
        </p:scale>
        <p:origin x="564" y="58"/>
      </p:cViewPr>
      <p:guideLst>
        <p:guide orient="horz" pos="2160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Martin" userId="04f63225-1d27-46ab-9c7c-1c8b513bed32" providerId="ADAL" clId="{C760A038-0FB2-431C-B32F-073779FAB855}"/>
    <pc:docChg chg="undo custSel modSld">
      <pc:chgData name="Danielle Martin" userId="04f63225-1d27-46ab-9c7c-1c8b513bed32" providerId="ADAL" clId="{C760A038-0FB2-431C-B32F-073779FAB855}" dt="2024-01-25T17:23:13.475" v="4" actId="20577"/>
      <pc:docMkLst>
        <pc:docMk/>
      </pc:docMkLst>
      <pc:sldChg chg="modSp mod">
        <pc:chgData name="Danielle Martin" userId="04f63225-1d27-46ab-9c7c-1c8b513bed32" providerId="ADAL" clId="{C760A038-0FB2-431C-B32F-073779FAB855}" dt="2024-01-25T17:23:13.475" v="4" actId="20577"/>
        <pc:sldMkLst>
          <pc:docMk/>
          <pc:sldMk cId="1555163091" sldId="322"/>
        </pc:sldMkLst>
        <pc:spChg chg="mod">
          <ac:chgData name="Danielle Martin" userId="04f63225-1d27-46ab-9c7c-1c8b513bed32" providerId="ADAL" clId="{C760A038-0FB2-431C-B32F-073779FAB855}" dt="2024-01-25T17:23:13.475" v="4" actId="20577"/>
          <ac:spMkLst>
            <pc:docMk/>
            <pc:sldMk cId="1555163091" sldId="322"/>
            <ac:spMk id="19" creationId="{9370BE78-1CDF-406B-E78E-FF6964886867}"/>
          </ac:spMkLst>
        </pc:spChg>
      </pc:sldChg>
    </pc:docChg>
  </pc:docChgLst>
  <pc:docChgLst>
    <pc:chgData name="Danielle Martin" userId="04f63225-1d27-46ab-9c7c-1c8b513bed32" providerId="ADAL" clId="{44AF6ACB-DF9E-4856-84D2-84728F6B9D37}"/>
    <pc:docChg chg="modSld">
      <pc:chgData name="Danielle Martin" userId="04f63225-1d27-46ab-9c7c-1c8b513bed32" providerId="ADAL" clId="{44AF6ACB-DF9E-4856-84D2-84728F6B9D37}" dt="2022-12-04T05:45:45.828" v="42" actId="20577"/>
      <pc:docMkLst>
        <pc:docMk/>
      </pc:docMkLst>
      <pc:sldChg chg="addSp modSp mod">
        <pc:chgData name="Danielle Martin" userId="04f63225-1d27-46ab-9c7c-1c8b513bed32" providerId="ADAL" clId="{44AF6ACB-DF9E-4856-84D2-84728F6B9D37}" dt="2022-12-04T05:44:34.969" v="4" actId="1076"/>
        <pc:sldMkLst>
          <pc:docMk/>
          <pc:sldMk cId="3733136422" sldId="321"/>
        </pc:sldMkLst>
        <pc:spChg chg="mod">
          <ac:chgData name="Danielle Martin" userId="04f63225-1d27-46ab-9c7c-1c8b513bed32" providerId="ADAL" clId="{44AF6ACB-DF9E-4856-84D2-84728F6B9D37}" dt="2022-12-04T05:44:32.785" v="3" actId="1076"/>
          <ac:spMkLst>
            <pc:docMk/>
            <pc:sldMk cId="3733136422" sldId="321"/>
            <ac:spMk id="19" creationId="{9370BE78-1CDF-406B-E78E-FF6964886867}"/>
          </ac:spMkLst>
        </pc:spChg>
        <pc:picChg chg="add mod">
          <ac:chgData name="Danielle Martin" userId="04f63225-1d27-46ab-9c7c-1c8b513bed32" providerId="ADAL" clId="{44AF6ACB-DF9E-4856-84D2-84728F6B9D37}" dt="2022-12-04T05:44:34.969" v="4" actId="1076"/>
          <ac:picMkLst>
            <pc:docMk/>
            <pc:sldMk cId="3733136422" sldId="321"/>
            <ac:picMk id="12" creationId="{94E98866-6B27-0BEA-34AF-5A9CCDFE7528}"/>
          </ac:picMkLst>
        </pc:picChg>
      </pc:sldChg>
      <pc:sldChg chg="modSp mod">
        <pc:chgData name="Danielle Martin" userId="04f63225-1d27-46ab-9c7c-1c8b513bed32" providerId="ADAL" clId="{44AF6ACB-DF9E-4856-84D2-84728F6B9D37}" dt="2022-12-04T05:45:45.828" v="42" actId="20577"/>
        <pc:sldMkLst>
          <pc:docMk/>
          <pc:sldMk cId="1555163091" sldId="322"/>
        </pc:sldMkLst>
        <pc:spChg chg="mod">
          <ac:chgData name="Danielle Martin" userId="04f63225-1d27-46ab-9c7c-1c8b513bed32" providerId="ADAL" clId="{44AF6ACB-DF9E-4856-84D2-84728F6B9D37}" dt="2022-12-04T05:45:45.828" v="42" actId="20577"/>
          <ac:spMkLst>
            <pc:docMk/>
            <pc:sldMk cId="1555163091" sldId="322"/>
            <ac:spMk id="19" creationId="{9370BE78-1CDF-406B-E78E-FF69648868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F60D9-F074-4632-B98A-EF9F3F5EC699}" type="datetimeFigureOut">
              <a:rPr lang="en-US" smtClean="0"/>
              <a:t>1/25/2024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Haga clic para editar los estilos de texto maestro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35DC9-7FC5-4FF4-9DDB-1181E3A5FE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4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25/01/2024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jpeg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jpeg"/><Relationship Id="rId5" Type="http://schemas.openxmlformats.org/officeDocument/2006/relationships/image" Target="../media/image4.emf"/><Relationship Id="rId10" Type="http://schemas.openxmlformats.org/officeDocument/2006/relationships/image" Target="../media/image9.sv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9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8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9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8.png"/><Relationship Id="rId5" Type="http://schemas.openxmlformats.org/officeDocument/2006/relationships/image" Target="../media/image16.png"/><Relationship Id="rId15" Type="http://schemas.openxmlformats.org/officeDocument/2006/relationships/image" Target="../media/image24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9.svg"/><Relationship Id="rId2" Type="http://schemas.openxmlformats.org/officeDocument/2006/relationships/image" Target="../media/image13.png"/><Relationship Id="rId16" Type="http://schemas.openxmlformats.org/officeDocument/2006/relationships/hyperlink" Target="mailto:compliance@partners.ne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8.png"/><Relationship Id="rId5" Type="http://schemas.openxmlformats.org/officeDocument/2006/relationships/image" Target="../media/image16.png"/><Relationship Id="rId15" Type="http://schemas.openxmlformats.org/officeDocument/2006/relationships/hyperlink" Target="https://partnersnet107.sharepoint.com/:f:/s/FA/Ev-NWmGKbtpXnNE8Xv8kN7kBd-j-dg2apqJTlsVKIz0N7g?e=tIWP1V" TargetMode="External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34.svg"/><Relationship Id="rId5" Type="http://schemas.openxmlformats.org/officeDocument/2006/relationships/image" Target="../media/image28.emf"/><Relationship Id="rId10" Type="http://schemas.openxmlformats.org/officeDocument/2006/relationships/image" Target="../media/image33.png"/><Relationship Id="rId4" Type="http://schemas.openxmlformats.org/officeDocument/2006/relationships/image" Target="../media/image27.emf"/><Relationship Id="rId9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7471658-E210-436E-E82D-A991ACBA25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B62896E-8148-F6BE-2135-37EB03C87D44}"/>
              </a:ext>
            </a:extLst>
          </p:cNvPr>
          <p:cNvSpPr txBox="1"/>
          <p:nvPr/>
        </p:nvSpPr>
        <p:spPr>
          <a:xfrm>
            <a:off x="1260576" y="1571437"/>
            <a:ext cx="7246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Gestión de </a:t>
            </a:r>
            <a:r>
              <a:rPr lang="en-US" sz="7200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inventarios</a:t>
            </a:r>
            <a:r>
              <a:rPr lang="en-US" sz="7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 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A95D714-735B-DF22-1FE6-8F1535220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07" y="6210078"/>
            <a:ext cx="2595663" cy="403594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0CCA30B3-A0FC-C2E2-C187-353BFC0F1EC7}"/>
              </a:ext>
            </a:extLst>
          </p:cNvPr>
          <p:cNvSpPr txBox="1"/>
          <p:nvPr/>
        </p:nvSpPr>
        <p:spPr>
          <a:xfrm>
            <a:off x="5437629" y="6115207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@Partners-of-the-Americas</a:t>
            </a:r>
          </a:p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@PartnersAmericas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2F8395B-F426-E39A-7AE2-576B68DDCC24}"/>
              </a:ext>
            </a:extLst>
          </p:cNvPr>
          <p:cNvSpPr txBox="1"/>
          <p:nvPr/>
        </p:nvSpPr>
        <p:spPr>
          <a:xfrm>
            <a:off x="7634653" y="6114680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@PartnersAmericas</a:t>
            </a:r>
          </a:p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@PartnersoftheAmericas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91E0137-E729-4F1F-D5C2-8A3275469165}"/>
              </a:ext>
            </a:extLst>
          </p:cNvPr>
          <p:cNvSpPr txBox="1"/>
          <p:nvPr/>
        </p:nvSpPr>
        <p:spPr>
          <a:xfrm>
            <a:off x="9802415" y="6114035"/>
            <a:ext cx="1629989" cy="615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@PartnersAmerica</a:t>
            </a:r>
          </a:p>
          <a:p>
            <a:pPr>
              <a:lnSpc>
                <a:spcPct val="150000"/>
              </a:lnSpc>
            </a:pPr>
            <a:r>
              <a:rPr lang="es-CO" sz="1200" dirty="0">
                <a:latin typeface="Proxima Nova Rg" panose="02000506030000020004" pitchFamily="2" charset="0"/>
              </a:rPr>
              <a:t>www.partners.net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EC34B1CB-51A2-8068-75F9-2BA64EAA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898" y="6219436"/>
            <a:ext cx="205710" cy="20571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0BEA3DA8-5CDC-B4BC-BEFC-F822EBE6D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898" y="6510817"/>
            <a:ext cx="205710" cy="20571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88B08C0-DADC-E402-E0E4-A56E240B1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943" y="6219436"/>
            <a:ext cx="205710" cy="20571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3A35E2D-AA4A-2A17-00D6-8C6E0BD1C0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9418" y="6219436"/>
            <a:ext cx="205710" cy="20571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B814E795-42C4-DC48-2B8F-AE334FE7B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943" y="6478169"/>
            <a:ext cx="205710" cy="20571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B701C4F7-949E-582C-3869-F8E881D6EDC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2967" y="1246771"/>
            <a:ext cx="585533" cy="585533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2F372E-F43E-06E2-26EA-BF8D9DA8D70A}"/>
              </a:ext>
            </a:extLst>
          </p:cNvPr>
          <p:cNvSpPr>
            <a:spLocks noChangeAspect="1"/>
          </p:cNvSpPr>
          <p:nvPr/>
        </p:nvSpPr>
        <p:spPr>
          <a:xfrm rot="18900000">
            <a:off x="9142634" y="2163338"/>
            <a:ext cx="1708720" cy="17075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Pile of American dollar banknotes">
            <a:extLst>
              <a:ext uri="{FF2B5EF4-FFF2-40B4-BE49-F238E27FC236}">
                <a16:creationId xmlns:a16="http://schemas.microsoft.com/office/drawing/2014/main" id="{FA1752BB-5F57-5393-40F4-C836E91DE7E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4" r="12504"/>
          <a:stretch/>
        </p:blipFill>
        <p:spPr>
          <a:xfrm>
            <a:off x="9135518" y="1791761"/>
            <a:ext cx="2150106" cy="2150106"/>
          </a:xfrm>
          <a:custGeom>
            <a:avLst/>
            <a:gdLst>
              <a:gd name="connsiteX0" fmla="*/ 1148526 w 2297052"/>
              <a:gd name="connsiteY0" fmla="*/ 0 h 2297052"/>
              <a:gd name="connsiteX1" fmla="*/ 1360662 w 2297052"/>
              <a:gd name="connsiteY1" fmla="*/ 87870 h 2297052"/>
              <a:gd name="connsiteX2" fmla="*/ 2209182 w 2297052"/>
              <a:gd name="connsiteY2" fmla="*/ 936390 h 2297052"/>
              <a:gd name="connsiteX3" fmla="*/ 2209182 w 2297052"/>
              <a:gd name="connsiteY3" fmla="*/ 1360662 h 2297052"/>
              <a:gd name="connsiteX4" fmla="*/ 1360662 w 2297052"/>
              <a:gd name="connsiteY4" fmla="*/ 2209182 h 2297052"/>
              <a:gd name="connsiteX5" fmla="*/ 936390 w 2297052"/>
              <a:gd name="connsiteY5" fmla="*/ 2209182 h 2297052"/>
              <a:gd name="connsiteX6" fmla="*/ 87870 w 2297052"/>
              <a:gd name="connsiteY6" fmla="*/ 1360662 h 2297052"/>
              <a:gd name="connsiteX7" fmla="*/ 87870 w 2297052"/>
              <a:gd name="connsiteY7" fmla="*/ 936390 h 2297052"/>
              <a:gd name="connsiteX8" fmla="*/ 936390 w 2297052"/>
              <a:gd name="connsiteY8" fmla="*/ 87870 h 2297052"/>
              <a:gd name="connsiteX9" fmla="*/ 1148526 w 2297052"/>
              <a:gd name="connsiteY9" fmla="*/ 0 h 22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7052" h="2297052">
                <a:moveTo>
                  <a:pt x="1148526" y="0"/>
                </a:moveTo>
                <a:cubicBezTo>
                  <a:pt x="1225304" y="0"/>
                  <a:pt x="1302083" y="29290"/>
                  <a:pt x="1360662" y="87870"/>
                </a:cubicBezTo>
                <a:lnTo>
                  <a:pt x="2209182" y="936390"/>
                </a:lnTo>
                <a:cubicBezTo>
                  <a:pt x="2326342" y="1053550"/>
                  <a:pt x="2326342" y="1243503"/>
                  <a:pt x="2209182" y="1360662"/>
                </a:cubicBezTo>
                <a:lnTo>
                  <a:pt x="1360662" y="2209182"/>
                </a:lnTo>
                <a:cubicBezTo>
                  <a:pt x="1243503" y="2326342"/>
                  <a:pt x="1053550" y="2326342"/>
                  <a:pt x="936390" y="2209182"/>
                </a:cubicBezTo>
                <a:lnTo>
                  <a:pt x="87870" y="1360662"/>
                </a:lnTo>
                <a:cubicBezTo>
                  <a:pt x="-29290" y="1243503"/>
                  <a:pt x="-29290" y="1053550"/>
                  <a:pt x="87870" y="936390"/>
                </a:cubicBezTo>
                <a:lnTo>
                  <a:pt x="936390" y="87870"/>
                </a:lnTo>
                <a:cubicBezTo>
                  <a:pt x="994970" y="29290"/>
                  <a:pt x="1071748" y="0"/>
                  <a:pt x="1148526" y="0"/>
                </a:cubicBezTo>
                <a:close/>
              </a:path>
            </a:pathLst>
          </a:custGeom>
        </p:spPr>
      </p:pic>
      <p:pic>
        <p:nvPicPr>
          <p:cNvPr id="20" name="Picture 19" descr="World map made up of coins">
            <a:extLst>
              <a:ext uri="{FF2B5EF4-FFF2-40B4-BE49-F238E27FC236}">
                <a16:creationId xmlns:a16="http://schemas.microsoft.com/office/drawing/2014/main" id="{096E2537-6467-892E-BE0B-252195A08D4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3" r="12553"/>
          <a:stretch/>
        </p:blipFill>
        <p:spPr>
          <a:xfrm>
            <a:off x="7915264" y="3089257"/>
            <a:ext cx="2150106" cy="2150106"/>
          </a:xfrm>
          <a:custGeom>
            <a:avLst/>
            <a:gdLst>
              <a:gd name="connsiteX0" fmla="*/ 1148526 w 2297052"/>
              <a:gd name="connsiteY0" fmla="*/ 0 h 2297052"/>
              <a:gd name="connsiteX1" fmla="*/ 1360662 w 2297052"/>
              <a:gd name="connsiteY1" fmla="*/ 87870 h 2297052"/>
              <a:gd name="connsiteX2" fmla="*/ 2209182 w 2297052"/>
              <a:gd name="connsiteY2" fmla="*/ 936390 h 2297052"/>
              <a:gd name="connsiteX3" fmla="*/ 2209182 w 2297052"/>
              <a:gd name="connsiteY3" fmla="*/ 1360662 h 2297052"/>
              <a:gd name="connsiteX4" fmla="*/ 1360662 w 2297052"/>
              <a:gd name="connsiteY4" fmla="*/ 2209182 h 2297052"/>
              <a:gd name="connsiteX5" fmla="*/ 936390 w 2297052"/>
              <a:gd name="connsiteY5" fmla="*/ 2209182 h 2297052"/>
              <a:gd name="connsiteX6" fmla="*/ 87870 w 2297052"/>
              <a:gd name="connsiteY6" fmla="*/ 1360662 h 2297052"/>
              <a:gd name="connsiteX7" fmla="*/ 87870 w 2297052"/>
              <a:gd name="connsiteY7" fmla="*/ 936390 h 2297052"/>
              <a:gd name="connsiteX8" fmla="*/ 936390 w 2297052"/>
              <a:gd name="connsiteY8" fmla="*/ 87870 h 2297052"/>
              <a:gd name="connsiteX9" fmla="*/ 1148526 w 2297052"/>
              <a:gd name="connsiteY9" fmla="*/ 0 h 22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7052" h="2297052">
                <a:moveTo>
                  <a:pt x="1148526" y="0"/>
                </a:moveTo>
                <a:cubicBezTo>
                  <a:pt x="1225304" y="0"/>
                  <a:pt x="1302083" y="29290"/>
                  <a:pt x="1360662" y="87870"/>
                </a:cubicBezTo>
                <a:lnTo>
                  <a:pt x="2209182" y="936390"/>
                </a:lnTo>
                <a:cubicBezTo>
                  <a:pt x="2326342" y="1053550"/>
                  <a:pt x="2326342" y="1243503"/>
                  <a:pt x="2209182" y="1360662"/>
                </a:cubicBezTo>
                <a:lnTo>
                  <a:pt x="1360662" y="2209182"/>
                </a:lnTo>
                <a:cubicBezTo>
                  <a:pt x="1243503" y="2326342"/>
                  <a:pt x="1053550" y="2326342"/>
                  <a:pt x="936390" y="2209182"/>
                </a:cubicBezTo>
                <a:lnTo>
                  <a:pt x="87870" y="1360662"/>
                </a:lnTo>
                <a:cubicBezTo>
                  <a:pt x="-29290" y="1243503"/>
                  <a:pt x="-29290" y="1053550"/>
                  <a:pt x="87870" y="936390"/>
                </a:cubicBezTo>
                <a:lnTo>
                  <a:pt x="936390" y="87870"/>
                </a:lnTo>
                <a:cubicBezTo>
                  <a:pt x="994970" y="29290"/>
                  <a:pt x="1071748" y="0"/>
                  <a:pt x="1148526" y="0"/>
                </a:cubicBezTo>
                <a:close/>
              </a:path>
            </a:pathLst>
          </a:custGeom>
        </p:spPr>
      </p:pic>
      <p:pic>
        <p:nvPicPr>
          <p:cNvPr id="21" name="Picture 20" descr="Desk with productivity items">
            <a:extLst>
              <a:ext uri="{FF2B5EF4-FFF2-40B4-BE49-F238E27FC236}">
                <a16:creationId xmlns:a16="http://schemas.microsoft.com/office/drawing/2014/main" id="{4304BB94-1D64-C87E-1E54-9E210754082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6675"/>
          <a:stretch/>
        </p:blipFill>
        <p:spPr>
          <a:xfrm>
            <a:off x="7846888" y="563965"/>
            <a:ext cx="2150106" cy="2150106"/>
          </a:xfrm>
          <a:custGeom>
            <a:avLst/>
            <a:gdLst>
              <a:gd name="connsiteX0" fmla="*/ 1148526 w 2297052"/>
              <a:gd name="connsiteY0" fmla="*/ 0 h 2297052"/>
              <a:gd name="connsiteX1" fmla="*/ 1360662 w 2297052"/>
              <a:gd name="connsiteY1" fmla="*/ 87870 h 2297052"/>
              <a:gd name="connsiteX2" fmla="*/ 2209182 w 2297052"/>
              <a:gd name="connsiteY2" fmla="*/ 936390 h 2297052"/>
              <a:gd name="connsiteX3" fmla="*/ 2209182 w 2297052"/>
              <a:gd name="connsiteY3" fmla="*/ 1360662 h 2297052"/>
              <a:gd name="connsiteX4" fmla="*/ 1360662 w 2297052"/>
              <a:gd name="connsiteY4" fmla="*/ 2209182 h 2297052"/>
              <a:gd name="connsiteX5" fmla="*/ 936390 w 2297052"/>
              <a:gd name="connsiteY5" fmla="*/ 2209182 h 2297052"/>
              <a:gd name="connsiteX6" fmla="*/ 87870 w 2297052"/>
              <a:gd name="connsiteY6" fmla="*/ 1360662 h 2297052"/>
              <a:gd name="connsiteX7" fmla="*/ 87870 w 2297052"/>
              <a:gd name="connsiteY7" fmla="*/ 936390 h 2297052"/>
              <a:gd name="connsiteX8" fmla="*/ 936390 w 2297052"/>
              <a:gd name="connsiteY8" fmla="*/ 87870 h 2297052"/>
              <a:gd name="connsiteX9" fmla="*/ 1148526 w 2297052"/>
              <a:gd name="connsiteY9" fmla="*/ 0 h 2297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7052" h="2297052">
                <a:moveTo>
                  <a:pt x="1148526" y="0"/>
                </a:moveTo>
                <a:cubicBezTo>
                  <a:pt x="1225304" y="0"/>
                  <a:pt x="1302083" y="29290"/>
                  <a:pt x="1360662" y="87870"/>
                </a:cubicBezTo>
                <a:lnTo>
                  <a:pt x="2209182" y="936390"/>
                </a:lnTo>
                <a:cubicBezTo>
                  <a:pt x="2326342" y="1053550"/>
                  <a:pt x="2326342" y="1243503"/>
                  <a:pt x="2209182" y="1360662"/>
                </a:cubicBezTo>
                <a:lnTo>
                  <a:pt x="1360662" y="2209182"/>
                </a:lnTo>
                <a:cubicBezTo>
                  <a:pt x="1243503" y="2326342"/>
                  <a:pt x="1053550" y="2326342"/>
                  <a:pt x="936390" y="2209182"/>
                </a:cubicBezTo>
                <a:lnTo>
                  <a:pt x="87870" y="1360662"/>
                </a:lnTo>
                <a:cubicBezTo>
                  <a:pt x="-29290" y="1243503"/>
                  <a:pt x="-29290" y="1053550"/>
                  <a:pt x="87870" y="936390"/>
                </a:cubicBezTo>
                <a:lnTo>
                  <a:pt x="936390" y="87870"/>
                </a:lnTo>
                <a:cubicBezTo>
                  <a:pt x="994970" y="29290"/>
                  <a:pt x="1071748" y="0"/>
                  <a:pt x="114852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D3DAAC-F258-960C-1DB9-BE63C5A112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90FC422-DD29-8960-918B-D02DCF51B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5478" y="0"/>
            <a:ext cx="729574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3AA530A-0649-E8A0-1173-C0F394E65C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606087" y="-63500"/>
            <a:ext cx="6547556" cy="215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A0BF3B-0BAE-0F2F-7A04-A433C18F3B67}"/>
              </a:ext>
            </a:extLst>
          </p:cNvPr>
          <p:cNvSpPr txBox="1"/>
          <p:nvPr/>
        </p:nvSpPr>
        <p:spPr>
          <a:xfrm>
            <a:off x="1365171" y="589953"/>
            <a:ext cx="8637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Suministros</a:t>
            </a:r>
            <a:r>
              <a:rPr lang="en-US" sz="4000" dirty="0"/>
              <a:t> y equipos</a:t>
            </a:r>
            <a:endParaRPr lang="en-US" sz="1600" dirty="0"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3E3E6A5-9C0A-23AA-2A3B-A979411B26B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1308" y="557604"/>
            <a:ext cx="644605" cy="64460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EF75363-3D79-CD0C-F69E-E88EFA81434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26959" b="37702"/>
          <a:stretch/>
        </p:blipFill>
        <p:spPr>
          <a:xfrm>
            <a:off x="8880395" y="4033446"/>
            <a:ext cx="3311605" cy="28245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D741C8F-0671-6336-CE68-2FC13F5B9A54}"/>
              </a:ext>
            </a:extLst>
          </p:cNvPr>
          <p:cNvSpPr txBox="1"/>
          <p:nvPr/>
        </p:nvSpPr>
        <p:spPr>
          <a:xfrm>
            <a:off x="9817368" y="5997997"/>
            <a:ext cx="153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www.partners.net</a:t>
            </a:r>
            <a:endParaRPr lang="en-US" sz="3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0B4B6CF-509D-A47F-91C2-B0B75A70709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1357314" y="5877542"/>
            <a:ext cx="517908" cy="5179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CF9F2A-1932-12F5-0485-6F7B37D87FA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61828" r="45381"/>
          <a:stretch/>
        </p:blipFill>
        <p:spPr>
          <a:xfrm>
            <a:off x="8446222" y="0"/>
            <a:ext cx="3745778" cy="2617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70BE78-1CDF-406B-E78E-FF6964886867}"/>
              </a:ext>
            </a:extLst>
          </p:cNvPr>
          <p:cNvSpPr txBox="1"/>
          <p:nvPr/>
        </p:nvSpPr>
        <p:spPr>
          <a:xfrm>
            <a:off x="997138" y="1507985"/>
            <a:ext cx="8820230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Por equipo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 entiende los bienes muebles tangibles (incluidos los sistemas de tecnología de la información) que tienen una vida útil de más de un año y un coste de adquisición por unidad que es igual o superior a 5.000 dólares.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Por suministros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 entiende todos los bienes personales tangibles distintos de los descritos en equipos (arriba). Un dispositivo informático (por ejemplo, ordenadores, etc.) es un suministro si el coste de adquisición es inferior a 5.000 USD, independientemente de la duración de su vida útil.</a:t>
            </a:r>
          </a:p>
        </p:txBody>
      </p:sp>
    </p:spTree>
    <p:extLst>
      <p:ext uri="{BB962C8B-B14F-4D97-AF65-F5344CB8AC3E}">
        <p14:creationId xmlns:p14="http://schemas.microsoft.com/office/powerpoint/2010/main" val="381633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D3DAAC-F258-960C-1DB9-BE63C5A112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90FC422-DD29-8960-918B-D02DCF51B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5478" y="0"/>
            <a:ext cx="729574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3AA530A-0649-E8A0-1173-C0F394E65C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606087" y="-63500"/>
            <a:ext cx="6547556" cy="215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A0BF3B-0BAE-0F2F-7A04-A433C18F3B67}"/>
              </a:ext>
            </a:extLst>
          </p:cNvPr>
          <p:cNvSpPr txBox="1"/>
          <p:nvPr/>
        </p:nvSpPr>
        <p:spPr>
          <a:xfrm>
            <a:off x="1365171" y="589953"/>
            <a:ext cx="8637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Roboto Slab" pitchFamily="2" charset="0"/>
                <a:ea typeface="Roboto Slab" pitchFamily="2" charset="0"/>
              </a:rPr>
              <a:t>Marcado del inventario</a:t>
            </a:r>
            <a:endParaRPr lang="en-US" sz="1600" dirty="0"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3E3E6A5-9C0A-23AA-2A3B-A979411B26B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1308" y="557604"/>
            <a:ext cx="644605" cy="64460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EF75363-3D79-CD0C-F69E-E88EFA81434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26959" b="37702"/>
          <a:stretch/>
        </p:blipFill>
        <p:spPr>
          <a:xfrm>
            <a:off x="8880395" y="4033446"/>
            <a:ext cx="3311605" cy="28245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D741C8F-0671-6336-CE68-2FC13F5B9A54}"/>
              </a:ext>
            </a:extLst>
          </p:cNvPr>
          <p:cNvSpPr txBox="1"/>
          <p:nvPr/>
        </p:nvSpPr>
        <p:spPr>
          <a:xfrm>
            <a:off x="9817368" y="5997997"/>
            <a:ext cx="153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www.partners.net</a:t>
            </a:r>
            <a:endParaRPr lang="en-US" sz="3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0B4B6CF-509D-A47F-91C2-B0B75A70709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1357314" y="5877542"/>
            <a:ext cx="517908" cy="5179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CF9F2A-1932-12F5-0485-6F7B37D87FA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61828" r="45381"/>
          <a:stretch/>
        </p:blipFill>
        <p:spPr>
          <a:xfrm>
            <a:off x="8446222" y="0"/>
            <a:ext cx="3745778" cy="2617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70BE78-1CDF-406B-E78E-FF6964886867}"/>
              </a:ext>
            </a:extLst>
          </p:cNvPr>
          <p:cNvSpPr txBox="1"/>
          <p:nvPr/>
        </p:nvSpPr>
        <p:spPr>
          <a:xfrm>
            <a:off x="1067117" y="1308914"/>
            <a:ext cx="9429821" cy="398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Todos los equipos y suministros valorados en $100 USD+ con una utilidad de más de 1 año, deben ser etiquetados </a:t>
            </a:r>
            <a:r>
              <a:rPr lang="en-US" sz="19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 una etiqueta en el siguiente formato: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"Partners of the Americas" PAÍS - DONANTE Financiado: NOMBRE </a:t>
            </a:r>
            <a:r>
              <a:rPr lang="en-US" sz="19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DEL PROGRAMA </a:t>
            </a:r>
            <a:r>
              <a:rPr lang="en-US" sz="19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NÚMERO DE ADJUDICACIÓN DEL PROYECTO más un número de inventario único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Debe incluir el logotipo de POA y del donante (si así lo requiere el plan de marcado y marca)</a:t>
            </a:r>
            <a:endParaRPr lang="en-US" sz="19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E98866-6B27-0BEA-34AF-5A9CCDFE7528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64560" y="4935624"/>
            <a:ext cx="2855167" cy="172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3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D3DAAC-F258-960C-1DB9-BE63C5A112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90FC422-DD29-8960-918B-D02DCF51B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5478" y="0"/>
            <a:ext cx="729574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3AA530A-0649-E8A0-1173-C0F394E65C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606087" y="-63500"/>
            <a:ext cx="6547556" cy="215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6A0BF3B-0BAE-0F2F-7A04-A433C18F3B67}"/>
              </a:ext>
            </a:extLst>
          </p:cNvPr>
          <p:cNvSpPr txBox="1"/>
          <p:nvPr/>
        </p:nvSpPr>
        <p:spPr>
          <a:xfrm>
            <a:off x="1365171" y="589953"/>
            <a:ext cx="8637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Roboto Slab" pitchFamily="2" charset="0"/>
                <a:ea typeface="Roboto Slab" pitchFamily="2" charset="0"/>
              </a:rPr>
              <a:t>Conciliación del inventario</a:t>
            </a:r>
            <a:endParaRPr lang="en-US" sz="1600" dirty="0"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3E3E6A5-9C0A-23AA-2A3B-A979411B26B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1308" y="557604"/>
            <a:ext cx="644605" cy="64460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EF75363-3D79-CD0C-F69E-E88EFA81434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26959" b="37702"/>
          <a:stretch/>
        </p:blipFill>
        <p:spPr>
          <a:xfrm>
            <a:off x="8880395" y="4033446"/>
            <a:ext cx="3311605" cy="282455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D741C8F-0671-6336-CE68-2FC13F5B9A54}"/>
              </a:ext>
            </a:extLst>
          </p:cNvPr>
          <p:cNvSpPr txBox="1"/>
          <p:nvPr/>
        </p:nvSpPr>
        <p:spPr>
          <a:xfrm>
            <a:off x="9817368" y="5997997"/>
            <a:ext cx="153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www.partners.net</a:t>
            </a:r>
            <a:endParaRPr lang="en-US" sz="36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30B4B6CF-509D-A47F-91C2-B0B75A70709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1357314" y="5877542"/>
            <a:ext cx="517908" cy="517908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CF9F2A-1932-12F5-0485-6F7B37D87FAA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61828" r="45381"/>
          <a:stretch/>
        </p:blipFill>
        <p:spPr>
          <a:xfrm>
            <a:off x="8446222" y="0"/>
            <a:ext cx="3745778" cy="2617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70BE78-1CDF-406B-E78E-FF6964886867}"/>
              </a:ext>
            </a:extLst>
          </p:cNvPr>
          <p:cNvSpPr txBox="1"/>
          <p:nvPr/>
        </p:nvSpPr>
        <p:spPr>
          <a:xfrm>
            <a:off x="997138" y="1507985"/>
            <a:ext cx="8820230" cy="419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 debe realizar un inventario físico de la oficina anualmente y conciliar los resultados con los registros contables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15"/>
              </a:rPr>
              <a:t>Informe de inventario y equipamiento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Firmado por el director de F&amp;A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Enviar a la casa 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matriz</a:t>
            </a:r>
            <a:r>
              <a:rPr lang="en-U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 POA a más tardar el 31 de </a:t>
            </a:r>
            <a:r>
              <a:rPr lang="en-US" sz="200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enero</a:t>
            </a:r>
            <a:endParaRPr lang="en-US" sz="20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Copia enviada por correo al director del programa y a </a:t>
            </a:r>
            <a:r>
              <a:rPr lang="es-E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6"/>
              </a:rPr>
              <a:t>compliance@partners.net</a:t>
            </a:r>
            <a:r>
              <a:rPr lang="es-ES" sz="200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endParaRPr lang="en-US" sz="2000" i="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16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46974F3-857E-92E7-8CA7-6E8AB5F8E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5F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882BC3-340E-E664-1B5B-17A4E7678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802" y="685541"/>
            <a:ext cx="3473468" cy="53856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EC9C86D-18EB-DBA2-C102-F2734646A552}"/>
              </a:ext>
            </a:extLst>
          </p:cNvPr>
          <p:cNvSpPr txBox="1"/>
          <p:nvPr/>
        </p:nvSpPr>
        <p:spPr>
          <a:xfrm>
            <a:off x="5532114" y="5583501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@Partners-of-the-Americas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@PartnersAmericas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7A6C12-EBED-8905-3D8C-7308A9A6CC91}"/>
              </a:ext>
            </a:extLst>
          </p:cNvPr>
          <p:cNvSpPr txBox="1"/>
          <p:nvPr/>
        </p:nvSpPr>
        <p:spPr>
          <a:xfrm>
            <a:off x="7909899" y="5582974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@PartnersAmericas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@PartnersoftheAmericas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8C37D9-6262-2646-CF86-75A6F83F5843}"/>
              </a:ext>
            </a:extLst>
          </p:cNvPr>
          <p:cNvSpPr txBox="1"/>
          <p:nvPr/>
        </p:nvSpPr>
        <p:spPr>
          <a:xfrm>
            <a:off x="10099226" y="5582329"/>
            <a:ext cx="1565292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@PartnersAmerica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Proxima Nova Rg" panose="02000506030000020004" pitchFamily="2" charset="0"/>
              </a:rPr>
              <a:t>www.partners.net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5E881D0-0D50-C376-AE34-D947A9B9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064" y="5666390"/>
            <a:ext cx="227050" cy="2270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368F46-0B0B-BB6F-6A3D-E9C193488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96" y="5936056"/>
            <a:ext cx="227050" cy="2270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FF37CE-3700-41CA-9118-7E4391EFE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548" y="5666390"/>
            <a:ext cx="227050" cy="2270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072F4EA-8DDE-C566-1C3D-1CABFC979D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548" y="5927144"/>
            <a:ext cx="227050" cy="2270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CC8B58C-72E5-03D7-60BC-8FD978E2B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9693" y="5666390"/>
            <a:ext cx="227050" cy="22705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DF101AFF-48C7-358C-B702-639255D4E7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1016" y="-21266"/>
            <a:ext cx="4343400" cy="685800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EF8A90E-F708-83F7-5563-E03270345649}"/>
              </a:ext>
            </a:extLst>
          </p:cNvPr>
          <p:cNvSpPr txBox="1"/>
          <p:nvPr/>
        </p:nvSpPr>
        <p:spPr>
          <a:xfrm>
            <a:off x="6010936" y="2859199"/>
            <a:ext cx="43008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Gracias. 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2A99A1CD-5F1C-D43F-424C-4E09D42A786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8017516" y="3721912"/>
            <a:ext cx="479352" cy="47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192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0D30D4-2460-4196-8A1B-89725A24FE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6DBBDC-AF81-48A0-A865-CC0FC196FCE4}">
  <ds:schemaRefs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c808d36-874f-4b27-aec2-2fd649817929"/>
    <ds:schemaRef ds:uri="http://purl.org/dc/elements/1.1/"/>
    <ds:schemaRef ds:uri="http://schemas.openxmlformats.org/package/2006/metadata/core-properties"/>
    <ds:schemaRef ds:uri="3276a5ee-6656-4a6b-89a7-44a00982a1a7"/>
    <ds:schemaRef ds:uri="http://purl.org/dc/terms/"/>
    <ds:schemaRef ds:uri="f2466082-b6bf-4153-98c3-3c41e85fda18"/>
  </ds:schemaRefs>
</ds:datastoreItem>
</file>

<file path=customXml/itemProps3.xml><?xml version="1.0" encoding="utf-8"?>
<ds:datastoreItem xmlns:ds="http://schemas.openxmlformats.org/officeDocument/2006/customXml" ds:itemID="{8CF443A9-A01F-41D0-AE37-02D8EE6F96FF}"/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292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Proxima Nova Rg</vt:lpstr>
      <vt:lpstr>Roboto Slab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keywords>, docId:725C84D49CE9516BEB39447EE9ECA138</cp:keywords>
  <cp:lastModifiedBy>Danielle Martin</cp:lastModifiedBy>
  <cp:revision>103</cp:revision>
  <dcterms:created xsi:type="dcterms:W3CDTF">2022-05-10T16:01:35Z</dcterms:created>
  <dcterms:modified xsi:type="dcterms:W3CDTF">2024-01-25T17:23:14Z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