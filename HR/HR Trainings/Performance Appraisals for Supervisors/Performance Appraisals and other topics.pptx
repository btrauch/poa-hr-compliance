
<file path=[Content_Types].xml><?xml version="1.0" encoding="utf-8"?>
<Types xmlns="http://schemas.openxmlformats.org/package/2006/content-types">
  <Default Extension="png" ContentType="image/png"/>
  <Default Extension="rels" ContentType="application/vnd.openxmlformats-package.relationships+xml"/>
  <Default Extension="jpeg" ContentType="image/jpeg"/>
  <Default Extension="xml" ContentType="application/xml"/>
  <Override PartName="/ppt/presentation.xml" ContentType="application/vnd.openxmlformats-officedocument.presentationml.presentation.main+xml"/>
  <Override PartName="/ppt/slides/slide19.xml" ContentType="application/vnd.openxmlformats-officedocument.presentationml.slide+xml"/>
  <Override PartName="/ppt/slides/slide11.xml" ContentType="application/vnd.openxmlformats-officedocument.presentationml.slide+xml"/>
  <Override PartName="/ppt/slides/slide22.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18.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13.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20.xml" ContentType="application/vnd.openxmlformats-officedocument.presentationml.slide+xml"/>
  <Override PartName="/ppt/slides/slide14.xml" ContentType="application/vnd.openxmlformats-officedocument.presentationml.slide+xml"/>
  <Override PartName="/ppt/slides/slide24.xml" ContentType="application/vnd.openxmlformats-officedocument.presentationml.slide+xml"/>
  <Override PartName="/ppt/slides/slide9.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12.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1.xml" ContentType="application/vnd.openxmlformats-officedocument.presentationml.notesSlide+xml"/>
  <Override PartName="/ppt/notesSlides/notesSlide18.xml" ContentType="application/vnd.openxmlformats-officedocument.presentationml.notesSlide+xml"/>
  <Override PartName="/ppt/notesSlides/notesSlide21.xml" ContentType="application/vnd.openxmlformats-officedocument.presentationml.notesSlide+xml"/>
  <Override PartName="/ppt/notesSlides/notesSlide16.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6"/>
  </p:notesMasterIdLst>
  <p:sldIdLst>
    <p:sldId id="256" r:id="rId2"/>
    <p:sldId id="257" r:id="rId3"/>
    <p:sldId id="275" r:id="rId4"/>
    <p:sldId id="276" r:id="rId5"/>
    <p:sldId id="261" r:id="rId6"/>
    <p:sldId id="277" r:id="rId7"/>
    <p:sldId id="268" r:id="rId8"/>
    <p:sldId id="262" r:id="rId9"/>
    <p:sldId id="263" r:id="rId10"/>
    <p:sldId id="271" r:id="rId11"/>
    <p:sldId id="258" r:id="rId12"/>
    <p:sldId id="260" r:id="rId13"/>
    <p:sldId id="281" r:id="rId14"/>
    <p:sldId id="264" r:id="rId15"/>
    <p:sldId id="266" r:id="rId16"/>
    <p:sldId id="267" r:id="rId17"/>
    <p:sldId id="280" r:id="rId18"/>
    <p:sldId id="282" r:id="rId19"/>
    <p:sldId id="274" r:id="rId20"/>
    <p:sldId id="272" r:id="rId21"/>
    <p:sldId id="273" r:id="rId22"/>
    <p:sldId id="269" r:id="rId23"/>
    <p:sldId id="278" r:id="rId24"/>
    <p:sldId id="265" r:id="rId25"/>
  </p:sldIdLst>
  <p:sldSz cx="9144000" cy="6858000" type="screen4x3"/>
  <p:notesSz cx="6858000" cy="92900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5" d="100"/>
          <a:sy n="95" d="100"/>
        </p:scale>
        <p:origin x="-1090" y="-82"/>
      </p:cViewPr>
      <p:guideLst>
        <p:guide orient="horz" pos="2160"/>
        <p:guide pos="2880"/>
      </p:guideLst>
    </p:cSldViewPr>
  </p:slideViewPr>
  <p:notesTextViewPr>
    <p:cViewPr>
      <p:scale>
        <a:sx n="1" d="1"/>
        <a:sy n="1" d="1"/>
      </p:scale>
      <p:origin x="0" y="0"/>
    </p:cViewPr>
  </p:notesTextViewPr>
  <p:sorterViewPr>
    <p:cViewPr>
      <p:scale>
        <a:sx n="100" d="100"/>
        <a:sy n="100" d="100"/>
      </p:scale>
      <p:origin x="0" y="3030"/>
    </p:cViewPr>
  </p:sorterViewPr>
  <p:notesViewPr>
    <p:cSldViewPr>
      <p:cViewPr varScale="1">
        <p:scale>
          <a:sx n="75" d="100"/>
          <a:sy n="75" d="100"/>
        </p:scale>
        <p:origin x="-2942" y="-72"/>
      </p:cViewPr>
      <p:guideLst>
        <p:guide orient="horz" pos="2926"/>
        <p:guide pos="2160"/>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503"/>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64503"/>
          </a:xfrm>
          <a:prstGeom prst="rect">
            <a:avLst/>
          </a:prstGeom>
        </p:spPr>
        <p:txBody>
          <a:bodyPr vert="horz" lIns="91440" tIns="45720" rIns="91440" bIns="45720" rtlCol="0"/>
          <a:lstStyle>
            <a:lvl1pPr algn="r">
              <a:defRPr sz="1200"/>
            </a:lvl1pPr>
          </a:lstStyle>
          <a:p>
            <a:fld id="{B6974BDE-9DC2-43EF-931E-78B35DD80932}" type="datetimeFigureOut">
              <a:rPr lang="en-US" smtClean="0"/>
              <a:pPr/>
              <a:t>12/18/2013</a:t>
            </a:fld>
            <a:endParaRPr lang="en-US" dirty="0"/>
          </a:p>
        </p:txBody>
      </p:sp>
      <p:sp>
        <p:nvSpPr>
          <p:cNvPr id="4" name="Slide Image Placeholder 3"/>
          <p:cNvSpPr>
            <a:spLocks noGrp="1" noRot="1" noChangeAspect="1"/>
          </p:cNvSpPr>
          <p:nvPr>
            <p:ph type="sldImg" idx="2"/>
          </p:nvPr>
        </p:nvSpPr>
        <p:spPr>
          <a:xfrm>
            <a:off x="1108075" y="696913"/>
            <a:ext cx="4641850" cy="348297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12774"/>
            <a:ext cx="5486400" cy="4180523"/>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3935"/>
            <a:ext cx="2971800" cy="464503"/>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823935"/>
            <a:ext cx="2971800" cy="464503"/>
          </a:xfrm>
          <a:prstGeom prst="rect">
            <a:avLst/>
          </a:prstGeom>
        </p:spPr>
        <p:txBody>
          <a:bodyPr vert="horz" lIns="91440" tIns="45720" rIns="91440" bIns="45720" rtlCol="0" anchor="b"/>
          <a:lstStyle>
            <a:lvl1pPr algn="r">
              <a:defRPr sz="1200"/>
            </a:lvl1pPr>
          </a:lstStyle>
          <a:p>
            <a:fld id="{9D6D0BDE-5D39-4A6F-8AEF-10FAF36AF3C4}" type="slidenum">
              <a:rPr lang="en-US" smtClean="0"/>
              <a:pPr/>
              <a:t>‹#›</a:t>
            </a:fld>
            <a:endParaRPr lang="en-US" dirty="0"/>
          </a:p>
        </p:txBody>
      </p:sp>
    </p:spTree>
    <p:extLst>
      <p:ext uri="{BB962C8B-B14F-4D97-AF65-F5344CB8AC3E}">
        <p14:creationId xmlns:p14="http://schemas.microsoft.com/office/powerpoint/2010/main" xmlns="" val="20136650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en.wikipedia.org/wiki/Generation" TargetMode="External"/><Relationship Id="rId2" Type="http://schemas.openxmlformats.org/officeDocument/2006/relationships/slide" Target="../slides/slide4.xml"/><Relationship Id="rId1" Type="http://schemas.openxmlformats.org/officeDocument/2006/relationships/notesMaster" Target="../notesMasters/notesMaster1.xml"/><Relationship Id="rId6" Type="http://schemas.openxmlformats.org/officeDocument/2006/relationships/hyperlink" Target="http://en.wikipedia.org/wiki/Generation_X" TargetMode="External"/><Relationship Id="rId5" Type="http://schemas.openxmlformats.org/officeDocument/2006/relationships/hyperlink" Target="http://en.wikipedia.org/wiki/World_War_II" TargetMode="External"/><Relationship Id="rId4" Type="http://schemas.openxmlformats.org/officeDocument/2006/relationships/hyperlink" Target="http://en.wikipedia.org/wiki/Great_Depression"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www.cangrade.com/"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www.businessnewsdaily.com/4790-best-companies-for-work-life-balance.html" TargetMode="Externa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www.businessnewsdaily.com/3387-employee-recognition-linked-to-better-business-performance.html" TargetMode="External"/><Relationship Id="rId2" Type="http://schemas.openxmlformats.org/officeDocument/2006/relationships/slide" Target="../slides/slide12.xml"/><Relationship Id="rId1" Type="http://schemas.openxmlformats.org/officeDocument/2006/relationships/notesMaster" Target="../notesMasters/notesMaster1.xml"/><Relationship Id="rId4" Type="http://schemas.openxmlformats.org/officeDocument/2006/relationships/hyperlink" Target="http://www.businessnewsdaily.com/2123-work-money-stress.html" TargetMode="Externa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en.wikipedia.org/wiki/Generation" TargetMode="External"/><Relationship Id="rId2" Type="http://schemas.openxmlformats.org/officeDocument/2006/relationships/slide" Target="../slides/slide13.xml"/><Relationship Id="rId1" Type="http://schemas.openxmlformats.org/officeDocument/2006/relationships/notesMaster" Target="../notesMasters/notesMaster1.xml"/><Relationship Id="rId6" Type="http://schemas.openxmlformats.org/officeDocument/2006/relationships/hyperlink" Target="http://en.wikipedia.org/wiki/Generation_X" TargetMode="External"/><Relationship Id="rId5" Type="http://schemas.openxmlformats.org/officeDocument/2006/relationships/hyperlink" Target="http://en.wikipedia.org/wiki/World_War_II" TargetMode="External"/><Relationship Id="rId4" Type="http://schemas.openxmlformats.org/officeDocument/2006/relationships/hyperlink" Target="http://en.wikipedia.org/wiki/Great_Depression"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According to an article in HRO Today (Human</a:t>
            </a:r>
            <a:r>
              <a:rPr lang="en-US" sz="1200" kern="1200" baseline="0" dirty="0" smtClean="0">
                <a:solidFill>
                  <a:schemeClr val="tx1"/>
                </a:solidFill>
                <a:effectLst/>
                <a:latin typeface="+mn-lt"/>
                <a:ea typeface="+mn-ea"/>
                <a:cs typeface="+mn-cs"/>
              </a:rPr>
              <a:t> Resource Outsourcing)</a:t>
            </a:r>
            <a:r>
              <a:rPr lang="en-US" sz="1200" kern="1200" dirty="0" smtClean="0">
                <a:solidFill>
                  <a:schemeClr val="tx1"/>
                </a:solidFill>
                <a:effectLst/>
                <a:latin typeface="+mn-lt"/>
                <a:ea typeface="+mn-ea"/>
                <a:cs typeface="+mn-cs"/>
              </a:rPr>
              <a:t> - Retaining employees within the first five years of service can be a challenge. According to the Bureau of Labor Statistics, the average job tenure of American workers across all industries is 4.6 years, with the highest levels of retention occurring in the public sector (7.8 years) and the lowest in leisure and hospitality services (2.4 years). Millennial workers aged 25 to 34 reported the lowest overall average tenure of 3.2 years.</a:t>
            </a:r>
          </a:p>
          <a:p>
            <a:r>
              <a:rPr lang="en-US" dirty="0" smtClean="0"/>
              <a:t>http://www.hrotoday.com/content/5518/earlier-better</a:t>
            </a:r>
            <a:endParaRPr lang="en-US" dirty="0"/>
          </a:p>
        </p:txBody>
      </p:sp>
      <p:sp>
        <p:nvSpPr>
          <p:cNvPr id="4" name="Slide Number Placeholder 3"/>
          <p:cNvSpPr>
            <a:spLocks noGrp="1"/>
          </p:cNvSpPr>
          <p:nvPr>
            <p:ph type="sldNum" sz="quarter" idx="10"/>
          </p:nvPr>
        </p:nvSpPr>
        <p:spPr/>
        <p:txBody>
          <a:bodyPr/>
          <a:lstStyle/>
          <a:p>
            <a:fld id="{9D6D0BDE-5D39-4A6F-8AEF-10FAF36AF3C4}" type="slidenum">
              <a:rPr lang="en-US" smtClean="0"/>
              <a:pPr/>
              <a:t>3</a:t>
            </a:fld>
            <a:endParaRPr lang="en-US" dirty="0"/>
          </a:p>
        </p:txBody>
      </p:sp>
    </p:spTree>
    <p:extLst>
      <p:ext uri="{BB962C8B-B14F-4D97-AF65-F5344CB8AC3E}">
        <p14:creationId xmlns:p14="http://schemas.microsoft.com/office/powerpoint/2010/main" xmlns="" val="5243499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Silent Generation</a:t>
            </a:r>
            <a:r>
              <a:rPr lang="en-US" dirty="0" smtClean="0"/>
              <a:t> is a label for the </a:t>
            </a:r>
            <a:r>
              <a:rPr lang="en-US" dirty="0" smtClean="0">
                <a:hlinkClick r:id="rId3" action="ppaction://hlinkfile" tooltip="Generation"/>
              </a:rPr>
              <a:t>generation</a:t>
            </a:r>
            <a:r>
              <a:rPr lang="en-US" dirty="0" smtClean="0"/>
              <a:t> of people born from 1925–1942</a:t>
            </a:r>
            <a:r>
              <a:rPr lang="en-US" baseline="30000" dirty="0" smtClean="0">
                <a:hlinkClick r:id="" action="ppaction://hlinkfile"/>
              </a:rPr>
              <a:t>[1]</a:t>
            </a:r>
            <a:r>
              <a:rPr lang="en-US" dirty="0" smtClean="0"/>
              <a:t> notably during the </a:t>
            </a:r>
            <a:r>
              <a:rPr lang="en-US" dirty="0" smtClean="0">
                <a:hlinkClick r:id="rId4" action="ppaction://hlinkfile" tooltip="Great Depression"/>
              </a:rPr>
              <a:t>Great Depression</a:t>
            </a:r>
            <a:r>
              <a:rPr lang="en-US" dirty="0" smtClean="0"/>
              <a:t> and </a:t>
            </a:r>
            <a:r>
              <a:rPr lang="en-US" dirty="0" smtClean="0">
                <a:hlinkClick r:id="rId5" action="ppaction://hlinkfile" tooltip="World War II"/>
              </a:rPr>
              <a:t>World War II</a:t>
            </a:r>
            <a:endParaRPr lang="en-US" dirty="0" smtClean="0"/>
          </a:p>
          <a:p>
            <a:endParaRPr lang="en-US" dirty="0" smtClean="0"/>
          </a:p>
          <a:p>
            <a:r>
              <a:rPr lang="en-US" dirty="0" smtClean="0"/>
              <a:t>Boomers:  As a group, they were the wealthiest, most active, and most physically fit generation up to that time, and amongst the first to grow up genuinely expecting the world to improve with time.</a:t>
            </a:r>
          </a:p>
          <a:p>
            <a:endParaRPr lang="en-US" dirty="0" smtClean="0"/>
          </a:p>
          <a:p>
            <a:r>
              <a:rPr lang="en-US" dirty="0" smtClean="0"/>
              <a:t>Gen Xers were often called the MTV Generation. Generation X volunteer rates in the U.S. at "29.4% per year", the highest compared with other generations</a:t>
            </a:r>
          </a:p>
          <a:p>
            <a:r>
              <a:rPr lang="en-US" dirty="0" smtClean="0"/>
              <a:t>people born between 1961 and 1981, are highly educated, active, balanced, happy and family oriented</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Millennials - birth range from 1979-1994Some employers are concerned that Millennials have too great expectations from the workplace.</a:t>
            </a:r>
            <a:r>
              <a:rPr lang="en-US" baseline="30000" dirty="0" smtClean="0">
                <a:hlinkClick r:id="" action="ppaction://hlinkfile"/>
              </a:rPr>
              <a:t>[38]</a:t>
            </a:r>
            <a:r>
              <a:rPr lang="en-US" dirty="0" smtClean="0"/>
              <a:t> Studies predict that Generation Y will switch jobs frequently, holding many more jobs than </a:t>
            </a:r>
            <a:r>
              <a:rPr lang="en-US" dirty="0" smtClean="0">
                <a:hlinkClick r:id="rId6" action="ppaction://hlinkfile" tooltip="Generation X"/>
              </a:rPr>
              <a:t>Generation X</a:t>
            </a:r>
            <a:r>
              <a:rPr lang="en-US" dirty="0" smtClean="0"/>
              <a:t> due to their great expectations.</a:t>
            </a:r>
            <a:r>
              <a:rPr lang="en-US" baseline="30000" dirty="0" smtClean="0">
                <a:hlinkClick r:id="" action="ppaction://hlinkfile"/>
              </a:rPr>
              <a:t>[39]</a:t>
            </a:r>
            <a:endParaRPr lang="en-US" dirty="0" smtClean="0"/>
          </a:p>
          <a:p>
            <a:endParaRPr lang="en-US" dirty="0"/>
          </a:p>
        </p:txBody>
      </p:sp>
      <p:sp>
        <p:nvSpPr>
          <p:cNvPr id="4" name="Slide Number Placeholder 3"/>
          <p:cNvSpPr>
            <a:spLocks noGrp="1"/>
          </p:cNvSpPr>
          <p:nvPr>
            <p:ph type="sldNum" sz="quarter" idx="10"/>
          </p:nvPr>
        </p:nvSpPr>
        <p:spPr/>
        <p:txBody>
          <a:bodyPr/>
          <a:lstStyle/>
          <a:p>
            <a:fld id="{9D6D0BDE-5D39-4A6F-8AEF-10FAF36AF3C4}" type="slidenum">
              <a:rPr lang="en-US" smtClean="0"/>
              <a:pPr/>
              <a:t>4</a:t>
            </a:fld>
            <a:endParaRPr lang="en-US" dirty="0"/>
          </a:p>
        </p:txBody>
      </p:sp>
    </p:spTree>
    <p:extLst>
      <p:ext uri="{BB962C8B-B14F-4D97-AF65-F5344CB8AC3E}">
        <p14:creationId xmlns:p14="http://schemas.microsoft.com/office/powerpoint/2010/main" xmlns="" val="12314542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Consider a typical 28 year-old. From the moment she was born, her world has been rich in feedback. When she presses a button, something happens. When she plays a videogame, she gets a score. When she sends a text message, she hears a sound that confirms it went out. She's lived her whole life on a landscape lush with feedback. </a:t>
            </a:r>
          </a:p>
          <a:p>
            <a:r>
              <a:rPr lang="en-US" sz="1200" b="0" i="1" u="none" strike="noStrike" kern="1200" baseline="0" dirty="0" smtClean="0">
                <a:solidFill>
                  <a:schemeClr val="tx1"/>
                </a:solidFill>
                <a:latin typeface="+mn-lt"/>
                <a:ea typeface="+mn-ea"/>
                <a:cs typeface="+mn-cs"/>
              </a:rPr>
              <a:t>Yet when she steps through the office door, she finds herself in a veritable feedback desert. </a:t>
            </a:r>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The main—often the only—mechanism for giving her information on how she's doing on the job is the annual performance review. This sturdy feature of organizational life is deeply flawed in at least two ways. In other words, reminding employees about that missing W—the “why”—doubled their performance. </a:t>
            </a:r>
          </a:p>
          <a:p>
            <a:r>
              <a:rPr lang="en-US" sz="1200" b="0" i="0" u="none" strike="noStrike" kern="1200" baseline="0" dirty="0" smtClean="0">
                <a:solidFill>
                  <a:schemeClr val="tx1"/>
                </a:solidFill>
                <a:latin typeface="+mn-lt"/>
                <a:ea typeface="+mn-ea"/>
                <a:cs typeface="+mn-cs"/>
              </a:rPr>
              <a:t>Grant and some colleagues uncovered similar results in another call center study. There, when employees spent just five minutes talking to the recipients of the funds they were raising, those employees spent twice as much time on the phone with prospective donors and raised nearly three times as much money as they had in the past. And Grant found the same phenomenon in a study of lifeguards at a community aquatics center. A group of lifeguards read stories from previous lifeguards about rescuing swimmers. Then, a month later, those lifeguards worked more hours, and received higher ratings from their bosses, than a similar group that wasn’t reminded of its purpose. </a:t>
            </a:r>
          </a:p>
          <a:p>
            <a:r>
              <a:rPr lang="en-US" sz="1200" b="0" i="0" u="none" strike="noStrike" kern="1200" baseline="0" dirty="0" smtClean="0">
                <a:solidFill>
                  <a:schemeClr val="tx1"/>
                </a:solidFill>
                <a:latin typeface="+mn-lt"/>
                <a:ea typeface="+mn-ea"/>
                <a:cs typeface="+mn-cs"/>
              </a:rPr>
              <a:t>It’s often difficult to do something well if we don’t know the reasons we’re doing it to begin with. People at work are thirsting for context, yearning to know that their efforts contribute to a larger whole. And a powerful way to provide that context is to spend a little less time monitoring who, what, where, when and how—and little more time considering why. </a:t>
            </a:r>
          </a:p>
          <a:p>
            <a:r>
              <a:rPr lang="en-US" sz="1200" b="0" i="0" u="none" strike="noStrike" kern="1200" baseline="0" dirty="0" smtClean="0">
                <a:solidFill>
                  <a:schemeClr val="tx1"/>
                </a:solidFill>
                <a:latin typeface="+mn-lt"/>
                <a:ea typeface="+mn-ea"/>
                <a:cs typeface="+mn-cs"/>
              </a:rPr>
              <a:t>Here are two simple ways to do that. </a:t>
            </a:r>
          </a:p>
          <a:p>
            <a:r>
              <a:rPr lang="en-US" sz="1200" b="0" i="0" u="none" strike="noStrike" kern="1200" baseline="0" dirty="0" smtClean="0">
                <a:solidFill>
                  <a:schemeClr val="tx1"/>
                </a:solidFill>
                <a:latin typeface="+mn-lt"/>
                <a:ea typeface="+mn-ea"/>
                <a:cs typeface="+mn-cs"/>
              </a:rPr>
              <a:t>First, find out whether the people on your team even have a “why.” At your next staff meeting, ask this question: “What’s the purpose of this organization?” Then hand everyone a blank index card and ask them to write their answer anonymously. Collect the cards and read them </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One night a Virgin Atlantic flight left Heathrow Airport bound for Newark, New Jersey. As the plane neared the Eastern Seaboard, bad weather forced the flight to divert to Hartford, Connecticut, some 106 miles north of its destination. The plane sat on the runway there for four hours—without air-conditioning, food or water—as babies wailed and adults anguished in the darkened cabin. </a:t>
            </a:r>
          </a:p>
          <a:p>
            <a:r>
              <a:rPr lang="en-US" sz="1200" b="0" i="0" u="none" strike="noStrike" kern="1200" baseline="0" dirty="0" smtClean="0">
                <a:solidFill>
                  <a:schemeClr val="tx1"/>
                </a:solidFill>
                <a:latin typeface="+mn-lt"/>
                <a:ea typeface="+mn-ea"/>
                <a:cs typeface="+mn-cs"/>
              </a:rPr>
              <a:t>The next day, the airline, which explained that the Hartford airport lacked the customs personnel to process an international flight, offered this response: “Virgin Atlantic would like to thank passengers for their patience and apologize for any inconvenience caused.” </a:t>
            </a:r>
          </a:p>
          <a:p>
            <a:r>
              <a:rPr lang="en-US" sz="1200" b="0" i="0" u="none" strike="noStrike" kern="1200" baseline="0" dirty="0" smtClean="0">
                <a:solidFill>
                  <a:schemeClr val="tx1"/>
                </a:solidFill>
                <a:latin typeface="+mn-lt"/>
                <a:ea typeface="+mn-ea"/>
                <a:cs typeface="+mn-cs"/>
              </a:rPr>
              <a:t>Jason Fried, co-founder of the American software firm 37 Signals and co-author of </a:t>
            </a:r>
            <a:r>
              <a:rPr lang="en-US" sz="1200" b="0" i="1" u="none" strike="noStrike" kern="1200" baseline="0" dirty="0" smtClean="0">
                <a:solidFill>
                  <a:schemeClr val="tx1"/>
                </a:solidFill>
                <a:latin typeface="+mn-lt"/>
                <a:ea typeface="+mn-ea"/>
                <a:cs typeface="+mn-cs"/>
              </a:rPr>
              <a:t>ReWork: Change the Way You Work Forever</a:t>
            </a:r>
            <a:r>
              <a:rPr lang="en-US" sz="1200" b="0" i="0" u="none" strike="noStrike" kern="1200" baseline="0" dirty="0" smtClean="0">
                <a:solidFill>
                  <a:schemeClr val="tx1"/>
                </a:solidFill>
                <a:latin typeface="+mn-lt"/>
                <a:ea typeface="+mn-ea"/>
                <a:cs typeface="+mn-cs"/>
              </a:rPr>
              <a:t>, finds the language of that statement almost as inhuman as the problem that prompted it. </a:t>
            </a:r>
            <a:endParaRPr lang="en-US" dirty="0"/>
          </a:p>
        </p:txBody>
      </p:sp>
      <p:sp>
        <p:nvSpPr>
          <p:cNvPr id="4" name="Slide Number Placeholder 3"/>
          <p:cNvSpPr>
            <a:spLocks noGrp="1"/>
          </p:cNvSpPr>
          <p:nvPr>
            <p:ph type="sldNum" sz="quarter" idx="10"/>
          </p:nvPr>
        </p:nvSpPr>
        <p:spPr/>
        <p:txBody>
          <a:bodyPr/>
          <a:lstStyle/>
          <a:p>
            <a:fld id="{9D6D0BDE-5D39-4A6F-8AEF-10FAF36AF3C4}" type="slidenum">
              <a:rPr lang="en-US" smtClean="0"/>
              <a:pPr/>
              <a:t>5</a:t>
            </a:fld>
            <a:endParaRPr lang="en-US" dirty="0"/>
          </a:p>
        </p:txBody>
      </p:sp>
    </p:spTree>
    <p:extLst>
      <p:ext uri="{BB962C8B-B14F-4D97-AF65-F5344CB8AC3E}">
        <p14:creationId xmlns:p14="http://schemas.microsoft.com/office/powerpoint/2010/main" xmlns="" val="37596540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6D0BDE-5D39-4A6F-8AEF-10FAF36AF3C4}" type="slidenum">
              <a:rPr lang="en-US" smtClean="0"/>
              <a:pPr/>
              <a:t>6</a:t>
            </a:fld>
            <a:endParaRPr lang="en-US" dirty="0"/>
          </a:p>
        </p:txBody>
      </p:sp>
    </p:spTree>
    <p:extLst>
      <p:ext uri="{BB962C8B-B14F-4D97-AF65-F5344CB8AC3E}">
        <p14:creationId xmlns:p14="http://schemas.microsoft.com/office/powerpoint/2010/main" xmlns="" val="37596540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What’s the difference</a:t>
            </a:r>
            <a:endParaRPr lang="en-US" dirty="0"/>
          </a:p>
        </p:txBody>
      </p:sp>
      <p:sp>
        <p:nvSpPr>
          <p:cNvPr id="4" name="Slide Number Placeholder 3"/>
          <p:cNvSpPr>
            <a:spLocks noGrp="1"/>
          </p:cNvSpPr>
          <p:nvPr>
            <p:ph type="sldNum" sz="quarter" idx="10"/>
          </p:nvPr>
        </p:nvSpPr>
        <p:spPr/>
        <p:txBody>
          <a:bodyPr/>
          <a:lstStyle/>
          <a:p>
            <a:fld id="{9D6D0BDE-5D39-4A6F-8AEF-10FAF36AF3C4}" type="slidenum">
              <a:rPr lang="en-US" smtClean="0"/>
              <a:pPr/>
              <a:t>7</a:t>
            </a:fld>
            <a:endParaRPr lang="en-US" dirty="0"/>
          </a:p>
        </p:txBody>
      </p:sp>
    </p:spTree>
    <p:extLst>
      <p:ext uri="{BB962C8B-B14F-4D97-AF65-F5344CB8AC3E}">
        <p14:creationId xmlns:p14="http://schemas.microsoft.com/office/powerpoint/2010/main" xmlns="" val="31955967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Goals handout</a:t>
            </a:r>
            <a:endParaRPr lang="en-US" dirty="0"/>
          </a:p>
        </p:txBody>
      </p:sp>
      <p:sp>
        <p:nvSpPr>
          <p:cNvPr id="4" name="Slide Number Placeholder 3"/>
          <p:cNvSpPr>
            <a:spLocks noGrp="1"/>
          </p:cNvSpPr>
          <p:nvPr>
            <p:ph type="sldNum" sz="quarter" idx="10"/>
          </p:nvPr>
        </p:nvSpPr>
        <p:spPr/>
        <p:txBody>
          <a:bodyPr/>
          <a:lstStyle/>
          <a:p>
            <a:fld id="{9D6D0BDE-5D39-4A6F-8AEF-10FAF36AF3C4}" type="slidenum">
              <a:rPr lang="en-US" smtClean="0"/>
              <a:pPr/>
              <a:t>9</a:t>
            </a:fld>
            <a:endParaRPr lang="en-US" dirty="0"/>
          </a:p>
        </p:txBody>
      </p:sp>
    </p:spTree>
    <p:extLst>
      <p:ext uri="{BB962C8B-B14F-4D97-AF65-F5344CB8AC3E}">
        <p14:creationId xmlns:p14="http://schemas.microsoft.com/office/powerpoint/2010/main" xmlns="" val="6792976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6D0BDE-5D39-4A6F-8AEF-10FAF36AF3C4}" type="slidenum">
              <a:rPr lang="en-US" smtClean="0"/>
              <a:pPr/>
              <a:t>10</a:t>
            </a:fld>
            <a:endParaRPr lang="en-US" dirty="0"/>
          </a:p>
        </p:txBody>
      </p:sp>
    </p:spTree>
    <p:extLst>
      <p:ext uri="{BB962C8B-B14F-4D97-AF65-F5344CB8AC3E}">
        <p14:creationId xmlns:p14="http://schemas.microsoft.com/office/powerpoint/2010/main" xmlns="" val="6792976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By: Chad Brooks </a:t>
            </a:r>
            <a:br>
              <a:rPr lang="en-US" dirty="0" smtClean="0"/>
            </a:br>
            <a:r>
              <a:rPr lang="en-US" dirty="0" smtClean="0"/>
              <a:t>Published: 09/18/2013 06:40 AM EDT on BusinessNewsDaily</a:t>
            </a:r>
          </a:p>
          <a:p>
            <a:r>
              <a:rPr lang="en-US" dirty="0" smtClean="0"/>
              <a:t>Despite common belief, money isn't the key to employee happiness, new research finds.</a:t>
            </a:r>
          </a:p>
          <a:p>
            <a:r>
              <a:rPr lang="en-US" dirty="0" smtClean="0"/>
              <a:t>A study by hiring software provider </a:t>
            </a:r>
            <a:r>
              <a:rPr lang="en-US" dirty="0" smtClean="0">
                <a:hlinkClick r:id="rId3"/>
              </a:rPr>
              <a:t>Cangrade</a:t>
            </a:r>
            <a:r>
              <a:rPr lang="en-US" dirty="0" smtClean="0"/>
              <a:t> revealed that being intellectually stimulated is the most important aspect of an employee's job satisfaction. Specially, those surveyed said intellectual stimulation accounts for 18.5 percent of their job satisfaction.</a:t>
            </a:r>
          </a:p>
          <a:p>
            <a:r>
              <a:rPr lang="en-US" dirty="0" smtClean="0"/>
              <a:t>That's compared to money, which accounts for just 5.4 percent of how happy an employee is with the job. Achievement and prestige, power and influence, </a:t>
            </a:r>
            <a:r>
              <a:rPr lang="en-US" dirty="0" smtClean="0">
                <a:hlinkClick r:id="rId4"/>
              </a:rPr>
              <a:t>work-life balance</a:t>
            </a:r>
            <a:r>
              <a:rPr lang="en-US" dirty="0" smtClean="0"/>
              <a:t> and affiliation and friendship were all rated more important to job satisfaction than money.</a:t>
            </a:r>
          </a:p>
          <a:p>
            <a:r>
              <a:rPr lang="en-US" dirty="0" smtClean="0"/>
              <a:t>"These findings are quite surprising, because employers often assume things like income are the strongest drivers of happiness in the workplace," said Steve Lehr, Cangrade's chief science officer. "In fact, our research shows that it may be the weakest."</a:t>
            </a:r>
          </a:p>
        </p:txBody>
      </p:sp>
      <p:sp>
        <p:nvSpPr>
          <p:cNvPr id="4" name="Slide Number Placeholder 3"/>
          <p:cNvSpPr>
            <a:spLocks noGrp="1"/>
          </p:cNvSpPr>
          <p:nvPr>
            <p:ph type="sldNum" sz="quarter" idx="10"/>
          </p:nvPr>
        </p:nvSpPr>
        <p:spPr/>
        <p:txBody>
          <a:bodyPr/>
          <a:lstStyle/>
          <a:p>
            <a:fld id="{9D6D0BDE-5D39-4A6F-8AEF-10FAF36AF3C4}" type="slidenum">
              <a:rPr lang="en-US" smtClean="0"/>
              <a:pPr/>
              <a:t>11</a:t>
            </a:fld>
            <a:endParaRPr lang="en-US" dirty="0"/>
          </a:p>
        </p:txBody>
      </p:sp>
    </p:spTree>
    <p:extLst>
      <p:ext uri="{BB962C8B-B14F-4D97-AF65-F5344CB8AC3E}">
        <p14:creationId xmlns:p14="http://schemas.microsoft.com/office/powerpoint/2010/main" xmlns="" val="21033636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Researchers developed a three-part formula for employers who are eager to keep their staff happy:</a:t>
            </a:r>
          </a:p>
          <a:p>
            <a:r>
              <a:rPr lang="en-US" dirty="0" smtClean="0"/>
              <a:t>Try to ensure that jobs provide intellectual stimulation and task variety. Give employees some autonomy, influence and opportunities to acquire prestige and </a:t>
            </a:r>
            <a:r>
              <a:rPr lang="en-US" dirty="0" smtClean="0">
                <a:hlinkClick r:id="rId3"/>
              </a:rPr>
              <a:t>recognition</a:t>
            </a:r>
            <a:r>
              <a:rPr lang="en-US" dirty="0" smtClean="0"/>
              <a:t>. Employers should give employees these things even when they don't say they need them. Give them even more if they say they do.</a:t>
            </a:r>
          </a:p>
          <a:p>
            <a:r>
              <a:rPr lang="en-US" dirty="0" smtClean="0"/>
              <a:t>Employers should give all employees a break now and again, including the consummate workaholics who say they don't want or need it.</a:t>
            </a:r>
          </a:p>
          <a:p>
            <a:r>
              <a:rPr lang="en-US" dirty="0" smtClean="0"/>
              <a:t>Offer employees </a:t>
            </a:r>
            <a:r>
              <a:rPr lang="en-US" dirty="0" smtClean="0">
                <a:hlinkClick r:id="rId4"/>
              </a:rPr>
              <a:t>extra money</a:t>
            </a:r>
            <a:r>
              <a:rPr lang="en-US" dirty="0" smtClean="0"/>
              <a:t>, security and social opportunities. However, only to the extent they say these things matter to them.</a:t>
            </a:r>
          </a:p>
          <a:p>
            <a:endParaRPr lang="en-US" dirty="0"/>
          </a:p>
        </p:txBody>
      </p:sp>
      <p:sp>
        <p:nvSpPr>
          <p:cNvPr id="4" name="Slide Number Placeholder 3"/>
          <p:cNvSpPr>
            <a:spLocks noGrp="1"/>
          </p:cNvSpPr>
          <p:nvPr>
            <p:ph type="sldNum" sz="quarter" idx="10"/>
          </p:nvPr>
        </p:nvSpPr>
        <p:spPr/>
        <p:txBody>
          <a:bodyPr/>
          <a:lstStyle/>
          <a:p>
            <a:fld id="{9D6D0BDE-5D39-4A6F-8AEF-10FAF36AF3C4}" type="slidenum">
              <a:rPr lang="en-US" smtClean="0"/>
              <a:pPr/>
              <a:t>12</a:t>
            </a:fld>
            <a:endParaRPr lang="en-US" dirty="0"/>
          </a:p>
        </p:txBody>
      </p:sp>
    </p:spTree>
    <p:extLst>
      <p:ext uri="{BB962C8B-B14F-4D97-AF65-F5344CB8AC3E}">
        <p14:creationId xmlns:p14="http://schemas.microsoft.com/office/powerpoint/2010/main" xmlns="" val="18078026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Silent Generation</a:t>
            </a:r>
            <a:r>
              <a:rPr lang="en-US" dirty="0" smtClean="0"/>
              <a:t> is a label for the </a:t>
            </a:r>
            <a:r>
              <a:rPr lang="en-US" dirty="0" smtClean="0">
                <a:hlinkClick r:id="rId3" action="ppaction://hlinkfile" tooltip="Generation"/>
              </a:rPr>
              <a:t>generation</a:t>
            </a:r>
            <a:r>
              <a:rPr lang="en-US" dirty="0" smtClean="0"/>
              <a:t> of people born from 1925–1942</a:t>
            </a:r>
            <a:r>
              <a:rPr lang="en-US" baseline="30000" dirty="0" smtClean="0">
                <a:hlinkClick r:id="" action="ppaction://hlinkfile"/>
              </a:rPr>
              <a:t>[1]</a:t>
            </a:r>
            <a:r>
              <a:rPr lang="en-US" dirty="0" smtClean="0"/>
              <a:t> notably during the </a:t>
            </a:r>
            <a:r>
              <a:rPr lang="en-US" dirty="0" smtClean="0">
                <a:hlinkClick r:id="rId4" action="ppaction://hlinkfile" tooltip="Great Depression"/>
              </a:rPr>
              <a:t>Great Depression</a:t>
            </a:r>
            <a:r>
              <a:rPr lang="en-US" dirty="0" smtClean="0"/>
              <a:t> and </a:t>
            </a:r>
            <a:r>
              <a:rPr lang="en-US" dirty="0" smtClean="0">
                <a:hlinkClick r:id="rId5" action="ppaction://hlinkfile" tooltip="World War II"/>
              </a:rPr>
              <a:t>World War II</a:t>
            </a:r>
            <a:endParaRPr lang="en-US" dirty="0" smtClean="0"/>
          </a:p>
          <a:p>
            <a:endParaRPr lang="en-US" dirty="0" smtClean="0"/>
          </a:p>
          <a:p>
            <a:r>
              <a:rPr lang="en-US" dirty="0" smtClean="0"/>
              <a:t>Boomers:  As a group, they were the wealthiest, most active, and most physically fit generation up to that time, and amongst the first to grow up genuinely expecting the world to improve with time.</a:t>
            </a:r>
          </a:p>
          <a:p>
            <a:endParaRPr lang="en-US" dirty="0" smtClean="0"/>
          </a:p>
          <a:p>
            <a:r>
              <a:rPr lang="en-US" dirty="0" smtClean="0"/>
              <a:t>Gen Xers were often called the MTV Generation. Generation X volunteer rates in the U.S. at "29.4% per year", the highest compared with other generations</a:t>
            </a:r>
          </a:p>
          <a:p>
            <a:r>
              <a:rPr lang="en-US" dirty="0" smtClean="0"/>
              <a:t>people born between 1961 and 1981, are highly educated, active, balanced, happy and family oriented</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Millennials - birth range from 1979-1994Some employers are concerned that Millennials have too great expectations from the workplace.</a:t>
            </a:r>
            <a:r>
              <a:rPr lang="en-US" baseline="30000" dirty="0" smtClean="0">
                <a:hlinkClick r:id="" action="ppaction://hlinkfile"/>
              </a:rPr>
              <a:t>[38]</a:t>
            </a:r>
            <a:r>
              <a:rPr lang="en-US" dirty="0" smtClean="0"/>
              <a:t> Studies predict that Generation Y will switch jobs frequently, holding many more jobs than </a:t>
            </a:r>
            <a:r>
              <a:rPr lang="en-US" dirty="0" smtClean="0">
                <a:hlinkClick r:id="rId6" action="ppaction://hlinkfile" tooltip="Generation X"/>
              </a:rPr>
              <a:t>Generation X</a:t>
            </a:r>
            <a:r>
              <a:rPr lang="en-US" dirty="0" smtClean="0"/>
              <a:t> due to their great expectations.</a:t>
            </a:r>
            <a:r>
              <a:rPr lang="en-US" baseline="30000" dirty="0" smtClean="0">
                <a:hlinkClick r:id="" action="ppaction://hlinkfile"/>
              </a:rPr>
              <a:t>[39]</a:t>
            </a:r>
            <a:endParaRPr lang="en-US" dirty="0" smtClean="0"/>
          </a:p>
          <a:p>
            <a:endParaRPr lang="en-US" dirty="0"/>
          </a:p>
        </p:txBody>
      </p:sp>
      <p:sp>
        <p:nvSpPr>
          <p:cNvPr id="4" name="Slide Number Placeholder 3"/>
          <p:cNvSpPr>
            <a:spLocks noGrp="1"/>
          </p:cNvSpPr>
          <p:nvPr>
            <p:ph type="sldNum" sz="quarter" idx="10"/>
          </p:nvPr>
        </p:nvSpPr>
        <p:spPr/>
        <p:txBody>
          <a:bodyPr/>
          <a:lstStyle/>
          <a:p>
            <a:fld id="{9D6D0BDE-5D39-4A6F-8AEF-10FAF36AF3C4}" type="slidenum">
              <a:rPr lang="en-US" smtClean="0"/>
              <a:pPr/>
              <a:t>13</a:t>
            </a:fld>
            <a:endParaRPr lang="en-US" dirty="0"/>
          </a:p>
        </p:txBody>
      </p:sp>
    </p:spTree>
    <p:extLst>
      <p:ext uri="{BB962C8B-B14F-4D97-AF65-F5344CB8AC3E}">
        <p14:creationId xmlns:p14="http://schemas.microsoft.com/office/powerpoint/2010/main" xmlns="" val="12314542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May 2011, Harvard University economist Roland Fryer released a research paper that examined the effects of a large pay-for-performance program in more than 200 public schools in NYC. For 3 years, teachers in schools that reached certain performance targets could earn an annual bonus of $3,000.  Fryer looked at how students in those schools fared on standardized tests—and pored over the data on student absences and graduation rates. He also analyzed the impact on teachers—in particular, whether those offered a bonus took off fewer days or stayed in the profession longer. </a:t>
            </a:r>
          </a:p>
          <a:p>
            <a:r>
              <a:rPr lang="en-US" dirty="0"/>
              <a:t>The results? </a:t>
            </a:r>
          </a:p>
          <a:p>
            <a:r>
              <a:rPr lang="en-US" dirty="0"/>
              <a:t>"Providing incentives to teachers . . . did not increase student achievement in any statistically significant way," he wrote. Indeed, under the incentive plans, student test scores actually dropped. The impact on graduation rates and other measures of student behavior was "negligible" the impact on teacher absences and retention was essentially zero. </a:t>
            </a:r>
          </a:p>
          <a:p>
            <a:r>
              <a:rPr lang="en-US" dirty="0"/>
              <a:t> "I find no evidence that teacher incentives increase student performance, attendance, or graduation, nor do I find any evidence that the incentives change student or teacher behavior. If anything, teacher incentives may decrease student achievement, especially in larger schools." </a:t>
            </a:r>
          </a:p>
        </p:txBody>
      </p:sp>
      <p:sp>
        <p:nvSpPr>
          <p:cNvPr id="4" name="Slide Number Placeholder 3"/>
          <p:cNvSpPr>
            <a:spLocks noGrp="1"/>
          </p:cNvSpPr>
          <p:nvPr>
            <p:ph type="sldNum" sz="quarter" idx="10"/>
          </p:nvPr>
        </p:nvSpPr>
        <p:spPr/>
        <p:txBody>
          <a:bodyPr/>
          <a:lstStyle/>
          <a:p>
            <a:fld id="{9D6D0BDE-5D39-4A6F-8AEF-10FAF36AF3C4}" type="slidenum">
              <a:rPr lang="en-US" smtClean="0"/>
              <a:pPr/>
              <a:t>14</a:t>
            </a:fld>
            <a:endParaRPr lang="en-US" dirty="0"/>
          </a:p>
        </p:txBody>
      </p:sp>
    </p:spTree>
    <p:extLst>
      <p:ext uri="{BB962C8B-B14F-4D97-AF65-F5344CB8AC3E}">
        <p14:creationId xmlns:p14="http://schemas.microsoft.com/office/powerpoint/2010/main" xmlns="" val="11746773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In the mid-1980s, George Akerlof, who later won the Nobel Prize in economics, and his wife, Janet Yellen, a fellow economist,  discovered something peculiar about a group of employers they were studying in Northern California. </a:t>
            </a:r>
          </a:p>
          <a:p>
            <a:r>
              <a:rPr lang="en-US" sz="1200" b="0" i="0" u="none" strike="noStrike" kern="1200" baseline="0" dirty="0" smtClean="0">
                <a:solidFill>
                  <a:schemeClr val="tx1"/>
                </a:solidFill>
                <a:latin typeface="+mn-lt"/>
                <a:ea typeface="+mn-ea"/>
                <a:cs typeface="+mn-cs"/>
              </a:rPr>
              <a:t>Instead of paying employees the wages that supply and demand would have predicted, these companies gave their workers a little more. It was because they were savvy. Paying great people slightly more than the market demands, Akerlof and Yellen found, helped attract better talent, reduce turnover, and boost productivity and morale. In fact, the firms making the irrational and seemingly frivolous choice to "overpay" their employees, rather than construct elaborate incentive systems, outperformed their competitors. </a:t>
            </a:r>
          </a:p>
          <a:p>
            <a:r>
              <a:rPr lang="en-US" sz="1200" b="0" i="0" u="none" strike="noStrike" kern="1200" baseline="0" dirty="0" smtClean="0">
                <a:solidFill>
                  <a:schemeClr val="tx1"/>
                </a:solidFill>
                <a:latin typeface="+mn-lt"/>
                <a:ea typeface="+mn-ea"/>
                <a:cs typeface="+mn-cs"/>
              </a:rPr>
              <a:t> money matters. But often the best use of money as a motivator is to pay people enough to take the issue of money off the table—so that people can focus on the work rather than on the cash. </a:t>
            </a:r>
            <a:endParaRPr lang="en-US" dirty="0"/>
          </a:p>
        </p:txBody>
      </p:sp>
      <p:sp>
        <p:nvSpPr>
          <p:cNvPr id="4" name="Slide Number Placeholder 3"/>
          <p:cNvSpPr>
            <a:spLocks noGrp="1"/>
          </p:cNvSpPr>
          <p:nvPr>
            <p:ph type="sldNum" sz="quarter" idx="10"/>
          </p:nvPr>
        </p:nvSpPr>
        <p:spPr/>
        <p:txBody>
          <a:bodyPr/>
          <a:lstStyle/>
          <a:p>
            <a:fld id="{9D6D0BDE-5D39-4A6F-8AEF-10FAF36AF3C4}" type="slidenum">
              <a:rPr lang="en-US" smtClean="0"/>
              <a:pPr/>
              <a:t>15</a:t>
            </a:fld>
            <a:endParaRPr lang="en-US" dirty="0"/>
          </a:p>
        </p:txBody>
      </p:sp>
    </p:spTree>
    <p:extLst>
      <p:ext uri="{BB962C8B-B14F-4D97-AF65-F5344CB8AC3E}">
        <p14:creationId xmlns:p14="http://schemas.microsoft.com/office/powerpoint/2010/main" xmlns="" val="11746773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2011, Partners had a compensation analysis complete and paygrades established.  </a:t>
            </a:r>
          </a:p>
          <a:p>
            <a:endParaRPr lang="en-US" dirty="0"/>
          </a:p>
          <a:p>
            <a:r>
              <a:rPr lang="en-US" dirty="0" smtClean="0"/>
              <a:t>Consult with the CFO if you would like to know  where your employee sits in the assigned payrange. </a:t>
            </a:r>
            <a:endParaRPr lang="en-US" dirty="0"/>
          </a:p>
        </p:txBody>
      </p:sp>
      <p:sp>
        <p:nvSpPr>
          <p:cNvPr id="4" name="Slide Number Placeholder 3"/>
          <p:cNvSpPr>
            <a:spLocks noGrp="1"/>
          </p:cNvSpPr>
          <p:nvPr>
            <p:ph type="sldNum" sz="quarter" idx="10"/>
          </p:nvPr>
        </p:nvSpPr>
        <p:spPr/>
        <p:txBody>
          <a:bodyPr/>
          <a:lstStyle/>
          <a:p>
            <a:fld id="{9D6D0BDE-5D39-4A6F-8AEF-10FAF36AF3C4}" type="slidenum">
              <a:rPr lang="en-US" smtClean="0"/>
              <a:pPr/>
              <a:t>16</a:t>
            </a:fld>
            <a:endParaRPr lang="en-US" dirty="0"/>
          </a:p>
        </p:txBody>
      </p:sp>
    </p:spTree>
    <p:extLst>
      <p:ext uri="{BB962C8B-B14F-4D97-AF65-F5344CB8AC3E}">
        <p14:creationId xmlns:p14="http://schemas.microsoft.com/office/powerpoint/2010/main" xmlns="" val="11746773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http://www.ted.com/talks/dan_ariely_what_makes_us_feel_good_about_our_work.html?quote=2113</a:t>
            </a:r>
            <a:endParaRPr lang="en-US" dirty="0"/>
          </a:p>
        </p:txBody>
      </p:sp>
      <p:sp>
        <p:nvSpPr>
          <p:cNvPr id="4" name="Slide Number Placeholder 3"/>
          <p:cNvSpPr>
            <a:spLocks noGrp="1"/>
          </p:cNvSpPr>
          <p:nvPr>
            <p:ph type="sldNum" sz="quarter" idx="10"/>
          </p:nvPr>
        </p:nvSpPr>
        <p:spPr/>
        <p:txBody>
          <a:bodyPr/>
          <a:lstStyle/>
          <a:p>
            <a:fld id="{9D6D0BDE-5D39-4A6F-8AEF-10FAF36AF3C4}" type="slidenum">
              <a:rPr lang="en-US" smtClean="0"/>
              <a:pPr/>
              <a:t>17</a:t>
            </a:fld>
            <a:endParaRPr lang="en-US" dirty="0"/>
          </a:p>
        </p:txBody>
      </p:sp>
    </p:spTree>
    <p:extLst>
      <p:ext uri="{BB962C8B-B14F-4D97-AF65-F5344CB8AC3E}">
        <p14:creationId xmlns:p14="http://schemas.microsoft.com/office/powerpoint/2010/main" xmlns="" val="12314542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“When we think about labor, we usually think about motivation and payment as the same thing, but the reality is that we should probably add all kinds of things to it — meaning, creation, challenges, ownership, identity, pride.”</a:t>
            </a:r>
            <a:endParaRPr lang="en-US" dirty="0"/>
          </a:p>
        </p:txBody>
      </p:sp>
      <p:sp>
        <p:nvSpPr>
          <p:cNvPr id="4" name="Slide Number Placeholder 3"/>
          <p:cNvSpPr>
            <a:spLocks noGrp="1"/>
          </p:cNvSpPr>
          <p:nvPr>
            <p:ph type="sldNum" sz="quarter" idx="10"/>
          </p:nvPr>
        </p:nvSpPr>
        <p:spPr/>
        <p:txBody>
          <a:bodyPr/>
          <a:lstStyle/>
          <a:p>
            <a:fld id="{9D6D0BDE-5D39-4A6F-8AEF-10FAF36AF3C4}" type="slidenum">
              <a:rPr lang="en-US" smtClean="0"/>
              <a:pPr/>
              <a:t>18</a:t>
            </a:fld>
            <a:endParaRPr lang="en-US" dirty="0"/>
          </a:p>
        </p:txBody>
      </p:sp>
    </p:spTree>
    <p:extLst>
      <p:ext uri="{BB962C8B-B14F-4D97-AF65-F5344CB8AC3E}">
        <p14:creationId xmlns:p14="http://schemas.microsoft.com/office/powerpoint/2010/main" xmlns="" val="12314542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6D0BDE-5D39-4A6F-8AEF-10FAF36AF3C4}" type="slidenum">
              <a:rPr lang="en-US" smtClean="0"/>
              <a:pPr/>
              <a:t>19</a:t>
            </a:fld>
            <a:endParaRPr lang="en-US" dirty="0"/>
          </a:p>
        </p:txBody>
      </p:sp>
    </p:spTree>
    <p:extLst>
      <p:ext uri="{BB962C8B-B14F-4D97-AF65-F5344CB8AC3E}">
        <p14:creationId xmlns:p14="http://schemas.microsoft.com/office/powerpoint/2010/main" xmlns="" val="11746773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a:ln/>
        </p:spPr>
      </p:sp>
      <p:sp>
        <p:nvSpPr>
          <p:cNvPr id="83971" name="Notes Placeholder 2"/>
          <p:cNvSpPr>
            <a:spLocks noGrp="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dirty="0" smtClean="0">
                <a:latin typeface="Times New Roman" pitchFamily="18" charset="0"/>
              </a:rPr>
              <a:t>Start the conversation on a positive note.  Then state what action or issue needs to be corrected. Lastly follow up with a positive statement. </a:t>
            </a:r>
          </a:p>
        </p:txBody>
      </p:sp>
      <p:sp>
        <p:nvSpPr>
          <p:cNvPr id="83972" name="Slide Number Placeholder 3"/>
          <p:cNvSpPr>
            <a:spLocks noGrp="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0F9C06BC-11A6-464F-8365-C8F4B835246F}" type="slidenum">
              <a:rPr lang="en-US" sz="1100" smtClean="0"/>
              <a:pPr/>
              <a:t>20</a:t>
            </a:fld>
            <a:endParaRPr lang="en-US" sz="1100" dirty="0"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6527DBBC-9D82-4411-89EA-5D0EA7EF723D}" type="slidenum">
              <a:rPr lang="en-US" sz="1100" smtClean="0"/>
              <a:pPr/>
              <a:t>21</a:t>
            </a:fld>
            <a:endParaRPr lang="en-US" sz="1100" dirty="0" smtClean="0"/>
          </a:p>
        </p:txBody>
      </p:sp>
      <p:sp>
        <p:nvSpPr>
          <p:cNvPr id="84995" name="Rectangle 4"/>
          <p:cNvSpPr>
            <a:spLocks noGrp="1" noRot="1" noChangeAspect="1" noChangeArrowheads="1" noTextEdit="1"/>
          </p:cNvSpPr>
          <p:nvPr>
            <p:ph type="sldImg"/>
          </p:nvPr>
        </p:nvSpPr>
        <p:spPr>
          <a:ln/>
        </p:spPr>
      </p:sp>
      <p:sp>
        <p:nvSpPr>
          <p:cNvPr id="84996" name="Rectangle 5"/>
          <p:cNvSpPr>
            <a:spLocks noGrp="1" noChangeArrowheads="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b="1" dirty="0" smtClean="0">
                <a:latin typeface="Times New Roman" pitchFamily="18" charset="0"/>
              </a:rPr>
              <a:t>Slide Show Notes</a:t>
            </a:r>
          </a:p>
          <a:p>
            <a:r>
              <a:rPr lang="en-US" dirty="0" smtClean="0">
                <a:latin typeface="Times New Roman" pitchFamily="18" charset="0"/>
              </a:rPr>
              <a:t>	</a:t>
            </a:r>
            <a:r>
              <a:rPr lang="en-US" dirty="0" smtClean="0">
                <a:latin typeface="Times New Roman" pitchFamily="18" charset="0"/>
                <a:cs typeface="Arial" charset="0"/>
              </a:rPr>
              <a:t> Your goal is to discover how a reasonable, rational and decent person would think and feel as they do</a:t>
            </a:r>
            <a:endParaRPr lang="en-US" dirty="0" smtClean="0">
              <a:latin typeface="Times New Roman"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 was confident that</a:t>
            </a:r>
            <a:r>
              <a:rPr lang="en-US" baseline="0" dirty="0" smtClean="0"/>
              <a:t> you had enough experience in this area to handle the is assignment, Amy.  Why do you think you’ve had trouble getting the work done correctly?”</a:t>
            </a:r>
          </a:p>
          <a:p>
            <a:endParaRPr lang="en-US" baseline="0" dirty="0" smtClean="0"/>
          </a:p>
          <a:p>
            <a:r>
              <a:rPr lang="en-US" baseline="0" dirty="0" smtClean="0"/>
              <a:t>I’m pleased with the way I see you organize your workload, Richard.  I was especially impressed with how you were able to finish that last assignment without having to work overtime. </a:t>
            </a:r>
          </a:p>
          <a:p>
            <a:r>
              <a:rPr lang="en-US" baseline="0" dirty="0" smtClean="0"/>
              <a:t>The way you handled that complaint by Mr. Smith was inappropriate, Sharon.  You have to control your temper and concentrate on solving the problem. Instead, you seemed to take his complaint personally, and you responded defensively instead of helpfully. “</a:t>
            </a:r>
            <a:endParaRPr lang="en-US" dirty="0" smtClean="0"/>
          </a:p>
          <a:p>
            <a:endParaRPr lang="en-US" dirty="0"/>
          </a:p>
          <a:p>
            <a:r>
              <a:rPr lang="en-US" dirty="0" smtClean="0"/>
              <a:t>Consult with the CFO if you would like to know  where your employee sits in the assigned payrange. </a:t>
            </a:r>
            <a:endParaRPr lang="en-US" dirty="0"/>
          </a:p>
        </p:txBody>
      </p:sp>
      <p:sp>
        <p:nvSpPr>
          <p:cNvPr id="4" name="Slide Number Placeholder 3"/>
          <p:cNvSpPr>
            <a:spLocks noGrp="1"/>
          </p:cNvSpPr>
          <p:nvPr>
            <p:ph type="sldNum" sz="quarter" idx="10"/>
          </p:nvPr>
        </p:nvSpPr>
        <p:spPr/>
        <p:txBody>
          <a:bodyPr/>
          <a:lstStyle/>
          <a:p>
            <a:fld id="{9D6D0BDE-5D39-4A6F-8AEF-10FAF36AF3C4}" type="slidenum">
              <a:rPr lang="en-US" smtClean="0"/>
              <a:pPr/>
              <a:t>22</a:t>
            </a:fld>
            <a:endParaRPr lang="en-US" dirty="0"/>
          </a:p>
        </p:txBody>
      </p:sp>
    </p:spTree>
    <p:extLst>
      <p:ext uri="{BB962C8B-B14F-4D97-AF65-F5344CB8AC3E}">
        <p14:creationId xmlns:p14="http://schemas.microsoft.com/office/powerpoint/2010/main" xmlns="" val="11746773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Conduct employee conversation scenarios</a:t>
            </a:r>
            <a:endParaRPr lang="en-US" dirty="0"/>
          </a:p>
        </p:txBody>
      </p:sp>
      <p:sp>
        <p:nvSpPr>
          <p:cNvPr id="4" name="Slide Number Placeholder 3"/>
          <p:cNvSpPr>
            <a:spLocks noGrp="1"/>
          </p:cNvSpPr>
          <p:nvPr>
            <p:ph type="sldNum" sz="quarter" idx="10"/>
          </p:nvPr>
        </p:nvSpPr>
        <p:spPr/>
        <p:txBody>
          <a:bodyPr/>
          <a:lstStyle/>
          <a:p>
            <a:fld id="{9D6D0BDE-5D39-4A6F-8AEF-10FAF36AF3C4}" type="slidenum">
              <a:rPr lang="en-US" smtClean="0"/>
              <a:pPr/>
              <a:t>23</a:t>
            </a:fld>
            <a:endParaRPr lang="en-US" dirty="0"/>
          </a:p>
        </p:txBody>
      </p:sp>
    </p:spTree>
    <p:extLst>
      <p:ext uri="{BB962C8B-B14F-4D97-AF65-F5344CB8AC3E}">
        <p14:creationId xmlns:p14="http://schemas.microsoft.com/office/powerpoint/2010/main" xmlns="" val="23839311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6D0BDE-5D39-4A6F-8AEF-10FAF36AF3C4}" type="slidenum">
              <a:rPr lang="en-US" smtClean="0"/>
              <a:pPr/>
              <a:t>24</a:t>
            </a:fld>
            <a:endParaRPr lang="en-US" dirty="0"/>
          </a:p>
        </p:txBody>
      </p:sp>
    </p:spTree>
    <p:extLst>
      <p:ext uri="{BB962C8B-B14F-4D97-AF65-F5344CB8AC3E}">
        <p14:creationId xmlns:p14="http://schemas.microsoft.com/office/powerpoint/2010/main" xmlns="" val="18138149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8" name="Rounded Rectangle 7"/>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p:cNvSpPr>
            <a:spLocks noGrp="1"/>
          </p:cNvSpPr>
          <p:nvPr>
            <p:ph type="dt" sz="half" idx="10"/>
          </p:nvPr>
        </p:nvSpPr>
        <p:spPr/>
        <p:txBody>
          <a:bodyPr/>
          <a:lstStyle/>
          <a:p>
            <a:fld id="{76D21B35-CB51-4AF6-82E8-2C60B5A39231}" type="datetimeFigureOut">
              <a:rPr lang="en-US" smtClean="0"/>
              <a:pPr/>
              <a:t>12/18/2013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Rectangle 8"/>
          <p:cNvSpPr/>
          <p:nvPr/>
        </p:nvSpPr>
        <p:spPr>
          <a:xfrm>
            <a:off x="345440" y="2942602"/>
            <a:ext cx="7147931"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p:cNvSpPr/>
          <p:nvPr/>
        </p:nvSpPr>
        <p:spPr>
          <a:xfrm>
            <a:off x="7572652" y="2944634"/>
            <a:ext cx="1190348" cy="2459736"/>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7712714" y="3136658"/>
            <a:ext cx="910224" cy="2075688"/>
          </a:xfrm>
          <a:prstGeom prst="rect">
            <a:avLst/>
          </a:prstGeom>
          <a:solidFill>
            <a:schemeClr val="accent3">
              <a:alpha val="70000"/>
            </a:schemeClr>
          </a:solidFill>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p:cNvSpPr/>
          <p:nvPr/>
        </p:nvSpPr>
        <p:spPr>
          <a:xfrm>
            <a:off x="445483" y="3055621"/>
            <a:ext cx="6947845"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Slide Number Placeholder 5"/>
          <p:cNvSpPr>
            <a:spLocks noGrp="1"/>
          </p:cNvSpPr>
          <p:nvPr>
            <p:ph type="sldNum" sz="quarter" idx="12"/>
          </p:nvPr>
        </p:nvSpPr>
        <p:spPr>
          <a:xfrm>
            <a:off x="7786826" y="4625268"/>
            <a:ext cx="762000" cy="457200"/>
          </a:xfrm>
        </p:spPr>
        <p:txBody>
          <a:bodyPr/>
          <a:lstStyle>
            <a:lvl1pPr algn="ctr">
              <a:defRPr sz="2800">
                <a:solidFill>
                  <a:schemeClr val="accent1">
                    <a:lumMod val="50000"/>
                  </a:schemeClr>
                </a:solidFill>
              </a:defRPr>
            </a:lvl1pPr>
          </a:lstStyle>
          <a:p>
            <a:fld id="{7781AC9C-132E-48CC-A84A-2FDD66B2BD3B}" type="slidenum">
              <a:rPr lang="en-US" smtClean="0"/>
              <a:pPr/>
              <a:t>‹#›</a:t>
            </a:fld>
            <a:endParaRPr lang="en-US" dirty="0"/>
          </a:p>
        </p:txBody>
      </p:sp>
      <p:sp>
        <p:nvSpPr>
          <p:cNvPr id="11" name="Rectangle 10"/>
          <p:cNvSpPr/>
          <p:nvPr/>
        </p:nvSpPr>
        <p:spPr>
          <a:xfrm>
            <a:off x="541822" y="4559276"/>
            <a:ext cx="6755166"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538971" y="3139440"/>
            <a:ext cx="6760868"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04705" y="3227033"/>
            <a:ext cx="6629400" cy="1219201"/>
          </a:xfrm>
        </p:spPr>
        <p:txBody>
          <a:bodyPr anchor="b" anchorCtr="0">
            <a:noAutofit/>
          </a:bodyPr>
          <a:lstStyle>
            <a:lvl1pPr>
              <a:defRPr sz="4000">
                <a:solidFill>
                  <a:schemeClr val="accent1">
                    <a:lumMod val="50000"/>
                  </a:schemeClr>
                </a:solidFill>
              </a:defRPr>
            </a:lvl1pPr>
          </a:lstStyle>
          <a:p>
            <a:r>
              <a:rPr lang="en-US" smtClean="0"/>
              <a:t>Click to edit Master title style</a:t>
            </a:r>
            <a:endParaRPr lang="en-US" dirty="0"/>
          </a:p>
        </p:txBody>
      </p:sp>
      <p:pic>
        <p:nvPicPr>
          <p:cNvPr id="15" name="Picture 2" descr="C:\Users\mgb\Desktop\Logo.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2057400" y="1143000"/>
            <a:ext cx="5029200" cy="8255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6D21B35-CB51-4AF6-82E8-2C60B5A39231}" type="datetimeFigureOut">
              <a:rPr lang="en-US" smtClean="0"/>
              <a:pPr/>
              <a:t>12/18/2013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781AC9C-132E-48CC-A84A-2FDD66B2BD3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8" name="Rounded Rectangle 7"/>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p:cNvSpPr>
            <a:spLocks noGrp="1"/>
          </p:cNvSpPr>
          <p:nvPr>
            <p:ph type="dt" sz="half" idx="10"/>
          </p:nvPr>
        </p:nvSpPr>
        <p:spPr/>
        <p:txBody>
          <a:bodyPr/>
          <a:lstStyle/>
          <a:p>
            <a:fld id="{76D21B35-CB51-4AF6-82E8-2C60B5A39231}" type="datetimeFigureOut">
              <a:rPr lang="en-US" smtClean="0"/>
              <a:pPr/>
              <a:t>12/18/2013</a:t>
            </a:fld>
            <a:endParaRPr lang="en-US" dirty="0"/>
          </a:p>
        </p:txBody>
      </p:sp>
      <p:sp>
        <p:nvSpPr>
          <p:cNvPr id="13" name="Rectangle 12"/>
          <p:cNvSpPr/>
          <p:nvPr/>
        </p:nvSpPr>
        <p:spPr>
          <a:xfrm>
            <a:off x="451976" y="2946400"/>
            <a:ext cx="8265160"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p:cNvSpPr/>
          <p:nvPr/>
        </p:nvSpPr>
        <p:spPr>
          <a:xfrm>
            <a:off x="567656" y="3048000"/>
            <a:ext cx="8033800"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781AC9C-132E-48CC-A84A-2FDD66B2BD3B}" type="slidenum">
              <a:rPr lang="en-US" smtClean="0"/>
              <a:pPr/>
              <a:t>‹#›</a:t>
            </a:fld>
            <a:endParaRPr lang="en-US" dirty="0"/>
          </a:p>
        </p:txBody>
      </p:sp>
      <p:sp>
        <p:nvSpPr>
          <p:cNvPr id="2" name="Title 1"/>
          <p:cNvSpPr>
            <a:spLocks noGrp="1"/>
          </p:cNvSpPr>
          <p:nvPr>
            <p:ph type="title"/>
          </p:nvPr>
        </p:nvSpPr>
        <p:spPr>
          <a:xfrm>
            <a:off x="736456" y="3200399"/>
            <a:ext cx="7696200" cy="1295401"/>
          </a:xfrm>
        </p:spPr>
        <p:txBody>
          <a:bodyPr anchor="b" anchorCtr="0">
            <a:noAutofit/>
          </a:bodyPr>
          <a:lstStyle>
            <a:lvl1pPr algn="ctr" defTabSz="914400" rtl="0" eaLnBrk="1" latinLnBrk="0" hangingPunct="1">
              <a:spcBef>
                <a:spcPct val="0"/>
              </a:spcBef>
              <a:buNone/>
              <a:defRPr lang="en-US" sz="4000" kern="1200" cap="all" baseline="0" dirty="0">
                <a:solidFill>
                  <a:schemeClr val="accent1">
                    <a:lumMod val="50000"/>
                  </a:schemeClr>
                </a:solidFill>
                <a:latin typeface="+mj-lt"/>
                <a:ea typeface="+mj-ea"/>
                <a:cs typeface="+mj-cs"/>
              </a:defRPr>
            </a:lvl1pPr>
          </a:lstStyle>
          <a:p>
            <a:r>
              <a:rPr lang="en-US" smtClean="0"/>
              <a:t>Click to edit Master title style</a:t>
            </a:r>
            <a:endParaRPr lang="en-US" dirty="0"/>
          </a:p>
        </p:txBody>
      </p:sp>
      <p:sp>
        <p:nvSpPr>
          <p:cNvPr id="15" name="Rectangle 14"/>
          <p:cNvSpPr/>
          <p:nvPr/>
        </p:nvSpPr>
        <p:spPr>
          <a:xfrm>
            <a:off x="675496" y="4541520"/>
            <a:ext cx="7818120"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p:cNvSpPr>
            <a:spLocks noGrp="1"/>
          </p:cNvSpPr>
          <p:nvPr>
            <p:ph type="body" idx="1"/>
          </p:nvPr>
        </p:nvSpPr>
        <p:spPr>
          <a:xfrm>
            <a:off x="736456" y="4607510"/>
            <a:ext cx="7696200" cy="523783"/>
          </a:xfrm>
        </p:spPr>
        <p:txBody>
          <a:bodyPr anchor="ctr">
            <a:normAutofit/>
          </a:bodyPr>
          <a:lstStyle>
            <a:lvl1pPr marL="0" indent="0" algn="ctr">
              <a:buNone/>
              <a:defRPr sz="2000" cap="all" spc="250" baseline="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4" name="Rectangle 13"/>
          <p:cNvSpPr/>
          <p:nvPr/>
        </p:nvSpPr>
        <p:spPr>
          <a:xfrm>
            <a:off x="675757" y="3124200"/>
            <a:ext cx="7817599"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26128"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6D21B35-CB51-4AF6-82E8-2C60B5A39231}" type="datetimeFigureOut">
              <a:rPr lang="en-US" smtClean="0"/>
              <a:pPr/>
              <a:t>12/18/2013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781AC9C-132E-48CC-A84A-2FDD66B2BD3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26128" y="1722438"/>
            <a:ext cx="4040188"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26128" y="2438400"/>
            <a:ext cx="4040188"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722438"/>
            <a:ext cx="4041775"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438400"/>
            <a:ext cx="4041775"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6D21B35-CB51-4AF6-82E8-2C60B5A39231}" type="datetimeFigureOut">
              <a:rPr lang="en-US" smtClean="0"/>
              <a:pPr/>
              <a:t>12/18/2013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781AC9C-132E-48CC-A84A-2FDD66B2BD3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6D21B35-CB51-4AF6-82E8-2C60B5A39231}" type="datetimeFigureOut">
              <a:rPr lang="en-US" smtClean="0"/>
              <a:pPr/>
              <a:t>12/18/2013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781AC9C-132E-48CC-A84A-2FDD66B2BD3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1" name="Rounded Rectangle 10"/>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Date Placeholder 1"/>
          <p:cNvSpPr>
            <a:spLocks noGrp="1"/>
          </p:cNvSpPr>
          <p:nvPr>
            <p:ph type="dt" sz="half" idx="10"/>
          </p:nvPr>
        </p:nvSpPr>
        <p:spPr/>
        <p:txBody>
          <a:bodyPr/>
          <a:lstStyle/>
          <a:p>
            <a:fld id="{76D21B35-CB51-4AF6-82E8-2C60B5A39231}" type="datetimeFigureOut">
              <a:rPr lang="en-US" smtClean="0"/>
              <a:pPr/>
              <a:t>12/18/2013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781AC9C-132E-48CC-A84A-2FDD66B2BD3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2" name="Rounded Rectangle 11"/>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p:nvPr>
        </p:nvSpPr>
        <p:spPr>
          <a:xfrm>
            <a:off x="3886200" y="685800"/>
            <a:ext cx="4572000" cy="52578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6D21B35-CB51-4AF6-82E8-2C60B5A39231}" type="datetimeFigureOut">
              <a:rPr lang="en-US" smtClean="0"/>
              <a:pPr/>
              <a:t>12/18/2013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781AC9C-132E-48CC-A84A-2FDD66B2BD3B}" type="slidenum">
              <a:rPr lang="en-US" smtClean="0"/>
              <a:pPr/>
              <a:t>‹#›</a:t>
            </a:fld>
            <a:endParaRPr lang="en-US" dirty="0"/>
          </a:p>
        </p:txBody>
      </p:sp>
      <p:sp>
        <p:nvSpPr>
          <p:cNvPr id="8" name="Rectangle 7"/>
          <p:cNvSpPr/>
          <p:nvPr/>
        </p:nvSpPr>
        <p:spPr>
          <a:xfrm>
            <a:off x="560034" y="1505712"/>
            <a:ext cx="2716566" cy="3523488"/>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676690" y="1642472"/>
            <a:ext cx="2483254" cy="3234328"/>
          </a:xfrm>
          <a:prstGeom prst="rect">
            <a:avLst/>
          </a:prstGeom>
          <a:solidFill>
            <a:srgbClr val="FFFFFF"/>
          </a:solid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3"/>
          <p:cNvSpPr>
            <a:spLocks noGrp="1"/>
          </p:cNvSpPr>
          <p:nvPr>
            <p:ph type="body" sz="half" idx="2"/>
          </p:nvPr>
        </p:nvSpPr>
        <p:spPr>
          <a:xfrm>
            <a:off x="769000" y="2971800"/>
            <a:ext cx="2298634" cy="1752600"/>
          </a:xfrm>
        </p:spPr>
        <p:txBody>
          <a:bodyPr/>
          <a:lstStyle>
            <a:lvl1pPr marL="0" indent="0">
              <a:spcBef>
                <a:spcPts val="4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 name="Title 1"/>
          <p:cNvSpPr>
            <a:spLocks noGrp="1"/>
          </p:cNvSpPr>
          <p:nvPr>
            <p:ph type="title"/>
          </p:nvPr>
        </p:nvSpPr>
        <p:spPr>
          <a:xfrm>
            <a:off x="769000" y="1734312"/>
            <a:ext cx="2298634" cy="1191620"/>
          </a:xfrm>
        </p:spPr>
        <p:txBody>
          <a:bodyPr anchor="b">
            <a:normAutofit/>
          </a:bodyPr>
          <a:lstStyle>
            <a:lvl1pPr algn="l">
              <a:defRPr sz="2000" b="0">
                <a:solidFill>
                  <a:schemeClr val="accent1">
                    <a:lumMod val="75000"/>
                  </a:schemeClr>
                </a:solidFill>
              </a:defRPr>
            </a:lvl1pPr>
          </a:lstStyle>
          <a:p>
            <a:r>
              <a:rPr lang="en-US" smtClean="0"/>
              <a:t>Click to edit Master title style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9" name="Rounded Rectangle 8"/>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Picture Placeholder 2"/>
          <p:cNvSpPr>
            <a:spLocks noGrp="1"/>
          </p:cNvSpPr>
          <p:nvPr>
            <p:ph type="pic" idx="1"/>
          </p:nvPr>
        </p:nvSpPr>
        <p:spPr>
          <a:xfrm>
            <a:off x="685800" y="621437"/>
            <a:ext cx="7772400" cy="4331564"/>
          </a:xfrm>
          <a:solidFill>
            <a:schemeClr val="bg2"/>
          </a:solidFill>
          <a:ln>
            <a:noFill/>
          </a:ln>
          <a:effectLst>
            <a:softEdge rad="12700"/>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5" name="Date Placeholder 4"/>
          <p:cNvSpPr>
            <a:spLocks noGrp="1"/>
          </p:cNvSpPr>
          <p:nvPr>
            <p:ph type="dt" sz="half" idx="10"/>
          </p:nvPr>
        </p:nvSpPr>
        <p:spPr/>
        <p:txBody>
          <a:bodyPr/>
          <a:lstStyle/>
          <a:p>
            <a:fld id="{76D21B35-CB51-4AF6-82E8-2C60B5A39231}" type="datetimeFigureOut">
              <a:rPr lang="en-US" smtClean="0"/>
              <a:pPr/>
              <a:t>12/18/2013</a:t>
            </a:fld>
            <a:endParaRPr lang="en-US" dirty="0"/>
          </a:p>
        </p:txBody>
      </p:sp>
      <p:sp>
        <p:nvSpPr>
          <p:cNvPr id="7" name="Slide Number Placeholder 6"/>
          <p:cNvSpPr>
            <a:spLocks noGrp="1"/>
          </p:cNvSpPr>
          <p:nvPr>
            <p:ph type="sldNum" sz="quarter" idx="12"/>
          </p:nvPr>
        </p:nvSpPr>
        <p:spPr/>
        <p:txBody>
          <a:bodyPr/>
          <a:lstStyle/>
          <a:p>
            <a:fld id="{7781AC9C-132E-48CC-A84A-2FDD66B2BD3B}" type="slidenum">
              <a:rPr lang="en-US" smtClean="0"/>
              <a:pPr/>
              <a:t>‹#›</a:t>
            </a:fld>
            <a:endParaRPr lang="en-US" dirty="0"/>
          </a:p>
        </p:txBody>
      </p:sp>
      <p:sp>
        <p:nvSpPr>
          <p:cNvPr id="10" name="Rectangle 9"/>
          <p:cNvSpPr/>
          <p:nvPr/>
        </p:nvSpPr>
        <p:spPr>
          <a:xfrm>
            <a:off x="685800" y="4953000"/>
            <a:ext cx="7772400" cy="13716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p:cNvSpPr/>
          <p:nvPr/>
        </p:nvSpPr>
        <p:spPr>
          <a:xfrm>
            <a:off x="761999" y="5029200"/>
            <a:ext cx="7600765" cy="1202924"/>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Rectangle 12"/>
          <p:cNvSpPr/>
          <p:nvPr/>
        </p:nvSpPr>
        <p:spPr>
          <a:xfrm>
            <a:off x="914400" y="5638800"/>
            <a:ext cx="7328514" cy="451696"/>
          </a:xfrm>
          <a:prstGeom prst="rect">
            <a:avLst/>
          </a:prstGeom>
          <a:solidFill>
            <a:schemeClr val="accent1"/>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p:nvSpPr>
        <p:spPr>
          <a:xfrm>
            <a:off x="605589" y="5074920"/>
            <a:ext cx="7946136" cy="1097280"/>
          </a:xfrm>
          <a:prstGeom prst="rect">
            <a:avLst/>
          </a:prstGeom>
          <a:no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3"/>
          <p:cNvSpPr>
            <a:spLocks noGrp="1"/>
          </p:cNvSpPr>
          <p:nvPr>
            <p:ph type="body" sz="half" idx="2"/>
          </p:nvPr>
        </p:nvSpPr>
        <p:spPr>
          <a:xfrm>
            <a:off x="956289" y="5656556"/>
            <a:ext cx="7244736" cy="401715"/>
          </a:xfrm>
        </p:spPr>
        <p:txBody>
          <a:bodyPr anchor="ctr">
            <a:normAutofit/>
          </a:bodyPr>
          <a:lstStyle>
            <a:lvl1pPr marL="0" indent="0" algn="ctr">
              <a:buNone/>
              <a:defRPr sz="1500" cap="all" spc="250" baseline="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 name="Title 1"/>
          <p:cNvSpPr>
            <a:spLocks noGrp="1"/>
          </p:cNvSpPr>
          <p:nvPr>
            <p:ph type="title"/>
          </p:nvPr>
        </p:nvSpPr>
        <p:spPr>
          <a:xfrm>
            <a:off x="914400" y="5105400"/>
            <a:ext cx="7328514" cy="523043"/>
          </a:xfrm>
        </p:spPr>
        <p:txBody>
          <a:bodyPr anchor="ctr" anchorCtr="0"/>
          <a:lstStyle>
            <a:lvl1pPr algn="ctr">
              <a:defRPr sz="2000" b="0">
                <a:solidFill>
                  <a:schemeClr val="accent1">
                    <a:lumMod val="75000"/>
                  </a:schemeClr>
                </a:solidFill>
              </a:defRPr>
            </a:lvl1pPr>
          </a:lstStyle>
          <a:p>
            <a:r>
              <a:rPr lang="en-US" smtClean="0"/>
              <a:t>Click to edit Master title style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6D21B35-CB51-4AF6-82E8-2C60B5A39231}" type="datetimeFigureOut">
              <a:rPr lang="en-US" smtClean="0"/>
              <a:pPr/>
              <a:t>12/18/2013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781AC9C-132E-48CC-A84A-2FDD66B2BD3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6861702" y="228600"/>
            <a:ext cx="1859280" cy="6122634"/>
          </a:xfrm>
          <a:prstGeom prst="rect">
            <a:avLst/>
          </a:prstGeom>
          <a:solidFill>
            <a:srgbClr val="FFFFFF">
              <a:alpha val="8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dirty="0">
              <a:solidFill>
                <a:schemeClr val="lt1"/>
              </a:solidFill>
              <a:latin typeface="+mn-lt"/>
              <a:ea typeface="+mn-ea"/>
              <a:cs typeface="+mn-cs"/>
            </a:endParaRPr>
          </a:p>
        </p:txBody>
      </p:sp>
      <p:sp>
        <p:nvSpPr>
          <p:cNvPr id="8" name="Rectangle 7"/>
          <p:cNvSpPr/>
          <p:nvPr/>
        </p:nvSpPr>
        <p:spPr>
          <a:xfrm>
            <a:off x="6955225" y="351409"/>
            <a:ext cx="1672235" cy="587701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Vertical Title 1"/>
          <p:cNvSpPr>
            <a:spLocks noGrp="1"/>
          </p:cNvSpPr>
          <p:nvPr>
            <p:ph type="title" orient="vert"/>
          </p:nvPr>
        </p:nvSpPr>
        <p:spPr>
          <a:xfrm>
            <a:off x="7048577" y="395427"/>
            <a:ext cx="1485531" cy="578898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380999"/>
            <a:ext cx="6172200" cy="579120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6D21B35-CB51-4AF6-82E8-2C60B5A39231}" type="datetimeFigureOut">
              <a:rPr lang="en-US" smtClean="0"/>
              <a:pPr/>
              <a:t>12/18/2013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781AC9C-132E-48CC-A84A-2FDD66B2BD3B}"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66800" y="762000"/>
            <a:ext cx="75438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1066800" y="2057400"/>
            <a:ext cx="3695700" cy="4191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914900" y="2057400"/>
            <a:ext cx="3695700" cy="4191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029"/>
          <p:cNvSpPr>
            <a:spLocks noGrp="1" noChangeArrowheads="1"/>
          </p:cNvSpPr>
          <p:nvPr>
            <p:ph type="ftr" sz="quarter" idx="10"/>
          </p:nvPr>
        </p:nvSpPr>
        <p:spPr/>
        <p:txBody>
          <a:bodyPr/>
          <a:lstStyle>
            <a:lvl1pPr>
              <a:defRPr dirty="0">
                <a:latin typeface="Times New Roman" charset="0"/>
              </a:defRPr>
            </a:lvl1pPr>
          </a:lstStyle>
          <a:p>
            <a:pPr>
              <a:defRPr/>
            </a:pPr>
            <a:endParaRPr lang="en-US" dirty="0"/>
          </a:p>
          <a:p>
            <a:pPr>
              <a:defRPr/>
            </a:pPr>
            <a:endParaRPr lang="en-US" dirty="0"/>
          </a:p>
        </p:txBody>
      </p:sp>
    </p:spTree>
    <p:extLst>
      <p:ext uri="{BB962C8B-B14F-4D97-AF65-F5344CB8AC3E}">
        <p14:creationId xmlns:p14="http://schemas.microsoft.com/office/powerpoint/2010/main" xmlns="" val="12828713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7" name="Rounded Rectangle 6"/>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p:cNvSpPr>
            <a:spLocks noGrp="1"/>
          </p:cNvSpPr>
          <p:nvPr>
            <p:ph type="body" idx="1"/>
          </p:nvPr>
        </p:nvSpPr>
        <p:spPr>
          <a:xfrm>
            <a:off x="457200" y="1752600"/>
            <a:ext cx="8229600" cy="4373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2"/>
                </a:solidFill>
              </a:defRPr>
            </a:lvl1pPr>
          </a:lstStyle>
          <a:p>
            <a:fld id="{76D21B35-CB51-4AF6-82E8-2C60B5A39231}" type="datetimeFigureOut">
              <a:rPr lang="en-US" smtClean="0"/>
              <a:pPr/>
              <a:t>12/18/2013</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2"/>
                </a:solidFill>
              </a:defRPr>
            </a:lvl1pPr>
          </a:lstStyle>
          <a:p>
            <a:fld id="{7781AC9C-132E-48CC-A84A-2FDD66B2BD3B}" type="slidenum">
              <a:rPr lang="en-US" smtClean="0"/>
              <a:pPr/>
              <a:t>‹#›</a:t>
            </a:fld>
            <a:endParaRPr lang="en-US" dirty="0"/>
          </a:p>
        </p:txBody>
      </p:sp>
      <p:sp>
        <p:nvSpPr>
          <p:cNvPr id="9" name="Rectangle 8"/>
          <p:cNvSpPr/>
          <p:nvPr/>
        </p:nvSpPr>
        <p:spPr>
          <a:xfrm>
            <a:off x="274320" y="278166"/>
            <a:ext cx="8595360" cy="132588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dirty="0">
              <a:solidFill>
                <a:schemeClr val="lt1"/>
              </a:solidFill>
              <a:latin typeface="+mn-lt"/>
              <a:ea typeface="+mn-ea"/>
              <a:cs typeface="+mn-cs"/>
            </a:endParaRPr>
          </a:p>
        </p:txBody>
      </p:sp>
      <p:sp>
        <p:nvSpPr>
          <p:cNvPr id="10" name="Rectangle 9"/>
          <p:cNvSpPr/>
          <p:nvPr/>
        </p:nvSpPr>
        <p:spPr>
          <a:xfrm>
            <a:off x="372863" y="372862"/>
            <a:ext cx="8380520" cy="111858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26128" y="408372"/>
            <a:ext cx="8260672" cy="1039427"/>
          </a:xfrm>
          <a:prstGeom prst="rect">
            <a:avLst/>
          </a:prstGeom>
        </p:spPr>
        <p:txBody>
          <a:bodyPr vert="horz" lIns="91440" tIns="45720" rIns="91440" bIns="45720" rtlCol="0" anchor="ctr">
            <a:normAutofit/>
          </a:bodyPr>
          <a:lstStyle/>
          <a:p>
            <a:r>
              <a:rPr lang="en-US" smtClean="0"/>
              <a:t>Click to edit Master title style</a:t>
            </a:r>
            <a:endParaRPr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ctr" defTabSz="914400" rtl="0" eaLnBrk="1" latinLnBrk="0" hangingPunct="1">
        <a:spcBef>
          <a:spcPct val="0"/>
        </a:spcBef>
        <a:buNone/>
        <a:defRPr sz="3500" kern="1200" cap="all" baseline="0">
          <a:solidFill>
            <a:schemeClr val="accent1">
              <a:lumMod val="75000"/>
            </a:schemeClr>
          </a:solidFill>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1447800" y="2133600"/>
            <a:ext cx="6629400" cy="1219200"/>
          </a:xfrm>
        </p:spPr>
        <p:txBody>
          <a:bodyPr/>
          <a:lstStyle/>
          <a:p>
            <a:r>
              <a:rPr lang="en-US" sz="3200" dirty="0" smtClean="0"/>
              <a:t>Performance Appraisals and other topics</a:t>
            </a:r>
            <a:endParaRPr lang="en-US" sz="3200" dirty="0"/>
          </a:p>
        </p:txBody>
      </p:sp>
      <p:pic>
        <p:nvPicPr>
          <p:cNvPr id="4" name="Picture 2" descr="C:\Users\mgb\Desktop\Logo.pn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23900" y="5588000"/>
            <a:ext cx="5029200" cy="8255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42740813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Session Objectives</a:t>
            </a:r>
            <a:endParaRPr lang="en-US" b="1" dirty="0"/>
          </a:p>
        </p:txBody>
      </p:sp>
      <p:sp>
        <p:nvSpPr>
          <p:cNvPr id="3" name="Content Placeholder 2"/>
          <p:cNvSpPr>
            <a:spLocks noGrp="1"/>
          </p:cNvSpPr>
          <p:nvPr>
            <p:ph idx="1"/>
          </p:nvPr>
        </p:nvSpPr>
        <p:spPr/>
        <p:txBody>
          <a:bodyPr>
            <a:normAutofit/>
          </a:bodyPr>
          <a:lstStyle/>
          <a:p>
            <a:pPr lvl="2"/>
            <a:r>
              <a:rPr lang="en-US" sz="2800" b="1" dirty="0"/>
              <a:t>Acknowledge the opportunity that performance appraisals provide to managers</a:t>
            </a:r>
            <a:endParaRPr lang="en-US" sz="2800" dirty="0"/>
          </a:p>
          <a:p>
            <a:pPr lvl="2"/>
            <a:r>
              <a:rPr lang="en-US" sz="2800" b="1" dirty="0"/>
              <a:t>Review the organizational structure of Partners and career ladders</a:t>
            </a:r>
            <a:endParaRPr lang="en-US" sz="2800" dirty="0"/>
          </a:p>
          <a:p>
            <a:pPr lvl="2"/>
            <a:r>
              <a:rPr lang="en-US" sz="2800" b="1" dirty="0"/>
              <a:t>Review factors of what keeps employees happy and the role of compensation </a:t>
            </a:r>
            <a:endParaRPr lang="en-US" sz="2800" b="1" dirty="0" smtClean="0"/>
          </a:p>
          <a:p>
            <a:pPr lvl="2"/>
            <a:r>
              <a:rPr lang="en-US" sz="2800" b="1" dirty="0" smtClean="0"/>
              <a:t>Communication exercises</a:t>
            </a:r>
            <a:endParaRPr lang="en-US" sz="2800" dirty="0"/>
          </a:p>
        </p:txBody>
      </p:sp>
    </p:spTree>
    <p:extLst>
      <p:ext uri="{BB962C8B-B14F-4D97-AF65-F5344CB8AC3E}">
        <p14:creationId xmlns:p14="http://schemas.microsoft.com/office/powerpoint/2010/main" xmlns="" val="2124347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04800" y="838200"/>
            <a:ext cx="8458200" cy="5029200"/>
          </a:xfrm>
        </p:spPr>
        <p:txBody>
          <a:bodyPr>
            <a:normAutofit fontScale="92500"/>
          </a:bodyPr>
          <a:lstStyle/>
          <a:p>
            <a:pPr marL="114300" indent="0" algn="just">
              <a:buNone/>
            </a:pPr>
            <a:r>
              <a:rPr lang="en-US" sz="3200" dirty="0"/>
              <a:t>Managers are expected to be </a:t>
            </a:r>
            <a:r>
              <a:rPr lang="en-US" sz="3200" dirty="0">
                <a:solidFill>
                  <a:schemeClr val="accent1"/>
                </a:solidFill>
              </a:rPr>
              <a:t>on-the-job coaches and mentors</a:t>
            </a:r>
            <a:r>
              <a:rPr lang="en-US" sz="3200" dirty="0"/>
              <a:t>, not just ‘the boss.’ Managers must know how to enrich entry level assignments, and keep work fresh for experienced team members. </a:t>
            </a:r>
            <a:endParaRPr lang="en-US" sz="3200" dirty="0" smtClean="0"/>
          </a:p>
          <a:p>
            <a:pPr marL="114300" indent="0" algn="just">
              <a:buNone/>
            </a:pPr>
            <a:endParaRPr lang="en-US" sz="3200" dirty="0"/>
          </a:p>
          <a:p>
            <a:pPr marL="114300" indent="0" algn="just">
              <a:buNone/>
            </a:pPr>
            <a:r>
              <a:rPr lang="en-US" sz="3200" dirty="0" smtClean="0"/>
              <a:t>“</a:t>
            </a:r>
            <a:r>
              <a:rPr lang="en-US" sz="3200" dirty="0"/>
              <a:t>Career growth and development is one of the top five retention factors for over 80% of the workforce.” </a:t>
            </a:r>
            <a:endParaRPr lang="en-US" sz="3200" dirty="0" smtClean="0"/>
          </a:p>
          <a:p>
            <a:pPr marL="114300" indent="0" algn="r">
              <a:buNone/>
            </a:pPr>
            <a:r>
              <a:rPr lang="en-US" dirty="0" smtClean="0"/>
              <a:t>The </a:t>
            </a:r>
            <a:r>
              <a:rPr lang="en-US" dirty="0"/>
              <a:t>Learning Café</a:t>
            </a:r>
          </a:p>
          <a:p>
            <a:endParaRPr lang="en-US" dirty="0"/>
          </a:p>
        </p:txBody>
      </p:sp>
    </p:spTree>
    <p:extLst>
      <p:ext uri="{BB962C8B-B14F-4D97-AF65-F5344CB8AC3E}">
        <p14:creationId xmlns:p14="http://schemas.microsoft.com/office/powerpoint/2010/main" xmlns="" val="701770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04800" y="838200"/>
            <a:ext cx="8458200" cy="5029200"/>
          </a:xfrm>
        </p:spPr>
        <p:txBody>
          <a:bodyPr>
            <a:normAutofit/>
          </a:bodyPr>
          <a:lstStyle/>
          <a:p>
            <a:pPr marL="114300" indent="0" algn="just">
              <a:buNone/>
            </a:pPr>
            <a:r>
              <a:rPr lang="en-US" sz="3200" dirty="0"/>
              <a:t>“By 2012, the US workforce will be composed of 3% Silent Generation, 27% Boomers, 33% Gen Xers and 37% Millennials.” </a:t>
            </a:r>
            <a:endParaRPr lang="en-US" sz="3200" dirty="0" smtClean="0"/>
          </a:p>
          <a:p>
            <a:pPr marL="114300" indent="0" algn="r">
              <a:buNone/>
            </a:pPr>
            <a:r>
              <a:rPr lang="en-US" sz="3200" dirty="0" smtClean="0"/>
              <a:t>U.S</a:t>
            </a:r>
            <a:r>
              <a:rPr lang="en-US" sz="3200" dirty="0"/>
              <a:t>. Census Bureau data</a:t>
            </a:r>
          </a:p>
          <a:p>
            <a:pPr marL="114300" indent="0" algn="r">
              <a:buNone/>
            </a:pPr>
            <a:r>
              <a:rPr lang="en-US" dirty="0" smtClean="0"/>
              <a:t>The </a:t>
            </a:r>
            <a:r>
              <a:rPr lang="en-US" dirty="0"/>
              <a:t>Learning Café</a:t>
            </a:r>
          </a:p>
          <a:p>
            <a:endParaRPr lang="en-US" dirty="0"/>
          </a:p>
        </p:txBody>
      </p:sp>
    </p:spTree>
    <p:extLst>
      <p:ext uri="{BB962C8B-B14F-4D97-AF65-F5344CB8AC3E}">
        <p14:creationId xmlns:p14="http://schemas.microsoft.com/office/powerpoint/2010/main" xmlns="" val="1563371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Let’s chat</a:t>
            </a:r>
            <a:endParaRPr lang="en-US" dirty="0"/>
          </a:p>
        </p:txBody>
      </p:sp>
      <p:sp>
        <p:nvSpPr>
          <p:cNvPr id="3" name="Content Placeholder 2"/>
          <p:cNvSpPr>
            <a:spLocks noGrp="1"/>
          </p:cNvSpPr>
          <p:nvPr>
            <p:ph idx="1"/>
          </p:nvPr>
        </p:nvSpPr>
        <p:spPr/>
        <p:txBody>
          <a:bodyPr/>
          <a:lstStyle/>
          <a:p>
            <a:r>
              <a:rPr lang="en-US" sz="3600" dirty="0" smtClean="0"/>
              <a:t>Do the Millennials have it wrong?</a:t>
            </a:r>
          </a:p>
          <a:p>
            <a:r>
              <a:rPr lang="en-US" sz="3600" dirty="0" smtClean="0"/>
              <a:t>Ask the question WHY</a:t>
            </a:r>
          </a:p>
          <a:p>
            <a:r>
              <a:rPr lang="en-US" sz="3600" dirty="0" smtClean="0"/>
              <a:t>Talk less, listen more</a:t>
            </a:r>
          </a:p>
          <a:p>
            <a:r>
              <a:rPr lang="en-US" sz="3600" dirty="0" smtClean="0"/>
              <a:t>Talk like a human</a:t>
            </a:r>
          </a:p>
          <a:p>
            <a:endParaRPr lang="en-US" dirty="0" smtClean="0"/>
          </a:p>
          <a:p>
            <a:endParaRPr lang="en-US" dirty="0"/>
          </a:p>
          <a:p>
            <a:endParaRPr lang="en-US" dirty="0"/>
          </a:p>
        </p:txBody>
      </p:sp>
    </p:spTree>
    <p:extLst>
      <p:ext uri="{BB962C8B-B14F-4D97-AF65-F5344CB8AC3E}">
        <p14:creationId xmlns:p14="http://schemas.microsoft.com/office/powerpoint/2010/main" xmlns="" val="278697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Plusses of Performance Reviews</a:t>
            </a:r>
            <a:endParaRPr lang="en-US" dirty="0"/>
          </a:p>
        </p:txBody>
      </p:sp>
      <p:sp>
        <p:nvSpPr>
          <p:cNvPr id="3" name="Content Placeholder 2"/>
          <p:cNvSpPr>
            <a:spLocks noGrp="1"/>
          </p:cNvSpPr>
          <p:nvPr>
            <p:ph idx="1"/>
          </p:nvPr>
        </p:nvSpPr>
        <p:spPr/>
        <p:txBody>
          <a:bodyPr/>
          <a:lstStyle/>
          <a:p>
            <a:r>
              <a:rPr lang="en-US" sz="3600" dirty="0" smtClean="0"/>
              <a:t>Two way performance feedback</a:t>
            </a:r>
          </a:p>
          <a:p>
            <a:r>
              <a:rPr lang="en-US" sz="3600" dirty="0" smtClean="0"/>
              <a:t>Recognition for individual performance</a:t>
            </a:r>
          </a:p>
          <a:p>
            <a:r>
              <a:rPr lang="en-US" sz="3600" dirty="0" smtClean="0"/>
              <a:t>Opportunity to reinforce and document personnel decisions</a:t>
            </a:r>
          </a:p>
          <a:p>
            <a:r>
              <a:rPr lang="en-US" sz="3600" dirty="0" smtClean="0"/>
              <a:t>Opportunity to support individual needs</a:t>
            </a:r>
          </a:p>
          <a:p>
            <a:pPr marL="114300" indent="0">
              <a:buNone/>
            </a:pPr>
            <a:endParaRPr lang="en-US" sz="3600" dirty="0" smtClean="0"/>
          </a:p>
          <a:p>
            <a:endParaRPr lang="en-US" dirty="0" smtClean="0"/>
          </a:p>
          <a:p>
            <a:endParaRPr lang="en-US" dirty="0"/>
          </a:p>
          <a:p>
            <a:endParaRPr lang="en-US" dirty="0"/>
          </a:p>
        </p:txBody>
      </p:sp>
    </p:spTree>
    <p:extLst>
      <p:ext uri="{BB962C8B-B14F-4D97-AF65-F5344CB8AC3E}">
        <p14:creationId xmlns:p14="http://schemas.microsoft.com/office/powerpoint/2010/main" xmlns="" val="572985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 1</a:t>
            </a:r>
            <a:endParaRPr lang="en-US" dirty="0"/>
          </a:p>
        </p:txBody>
      </p:sp>
      <p:pic>
        <p:nvPicPr>
          <p:cNvPr id="4" name="Picture 11" descr="woman notebook think pen"/>
          <p:cNvPicPr>
            <a:picLocks noGrp="1" noChangeAspect="1" noChangeArrowheads="1"/>
          </p:cNvPicPr>
          <p:nvPr>
            <p:ph idx="1"/>
          </p:nvPr>
        </p:nvPicPr>
        <p:blipFill>
          <a:blip r:embed="rId3" cstate="print">
            <a:extLst>
              <a:ext uri="{28A0092B-C50C-407E-A947-70E740481C1C}">
                <a14:useLocalDpi xmlns:a14="http://schemas.microsoft.com/office/drawing/2010/main" xmlns="" val="0"/>
              </a:ext>
            </a:extLst>
          </a:blip>
          <a:srcRect t="1144" r="13129"/>
          <a:stretch>
            <a:fillRect/>
          </a:stretch>
        </p:blipFill>
        <p:spPr bwMode="auto">
          <a:xfrm>
            <a:off x="2338479" y="2088964"/>
            <a:ext cx="4467041" cy="370083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3128178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do I grow at Partners?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xmlns="" val="2332186876"/>
              </p:ext>
            </p:extLst>
          </p:nvPr>
        </p:nvGraphicFramePr>
        <p:xfrm>
          <a:off x="381000" y="1752600"/>
          <a:ext cx="8458200" cy="4541522"/>
        </p:xfrm>
        <a:graphic>
          <a:graphicData uri="http://schemas.openxmlformats.org/drawingml/2006/table">
            <a:tbl>
              <a:tblPr firstRow="1" bandRow="1">
                <a:tableStyleId>{7E9639D4-E3E2-4D34-9284-5A2195B3D0D7}</a:tableStyleId>
              </a:tblPr>
              <a:tblGrid>
                <a:gridCol w="4229100"/>
                <a:gridCol w="4229100"/>
              </a:tblGrid>
              <a:tr h="587821">
                <a:tc>
                  <a:txBody>
                    <a:bodyPr/>
                    <a:lstStyle/>
                    <a:p>
                      <a:r>
                        <a:rPr lang="en-US" dirty="0" smtClean="0"/>
                        <a:t>Career</a:t>
                      </a:r>
                      <a:r>
                        <a:rPr lang="en-US" baseline="0" dirty="0" smtClean="0"/>
                        <a:t> Ladder 1</a:t>
                      </a:r>
                      <a:endParaRPr lang="en-US" dirty="0"/>
                    </a:p>
                  </a:txBody>
                  <a:tcPr/>
                </a:tc>
                <a:tc>
                  <a:txBody>
                    <a:bodyPr/>
                    <a:lstStyle/>
                    <a:p>
                      <a:r>
                        <a:rPr lang="en-US" dirty="0" smtClean="0"/>
                        <a:t>Career Ladder</a:t>
                      </a:r>
                      <a:r>
                        <a:rPr lang="en-US" baseline="0" dirty="0" smtClean="0"/>
                        <a:t> 2</a:t>
                      </a:r>
                      <a:endParaRPr lang="en-US" dirty="0"/>
                    </a:p>
                  </a:txBody>
                  <a:tcPr/>
                </a:tc>
              </a:tr>
              <a:tr h="587821">
                <a:tc>
                  <a:txBody>
                    <a:bodyPr/>
                    <a:lstStyle/>
                    <a:p>
                      <a:r>
                        <a:rPr lang="en-US" dirty="0" smtClean="0"/>
                        <a:t>CEO</a:t>
                      </a:r>
                      <a:endParaRPr lang="en-US" dirty="0"/>
                    </a:p>
                  </a:txBody>
                  <a:tcPr/>
                </a:tc>
                <a:tc>
                  <a:txBody>
                    <a:bodyPr/>
                    <a:lstStyle/>
                    <a:p>
                      <a:r>
                        <a:rPr lang="en-US" dirty="0" smtClean="0"/>
                        <a:t>Vice President</a:t>
                      </a:r>
                      <a:endParaRPr lang="en-US" dirty="0"/>
                    </a:p>
                  </a:txBody>
                  <a:tcPr/>
                </a:tc>
              </a:tr>
              <a:tr h="587821">
                <a:tc>
                  <a:txBody>
                    <a:bodyPr/>
                    <a:lstStyle/>
                    <a:p>
                      <a:r>
                        <a:rPr lang="en-US" dirty="0" smtClean="0"/>
                        <a:t>Vice President</a:t>
                      </a:r>
                      <a:endParaRPr lang="en-US" dirty="0"/>
                    </a:p>
                  </a:txBody>
                  <a:tcPr/>
                </a:tc>
                <a:tc>
                  <a:txBody>
                    <a:bodyPr/>
                    <a:lstStyle/>
                    <a:p>
                      <a:r>
                        <a:rPr lang="en-US" dirty="0" smtClean="0"/>
                        <a:t>Assistant VP</a:t>
                      </a:r>
                      <a:endParaRPr lang="en-US" dirty="0"/>
                    </a:p>
                  </a:txBody>
                  <a:tcPr/>
                </a:tc>
              </a:tr>
              <a:tr h="587821">
                <a:tc>
                  <a:txBody>
                    <a:bodyPr/>
                    <a:lstStyle/>
                    <a:p>
                      <a:r>
                        <a:rPr lang="en-US" dirty="0" smtClean="0"/>
                        <a:t>Assistant VP</a:t>
                      </a:r>
                      <a:endParaRPr lang="en-US" dirty="0"/>
                    </a:p>
                  </a:txBody>
                  <a:tcPr/>
                </a:tc>
                <a:tc>
                  <a:txBody>
                    <a:bodyPr/>
                    <a:lstStyle/>
                    <a:p>
                      <a:r>
                        <a:rPr lang="en-US" dirty="0" smtClean="0"/>
                        <a:t>Program  Director II</a:t>
                      </a:r>
                      <a:endParaRPr lang="en-US" dirty="0"/>
                    </a:p>
                  </a:txBody>
                  <a:tcPr/>
                </a:tc>
              </a:tr>
              <a:tr h="587821">
                <a:tc>
                  <a:txBody>
                    <a:bodyPr/>
                    <a:lstStyle/>
                    <a:p>
                      <a:r>
                        <a:rPr lang="en-US" dirty="0" smtClean="0"/>
                        <a:t>CFO</a:t>
                      </a:r>
                      <a:endParaRPr lang="en-US" dirty="0"/>
                    </a:p>
                  </a:txBody>
                  <a:tcPr/>
                </a:tc>
                <a:tc>
                  <a:txBody>
                    <a:bodyPr/>
                    <a:lstStyle/>
                    <a:p>
                      <a:r>
                        <a:rPr lang="en-US" dirty="0" smtClean="0"/>
                        <a:t>Program Director</a:t>
                      </a:r>
                      <a:r>
                        <a:rPr lang="en-US" baseline="0" dirty="0" smtClean="0"/>
                        <a:t> I</a:t>
                      </a:r>
                      <a:endParaRPr lang="en-US" dirty="0"/>
                    </a:p>
                  </a:txBody>
                  <a:tcPr/>
                </a:tc>
              </a:tr>
              <a:tr h="587821">
                <a:tc>
                  <a:txBody>
                    <a:bodyPr/>
                    <a:lstStyle/>
                    <a:p>
                      <a:r>
                        <a:rPr lang="en-US" dirty="0" smtClean="0"/>
                        <a:t>Controller</a:t>
                      </a:r>
                      <a:endParaRPr lang="en-US" dirty="0"/>
                    </a:p>
                  </a:txBody>
                  <a:tcPr/>
                </a:tc>
                <a:tc>
                  <a:txBody>
                    <a:bodyPr/>
                    <a:lstStyle/>
                    <a:p>
                      <a:r>
                        <a:rPr lang="en-US" dirty="0" smtClean="0"/>
                        <a:t>Assistant</a:t>
                      </a:r>
                      <a:r>
                        <a:rPr lang="en-US" baseline="0" dirty="0" smtClean="0"/>
                        <a:t> Director</a:t>
                      </a:r>
                      <a:endParaRPr lang="en-US" dirty="0"/>
                    </a:p>
                  </a:txBody>
                  <a:tcPr/>
                </a:tc>
              </a:tr>
              <a:tr h="1014596">
                <a:tc>
                  <a:txBody>
                    <a:bodyPr/>
                    <a:lstStyle/>
                    <a:p>
                      <a:r>
                        <a:rPr lang="en-US" dirty="0" smtClean="0"/>
                        <a:t>Administrative &amp; Finance Officer</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Administrative &amp; Finance Officer</a:t>
                      </a:r>
                      <a:endParaRPr lang="en-US" dirty="0"/>
                    </a:p>
                  </a:txBody>
                  <a:tcPr/>
                </a:tc>
              </a:tr>
            </a:tbl>
          </a:graphicData>
        </a:graphic>
      </p:graphicFrame>
    </p:spTree>
    <p:extLst>
      <p:ext uri="{BB962C8B-B14F-4D97-AF65-F5344CB8AC3E}">
        <p14:creationId xmlns:p14="http://schemas.microsoft.com/office/powerpoint/2010/main" xmlns="" val="2171664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do I grow at Partners?</a:t>
            </a:r>
            <a:endParaRPr lang="en-US" dirty="0"/>
          </a:p>
        </p:txBody>
      </p:sp>
      <p:sp>
        <p:nvSpPr>
          <p:cNvPr id="3" name="Content Placeholder 2"/>
          <p:cNvSpPr>
            <a:spLocks noGrp="1"/>
          </p:cNvSpPr>
          <p:nvPr>
            <p:ph idx="1"/>
          </p:nvPr>
        </p:nvSpPr>
        <p:spPr/>
        <p:txBody>
          <a:bodyPr>
            <a:normAutofit lnSpcReduction="10000"/>
          </a:bodyPr>
          <a:lstStyle/>
          <a:p>
            <a:r>
              <a:rPr lang="en-US" sz="3200" dirty="0" smtClean="0"/>
              <a:t>Review Job Description for position desired</a:t>
            </a:r>
          </a:p>
          <a:p>
            <a:r>
              <a:rPr lang="en-US" sz="3200" dirty="0" smtClean="0"/>
              <a:t>Courses from outside providers</a:t>
            </a:r>
          </a:p>
          <a:p>
            <a:r>
              <a:rPr lang="en-US" sz="3200" dirty="0" smtClean="0"/>
              <a:t>Mentoring</a:t>
            </a:r>
          </a:p>
          <a:p>
            <a:r>
              <a:rPr lang="en-US" sz="3200" dirty="0" smtClean="0"/>
              <a:t>Shadowing or cross training</a:t>
            </a:r>
          </a:p>
          <a:p>
            <a:r>
              <a:rPr lang="en-US" sz="3200" dirty="0" smtClean="0"/>
              <a:t>Know your employees and present them with growth opportunities – don’t prejudge</a:t>
            </a:r>
          </a:p>
          <a:p>
            <a:endParaRPr lang="en-US" dirty="0"/>
          </a:p>
        </p:txBody>
      </p:sp>
    </p:spTree>
    <p:extLst>
      <p:ext uri="{BB962C8B-B14F-4D97-AF65-F5344CB8AC3E}">
        <p14:creationId xmlns:p14="http://schemas.microsoft.com/office/powerpoint/2010/main" xmlns="" val="309007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Plateaued employee</a:t>
            </a:r>
            <a:endParaRPr lang="en-US" dirty="0"/>
          </a:p>
        </p:txBody>
      </p:sp>
      <p:sp>
        <p:nvSpPr>
          <p:cNvPr id="3" name="Content Placeholder 2"/>
          <p:cNvSpPr>
            <a:spLocks noGrp="1"/>
          </p:cNvSpPr>
          <p:nvPr>
            <p:ph idx="1"/>
          </p:nvPr>
        </p:nvSpPr>
        <p:spPr/>
        <p:txBody>
          <a:bodyPr>
            <a:normAutofit fontScale="92500" lnSpcReduction="10000"/>
          </a:bodyPr>
          <a:lstStyle/>
          <a:p>
            <a:pPr marL="114300" indent="0">
              <a:buNone/>
            </a:pPr>
            <a:r>
              <a:rPr lang="en-US" sz="3200" dirty="0" smtClean="0"/>
              <a:t>Stress the positive and let the employee know how much you appreciate their work and count on them.</a:t>
            </a:r>
          </a:p>
          <a:p>
            <a:pPr marL="114300" indent="0">
              <a:buNone/>
            </a:pPr>
            <a:endParaRPr lang="en-US" sz="3200" dirty="0" smtClean="0"/>
          </a:p>
          <a:p>
            <a:r>
              <a:rPr lang="en-US" sz="3200" dirty="0" smtClean="0"/>
              <a:t>Are there new responsibilities in which the employee can become involved</a:t>
            </a:r>
          </a:p>
          <a:p>
            <a:r>
              <a:rPr lang="en-US" sz="3200" dirty="0" smtClean="0"/>
              <a:t>They can train or mentor others</a:t>
            </a:r>
          </a:p>
          <a:p>
            <a:r>
              <a:rPr lang="en-US" sz="3200" dirty="0" smtClean="0"/>
              <a:t>Simply ask them for ideas on how their job can be more challenging</a:t>
            </a:r>
          </a:p>
          <a:p>
            <a:endParaRPr lang="en-US" sz="3200" dirty="0" smtClean="0"/>
          </a:p>
          <a:p>
            <a:endParaRPr lang="en-US" dirty="0"/>
          </a:p>
        </p:txBody>
      </p:sp>
    </p:spTree>
    <p:extLst>
      <p:ext uri="{BB962C8B-B14F-4D97-AF65-F5344CB8AC3E}">
        <p14:creationId xmlns:p14="http://schemas.microsoft.com/office/powerpoint/2010/main" xmlns="" val="3660611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Loving your job</a:t>
            </a:r>
            <a:endParaRPr lang="en-US" dirty="0"/>
          </a:p>
        </p:txBody>
      </p:sp>
      <p:pic>
        <p:nvPicPr>
          <p:cNvPr id="4" name="Picture 2" descr="employee happiness"/>
          <p:cNvPicPr>
            <a:picLocks noGrp="1" noChangeAspect="1" noChangeArrowheads="1"/>
          </p:cNvPicPr>
          <p:nvPr>
            <p:ph idx="1"/>
          </p:nvPr>
        </p:nvPicPr>
        <p:blipFill>
          <a:blip r:embed="rId3" cstate="print">
            <a:extLst>
              <a:ext uri="{28A0092B-C50C-407E-A947-70E740481C1C}">
                <a14:useLocalDpi xmlns:a14="http://schemas.microsoft.com/office/drawing/2010/main" xmlns="" val="0"/>
              </a:ext>
            </a:extLst>
          </a:blip>
          <a:srcRect/>
          <a:stretch>
            <a:fillRect/>
          </a:stretch>
        </p:blipFill>
        <p:spPr bwMode="auto">
          <a:xfrm>
            <a:off x="533400" y="2362200"/>
            <a:ext cx="8041982" cy="335788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742896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three-part formula</a:t>
            </a:r>
          </a:p>
        </p:txBody>
      </p:sp>
      <p:sp>
        <p:nvSpPr>
          <p:cNvPr id="3" name="Content Placeholder 2"/>
          <p:cNvSpPr>
            <a:spLocks noGrp="1"/>
          </p:cNvSpPr>
          <p:nvPr>
            <p:ph idx="1"/>
          </p:nvPr>
        </p:nvSpPr>
        <p:spPr/>
        <p:txBody>
          <a:bodyPr>
            <a:normAutofit lnSpcReduction="10000"/>
          </a:bodyPr>
          <a:lstStyle/>
          <a:p>
            <a:r>
              <a:rPr lang="en-US" sz="2800" dirty="0" smtClean="0"/>
              <a:t>provide intellectual </a:t>
            </a:r>
            <a:r>
              <a:rPr lang="en-US" sz="2800" dirty="0"/>
              <a:t>stimulation and task variety. Give employees some autonomy, influence and opportunities to acquire </a:t>
            </a:r>
            <a:r>
              <a:rPr lang="en-US" sz="2800" u="sng" dirty="0">
                <a:solidFill>
                  <a:srgbClr val="00B0F0"/>
                </a:solidFill>
              </a:rPr>
              <a:t>prestige and </a:t>
            </a:r>
            <a:r>
              <a:rPr lang="en-US" sz="2800" u="sng" dirty="0" smtClean="0">
                <a:solidFill>
                  <a:srgbClr val="00B0F0"/>
                </a:solidFill>
              </a:rPr>
              <a:t>recognition </a:t>
            </a:r>
          </a:p>
          <a:p>
            <a:r>
              <a:rPr lang="en-US" sz="2800" dirty="0" smtClean="0"/>
              <a:t>give </a:t>
            </a:r>
            <a:r>
              <a:rPr lang="en-US" sz="2800" dirty="0"/>
              <a:t>all employees a </a:t>
            </a:r>
            <a:r>
              <a:rPr lang="en-US" sz="2800" u="sng" dirty="0">
                <a:solidFill>
                  <a:srgbClr val="00B0F0"/>
                </a:solidFill>
              </a:rPr>
              <a:t>break</a:t>
            </a:r>
            <a:r>
              <a:rPr lang="en-US" sz="2800" dirty="0"/>
              <a:t> now and again, including the consummate workaholics who say they don't want or need it.</a:t>
            </a:r>
          </a:p>
          <a:p>
            <a:r>
              <a:rPr lang="en-US" sz="2800" dirty="0"/>
              <a:t>Offer employees </a:t>
            </a:r>
            <a:r>
              <a:rPr lang="en-US" sz="2800" u="sng" dirty="0" smtClean="0">
                <a:solidFill>
                  <a:srgbClr val="00B0F0"/>
                </a:solidFill>
              </a:rPr>
              <a:t>extra money, </a:t>
            </a:r>
            <a:r>
              <a:rPr lang="en-US" sz="2800" u="sng" dirty="0">
                <a:solidFill>
                  <a:srgbClr val="00B0F0"/>
                </a:solidFill>
              </a:rPr>
              <a:t>security and social opportunities.</a:t>
            </a:r>
            <a:r>
              <a:rPr lang="en-US" sz="2800" dirty="0"/>
              <a:t> However, only to the extent they say these things matter to them.</a:t>
            </a:r>
          </a:p>
          <a:p>
            <a:endParaRPr lang="en-US" dirty="0"/>
          </a:p>
        </p:txBody>
      </p:sp>
    </p:spTree>
    <p:extLst>
      <p:ext uri="{BB962C8B-B14F-4D97-AF65-F5344CB8AC3E}">
        <p14:creationId xmlns:p14="http://schemas.microsoft.com/office/powerpoint/2010/main" xmlns="" val="2253664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04800" y="838200"/>
            <a:ext cx="8458200" cy="5029200"/>
          </a:xfrm>
        </p:spPr>
        <p:txBody>
          <a:bodyPr>
            <a:normAutofit/>
          </a:bodyPr>
          <a:lstStyle/>
          <a:p>
            <a:pPr marL="114300" indent="0" algn="just">
              <a:buNone/>
            </a:pPr>
            <a:r>
              <a:rPr lang="en-US" sz="3200" dirty="0"/>
              <a:t>"If there is a major takeaway here, it's that we can finally prove that money doesn't buy happiness, and that happiness isn't as elusive as we might think," said </a:t>
            </a:r>
            <a:r>
              <a:rPr lang="en-US" sz="3200" dirty="0" err="1"/>
              <a:t>Cangrade</a:t>
            </a:r>
            <a:r>
              <a:rPr lang="en-US" sz="3200" dirty="0"/>
              <a:t> CEO Michael </a:t>
            </a:r>
            <a:r>
              <a:rPr lang="en-US" sz="3200" dirty="0" err="1"/>
              <a:t>Burtov</a:t>
            </a:r>
            <a:r>
              <a:rPr lang="en-US" sz="3200" dirty="0"/>
              <a:t>.</a:t>
            </a:r>
          </a:p>
        </p:txBody>
      </p:sp>
    </p:spTree>
    <p:extLst>
      <p:ext uri="{BB962C8B-B14F-4D97-AF65-F5344CB8AC3E}">
        <p14:creationId xmlns:p14="http://schemas.microsoft.com/office/powerpoint/2010/main" xmlns="" val="340999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the experts say about $</a:t>
            </a:r>
            <a:endParaRPr lang="en-US" dirty="0"/>
          </a:p>
        </p:txBody>
      </p:sp>
      <p:sp>
        <p:nvSpPr>
          <p:cNvPr id="3" name="Content Placeholder 2"/>
          <p:cNvSpPr>
            <a:spLocks noGrp="1"/>
          </p:cNvSpPr>
          <p:nvPr>
            <p:ph idx="1"/>
          </p:nvPr>
        </p:nvSpPr>
        <p:spPr>
          <a:xfrm rot="19951364">
            <a:off x="471512" y="2817342"/>
            <a:ext cx="4395653" cy="865835"/>
          </a:xfrm>
        </p:spPr>
        <p:txBody>
          <a:bodyPr>
            <a:noAutofit/>
          </a:bodyPr>
          <a:lstStyle/>
          <a:p>
            <a:pPr marL="114300" indent="0">
              <a:buNone/>
            </a:pPr>
            <a:r>
              <a:rPr lang="en-US" sz="2800" b="1" dirty="0" smtClean="0">
                <a:solidFill>
                  <a:schemeClr val="tx1"/>
                </a:solidFill>
              </a:rPr>
              <a:t>Pay for Performance</a:t>
            </a:r>
            <a:endParaRPr lang="en-US" sz="2800" b="1" dirty="0">
              <a:solidFill>
                <a:schemeClr val="tx1"/>
              </a:solidFill>
            </a:endParaRPr>
          </a:p>
        </p:txBody>
      </p:sp>
      <p:sp>
        <p:nvSpPr>
          <p:cNvPr id="4" name="TextBox 3"/>
          <p:cNvSpPr txBox="1"/>
          <p:nvPr/>
        </p:nvSpPr>
        <p:spPr>
          <a:xfrm rot="397175">
            <a:off x="3839463" y="3701496"/>
            <a:ext cx="3124200" cy="523220"/>
          </a:xfrm>
          <a:prstGeom prst="rect">
            <a:avLst/>
          </a:prstGeom>
          <a:noFill/>
        </p:spPr>
        <p:txBody>
          <a:bodyPr wrap="square" rtlCol="0">
            <a:spAutoFit/>
          </a:bodyPr>
          <a:lstStyle/>
          <a:p>
            <a:r>
              <a:rPr lang="en-US" sz="2800" b="1" dirty="0" smtClean="0"/>
              <a:t>Incentive Pay</a:t>
            </a:r>
            <a:endParaRPr lang="en-US" sz="2800" b="1" dirty="0"/>
          </a:p>
        </p:txBody>
      </p:sp>
      <p:sp>
        <p:nvSpPr>
          <p:cNvPr id="5" name="TextBox 4"/>
          <p:cNvSpPr txBox="1"/>
          <p:nvPr/>
        </p:nvSpPr>
        <p:spPr>
          <a:xfrm rot="190492">
            <a:off x="2222519" y="4627949"/>
            <a:ext cx="2305439" cy="523220"/>
          </a:xfrm>
          <a:prstGeom prst="rect">
            <a:avLst/>
          </a:prstGeom>
          <a:noFill/>
        </p:spPr>
        <p:txBody>
          <a:bodyPr wrap="none" rtlCol="0">
            <a:spAutoFit/>
          </a:bodyPr>
          <a:lstStyle/>
          <a:p>
            <a:r>
              <a:rPr lang="en-US" sz="2800" b="1" dirty="0" smtClean="0"/>
              <a:t>Commission</a:t>
            </a:r>
            <a:endParaRPr lang="en-US" sz="2800" b="1" dirty="0"/>
          </a:p>
        </p:txBody>
      </p:sp>
      <p:sp>
        <p:nvSpPr>
          <p:cNvPr id="6" name="TextBox 5"/>
          <p:cNvSpPr txBox="1"/>
          <p:nvPr/>
        </p:nvSpPr>
        <p:spPr>
          <a:xfrm rot="697382">
            <a:off x="5582735" y="2463233"/>
            <a:ext cx="1712328" cy="523220"/>
          </a:xfrm>
          <a:prstGeom prst="rect">
            <a:avLst/>
          </a:prstGeom>
          <a:noFill/>
        </p:spPr>
        <p:txBody>
          <a:bodyPr wrap="none" rtlCol="0">
            <a:spAutoFit/>
          </a:bodyPr>
          <a:lstStyle/>
          <a:p>
            <a:r>
              <a:rPr lang="en-US" sz="2800" b="1" dirty="0" smtClean="0"/>
              <a:t>Seniority</a:t>
            </a:r>
            <a:r>
              <a:rPr lang="en-US" dirty="0" smtClean="0"/>
              <a:t> </a:t>
            </a:r>
            <a:endParaRPr lang="en-US" dirty="0"/>
          </a:p>
        </p:txBody>
      </p:sp>
    </p:spTree>
    <p:extLst>
      <p:ext uri="{BB962C8B-B14F-4D97-AF65-F5344CB8AC3E}">
        <p14:creationId xmlns:p14="http://schemas.microsoft.com/office/powerpoint/2010/main" xmlns="" val="30477075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the experts say about $</a:t>
            </a:r>
            <a:endParaRPr lang="en-US" dirty="0"/>
          </a:p>
        </p:txBody>
      </p:sp>
      <p:sp>
        <p:nvSpPr>
          <p:cNvPr id="3" name="Content Placeholder 2"/>
          <p:cNvSpPr>
            <a:spLocks noGrp="1"/>
          </p:cNvSpPr>
          <p:nvPr>
            <p:ph idx="1"/>
          </p:nvPr>
        </p:nvSpPr>
        <p:spPr/>
        <p:txBody>
          <a:bodyPr>
            <a:normAutofit/>
          </a:bodyPr>
          <a:lstStyle/>
          <a:p>
            <a:pPr marL="114300" indent="0" algn="ctr">
              <a:buNone/>
            </a:pPr>
            <a:endParaRPr lang="en-US" sz="3600" dirty="0" smtClean="0"/>
          </a:p>
          <a:p>
            <a:pPr marL="114300" indent="0" algn="ctr">
              <a:buNone/>
            </a:pPr>
            <a:r>
              <a:rPr lang="en-US" sz="3600" dirty="0" smtClean="0"/>
              <a:t>Take the issue of money off the table so employees can focus on the work and no on the cash</a:t>
            </a:r>
            <a:endParaRPr lang="en-US" sz="3600" dirty="0"/>
          </a:p>
        </p:txBody>
      </p:sp>
    </p:spTree>
    <p:extLst>
      <p:ext uri="{BB962C8B-B14F-4D97-AF65-F5344CB8AC3E}">
        <p14:creationId xmlns:p14="http://schemas.microsoft.com/office/powerpoint/2010/main" xmlns="" val="30788543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Partners says about $</a:t>
            </a:r>
            <a:endParaRPr lang="en-US" dirty="0"/>
          </a:p>
        </p:txBody>
      </p:sp>
      <p:sp>
        <p:nvSpPr>
          <p:cNvPr id="3" name="Content Placeholder 2"/>
          <p:cNvSpPr>
            <a:spLocks noGrp="1"/>
          </p:cNvSpPr>
          <p:nvPr>
            <p:ph idx="1"/>
          </p:nvPr>
        </p:nvSpPr>
        <p:spPr>
          <a:xfrm>
            <a:off x="762000" y="2133600"/>
            <a:ext cx="8229600" cy="4373563"/>
          </a:xfrm>
        </p:spPr>
        <p:txBody>
          <a:bodyPr>
            <a:normAutofit/>
          </a:bodyPr>
          <a:lstStyle/>
          <a:p>
            <a:r>
              <a:rPr lang="en-US" sz="3600" dirty="0" smtClean="0"/>
              <a:t> 6 Paygrades</a:t>
            </a:r>
          </a:p>
          <a:p>
            <a:r>
              <a:rPr lang="en-US" sz="3600" dirty="0"/>
              <a:t> </a:t>
            </a:r>
            <a:r>
              <a:rPr lang="en-US" sz="3600" dirty="0" smtClean="0"/>
              <a:t>Min and Max range for each grade</a:t>
            </a:r>
          </a:p>
          <a:p>
            <a:r>
              <a:rPr lang="en-US" sz="3600" dirty="0" smtClean="0"/>
              <a:t>Every position has a paygrade</a:t>
            </a:r>
          </a:p>
        </p:txBody>
      </p:sp>
    </p:spTree>
    <p:extLst>
      <p:ext uri="{BB962C8B-B14F-4D97-AF65-F5344CB8AC3E}">
        <p14:creationId xmlns:p14="http://schemas.microsoft.com/office/powerpoint/2010/main" xmlns="" val="23072515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04800" y="838200"/>
            <a:ext cx="8458200" cy="5029200"/>
          </a:xfrm>
        </p:spPr>
        <p:txBody>
          <a:bodyPr>
            <a:normAutofit fontScale="92500" lnSpcReduction="10000"/>
          </a:bodyPr>
          <a:lstStyle/>
          <a:p>
            <a:pPr marL="114300" indent="0" algn="just">
              <a:buNone/>
            </a:pPr>
            <a:r>
              <a:rPr lang="en-US" sz="3200" dirty="0"/>
              <a:t>“The bad news is that ignoring the performance of people is almost as bad as shredding their effort in front of their eyes. … The good news is that by simply looking at something that somebody has done, scanning it and saying ‘uh huh,’ [you] dramatically improve people's motivations.”</a:t>
            </a:r>
          </a:p>
          <a:p>
            <a:pPr marL="114300" indent="0" algn="just">
              <a:buNone/>
            </a:pPr>
            <a:endParaRPr lang="en-US" sz="3200" dirty="0"/>
          </a:p>
          <a:p>
            <a:pPr marL="114300" indent="0">
              <a:buNone/>
            </a:pPr>
            <a:endParaRPr lang="en-US" sz="3200" dirty="0"/>
          </a:p>
          <a:p>
            <a:pPr marL="114300" indent="0">
              <a:buNone/>
            </a:pPr>
            <a:endParaRPr lang="en-US" sz="3200" dirty="0"/>
          </a:p>
          <a:p>
            <a:pPr marL="114300" indent="0" algn="r">
              <a:buNone/>
            </a:pPr>
            <a:r>
              <a:rPr lang="en-US" sz="3200" dirty="0"/>
              <a:t>Dan </a:t>
            </a:r>
            <a:r>
              <a:rPr lang="en-US" sz="3200" dirty="0" err="1"/>
              <a:t>Ariely</a:t>
            </a:r>
            <a:r>
              <a:rPr lang="en-US" sz="3200" dirty="0"/>
              <a:t> </a:t>
            </a:r>
          </a:p>
        </p:txBody>
      </p:sp>
    </p:spTree>
    <p:extLst>
      <p:ext uri="{BB962C8B-B14F-4D97-AF65-F5344CB8AC3E}">
        <p14:creationId xmlns:p14="http://schemas.microsoft.com/office/powerpoint/2010/main" xmlns="" val="30774527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04800" y="838200"/>
            <a:ext cx="8458200" cy="5029200"/>
          </a:xfrm>
        </p:spPr>
        <p:txBody>
          <a:bodyPr>
            <a:normAutofit fontScale="77500" lnSpcReduction="20000"/>
          </a:bodyPr>
          <a:lstStyle/>
          <a:p>
            <a:pPr marL="114300" indent="0" algn="ctr">
              <a:buNone/>
            </a:pPr>
            <a:r>
              <a:rPr lang="en-US" sz="4200" b="1" dirty="0" smtClean="0"/>
              <a:t>Revise Model of Labor</a:t>
            </a:r>
          </a:p>
          <a:p>
            <a:pPr marL="114300" indent="0">
              <a:buNone/>
            </a:pPr>
            <a:endParaRPr lang="en-US" sz="3200" dirty="0" smtClean="0"/>
          </a:p>
          <a:p>
            <a:pPr marL="114300" indent="0">
              <a:buNone/>
            </a:pPr>
            <a:r>
              <a:rPr lang="en-US" sz="3200" dirty="0" smtClean="0"/>
              <a:t>Motivation </a:t>
            </a:r>
            <a:r>
              <a:rPr lang="en-US" sz="3200" dirty="0" smtClean="0"/>
              <a:t>=  </a:t>
            </a:r>
            <a:r>
              <a:rPr lang="en-US" sz="3200" dirty="0" smtClean="0"/>
              <a:t>Payment</a:t>
            </a:r>
          </a:p>
          <a:p>
            <a:pPr marL="114300" indent="0">
              <a:buNone/>
            </a:pPr>
            <a:r>
              <a:rPr lang="en-US" sz="3200" dirty="0" smtClean="0"/>
              <a:t>	</a:t>
            </a:r>
            <a:r>
              <a:rPr lang="en-US" sz="3200" dirty="0" smtClean="0"/>
              <a:t>		+</a:t>
            </a:r>
            <a:r>
              <a:rPr lang="en-US" sz="3200" dirty="0" smtClean="0"/>
              <a:t>meaning</a:t>
            </a:r>
            <a:endParaRPr lang="en-US" sz="3200" dirty="0" smtClean="0"/>
          </a:p>
          <a:p>
            <a:pPr marL="114300" indent="0">
              <a:buNone/>
            </a:pPr>
            <a:r>
              <a:rPr lang="en-US" sz="3200" dirty="0"/>
              <a:t>	</a:t>
            </a:r>
            <a:r>
              <a:rPr lang="en-US" sz="3200" dirty="0" smtClean="0"/>
              <a:t>		</a:t>
            </a:r>
            <a:r>
              <a:rPr lang="en-US" sz="3200" dirty="0" smtClean="0"/>
              <a:t>+creation</a:t>
            </a:r>
            <a:endParaRPr lang="en-US" sz="3200" dirty="0" smtClean="0"/>
          </a:p>
          <a:p>
            <a:pPr marL="114300" indent="0">
              <a:buNone/>
            </a:pPr>
            <a:r>
              <a:rPr lang="en-US" sz="3200" dirty="0"/>
              <a:t>	</a:t>
            </a:r>
            <a:r>
              <a:rPr lang="en-US" sz="3200" dirty="0" smtClean="0"/>
              <a:t>		</a:t>
            </a:r>
            <a:r>
              <a:rPr lang="en-US" sz="3200" dirty="0" smtClean="0"/>
              <a:t>+challenges</a:t>
            </a:r>
            <a:endParaRPr lang="en-US" sz="3200" dirty="0" smtClean="0"/>
          </a:p>
          <a:p>
            <a:pPr marL="114300" indent="0">
              <a:buNone/>
            </a:pPr>
            <a:r>
              <a:rPr lang="en-US" sz="3200" dirty="0"/>
              <a:t>	</a:t>
            </a:r>
            <a:r>
              <a:rPr lang="en-US" sz="3200" dirty="0" smtClean="0"/>
              <a:t>		</a:t>
            </a:r>
            <a:r>
              <a:rPr lang="en-US" sz="3200" dirty="0" smtClean="0"/>
              <a:t>+ownership</a:t>
            </a:r>
            <a:endParaRPr lang="en-US" sz="3200" dirty="0" smtClean="0"/>
          </a:p>
          <a:p>
            <a:pPr marL="114300" indent="0">
              <a:buNone/>
            </a:pPr>
            <a:r>
              <a:rPr lang="en-US" sz="3200" dirty="0"/>
              <a:t>	</a:t>
            </a:r>
            <a:r>
              <a:rPr lang="en-US" sz="3200" dirty="0" smtClean="0"/>
              <a:t>		</a:t>
            </a:r>
            <a:r>
              <a:rPr lang="en-US" sz="3200" dirty="0" smtClean="0"/>
              <a:t>+identity</a:t>
            </a:r>
            <a:endParaRPr lang="en-US" sz="3200" dirty="0" smtClean="0"/>
          </a:p>
          <a:p>
            <a:pPr marL="114300" indent="0">
              <a:buNone/>
            </a:pPr>
            <a:r>
              <a:rPr lang="en-US" sz="3200" dirty="0"/>
              <a:t>	</a:t>
            </a:r>
            <a:r>
              <a:rPr lang="en-US" sz="3200" dirty="0" smtClean="0"/>
              <a:t>		</a:t>
            </a:r>
            <a:r>
              <a:rPr lang="en-US" sz="3200" dirty="0" smtClean="0"/>
              <a:t>+pride</a:t>
            </a:r>
            <a:endParaRPr lang="en-US" sz="3200" dirty="0"/>
          </a:p>
          <a:p>
            <a:pPr marL="114300" indent="0">
              <a:buNone/>
            </a:pPr>
            <a:endParaRPr lang="en-US" sz="3200" dirty="0"/>
          </a:p>
          <a:p>
            <a:pPr marL="114300" indent="0">
              <a:buNone/>
            </a:pPr>
            <a:endParaRPr lang="en-US" sz="3200" dirty="0"/>
          </a:p>
          <a:p>
            <a:pPr marL="114300" indent="0" algn="r">
              <a:buNone/>
            </a:pPr>
            <a:r>
              <a:rPr lang="en-US" sz="3200" dirty="0"/>
              <a:t>Dan </a:t>
            </a:r>
            <a:r>
              <a:rPr lang="en-US" sz="3200" dirty="0" err="1"/>
              <a:t>Ariely</a:t>
            </a:r>
            <a:r>
              <a:rPr lang="en-US" sz="3200" dirty="0"/>
              <a:t> </a:t>
            </a:r>
          </a:p>
        </p:txBody>
      </p:sp>
    </p:spTree>
    <p:extLst>
      <p:ext uri="{BB962C8B-B14F-4D97-AF65-F5344CB8AC3E}">
        <p14:creationId xmlns:p14="http://schemas.microsoft.com/office/powerpoint/2010/main" xmlns="" val="26244456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Communication</a:t>
            </a:r>
            <a:endParaRPr lang="en-US" dirty="0"/>
          </a:p>
        </p:txBody>
      </p:sp>
      <p:sp>
        <p:nvSpPr>
          <p:cNvPr id="3" name="Content Placeholder 2"/>
          <p:cNvSpPr>
            <a:spLocks noGrp="1"/>
          </p:cNvSpPr>
          <p:nvPr>
            <p:ph idx="1"/>
          </p:nvPr>
        </p:nvSpPr>
        <p:spPr>
          <a:xfrm>
            <a:off x="762000" y="2133600"/>
            <a:ext cx="8229600" cy="4373563"/>
          </a:xfrm>
        </p:spPr>
        <p:txBody>
          <a:bodyPr>
            <a:normAutofit/>
          </a:bodyPr>
          <a:lstStyle/>
          <a:p>
            <a:pPr marL="114300" indent="0" algn="ctr">
              <a:buNone/>
            </a:pPr>
            <a:r>
              <a:rPr lang="en-US" sz="4000" b="1" dirty="0" smtClean="0"/>
              <a:t>“It’s a two way affair, and the receiver's function is no less important than that of the sender.”</a:t>
            </a:r>
          </a:p>
          <a:p>
            <a:pPr marL="114300" indent="0">
              <a:buNone/>
            </a:pPr>
            <a:endParaRPr lang="en-US" sz="3600" dirty="0"/>
          </a:p>
          <a:p>
            <a:pPr marL="114300" indent="0" algn="r">
              <a:buNone/>
            </a:pPr>
            <a:r>
              <a:rPr lang="en-US" sz="1800" dirty="0" smtClean="0"/>
              <a:t>Art of Awareness, J. Samuel Bois</a:t>
            </a:r>
          </a:p>
        </p:txBody>
      </p:sp>
    </p:spTree>
    <p:extLst>
      <p:ext uri="{BB962C8B-B14F-4D97-AF65-F5344CB8AC3E}">
        <p14:creationId xmlns:p14="http://schemas.microsoft.com/office/powerpoint/2010/main" xmlns="" val="22110681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r>
              <a:rPr lang="en-US" dirty="0" smtClean="0"/>
              <a:t>The Sandwich Effect</a:t>
            </a:r>
          </a:p>
        </p:txBody>
      </p:sp>
      <p:sp>
        <p:nvSpPr>
          <p:cNvPr id="44035" name="Text Placeholder 2"/>
          <p:cNvSpPr>
            <a:spLocks noGrp="1"/>
          </p:cNvSpPr>
          <p:nvPr>
            <p:ph type="body" sz="half" idx="1"/>
          </p:nvPr>
        </p:nvSpPr>
        <p:spPr>
          <a:xfrm>
            <a:off x="1295400" y="1752600"/>
            <a:ext cx="6248400" cy="4572000"/>
          </a:xfrm>
        </p:spPr>
        <p:txBody>
          <a:bodyPr>
            <a:normAutofit/>
          </a:bodyPr>
          <a:lstStyle/>
          <a:p>
            <a:pPr marL="0" indent="0"/>
            <a:endParaRPr lang="en-US" dirty="0" smtClean="0"/>
          </a:p>
          <a:p>
            <a:pPr marL="0" indent="0">
              <a:buNone/>
            </a:pPr>
            <a:r>
              <a:rPr lang="en-US" sz="3200" dirty="0" smtClean="0"/>
              <a:t>I don’t want you think I am not </a:t>
            </a:r>
            <a:r>
              <a:rPr lang="en-US" sz="3200" u="sng" dirty="0" smtClean="0"/>
              <a:t>satisfied</a:t>
            </a:r>
            <a:r>
              <a:rPr lang="en-US" sz="3200" dirty="0" smtClean="0"/>
              <a:t> with your work. I want to keep working with you.  Being punctual to meetings is important to me and </a:t>
            </a:r>
            <a:r>
              <a:rPr lang="en-US" sz="3200" u="sng" dirty="0" smtClean="0"/>
              <a:t>I’d like you to work on being more attentive to this concern</a:t>
            </a:r>
            <a:r>
              <a:rPr lang="en-US" sz="3200" dirty="0" smtClean="0"/>
              <a:t>. This is my </a:t>
            </a:r>
            <a:r>
              <a:rPr lang="en-US" sz="3200" u="sng" dirty="0" smtClean="0"/>
              <a:t>only concern</a:t>
            </a:r>
            <a:r>
              <a:rPr lang="en-US" sz="3200" dirty="0" smtClean="0"/>
              <a:t>.</a:t>
            </a:r>
          </a:p>
          <a:p>
            <a:pPr marL="0" indent="0"/>
            <a:endParaRPr lang="en-US" sz="3200" dirty="0" smtClean="0"/>
          </a:p>
        </p:txBody>
      </p:sp>
      <p:sp>
        <p:nvSpPr>
          <p:cNvPr id="44036" name="Footer Placeholder 4"/>
          <p:cNvSpPr>
            <a:spLocks noGrp="1"/>
          </p:cNvSpPr>
          <p:nvPr>
            <p:ph type="ftr" sz="quarter" idx="10"/>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sz="1000" dirty="0" smtClean="0"/>
          </a:p>
          <a:p>
            <a:endParaRPr lang="en-US" sz="1000" dirty="0" smtClean="0"/>
          </a:p>
        </p:txBody>
      </p:sp>
    </p:spTree>
    <p:extLst>
      <p:ext uri="{BB962C8B-B14F-4D97-AF65-F5344CB8AC3E}">
        <p14:creationId xmlns:p14="http://schemas.microsoft.com/office/powerpoint/2010/main" xmlns="" val="160059751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Footer Placeholder 3"/>
          <p:cNvSpPr>
            <a:spLocks noGrp="1"/>
          </p:cNvSpPr>
          <p:nvPr>
            <p:ph type="ftr" sz="quarter" idx="4294967295"/>
          </p:nvPr>
        </p:nvSpPr>
        <p:spPr>
          <a:xfrm>
            <a:off x="0" y="6629400"/>
            <a:ext cx="2590800" cy="228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sz="1000" dirty="0" smtClean="0">
              <a:latin typeface="Garamond" pitchFamily="18" charset="0"/>
            </a:endParaRPr>
          </a:p>
          <a:p>
            <a:endParaRPr lang="en-US" sz="1000" dirty="0" smtClean="0"/>
          </a:p>
        </p:txBody>
      </p:sp>
      <p:sp>
        <p:nvSpPr>
          <p:cNvPr id="45059" name="Rectangle 10"/>
          <p:cNvSpPr>
            <a:spLocks noGrp="1" noChangeArrowheads="1"/>
          </p:cNvSpPr>
          <p:nvPr>
            <p:ph type="title"/>
          </p:nvPr>
        </p:nvSpPr>
        <p:spPr/>
        <p:txBody>
          <a:bodyPr>
            <a:normAutofit/>
          </a:bodyPr>
          <a:lstStyle/>
          <a:p>
            <a:pPr eaLnBrk="1" hangingPunct="1"/>
            <a:r>
              <a:rPr lang="en-US" dirty="0" smtClean="0"/>
              <a:t>Preparing for Conversations</a:t>
            </a:r>
          </a:p>
        </p:txBody>
      </p:sp>
      <p:sp>
        <p:nvSpPr>
          <p:cNvPr id="45060" name="Rectangle 11"/>
          <p:cNvSpPr>
            <a:spLocks noGrp="1" noChangeArrowheads="1"/>
          </p:cNvSpPr>
          <p:nvPr>
            <p:ph type="body" idx="1"/>
          </p:nvPr>
        </p:nvSpPr>
        <p:spPr/>
        <p:txBody>
          <a:bodyPr/>
          <a:lstStyle/>
          <a:p>
            <a:pPr marL="457200" indent="-457200">
              <a:buFontTx/>
              <a:buChar char="•"/>
            </a:pPr>
            <a:r>
              <a:rPr lang="en-US" dirty="0" smtClean="0">
                <a:cs typeface="Arial" charset="0"/>
              </a:rPr>
              <a:t>Your goal is to address the problem. </a:t>
            </a:r>
          </a:p>
          <a:p>
            <a:pPr marL="457200" indent="-457200">
              <a:buFontTx/>
              <a:buChar char="•"/>
            </a:pPr>
            <a:r>
              <a:rPr lang="en-US" dirty="0" smtClean="0">
                <a:cs typeface="Arial" charset="0"/>
              </a:rPr>
              <a:t>Prepare, have a plan for the discussion </a:t>
            </a:r>
          </a:p>
          <a:p>
            <a:pPr marL="457200" indent="-457200">
              <a:buFontTx/>
              <a:buChar char="•"/>
            </a:pPr>
            <a:r>
              <a:rPr lang="en-US" dirty="0" smtClean="0">
                <a:cs typeface="Arial" charset="0"/>
              </a:rPr>
              <a:t>Have the conversation privately</a:t>
            </a:r>
          </a:p>
          <a:p>
            <a:pPr marL="457200" indent="-457200">
              <a:buFontTx/>
              <a:buChar char="•"/>
            </a:pPr>
            <a:r>
              <a:rPr lang="en-US" dirty="0" smtClean="0">
                <a:cs typeface="Arial" charset="0"/>
              </a:rPr>
              <a:t>Use persuasive statements</a:t>
            </a:r>
          </a:p>
          <a:p>
            <a:pPr marL="457200" indent="-457200">
              <a:buFontTx/>
              <a:buChar char="•"/>
            </a:pPr>
            <a:r>
              <a:rPr lang="en-US" dirty="0" smtClean="0">
                <a:cs typeface="Arial" charset="0"/>
              </a:rPr>
              <a:t>Watch for negative body language</a:t>
            </a:r>
          </a:p>
          <a:p>
            <a:pPr marL="457200" indent="-457200">
              <a:buFontTx/>
              <a:buChar char="•"/>
            </a:pPr>
            <a:r>
              <a:rPr lang="en-US" dirty="0" smtClean="0">
                <a:cs typeface="Arial" charset="0"/>
              </a:rPr>
              <a:t>Minimize emotions</a:t>
            </a:r>
          </a:p>
          <a:p>
            <a:pPr marL="457200" indent="-457200">
              <a:buFontTx/>
              <a:buChar char="•"/>
            </a:pPr>
            <a:r>
              <a:rPr lang="en-US" dirty="0" smtClean="0">
                <a:cs typeface="Arial" charset="0"/>
              </a:rPr>
              <a:t>Listen attentively</a:t>
            </a:r>
          </a:p>
          <a:p>
            <a:pPr marL="457200" indent="-457200">
              <a:buFontTx/>
              <a:buChar char="•"/>
            </a:pPr>
            <a:r>
              <a:rPr lang="en-US" dirty="0" smtClean="0">
                <a:cs typeface="Arial" charset="0"/>
              </a:rPr>
              <a:t>Follow up </a:t>
            </a:r>
          </a:p>
        </p:txBody>
      </p:sp>
    </p:spTree>
    <p:extLst>
      <p:ext uri="{BB962C8B-B14F-4D97-AF65-F5344CB8AC3E}">
        <p14:creationId xmlns:p14="http://schemas.microsoft.com/office/powerpoint/2010/main" xmlns="" val="124043658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Communication</a:t>
            </a:r>
            <a:endParaRPr lang="en-US" dirty="0"/>
          </a:p>
        </p:txBody>
      </p:sp>
      <p:sp>
        <p:nvSpPr>
          <p:cNvPr id="3" name="Content Placeholder 2"/>
          <p:cNvSpPr>
            <a:spLocks noGrp="1"/>
          </p:cNvSpPr>
          <p:nvPr>
            <p:ph idx="1"/>
          </p:nvPr>
        </p:nvSpPr>
        <p:spPr>
          <a:xfrm>
            <a:off x="762000" y="2133600"/>
            <a:ext cx="8229600" cy="4373563"/>
          </a:xfrm>
        </p:spPr>
        <p:txBody>
          <a:bodyPr>
            <a:normAutofit/>
          </a:bodyPr>
          <a:lstStyle/>
          <a:p>
            <a:r>
              <a:rPr lang="en-US" sz="3600" dirty="0" smtClean="0"/>
              <a:t> “You’re not living up to your potential.”</a:t>
            </a:r>
          </a:p>
          <a:p>
            <a:r>
              <a:rPr lang="en-US" sz="3600" dirty="0" smtClean="0"/>
              <a:t>“You make good use of your time.” </a:t>
            </a:r>
          </a:p>
          <a:p>
            <a:r>
              <a:rPr lang="en-US" sz="3600" dirty="0" smtClean="0"/>
              <a:t>“I feel sometimes your behavior is very immature.”</a:t>
            </a:r>
          </a:p>
        </p:txBody>
      </p:sp>
    </p:spTree>
    <p:extLst>
      <p:ext uri="{BB962C8B-B14F-4D97-AF65-F5344CB8AC3E}">
        <p14:creationId xmlns:p14="http://schemas.microsoft.com/office/powerpoint/2010/main" xmlns="" val="38482369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 #2</a:t>
            </a:r>
            <a:endParaRPr lang="en-US" dirty="0"/>
          </a:p>
        </p:txBody>
      </p:sp>
      <p:pic>
        <p:nvPicPr>
          <p:cNvPr id="4" name="Picture 12" descr="women meeting _1574R-2023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858654" y="1981200"/>
            <a:ext cx="3668713" cy="37607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5513880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Final thoughts</a:t>
            </a:r>
            <a:endParaRPr lang="en-US" dirty="0"/>
          </a:p>
        </p:txBody>
      </p:sp>
      <p:sp>
        <p:nvSpPr>
          <p:cNvPr id="3" name="Content Placeholder 2"/>
          <p:cNvSpPr>
            <a:spLocks noGrp="1"/>
          </p:cNvSpPr>
          <p:nvPr>
            <p:ph idx="1"/>
          </p:nvPr>
        </p:nvSpPr>
        <p:spPr/>
        <p:txBody>
          <a:bodyPr>
            <a:normAutofit fontScale="77500" lnSpcReduction="20000"/>
          </a:bodyPr>
          <a:lstStyle/>
          <a:p>
            <a:pPr marL="0" indent="0" algn="ctr">
              <a:buFontTx/>
              <a:buNone/>
            </a:pPr>
            <a:r>
              <a:rPr lang="en-US" sz="2800" dirty="0"/>
              <a:t>“</a:t>
            </a:r>
            <a:r>
              <a:rPr lang="en-US" sz="3600" dirty="0"/>
              <a:t>it’s unlikely everyone will enjoy it[performance review]. But if  you neglect it or write it off, it can be incredibly destructive, create perceptions of bias and politics, and lead to  [an atmosphere] of cynicism in the workplace. That corrodes the idea that there is any notion of performance that matters and is rewarded”</a:t>
            </a:r>
          </a:p>
          <a:p>
            <a:pPr marL="0" indent="0" algn="ctr">
              <a:buFontTx/>
              <a:buNone/>
            </a:pPr>
            <a:endParaRPr lang="en-US" sz="2800" dirty="0"/>
          </a:p>
          <a:p>
            <a:pPr marL="114300" indent="0">
              <a:buNone/>
            </a:pPr>
            <a:endParaRPr lang="en-US" dirty="0" smtClean="0"/>
          </a:p>
          <a:p>
            <a:pPr marL="114300" indent="0">
              <a:buNone/>
            </a:pPr>
            <a:endParaRPr lang="en-US" dirty="0"/>
          </a:p>
          <a:p>
            <a:pPr marL="114300" indent="0">
              <a:buNone/>
            </a:pPr>
            <a:r>
              <a:rPr lang="en-US" sz="1400" dirty="0"/>
              <a:t>John Paul McDuffie, Wharton Management Professor</a:t>
            </a:r>
          </a:p>
          <a:p>
            <a:pPr marL="114300" indent="0">
              <a:buNone/>
            </a:pPr>
            <a:endParaRPr lang="en-US" sz="1400" dirty="0"/>
          </a:p>
        </p:txBody>
      </p:sp>
    </p:spTree>
    <p:extLst>
      <p:ext uri="{BB962C8B-B14F-4D97-AF65-F5344CB8AC3E}">
        <p14:creationId xmlns:p14="http://schemas.microsoft.com/office/powerpoint/2010/main" xmlns="" val="24133815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othecar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Apothecary">
      <a:majorFont>
        <a:latin typeface="Book Antiqua"/>
        <a:ea typeface=""/>
        <a:cs typeface=""/>
        <a:font script="Jpan" typeface="HGS明朝B"/>
        <a:font script="Hang" typeface="HY견명조"/>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ＭＳ ゴシック"/>
        <a:font script="Hang" typeface="HY견명조"/>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pothecary">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solidFill>
          <a:schemeClr val="phClr">
            <a:tint val="93000"/>
            <a:satMod val="140000"/>
          </a:schemeClr>
        </a:solidFill>
        <a:blipFill rotWithShape="1">
          <a:blip xmlns:r="http://schemas.openxmlformats.org/officeDocument/2006/relationships" r:embed="rId1">
            <a:duotone>
              <a:schemeClr val="phClr">
                <a:tint val="70000"/>
                <a:satMod val="170000"/>
              </a:schemeClr>
              <a:schemeClr val="phClr">
                <a:shade val="70000"/>
                <a:satMod val="13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2" ma:contentTypeDescription="Create a new document." ma:contentTypeScope="" ma:versionID="b9b9115c0a7ba5ac1a4f71ca19fa2a6b">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ee5f6545d17dbae8f4c99dcf00b8be7"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0893B5F-DA1F-4B87-903A-8A9BF0ECC46B}"/>
</file>

<file path=customXml/itemProps2.xml><?xml version="1.0" encoding="utf-8"?>
<ds:datastoreItem xmlns:ds="http://schemas.openxmlformats.org/officeDocument/2006/customXml" ds:itemID="{9A622E70-9093-4CBF-94F1-0C6162179C99}"/>
</file>

<file path=customXml/itemProps3.xml><?xml version="1.0" encoding="utf-8"?>
<ds:datastoreItem xmlns:ds="http://schemas.openxmlformats.org/officeDocument/2006/customXml" ds:itemID="{4C8A97CD-C736-4ED5-8E8D-E6F65972D1C7}"/>
</file>

<file path=docProps/app.xml><?xml version="1.0" encoding="utf-8"?>
<Properties xmlns="http://schemas.openxmlformats.org/officeDocument/2006/extended-properties" xmlns:vt="http://schemas.openxmlformats.org/officeDocument/2006/docPropsVTypes">
  <Template/>
  <TotalTime>1645</TotalTime>
  <Words>2506</Words>
  <Application>Microsoft Office PowerPoint</Application>
  <PresentationFormat>On-screen Show (4:3)</PresentationFormat>
  <Paragraphs>197</Paragraphs>
  <Slides>24</Slides>
  <Notes>21</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Apothecary</vt:lpstr>
      <vt:lpstr>Performance Appraisals and other topics</vt:lpstr>
      <vt:lpstr>Session Objectives</vt:lpstr>
      <vt:lpstr>Slide 3</vt:lpstr>
      <vt:lpstr>Slide 4</vt:lpstr>
      <vt:lpstr>Let’s chat</vt:lpstr>
      <vt:lpstr>Plusses of Performance Reviews</vt:lpstr>
      <vt:lpstr>Exercise 1</vt:lpstr>
      <vt:lpstr>How do I grow at Partners?</vt:lpstr>
      <vt:lpstr>How do I grow at Partners?</vt:lpstr>
      <vt:lpstr>The Plateaued employee</vt:lpstr>
      <vt:lpstr>Loving your job</vt:lpstr>
      <vt:lpstr>three-part formula</vt:lpstr>
      <vt:lpstr>Slide 13</vt:lpstr>
      <vt:lpstr>What the experts say about $</vt:lpstr>
      <vt:lpstr>What the experts say about $</vt:lpstr>
      <vt:lpstr>What Partners says about $</vt:lpstr>
      <vt:lpstr>Slide 17</vt:lpstr>
      <vt:lpstr>Slide 18</vt:lpstr>
      <vt:lpstr>Communication</vt:lpstr>
      <vt:lpstr>The Sandwich Effect</vt:lpstr>
      <vt:lpstr>Preparing for Conversations</vt:lpstr>
      <vt:lpstr>Communication</vt:lpstr>
      <vt:lpstr>Exercise #2</vt:lpstr>
      <vt:lpstr>Final thoughts</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Performance Appraisals and other topics</dc:title>
  <dc:creator>Marilyn Brown</dc:creator>
  <cp:lastModifiedBy>Brown</cp:lastModifiedBy>
  <cp:revision>56</cp:revision>
  <cp:lastPrinted>2013-12-16T18:36:06Z</cp:lastPrinted>
  <dcterms:created xsi:type="dcterms:W3CDTF">2013-12-03T20:33:24Z</dcterms:created>
  <dcterms:modified xsi:type="dcterms:W3CDTF">2013-12-18T12:17:36Z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0x0101003206C8355D678A459F2EF8957171B231</vt:lpwstr>
  </property>
  <property fmtid="{D5CDD505-2E9C-101B-9397-08002B2CF9AE}" pid="3" name="Order">
    <vt:r8>537800</vt:r8>
  </property>
</Properties>
</file>