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6.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xml" ContentType="application/vnd.openxmlformats-officedocument.presentationml.slide+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commentAuthors.xml" ContentType="application/vnd.openxmlformats-officedocument.presentationml.commentAuthor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7" r:id="rId4"/>
    <p:sldId id="259" r:id="rId5"/>
    <p:sldId id="260" r:id="rId6"/>
    <p:sldId id="267" r:id="rId7"/>
    <p:sldId id="261" r:id="rId8"/>
    <p:sldId id="262" r:id="rId9"/>
    <p:sldId id="268" r:id="rId10"/>
    <p:sldId id="263" r:id="rId11"/>
    <p:sldId id="269" r:id="rId12"/>
    <p:sldId id="264" r:id="rId13"/>
    <p:sldId id="270" r:id="rId14"/>
    <p:sldId id="265" r:id="rId15"/>
    <p:sldId id="271" r:id="rId16"/>
    <p:sldId id="266" r:id="rId17"/>
    <p:sldId id="272" r:id="rId18"/>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ulldog" initials="B"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E9E8"/>
    <a:srgbClr val="E8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4" autoAdjust="0"/>
    <p:restoredTop sz="96970" autoAdjust="0"/>
  </p:normalViewPr>
  <p:slideViewPr>
    <p:cSldViewPr snapToGrid="0" showGuides="1">
      <p:cViewPr>
        <p:scale>
          <a:sx n="80" d="100"/>
          <a:sy n="80" d="100"/>
        </p:scale>
        <p:origin x="-2514" y="-888"/>
      </p:cViewPr>
      <p:guideLst>
        <p:guide orient="horz" pos="2732"/>
        <p:guide pos="200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3.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4631" y="5581440"/>
            <a:ext cx="8692357" cy="682560"/>
          </a:xfrm>
        </p:spPr>
        <p:txBody>
          <a:bodyPr>
            <a:normAutofit/>
          </a:bodyPr>
          <a:lstStyle>
            <a:lvl1pPr>
              <a:defRPr sz="3600" baseline="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14790"/>
          </a:xfrm>
        </p:spPr>
        <p:txBody>
          <a:bodyPr anchor="ctr">
            <a:normAutofit/>
          </a:bodyPr>
          <a:lstStyle>
            <a:lvl1pPr algn="ctr">
              <a:buNone/>
              <a:defRPr sz="1200" baseline="0">
                <a:latin typeface="News Gothic MT"/>
                <a:cs typeface="News Gothic MT"/>
              </a:defRPr>
            </a:lvl1pPr>
          </a:lstStyle>
          <a:p>
            <a:r>
              <a:rPr lang="en-US" dirty="0" smtClean="0"/>
              <a:t>Place </a:t>
            </a:r>
            <a:r>
              <a:rPr lang="en-US" dirty="0" err="1" smtClean="0"/>
              <a:t>Logo(s</a:t>
            </a:r>
            <a:r>
              <a:rPr lang="en-US" dirty="0" smtClean="0"/>
              <a:t>) Here</a:t>
            </a:r>
            <a:endParaRPr lang="en-US" dirty="0"/>
          </a:p>
        </p:txBody>
      </p:sp>
      <p:sp>
        <p:nvSpPr>
          <p:cNvPr id="10" name="Picture Placeholder 9"/>
          <p:cNvSpPr>
            <a:spLocks noGrp="1"/>
          </p:cNvSpPr>
          <p:nvPr>
            <p:ph type="pic" sz="quarter" idx="14"/>
          </p:nvPr>
        </p:nvSpPr>
        <p:spPr>
          <a:xfrm>
            <a:off x="225425" y="803274"/>
            <a:ext cx="8691563" cy="4683126"/>
          </a:xfrm>
        </p:spPr>
        <p:txBody>
          <a:bodyPr/>
          <a:lstStyle>
            <a:lvl1pPr>
              <a:buNone/>
              <a:defRPr baseline="0"/>
            </a:lvl1pPr>
          </a:lstStyle>
          <a:p>
            <a:r>
              <a:rPr lang="en-US" smtClean="0"/>
              <a:t>Click icon to add picture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py Left Image R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4349" y="864000"/>
            <a:ext cx="586263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a:t>
            </a:r>
            <a:r>
              <a:rPr lang="en-US" dirty="0" err="1" smtClean="0"/>
              <a:t>Logo(s</a:t>
            </a:r>
            <a:r>
              <a:rPr lang="en-US" dirty="0" smtClean="0"/>
              <a:t>)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Picture Placeholder 12"/>
          <p:cNvSpPr>
            <a:spLocks noGrp="1"/>
          </p:cNvSpPr>
          <p:nvPr>
            <p:ph type="pic" sz="quarter" idx="14" hasCustomPrompt="1"/>
          </p:nvPr>
        </p:nvSpPr>
        <p:spPr>
          <a:xfrm>
            <a:off x="3171825" y="1745280"/>
            <a:ext cx="5761038" cy="4544395"/>
          </a:xfrm>
        </p:spPr>
        <p:txBody>
          <a:bodyPr/>
          <a:lstStyle>
            <a:lvl1pPr>
              <a:buNone/>
              <a:defRPr baseline="0"/>
            </a:lvl1pPr>
          </a:lstStyle>
          <a:p>
            <a:r>
              <a:rPr lang="en-US" dirty="0" smtClean="0"/>
              <a:t>Place Image Here</a:t>
            </a:r>
            <a:endParaRPr lang="en-US" dirty="0"/>
          </a:p>
        </p:txBody>
      </p:sp>
      <p:sp>
        <p:nvSpPr>
          <p:cNvPr id="15" name="Text Placeholder 14"/>
          <p:cNvSpPr>
            <a:spLocks noGrp="1"/>
          </p:cNvSpPr>
          <p:nvPr>
            <p:ph type="body" sz="quarter" idx="15" hasCustomPrompt="1"/>
          </p:nvPr>
        </p:nvSpPr>
        <p:spPr>
          <a:xfrm>
            <a:off x="112315" y="1745280"/>
            <a:ext cx="294612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585854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a:t>
            </a:r>
            <a:r>
              <a:rPr lang="en-US" dirty="0" err="1" smtClean="0"/>
              <a:t>Logo(s</a:t>
            </a:r>
            <a:r>
              <a:rPr lang="en-US" dirty="0" smtClean="0"/>
              <a:t>)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8803814"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40" y="864000"/>
            <a:ext cx="5858548"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a:t>
            </a:r>
            <a:r>
              <a:rPr lang="en-US" dirty="0" err="1" smtClean="0"/>
              <a:t>Logo(s</a:t>
            </a:r>
            <a:r>
              <a:rPr lang="en-US" dirty="0" smtClean="0"/>
              <a:t>)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4354389"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6" name="Text Placeholder 14"/>
          <p:cNvSpPr>
            <a:spLocks noGrp="1"/>
          </p:cNvSpPr>
          <p:nvPr>
            <p:ph type="body" sz="quarter" idx="16" hasCustomPrompt="1"/>
          </p:nvPr>
        </p:nvSpPr>
        <p:spPr>
          <a:xfrm>
            <a:off x="4558626" y="1742160"/>
            <a:ext cx="4354389"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4350" y="864000"/>
            <a:ext cx="586263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a:t>
            </a:r>
            <a:r>
              <a:rPr lang="en-US" dirty="0" err="1" smtClean="0"/>
              <a:t>Logo(s</a:t>
            </a:r>
            <a:r>
              <a:rPr lang="en-US" dirty="0" smtClean="0"/>
              <a:t>)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7" name="Text Placeholder 14"/>
          <p:cNvSpPr>
            <a:spLocks noGrp="1"/>
          </p:cNvSpPr>
          <p:nvPr>
            <p:ph type="body" sz="quarter" idx="16" hasCustomPrompt="1"/>
          </p:nvPr>
        </p:nvSpPr>
        <p:spPr>
          <a:xfrm>
            <a:off x="3046685" y="1735138"/>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9" name="Text Placeholder 14"/>
          <p:cNvSpPr>
            <a:spLocks noGrp="1"/>
          </p:cNvSpPr>
          <p:nvPr>
            <p:ph type="body" sz="quarter" idx="17" hasCustomPrompt="1"/>
          </p:nvPr>
        </p:nvSpPr>
        <p:spPr>
          <a:xfrm>
            <a:off x="5981056" y="1735138"/>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lumn Photos Top">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4350" y="864000"/>
            <a:ext cx="586263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a:t>
            </a:r>
            <a:r>
              <a:rPr lang="en-US" dirty="0" err="1" smtClean="0"/>
              <a:t>Logo(s</a:t>
            </a:r>
            <a:r>
              <a:rPr lang="en-US" dirty="0" smtClean="0"/>
              <a:t>)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4344988"/>
            <a:ext cx="2928845" cy="1970851"/>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7" name="Text Placeholder 14"/>
          <p:cNvSpPr>
            <a:spLocks noGrp="1"/>
          </p:cNvSpPr>
          <p:nvPr>
            <p:ph type="body" sz="quarter" idx="16" hasCustomPrompt="1"/>
          </p:nvPr>
        </p:nvSpPr>
        <p:spPr>
          <a:xfrm>
            <a:off x="3046685" y="4344988"/>
            <a:ext cx="2928845" cy="196070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9" name="Text Placeholder 14"/>
          <p:cNvSpPr>
            <a:spLocks noGrp="1"/>
          </p:cNvSpPr>
          <p:nvPr>
            <p:ph type="body" sz="quarter" idx="17" hasCustomPrompt="1"/>
          </p:nvPr>
        </p:nvSpPr>
        <p:spPr>
          <a:xfrm>
            <a:off x="5981056" y="4344988"/>
            <a:ext cx="2928845" cy="196070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12" name="Picture Placeholder 11"/>
          <p:cNvSpPr>
            <a:spLocks noGrp="1"/>
          </p:cNvSpPr>
          <p:nvPr>
            <p:ph type="pic" sz="quarter" idx="18" hasCustomPrompt="1"/>
          </p:nvPr>
        </p:nvSpPr>
        <p:spPr>
          <a:xfrm>
            <a:off x="228600" y="1789113"/>
            <a:ext cx="2808288" cy="2444750"/>
          </a:xfrm>
        </p:spPr>
        <p:txBody>
          <a:bodyPr>
            <a:normAutofit/>
          </a:bodyPr>
          <a:lstStyle>
            <a:lvl1pPr>
              <a:buNone/>
              <a:defRPr sz="2000"/>
            </a:lvl1pPr>
          </a:lstStyle>
          <a:p>
            <a:r>
              <a:rPr lang="en-US" dirty="0" smtClean="0"/>
              <a:t>Place Image Here</a:t>
            </a:r>
            <a:endParaRPr lang="en-US" dirty="0"/>
          </a:p>
        </p:txBody>
      </p:sp>
      <p:sp>
        <p:nvSpPr>
          <p:cNvPr id="13" name="Picture Placeholder 11"/>
          <p:cNvSpPr>
            <a:spLocks noGrp="1"/>
          </p:cNvSpPr>
          <p:nvPr>
            <p:ph type="pic" sz="quarter" idx="19" hasCustomPrompt="1"/>
          </p:nvPr>
        </p:nvSpPr>
        <p:spPr>
          <a:xfrm>
            <a:off x="3175000" y="1779588"/>
            <a:ext cx="2808288" cy="2444750"/>
          </a:xfrm>
        </p:spPr>
        <p:txBody>
          <a:bodyPr>
            <a:normAutofit/>
          </a:bodyPr>
          <a:lstStyle>
            <a:lvl1pPr>
              <a:buNone/>
              <a:defRPr sz="2000"/>
            </a:lvl1pPr>
          </a:lstStyle>
          <a:p>
            <a:r>
              <a:rPr lang="en-US" dirty="0" smtClean="0"/>
              <a:t>Place Image Here</a:t>
            </a:r>
            <a:endParaRPr lang="en-US" dirty="0"/>
          </a:p>
        </p:txBody>
      </p:sp>
      <p:sp>
        <p:nvSpPr>
          <p:cNvPr id="14" name="Picture Placeholder 11"/>
          <p:cNvSpPr>
            <a:spLocks noGrp="1"/>
          </p:cNvSpPr>
          <p:nvPr>
            <p:ph type="pic" sz="quarter" idx="20" hasCustomPrompt="1"/>
          </p:nvPr>
        </p:nvSpPr>
        <p:spPr>
          <a:xfrm>
            <a:off x="6097341" y="1779588"/>
            <a:ext cx="2808288" cy="2444750"/>
          </a:xfrm>
        </p:spPr>
        <p:txBody>
          <a:bodyPr>
            <a:normAutofit/>
          </a:bodyPr>
          <a:lstStyle>
            <a:lvl1pPr>
              <a:buNone/>
              <a:defRPr sz="2000"/>
            </a:lvl1pPr>
          </a:lstStyle>
          <a:p>
            <a:r>
              <a:rPr lang="en-US" dirty="0" smtClean="0"/>
              <a:t>Place Image Here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 Photos Bottom">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4350" y="864000"/>
            <a:ext cx="586263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a:t>
            </a:r>
            <a:r>
              <a:rPr lang="en-US" dirty="0" err="1" smtClean="0"/>
              <a:t>Logo(s</a:t>
            </a:r>
            <a:r>
              <a:rPr lang="en-US" dirty="0" smtClean="0"/>
              <a:t>)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87778"/>
            <a:ext cx="2928845" cy="1970851"/>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7" name="Text Placeholder 14"/>
          <p:cNvSpPr>
            <a:spLocks noGrp="1"/>
          </p:cNvSpPr>
          <p:nvPr>
            <p:ph type="body" sz="quarter" idx="16" hasCustomPrompt="1"/>
          </p:nvPr>
        </p:nvSpPr>
        <p:spPr>
          <a:xfrm>
            <a:off x="3046685" y="1787778"/>
            <a:ext cx="2928845" cy="196070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9" name="Text Placeholder 14"/>
          <p:cNvSpPr>
            <a:spLocks noGrp="1"/>
          </p:cNvSpPr>
          <p:nvPr>
            <p:ph type="body" sz="quarter" idx="17" hasCustomPrompt="1"/>
          </p:nvPr>
        </p:nvSpPr>
        <p:spPr>
          <a:xfrm>
            <a:off x="5981056" y="1787778"/>
            <a:ext cx="2928845" cy="196070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12" name="Picture Placeholder 11"/>
          <p:cNvSpPr>
            <a:spLocks noGrp="1"/>
          </p:cNvSpPr>
          <p:nvPr>
            <p:ph type="pic" sz="quarter" idx="18" hasCustomPrompt="1"/>
          </p:nvPr>
        </p:nvSpPr>
        <p:spPr>
          <a:xfrm>
            <a:off x="228600" y="3828153"/>
            <a:ext cx="2808288" cy="2444750"/>
          </a:xfrm>
        </p:spPr>
        <p:txBody>
          <a:bodyPr>
            <a:normAutofit/>
          </a:bodyPr>
          <a:lstStyle>
            <a:lvl1pPr>
              <a:buNone/>
              <a:defRPr sz="2000"/>
            </a:lvl1pPr>
          </a:lstStyle>
          <a:p>
            <a:r>
              <a:rPr lang="en-US" dirty="0" smtClean="0"/>
              <a:t>Place Image Here</a:t>
            </a:r>
            <a:endParaRPr lang="en-US" dirty="0"/>
          </a:p>
        </p:txBody>
      </p:sp>
      <p:sp>
        <p:nvSpPr>
          <p:cNvPr id="13" name="Picture Placeholder 11"/>
          <p:cNvSpPr>
            <a:spLocks noGrp="1"/>
          </p:cNvSpPr>
          <p:nvPr>
            <p:ph type="pic" sz="quarter" idx="19" hasCustomPrompt="1"/>
          </p:nvPr>
        </p:nvSpPr>
        <p:spPr>
          <a:xfrm>
            <a:off x="3175000" y="3818628"/>
            <a:ext cx="2808288" cy="2444750"/>
          </a:xfrm>
        </p:spPr>
        <p:txBody>
          <a:bodyPr>
            <a:normAutofit/>
          </a:bodyPr>
          <a:lstStyle>
            <a:lvl1pPr>
              <a:buNone/>
              <a:defRPr sz="2000"/>
            </a:lvl1pPr>
          </a:lstStyle>
          <a:p>
            <a:r>
              <a:rPr lang="en-US" dirty="0" smtClean="0"/>
              <a:t>Place Image Here</a:t>
            </a:r>
            <a:endParaRPr lang="en-US" dirty="0"/>
          </a:p>
        </p:txBody>
      </p:sp>
      <p:sp>
        <p:nvSpPr>
          <p:cNvPr id="14" name="Picture Placeholder 11"/>
          <p:cNvSpPr>
            <a:spLocks noGrp="1"/>
          </p:cNvSpPr>
          <p:nvPr>
            <p:ph type="pic" sz="quarter" idx="20" hasCustomPrompt="1"/>
          </p:nvPr>
        </p:nvSpPr>
        <p:spPr>
          <a:xfrm>
            <a:off x="6097341" y="3818628"/>
            <a:ext cx="2808288" cy="2444750"/>
          </a:xfrm>
        </p:spPr>
        <p:txBody>
          <a:bodyPr>
            <a:normAutofit/>
          </a:bodyPr>
          <a:lstStyle>
            <a:lvl1pPr>
              <a:buNone/>
              <a:defRPr sz="2000"/>
            </a:lvl1pPr>
          </a:lstStyle>
          <a:p>
            <a:r>
              <a:rPr lang="en-US" dirty="0" smtClean="0"/>
              <a:t>Place Image Here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R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585854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a:t>
            </a:r>
            <a:r>
              <a:rPr lang="en-US" dirty="0" err="1" smtClean="0"/>
              <a:t>Logo(s</a:t>
            </a:r>
            <a:r>
              <a:rPr lang="en-US" dirty="0" smtClean="0"/>
              <a:t>)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14" name="Chart Placeholder 13"/>
          <p:cNvSpPr>
            <a:spLocks noGrp="1"/>
          </p:cNvSpPr>
          <p:nvPr>
            <p:ph type="chart" sz="quarter" idx="16" hasCustomPrompt="1"/>
          </p:nvPr>
        </p:nvSpPr>
        <p:spPr>
          <a:xfrm>
            <a:off x="3205314" y="1735138"/>
            <a:ext cx="5710086" cy="4579937"/>
          </a:xfrm>
        </p:spPr>
        <p:txBody>
          <a:bodyPr/>
          <a:lstStyle>
            <a:lvl1pPr>
              <a:buNone/>
              <a:defRPr baseline="0"/>
            </a:lvl1pPr>
          </a:lstStyle>
          <a:p>
            <a:r>
              <a:rPr lang="en-US" dirty="0" smtClean="0"/>
              <a:t>Place Chart Here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Lef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585854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a:t>
            </a:r>
            <a:r>
              <a:rPr lang="en-US" dirty="0" err="1" smtClean="0"/>
              <a:t>Logo(s</a:t>
            </a:r>
            <a:r>
              <a:rPr lang="en-US" dirty="0" smtClean="0"/>
              <a:t>)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5978644" y="1745280"/>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14" name="Chart Placeholder 13"/>
          <p:cNvSpPr>
            <a:spLocks noGrp="1"/>
          </p:cNvSpPr>
          <p:nvPr>
            <p:ph type="chart" sz="quarter" idx="16" hasCustomPrompt="1"/>
          </p:nvPr>
        </p:nvSpPr>
        <p:spPr>
          <a:xfrm>
            <a:off x="199307" y="1735138"/>
            <a:ext cx="5710086" cy="4579937"/>
          </a:xfrm>
        </p:spPr>
        <p:txBody>
          <a:bodyPr/>
          <a:lstStyle>
            <a:lvl1pPr>
              <a:buNone/>
              <a:defRPr baseline="0"/>
            </a:lvl1pPr>
          </a:lstStyle>
          <a:p>
            <a:r>
              <a:rPr lang="en-US" dirty="0" smtClean="0"/>
              <a:t>Place Chart Here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Left Copy R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585854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a:t>
            </a:r>
            <a:r>
              <a:rPr lang="en-US" dirty="0" err="1" smtClean="0"/>
              <a:t>Logo(s</a:t>
            </a:r>
            <a:r>
              <a:rPr lang="en-US" dirty="0" smtClean="0"/>
              <a:t>)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3055356" y="1745280"/>
            <a:ext cx="5869413"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9" name="Picture Placeholder 8"/>
          <p:cNvSpPr>
            <a:spLocks noGrp="1"/>
          </p:cNvSpPr>
          <p:nvPr>
            <p:ph type="pic" sz="quarter" idx="16" hasCustomPrompt="1"/>
          </p:nvPr>
        </p:nvSpPr>
        <p:spPr>
          <a:xfrm>
            <a:off x="219075" y="1036800"/>
            <a:ext cx="2835275" cy="5383050"/>
          </a:xfrm>
        </p:spPr>
        <p:txBody>
          <a:bodyPr/>
          <a:lstStyle>
            <a:lvl1pPr>
              <a:buNone/>
              <a:defRPr baseline="0"/>
            </a:lvl1pPr>
          </a:lstStyle>
          <a:p>
            <a:r>
              <a:rPr lang="en-US" dirty="0" smtClean="0"/>
              <a:t>Place Image Here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emed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4397587"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a:t>
            </a:r>
            <a:r>
              <a:rPr lang="en-US" dirty="0" err="1" smtClean="0"/>
              <a:t>Logo(s</a:t>
            </a:r>
            <a:r>
              <a:rPr lang="en-US" dirty="0" smtClean="0"/>
              <a:t>)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7335072"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7" name="Picture Placeholder 9"/>
          <p:cNvSpPr>
            <a:spLocks noGrp="1"/>
          </p:cNvSpPr>
          <p:nvPr>
            <p:ph type="pic" sz="quarter" idx="14"/>
          </p:nvPr>
        </p:nvSpPr>
        <p:spPr>
          <a:xfrm>
            <a:off x="7568342" y="1035050"/>
            <a:ext cx="1348646" cy="5358550"/>
          </a:xfrm>
        </p:spPr>
        <p:txBody>
          <a:bodyPr>
            <a:normAutofit/>
          </a:bodyPr>
          <a:lstStyle>
            <a:lvl1pPr>
              <a:buNone/>
              <a:defRPr sz="2400"/>
            </a:lvl1pPr>
          </a:lstStyle>
          <a:p>
            <a:r>
              <a:rPr lang="en-US" smtClean="0"/>
              <a:t>Click icon to add picture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3"/>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7013" y="1028160"/>
            <a:ext cx="8691562" cy="55296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Header 1</a:t>
            </a:r>
          </a:p>
          <a:p>
            <a:pPr lvl="1"/>
            <a:r>
              <a:rPr lang="en-US" dirty="0" smtClean="0"/>
              <a:t>Header 2</a:t>
            </a:r>
          </a:p>
          <a:p>
            <a:pPr lvl="2"/>
            <a:r>
              <a:rPr lang="en-US" dirty="0" smtClean="0"/>
              <a:t>Header 3</a:t>
            </a:r>
          </a:p>
          <a:p>
            <a:pPr lvl="3"/>
            <a:r>
              <a:rPr lang="en-US" dirty="0" smtClean="0"/>
              <a:t>Body Bold</a:t>
            </a:r>
          </a:p>
          <a:p>
            <a:pPr lvl="4"/>
            <a:r>
              <a:rPr lang="en-US" dirty="0" smtClean="0"/>
              <a:t>Body Text</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DAA0BE-CF44-9147-AA0D-6E22E446DBA0}" type="datetimeFigureOut">
              <a:rPr lang="en-US" smtClean="0"/>
              <a:t>11/12/2013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64F107-A8E3-8A4C-AC75-25FC69E35D1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58" r:id="rId4"/>
    <p:sldLayoutId id="2147483659" r:id="rId5"/>
    <p:sldLayoutId id="2147483664" r:id="rId6"/>
    <p:sldLayoutId id="2147483665" r:id="rId7"/>
    <p:sldLayoutId id="2147483660" r:id="rId8"/>
    <p:sldLayoutId id="2147483662" r:id="rId9"/>
    <p:sldLayoutId id="2147483661" r:id="rId10"/>
    <p:sldLayoutId id="2147483663" r:id="rId11"/>
  </p:sldLayoutIdLst>
  <p:txStyles>
    <p:titleStyle>
      <a:lvl1pPr algn="ctr" defTabSz="457200" rtl="0" eaLnBrk="1" latinLnBrk="0" hangingPunct="1">
        <a:spcBef>
          <a:spcPct val="0"/>
        </a:spcBef>
        <a:buNone/>
        <a:defRPr sz="3600" kern="1200">
          <a:solidFill>
            <a:schemeClr val="tx2"/>
          </a:solidFill>
          <a:latin typeface="Memphis"/>
          <a:ea typeface="+mj-ea"/>
          <a:cs typeface="Memphis"/>
        </a:defRPr>
      </a:lvl1pPr>
    </p:titleStyle>
    <p:bodyStyle>
      <a:lvl1pPr marL="342900" indent="-342900" algn="l" defTabSz="457200" rtl="0" eaLnBrk="1" latinLnBrk="0" hangingPunct="1">
        <a:spcBef>
          <a:spcPct val="20000"/>
        </a:spcBef>
        <a:buFont typeface="Arial"/>
        <a:buChar char="•"/>
        <a:defRPr sz="3200" kern="1200">
          <a:solidFill>
            <a:schemeClr val="accent1"/>
          </a:solidFill>
          <a:latin typeface="Memphis"/>
          <a:ea typeface="+mn-ea"/>
          <a:cs typeface="Memphis"/>
        </a:defRPr>
      </a:lvl1pPr>
      <a:lvl2pPr marL="742950" indent="-285750" algn="l" defTabSz="457200" rtl="0" eaLnBrk="1" latinLnBrk="0" hangingPunct="1">
        <a:spcBef>
          <a:spcPct val="20000"/>
        </a:spcBef>
        <a:buFont typeface="Arial"/>
        <a:buChar char="–"/>
        <a:defRPr sz="2400" kern="1200">
          <a:solidFill>
            <a:schemeClr val="accent4"/>
          </a:solidFill>
          <a:latin typeface="Memphis"/>
          <a:ea typeface="+mn-ea"/>
          <a:cs typeface="Memphis"/>
        </a:defRPr>
      </a:lvl2pPr>
      <a:lvl3pPr marL="1143000" indent="-228600" algn="l" defTabSz="457200" rtl="0" eaLnBrk="1" latinLnBrk="0" hangingPunct="1">
        <a:spcBef>
          <a:spcPct val="20000"/>
        </a:spcBef>
        <a:buFont typeface="Arial"/>
        <a:buChar char="•"/>
        <a:defRPr sz="1800" b="1" i="0" kern="1200" baseline="0">
          <a:solidFill>
            <a:schemeClr val="accent3"/>
          </a:solidFill>
          <a:latin typeface="News Gothic MT"/>
          <a:ea typeface="+mn-ea"/>
          <a:cs typeface="News Gothic MT"/>
        </a:defRPr>
      </a:lvl3pPr>
      <a:lvl4pPr marL="1600200" indent="-228600" algn="l" defTabSz="457200" rtl="0" eaLnBrk="1" latinLnBrk="0" hangingPunct="1">
        <a:spcBef>
          <a:spcPct val="20000"/>
        </a:spcBef>
        <a:buFont typeface="Arial"/>
        <a:buChar char="–"/>
        <a:defRPr sz="1200" b="1" i="0" kern="1200">
          <a:solidFill>
            <a:schemeClr val="tx1"/>
          </a:solidFill>
          <a:latin typeface="News Gothic MT"/>
          <a:ea typeface="+mn-ea"/>
          <a:cs typeface="News Gothic MT"/>
        </a:defRPr>
      </a:lvl4pPr>
      <a:lvl5pPr marL="2057400" indent="-228600" algn="l" defTabSz="457200" rtl="0" eaLnBrk="1" latinLnBrk="0" hangingPunct="1">
        <a:spcBef>
          <a:spcPct val="20000"/>
        </a:spcBef>
        <a:buFont typeface="Arial"/>
        <a:buChar char="»"/>
        <a:defRPr sz="1200" kern="1200">
          <a:solidFill>
            <a:schemeClr val="tx1"/>
          </a:solidFill>
          <a:latin typeface="News Gothic MT"/>
          <a:ea typeface="+mn-ea"/>
          <a:cs typeface="News Gothic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098" y="1043307"/>
            <a:ext cx="8692357" cy="682560"/>
          </a:xfrm>
        </p:spPr>
        <p:txBody>
          <a:bodyPr/>
          <a:lstStyle/>
          <a:p>
            <a:r>
              <a:rPr lang="en-US" dirty="0" smtClean="0"/>
              <a:t>2014 Performance Review Calendar</a:t>
            </a:r>
            <a:endParaRPr lang="en-US" dirty="0"/>
          </a:p>
        </p:txBody>
      </p:sp>
      <p:graphicFrame>
        <p:nvGraphicFramePr>
          <p:cNvPr id="6" name="Picture Placeholder 5"/>
          <p:cNvGraphicFramePr>
            <a:graphicFrameLocks noGrp="1"/>
          </p:cNvGraphicFramePr>
          <p:nvPr>
            <p:ph type="pic" sz="quarter" idx="14"/>
            <p:extLst>
              <p:ext uri="{D42A27DB-BD31-4B8C-83A1-F6EECF244321}">
                <p14:modId xmlns:p14="http://schemas.microsoft.com/office/powerpoint/2010/main" val="2478293459"/>
              </p:ext>
            </p:extLst>
          </p:nvPr>
        </p:nvGraphicFramePr>
        <p:xfrm>
          <a:off x="225425" y="1752599"/>
          <a:ext cx="8706910" cy="4784973"/>
        </p:xfrm>
        <a:graphic>
          <a:graphicData uri="http://schemas.openxmlformats.org/drawingml/2006/table">
            <a:tbl>
              <a:tblPr>
                <a:tableStyleId>{5C22544A-7EE6-4342-B048-85BDC9FD1C3A}</a:tableStyleId>
              </a:tblPr>
              <a:tblGrid>
                <a:gridCol w="1741382"/>
                <a:gridCol w="1741382"/>
                <a:gridCol w="1741382"/>
                <a:gridCol w="1741382"/>
                <a:gridCol w="1741382"/>
              </a:tblGrid>
              <a:tr h="212301">
                <a:tc>
                  <a:txBody>
                    <a:bodyPr/>
                    <a:lstStyle/>
                    <a:p>
                      <a:pPr marL="0" marR="0" algn="ctr">
                        <a:lnSpc>
                          <a:spcPct val="115000"/>
                        </a:lnSpc>
                        <a:spcBef>
                          <a:spcPts val="0"/>
                        </a:spcBef>
                        <a:spcAft>
                          <a:spcPts val="0"/>
                        </a:spcAft>
                      </a:pPr>
                      <a:r>
                        <a:rPr lang="en-US" sz="900" spc="5" dirty="0">
                          <a:effectLst/>
                        </a:rPr>
                        <a:t>Monday</a:t>
                      </a:r>
                      <a:endParaRPr lang="en-US" sz="800" b="1" spc="5" dirty="0">
                        <a:effectLst/>
                        <a:latin typeface="Franklin Gothic Book"/>
                        <a:ea typeface="Times New Roman"/>
                        <a:cs typeface="Times New Roman"/>
                      </a:endParaRPr>
                    </a:p>
                  </a:txBody>
                  <a:tcPr marL="73025" marR="73025" marT="0" marB="36830" anchor="ctr"/>
                </a:tc>
                <a:tc>
                  <a:txBody>
                    <a:bodyPr/>
                    <a:lstStyle/>
                    <a:p>
                      <a:pPr marL="0" marR="0" algn="ctr">
                        <a:lnSpc>
                          <a:spcPct val="115000"/>
                        </a:lnSpc>
                        <a:spcBef>
                          <a:spcPts val="0"/>
                        </a:spcBef>
                        <a:spcAft>
                          <a:spcPts val="0"/>
                        </a:spcAft>
                      </a:pPr>
                      <a:r>
                        <a:rPr lang="en-US" sz="900" spc="5">
                          <a:effectLst/>
                        </a:rPr>
                        <a:t>Tuesday</a:t>
                      </a:r>
                      <a:endParaRPr lang="en-US" sz="800" b="1" spc="5">
                        <a:effectLst/>
                        <a:latin typeface="Franklin Gothic Book"/>
                        <a:ea typeface="Times New Roman"/>
                        <a:cs typeface="Times New Roman"/>
                      </a:endParaRPr>
                    </a:p>
                  </a:txBody>
                  <a:tcPr marL="73025" marR="73025" marT="0" marB="36830" anchor="ctr"/>
                </a:tc>
                <a:tc>
                  <a:txBody>
                    <a:bodyPr/>
                    <a:lstStyle/>
                    <a:p>
                      <a:pPr marL="0" marR="0" algn="ctr">
                        <a:lnSpc>
                          <a:spcPct val="115000"/>
                        </a:lnSpc>
                        <a:spcBef>
                          <a:spcPts val="0"/>
                        </a:spcBef>
                        <a:spcAft>
                          <a:spcPts val="0"/>
                        </a:spcAft>
                      </a:pPr>
                      <a:r>
                        <a:rPr lang="en-US" sz="900" spc="5">
                          <a:effectLst/>
                        </a:rPr>
                        <a:t>Wednesday</a:t>
                      </a:r>
                      <a:endParaRPr lang="en-US" sz="800" b="1" spc="5">
                        <a:effectLst/>
                        <a:latin typeface="Franklin Gothic Book"/>
                        <a:ea typeface="Times New Roman"/>
                        <a:cs typeface="Times New Roman"/>
                      </a:endParaRPr>
                    </a:p>
                  </a:txBody>
                  <a:tcPr marL="73025" marR="73025" marT="0" marB="36830" anchor="ctr"/>
                </a:tc>
                <a:tc>
                  <a:txBody>
                    <a:bodyPr/>
                    <a:lstStyle/>
                    <a:p>
                      <a:pPr marL="0" marR="0" algn="ctr">
                        <a:lnSpc>
                          <a:spcPct val="115000"/>
                        </a:lnSpc>
                        <a:spcBef>
                          <a:spcPts val="0"/>
                        </a:spcBef>
                        <a:spcAft>
                          <a:spcPts val="0"/>
                        </a:spcAft>
                      </a:pPr>
                      <a:r>
                        <a:rPr lang="en-US" sz="900" spc="5">
                          <a:effectLst/>
                        </a:rPr>
                        <a:t>Thursday</a:t>
                      </a:r>
                      <a:endParaRPr lang="en-US" sz="800" b="1" spc="5">
                        <a:effectLst/>
                        <a:latin typeface="Franklin Gothic Book"/>
                        <a:ea typeface="Times New Roman"/>
                        <a:cs typeface="Times New Roman"/>
                      </a:endParaRPr>
                    </a:p>
                  </a:txBody>
                  <a:tcPr marL="73025" marR="73025" marT="0" marB="36830" anchor="ctr"/>
                </a:tc>
                <a:tc>
                  <a:txBody>
                    <a:bodyPr/>
                    <a:lstStyle/>
                    <a:p>
                      <a:pPr marL="0" marR="0" algn="ctr">
                        <a:lnSpc>
                          <a:spcPct val="115000"/>
                        </a:lnSpc>
                        <a:spcBef>
                          <a:spcPts val="0"/>
                        </a:spcBef>
                        <a:spcAft>
                          <a:spcPts val="0"/>
                        </a:spcAft>
                      </a:pPr>
                      <a:r>
                        <a:rPr lang="en-US" sz="900" spc="5">
                          <a:effectLst/>
                        </a:rPr>
                        <a:t>Friday</a:t>
                      </a:r>
                      <a:endParaRPr lang="en-US" sz="800" b="1" spc="5">
                        <a:effectLst/>
                        <a:latin typeface="Franklin Gothic Book"/>
                        <a:ea typeface="Times New Roman"/>
                        <a:cs typeface="Times New Roman"/>
                      </a:endParaRPr>
                    </a:p>
                  </a:txBody>
                  <a:tcPr marL="73025" marR="73025" marT="0" marB="36830" anchor="ctr"/>
                </a:tc>
              </a:tr>
              <a:tr h="883552">
                <a:tc>
                  <a:txBody>
                    <a:bodyPr/>
                    <a:lstStyle/>
                    <a:p>
                      <a:pPr marL="0" marR="0">
                        <a:lnSpc>
                          <a:spcPct val="115000"/>
                        </a:lnSpc>
                        <a:spcBef>
                          <a:spcPts val="0"/>
                        </a:spcBef>
                        <a:spcAft>
                          <a:spcPts val="0"/>
                        </a:spcAft>
                      </a:pPr>
                      <a:r>
                        <a:rPr lang="en-US" sz="1000" b="1" dirty="0">
                          <a:effectLst/>
                        </a:rPr>
                        <a:t> </a:t>
                      </a:r>
                      <a:r>
                        <a:rPr lang="en-US" sz="1000" b="1" dirty="0" smtClean="0">
                          <a:effectLst/>
                        </a:rPr>
                        <a:t>30</a:t>
                      </a:r>
                    </a:p>
                    <a:p>
                      <a:pPr marL="0" marR="0">
                        <a:lnSpc>
                          <a:spcPct val="115000"/>
                        </a:lnSpc>
                        <a:spcBef>
                          <a:spcPts val="0"/>
                        </a:spcBef>
                        <a:spcAft>
                          <a:spcPts val="0"/>
                        </a:spcAft>
                      </a:pPr>
                      <a:r>
                        <a:rPr lang="en-US" sz="900" b="1" dirty="0" smtClean="0">
                          <a:effectLst/>
                        </a:rPr>
                        <a:t>Supervisors reach out to employees and staff for self- and 360 evaluations.</a:t>
                      </a:r>
                      <a:endParaRPr lang="en-US" sz="900" b="1" dirty="0" smtClean="0">
                        <a:effectLst/>
                        <a:latin typeface="+mn-lt"/>
                        <a:ea typeface="Times New Roman"/>
                        <a:cs typeface="Arial"/>
                      </a:endParaRPr>
                    </a:p>
                    <a:p>
                      <a:pPr marL="0" marR="0">
                        <a:lnSpc>
                          <a:spcPct val="115000"/>
                        </a:lnSpc>
                        <a:spcBef>
                          <a:spcPts val="0"/>
                        </a:spcBef>
                        <a:spcAft>
                          <a:spcPts val="0"/>
                        </a:spcAft>
                      </a:pPr>
                      <a:endParaRPr lang="en-US" sz="900" dirty="0">
                        <a:effectLst/>
                        <a:latin typeface="Calibri"/>
                        <a:ea typeface="Times New Roman"/>
                        <a:cs typeface="Arial"/>
                      </a:endParaRPr>
                    </a:p>
                  </a:txBody>
                  <a:tcPr marL="73025" marR="73025" marT="73025" marB="73025">
                    <a:solidFill>
                      <a:schemeClr val="accent3"/>
                    </a:solidFill>
                  </a:tcPr>
                </a:tc>
                <a:tc>
                  <a:txBody>
                    <a:bodyPr/>
                    <a:lstStyle/>
                    <a:p>
                      <a:pPr marL="0" marR="0" algn="l">
                        <a:lnSpc>
                          <a:spcPct val="115000"/>
                        </a:lnSpc>
                        <a:spcBef>
                          <a:spcPts val="0"/>
                        </a:spcBef>
                        <a:spcAft>
                          <a:spcPts val="0"/>
                        </a:spcAft>
                      </a:pPr>
                      <a:r>
                        <a:rPr lang="en-US" sz="1000" b="1" dirty="0" smtClean="0">
                          <a:effectLst/>
                        </a:rPr>
                        <a:t>31</a:t>
                      </a:r>
                      <a:endParaRPr lang="en-US" sz="1000" b="1" dirty="0">
                        <a:effectLst/>
                      </a:endParaRPr>
                    </a:p>
                    <a:p>
                      <a:pPr marL="0" marR="0" algn="ctr">
                        <a:lnSpc>
                          <a:spcPct val="115000"/>
                        </a:lnSpc>
                        <a:spcBef>
                          <a:spcPts val="0"/>
                        </a:spcBef>
                        <a:spcAft>
                          <a:spcPts val="0"/>
                        </a:spcAft>
                      </a:pPr>
                      <a:endParaRPr lang="en-US" sz="1000" dirty="0" smtClean="0">
                        <a:effectLst/>
                      </a:endParaRPr>
                    </a:p>
                    <a:p>
                      <a:pPr marL="0" marR="0" algn="ctr">
                        <a:lnSpc>
                          <a:spcPct val="115000"/>
                        </a:lnSpc>
                        <a:spcBef>
                          <a:spcPts val="0"/>
                        </a:spcBef>
                        <a:spcAft>
                          <a:spcPts val="0"/>
                        </a:spcAft>
                      </a:pPr>
                      <a:r>
                        <a:rPr lang="en-US" sz="1000" dirty="0">
                          <a:effectLst/>
                        </a:rPr>
                        <a:t> </a:t>
                      </a:r>
                      <a:r>
                        <a:rPr lang="en-US" sz="1000" dirty="0" smtClean="0">
                          <a:effectLst/>
                        </a:rPr>
                        <a:t>NEW YEAR’S EVE</a:t>
                      </a:r>
                      <a:endParaRPr lang="en-US" sz="1000" dirty="0" smtClean="0">
                        <a:effectLst/>
                        <a:latin typeface="+mn-lt"/>
                        <a:ea typeface="Times New Roman"/>
                        <a:cs typeface="Arial"/>
                      </a:endParaRPr>
                    </a:p>
                    <a:p>
                      <a:pPr marL="0" marR="0" algn="ctr">
                        <a:lnSpc>
                          <a:spcPct val="115000"/>
                        </a:lnSpc>
                        <a:spcBef>
                          <a:spcPts val="0"/>
                        </a:spcBef>
                        <a:spcAft>
                          <a:spcPts val="0"/>
                        </a:spcAft>
                      </a:pPr>
                      <a:endParaRPr lang="en-US" sz="1000" dirty="0">
                        <a:effectLst/>
                      </a:endParaRPr>
                    </a:p>
                  </a:txBody>
                  <a:tcPr marL="73025" marR="73025" marT="73025" marB="73025">
                    <a:solidFill>
                      <a:schemeClr val="bg1">
                        <a:lumMod val="95000"/>
                      </a:schemeClr>
                    </a:solidFill>
                  </a:tcPr>
                </a:tc>
                <a:tc>
                  <a:txBody>
                    <a:bodyPr/>
                    <a:lstStyle/>
                    <a:p>
                      <a:pPr marL="0" marR="0" indent="0" algn="l" defTabSz="457200" rtl="0" eaLnBrk="1" fontAlgn="auto" latinLnBrk="0" hangingPunct="1">
                        <a:lnSpc>
                          <a:spcPct val="115000"/>
                        </a:lnSpc>
                        <a:spcBef>
                          <a:spcPts val="0"/>
                        </a:spcBef>
                        <a:spcAft>
                          <a:spcPts val="0"/>
                        </a:spcAft>
                        <a:buClrTx/>
                        <a:buSzTx/>
                        <a:buFontTx/>
                        <a:buNone/>
                        <a:tabLst/>
                        <a:defRPr/>
                      </a:pPr>
                      <a:r>
                        <a:rPr lang="en-US" sz="1000" b="1" dirty="0" smtClean="0">
                          <a:effectLst/>
                        </a:rPr>
                        <a:t>1</a:t>
                      </a:r>
                    </a:p>
                    <a:p>
                      <a:pPr marL="0" marR="0" indent="0" algn="ctr" defTabSz="457200" rtl="0" eaLnBrk="1" fontAlgn="auto" latinLnBrk="0" hangingPunct="1">
                        <a:lnSpc>
                          <a:spcPct val="115000"/>
                        </a:lnSpc>
                        <a:spcBef>
                          <a:spcPts val="0"/>
                        </a:spcBef>
                        <a:spcAft>
                          <a:spcPts val="0"/>
                        </a:spcAft>
                        <a:buClrTx/>
                        <a:buSzTx/>
                        <a:buFontTx/>
                        <a:buNone/>
                        <a:tabLst/>
                        <a:defRPr/>
                      </a:pPr>
                      <a:endParaRPr lang="en-US" sz="1000" dirty="0" smtClean="0">
                        <a:effectLst/>
                      </a:endParaRPr>
                    </a:p>
                    <a:p>
                      <a:pPr marL="0" marR="0" indent="0" algn="ctr" defTabSz="457200" rtl="0" eaLnBrk="1" fontAlgn="auto" latinLnBrk="0" hangingPunct="1">
                        <a:lnSpc>
                          <a:spcPct val="115000"/>
                        </a:lnSpc>
                        <a:spcBef>
                          <a:spcPts val="0"/>
                        </a:spcBef>
                        <a:spcAft>
                          <a:spcPts val="0"/>
                        </a:spcAft>
                        <a:buClrTx/>
                        <a:buSzTx/>
                        <a:buFontTx/>
                        <a:buNone/>
                        <a:tabLst/>
                        <a:defRPr/>
                      </a:pPr>
                      <a:r>
                        <a:rPr lang="en-US" sz="1000" dirty="0" smtClean="0">
                          <a:effectLst/>
                        </a:rPr>
                        <a:t>NEW YEAR’S DAY</a:t>
                      </a:r>
                      <a:endParaRPr lang="en-US" sz="1000" dirty="0" smtClean="0">
                        <a:effectLst/>
                        <a:latin typeface="+mn-lt"/>
                        <a:ea typeface="Times New Roman"/>
                        <a:cs typeface="Arial"/>
                      </a:endParaRPr>
                    </a:p>
                    <a:p>
                      <a:pPr marL="0" marR="0" algn="ctr">
                        <a:lnSpc>
                          <a:spcPct val="115000"/>
                        </a:lnSpc>
                        <a:spcBef>
                          <a:spcPts val="0"/>
                        </a:spcBef>
                        <a:spcAft>
                          <a:spcPts val="0"/>
                        </a:spcAft>
                      </a:pPr>
                      <a:endParaRPr lang="en-US" sz="1000" dirty="0">
                        <a:effectLst/>
                        <a:latin typeface="Calibri"/>
                        <a:ea typeface="Times New Roman"/>
                        <a:cs typeface="Arial"/>
                      </a:endParaRPr>
                    </a:p>
                  </a:txBody>
                  <a:tcPr marL="73025" marR="73025" marT="73025" marB="73025">
                    <a:solidFill>
                      <a:schemeClr val="bg2">
                        <a:lumMod val="95000"/>
                      </a:schemeClr>
                    </a:solidFill>
                  </a:tcPr>
                </a:tc>
                <a:tc>
                  <a:txBody>
                    <a:bodyPr/>
                    <a:lstStyle/>
                    <a:p>
                      <a:pPr marL="0" marR="0">
                        <a:lnSpc>
                          <a:spcPct val="115000"/>
                        </a:lnSpc>
                        <a:spcBef>
                          <a:spcPts val="0"/>
                        </a:spcBef>
                        <a:spcAft>
                          <a:spcPts val="0"/>
                        </a:spcAft>
                      </a:pPr>
                      <a:r>
                        <a:rPr lang="en-US" sz="1000" dirty="0" smtClean="0">
                          <a:effectLst/>
                          <a:latin typeface="Calibri"/>
                          <a:ea typeface="Times New Roman"/>
                          <a:cs typeface="Arial"/>
                        </a:rPr>
                        <a:t>2</a:t>
                      </a:r>
                      <a:endParaRPr lang="en-US" sz="1000" dirty="0">
                        <a:effectLst/>
                        <a:latin typeface="Calibri"/>
                        <a:ea typeface="Times New Roman"/>
                        <a:cs typeface="Arial"/>
                      </a:endParaRPr>
                    </a:p>
                  </a:txBody>
                  <a:tcPr marL="73025" marR="73025" marT="73025" marB="73025">
                    <a:solidFill>
                      <a:srgbClr val="FAE9E8"/>
                    </a:solidFill>
                  </a:tcPr>
                </a:tc>
                <a:tc>
                  <a:txBody>
                    <a:bodyPr/>
                    <a:lstStyle/>
                    <a:p>
                      <a:pPr marL="0" marR="0">
                        <a:lnSpc>
                          <a:spcPct val="115000"/>
                        </a:lnSpc>
                        <a:spcBef>
                          <a:spcPts val="0"/>
                        </a:spcBef>
                        <a:spcAft>
                          <a:spcPts val="0"/>
                        </a:spcAft>
                      </a:pPr>
                      <a:r>
                        <a:rPr lang="en-US" sz="1000" b="1" dirty="0" smtClean="0">
                          <a:effectLst/>
                          <a:latin typeface="Calibri"/>
                          <a:ea typeface="Times New Roman"/>
                          <a:cs typeface="Arial"/>
                        </a:rPr>
                        <a:t>3</a:t>
                      </a:r>
                      <a:endParaRPr lang="en-US" sz="1000" b="1" dirty="0">
                        <a:effectLst/>
                        <a:latin typeface="Calibri"/>
                        <a:ea typeface="Times New Roman"/>
                        <a:cs typeface="Arial"/>
                      </a:endParaRPr>
                    </a:p>
                  </a:txBody>
                  <a:tcPr marL="73025" marR="73025" marT="73025" marB="73025">
                    <a:solidFill>
                      <a:srgbClr val="FAE9E8"/>
                    </a:solidFill>
                  </a:tcPr>
                </a:tc>
              </a:tr>
              <a:tr h="883552">
                <a:tc>
                  <a:txBody>
                    <a:bodyPr/>
                    <a:lstStyle/>
                    <a:p>
                      <a:pPr marL="0" marR="0">
                        <a:lnSpc>
                          <a:spcPct val="115000"/>
                        </a:lnSpc>
                        <a:spcBef>
                          <a:spcPts val="0"/>
                        </a:spcBef>
                        <a:spcAft>
                          <a:spcPts val="0"/>
                        </a:spcAft>
                      </a:pPr>
                      <a:r>
                        <a:rPr lang="en-US" sz="1000" dirty="0" smtClean="0">
                          <a:effectLst/>
                          <a:latin typeface="Calibri"/>
                          <a:ea typeface="Times New Roman"/>
                          <a:cs typeface="Arial"/>
                        </a:rPr>
                        <a:t>6</a:t>
                      </a:r>
                      <a:endParaRPr lang="en-US" sz="1000" dirty="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1000" dirty="0" smtClean="0">
                          <a:effectLst/>
                          <a:latin typeface="Calibri"/>
                          <a:ea typeface="Times New Roman"/>
                          <a:cs typeface="Arial"/>
                        </a:rPr>
                        <a:t>7</a:t>
                      </a:r>
                      <a:endParaRPr lang="en-US" sz="1000" dirty="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1000" dirty="0" smtClean="0">
                          <a:effectLst/>
                          <a:latin typeface="Calibri"/>
                          <a:ea typeface="Times New Roman"/>
                          <a:cs typeface="Arial"/>
                        </a:rPr>
                        <a:t>8</a:t>
                      </a:r>
                      <a:endParaRPr lang="en-US" sz="1000" dirty="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1000" dirty="0" smtClean="0">
                          <a:effectLst/>
                          <a:latin typeface="Calibri"/>
                          <a:ea typeface="Times New Roman"/>
                          <a:cs typeface="Arial"/>
                        </a:rPr>
                        <a:t>9</a:t>
                      </a:r>
                      <a:endParaRPr lang="en-US" sz="1000" dirty="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1000" b="1" dirty="0" smtClean="0">
                          <a:effectLst/>
                        </a:rPr>
                        <a:t> 10</a:t>
                      </a:r>
                      <a:endParaRPr lang="en-US" sz="1000" b="1" dirty="0">
                        <a:effectLst/>
                      </a:endParaRPr>
                    </a:p>
                    <a:p>
                      <a:pPr marL="0" marR="0">
                        <a:lnSpc>
                          <a:spcPct val="115000"/>
                        </a:lnSpc>
                        <a:spcBef>
                          <a:spcPts val="0"/>
                        </a:spcBef>
                        <a:spcAft>
                          <a:spcPts val="0"/>
                        </a:spcAft>
                      </a:pPr>
                      <a:r>
                        <a:rPr lang="en-US" sz="900" b="1" dirty="0">
                          <a:effectLst/>
                        </a:rPr>
                        <a:t>Employee self-evaluation and staff 360</a:t>
                      </a:r>
                      <a:r>
                        <a:rPr lang="en-US" sz="900" b="1" baseline="30000" dirty="0">
                          <a:effectLst/>
                        </a:rPr>
                        <a:t>o</a:t>
                      </a:r>
                      <a:r>
                        <a:rPr lang="en-US" sz="900" b="1" dirty="0">
                          <a:effectLst/>
                        </a:rPr>
                        <a:t> evaluations due to supervisors.</a:t>
                      </a:r>
                      <a:endParaRPr lang="en-US" sz="900" b="1" dirty="0">
                        <a:effectLst/>
                        <a:latin typeface="Calibri"/>
                        <a:ea typeface="Times New Roman"/>
                        <a:cs typeface="Arial"/>
                      </a:endParaRPr>
                    </a:p>
                  </a:txBody>
                  <a:tcPr marL="73025" marR="73025" marT="73025" marB="73025">
                    <a:solidFill>
                      <a:schemeClr val="accent3"/>
                    </a:solidFill>
                  </a:tcPr>
                </a:tc>
              </a:tr>
              <a:tr h="1065085">
                <a:tc>
                  <a:txBody>
                    <a:bodyPr/>
                    <a:lstStyle/>
                    <a:p>
                      <a:pPr marL="0" marR="0">
                        <a:lnSpc>
                          <a:spcPct val="115000"/>
                        </a:lnSpc>
                        <a:spcBef>
                          <a:spcPts val="0"/>
                        </a:spcBef>
                        <a:spcAft>
                          <a:spcPts val="0"/>
                        </a:spcAft>
                      </a:pPr>
                      <a:r>
                        <a:rPr lang="en-US" sz="1000" dirty="0" smtClean="0">
                          <a:effectLst/>
                        </a:rPr>
                        <a:t>13</a:t>
                      </a:r>
                      <a:endParaRPr lang="en-US" sz="1000" dirty="0">
                        <a:effectLst/>
                      </a:endParaRPr>
                    </a:p>
                    <a:p>
                      <a:pPr marL="0" marR="0">
                        <a:lnSpc>
                          <a:spcPct val="115000"/>
                        </a:lnSpc>
                        <a:spcBef>
                          <a:spcPts val="0"/>
                        </a:spcBef>
                        <a:spcAft>
                          <a:spcPts val="0"/>
                        </a:spcAft>
                      </a:pPr>
                      <a:r>
                        <a:rPr lang="en-US" sz="1000" dirty="0">
                          <a:effectLst/>
                        </a:rPr>
                        <a:t> </a:t>
                      </a:r>
                    </a:p>
                    <a:p>
                      <a:pPr marL="0" marR="0" algn="ctr">
                        <a:lnSpc>
                          <a:spcPct val="115000"/>
                        </a:lnSpc>
                        <a:spcBef>
                          <a:spcPts val="0"/>
                        </a:spcBef>
                        <a:spcAft>
                          <a:spcPts val="0"/>
                        </a:spcAft>
                      </a:pPr>
                      <a:r>
                        <a:rPr lang="en-US" sz="1000" dirty="0">
                          <a:effectLst/>
                        </a:rPr>
                        <a:t> </a:t>
                      </a:r>
                      <a:endParaRPr lang="en-US" sz="1000" dirty="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1000" dirty="0" smtClean="0">
                          <a:effectLst/>
                          <a:latin typeface="Calibri"/>
                          <a:ea typeface="Times New Roman"/>
                          <a:cs typeface="Arial"/>
                        </a:rPr>
                        <a:t>14</a:t>
                      </a:r>
                      <a:endParaRPr lang="en-US" sz="1000" dirty="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1000" dirty="0" smtClean="0">
                          <a:effectLst/>
                          <a:latin typeface="Calibri"/>
                          <a:ea typeface="Times New Roman"/>
                          <a:cs typeface="Arial"/>
                        </a:rPr>
                        <a:t>15</a:t>
                      </a:r>
                      <a:endParaRPr lang="en-US" sz="1000" dirty="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1000" dirty="0" smtClean="0">
                          <a:effectLst/>
                          <a:latin typeface="Calibri"/>
                          <a:ea typeface="Times New Roman"/>
                          <a:cs typeface="Arial"/>
                        </a:rPr>
                        <a:t>16</a:t>
                      </a:r>
                      <a:endParaRPr lang="en-US" sz="1000" dirty="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1000" b="1" dirty="0" smtClean="0">
                          <a:effectLst/>
                        </a:rPr>
                        <a:t>17</a:t>
                      </a:r>
                      <a:endParaRPr lang="en-US" sz="1000" b="1" dirty="0">
                        <a:effectLst/>
                      </a:endParaRPr>
                    </a:p>
                    <a:p>
                      <a:pPr marL="0" marR="0">
                        <a:lnSpc>
                          <a:spcPct val="115000"/>
                        </a:lnSpc>
                        <a:spcBef>
                          <a:spcPts val="0"/>
                        </a:spcBef>
                        <a:spcAft>
                          <a:spcPts val="0"/>
                        </a:spcAft>
                      </a:pPr>
                      <a:r>
                        <a:rPr lang="en-US" sz="900" b="1" dirty="0">
                          <a:effectLst/>
                        </a:rPr>
                        <a:t>Supervisors complete draft evaluations and goals + schedule meetings with staff to discuss drafts.</a:t>
                      </a:r>
                      <a:endParaRPr lang="en-US" sz="900" b="1" dirty="0">
                        <a:effectLst/>
                        <a:latin typeface="Calibri"/>
                        <a:ea typeface="Times New Roman"/>
                        <a:cs typeface="Arial"/>
                      </a:endParaRPr>
                    </a:p>
                  </a:txBody>
                  <a:tcPr marL="73025" marR="73025" marT="73025" marB="73025">
                    <a:solidFill>
                      <a:schemeClr val="accent3"/>
                    </a:solidFill>
                  </a:tcPr>
                </a:tc>
              </a:tr>
              <a:tr h="702017">
                <a:tc>
                  <a:txBody>
                    <a:bodyPr/>
                    <a:lstStyle/>
                    <a:p>
                      <a:pPr marL="0" marR="0">
                        <a:lnSpc>
                          <a:spcPct val="115000"/>
                        </a:lnSpc>
                        <a:spcBef>
                          <a:spcPts val="0"/>
                        </a:spcBef>
                        <a:spcAft>
                          <a:spcPts val="0"/>
                        </a:spcAft>
                      </a:pPr>
                      <a:r>
                        <a:rPr lang="en-US" sz="1000" b="1" dirty="0" smtClean="0">
                          <a:effectLst/>
                        </a:rPr>
                        <a:t>20</a:t>
                      </a:r>
                      <a:endParaRPr lang="en-US" sz="1000" b="1" dirty="0">
                        <a:effectLst/>
                      </a:endParaRPr>
                    </a:p>
                    <a:p>
                      <a:pPr marL="0" marR="0" algn="ctr">
                        <a:lnSpc>
                          <a:spcPct val="115000"/>
                        </a:lnSpc>
                        <a:spcBef>
                          <a:spcPts val="0"/>
                        </a:spcBef>
                        <a:spcAft>
                          <a:spcPts val="0"/>
                        </a:spcAft>
                      </a:pPr>
                      <a:r>
                        <a:rPr lang="en-US" sz="1000" dirty="0">
                          <a:effectLst/>
                        </a:rPr>
                        <a:t> </a:t>
                      </a:r>
                      <a:r>
                        <a:rPr lang="en-US" sz="1000" dirty="0" smtClean="0">
                          <a:effectLst/>
                        </a:rPr>
                        <a:t>MLK </a:t>
                      </a:r>
                      <a:r>
                        <a:rPr lang="en-US" sz="1000" dirty="0">
                          <a:effectLst/>
                        </a:rPr>
                        <a:t>HOLIDAY</a:t>
                      </a:r>
                      <a:endParaRPr lang="en-US" sz="1000" dirty="0">
                        <a:effectLst/>
                        <a:latin typeface="Calibri"/>
                        <a:ea typeface="Times New Roman"/>
                        <a:cs typeface="Arial"/>
                      </a:endParaRPr>
                    </a:p>
                  </a:txBody>
                  <a:tcPr marL="73025" marR="73025" marT="73025" marB="73025">
                    <a:solidFill>
                      <a:schemeClr val="bg1">
                        <a:lumMod val="95000"/>
                      </a:schemeClr>
                    </a:solidFill>
                  </a:tcPr>
                </a:tc>
                <a:tc>
                  <a:txBody>
                    <a:bodyPr/>
                    <a:lstStyle/>
                    <a:p>
                      <a:pPr marL="0" marR="0">
                        <a:lnSpc>
                          <a:spcPct val="115000"/>
                        </a:lnSpc>
                        <a:spcBef>
                          <a:spcPts val="0"/>
                        </a:spcBef>
                        <a:spcAft>
                          <a:spcPts val="0"/>
                        </a:spcAft>
                      </a:pPr>
                      <a:r>
                        <a:rPr lang="en-US" sz="1000" dirty="0" smtClean="0">
                          <a:effectLst/>
                          <a:latin typeface="Calibri"/>
                          <a:ea typeface="Times New Roman"/>
                          <a:cs typeface="Arial"/>
                        </a:rPr>
                        <a:t>21</a:t>
                      </a:r>
                      <a:endParaRPr lang="en-US" sz="1000" dirty="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1000" dirty="0" smtClean="0">
                          <a:effectLst/>
                        </a:rPr>
                        <a:t>22</a:t>
                      </a:r>
                      <a:endParaRPr lang="en-US" sz="1000" dirty="0">
                        <a:effectLst/>
                      </a:endParaRPr>
                    </a:p>
                    <a:p>
                      <a:pPr marL="0" marR="0">
                        <a:lnSpc>
                          <a:spcPct val="115000"/>
                        </a:lnSpc>
                        <a:spcBef>
                          <a:spcPts val="0"/>
                        </a:spcBef>
                        <a:spcAft>
                          <a:spcPts val="0"/>
                        </a:spcAft>
                      </a:pPr>
                      <a:r>
                        <a:rPr lang="en-US" sz="1000" dirty="0">
                          <a:effectLst/>
                        </a:rPr>
                        <a:t> </a:t>
                      </a:r>
                      <a:endParaRPr lang="en-US" sz="1000" dirty="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1000" dirty="0" smtClean="0">
                          <a:effectLst/>
                          <a:latin typeface="Calibri"/>
                          <a:ea typeface="Times New Roman"/>
                          <a:cs typeface="Arial"/>
                        </a:rPr>
                        <a:t>23</a:t>
                      </a:r>
                      <a:endParaRPr lang="en-US" sz="1000" dirty="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1000" b="1" dirty="0" smtClean="0">
                          <a:effectLst/>
                        </a:rPr>
                        <a:t>24</a:t>
                      </a:r>
                      <a:endParaRPr lang="en-US" sz="1000" b="1" dirty="0">
                        <a:effectLst/>
                      </a:endParaRPr>
                    </a:p>
                    <a:p>
                      <a:pPr marL="0" marR="0">
                        <a:lnSpc>
                          <a:spcPct val="115000"/>
                        </a:lnSpc>
                        <a:spcBef>
                          <a:spcPts val="0"/>
                        </a:spcBef>
                        <a:spcAft>
                          <a:spcPts val="0"/>
                        </a:spcAft>
                      </a:pPr>
                      <a:r>
                        <a:rPr lang="en-US" sz="900" b="1" dirty="0">
                          <a:effectLst/>
                        </a:rPr>
                        <a:t>Supervisors make final revisions to evaluations and goals.</a:t>
                      </a:r>
                      <a:endParaRPr lang="en-US" sz="900" b="1" dirty="0">
                        <a:effectLst/>
                        <a:latin typeface="Calibri"/>
                        <a:ea typeface="Times New Roman"/>
                        <a:cs typeface="Arial"/>
                      </a:endParaRPr>
                    </a:p>
                  </a:txBody>
                  <a:tcPr marL="73025" marR="73025" marT="73025" marB="73025">
                    <a:solidFill>
                      <a:schemeClr val="accent3"/>
                    </a:solidFill>
                  </a:tcPr>
                </a:tc>
              </a:tr>
              <a:tr h="883552">
                <a:tc>
                  <a:txBody>
                    <a:bodyPr/>
                    <a:lstStyle/>
                    <a:p>
                      <a:pPr marL="0" marR="0">
                        <a:lnSpc>
                          <a:spcPct val="115000"/>
                        </a:lnSpc>
                        <a:spcBef>
                          <a:spcPts val="0"/>
                        </a:spcBef>
                        <a:spcAft>
                          <a:spcPts val="0"/>
                        </a:spcAft>
                      </a:pPr>
                      <a:r>
                        <a:rPr lang="en-US" sz="1000" dirty="0" smtClean="0">
                          <a:effectLst/>
                          <a:latin typeface="Calibri"/>
                          <a:ea typeface="Times New Roman"/>
                          <a:cs typeface="Arial"/>
                        </a:rPr>
                        <a:t>27</a:t>
                      </a:r>
                      <a:endParaRPr lang="en-US" sz="1000" dirty="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1000" dirty="0" smtClean="0">
                          <a:effectLst/>
                          <a:latin typeface="Calibri"/>
                          <a:ea typeface="Times New Roman"/>
                          <a:cs typeface="Arial"/>
                        </a:rPr>
                        <a:t>28</a:t>
                      </a:r>
                      <a:endParaRPr lang="en-US" sz="1000" dirty="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1000" dirty="0" smtClean="0">
                          <a:effectLst/>
                          <a:latin typeface="Calibri"/>
                          <a:ea typeface="Times New Roman"/>
                          <a:cs typeface="Arial"/>
                        </a:rPr>
                        <a:t>29</a:t>
                      </a:r>
                      <a:endParaRPr lang="en-US" sz="1000" dirty="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1000" b="0" dirty="0" smtClean="0">
                          <a:effectLst/>
                        </a:rPr>
                        <a:t>30</a:t>
                      </a:r>
                      <a:endParaRPr lang="en-US" sz="1000" b="0" dirty="0">
                        <a:effectLst/>
                      </a:endParaRPr>
                    </a:p>
                  </a:txBody>
                  <a:tcPr marL="73025" marR="73025" marT="73025" marB="73025">
                    <a:solidFill>
                      <a:srgbClr val="FAE9E8"/>
                    </a:solidFill>
                  </a:tcPr>
                </a:tc>
                <a:tc>
                  <a:txBody>
                    <a:bodyPr/>
                    <a:lstStyle/>
                    <a:p>
                      <a:pPr marL="0" marR="0">
                        <a:lnSpc>
                          <a:spcPct val="115000"/>
                        </a:lnSpc>
                        <a:spcBef>
                          <a:spcPts val="0"/>
                        </a:spcBef>
                        <a:spcAft>
                          <a:spcPts val="0"/>
                        </a:spcAft>
                      </a:pPr>
                      <a:r>
                        <a:rPr lang="en-US" sz="1000" b="1" dirty="0" smtClean="0">
                          <a:effectLst/>
                        </a:rPr>
                        <a:t>31</a:t>
                      </a:r>
                    </a:p>
                    <a:p>
                      <a:pPr marL="0" marR="0">
                        <a:lnSpc>
                          <a:spcPct val="115000"/>
                        </a:lnSpc>
                        <a:spcBef>
                          <a:spcPts val="0"/>
                        </a:spcBef>
                        <a:spcAft>
                          <a:spcPts val="0"/>
                        </a:spcAft>
                      </a:pPr>
                      <a:r>
                        <a:rPr lang="en-US" sz="900" b="1" dirty="0" smtClean="0">
                          <a:effectLst/>
                        </a:rPr>
                        <a:t>Final evaluations and goals due to President’s Office for final approval.</a:t>
                      </a:r>
                      <a:endParaRPr lang="en-US" sz="900" b="1" dirty="0" smtClean="0">
                        <a:effectLst/>
                        <a:latin typeface="+mn-lt"/>
                        <a:ea typeface="Times New Roman"/>
                        <a:cs typeface="Arial"/>
                      </a:endParaRPr>
                    </a:p>
                    <a:p>
                      <a:pPr marL="0" marR="0">
                        <a:lnSpc>
                          <a:spcPct val="115000"/>
                        </a:lnSpc>
                        <a:spcBef>
                          <a:spcPts val="0"/>
                        </a:spcBef>
                        <a:spcAft>
                          <a:spcPts val="0"/>
                        </a:spcAft>
                      </a:pPr>
                      <a:endParaRPr lang="en-US" sz="1000" b="1" dirty="0">
                        <a:effectLst/>
                        <a:latin typeface="Calibri"/>
                        <a:ea typeface="Times New Roman"/>
                        <a:cs typeface="Arial"/>
                      </a:endParaRPr>
                    </a:p>
                  </a:txBody>
                  <a:tcPr marL="73025" marR="73025" marT="73025" marB="73025">
                    <a:solidFill>
                      <a:schemeClr val="accent3"/>
                    </a:solidFill>
                  </a:tcPr>
                </a:tc>
              </a:tr>
            </a:tbl>
          </a:graphicData>
        </a:graphic>
      </p:graphicFrame>
    </p:spTree>
    <p:extLst>
      <p:ext uri="{BB962C8B-B14F-4D97-AF65-F5344CB8AC3E}">
        <p14:creationId xmlns:p14="http://schemas.microsoft.com/office/powerpoint/2010/main" val="20494874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32200" y="196000"/>
            <a:ext cx="4983075" cy="889920"/>
          </a:xfrm>
        </p:spPr>
        <p:txBody>
          <a:bodyPr/>
          <a:lstStyle/>
          <a:p>
            <a:pPr algn="r"/>
            <a:r>
              <a:rPr lang="en-US" dirty="0" smtClean="0"/>
              <a:t>Required Documents</a:t>
            </a:r>
            <a:endParaRPr lang="en-US" dirty="0"/>
          </a:p>
        </p:txBody>
      </p:sp>
      <p:sp>
        <p:nvSpPr>
          <p:cNvPr id="4" name="Text Placeholder 3"/>
          <p:cNvSpPr>
            <a:spLocks noGrp="1"/>
          </p:cNvSpPr>
          <p:nvPr>
            <p:ph type="body" sz="quarter" idx="15"/>
          </p:nvPr>
        </p:nvSpPr>
        <p:spPr>
          <a:xfrm>
            <a:off x="155044" y="1238070"/>
            <a:ext cx="8803814" cy="5145797"/>
          </a:xfrm>
        </p:spPr>
        <p:txBody>
          <a:bodyPr>
            <a:normAutofit fontScale="77500" lnSpcReduction="20000"/>
          </a:bodyPr>
          <a:lstStyle/>
          <a:p>
            <a:pPr lvl="0">
              <a:buClr>
                <a:schemeClr val="accent1"/>
              </a:buClr>
              <a:buFont typeface="Wingdings" pitchFamily="2" charset="2"/>
              <a:buChar char="q"/>
            </a:pPr>
            <a:r>
              <a:rPr lang="en-US" dirty="0" smtClean="0"/>
              <a:t>Employee </a:t>
            </a:r>
            <a:r>
              <a:rPr lang="en-US" b="1" dirty="0">
                <a:solidFill>
                  <a:schemeClr val="accent1"/>
                </a:solidFill>
              </a:rPr>
              <a:t>360</a:t>
            </a:r>
            <a:r>
              <a:rPr lang="en-US" b="1" baseline="30000" dirty="0">
                <a:solidFill>
                  <a:schemeClr val="accent1"/>
                </a:solidFill>
              </a:rPr>
              <a:t>o</a:t>
            </a:r>
            <a:r>
              <a:rPr lang="en-US" b="1" dirty="0">
                <a:solidFill>
                  <a:schemeClr val="accent1"/>
                </a:solidFill>
              </a:rPr>
              <a:t> Self-Evaluation</a:t>
            </a:r>
            <a:r>
              <a:rPr lang="en-US" dirty="0">
                <a:solidFill>
                  <a:schemeClr val="accent1"/>
                </a:solidFill>
              </a:rPr>
              <a:t> </a:t>
            </a:r>
            <a:endParaRPr lang="en-US" dirty="0" smtClean="0">
              <a:solidFill>
                <a:schemeClr val="accent1"/>
              </a:solidFill>
            </a:endParaRPr>
          </a:p>
          <a:p>
            <a:pPr lvl="0">
              <a:buClr>
                <a:schemeClr val="accent1"/>
              </a:buClr>
              <a:buFont typeface="Wingdings" pitchFamily="2" charset="2"/>
              <a:buChar char="q"/>
            </a:pPr>
            <a:endParaRPr lang="en-US" dirty="0">
              <a:solidFill>
                <a:schemeClr val="accent1"/>
              </a:solidFill>
            </a:endParaRPr>
          </a:p>
          <a:p>
            <a:pPr lvl="0">
              <a:buClr>
                <a:schemeClr val="accent1"/>
              </a:buClr>
              <a:buFont typeface="Wingdings" pitchFamily="2" charset="2"/>
              <a:buChar char="q"/>
            </a:pPr>
            <a:r>
              <a:rPr lang="en-US" dirty="0"/>
              <a:t>Copy of </a:t>
            </a:r>
            <a:r>
              <a:rPr lang="en-US" b="1" dirty="0" smtClean="0">
                <a:solidFill>
                  <a:schemeClr val="accent1"/>
                </a:solidFill>
              </a:rPr>
              <a:t>2013 </a:t>
            </a:r>
            <a:r>
              <a:rPr lang="en-US" b="1" dirty="0">
                <a:solidFill>
                  <a:schemeClr val="accent1"/>
                </a:solidFill>
              </a:rPr>
              <a:t>Performance Goals</a:t>
            </a:r>
            <a:endParaRPr lang="en-US" dirty="0">
              <a:solidFill>
                <a:schemeClr val="accent1"/>
              </a:solidFill>
            </a:endParaRPr>
          </a:p>
          <a:p>
            <a:pPr marL="800100" lvl="2" indent="0"/>
            <a:r>
              <a:rPr lang="en-US" sz="1700" i="1" dirty="0">
                <a:solidFill>
                  <a:schemeClr val="accent5">
                    <a:lumMod val="50000"/>
                  </a:schemeClr>
                </a:solidFill>
              </a:rPr>
              <a:t>*If </a:t>
            </a:r>
            <a:r>
              <a:rPr lang="en-US" sz="2000" i="1" dirty="0" smtClean="0">
                <a:solidFill>
                  <a:schemeClr val="accent5">
                    <a:lumMod val="50000"/>
                  </a:schemeClr>
                </a:solidFill>
              </a:rPr>
              <a:t>individual</a:t>
            </a:r>
            <a:r>
              <a:rPr lang="en-US" sz="1700" i="1" dirty="0" smtClean="0">
                <a:solidFill>
                  <a:schemeClr val="accent5">
                    <a:lumMod val="50000"/>
                  </a:schemeClr>
                </a:solidFill>
              </a:rPr>
              <a:t> goals </a:t>
            </a:r>
            <a:r>
              <a:rPr lang="en-US" sz="1700" i="1" dirty="0">
                <a:solidFill>
                  <a:schemeClr val="accent5">
                    <a:lumMod val="50000"/>
                  </a:schemeClr>
                </a:solidFill>
              </a:rPr>
              <a:t>for </a:t>
            </a:r>
            <a:r>
              <a:rPr lang="en-US" sz="1700" i="1" dirty="0" smtClean="0">
                <a:solidFill>
                  <a:schemeClr val="accent5">
                    <a:lumMod val="50000"/>
                  </a:schemeClr>
                </a:solidFill>
              </a:rPr>
              <a:t>2013 </a:t>
            </a:r>
            <a:r>
              <a:rPr lang="en-US" sz="1700" i="1" dirty="0">
                <a:solidFill>
                  <a:schemeClr val="accent5">
                    <a:lumMod val="50000"/>
                  </a:schemeClr>
                </a:solidFill>
              </a:rPr>
              <a:t>were not established, you may include a copy of the unit’s goals instead</a:t>
            </a:r>
            <a:r>
              <a:rPr lang="en-US" sz="1700" i="1" dirty="0" smtClean="0">
                <a:solidFill>
                  <a:schemeClr val="accent5">
                    <a:lumMod val="50000"/>
                  </a:schemeClr>
                </a:solidFill>
              </a:rPr>
              <a:t>.</a:t>
            </a:r>
          </a:p>
          <a:p>
            <a:pPr marL="800100" lvl="2" indent="0"/>
            <a:endParaRPr lang="en-US" sz="1300" dirty="0">
              <a:solidFill>
                <a:schemeClr val="accent5">
                  <a:lumMod val="50000"/>
                </a:schemeClr>
              </a:solidFill>
            </a:endParaRPr>
          </a:p>
          <a:p>
            <a:pPr lvl="0">
              <a:buFont typeface="Wingdings" pitchFamily="2" charset="2"/>
              <a:buChar char="q"/>
            </a:pPr>
            <a:r>
              <a:rPr lang="en-US" b="1" dirty="0" smtClean="0">
                <a:solidFill>
                  <a:schemeClr val="accent1"/>
                </a:solidFill>
              </a:rPr>
              <a:t>2013 </a:t>
            </a:r>
            <a:r>
              <a:rPr lang="en-US" b="1" dirty="0">
                <a:solidFill>
                  <a:schemeClr val="accent1"/>
                </a:solidFill>
              </a:rPr>
              <a:t>Goals &amp; Performance </a:t>
            </a:r>
            <a:r>
              <a:rPr lang="en-US" b="1" dirty="0" smtClean="0">
                <a:solidFill>
                  <a:schemeClr val="accent1"/>
                </a:solidFill>
              </a:rPr>
              <a:t>Evaluation Form</a:t>
            </a:r>
            <a:r>
              <a:rPr lang="en-US" dirty="0" smtClean="0"/>
              <a:t>, </a:t>
            </a:r>
            <a:r>
              <a:rPr lang="en-US" dirty="0"/>
              <a:t>signed by employee and supervisor(s</a:t>
            </a:r>
            <a:r>
              <a:rPr lang="en-US" dirty="0" smtClean="0"/>
              <a:t>)</a:t>
            </a:r>
          </a:p>
          <a:p>
            <a:pPr lvl="0">
              <a:buFont typeface="Wingdings" pitchFamily="2" charset="2"/>
              <a:buChar char="q"/>
            </a:pPr>
            <a:endParaRPr lang="en-US" dirty="0"/>
          </a:p>
          <a:p>
            <a:pPr lvl="0">
              <a:buClr>
                <a:schemeClr val="accent1"/>
              </a:buClr>
              <a:buFont typeface="Wingdings" pitchFamily="2" charset="2"/>
              <a:buChar char="q"/>
            </a:pPr>
            <a:r>
              <a:rPr lang="en-US" b="1" dirty="0" smtClean="0">
                <a:solidFill>
                  <a:schemeClr val="accent1"/>
                </a:solidFill>
              </a:rPr>
              <a:t>2014 </a:t>
            </a:r>
            <a:r>
              <a:rPr lang="en-US" b="1" dirty="0">
                <a:solidFill>
                  <a:schemeClr val="accent1"/>
                </a:solidFill>
              </a:rPr>
              <a:t>Employee Performance Goals &amp; Expectations</a:t>
            </a:r>
            <a:r>
              <a:rPr lang="en-US" dirty="0"/>
              <a:t>, signed by employee and supervisor(s)</a:t>
            </a:r>
          </a:p>
          <a:p>
            <a:endParaRPr lang="en-US" b="1" i="1" dirty="0" smtClean="0"/>
          </a:p>
          <a:p>
            <a:r>
              <a:rPr lang="en-US" b="1" i="1" dirty="0" smtClean="0"/>
              <a:t>Optional/If </a:t>
            </a:r>
            <a:r>
              <a:rPr lang="en-US" b="1" i="1" dirty="0"/>
              <a:t>Applicable</a:t>
            </a:r>
            <a:r>
              <a:rPr lang="en-US" dirty="0"/>
              <a:t>:</a:t>
            </a:r>
          </a:p>
          <a:p>
            <a:pPr lvl="0">
              <a:buFont typeface="Wingdings" pitchFamily="2" charset="2"/>
              <a:buChar char="q"/>
            </a:pPr>
            <a:r>
              <a:rPr lang="en-US" dirty="0"/>
              <a:t>Two (2) </a:t>
            </a:r>
            <a:r>
              <a:rPr lang="en-US" b="1" dirty="0">
                <a:solidFill>
                  <a:schemeClr val="accent1"/>
                </a:solidFill>
              </a:rPr>
              <a:t>360</a:t>
            </a:r>
            <a:r>
              <a:rPr lang="en-US" b="1" baseline="30000" dirty="0">
                <a:solidFill>
                  <a:schemeClr val="accent1"/>
                </a:solidFill>
              </a:rPr>
              <a:t>o</a:t>
            </a:r>
            <a:r>
              <a:rPr lang="en-US" b="1" dirty="0">
                <a:solidFill>
                  <a:schemeClr val="accent1"/>
                </a:solidFill>
              </a:rPr>
              <a:t> Evaluation</a:t>
            </a:r>
            <a:r>
              <a:rPr lang="en-US" dirty="0">
                <a:solidFill>
                  <a:schemeClr val="accent1"/>
                </a:solidFill>
              </a:rPr>
              <a:t> </a:t>
            </a:r>
            <a:r>
              <a:rPr lang="en-US" dirty="0"/>
              <a:t>forms completed by colleagues of employee*</a:t>
            </a:r>
          </a:p>
          <a:p>
            <a:pPr marL="800100" lvl="2" indent="0"/>
            <a:r>
              <a:rPr lang="en-US" i="1" dirty="0" smtClean="0">
                <a:solidFill>
                  <a:schemeClr val="accent5">
                    <a:lumMod val="50000"/>
                  </a:schemeClr>
                </a:solidFill>
              </a:rPr>
              <a:t>*Supervisor </a:t>
            </a:r>
            <a:r>
              <a:rPr lang="en-US" i="1" dirty="0">
                <a:solidFill>
                  <a:schemeClr val="accent5">
                    <a:lumMod val="50000"/>
                  </a:schemeClr>
                </a:solidFill>
              </a:rPr>
              <a:t>has the choice to include these in the final packet or keep them for his/her own files</a:t>
            </a:r>
            <a:r>
              <a:rPr lang="en-US" i="1" dirty="0" smtClean="0">
                <a:solidFill>
                  <a:schemeClr val="accent5">
                    <a:lumMod val="50000"/>
                  </a:schemeClr>
                </a:solidFill>
              </a:rPr>
              <a:t>.</a:t>
            </a:r>
          </a:p>
          <a:p>
            <a:pPr marL="800100" lvl="2" indent="0"/>
            <a:endParaRPr lang="en-US" dirty="0">
              <a:solidFill>
                <a:schemeClr val="accent5">
                  <a:lumMod val="50000"/>
                </a:schemeClr>
              </a:solidFill>
            </a:endParaRPr>
          </a:p>
          <a:p>
            <a:pPr lvl="0">
              <a:buClr>
                <a:schemeClr val="accent4"/>
              </a:buClr>
              <a:buFont typeface="Wingdings" pitchFamily="2" charset="2"/>
              <a:buChar char="q"/>
            </a:pPr>
            <a:r>
              <a:rPr lang="en-US" b="1" dirty="0" smtClean="0">
                <a:solidFill>
                  <a:schemeClr val="accent1"/>
                </a:solidFill>
              </a:rPr>
              <a:t>2014 </a:t>
            </a:r>
            <a:r>
              <a:rPr lang="en-US" b="1" dirty="0">
                <a:solidFill>
                  <a:schemeClr val="accent1"/>
                </a:solidFill>
              </a:rPr>
              <a:t>Salary Increase Form</a:t>
            </a:r>
            <a:r>
              <a:rPr lang="en-US" dirty="0"/>
              <a:t>, signed by employee and supervisor(s</a:t>
            </a:r>
            <a:r>
              <a:rPr lang="en-US" dirty="0" smtClean="0"/>
              <a:t>)</a:t>
            </a:r>
          </a:p>
          <a:p>
            <a:pPr marL="0" lvl="0" indent="0">
              <a:buClr>
                <a:schemeClr val="accent4"/>
              </a:buClr>
            </a:pPr>
            <a:endParaRPr lang="en-US" dirty="0"/>
          </a:p>
          <a:p>
            <a:pPr lvl="0">
              <a:buFont typeface="Wingdings" pitchFamily="2" charset="2"/>
              <a:buChar char="q"/>
            </a:pPr>
            <a:r>
              <a:rPr lang="en-US" dirty="0"/>
              <a:t>Supporting memos or </a:t>
            </a:r>
            <a:r>
              <a:rPr lang="en-US" dirty="0" smtClean="0"/>
              <a:t>documentation</a:t>
            </a:r>
            <a:endParaRPr lang="en-US" dirty="0"/>
          </a:p>
        </p:txBody>
      </p:sp>
    </p:spTree>
    <p:extLst>
      <p:ext uri="{BB962C8B-B14F-4D97-AF65-F5344CB8AC3E}">
        <p14:creationId xmlns:p14="http://schemas.microsoft.com/office/powerpoint/2010/main" val="12967384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22082" y="279800"/>
            <a:ext cx="5862639" cy="728036"/>
          </a:xfrm>
        </p:spPr>
        <p:txBody>
          <a:bodyPr/>
          <a:lstStyle/>
          <a:p>
            <a:pPr algn="r"/>
            <a:r>
              <a:rPr lang="en-US" dirty="0" smtClean="0"/>
              <a:t>Self &amp; </a:t>
            </a:r>
            <a:r>
              <a:rPr lang="en-US" dirty="0"/>
              <a:t>360</a:t>
            </a:r>
            <a:r>
              <a:rPr lang="en-US" baseline="30000" dirty="0"/>
              <a:t>o</a:t>
            </a:r>
            <a:r>
              <a:rPr lang="en-US" dirty="0" smtClean="0"/>
              <a:t> Evaluation</a:t>
            </a:r>
            <a:endParaRPr lang="en-US" dirty="0"/>
          </a:p>
        </p:txBody>
      </p:sp>
      <p:pic>
        <p:nvPicPr>
          <p:cNvPr id="6" name="Picture Placeholder 5"/>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t="1869" b="21435"/>
          <a:stretch/>
        </p:blipFill>
        <p:spPr/>
      </p:pic>
      <p:sp>
        <p:nvSpPr>
          <p:cNvPr id="5" name="Text Placeholder 4"/>
          <p:cNvSpPr>
            <a:spLocks noGrp="1"/>
          </p:cNvSpPr>
          <p:nvPr>
            <p:ph type="body" sz="quarter" idx="15"/>
          </p:nvPr>
        </p:nvSpPr>
        <p:spPr/>
        <p:txBody>
          <a:bodyPr>
            <a:normAutofit/>
          </a:bodyPr>
          <a:lstStyle/>
          <a:p>
            <a:pPr>
              <a:buFont typeface="Arial" pitchFamily="34" charset="0"/>
              <a:buChar char="•"/>
            </a:pPr>
            <a:r>
              <a:rPr lang="en-US" dirty="0" smtClean="0"/>
              <a:t>Employee completes </a:t>
            </a:r>
            <a:r>
              <a:rPr lang="en-US" b="1" dirty="0">
                <a:solidFill>
                  <a:schemeClr val="accent1"/>
                </a:solidFill>
              </a:rPr>
              <a:t>360</a:t>
            </a:r>
            <a:r>
              <a:rPr lang="en-US" b="1" baseline="30000" dirty="0">
                <a:solidFill>
                  <a:schemeClr val="accent1"/>
                </a:solidFill>
              </a:rPr>
              <a:t>o</a:t>
            </a:r>
            <a:r>
              <a:rPr lang="en-US" b="1" dirty="0" smtClean="0">
                <a:solidFill>
                  <a:schemeClr val="accent1"/>
                </a:solidFill>
              </a:rPr>
              <a:t> Evaluation</a:t>
            </a:r>
            <a:r>
              <a:rPr lang="en-US" dirty="0" smtClean="0">
                <a:solidFill>
                  <a:schemeClr val="accent1"/>
                </a:solidFill>
              </a:rPr>
              <a:t> </a:t>
            </a:r>
            <a:r>
              <a:rPr lang="en-US" dirty="0" smtClean="0"/>
              <a:t>as self-evaluation</a:t>
            </a:r>
          </a:p>
          <a:p>
            <a:pPr marL="0" indent="0"/>
            <a:endParaRPr lang="en-US" dirty="0" smtClean="0"/>
          </a:p>
          <a:p>
            <a:pPr>
              <a:buFont typeface="Arial" pitchFamily="34" charset="0"/>
              <a:buChar char="•"/>
            </a:pPr>
            <a:r>
              <a:rPr lang="en-US" dirty="0" smtClean="0"/>
              <a:t>Supervisor requests two (2) confidential </a:t>
            </a:r>
            <a:r>
              <a:rPr lang="en-US" b="1" dirty="0" smtClean="0">
                <a:solidFill>
                  <a:schemeClr val="accent1"/>
                </a:solidFill>
              </a:rPr>
              <a:t>360</a:t>
            </a:r>
            <a:r>
              <a:rPr lang="en-US" b="1" baseline="30000" dirty="0" smtClean="0">
                <a:solidFill>
                  <a:schemeClr val="accent1"/>
                </a:solidFill>
              </a:rPr>
              <a:t>o</a:t>
            </a:r>
            <a:r>
              <a:rPr lang="en-US" b="1" dirty="0" smtClean="0">
                <a:solidFill>
                  <a:schemeClr val="accent1"/>
                </a:solidFill>
              </a:rPr>
              <a:t> Evaluations</a:t>
            </a:r>
            <a:r>
              <a:rPr lang="en-US" dirty="0" smtClean="0"/>
              <a:t> from colleagues of each employee</a:t>
            </a:r>
            <a:endParaRPr lang="en-US" dirty="0"/>
          </a:p>
        </p:txBody>
      </p:sp>
      <p:sp>
        <p:nvSpPr>
          <p:cNvPr id="7" name="Oval 6"/>
          <p:cNvSpPr/>
          <p:nvPr/>
        </p:nvSpPr>
        <p:spPr>
          <a:xfrm>
            <a:off x="5396593" y="3233057"/>
            <a:ext cx="1036864" cy="481693"/>
          </a:xfrm>
          <a:prstGeom prst="ellipse">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9" name="Oval 8"/>
          <p:cNvSpPr/>
          <p:nvPr/>
        </p:nvSpPr>
        <p:spPr>
          <a:xfrm>
            <a:off x="5396593" y="5695950"/>
            <a:ext cx="1036864" cy="481693"/>
          </a:xfrm>
          <a:prstGeom prst="ellipse">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2078932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39017" y="245934"/>
            <a:ext cx="5862639" cy="889920"/>
          </a:xfrm>
        </p:spPr>
        <p:txBody>
          <a:bodyPr>
            <a:normAutofit/>
          </a:bodyPr>
          <a:lstStyle/>
          <a:p>
            <a:pPr algn="r"/>
            <a:r>
              <a:rPr lang="en-US" dirty="0"/>
              <a:t>2011-2013 Strategic </a:t>
            </a:r>
            <a:r>
              <a:rPr lang="en-US" dirty="0" smtClean="0"/>
              <a:t>Plan</a:t>
            </a:r>
            <a:endParaRPr lang="en-US" dirty="0"/>
          </a:p>
        </p:txBody>
      </p:sp>
      <p:sp>
        <p:nvSpPr>
          <p:cNvPr id="4" name="Text Placeholder 3"/>
          <p:cNvSpPr>
            <a:spLocks noGrp="1"/>
          </p:cNvSpPr>
          <p:nvPr>
            <p:ph type="body" sz="quarter" idx="15"/>
          </p:nvPr>
        </p:nvSpPr>
        <p:spPr>
          <a:xfrm>
            <a:off x="194734" y="1278468"/>
            <a:ext cx="2844800" cy="5029208"/>
          </a:xfrm>
        </p:spPr>
        <p:style>
          <a:lnRef idx="2">
            <a:schemeClr val="accent2"/>
          </a:lnRef>
          <a:fillRef idx="1">
            <a:schemeClr val="lt1"/>
          </a:fillRef>
          <a:effectRef idx="0">
            <a:schemeClr val="accent2"/>
          </a:effectRef>
          <a:fontRef idx="minor">
            <a:schemeClr val="dk1"/>
          </a:fontRef>
        </p:style>
        <p:txBody>
          <a:bodyPr>
            <a:normAutofit fontScale="92500" lnSpcReduction="10000"/>
          </a:bodyPr>
          <a:lstStyle/>
          <a:p>
            <a:pPr marL="457200" indent="-457200">
              <a:buFont typeface="+mj-lt"/>
              <a:buAutoNum type="arabicPeriod"/>
            </a:pPr>
            <a:endParaRPr lang="en-US" sz="1500" b="1" dirty="0" smtClean="0">
              <a:solidFill>
                <a:schemeClr val="accent1"/>
              </a:solidFill>
            </a:endParaRPr>
          </a:p>
          <a:p>
            <a:pPr marL="457200" indent="-457200">
              <a:buFont typeface="+mj-lt"/>
              <a:buAutoNum type="arabicPeriod"/>
            </a:pPr>
            <a:r>
              <a:rPr lang="en-US" sz="1500" b="1" dirty="0" smtClean="0">
                <a:solidFill>
                  <a:schemeClr val="accent1"/>
                </a:solidFill>
              </a:rPr>
              <a:t>Build </a:t>
            </a:r>
            <a:r>
              <a:rPr lang="en-US" sz="1500" b="1" dirty="0">
                <a:solidFill>
                  <a:schemeClr val="accent1"/>
                </a:solidFill>
              </a:rPr>
              <a:t>a Financially Sustainable </a:t>
            </a:r>
            <a:r>
              <a:rPr lang="en-US" sz="1500" b="1" dirty="0" smtClean="0">
                <a:solidFill>
                  <a:schemeClr val="accent1"/>
                </a:solidFill>
              </a:rPr>
              <a:t>Organization</a:t>
            </a:r>
          </a:p>
          <a:p>
            <a:pPr marL="0" indent="0"/>
            <a:endParaRPr lang="en-US" sz="1500" b="1" dirty="0">
              <a:solidFill>
                <a:schemeClr val="accent1"/>
              </a:solidFill>
            </a:endParaRPr>
          </a:p>
          <a:p>
            <a:pPr marL="171450" indent="-171450">
              <a:buFont typeface="Wingdings" pitchFamily="2" charset="2"/>
              <a:buChar char="Ø"/>
            </a:pPr>
            <a:r>
              <a:rPr lang="en-US" sz="1200" dirty="0" smtClean="0">
                <a:solidFill>
                  <a:schemeClr val="accent5">
                    <a:lumMod val="50000"/>
                  </a:schemeClr>
                </a:solidFill>
              </a:rPr>
              <a:t>Ensuring </a:t>
            </a:r>
            <a:r>
              <a:rPr lang="en-US" sz="1200" dirty="0">
                <a:solidFill>
                  <a:schemeClr val="accent5">
                    <a:lumMod val="50000"/>
                  </a:schemeClr>
                </a:solidFill>
              </a:rPr>
              <a:t>that Partners remains strong and influential is our top priority. </a:t>
            </a:r>
            <a:endParaRPr lang="en-US" sz="1200" dirty="0" smtClean="0">
              <a:solidFill>
                <a:schemeClr val="accent5">
                  <a:lumMod val="50000"/>
                </a:schemeClr>
              </a:solidFill>
            </a:endParaRPr>
          </a:p>
          <a:p>
            <a:pPr marL="0" indent="0"/>
            <a:endParaRPr lang="en-US" sz="1200" dirty="0">
              <a:solidFill>
                <a:schemeClr val="accent5">
                  <a:lumMod val="50000"/>
                </a:schemeClr>
              </a:solidFill>
            </a:endParaRPr>
          </a:p>
          <a:p>
            <a:pPr marL="171450" indent="-171450">
              <a:buFont typeface="Wingdings" pitchFamily="2" charset="2"/>
              <a:buChar char="Ø"/>
            </a:pPr>
            <a:r>
              <a:rPr lang="en-US" sz="1200" dirty="0" smtClean="0">
                <a:solidFill>
                  <a:schemeClr val="accent5">
                    <a:lumMod val="50000"/>
                  </a:schemeClr>
                </a:solidFill>
              </a:rPr>
              <a:t>We </a:t>
            </a:r>
            <a:r>
              <a:rPr lang="en-US" sz="1200" dirty="0">
                <a:solidFill>
                  <a:schemeClr val="accent5">
                    <a:lumMod val="50000"/>
                  </a:schemeClr>
                </a:solidFill>
              </a:rPr>
              <a:t>all must make the necessary effort and time investment into sustaining Partners mission and strengthening our capacity to be financially independent.  </a:t>
            </a:r>
            <a:endParaRPr lang="en-US" sz="1200" dirty="0" smtClean="0">
              <a:solidFill>
                <a:schemeClr val="accent5">
                  <a:lumMod val="50000"/>
                </a:schemeClr>
              </a:solidFill>
            </a:endParaRPr>
          </a:p>
          <a:p>
            <a:pPr marL="171450" indent="-171450">
              <a:buFont typeface="Wingdings" pitchFamily="2" charset="2"/>
              <a:buChar char="Ø"/>
            </a:pPr>
            <a:endParaRPr lang="en-US" sz="1200" dirty="0">
              <a:solidFill>
                <a:schemeClr val="accent5">
                  <a:lumMod val="50000"/>
                </a:schemeClr>
              </a:solidFill>
            </a:endParaRPr>
          </a:p>
          <a:p>
            <a:pPr marL="171450" indent="-171450">
              <a:buFont typeface="Wingdings" pitchFamily="2" charset="2"/>
              <a:buChar char="Ø"/>
            </a:pPr>
            <a:r>
              <a:rPr lang="en-US" sz="1200" dirty="0" smtClean="0">
                <a:solidFill>
                  <a:schemeClr val="accent5">
                    <a:lumMod val="50000"/>
                  </a:schemeClr>
                </a:solidFill>
              </a:rPr>
              <a:t>The </a:t>
            </a:r>
            <a:r>
              <a:rPr lang="en-US" sz="1200" dirty="0">
                <a:solidFill>
                  <a:schemeClr val="accent5">
                    <a:lumMod val="50000"/>
                  </a:schemeClr>
                </a:solidFill>
              </a:rPr>
              <a:t>goal here is to “hold and expand” our core activities in areas such as Youth Engagement and in programs like A </a:t>
            </a:r>
            <a:r>
              <a:rPr lang="en-US" sz="1200" dirty="0" err="1">
                <a:solidFill>
                  <a:schemeClr val="accent5">
                    <a:lumMod val="50000"/>
                  </a:schemeClr>
                </a:solidFill>
              </a:rPr>
              <a:t>Ganar</a:t>
            </a:r>
            <a:r>
              <a:rPr lang="en-US" sz="1200" dirty="0">
                <a:solidFill>
                  <a:schemeClr val="accent5">
                    <a:lumMod val="50000"/>
                  </a:schemeClr>
                </a:solidFill>
              </a:rPr>
              <a:t>, Farmer to Farmer and the various professional leadership exchanges  that we manage with the Department of State. </a:t>
            </a:r>
            <a:endParaRPr lang="en-US" sz="1200" dirty="0" smtClean="0">
              <a:solidFill>
                <a:schemeClr val="accent5">
                  <a:lumMod val="50000"/>
                </a:schemeClr>
              </a:solidFill>
            </a:endParaRPr>
          </a:p>
          <a:p>
            <a:pPr marL="0" indent="0"/>
            <a:endParaRPr lang="en-US" sz="1200" dirty="0">
              <a:solidFill>
                <a:schemeClr val="accent5">
                  <a:lumMod val="50000"/>
                </a:schemeClr>
              </a:solidFill>
            </a:endParaRPr>
          </a:p>
          <a:p>
            <a:pPr marL="171450" indent="-171450">
              <a:buFont typeface="Wingdings" pitchFamily="2" charset="2"/>
              <a:buChar char="Ø"/>
            </a:pPr>
            <a:r>
              <a:rPr lang="en-US" sz="1200" dirty="0" smtClean="0">
                <a:solidFill>
                  <a:schemeClr val="accent5">
                    <a:lumMod val="50000"/>
                  </a:schemeClr>
                </a:solidFill>
              </a:rPr>
              <a:t>At </a:t>
            </a:r>
            <a:r>
              <a:rPr lang="en-US" sz="1200" dirty="0">
                <a:solidFill>
                  <a:schemeClr val="accent5">
                    <a:lumMod val="50000"/>
                  </a:schemeClr>
                </a:solidFill>
              </a:rPr>
              <a:t>the same time, all must put a renewed emphasis on putting the infrastructure in place that will allow Partners to capitalize on new opportunities and develop unsolicited proposals in which we can champion new ideas that leverage the talent of our growing network of volunteers and affiliated institutions</a:t>
            </a:r>
            <a:r>
              <a:rPr lang="en-US" sz="1200" dirty="0" smtClean="0">
                <a:solidFill>
                  <a:schemeClr val="accent5">
                    <a:lumMod val="50000"/>
                  </a:schemeClr>
                </a:solidFill>
              </a:rPr>
              <a:t>.</a:t>
            </a:r>
            <a:endParaRPr lang="en-US" sz="1200" dirty="0">
              <a:solidFill>
                <a:schemeClr val="accent5">
                  <a:lumMod val="50000"/>
                </a:schemeClr>
              </a:solidFill>
            </a:endParaRPr>
          </a:p>
        </p:txBody>
      </p:sp>
      <p:sp>
        <p:nvSpPr>
          <p:cNvPr id="5" name="Text Placeholder 4"/>
          <p:cNvSpPr>
            <a:spLocks noGrp="1"/>
          </p:cNvSpPr>
          <p:nvPr>
            <p:ph type="body" sz="quarter" idx="16"/>
          </p:nvPr>
        </p:nvSpPr>
        <p:spPr>
          <a:xfrm>
            <a:off x="3166533" y="1303868"/>
            <a:ext cx="2808997" cy="5001830"/>
          </a:xfrm>
        </p:spPr>
        <p:style>
          <a:lnRef idx="2">
            <a:schemeClr val="accent5"/>
          </a:lnRef>
          <a:fillRef idx="1">
            <a:schemeClr val="lt1"/>
          </a:fillRef>
          <a:effectRef idx="0">
            <a:schemeClr val="accent5"/>
          </a:effectRef>
          <a:fontRef idx="minor">
            <a:schemeClr val="dk1"/>
          </a:fontRef>
        </p:style>
        <p:txBody>
          <a:bodyPr>
            <a:normAutofit fontScale="47500" lnSpcReduction="20000"/>
          </a:bodyPr>
          <a:lstStyle/>
          <a:p>
            <a:pPr marL="457200" indent="-457200">
              <a:buFont typeface="+mj-lt"/>
              <a:buAutoNum type="arabicPeriod" startAt="2"/>
            </a:pPr>
            <a:endParaRPr lang="en-US" sz="2900" b="1" dirty="0" smtClean="0">
              <a:solidFill>
                <a:schemeClr val="accent1"/>
              </a:solidFill>
            </a:endParaRPr>
          </a:p>
          <a:p>
            <a:pPr marL="457200" indent="-457200">
              <a:buFont typeface="+mj-lt"/>
              <a:buAutoNum type="arabicPeriod" startAt="2"/>
            </a:pPr>
            <a:r>
              <a:rPr lang="en-US" sz="2900" b="1" dirty="0" smtClean="0">
                <a:solidFill>
                  <a:schemeClr val="accent1"/>
                </a:solidFill>
              </a:rPr>
              <a:t>Strengthen </a:t>
            </a:r>
            <a:r>
              <a:rPr lang="en-US" sz="2900" b="1" dirty="0">
                <a:solidFill>
                  <a:schemeClr val="accent1"/>
                </a:solidFill>
              </a:rPr>
              <a:t>Our </a:t>
            </a:r>
            <a:r>
              <a:rPr lang="en-US" sz="2900" b="1" dirty="0" smtClean="0">
                <a:solidFill>
                  <a:schemeClr val="accent1"/>
                </a:solidFill>
              </a:rPr>
              <a:t>Network</a:t>
            </a:r>
          </a:p>
          <a:p>
            <a:pPr marL="0" indent="0"/>
            <a:endParaRPr lang="en-US" sz="2900" b="1" dirty="0">
              <a:solidFill>
                <a:schemeClr val="accent1"/>
              </a:solidFill>
            </a:endParaRPr>
          </a:p>
          <a:p>
            <a:pPr>
              <a:buFont typeface="Wingdings" pitchFamily="2" charset="2"/>
              <a:buChar char="Ø"/>
            </a:pPr>
            <a:endParaRPr lang="en-US" sz="2500" dirty="0" smtClean="0">
              <a:solidFill>
                <a:schemeClr val="accent5">
                  <a:lumMod val="50000"/>
                </a:schemeClr>
              </a:solidFill>
            </a:endParaRPr>
          </a:p>
          <a:p>
            <a:pPr>
              <a:buFont typeface="Wingdings" pitchFamily="2" charset="2"/>
              <a:buChar char="Ø"/>
            </a:pPr>
            <a:r>
              <a:rPr lang="en-US" sz="2500" dirty="0" smtClean="0">
                <a:solidFill>
                  <a:schemeClr val="accent5">
                    <a:lumMod val="50000"/>
                  </a:schemeClr>
                </a:solidFill>
              </a:rPr>
              <a:t>The </a:t>
            </a:r>
            <a:r>
              <a:rPr lang="en-US" sz="2500" dirty="0">
                <a:solidFill>
                  <a:schemeClr val="accent5">
                    <a:lumMod val="50000"/>
                  </a:schemeClr>
                </a:solidFill>
              </a:rPr>
              <a:t>core strength of Partners has always been its ability to connect individuals and organizations across the hemisphere and amass a network that is greater than the sum of its parts. </a:t>
            </a:r>
            <a:endParaRPr lang="en-US" sz="2500" dirty="0" smtClean="0">
              <a:solidFill>
                <a:schemeClr val="accent5">
                  <a:lumMod val="50000"/>
                </a:schemeClr>
              </a:solidFill>
            </a:endParaRPr>
          </a:p>
          <a:p>
            <a:pPr marL="0" indent="0"/>
            <a:endParaRPr lang="en-US" sz="2500" dirty="0">
              <a:solidFill>
                <a:schemeClr val="accent5">
                  <a:lumMod val="50000"/>
                </a:schemeClr>
              </a:solidFill>
            </a:endParaRPr>
          </a:p>
          <a:p>
            <a:pPr>
              <a:buFont typeface="Wingdings" pitchFamily="2" charset="2"/>
              <a:buChar char="Ø"/>
            </a:pPr>
            <a:r>
              <a:rPr lang="en-US" sz="2500" dirty="0">
                <a:solidFill>
                  <a:schemeClr val="accent5">
                    <a:lumMod val="50000"/>
                  </a:schemeClr>
                </a:solidFill>
              </a:rPr>
              <a:t>Today we are creating a revitalized network of volunteers, civil society organizations, businesses, universities, governments and collaborators of all forms. </a:t>
            </a:r>
            <a:endParaRPr lang="en-US" sz="2500" dirty="0" smtClean="0">
              <a:solidFill>
                <a:schemeClr val="accent5">
                  <a:lumMod val="50000"/>
                </a:schemeClr>
              </a:solidFill>
            </a:endParaRPr>
          </a:p>
          <a:p>
            <a:pPr marL="0" indent="0"/>
            <a:endParaRPr lang="en-US" sz="2500" dirty="0" smtClean="0">
              <a:solidFill>
                <a:schemeClr val="accent5">
                  <a:lumMod val="50000"/>
                </a:schemeClr>
              </a:solidFill>
            </a:endParaRPr>
          </a:p>
          <a:p>
            <a:pPr>
              <a:buFont typeface="Wingdings" pitchFamily="2" charset="2"/>
              <a:buChar char="Ø"/>
            </a:pPr>
            <a:r>
              <a:rPr lang="en-US" sz="2500" dirty="0" smtClean="0">
                <a:solidFill>
                  <a:schemeClr val="accent5">
                    <a:lumMod val="50000"/>
                  </a:schemeClr>
                </a:solidFill>
              </a:rPr>
              <a:t>We </a:t>
            </a:r>
            <a:r>
              <a:rPr lang="en-US" sz="2500" dirty="0">
                <a:solidFill>
                  <a:schemeClr val="accent5">
                    <a:lumMod val="50000"/>
                  </a:schemeClr>
                </a:solidFill>
              </a:rPr>
              <a:t>need to place renewed emphasis on learning and educating ourselves about the many ways to position Partners. </a:t>
            </a:r>
            <a:endParaRPr lang="en-US" sz="2500" dirty="0" smtClean="0">
              <a:solidFill>
                <a:schemeClr val="accent5">
                  <a:lumMod val="50000"/>
                </a:schemeClr>
              </a:solidFill>
            </a:endParaRPr>
          </a:p>
          <a:p>
            <a:pPr marL="0" indent="0"/>
            <a:endParaRPr lang="en-US" sz="2500" dirty="0">
              <a:solidFill>
                <a:schemeClr val="accent5">
                  <a:lumMod val="50000"/>
                </a:schemeClr>
              </a:solidFill>
            </a:endParaRPr>
          </a:p>
          <a:p>
            <a:pPr>
              <a:buFont typeface="Wingdings" pitchFamily="2" charset="2"/>
              <a:buChar char="Ø"/>
            </a:pPr>
            <a:r>
              <a:rPr lang="en-US" sz="2500" dirty="0">
                <a:solidFill>
                  <a:schemeClr val="accent5">
                    <a:lumMod val="50000"/>
                  </a:schemeClr>
                </a:solidFill>
              </a:rPr>
              <a:t>We are in a new era and need to be learning-ready, proactive</a:t>
            </a:r>
            <a:r>
              <a:rPr lang="en-US" sz="2500" dirty="0" smtClean="0">
                <a:solidFill>
                  <a:schemeClr val="accent5">
                    <a:lumMod val="50000"/>
                  </a:schemeClr>
                </a:solidFill>
              </a:rPr>
              <a:t>, and </a:t>
            </a:r>
            <a:r>
              <a:rPr lang="en-US" sz="2500" dirty="0">
                <a:solidFill>
                  <a:schemeClr val="accent5">
                    <a:lumMod val="50000"/>
                  </a:schemeClr>
                </a:solidFill>
              </a:rPr>
              <a:t>able to make connections and collaborate meaningfully across program areas. </a:t>
            </a:r>
          </a:p>
          <a:p>
            <a:endParaRPr lang="en-US" dirty="0"/>
          </a:p>
        </p:txBody>
      </p:sp>
      <p:sp>
        <p:nvSpPr>
          <p:cNvPr id="6" name="Text Placeholder 5"/>
          <p:cNvSpPr>
            <a:spLocks noGrp="1"/>
          </p:cNvSpPr>
          <p:nvPr>
            <p:ph type="body" sz="quarter" idx="17"/>
          </p:nvPr>
        </p:nvSpPr>
        <p:spPr>
          <a:xfrm>
            <a:off x="6104467" y="1295400"/>
            <a:ext cx="2805434" cy="5010297"/>
          </a:xfrm>
        </p:spPr>
        <p:style>
          <a:lnRef idx="2">
            <a:schemeClr val="accent6"/>
          </a:lnRef>
          <a:fillRef idx="1">
            <a:schemeClr val="lt1"/>
          </a:fillRef>
          <a:effectRef idx="0">
            <a:schemeClr val="accent6"/>
          </a:effectRef>
          <a:fontRef idx="minor">
            <a:schemeClr val="dk1"/>
          </a:fontRef>
        </p:style>
        <p:txBody>
          <a:bodyPr>
            <a:normAutofit fontScale="40000" lnSpcReduction="20000"/>
          </a:bodyPr>
          <a:lstStyle/>
          <a:p>
            <a:pPr marL="0" indent="0"/>
            <a:endParaRPr lang="en-US" sz="3500" b="1" dirty="0">
              <a:solidFill>
                <a:schemeClr val="accent1"/>
              </a:solidFill>
            </a:endParaRPr>
          </a:p>
          <a:p>
            <a:pPr marL="457200" indent="-457200">
              <a:buFont typeface="+mj-lt"/>
              <a:buAutoNum type="arabicPeriod" startAt="3"/>
            </a:pPr>
            <a:r>
              <a:rPr lang="en-US" sz="3500" b="1" dirty="0" smtClean="0">
                <a:solidFill>
                  <a:schemeClr val="accent1"/>
                </a:solidFill>
              </a:rPr>
              <a:t>Create </a:t>
            </a:r>
            <a:r>
              <a:rPr lang="en-US" sz="3500" b="1" dirty="0">
                <a:solidFill>
                  <a:schemeClr val="accent1"/>
                </a:solidFill>
              </a:rPr>
              <a:t>an Accountable </a:t>
            </a:r>
            <a:r>
              <a:rPr lang="en-US" sz="3500" b="1" dirty="0" smtClean="0">
                <a:solidFill>
                  <a:schemeClr val="accent1"/>
                </a:solidFill>
              </a:rPr>
              <a:t>and Transparent Organization</a:t>
            </a:r>
          </a:p>
          <a:p>
            <a:pPr marL="0" indent="0"/>
            <a:endParaRPr lang="en-US" sz="2500" b="1" dirty="0" smtClean="0">
              <a:solidFill>
                <a:schemeClr val="accent1"/>
              </a:solidFill>
            </a:endParaRPr>
          </a:p>
          <a:p>
            <a:pPr>
              <a:buFont typeface="Wingdings" pitchFamily="2" charset="2"/>
              <a:buChar char="Ø"/>
            </a:pPr>
            <a:r>
              <a:rPr lang="en-US" sz="2800" dirty="0" smtClean="0">
                <a:solidFill>
                  <a:schemeClr val="accent5">
                    <a:lumMod val="50000"/>
                  </a:schemeClr>
                </a:solidFill>
              </a:rPr>
              <a:t>Partners </a:t>
            </a:r>
            <a:r>
              <a:rPr lang="en-US" sz="2800" dirty="0">
                <a:solidFill>
                  <a:schemeClr val="accent5">
                    <a:lumMod val="50000"/>
                  </a:schemeClr>
                </a:solidFill>
              </a:rPr>
              <a:t>must continually nurture its relationship with donors, grant-writers and all those who support our mission. </a:t>
            </a:r>
            <a:endParaRPr lang="en-US" sz="2800" dirty="0" smtClean="0">
              <a:solidFill>
                <a:schemeClr val="accent5">
                  <a:lumMod val="50000"/>
                </a:schemeClr>
              </a:solidFill>
            </a:endParaRPr>
          </a:p>
          <a:p>
            <a:pPr>
              <a:buFont typeface="Wingdings" pitchFamily="2" charset="2"/>
              <a:buChar char="Ø"/>
            </a:pPr>
            <a:endParaRPr lang="en-US" sz="2800" dirty="0" smtClean="0">
              <a:solidFill>
                <a:schemeClr val="accent5">
                  <a:lumMod val="50000"/>
                </a:schemeClr>
              </a:solidFill>
            </a:endParaRPr>
          </a:p>
          <a:p>
            <a:pPr>
              <a:buFont typeface="Wingdings" pitchFamily="2" charset="2"/>
              <a:buChar char="Ø"/>
            </a:pPr>
            <a:r>
              <a:rPr lang="en-US" sz="2800" dirty="0" smtClean="0">
                <a:solidFill>
                  <a:schemeClr val="accent5">
                    <a:lumMod val="50000"/>
                  </a:schemeClr>
                </a:solidFill>
              </a:rPr>
              <a:t>To </a:t>
            </a:r>
            <a:r>
              <a:rPr lang="en-US" sz="2800" dirty="0">
                <a:solidFill>
                  <a:schemeClr val="accent5">
                    <a:lumMod val="50000"/>
                  </a:schemeClr>
                </a:solidFill>
              </a:rPr>
              <a:t>inspire trust and confidence in our operations, it is imperative that Partners create a climate of transparency and accountability, in which contributors can freely access financial and programmatic information. </a:t>
            </a:r>
            <a:endParaRPr lang="en-US" sz="2800" dirty="0" smtClean="0">
              <a:solidFill>
                <a:schemeClr val="accent5">
                  <a:lumMod val="50000"/>
                </a:schemeClr>
              </a:solidFill>
            </a:endParaRPr>
          </a:p>
          <a:p>
            <a:pPr>
              <a:buFont typeface="Wingdings" pitchFamily="2" charset="2"/>
              <a:buChar char="Ø"/>
            </a:pPr>
            <a:endParaRPr lang="en-US" sz="2800" dirty="0" smtClean="0">
              <a:solidFill>
                <a:schemeClr val="accent5">
                  <a:lumMod val="50000"/>
                </a:schemeClr>
              </a:solidFill>
            </a:endParaRPr>
          </a:p>
          <a:p>
            <a:pPr>
              <a:buFont typeface="Wingdings" pitchFamily="2" charset="2"/>
              <a:buChar char="Ø"/>
            </a:pPr>
            <a:r>
              <a:rPr lang="en-US" sz="2800" dirty="0" smtClean="0">
                <a:solidFill>
                  <a:schemeClr val="accent5">
                    <a:lumMod val="50000"/>
                  </a:schemeClr>
                </a:solidFill>
              </a:rPr>
              <a:t>Through </a:t>
            </a:r>
            <a:r>
              <a:rPr lang="en-US" sz="2800" dirty="0">
                <a:solidFill>
                  <a:schemeClr val="accent5">
                    <a:lumMod val="50000"/>
                  </a:schemeClr>
                </a:solidFill>
              </a:rPr>
              <a:t>clean audits, an efficient governance structure, on-time submissions of quarterly and annual reports, improving donor communication, and  attaining BBB certification, Partners will be able to ensure supporters that their contributions are wisely invested and buttress our reputation among competitors and members alike</a:t>
            </a:r>
            <a:r>
              <a:rPr lang="en-US" sz="2500" dirty="0" smtClean="0"/>
              <a:t>.</a:t>
            </a:r>
            <a:endParaRPr lang="en-US" sz="2500" dirty="0"/>
          </a:p>
        </p:txBody>
      </p:sp>
    </p:spTree>
    <p:extLst>
      <p:ext uri="{BB962C8B-B14F-4D97-AF65-F5344CB8AC3E}">
        <p14:creationId xmlns:p14="http://schemas.microsoft.com/office/powerpoint/2010/main" val="32555528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3151573" y="237467"/>
            <a:ext cx="5858548" cy="889920"/>
          </a:xfrm>
        </p:spPr>
        <p:txBody>
          <a:bodyPr>
            <a:normAutofit/>
          </a:bodyPr>
          <a:lstStyle/>
          <a:p>
            <a:pPr algn="r"/>
            <a:r>
              <a:rPr lang="en-US" dirty="0" smtClean="0"/>
              <a:t>Rating Scale &amp; Definitions</a:t>
            </a:r>
            <a:endParaRPr lang="en-US" dirty="0"/>
          </a:p>
        </p:txBody>
      </p:sp>
      <p:sp>
        <p:nvSpPr>
          <p:cNvPr id="9" name="Text Placeholder 8"/>
          <p:cNvSpPr>
            <a:spLocks noGrp="1"/>
          </p:cNvSpPr>
          <p:nvPr>
            <p:ph type="body" sz="quarter" idx="15"/>
          </p:nvPr>
        </p:nvSpPr>
        <p:spPr>
          <a:xfrm>
            <a:off x="237067" y="1270000"/>
            <a:ext cx="4229637" cy="5045839"/>
          </a:xfrm>
        </p:spPr>
        <p:style>
          <a:lnRef idx="2">
            <a:schemeClr val="accent6"/>
          </a:lnRef>
          <a:fillRef idx="1">
            <a:schemeClr val="lt1"/>
          </a:fillRef>
          <a:effectRef idx="0">
            <a:schemeClr val="accent6"/>
          </a:effectRef>
          <a:fontRef idx="minor">
            <a:schemeClr val="dk1"/>
          </a:fontRef>
        </p:style>
        <p:txBody>
          <a:bodyPr>
            <a:normAutofit fontScale="62500" lnSpcReduction="20000"/>
          </a:bodyPr>
          <a:lstStyle/>
          <a:p>
            <a:pPr algn="ctr"/>
            <a:r>
              <a:rPr lang="en-US" sz="4000" b="1" dirty="0"/>
              <a:t>Rating Definitions</a:t>
            </a:r>
          </a:p>
          <a:p>
            <a:endParaRPr lang="en-US" b="1" dirty="0" smtClean="0">
              <a:solidFill>
                <a:schemeClr val="accent6"/>
              </a:solidFill>
            </a:endParaRPr>
          </a:p>
          <a:p>
            <a:r>
              <a:rPr lang="en-US" b="1" dirty="0" smtClean="0">
                <a:solidFill>
                  <a:schemeClr val="accent6"/>
                </a:solidFill>
              </a:rPr>
              <a:t>5.0</a:t>
            </a:r>
            <a:r>
              <a:rPr lang="en-US" b="1" dirty="0">
                <a:solidFill>
                  <a:schemeClr val="accent6"/>
                </a:solidFill>
              </a:rPr>
              <a:t>	Exemplary	</a:t>
            </a:r>
            <a:r>
              <a:rPr lang="en-US" dirty="0">
                <a:solidFill>
                  <a:schemeClr val="accent6"/>
                </a:solidFill>
              </a:rPr>
              <a:t>	</a:t>
            </a:r>
            <a:endParaRPr lang="en-US" dirty="0" smtClean="0">
              <a:solidFill>
                <a:schemeClr val="accent6"/>
              </a:solidFill>
            </a:endParaRPr>
          </a:p>
          <a:p>
            <a:r>
              <a:rPr lang="en-US" dirty="0" smtClean="0">
                <a:solidFill>
                  <a:schemeClr val="dk1"/>
                </a:solidFill>
              </a:rPr>
              <a:t>Consistently </a:t>
            </a:r>
            <a:r>
              <a:rPr lang="en-US" dirty="0">
                <a:solidFill>
                  <a:schemeClr val="dk1"/>
                </a:solidFill>
              </a:rPr>
              <a:t>achieves at a high </a:t>
            </a:r>
            <a:r>
              <a:rPr lang="en-US" dirty="0" smtClean="0">
                <a:solidFill>
                  <a:schemeClr val="dk1"/>
                </a:solidFill>
              </a:rPr>
              <a:t>level. Exceeds </a:t>
            </a:r>
            <a:r>
              <a:rPr lang="en-US" dirty="0">
                <a:solidFill>
                  <a:schemeClr val="dk1"/>
                </a:solidFill>
              </a:rPr>
              <a:t>expectations</a:t>
            </a:r>
            <a:r>
              <a:rPr lang="en-US" dirty="0" smtClean="0">
                <a:solidFill>
                  <a:schemeClr val="dk1"/>
                </a:solidFill>
              </a:rPr>
              <a:t>.</a:t>
            </a:r>
          </a:p>
          <a:p>
            <a:endParaRPr lang="en-US" dirty="0">
              <a:solidFill>
                <a:schemeClr val="dk1"/>
              </a:solidFill>
            </a:endParaRPr>
          </a:p>
          <a:p>
            <a:r>
              <a:rPr lang="en-US" b="1" dirty="0">
                <a:solidFill>
                  <a:schemeClr val="accent5"/>
                </a:solidFill>
              </a:rPr>
              <a:t>4.0 – 4.5	Solid </a:t>
            </a:r>
            <a:r>
              <a:rPr lang="en-US" b="1" dirty="0" smtClean="0">
                <a:solidFill>
                  <a:schemeClr val="accent5"/>
                </a:solidFill>
              </a:rPr>
              <a:t>Performance</a:t>
            </a:r>
            <a:endParaRPr lang="en-US" dirty="0">
              <a:solidFill>
                <a:schemeClr val="accent5"/>
              </a:solidFill>
            </a:endParaRPr>
          </a:p>
          <a:p>
            <a:r>
              <a:rPr lang="en-US" dirty="0" smtClean="0">
                <a:solidFill>
                  <a:schemeClr val="dk1"/>
                </a:solidFill>
              </a:rPr>
              <a:t>Consistently </a:t>
            </a:r>
            <a:r>
              <a:rPr lang="en-US" dirty="0">
                <a:solidFill>
                  <a:schemeClr val="dk1"/>
                </a:solidFill>
              </a:rPr>
              <a:t>achieves above the satisfactory level. Meets all expectations. </a:t>
            </a:r>
            <a:endParaRPr lang="en-US" dirty="0" smtClean="0">
              <a:solidFill>
                <a:schemeClr val="dk1"/>
              </a:solidFill>
            </a:endParaRPr>
          </a:p>
          <a:p>
            <a:endParaRPr lang="en-US" dirty="0">
              <a:solidFill>
                <a:schemeClr val="dk1"/>
              </a:solidFill>
            </a:endParaRPr>
          </a:p>
          <a:p>
            <a:r>
              <a:rPr lang="en-US" b="1" dirty="0"/>
              <a:t>3.0 – 3.5	Satisfactory	</a:t>
            </a:r>
            <a:r>
              <a:rPr lang="en-US" dirty="0"/>
              <a:t>	</a:t>
            </a:r>
            <a:endParaRPr lang="en-US" dirty="0" smtClean="0"/>
          </a:p>
          <a:p>
            <a:r>
              <a:rPr lang="en-US" dirty="0" smtClean="0">
                <a:solidFill>
                  <a:schemeClr val="dk1"/>
                </a:solidFill>
              </a:rPr>
              <a:t>Accomplishes </a:t>
            </a:r>
            <a:r>
              <a:rPr lang="en-US" dirty="0">
                <a:solidFill>
                  <a:schemeClr val="dk1"/>
                </a:solidFill>
              </a:rPr>
              <a:t>the task in a satisfactory manner.  Meets most expectations</a:t>
            </a:r>
            <a:r>
              <a:rPr lang="en-US" dirty="0" smtClean="0">
                <a:solidFill>
                  <a:schemeClr val="dk1"/>
                </a:solidFill>
              </a:rPr>
              <a:t>.</a:t>
            </a:r>
          </a:p>
          <a:p>
            <a:endParaRPr lang="en-US" dirty="0">
              <a:solidFill>
                <a:schemeClr val="dk1"/>
              </a:solidFill>
            </a:endParaRPr>
          </a:p>
          <a:p>
            <a:r>
              <a:rPr lang="en-US" b="1" dirty="0">
                <a:solidFill>
                  <a:schemeClr val="accent2"/>
                </a:solidFill>
              </a:rPr>
              <a:t>1.5 – 2.5	Needs Improvement</a:t>
            </a:r>
            <a:r>
              <a:rPr lang="en-US" dirty="0">
                <a:solidFill>
                  <a:schemeClr val="accent2"/>
                </a:solidFill>
              </a:rPr>
              <a:t>	</a:t>
            </a:r>
            <a:endParaRPr lang="en-US" dirty="0" smtClean="0">
              <a:solidFill>
                <a:schemeClr val="accent2"/>
              </a:solidFill>
            </a:endParaRPr>
          </a:p>
          <a:p>
            <a:r>
              <a:rPr lang="en-US" dirty="0" smtClean="0">
                <a:solidFill>
                  <a:schemeClr val="dk1"/>
                </a:solidFill>
              </a:rPr>
              <a:t>Improvement </a:t>
            </a:r>
            <a:r>
              <a:rPr lang="en-US" dirty="0">
                <a:solidFill>
                  <a:schemeClr val="dk1"/>
                </a:solidFill>
              </a:rPr>
              <a:t>is necessary to more consistently meet expectations</a:t>
            </a:r>
            <a:r>
              <a:rPr lang="en-US" dirty="0" smtClean="0">
                <a:solidFill>
                  <a:schemeClr val="dk1"/>
                </a:solidFill>
              </a:rPr>
              <a:t>.</a:t>
            </a:r>
          </a:p>
          <a:p>
            <a:endParaRPr lang="en-US" dirty="0">
              <a:solidFill>
                <a:schemeClr val="dk1"/>
              </a:solidFill>
            </a:endParaRPr>
          </a:p>
          <a:p>
            <a:r>
              <a:rPr lang="en-US" b="1" dirty="0">
                <a:solidFill>
                  <a:schemeClr val="accent1"/>
                </a:solidFill>
              </a:rPr>
              <a:t>0.0 – 1.0	Seriously Deficient</a:t>
            </a:r>
            <a:r>
              <a:rPr lang="en-US" dirty="0">
                <a:solidFill>
                  <a:schemeClr val="accent1"/>
                </a:solidFill>
              </a:rPr>
              <a:t>	</a:t>
            </a:r>
            <a:endParaRPr lang="en-US" dirty="0" smtClean="0">
              <a:solidFill>
                <a:schemeClr val="accent1"/>
              </a:solidFill>
            </a:endParaRPr>
          </a:p>
          <a:p>
            <a:r>
              <a:rPr lang="en-US" dirty="0" smtClean="0">
                <a:solidFill>
                  <a:schemeClr val="dk1"/>
                </a:solidFill>
              </a:rPr>
              <a:t>Problems </a:t>
            </a:r>
            <a:r>
              <a:rPr lang="en-US" dirty="0">
                <a:solidFill>
                  <a:schemeClr val="dk1"/>
                </a:solidFill>
              </a:rPr>
              <a:t>with approach or execution.  Expectations are generally not met</a:t>
            </a:r>
            <a:r>
              <a:rPr lang="en-US" dirty="0" smtClean="0">
                <a:solidFill>
                  <a:schemeClr val="dk1"/>
                </a:solidFill>
              </a:rPr>
              <a:t>.</a:t>
            </a:r>
            <a:endParaRPr lang="en-US" dirty="0">
              <a:solidFill>
                <a:schemeClr val="dk1"/>
              </a:solidFill>
            </a:endParaRPr>
          </a:p>
        </p:txBody>
      </p:sp>
      <p:sp>
        <p:nvSpPr>
          <p:cNvPr id="10" name="Text Placeholder 9"/>
          <p:cNvSpPr>
            <a:spLocks noGrp="1"/>
          </p:cNvSpPr>
          <p:nvPr>
            <p:ph type="body" sz="quarter" idx="16"/>
          </p:nvPr>
        </p:nvSpPr>
        <p:spPr>
          <a:xfrm>
            <a:off x="4558626" y="1261533"/>
            <a:ext cx="4354389" cy="5051187"/>
          </a:xfrm>
        </p:spPr>
        <p:style>
          <a:lnRef idx="2">
            <a:schemeClr val="accent6"/>
          </a:lnRef>
          <a:fillRef idx="1">
            <a:schemeClr val="lt1"/>
          </a:fillRef>
          <a:effectRef idx="0">
            <a:schemeClr val="accent6"/>
          </a:effectRef>
          <a:fontRef idx="minor">
            <a:schemeClr val="dk1"/>
          </a:fontRef>
        </p:style>
        <p:txBody>
          <a:bodyPr>
            <a:normAutofit fontScale="55000" lnSpcReduction="20000"/>
          </a:bodyPr>
          <a:lstStyle/>
          <a:p>
            <a:pPr algn="ctr"/>
            <a:r>
              <a:rPr lang="en-US" sz="4400" b="1" dirty="0" smtClean="0"/>
              <a:t>Suggested Increase Scale</a:t>
            </a:r>
            <a:endParaRPr lang="en-US" sz="4400" b="1" dirty="0"/>
          </a:p>
          <a:p>
            <a:pPr marL="0" indent="0"/>
            <a:endParaRPr lang="en-US" sz="2500" dirty="0" smtClean="0"/>
          </a:p>
          <a:p>
            <a:pPr marL="0" indent="0"/>
            <a:r>
              <a:rPr lang="en-US" sz="2500" b="1" dirty="0" smtClean="0">
                <a:solidFill>
                  <a:schemeClr val="accent5">
                    <a:lumMod val="50000"/>
                  </a:schemeClr>
                </a:solidFill>
              </a:rPr>
              <a:t>Salary </a:t>
            </a:r>
            <a:r>
              <a:rPr lang="en-US" sz="2500" b="1" dirty="0">
                <a:solidFill>
                  <a:schemeClr val="accent5">
                    <a:lumMod val="50000"/>
                  </a:schemeClr>
                </a:solidFill>
              </a:rPr>
              <a:t>increases are based on performance and available funds. The supervisor may suggest a salary increase for each employee based on the scale below.  If deviating from this scale, an explanation must be included.  Salary increases are ultimately at the President’s discretion.  </a:t>
            </a:r>
          </a:p>
          <a:p>
            <a:pPr marL="0" indent="0"/>
            <a:r>
              <a:rPr lang="en-US" sz="2500" b="1" dirty="0" smtClean="0">
                <a:solidFill>
                  <a:schemeClr val="accent5">
                    <a:lumMod val="50000"/>
                  </a:schemeClr>
                </a:solidFill>
              </a:rPr>
              <a:t>COLA </a:t>
            </a:r>
            <a:r>
              <a:rPr lang="en-US" sz="2500" b="1" dirty="0">
                <a:solidFill>
                  <a:schemeClr val="accent5">
                    <a:lumMod val="50000"/>
                  </a:schemeClr>
                </a:solidFill>
              </a:rPr>
              <a:t>will not be used as basis for increases this year.  For employees that began employment in 2012, their salary increase will be prorated based on total 2012 salary</a:t>
            </a:r>
            <a:r>
              <a:rPr lang="en-US" sz="2500" b="1" dirty="0" smtClean="0">
                <a:solidFill>
                  <a:schemeClr val="accent5">
                    <a:lumMod val="50000"/>
                  </a:schemeClr>
                </a:solidFill>
              </a:rPr>
              <a:t>.</a:t>
            </a:r>
          </a:p>
          <a:p>
            <a:pPr marL="0" indent="0"/>
            <a:endParaRPr lang="en-US" sz="2500" dirty="0"/>
          </a:p>
          <a:p>
            <a:endParaRPr lang="en-US" sz="800" dirty="0">
              <a:solidFill>
                <a:schemeClr val="dk1"/>
              </a:solidFill>
            </a:endParaRPr>
          </a:p>
          <a:p>
            <a:pPr marL="171450" lvl="0" indent="-171450">
              <a:buFont typeface="Arial" pitchFamily="34" charset="0"/>
              <a:buChar char="•"/>
            </a:pPr>
            <a:r>
              <a:rPr lang="en-US" sz="2800" dirty="0">
                <a:solidFill>
                  <a:schemeClr val="dk1"/>
                </a:solidFill>
              </a:rPr>
              <a:t>Overall score of 4.5 and above </a:t>
            </a:r>
            <a:endParaRPr lang="en-US" sz="2800" dirty="0" smtClean="0">
              <a:solidFill>
                <a:schemeClr val="dk1"/>
              </a:solidFill>
            </a:endParaRPr>
          </a:p>
          <a:p>
            <a:pPr marL="0" lvl="0" indent="0"/>
            <a:r>
              <a:rPr lang="en-US" sz="2800" b="1" dirty="0">
                <a:solidFill>
                  <a:schemeClr val="dk1"/>
                </a:solidFill>
              </a:rPr>
              <a:t>	</a:t>
            </a:r>
            <a:r>
              <a:rPr lang="en-US" sz="2800" b="1" dirty="0" smtClean="0">
                <a:solidFill>
                  <a:schemeClr val="accent6"/>
                </a:solidFill>
              </a:rPr>
              <a:t>Exemplary</a:t>
            </a:r>
            <a:r>
              <a:rPr lang="en-US" sz="2800" dirty="0" smtClean="0">
                <a:solidFill>
                  <a:schemeClr val="accent6"/>
                </a:solidFill>
              </a:rPr>
              <a:t> </a:t>
            </a:r>
            <a:r>
              <a:rPr lang="en-US" sz="2800" dirty="0">
                <a:solidFill>
                  <a:schemeClr val="dk1"/>
                </a:solidFill>
              </a:rPr>
              <a:t>(4-5% increase)</a:t>
            </a:r>
          </a:p>
          <a:p>
            <a:pPr marL="171450" lvl="0" indent="-171450">
              <a:buFont typeface="Arial" pitchFamily="34" charset="0"/>
              <a:buChar char="•"/>
            </a:pPr>
            <a:r>
              <a:rPr lang="en-US" sz="2800" dirty="0">
                <a:solidFill>
                  <a:schemeClr val="dk1"/>
                </a:solidFill>
              </a:rPr>
              <a:t>Overall score of 3.5 and above </a:t>
            </a:r>
            <a:endParaRPr lang="en-US" sz="2800" dirty="0" smtClean="0">
              <a:solidFill>
                <a:schemeClr val="dk1"/>
              </a:solidFill>
            </a:endParaRPr>
          </a:p>
          <a:p>
            <a:pPr marL="0" lvl="0" indent="0"/>
            <a:r>
              <a:rPr lang="en-US" sz="2800" b="1" dirty="0">
                <a:solidFill>
                  <a:schemeClr val="dk1"/>
                </a:solidFill>
              </a:rPr>
              <a:t>	</a:t>
            </a:r>
            <a:r>
              <a:rPr lang="en-US" sz="2800" b="1" dirty="0" smtClean="0">
                <a:solidFill>
                  <a:schemeClr val="accent5"/>
                </a:solidFill>
              </a:rPr>
              <a:t>Solid </a:t>
            </a:r>
            <a:r>
              <a:rPr lang="en-US" sz="2800" b="1" dirty="0">
                <a:solidFill>
                  <a:schemeClr val="accent5"/>
                </a:solidFill>
              </a:rPr>
              <a:t>Performance</a:t>
            </a:r>
            <a:r>
              <a:rPr lang="en-US" sz="2800" dirty="0">
                <a:solidFill>
                  <a:schemeClr val="accent5"/>
                </a:solidFill>
              </a:rPr>
              <a:t> </a:t>
            </a:r>
            <a:r>
              <a:rPr lang="en-US" sz="2800" dirty="0">
                <a:solidFill>
                  <a:schemeClr val="dk1"/>
                </a:solidFill>
              </a:rPr>
              <a:t>(2-3% increase)</a:t>
            </a:r>
          </a:p>
          <a:p>
            <a:pPr marL="171450" lvl="0" indent="-171450">
              <a:buFont typeface="Arial" pitchFamily="34" charset="0"/>
              <a:buChar char="•"/>
            </a:pPr>
            <a:r>
              <a:rPr lang="en-US" sz="2800" dirty="0">
                <a:solidFill>
                  <a:schemeClr val="dk1"/>
                </a:solidFill>
              </a:rPr>
              <a:t>Overall score of 3.0 and </a:t>
            </a:r>
            <a:r>
              <a:rPr lang="en-US" sz="2800" dirty="0" smtClean="0">
                <a:solidFill>
                  <a:schemeClr val="dk1"/>
                </a:solidFill>
              </a:rPr>
              <a:t>above</a:t>
            </a:r>
          </a:p>
          <a:p>
            <a:pPr marL="0" lvl="0" indent="0"/>
            <a:r>
              <a:rPr lang="en-US" sz="2800" b="1" dirty="0">
                <a:solidFill>
                  <a:schemeClr val="dk1"/>
                </a:solidFill>
              </a:rPr>
              <a:t>	</a:t>
            </a:r>
            <a:r>
              <a:rPr lang="en-US" sz="2800" b="1" dirty="0" smtClean="0"/>
              <a:t>Satisfactory</a:t>
            </a:r>
            <a:r>
              <a:rPr lang="en-US" sz="2800" dirty="0" smtClean="0">
                <a:solidFill>
                  <a:schemeClr val="dk1"/>
                </a:solidFill>
              </a:rPr>
              <a:t> </a:t>
            </a:r>
            <a:r>
              <a:rPr lang="en-US" sz="2800" dirty="0">
                <a:solidFill>
                  <a:schemeClr val="dk1"/>
                </a:solidFill>
              </a:rPr>
              <a:t>(1-2%)</a:t>
            </a:r>
          </a:p>
          <a:p>
            <a:pPr marL="171450" lvl="0" indent="-171450">
              <a:buFont typeface="Arial" pitchFamily="34" charset="0"/>
              <a:buChar char="•"/>
            </a:pPr>
            <a:r>
              <a:rPr lang="en-US" sz="2800" dirty="0">
                <a:solidFill>
                  <a:schemeClr val="dk1"/>
                </a:solidFill>
              </a:rPr>
              <a:t>Overall score of 3.0 and below* </a:t>
            </a:r>
            <a:endParaRPr lang="en-US" sz="2800" dirty="0" smtClean="0">
              <a:solidFill>
                <a:schemeClr val="dk1"/>
              </a:solidFill>
            </a:endParaRPr>
          </a:p>
          <a:p>
            <a:pPr marL="0" lvl="0" indent="0"/>
            <a:r>
              <a:rPr lang="en-US" sz="2800" b="1" dirty="0">
                <a:solidFill>
                  <a:schemeClr val="dk1"/>
                </a:solidFill>
              </a:rPr>
              <a:t>	</a:t>
            </a:r>
            <a:r>
              <a:rPr lang="en-US" sz="2800" b="1" dirty="0" smtClean="0">
                <a:solidFill>
                  <a:schemeClr val="accent2"/>
                </a:solidFill>
              </a:rPr>
              <a:t>Needs </a:t>
            </a:r>
            <a:r>
              <a:rPr lang="en-US" sz="2800" b="1" dirty="0">
                <a:solidFill>
                  <a:schemeClr val="accent2"/>
                </a:solidFill>
              </a:rPr>
              <a:t>Improvem</a:t>
            </a:r>
            <a:r>
              <a:rPr lang="en-US" sz="2800" b="1" dirty="0">
                <a:solidFill>
                  <a:schemeClr val="dk1"/>
                </a:solidFill>
              </a:rPr>
              <a:t>ent</a:t>
            </a:r>
            <a:r>
              <a:rPr lang="en-US" sz="2800" dirty="0">
                <a:solidFill>
                  <a:schemeClr val="dk1"/>
                </a:solidFill>
              </a:rPr>
              <a:t> (0-1% increase)</a:t>
            </a:r>
          </a:p>
          <a:p>
            <a:pPr marL="800100" lvl="2" indent="0"/>
            <a:r>
              <a:rPr lang="en-US" dirty="0" smtClean="0">
                <a:solidFill>
                  <a:schemeClr val="dk1"/>
                </a:solidFill>
              </a:rPr>
              <a:t>*</a:t>
            </a:r>
            <a:r>
              <a:rPr lang="en-US" dirty="0">
                <a:solidFill>
                  <a:schemeClr val="dk1"/>
                </a:solidFill>
              </a:rPr>
              <a:t>Supervisor must attach list of deficiencies and necessary corrective actions (performance improvement plan</a:t>
            </a:r>
            <a:r>
              <a:rPr lang="en-US" dirty="0" smtClean="0">
                <a:solidFill>
                  <a:schemeClr val="dk1"/>
                </a:solidFill>
              </a:rPr>
              <a:t>).</a:t>
            </a:r>
            <a:endParaRPr lang="en-US" dirty="0">
              <a:solidFill>
                <a:schemeClr val="dk1"/>
              </a:solidFill>
            </a:endParaRPr>
          </a:p>
        </p:txBody>
      </p:sp>
    </p:spTree>
    <p:extLst>
      <p:ext uri="{BB962C8B-B14F-4D97-AF65-F5344CB8AC3E}">
        <p14:creationId xmlns:p14="http://schemas.microsoft.com/office/powerpoint/2010/main" val="12481446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1441305" y="2176332"/>
            <a:ext cx="6500427" cy="2497267"/>
          </a:xfrm>
        </p:spPr>
        <p:txBody>
          <a:bodyPr>
            <a:normAutofit/>
          </a:bodyPr>
          <a:lstStyle/>
          <a:p>
            <a:pPr algn="ctr"/>
            <a:r>
              <a:rPr lang="en-US" sz="3200" dirty="0" smtClean="0"/>
              <a:t>2014 Goals &amp; Performance Evaluation Form:</a:t>
            </a:r>
            <a:r>
              <a:rPr lang="en-US" sz="4000" dirty="0" smtClean="0"/>
              <a:t/>
            </a:r>
            <a:br>
              <a:rPr lang="en-US" sz="4000" dirty="0" smtClean="0"/>
            </a:br>
            <a:r>
              <a:rPr lang="en-US" sz="4000" dirty="0" smtClean="0"/>
              <a:t> </a:t>
            </a:r>
            <a:br>
              <a:rPr lang="en-US" sz="4000" dirty="0" smtClean="0"/>
            </a:br>
            <a:r>
              <a:rPr lang="en-US" sz="3200" b="1" dirty="0" smtClean="0"/>
              <a:t>Section A. 2013 Goals Review</a:t>
            </a:r>
            <a:endParaRPr lang="en-US" sz="3200" b="1" dirty="0"/>
          </a:p>
        </p:txBody>
      </p:sp>
    </p:spTree>
    <p:extLst>
      <p:ext uri="{BB962C8B-B14F-4D97-AF65-F5344CB8AC3E}">
        <p14:creationId xmlns:p14="http://schemas.microsoft.com/office/powerpoint/2010/main" val="9819910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5"/>
          </p:nvPr>
        </p:nvSpPr>
        <p:spPr>
          <a:xfrm>
            <a:off x="112315" y="1202268"/>
            <a:ext cx="2998278" cy="5113572"/>
          </a:xfrm>
        </p:spPr>
        <p:txBody>
          <a:bodyPr>
            <a:normAutofit fontScale="92500" lnSpcReduction="20000"/>
          </a:bodyPr>
          <a:lstStyle/>
          <a:p>
            <a:pPr>
              <a:buFont typeface="Arial" pitchFamily="34" charset="0"/>
              <a:buChar char="•"/>
            </a:pPr>
            <a:r>
              <a:rPr lang="en-US" dirty="0" smtClean="0"/>
              <a:t>Section A. Counts for </a:t>
            </a:r>
            <a:r>
              <a:rPr lang="en-US" b="1" dirty="0" smtClean="0">
                <a:solidFill>
                  <a:schemeClr val="accent1"/>
                </a:solidFill>
              </a:rPr>
              <a:t>75</a:t>
            </a:r>
            <a:r>
              <a:rPr lang="en-US" b="1" dirty="0">
                <a:solidFill>
                  <a:schemeClr val="accent1"/>
                </a:solidFill>
              </a:rPr>
              <a:t>%</a:t>
            </a:r>
            <a:r>
              <a:rPr lang="en-US" dirty="0"/>
              <a:t> </a:t>
            </a:r>
            <a:r>
              <a:rPr lang="en-US" dirty="0" smtClean="0"/>
              <a:t>of the </a:t>
            </a:r>
            <a:r>
              <a:rPr lang="en-US" dirty="0"/>
              <a:t>overall </a:t>
            </a:r>
            <a:r>
              <a:rPr lang="en-US" dirty="0" smtClean="0"/>
              <a:t>rating</a:t>
            </a:r>
          </a:p>
          <a:p>
            <a:pPr>
              <a:buFont typeface="Arial" pitchFamily="34" charset="0"/>
              <a:buChar char="•"/>
            </a:pPr>
            <a:endParaRPr lang="en-US" dirty="0"/>
          </a:p>
          <a:p>
            <a:pPr>
              <a:buFont typeface="Arial" pitchFamily="34" charset="0"/>
              <a:buChar char="•"/>
            </a:pPr>
            <a:r>
              <a:rPr lang="en-US" dirty="0" smtClean="0"/>
              <a:t>List </a:t>
            </a:r>
            <a:r>
              <a:rPr lang="en-US" b="1" dirty="0" smtClean="0">
                <a:solidFill>
                  <a:schemeClr val="accent1"/>
                </a:solidFill>
              </a:rPr>
              <a:t>3 </a:t>
            </a:r>
            <a:r>
              <a:rPr lang="en-US" b="1" u="sng" dirty="0" smtClean="0">
                <a:solidFill>
                  <a:schemeClr val="accent1"/>
                </a:solidFill>
              </a:rPr>
              <a:t>prioritized</a:t>
            </a:r>
            <a:r>
              <a:rPr lang="en-US" b="1" dirty="0" smtClean="0">
                <a:solidFill>
                  <a:schemeClr val="accent1"/>
                </a:solidFill>
              </a:rPr>
              <a:t> goals </a:t>
            </a:r>
            <a:r>
              <a:rPr lang="en-US" dirty="0" smtClean="0"/>
              <a:t>related to employee’s key job functions or specific role in supporting program/unit goals</a:t>
            </a:r>
          </a:p>
          <a:p>
            <a:pPr marL="0" indent="0"/>
            <a:endParaRPr lang="en-US" dirty="0" smtClean="0"/>
          </a:p>
          <a:p>
            <a:pPr>
              <a:buFont typeface="Arial" pitchFamily="34" charset="0"/>
              <a:buChar char="•"/>
            </a:pPr>
            <a:r>
              <a:rPr lang="en-US" dirty="0" smtClean="0"/>
              <a:t>Evaluate actual performance based on </a:t>
            </a:r>
            <a:r>
              <a:rPr lang="en-US" b="1" dirty="0" smtClean="0">
                <a:solidFill>
                  <a:schemeClr val="accent1"/>
                </a:solidFill>
              </a:rPr>
              <a:t>deliverables</a:t>
            </a:r>
            <a:r>
              <a:rPr lang="en-US" dirty="0" smtClean="0">
                <a:solidFill>
                  <a:schemeClr val="accent1"/>
                </a:solidFill>
              </a:rPr>
              <a:t> </a:t>
            </a:r>
            <a:r>
              <a:rPr lang="en-US" dirty="0" smtClean="0"/>
              <a:t>established in </a:t>
            </a:r>
            <a:r>
              <a:rPr lang="en-US" b="1" dirty="0" smtClean="0">
                <a:solidFill>
                  <a:schemeClr val="accent1"/>
                </a:solidFill>
              </a:rPr>
              <a:t>2013 Goals</a:t>
            </a:r>
            <a:r>
              <a:rPr lang="en-US" dirty="0" smtClean="0"/>
              <a:t> (if possible)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2627" y="833514"/>
            <a:ext cx="5822189" cy="52565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263173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ight Arrow 16"/>
          <p:cNvSpPr/>
          <p:nvPr/>
        </p:nvSpPr>
        <p:spPr>
          <a:xfrm>
            <a:off x="401408" y="3367457"/>
            <a:ext cx="736147" cy="407518"/>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20" name="TextBox 19"/>
          <p:cNvSpPr txBox="1"/>
          <p:nvPr/>
        </p:nvSpPr>
        <p:spPr>
          <a:xfrm>
            <a:off x="81642" y="3756936"/>
            <a:ext cx="1209675" cy="646331"/>
          </a:xfrm>
          <a:prstGeom prst="rect">
            <a:avLst/>
          </a:prstGeom>
          <a:noFill/>
        </p:spPr>
        <p:txBody>
          <a:bodyPr wrap="square" rtlCol="0">
            <a:spAutoFit/>
          </a:bodyPr>
          <a:lstStyle/>
          <a:p>
            <a:r>
              <a:rPr lang="en-US" sz="1200" b="1" dirty="0" smtClean="0">
                <a:solidFill>
                  <a:schemeClr val="accent5"/>
                </a:solidFill>
              </a:rPr>
              <a:t>Indicate strategic goals addressed.</a:t>
            </a:r>
            <a:endParaRPr lang="en-US" sz="1200" b="1" dirty="0">
              <a:solidFill>
                <a:schemeClr val="accent5"/>
              </a:solidFill>
            </a:endParaRPr>
          </a:p>
        </p:txBody>
      </p:sp>
      <p:sp>
        <p:nvSpPr>
          <p:cNvPr id="22" name="Right Arrow 21"/>
          <p:cNvSpPr/>
          <p:nvPr/>
        </p:nvSpPr>
        <p:spPr>
          <a:xfrm>
            <a:off x="4618759" y="3774975"/>
            <a:ext cx="736147" cy="407518"/>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23" name="TextBox 22"/>
          <p:cNvSpPr txBox="1"/>
          <p:nvPr/>
        </p:nvSpPr>
        <p:spPr>
          <a:xfrm>
            <a:off x="81643" y="2237027"/>
            <a:ext cx="1283153" cy="830997"/>
          </a:xfrm>
          <a:prstGeom prst="rect">
            <a:avLst/>
          </a:prstGeom>
          <a:noFill/>
        </p:spPr>
        <p:txBody>
          <a:bodyPr wrap="square" rtlCol="0">
            <a:spAutoFit/>
          </a:bodyPr>
          <a:lstStyle/>
          <a:p>
            <a:r>
              <a:rPr lang="en-US" sz="1200" b="1" dirty="0" smtClean="0">
                <a:solidFill>
                  <a:schemeClr val="accent5"/>
                </a:solidFill>
              </a:rPr>
              <a:t>Enter employee’s 2013 goal and objectives (deliverables). </a:t>
            </a:r>
          </a:p>
        </p:txBody>
      </p:sp>
      <p:sp>
        <p:nvSpPr>
          <p:cNvPr id="24" name="Right Arrow 23"/>
          <p:cNvSpPr/>
          <p:nvPr/>
        </p:nvSpPr>
        <p:spPr>
          <a:xfrm>
            <a:off x="628648" y="1341920"/>
            <a:ext cx="736147" cy="407518"/>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27" name="Right Arrow 26"/>
          <p:cNvSpPr/>
          <p:nvPr/>
        </p:nvSpPr>
        <p:spPr>
          <a:xfrm>
            <a:off x="5328679" y="3127409"/>
            <a:ext cx="736147" cy="407518"/>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pic>
        <p:nvPicPr>
          <p:cNvPr id="2052" name="Picture 4"/>
          <p:cNvPicPr preferRelativeResize="0">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1317" y="1749438"/>
            <a:ext cx="7831963" cy="25885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8" name="Right Arrow 27"/>
          <p:cNvSpPr/>
          <p:nvPr/>
        </p:nvSpPr>
        <p:spPr>
          <a:xfrm>
            <a:off x="5497532" y="3083665"/>
            <a:ext cx="736147" cy="407518"/>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29" name="Right Arrow 28"/>
          <p:cNvSpPr/>
          <p:nvPr/>
        </p:nvSpPr>
        <p:spPr>
          <a:xfrm>
            <a:off x="5497531" y="3534927"/>
            <a:ext cx="736147" cy="407518"/>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97633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0" grpId="0"/>
      <p:bldP spid="22" grpId="0" animBg="1"/>
      <p:bldP spid="23" grpId="0"/>
      <p:bldP spid="24" grpId="0" animBg="1"/>
      <p:bldP spid="27" grpId="0" animBg="1"/>
      <p:bldP spid="28" grpId="0" animBg="1"/>
      <p:bldP spid="2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41305" y="2176332"/>
            <a:ext cx="6500427" cy="2497267"/>
          </a:xfrm>
          <a:prstGeom prst="rect">
            <a:avLst/>
          </a:prstGeom>
        </p:spPr>
        <p:txBody>
          <a:bodyPr vert="horz" lIns="91440" tIns="45720" rIns="91440" bIns="45720" rtlCol="0" anchor="ctr">
            <a:normAutofit lnSpcReduction="10000"/>
          </a:bodyPr>
          <a:lstStyle>
            <a:lvl1pPr algn="ctr" defTabSz="457200" rtl="0" eaLnBrk="1" latinLnBrk="0" hangingPunct="1">
              <a:spcBef>
                <a:spcPct val="0"/>
              </a:spcBef>
              <a:buNone/>
              <a:defRPr sz="3600" kern="1200" baseline="0">
                <a:solidFill>
                  <a:schemeClr val="accent2"/>
                </a:solidFill>
                <a:latin typeface="Memphis"/>
                <a:ea typeface="+mj-ea"/>
                <a:cs typeface="Memphis"/>
              </a:defRPr>
            </a:lvl1pPr>
          </a:lstStyle>
          <a:p>
            <a:r>
              <a:rPr lang="en-US" sz="3200" dirty="0" smtClean="0"/>
              <a:t>2013 Goals &amp; Performance Evaluation Form:</a:t>
            </a:r>
            <a:r>
              <a:rPr lang="en-US" sz="4000" dirty="0" smtClean="0"/>
              <a:t/>
            </a:r>
            <a:br>
              <a:rPr lang="en-US" sz="4000" dirty="0" smtClean="0"/>
            </a:br>
            <a:r>
              <a:rPr lang="en-US" sz="4000" dirty="0" smtClean="0"/>
              <a:t> </a:t>
            </a:r>
            <a:br>
              <a:rPr lang="en-US" sz="4000" dirty="0" smtClean="0"/>
            </a:br>
            <a:r>
              <a:rPr lang="en-US" sz="3200" b="1" dirty="0" smtClean="0"/>
              <a:t>Section B. Performance Expectations</a:t>
            </a:r>
            <a:endParaRPr lang="en-US" sz="3200" b="1" dirty="0"/>
          </a:p>
        </p:txBody>
      </p:sp>
    </p:spTree>
    <p:extLst>
      <p:ext uri="{BB962C8B-B14F-4D97-AF65-F5344CB8AC3E}">
        <p14:creationId xmlns:p14="http://schemas.microsoft.com/office/powerpoint/2010/main" val="29563336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5"/>
          </p:nvPr>
        </p:nvSpPr>
        <p:spPr>
          <a:xfrm>
            <a:off x="228600" y="1176867"/>
            <a:ext cx="2829840" cy="5138972"/>
          </a:xfrm>
        </p:spPr>
        <p:txBody>
          <a:bodyPr>
            <a:normAutofit fontScale="62500" lnSpcReduction="20000"/>
          </a:bodyPr>
          <a:lstStyle/>
          <a:p>
            <a:pPr marL="0" indent="0"/>
            <a:r>
              <a:rPr lang="en-US" dirty="0"/>
              <a:t>Counts for </a:t>
            </a:r>
            <a:r>
              <a:rPr lang="en-US" b="1" dirty="0">
                <a:solidFill>
                  <a:schemeClr val="accent1"/>
                </a:solidFill>
              </a:rPr>
              <a:t>25%</a:t>
            </a:r>
            <a:r>
              <a:rPr lang="en-US" dirty="0"/>
              <a:t> of overall rating</a:t>
            </a:r>
          </a:p>
          <a:p>
            <a:pPr marL="0" indent="0"/>
            <a:endParaRPr lang="en-US" b="1" dirty="0" smtClean="0">
              <a:solidFill>
                <a:schemeClr val="accent2"/>
              </a:solidFill>
            </a:endParaRPr>
          </a:p>
          <a:p>
            <a:pPr marL="457200" indent="-457200">
              <a:buFont typeface="+mj-lt"/>
              <a:buAutoNum type="arabicPeriod"/>
            </a:pPr>
            <a:r>
              <a:rPr lang="en-US" b="1" dirty="0" smtClean="0">
                <a:solidFill>
                  <a:schemeClr val="accent2"/>
                </a:solidFill>
              </a:rPr>
              <a:t>Financial Management</a:t>
            </a:r>
          </a:p>
          <a:p>
            <a:pPr marL="0" indent="0"/>
            <a:endParaRPr lang="en-US" b="1" dirty="0" smtClean="0">
              <a:solidFill>
                <a:schemeClr val="accent2"/>
              </a:solidFill>
            </a:endParaRPr>
          </a:p>
          <a:p>
            <a:pPr marL="0" indent="0"/>
            <a:r>
              <a:rPr lang="en-US" b="1" dirty="0" smtClean="0">
                <a:solidFill>
                  <a:schemeClr val="accent2"/>
                </a:solidFill>
              </a:rPr>
              <a:t>2. 	Time Management</a:t>
            </a:r>
          </a:p>
          <a:p>
            <a:pPr marL="0" indent="0"/>
            <a:endParaRPr lang="en-US" b="1" dirty="0" smtClean="0">
              <a:solidFill>
                <a:schemeClr val="accent2"/>
              </a:solidFill>
            </a:endParaRPr>
          </a:p>
          <a:p>
            <a:pPr marL="0" indent="0"/>
            <a:r>
              <a:rPr lang="en-US" b="1" dirty="0" smtClean="0">
                <a:solidFill>
                  <a:schemeClr val="accent2"/>
                </a:solidFill>
              </a:rPr>
              <a:t>3.	Internal &amp; External 	Communication</a:t>
            </a:r>
          </a:p>
          <a:p>
            <a:pPr marL="0" indent="0"/>
            <a:endParaRPr lang="en-US" b="1" dirty="0" smtClean="0">
              <a:solidFill>
                <a:schemeClr val="accent2"/>
              </a:solidFill>
            </a:endParaRPr>
          </a:p>
          <a:p>
            <a:pPr marL="0" indent="0"/>
            <a:r>
              <a:rPr lang="en-US" b="1" dirty="0" smtClean="0">
                <a:solidFill>
                  <a:schemeClr val="accent2"/>
                </a:solidFill>
              </a:rPr>
              <a:t>4.	Problem Solving</a:t>
            </a:r>
          </a:p>
          <a:p>
            <a:pPr marL="0" indent="0"/>
            <a:endParaRPr lang="en-US" b="1" dirty="0" smtClean="0">
              <a:solidFill>
                <a:schemeClr val="accent2"/>
              </a:solidFill>
            </a:endParaRPr>
          </a:p>
          <a:p>
            <a:pPr marL="0" indent="0"/>
            <a:r>
              <a:rPr lang="en-US" b="1" dirty="0" smtClean="0">
                <a:solidFill>
                  <a:schemeClr val="accent2"/>
                </a:solidFill>
              </a:rPr>
              <a:t>5.	Accountability</a:t>
            </a:r>
          </a:p>
          <a:p>
            <a:pPr marL="0" indent="0"/>
            <a:endParaRPr lang="en-US" b="1" dirty="0" smtClean="0">
              <a:solidFill>
                <a:schemeClr val="accent2"/>
              </a:solidFill>
            </a:endParaRPr>
          </a:p>
          <a:p>
            <a:pPr marL="0" indent="0"/>
            <a:r>
              <a:rPr lang="en-US" b="1" dirty="0" smtClean="0">
                <a:solidFill>
                  <a:schemeClr val="accent2"/>
                </a:solidFill>
              </a:rPr>
              <a:t>6. 	Personal &amp; 	Professional 	Development</a:t>
            </a:r>
          </a:p>
          <a:p>
            <a:pPr marL="457200" indent="-457200">
              <a:buFont typeface="+mj-lt"/>
              <a:buAutoNum type="arabicPeriod"/>
            </a:pPr>
            <a:endParaRPr lang="en-US" b="1" dirty="0" smtClean="0">
              <a:solidFill>
                <a:schemeClr val="accent2"/>
              </a:solidFill>
            </a:endParaRPr>
          </a:p>
          <a:p>
            <a:pPr marL="0" indent="0"/>
            <a:r>
              <a:rPr lang="en-US" b="1" dirty="0" smtClean="0">
                <a:solidFill>
                  <a:schemeClr val="accent2"/>
                </a:solidFill>
              </a:rPr>
              <a:t>7. 	Supervisory Functions 	</a:t>
            </a:r>
            <a:r>
              <a:rPr lang="en-US" b="1" i="1" dirty="0" smtClean="0">
                <a:solidFill>
                  <a:schemeClr val="accent2"/>
                </a:solidFill>
              </a:rPr>
              <a:t>(if applicable)</a:t>
            </a:r>
          </a:p>
          <a:p>
            <a:endParaRPr lang="en-US" dirty="0"/>
          </a:p>
        </p:txBody>
      </p:sp>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15259" b="27114"/>
          <a:stretch/>
        </p:blipFill>
        <p:spPr bwMode="auto">
          <a:xfrm>
            <a:off x="3461657" y="821267"/>
            <a:ext cx="5445276" cy="5473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Oval 5"/>
          <p:cNvSpPr/>
          <p:nvPr/>
        </p:nvSpPr>
        <p:spPr>
          <a:xfrm>
            <a:off x="7682594" y="1983921"/>
            <a:ext cx="971550" cy="367393"/>
          </a:xfrm>
          <a:prstGeom prst="ellipse">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423857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1441305" y="2176332"/>
            <a:ext cx="6500427" cy="2497267"/>
          </a:xfrm>
        </p:spPr>
        <p:txBody>
          <a:bodyPr>
            <a:normAutofit fontScale="90000"/>
          </a:bodyPr>
          <a:lstStyle/>
          <a:p>
            <a:pPr algn="ctr"/>
            <a:r>
              <a:rPr lang="en-US" sz="3200" dirty="0" smtClean="0"/>
              <a:t>2014 Performance Goals &amp; Expectations:</a:t>
            </a:r>
            <a:r>
              <a:rPr lang="en-US" sz="4000" dirty="0" smtClean="0"/>
              <a:t/>
            </a:r>
            <a:br>
              <a:rPr lang="en-US" sz="4000" dirty="0" smtClean="0"/>
            </a:br>
            <a:r>
              <a:rPr lang="en-US" sz="4000" dirty="0" smtClean="0"/>
              <a:t> </a:t>
            </a:r>
            <a:br>
              <a:rPr lang="en-US" sz="4000" dirty="0" smtClean="0"/>
            </a:br>
            <a:r>
              <a:rPr lang="en-US" sz="3200" b="1" dirty="0" smtClean="0"/>
              <a:t>Section A. Goals &amp; Key Job Functions</a:t>
            </a:r>
            <a:endParaRPr lang="en-US" sz="3200" b="1" dirty="0"/>
          </a:p>
        </p:txBody>
      </p:sp>
    </p:spTree>
    <p:extLst>
      <p:ext uri="{BB962C8B-B14F-4D97-AF65-F5344CB8AC3E}">
        <p14:creationId xmlns:p14="http://schemas.microsoft.com/office/powerpoint/2010/main" val="40139179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017" y="1157844"/>
            <a:ext cx="7920840" cy="5069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007622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1441305" y="2176332"/>
            <a:ext cx="6500427" cy="2497267"/>
          </a:xfrm>
        </p:spPr>
        <p:txBody>
          <a:bodyPr>
            <a:normAutofit fontScale="90000"/>
          </a:bodyPr>
          <a:lstStyle/>
          <a:p>
            <a:pPr algn="ctr"/>
            <a:r>
              <a:rPr lang="en-US" sz="3200" dirty="0" smtClean="0"/>
              <a:t>2014 Performance Goals &amp; Expectations:</a:t>
            </a:r>
            <a:r>
              <a:rPr lang="en-US" sz="4000" dirty="0" smtClean="0"/>
              <a:t/>
            </a:r>
            <a:br>
              <a:rPr lang="en-US" sz="4000" dirty="0" smtClean="0"/>
            </a:br>
            <a:r>
              <a:rPr lang="en-US" sz="4000" dirty="0" smtClean="0"/>
              <a:t> </a:t>
            </a:r>
            <a:br>
              <a:rPr lang="en-US" sz="4000" dirty="0" smtClean="0"/>
            </a:br>
            <a:r>
              <a:rPr lang="en-US" sz="3200" b="1" dirty="0" smtClean="0"/>
              <a:t>Section B. Performance Expectations</a:t>
            </a:r>
            <a:endParaRPr lang="en-US" sz="3200" b="1" dirty="0"/>
          </a:p>
        </p:txBody>
      </p:sp>
    </p:spTree>
    <p:extLst>
      <p:ext uri="{BB962C8B-B14F-4D97-AF65-F5344CB8AC3E}">
        <p14:creationId xmlns:p14="http://schemas.microsoft.com/office/powerpoint/2010/main" val="19989278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023" y="1166161"/>
            <a:ext cx="7847177" cy="519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9045" y="1628507"/>
            <a:ext cx="4071668" cy="954107"/>
          </a:xfrm>
          <a:prstGeom prst="rect">
            <a:avLst/>
          </a:prstGeom>
        </p:spPr>
        <p:txBody>
          <a:bodyPr wrap="square">
            <a:spAutoFit/>
          </a:bodyPr>
          <a:lstStyle/>
          <a:p>
            <a:pPr marL="285750" lvl="0" indent="-285750">
              <a:buFont typeface="Arial" pitchFamily="34" charset="0"/>
              <a:buChar char="•"/>
            </a:pPr>
            <a:r>
              <a:rPr lang="en-US" sz="1400" dirty="0"/>
              <a:t>Attend and participate in all monthly F&amp;A meetings. </a:t>
            </a:r>
          </a:p>
          <a:p>
            <a:pPr marL="285750" indent="-285750">
              <a:buFont typeface="Arial" pitchFamily="34" charset="0"/>
              <a:buChar char="•"/>
            </a:pPr>
            <a:r>
              <a:rPr lang="en-US" sz="1400" dirty="0"/>
              <a:t>Learn about budget management and assist </a:t>
            </a:r>
            <a:endParaRPr lang="en-US" sz="1400" dirty="0" smtClean="0"/>
          </a:p>
          <a:p>
            <a:r>
              <a:rPr lang="en-US" sz="1400" dirty="0"/>
              <a:t> </a:t>
            </a:r>
            <a:r>
              <a:rPr lang="en-US" sz="1400" dirty="0" smtClean="0"/>
              <a:t>       with budget </a:t>
            </a:r>
            <a:r>
              <a:rPr lang="en-US" sz="1400" dirty="0"/>
              <a:t>development for proposals.</a:t>
            </a:r>
          </a:p>
        </p:txBody>
      </p:sp>
      <p:sp>
        <p:nvSpPr>
          <p:cNvPr id="4" name="Rectangle 3"/>
          <p:cNvSpPr/>
          <p:nvPr/>
        </p:nvSpPr>
        <p:spPr>
          <a:xfrm>
            <a:off x="4534610" y="1628506"/>
            <a:ext cx="3923589" cy="954107"/>
          </a:xfrm>
          <a:prstGeom prst="rect">
            <a:avLst/>
          </a:prstGeom>
        </p:spPr>
        <p:txBody>
          <a:bodyPr wrap="square">
            <a:spAutoFit/>
          </a:bodyPr>
          <a:lstStyle/>
          <a:p>
            <a:pPr marL="285750" lvl="0" indent="-285750">
              <a:buFont typeface="Arial" pitchFamily="34" charset="0"/>
              <a:buChar char="•"/>
            </a:pPr>
            <a:r>
              <a:rPr lang="en-US" sz="1400" dirty="0"/>
              <a:t>Ensure individual volunteer placement targets are met each quarter.</a:t>
            </a:r>
          </a:p>
          <a:p>
            <a:pPr marL="285750" indent="-285750">
              <a:buFont typeface="Arial" pitchFamily="34" charset="0"/>
              <a:buChar char="•"/>
            </a:pPr>
            <a:r>
              <a:rPr lang="en-US" sz="1400" dirty="0"/>
              <a:t>Able to prioritize and complete all work in a timely manner.</a:t>
            </a:r>
          </a:p>
        </p:txBody>
      </p:sp>
      <p:sp>
        <p:nvSpPr>
          <p:cNvPr id="5" name="Rectangle 4"/>
          <p:cNvSpPr/>
          <p:nvPr/>
        </p:nvSpPr>
        <p:spPr>
          <a:xfrm>
            <a:off x="749045" y="2774218"/>
            <a:ext cx="3785566" cy="954107"/>
          </a:xfrm>
          <a:prstGeom prst="rect">
            <a:avLst/>
          </a:prstGeom>
        </p:spPr>
        <p:txBody>
          <a:bodyPr wrap="square">
            <a:spAutoFit/>
          </a:bodyPr>
          <a:lstStyle/>
          <a:p>
            <a:pPr marL="285750" lvl="0" indent="-285750">
              <a:buFont typeface="Arial" pitchFamily="34" charset="0"/>
              <a:buChar char="•"/>
            </a:pPr>
            <a:r>
              <a:rPr lang="en-US" sz="1400" dirty="0"/>
              <a:t>Provide information necessary for quarterly grant reports to donors</a:t>
            </a:r>
            <a:r>
              <a:rPr lang="en-US" sz="1400" dirty="0" smtClean="0"/>
              <a:t>.</a:t>
            </a:r>
          </a:p>
          <a:p>
            <a:pPr marL="285750" lvl="0" indent="-285750">
              <a:buFont typeface="Arial" pitchFamily="34" charset="0"/>
              <a:buChar char="•"/>
            </a:pPr>
            <a:r>
              <a:rPr lang="en-US" sz="1400" dirty="0" smtClean="0"/>
              <a:t>Inform staff and network of upcoming travel  as well as share trip reports as needed</a:t>
            </a:r>
          </a:p>
        </p:txBody>
      </p:sp>
      <p:sp>
        <p:nvSpPr>
          <p:cNvPr id="6" name="Rectangle 5"/>
          <p:cNvSpPr/>
          <p:nvPr/>
        </p:nvSpPr>
        <p:spPr>
          <a:xfrm>
            <a:off x="4534611" y="2835103"/>
            <a:ext cx="3677736" cy="738664"/>
          </a:xfrm>
          <a:prstGeom prst="rect">
            <a:avLst/>
          </a:prstGeom>
        </p:spPr>
        <p:txBody>
          <a:bodyPr wrap="square">
            <a:spAutoFit/>
          </a:bodyPr>
          <a:lstStyle/>
          <a:p>
            <a:pPr marL="285750" indent="-285750">
              <a:buFont typeface="Arial" pitchFamily="34" charset="0"/>
              <a:buChar char="•"/>
            </a:pPr>
            <a:r>
              <a:rPr lang="en-US" sz="1400" dirty="0"/>
              <a:t>Take initiative to proactively address programs affecting the program and organization.</a:t>
            </a:r>
          </a:p>
        </p:txBody>
      </p:sp>
      <p:sp>
        <p:nvSpPr>
          <p:cNvPr id="8" name="Rectangle 7"/>
          <p:cNvSpPr/>
          <p:nvPr/>
        </p:nvSpPr>
        <p:spPr>
          <a:xfrm>
            <a:off x="749045" y="4038421"/>
            <a:ext cx="3785566" cy="954107"/>
          </a:xfrm>
          <a:prstGeom prst="rect">
            <a:avLst/>
          </a:prstGeom>
        </p:spPr>
        <p:txBody>
          <a:bodyPr wrap="square">
            <a:spAutoFit/>
          </a:bodyPr>
          <a:lstStyle/>
          <a:p>
            <a:pPr marL="285750" lvl="0" indent="-285750">
              <a:buFont typeface="Arial" pitchFamily="34" charset="0"/>
              <a:buChar char="•"/>
            </a:pPr>
            <a:r>
              <a:rPr lang="en-US" sz="1400" dirty="0"/>
              <a:t>Follow all grant requirements and organizational policies and procedures.</a:t>
            </a:r>
          </a:p>
          <a:p>
            <a:pPr marL="285750" indent="-285750">
              <a:buFont typeface="Arial" pitchFamily="34" charset="0"/>
              <a:buChar char="•"/>
            </a:pPr>
            <a:r>
              <a:rPr lang="en-US" sz="1400" dirty="0"/>
              <a:t>Encourage transparent and accountable behavior for all team members.</a:t>
            </a:r>
          </a:p>
        </p:txBody>
      </p:sp>
      <p:sp>
        <p:nvSpPr>
          <p:cNvPr id="9" name="Rectangle 8"/>
          <p:cNvSpPr/>
          <p:nvPr/>
        </p:nvSpPr>
        <p:spPr>
          <a:xfrm>
            <a:off x="4534610" y="4053809"/>
            <a:ext cx="3923589" cy="738664"/>
          </a:xfrm>
          <a:prstGeom prst="rect">
            <a:avLst/>
          </a:prstGeom>
        </p:spPr>
        <p:txBody>
          <a:bodyPr wrap="square">
            <a:spAutoFit/>
          </a:bodyPr>
          <a:lstStyle/>
          <a:p>
            <a:pPr marL="285750" indent="-285750">
              <a:buFont typeface="Arial" pitchFamily="34" charset="0"/>
              <a:buChar char="•"/>
            </a:pPr>
            <a:r>
              <a:rPr lang="en-US" sz="1400" dirty="0"/>
              <a:t>Work with supervisor to take on more leadership and responsibility within the program (see individual </a:t>
            </a:r>
            <a:r>
              <a:rPr lang="en-US" sz="1400" dirty="0" smtClean="0"/>
              <a:t>2014 </a:t>
            </a:r>
            <a:r>
              <a:rPr lang="en-US" sz="1400" dirty="0"/>
              <a:t>goals).</a:t>
            </a:r>
          </a:p>
        </p:txBody>
      </p:sp>
      <p:sp>
        <p:nvSpPr>
          <p:cNvPr id="10" name="Rectangle 9"/>
          <p:cNvSpPr/>
          <p:nvPr/>
        </p:nvSpPr>
        <p:spPr>
          <a:xfrm>
            <a:off x="749045" y="5298807"/>
            <a:ext cx="2383025" cy="307777"/>
          </a:xfrm>
          <a:prstGeom prst="rect">
            <a:avLst/>
          </a:prstGeom>
        </p:spPr>
        <p:txBody>
          <a:bodyPr wrap="none">
            <a:spAutoFit/>
          </a:bodyPr>
          <a:lstStyle/>
          <a:p>
            <a:pPr marL="285750" indent="-285750">
              <a:buFont typeface="Arial" pitchFamily="34" charset="0"/>
              <a:buChar char="•"/>
            </a:pPr>
            <a:r>
              <a:rPr lang="en-US" sz="1400" dirty="0"/>
              <a:t>Improve Portuguese skills.</a:t>
            </a:r>
          </a:p>
        </p:txBody>
      </p:sp>
      <p:sp>
        <p:nvSpPr>
          <p:cNvPr id="12" name="TextBox 11"/>
          <p:cNvSpPr txBox="1"/>
          <p:nvPr/>
        </p:nvSpPr>
        <p:spPr>
          <a:xfrm>
            <a:off x="4715934" y="85459"/>
            <a:ext cx="4630946" cy="1215717"/>
          </a:xfrm>
          <a:prstGeom prst="rect">
            <a:avLst/>
          </a:prstGeom>
          <a:noFill/>
        </p:spPr>
        <p:txBody>
          <a:bodyPr wrap="square" rtlCol="0">
            <a:spAutoFit/>
          </a:bodyPr>
          <a:lstStyle/>
          <a:p>
            <a:r>
              <a:rPr lang="en-US" sz="3100" i="1" dirty="0" smtClean="0">
                <a:solidFill>
                  <a:schemeClr val="accent2"/>
                </a:solidFill>
              </a:rPr>
              <a:t>Examples</a:t>
            </a:r>
          </a:p>
          <a:p>
            <a:pPr marL="914400" lvl="1" indent="-457200">
              <a:buFont typeface="Wingdings" pitchFamily="2" charset="2"/>
              <a:buChar char="v"/>
            </a:pPr>
            <a:r>
              <a:rPr lang="en-US" sz="1400" b="1" i="1" dirty="0" smtClean="0">
                <a:solidFill>
                  <a:srgbClr val="FF0000"/>
                </a:solidFill>
              </a:rPr>
              <a:t>ALERT – </a:t>
            </a:r>
            <a:r>
              <a:rPr lang="en-US" sz="1400" i="1" dirty="0" smtClean="0">
                <a:solidFill>
                  <a:srgbClr val="FF0000"/>
                </a:solidFill>
              </a:rPr>
              <a:t>For the 2013-2014 review process, supervisors will be expected to set criteria of performance expectations for their staff</a:t>
            </a:r>
            <a:endParaRPr lang="en-US" sz="1400" i="1" dirty="0">
              <a:solidFill>
                <a:srgbClr val="FF0000"/>
              </a:solidFill>
            </a:endParaRPr>
          </a:p>
        </p:txBody>
      </p:sp>
    </p:spTree>
    <p:extLst>
      <p:ext uri="{BB962C8B-B14F-4D97-AF65-F5344CB8AC3E}">
        <p14:creationId xmlns:p14="http://schemas.microsoft.com/office/powerpoint/2010/main" val="4416358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1441305" y="2176332"/>
            <a:ext cx="6500427" cy="2497267"/>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2"/>
                </a:solidFill>
                <a:latin typeface="Memphis"/>
                <a:ea typeface="+mj-ea"/>
                <a:cs typeface="Memphis"/>
              </a:defRPr>
            </a:lvl1pPr>
          </a:lstStyle>
          <a:p>
            <a:pPr algn="ctr"/>
            <a:endParaRPr lang="en-US" sz="3200" dirty="0" smtClean="0"/>
          </a:p>
          <a:p>
            <a:pPr algn="ctr"/>
            <a:r>
              <a:rPr lang="en-US" sz="3200" b="1" dirty="0" smtClean="0"/>
              <a:t>2014 Program/ Unit Goals</a:t>
            </a:r>
            <a:endParaRPr lang="en-US" sz="3200" b="1" dirty="0"/>
          </a:p>
        </p:txBody>
      </p:sp>
    </p:spTree>
    <p:extLst>
      <p:ext uri="{BB962C8B-B14F-4D97-AF65-F5344CB8AC3E}">
        <p14:creationId xmlns:p14="http://schemas.microsoft.com/office/powerpoint/2010/main" val="22013549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3058440" y="106136"/>
            <a:ext cx="5858548" cy="1428750"/>
          </a:xfrm>
        </p:spPr>
        <p:txBody>
          <a:bodyPr>
            <a:normAutofit/>
          </a:bodyPr>
          <a:lstStyle/>
          <a:p>
            <a:pPr algn="r"/>
            <a:r>
              <a:rPr lang="en-US" sz="3100" dirty="0" smtClean="0"/>
              <a:t>2014 Program/Unit Goals</a:t>
            </a:r>
            <a:endParaRPr lang="en-US" sz="2700"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19" y="1344045"/>
            <a:ext cx="8588854" cy="4496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53747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smtClean="0"/>
              <a:t>Questions?</a:t>
            </a:r>
            <a:endParaRPr lang="en-US" dirty="0"/>
          </a:p>
        </p:txBody>
      </p:sp>
      <p:pic>
        <p:nvPicPr>
          <p:cNvPr id="10" name="Picture Placeholder 9" descr="BU005376.png"/>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62166" r="-62166"/>
          <a:stretch>
            <a:fillRect/>
          </a:stretch>
        </p:blipFill>
        <p:spPr>
          <a:xfrm>
            <a:off x="301625" y="887941"/>
            <a:ext cx="8691563" cy="4683126"/>
          </a:xfrm>
        </p:spPr>
      </p:pic>
    </p:spTree>
    <p:extLst>
      <p:ext uri="{BB962C8B-B14F-4D97-AF65-F5344CB8AC3E}">
        <p14:creationId xmlns:p14="http://schemas.microsoft.com/office/powerpoint/2010/main" val="4036928168"/>
      </p:ext>
    </p:extLst>
  </p:cSld>
  <p:clrMapOvr>
    <a:masterClrMapping/>
  </p:clrMapOvr>
  <p:timing>
    <p:tnLst>
      <p:par>
        <p:cTn id="1" dur="indefinite" restart="never" nodeType="tmRoot"/>
      </p:par>
    </p:tnLst>
  </p:timing>
</p:sld>
</file>

<file path=ppt/theme/theme1.xml><?xml version="1.0" encoding="utf-8"?>
<a:theme xmlns:a="http://schemas.openxmlformats.org/drawingml/2006/main" name="PartnersPPTTemplate">
  <a:themeElements>
    <a:clrScheme name="Custom 1">
      <a:dk1>
        <a:sysClr val="windowText" lastClr="000000"/>
      </a:dk1>
      <a:lt1>
        <a:sysClr val="window" lastClr="FFFFFF"/>
      </a:lt1>
      <a:dk2>
        <a:srgbClr val="474822"/>
      </a:dk2>
      <a:lt2>
        <a:srgbClr val="FFFFFF"/>
      </a:lt2>
      <a:accent1>
        <a:srgbClr val="E54721"/>
      </a:accent1>
      <a:accent2>
        <a:srgbClr val="474822"/>
      </a:accent2>
      <a:accent3>
        <a:srgbClr val="F7AE2E"/>
      </a:accent3>
      <a:accent4>
        <a:srgbClr val="8E991A"/>
      </a:accent4>
      <a:accent5>
        <a:srgbClr val="007198"/>
      </a:accent5>
      <a:accent6>
        <a:srgbClr val="5B015D"/>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2466082-b6bf-4153-98c3-3c41e85fda18">
      <Terms xmlns="http://schemas.microsoft.com/office/infopath/2007/PartnerControls"/>
    </lcf76f155ced4ddcb4097134ff3c332f>
    <TaxCatchAll xmlns="dc808d36-874f-4b27-aec2-2fd649817929" xsi:nil="true"/>
  </documentManagement>
</p:properties>
</file>

<file path=customXml/itemProps1.xml><?xml version="1.0" encoding="utf-8"?>
<ds:datastoreItem xmlns:ds="http://schemas.openxmlformats.org/officeDocument/2006/customXml" ds:itemID="{C6F0FB4D-B9FA-44CE-898C-61F1E1C04F23}"/>
</file>

<file path=customXml/itemProps2.xml><?xml version="1.0" encoding="utf-8"?>
<ds:datastoreItem xmlns:ds="http://schemas.openxmlformats.org/officeDocument/2006/customXml" ds:itemID="{5C35640D-2490-41FD-9550-1F37E3E0DA21}"/>
</file>

<file path=customXml/itemProps3.xml><?xml version="1.0" encoding="utf-8"?>
<ds:datastoreItem xmlns:ds="http://schemas.openxmlformats.org/officeDocument/2006/customXml" ds:itemID="{47810C3A-95A2-48BE-929E-64FCEFAE829F}"/>
</file>

<file path=docProps/app.xml><?xml version="1.0" encoding="utf-8"?>
<Properties xmlns="http://schemas.openxmlformats.org/officeDocument/2006/extended-properties" xmlns:vt="http://schemas.openxmlformats.org/officeDocument/2006/docPropsVTypes">
  <Template>PartnersPPTTemplate</Template>
  <TotalTime>2720</TotalTime>
  <Words>908</Words>
  <Application>Microsoft Office PowerPoint</Application>
  <PresentationFormat>On-screen Show (4:3)</PresentationFormat>
  <Paragraphs>171</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PartnersPPTTemplate</vt:lpstr>
      <vt:lpstr>2014 Performance Review Calendar</vt:lpstr>
      <vt:lpstr>Required Documents</vt:lpstr>
      <vt:lpstr>Self &amp; 360o Evaluation</vt:lpstr>
      <vt:lpstr>2011-2013 Strategic Plan</vt:lpstr>
      <vt:lpstr>Rating Scale &amp; Definitions</vt:lpstr>
      <vt:lpstr>2014 Goals &amp; Performance Evaluation Form:   Section A. 2013 Goals Review</vt:lpstr>
      <vt:lpstr>PowerPoint Presentation</vt:lpstr>
      <vt:lpstr>PowerPoint Presentation</vt:lpstr>
      <vt:lpstr>PowerPoint Presentation</vt:lpstr>
      <vt:lpstr>PowerPoint Presentation</vt:lpstr>
      <vt:lpstr>2014 Performance Goals &amp; Expectations:   Section A. Goals &amp; Key Job Functions</vt:lpstr>
      <vt:lpstr>PowerPoint Presentation</vt:lpstr>
      <vt:lpstr>2014 Performance Goals &amp; Expectations:   Section B. Performance Expectations</vt:lpstr>
      <vt:lpstr>PowerPoint Presentation</vt:lpstr>
      <vt:lpstr>PowerPoint Presentation</vt:lpstr>
      <vt:lpstr>2014 Program/Unit Goals</vt:lpstr>
      <vt:lpstr>Questions?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Jamie M. Trimarchi</dc:creator>
  <cp:lastModifiedBy>Kristian C. Vasquez</cp:lastModifiedBy>
  <cp:revision>100</cp:revision>
  <cp:lastPrinted>2012-12-17T21:53:11Z</cp:lastPrinted>
  <dcterms:created xsi:type="dcterms:W3CDTF">2012-08-01T19:26:25Z</dcterms:created>
  <dcterms:modified xsi:type="dcterms:W3CDTF">2013-11-12T15:41:07Z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y fmtid="{D5CDD505-2E9C-101B-9397-08002B2CF9AE}" pid="3" name="Order">
    <vt:r8>514600</vt:r8>
  </property>
</Properties>
</file>