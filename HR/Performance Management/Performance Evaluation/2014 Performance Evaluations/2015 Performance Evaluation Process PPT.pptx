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61" r:id="rId4"/>
    <p:sldId id="273" r:id="rId5"/>
    <p:sldId id="274" r:id="rId6"/>
    <p:sldId id="271" r:id="rId7"/>
    <p:sldId id="275" r:id="rId8"/>
    <p:sldId id="276" r:id="rId9"/>
    <p:sldId id="277" r:id="rId10"/>
    <p:sldId id="272" r:id="rId11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ulldog" initials="B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AE9E8"/>
    <a:srgbClr val="EF9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4" autoAdjust="0"/>
    <p:restoredTop sz="96970" autoAdjust="0"/>
  </p:normalViewPr>
  <p:slideViewPr>
    <p:cSldViewPr snapToGrid="0" showGuides="1">
      <p:cViewPr>
        <p:scale>
          <a:sx n="120" d="100"/>
          <a:sy n="120" d="100"/>
        </p:scale>
        <p:origin x="-1374" y="-72"/>
      </p:cViewPr>
      <p:guideLst>
        <p:guide orient="horz" pos="2732"/>
        <p:guide pos="20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4631" y="5581440"/>
            <a:ext cx="8692357" cy="682560"/>
          </a:xfrm>
        </p:spPr>
        <p:txBody>
          <a:bodyPr>
            <a:normAutofit/>
          </a:bodyPr>
          <a:lstStyle>
            <a:lvl1pPr>
              <a:defRPr sz="3600" baseline="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1479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225425" y="803274"/>
            <a:ext cx="8691563" cy="4683126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Lef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49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>
            <a:off x="3171825" y="1745280"/>
            <a:ext cx="5761038" cy="4544395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294612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8803814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40" y="864000"/>
            <a:ext cx="5858548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4354389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4558626" y="1742160"/>
            <a:ext cx="4354389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046685" y="1735138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981056" y="1735138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4344988"/>
            <a:ext cx="2928845" cy="1970851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046685" y="434498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981056" y="434498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8" hasCustomPrompt="1"/>
          </p:nvPr>
        </p:nvSpPr>
        <p:spPr>
          <a:xfrm>
            <a:off x="228600" y="1789113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9" hasCustomPrompt="1"/>
          </p:nvPr>
        </p:nvSpPr>
        <p:spPr>
          <a:xfrm>
            <a:off x="3175000" y="177958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20" hasCustomPrompt="1"/>
          </p:nvPr>
        </p:nvSpPr>
        <p:spPr>
          <a:xfrm>
            <a:off x="6097341" y="177958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s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87778"/>
            <a:ext cx="2928845" cy="1970851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3046685" y="178777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5981056" y="1787778"/>
            <a:ext cx="2928845" cy="196070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8" hasCustomPrompt="1"/>
          </p:nvPr>
        </p:nvSpPr>
        <p:spPr>
          <a:xfrm>
            <a:off x="228600" y="3828153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9" hasCustomPrompt="1"/>
          </p:nvPr>
        </p:nvSpPr>
        <p:spPr>
          <a:xfrm>
            <a:off x="3175000" y="381862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20" hasCustomPrompt="1"/>
          </p:nvPr>
        </p:nvSpPr>
        <p:spPr>
          <a:xfrm>
            <a:off x="6097341" y="3818628"/>
            <a:ext cx="2808288" cy="2444750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6" hasCustomPrompt="1"/>
          </p:nvPr>
        </p:nvSpPr>
        <p:spPr>
          <a:xfrm>
            <a:off x="3205314" y="1735138"/>
            <a:ext cx="5710086" cy="4579937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Chart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5978644" y="1745280"/>
            <a:ext cx="292884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6" hasCustomPrompt="1"/>
          </p:nvPr>
        </p:nvSpPr>
        <p:spPr>
          <a:xfrm>
            <a:off x="199307" y="1735138"/>
            <a:ext cx="5710086" cy="4579937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Chart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Cop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585854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3055356" y="1745280"/>
            <a:ext cx="5869413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219075" y="1036800"/>
            <a:ext cx="2835275" cy="5383050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39" y="864000"/>
            <a:ext cx="4397587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Logo(s)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6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5" y="1745280"/>
            <a:ext cx="7335072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568342" y="1035050"/>
            <a:ext cx="1348646" cy="5358550"/>
          </a:xfrm>
        </p:spPr>
        <p:txBody>
          <a:bodyPr>
            <a:normAutofit/>
          </a:bodyPr>
          <a:lstStyle>
            <a:lvl1pPr>
              <a:buNone/>
              <a:defRPr sz="240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013" y="1028160"/>
            <a:ext cx="8691562" cy="55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Header 1</a:t>
            </a:r>
          </a:p>
          <a:p>
            <a:pPr lvl="1"/>
            <a:r>
              <a:rPr lang="en-US" dirty="0" smtClean="0"/>
              <a:t>Header 2</a:t>
            </a:r>
          </a:p>
          <a:p>
            <a:pPr lvl="2"/>
            <a:r>
              <a:rPr lang="en-US" dirty="0" smtClean="0"/>
              <a:t>Header 3</a:t>
            </a:r>
          </a:p>
          <a:p>
            <a:pPr lvl="3"/>
            <a:r>
              <a:rPr lang="en-US" dirty="0" smtClean="0"/>
              <a:t>Body Bold</a:t>
            </a:r>
          </a:p>
          <a:p>
            <a:pPr lvl="4"/>
            <a:r>
              <a:rPr lang="en-US" dirty="0" smtClean="0"/>
              <a:t>Body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AA0BE-CF44-9147-AA0D-6E22E446DBA0}" type="datetimeFigureOut">
              <a:rPr lang="en-US" smtClean="0"/>
              <a:t>10/28/2015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4F107-A8E3-8A4C-AC75-25FC69E35D1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8" r:id="rId4"/>
    <p:sldLayoutId id="2147483659" r:id="rId5"/>
    <p:sldLayoutId id="2147483664" r:id="rId6"/>
    <p:sldLayoutId id="2147483665" r:id="rId7"/>
    <p:sldLayoutId id="2147483660" r:id="rId8"/>
    <p:sldLayoutId id="2147483662" r:id="rId9"/>
    <p:sldLayoutId id="2147483661" r:id="rId10"/>
    <p:sldLayoutId id="214748366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Memphis"/>
          <a:ea typeface="+mj-ea"/>
          <a:cs typeface="Memphi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1"/>
          </a:solidFill>
          <a:latin typeface="Memphis"/>
          <a:ea typeface="+mn-ea"/>
          <a:cs typeface="Memphi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4"/>
          </a:solidFill>
          <a:latin typeface="Memphis"/>
          <a:ea typeface="+mn-ea"/>
          <a:cs typeface="Memphi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1" i="0" kern="1200" baseline="0">
          <a:solidFill>
            <a:schemeClr val="accent3"/>
          </a:solidFill>
          <a:latin typeface="News Gothic MT"/>
          <a:ea typeface="+mn-ea"/>
          <a:cs typeface="News Gothic M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b="1" i="0" kern="1200">
          <a:solidFill>
            <a:schemeClr val="tx1"/>
          </a:solidFill>
          <a:latin typeface="News Gothic MT"/>
          <a:ea typeface="+mn-ea"/>
          <a:cs typeface="News Gothic M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News Gothic MT"/>
          <a:ea typeface="+mn-ea"/>
          <a:cs typeface="News Gothic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441305" y="1543792"/>
            <a:ext cx="6500427" cy="3129807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Goals </a:t>
            </a:r>
            <a:r>
              <a:rPr lang="en-US" sz="3200" dirty="0" smtClean="0"/>
              <a:t>&amp; Performance Review Process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>
                <a:solidFill>
                  <a:schemeClr val="accent1"/>
                </a:solidFill>
              </a:rPr>
              <a:t>Part I</a:t>
            </a:r>
            <a:r>
              <a:rPr lang="en-US" sz="3200" dirty="0" smtClean="0">
                <a:solidFill>
                  <a:schemeClr val="accent1"/>
                </a:solidFill>
              </a:rPr>
              <a:t/>
            </a:r>
            <a:br>
              <a:rPr lang="en-US" sz="3200" dirty="0" smtClean="0">
                <a:solidFill>
                  <a:schemeClr val="accent1"/>
                </a:solidFill>
              </a:rPr>
            </a:br>
            <a:r>
              <a:rPr lang="en-US" sz="3200" b="1" dirty="0" smtClean="0">
                <a:solidFill>
                  <a:schemeClr val="tx1"/>
                </a:solidFill>
              </a:rPr>
              <a:t>Employee Reviews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99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26615" y="1270684"/>
            <a:ext cx="8162011" cy="169515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1"/>
                </a:solidFill>
              </a:rPr>
              <a:t>Beginning October 28</a:t>
            </a:r>
            <a:r>
              <a:rPr lang="en-US" sz="1400" baseline="30000" dirty="0" smtClean="0">
                <a:solidFill>
                  <a:schemeClr val="tx1"/>
                </a:solidFill>
              </a:rPr>
              <a:t>th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Supervisors </a:t>
            </a:r>
            <a:r>
              <a:rPr lang="en-US" sz="1400" dirty="0" smtClean="0">
                <a:solidFill>
                  <a:schemeClr val="tx1"/>
                </a:solidFill>
              </a:rPr>
              <a:t>will request two or three (2 min.-3 max.) confidential </a:t>
            </a:r>
            <a:r>
              <a:rPr lang="en-US" sz="1400" b="1" dirty="0" smtClean="0">
                <a:solidFill>
                  <a:schemeClr val="accent1"/>
                </a:solidFill>
              </a:rPr>
              <a:t>360</a:t>
            </a:r>
            <a:r>
              <a:rPr lang="en-US" sz="1400" b="1" baseline="30000" dirty="0" smtClean="0">
                <a:solidFill>
                  <a:schemeClr val="accent1"/>
                </a:solidFill>
              </a:rPr>
              <a:t>o</a:t>
            </a:r>
            <a:r>
              <a:rPr lang="en-US" sz="1400" b="1" dirty="0" smtClean="0">
                <a:solidFill>
                  <a:schemeClr val="accent1"/>
                </a:solidFill>
              </a:rPr>
              <a:t> Peer Evaluations</a:t>
            </a:r>
            <a:r>
              <a:rPr lang="en-US" sz="1400" dirty="0" smtClean="0"/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from colleagues of each </a:t>
            </a:r>
            <a:r>
              <a:rPr lang="en-US" sz="1400" dirty="0" smtClean="0">
                <a:solidFill>
                  <a:schemeClr val="tx1"/>
                </a:solidFill>
              </a:rPr>
              <a:t>employee.</a:t>
            </a:r>
          </a:p>
          <a:p>
            <a:pPr marL="0" indent="0"/>
            <a:endParaRPr lang="en-US" sz="1400" dirty="0" smtClean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chemeClr val="tx1"/>
                </a:solidFill>
              </a:rPr>
              <a:t>All </a:t>
            </a:r>
            <a:r>
              <a:rPr lang="en-US" sz="1400" b="1" dirty="0">
                <a:solidFill>
                  <a:schemeClr val="accent1"/>
                </a:solidFill>
              </a:rPr>
              <a:t>360</a:t>
            </a:r>
            <a:r>
              <a:rPr lang="en-US" sz="1400" b="1" baseline="30000" dirty="0">
                <a:solidFill>
                  <a:schemeClr val="accent1"/>
                </a:solidFill>
              </a:rPr>
              <a:t>o</a:t>
            </a:r>
            <a:r>
              <a:rPr lang="en-US" sz="1400" b="1" dirty="0">
                <a:solidFill>
                  <a:schemeClr val="accent1"/>
                </a:solidFill>
              </a:rPr>
              <a:t> Peer </a:t>
            </a:r>
            <a:r>
              <a:rPr lang="en-US" sz="1400" b="1" dirty="0" smtClean="0">
                <a:solidFill>
                  <a:schemeClr val="accent1"/>
                </a:solidFill>
              </a:rPr>
              <a:t>Evaluations </a:t>
            </a:r>
            <a:r>
              <a:rPr lang="en-US" sz="1400" dirty="0" smtClean="0">
                <a:solidFill>
                  <a:schemeClr val="tx1"/>
                </a:solidFill>
              </a:rPr>
              <a:t>are due by close of business on November 13</a:t>
            </a:r>
            <a:r>
              <a:rPr lang="en-US" sz="1400" baseline="30000" dirty="0" smtClean="0">
                <a:solidFill>
                  <a:schemeClr val="tx1"/>
                </a:solidFill>
              </a:rPr>
              <a:t>th</a:t>
            </a:r>
            <a:r>
              <a:rPr lang="en-US" sz="1400" dirty="0" smtClean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537" y="2612032"/>
            <a:ext cx="2860674" cy="37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789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112315" y="1207008"/>
            <a:ext cx="2945439" cy="5108831"/>
          </a:xfrm>
        </p:spPr>
        <p:txBody>
          <a:bodyPr>
            <a:normAutofit fontScale="5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tx1"/>
                </a:solidFill>
              </a:rPr>
              <a:t>Supervisors will email each of their employees a copy of the </a:t>
            </a:r>
            <a:r>
              <a:rPr lang="en-US" sz="2500" b="1" dirty="0" smtClean="0">
                <a:solidFill>
                  <a:schemeClr val="accent1"/>
                </a:solidFill>
              </a:rPr>
              <a:t>2014 Employee Goals &amp; Performance Evaluation Form </a:t>
            </a:r>
            <a:r>
              <a:rPr lang="en-US" sz="2500" dirty="0" smtClean="0">
                <a:solidFill>
                  <a:schemeClr val="tx1"/>
                </a:solidFill>
              </a:rPr>
              <a:t>and the </a:t>
            </a:r>
            <a:r>
              <a:rPr lang="en-US" sz="2500" b="1" dirty="0" smtClean="0">
                <a:solidFill>
                  <a:schemeClr val="accent1"/>
                </a:solidFill>
              </a:rPr>
              <a:t>2015 Employee Goals &amp; Performance Expectations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tx1"/>
                </a:solidFill>
              </a:rPr>
              <a:t>In the email, Supervisors will ask the employee to fill in </a:t>
            </a:r>
            <a:r>
              <a:rPr lang="en-US" sz="2500" b="1" dirty="0" smtClean="0">
                <a:solidFill>
                  <a:schemeClr val="tx1"/>
                </a:solidFill>
              </a:rPr>
              <a:t>Section A</a:t>
            </a:r>
            <a:r>
              <a:rPr lang="en-US" sz="2500" dirty="0" smtClean="0">
                <a:solidFill>
                  <a:schemeClr val="tx1"/>
                </a:solidFill>
              </a:rPr>
              <a:t> and </a:t>
            </a:r>
            <a:r>
              <a:rPr lang="en-US" sz="2500" b="1" dirty="0" smtClean="0">
                <a:solidFill>
                  <a:schemeClr val="tx1"/>
                </a:solidFill>
              </a:rPr>
              <a:t>Section B</a:t>
            </a:r>
            <a:r>
              <a:rPr lang="en-US" sz="2500" dirty="0" smtClean="0">
                <a:solidFill>
                  <a:schemeClr val="tx1"/>
                </a:solidFill>
              </a:rPr>
              <a:t> with the ratings that </a:t>
            </a:r>
            <a:r>
              <a:rPr lang="en-US" sz="2500" i="1" dirty="0" smtClean="0">
                <a:solidFill>
                  <a:schemeClr val="tx1"/>
                </a:solidFill>
              </a:rPr>
              <a:t>they</a:t>
            </a:r>
            <a:r>
              <a:rPr lang="en-US" sz="2500" dirty="0" smtClean="0">
                <a:solidFill>
                  <a:schemeClr val="tx1"/>
                </a:solidFill>
              </a:rPr>
              <a:t> believe they have earned for that specific goal. Employees must also complete the </a:t>
            </a:r>
            <a:r>
              <a:rPr lang="en-US" sz="2500" b="1" dirty="0" smtClean="0">
                <a:solidFill>
                  <a:schemeClr val="accent1"/>
                </a:solidFill>
              </a:rPr>
              <a:t>2015 Employee Goals &amp; Performance Expectations Form</a:t>
            </a:r>
            <a:r>
              <a:rPr lang="en-US" sz="2500" dirty="0" smtClean="0"/>
              <a:t> </a:t>
            </a:r>
            <a:r>
              <a:rPr lang="en-US" sz="2500" dirty="0" smtClean="0">
                <a:solidFill>
                  <a:schemeClr val="tx1"/>
                </a:solidFill>
              </a:rPr>
              <a:t>at this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tx1"/>
                </a:solidFill>
              </a:rPr>
              <a:t>Once the employee completes the</a:t>
            </a:r>
            <a:r>
              <a:rPr lang="en-US" sz="2500" dirty="0" smtClean="0"/>
              <a:t> </a:t>
            </a:r>
            <a:r>
              <a:rPr lang="en-US" sz="2500" b="1" dirty="0" smtClean="0">
                <a:solidFill>
                  <a:schemeClr val="accent1"/>
                </a:solidFill>
              </a:rPr>
              <a:t>2014 Employee Goals &amp; Performance Evaluation Form</a:t>
            </a:r>
            <a:r>
              <a:rPr lang="en-US" sz="2500" dirty="0" smtClean="0"/>
              <a:t> </a:t>
            </a:r>
            <a:r>
              <a:rPr lang="en-US" sz="2500" dirty="0" smtClean="0">
                <a:solidFill>
                  <a:schemeClr val="tx1"/>
                </a:solidFill>
              </a:rPr>
              <a:t>and the </a:t>
            </a:r>
            <a:r>
              <a:rPr lang="en-US" sz="2500" b="1" dirty="0" smtClean="0">
                <a:solidFill>
                  <a:schemeClr val="accent1"/>
                </a:solidFill>
              </a:rPr>
              <a:t>2015 Employee Goals &amp; Performance Expectations Form</a:t>
            </a:r>
            <a:r>
              <a:rPr lang="en-US" sz="2500" dirty="0" smtClean="0"/>
              <a:t> </a:t>
            </a:r>
            <a:r>
              <a:rPr lang="en-US" sz="2500" dirty="0" smtClean="0">
                <a:solidFill>
                  <a:schemeClr val="tx1"/>
                </a:solidFill>
              </a:rPr>
              <a:t>in its entirety, they will email the completed forms to their supervisor.</a:t>
            </a:r>
          </a:p>
          <a:p>
            <a:endParaRPr lang="en-US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631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9979" y="1118529"/>
            <a:ext cx="857589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Once the </a:t>
            </a:r>
            <a:r>
              <a:rPr lang="en-US" dirty="0"/>
              <a:t>Supervisor </a:t>
            </a:r>
            <a:r>
              <a:rPr lang="en-US" dirty="0" smtClean="0"/>
              <a:t>receives the completed </a:t>
            </a:r>
            <a:r>
              <a:rPr lang="en-US" b="1" dirty="0">
                <a:solidFill>
                  <a:schemeClr val="accent1"/>
                </a:solidFill>
              </a:rPr>
              <a:t>2014 Employee Goals &amp; Performance Evaluation Form </a:t>
            </a:r>
            <a:r>
              <a:rPr lang="en-US" dirty="0"/>
              <a:t>and the </a:t>
            </a:r>
            <a:r>
              <a:rPr lang="en-US" b="1" dirty="0">
                <a:solidFill>
                  <a:schemeClr val="accent1"/>
                </a:solidFill>
              </a:rPr>
              <a:t>2015 Employee Goals &amp; Performance Expectations </a:t>
            </a:r>
            <a:r>
              <a:rPr lang="en-US" b="1" dirty="0" smtClean="0">
                <a:solidFill>
                  <a:schemeClr val="accent1"/>
                </a:solidFill>
              </a:rPr>
              <a:t>Form, </a:t>
            </a:r>
            <a:r>
              <a:rPr lang="en-US" dirty="0" smtClean="0"/>
              <a:t> they will promptly set </a:t>
            </a:r>
            <a:r>
              <a:rPr lang="en-US" dirty="0"/>
              <a:t>a date and time to meet with the </a:t>
            </a:r>
            <a:r>
              <a:rPr lang="en-US" dirty="0" smtClean="0"/>
              <a:t>employee. 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b="1" dirty="0" smtClean="0"/>
              <a:t>objectives</a:t>
            </a:r>
            <a:r>
              <a:rPr lang="en-US" dirty="0" smtClean="0"/>
              <a:t> that should be achieved during the one on one meeting are as follows: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For the </a:t>
            </a:r>
            <a:r>
              <a:rPr lang="en-US" dirty="0"/>
              <a:t>supervisor and employee </a:t>
            </a:r>
            <a:r>
              <a:rPr lang="en-US" dirty="0" smtClean="0"/>
              <a:t>to discuss </a:t>
            </a:r>
            <a:r>
              <a:rPr lang="en-US" dirty="0"/>
              <a:t>the ratings and </a:t>
            </a:r>
            <a:r>
              <a:rPr lang="en-US" dirty="0" smtClean="0"/>
              <a:t>comments on the </a:t>
            </a:r>
            <a:r>
              <a:rPr lang="en-US" b="1" dirty="0">
                <a:solidFill>
                  <a:schemeClr val="accent1"/>
                </a:solidFill>
              </a:rPr>
              <a:t>2014 Employee Goals &amp; Performance Evaluation </a:t>
            </a:r>
            <a:r>
              <a:rPr lang="en-US" b="1" dirty="0" smtClean="0">
                <a:solidFill>
                  <a:schemeClr val="accent1"/>
                </a:solidFill>
              </a:rPr>
              <a:t>Form</a:t>
            </a:r>
            <a:r>
              <a:rPr lang="en-US" b="1" dirty="0" smtClean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R</a:t>
            </a:r>
            <a:r>
              <a:rPr lang="en-US" dirty="0" smtClean="0"/>
              <a:t>eview the </a:t>
            </a:r>
            <a:r>
              <a:rPr lang="en-US" b="1" dirty="0" smtClean="0">
                <a:solidFill>
                  <a:schemeClr val="accent1"/>
                </a:solidFill>
              </a:rPr>
              <a:t>2015 Goals &amp; Performance Expectations Form</a:t>
            </a:r>
            <a:r>
              <a:rPr lang="en-US" dirty="0" smtClean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</a:t>
            </a:r>
            <a:r>
              <a:rPr lang="en-US" dirty="0" smtClean="0"/>
              <a:t>upervisor </a:t>
            </a:r>
            <a:r>
              <a:rPr lang="en-US" dirty="0"/>
              <a:t>and employee to agree on the </a:t>
            </a:r>
            <a:r>
              <a:rPr lang="en-US" b="1" u="sng" dirty="0" smtClean="0"/>
              <a:t>final ratings</a:t>
            </a:r>
            <a:r>
              <a:rPr lang="en-US" dirty="0"/>
              <a:t> </a:t>
            </a:r>
            <a:r>
              <a:rPr lang="en-US" dirty="0" smtClean="0"/>
              <a:t>that will be submitted to F&amp;A.</a:t>
            </a:r>
            <a:endParaRPr lang="en-US" dirty="0"/>
          </a:p>
        </p:txBody>
      </p:sp>
      <p:pic>
        <p:nvPicPr>
          <p:cNvPr id="1026" name="Picture 2" descr="C:\Users\Kristian.Vasquez\AppData\Local\Microsoft\Windows\Temporary Internet Files\Content.IE5\9DA9N6CX\MC900156753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392" y="2419297"/>
            <a:ext cx="1321060" cy="100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Kristian.Vasquez\AppData\Local\Microsoft\Windows\Temporary Internet Files\Content.IE5\Z8OO00XZ\MC900056119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277" y="2381493"/>
            <a:ext cx="1218133" cy="103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ight Arrow 1"/>
          <p:cNvSpPr/>
          <p:nvPr/>
        </p:nvSpPr>
        <p:spPr>
          <a:xfrm>
            <a:off x="3943350" y="2743199"/>
            <a:ext cx="971550" cy="3905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1" name="Picture 7" descr="C:\Users\Kristian.Vasquez\AppData\Local\Microsoft\Windows\Temporary Internet Files\Content.IE5\Z8OO00XZ\MC900059041[1]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575" y="5134585"/>
            <a:ext cx="1530704" cy="113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85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45665" y="1104900"/>
            <a:ext cx="8631635" cy="5166503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the one on one meeting has taken place. The supervisor will </a:t>
            </a:r>
            <a:r>
              <a:rPr lang="en-US" dirty="0" smtClean="0">
                <a:solidFill>
                  <a:schemeClr val="tx1"/>
                </a:solidFill>
              </a:rPr>
              <a:t>finalize </a:t>
            </a: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 smtClean="0">
                <a:solidFill>
                  <a:schemeClr val="accent1"/>
                </a:solidFill>
              </a:rPr>
              <a:t>2014 Employee </a:t>
            </a:r>
            <a:r>
              <a:rPr lang="en-US" b="1" dirty="0">
                <a:solidFill>
                  <a:schemeClr val="accent1"/>
                </a:solidFill>
              </a:rPr>
              <a:t>Goals &amp; Performance Evaluation Form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and the </a:t>
            </a:r>
            <a:r>
              <a:rPr lang="en-US" b="1" dirty="0" smtClean="0">
                <a:solidFill>
                  <a:schemeClr val="accent1"/>
                </a:solidFill>
              </a:rPr>
              <a:t>2015 Employee Goals &amp; Performance Expectations Form </a:t>
            </a:r>
            <a:r>
              <a:rPr lang="en-US" dirty="0" smtClean="0">
                <a:solidFill>
                  <a:schemeClr val="tx1"/>
                </a:solidFill>
              </a:rPr>
              <a:t>by entering all final data. The supervisor must also complete the </a:t>
            </a:r>
            <a:r>
              <a:rPr lang="en-US" b="1" dirty="0" smtClean="0">
                <a:solidFill>
                  <a:schemeClr val="accent1"/>
                </a:solidFill>
              </a:rPr>
              <a:t>Salary Increase Form</a:t>
            </a:r>
            <a:r>
              <a:rPr lang="en-US" dirty="0" smtClean="0">
                <a:solidFill>
                  <a:schemeClr val="tx1"/>
                </a:solidFill>
              </a:rPr>
              <a:t> if applicable.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 forms must then be printed and signed by both </a:t>
            </a:r>
            <a:r>
              <a:rPr lang="en-US" dirty="0">
                <a:solidFill>
                  <a:schemeClr val="tx1"/>
                </a:solidFill>
              </a:rPr>
              <a:t>the employee and </a:t>
            </a:r>
            <a:r>
              <a:rPr lang="en-US" dirty="0" smtClean="0">
                <a:solidFill>
                  <a:schemeClr val="tx1"/>
                </a:solidFill>
              </a:rPr>
              <a:t>supervisor. Supervisors will then turn in all final documents to F&amp;A.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Please only submit hard copies, not soft copies of employee documents.</a:t>
            </a:r>
          </a:p>
          <a:p>
            <a:pPr marL="0" indent="0"/>
            <a:endParaRPr lang="en-US" dirty="0"/>
          </a:p>
          <a:p>
            <a:pPr marL="0" indent="0"/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0" indent="0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This will conclude the employee review (Part I) and begin the </a:t>
            </a:r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upervisor’s evaluation process (Part II).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276600"/>
            <a:ext cx="1495424" cy="1717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83" y="3276600"/>
            <a:ext cx="2346805" cy="1717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19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441305" y="2176332"/>
            <a:ext cx="6500427" cy="249726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/>
                </a:solidFill>
                <a:latin typeface="Memphis"/>
                <a:ea typeface="+mj-ea"/>
                <a:cs typeface="Memphis"/>
              </a:defRPr>
            </a:lvl1pPr>
          </a:lstStyle>
          <a:p>
            <a:pPr algn="ctr"/>
            <a:endParaRPr lang="en-US" sz="32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1190625" y="2076450"/>
            <a:ext cx="64865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2014 Goals &amp; Performance Review Process</a:t>
            </a:r>
            <a:br>
              <a:rPr lang="en-US" sz="3200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b="1" dirty="0">
                <a:solidFill>
                  <a:schemeClr val="accent1"/>
                </a:solidFill>
              </a:rPr>
              <a:t>Part </a:t>
            </a:r>
            <a:r>
              <a:rPr lang="en-US" sz="3200" b="1" dirty="0" smtClean="0">
                <a:solidFill>
                  <a:schemeClr val="accent1"/>
                </a:solidFill>
              </a:rPr>
              <a:t>II</a:t>
            </a:r>
            <a:r>
              <a:rPr lang="en-US" sz="3200" dirty="0">
                <a:solidFill>
                  <a:schemeClr val="accent1"/>
                </a:solidFill>
              </a:rPr>
              <a:t/>
            </a:r>
            <a:br>
              <a:rPr lang="en-US" sz="3200" dirty="0">
                <a:solidFill>
                  <a:schemeClr val="accent1"/>
                </a:solidFill>
              </a:rPr>
            </a:br>
            <a:r>
              <a:rPr lang="en-US" sz="3200" b="1" dirty="0" smtClean="0">
                <a:solidFill>
                  <a:schemeClr val="accent1"/>
                </a:solidFill>
              </a:rPr>
              <a:t>Program/Unit Manager </a:t>
            </a:r>
            <a:r>
              <a:rPr lang="en-US" sz="3200" b="1" dirty="0">
                <a:solidFill>
                  <a:schemeClr val="accent1"/>
                </a:solidFill>
              </a:rPr>
              <a:t>Reviews</a:t>
            </a:r>
            <a:endParaRPr lang="en-US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5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216" y="1105216"/>
            <a:ext cx="77102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Program/Unit Managers will be evaluated based on performance in achieving their 2014 Program/Unit goals.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F&amp;A will email each Program/Unit manager their respective </a:t>
            </a:r>
            <a:r>
              <a:rPr lang="en-US" b="1" dirty="0" smtClean="0">
                <a:solidFill>
                  <a:schemeClr val="accent1"/>
                </a:solidFill>
              </a:rPr>
              <a:t>2014 Program/Unit Goals &amp; Performance Evaluation Workbook </a:t>
            </a:r>
            <a:r>
              <a:rPr lang="en-US" b="1" dirty="0" smtClean="0"/>
              <a:t>(See Example Below)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dirty="0" smtClean="0"/>
              <a:t>and a blank </a:t>
            </a:r>
            <a:r>
              <a:rPr lang="en-US" b="1" dirty="0" smtClean="0">
                <a:solidFill>
                  <a:schemeClr val="accent1"/>
                </a:solidFill>
              </a:rPr>
              <a:t>2015 Program/Unit Goals Form.</a:t>
            </a:r>
            <a:endParaRPr lang="en-US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workbook is pre-filled based on data given and presented during midyear reviews.</a:t>
            </a:r>
          </a:p>
          <a:p>
            <a:endParaRPr lang="en-US" b="1" dirty="0" smtClean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 smtClean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 smtClean="0">
              <a:solidFill>
                <a:schemeClr val="accent1"/>
              </a:solidFill>
            </a:endParaRPr>
          </a:p>
          <a:p>
            <a:endParaRPr lang="en-US" b="1" dirty="0" smtClean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742" y="3459573"/>
            <a:ext cx="2237493" cy="284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/>
          <p:nvPr/>
        </p:nvSpPr>
        <p:spPr>
          <a:xfrm>
            <a:off x="7691891" y="3652045"/>
            <a:ext cx="1340345" cy="353026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698" y="3431916"/>
            <a:ext cx="3157248" cy="278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17" y="3488309"/>
            <a:ext cx="3164319" cy="2733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99435" y="3656026"/>
            <a:ext cx="1340345" cy="353026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9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45312" y="1066994"/>
            <a:ext cx="7797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Program/Unit </a:t>
            </a:r>
            <a:r>
              <a:rPr lang="en-US" dirty="0"/>
              <a:t>Managers will update </a:t>
            </a:r>
            <a:r>
              <a:rPr lang="en-US" b="1" dirty="0" smtClean="0"/>
              <a:t>Section A.</a:t>
            </a:r>
            <a:r>
              <a:rPr lang="en-US" dirty="0" smtClean="0"/>
              <a:t> with the </a:t>
            </a:r>
            <a:r>
              <a:rPr lang="en-US" dirty="0"/>
              <a:t>information as </a:t>
            </a:r>
            <a:r>
              <a:rPr lang="en-US" dirty="0" smtClean="0"/>
              <a:t>needed, </a:t>
            </a:r>
            <a:r>
              <a:rPr lang="en-US" dirty="0"/>
              <a:t>including the </a:t>
            </a:r>
            <a:r>
              <a:rPr lang="en-US" dirty="0" smtClean="0"/>
              <a:t>ratings. They will also complete </a:t>
            </a:r>
            <a:r>
              <a:rPr lang="en-US" b="1" dirty="0" smtClean="0"/>
              <a:t>Section B.</a:t>
            </a:r>
            <a:r>
              <a:rPr lang="en-US" dirty="0" smtClean="0"/>
              <a:t> by entering the ratings they believe they have earned.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this has been completed</a:t>
            </a:r>
            <a:r>
              <a:rPr lang="en-US" dirty="0" smtClean="0"/>
              <a:t>,</a:t>
            </a:r>
            <a:r>
              <a:rPr lang="en-US" dirty="0"/>
              <a:t> Program/Unit</a:t>
            </a:r>
            <a:r>
              <a:rPr lang="en-US" dirty="0" smtClean="0"/>
              <a:t> Managers will email their </a:t>
            </a:r>
            <a:r>
              <a:rPr lang="en-US" b="1" dirty="0">
                <a:solidFill>
                  <a:schemeClr val="accent1"/>
                </a:solidFill>
              </a:rPr>
              <a:t>2014 </a:t>
            </a:r>
            <a:r>
              <a:rPr lang="en-US" b="1" dirty="0" smtClean="0">
                <a:solidFill>
                  <a:schemeClr val="accent1"/>
                </a:solidFill>
              </a:rPr>
              <a:t>Program/Unit </a:t>
            </a:r>
            <a:r>
              <a:rPr lang="en-US" b="1" dirty="0">
                <a:solidFill>
                  <a:schemeClr val="accent1"/>
                </a:solidFill>
              </a:rPr>
              <a:t>Goals &amp; Performance Evaluation </a:t>
            </a:r>
            <a:r>
              <a:rPr lang="en-US" b="1" dirty="0" smtClean="0">
                <a:solidFill>
                  <a:schemeClr val="accent1"/>
                </a:solidFill>
              </a:rPr>
              <a:t>Workbook </a:t>
            </a:r>
            <a:r>
              <a:rPr lang="en-US" dirty="0"/>
              <a:t>and </a:t>
            </a:r>
            <a:r>
              <a:rPr lang="en-US" b="1" dirty="0" smtClean="0">
                <a:solidFill>
                  <a:schemeClr val="accent1"/>
                </a:solidFill>
              </a:rPr>
              <a:t>2015 </a:t>
            </a:r>
            <a:r>
              <a:rPr lang="en-US" b="1" dirty="0">
                <a:solidFill>
                  <a:schemeClr val="accent1"/>
                </a:solidFill>
              </a:rPr>
              <a:t>Program/Unit Goals </a:t>
            </a:r>
            <a:r>
              <a:rPr lang="en-US" b="1" dirty="0" smtClean="0">
                <a:solidFill>
                  <a:schemeClr val="accent1"/>
                </a:solidFill>
              </a:rPr>
              <a:t>Form </a:t>
            </a:r>
            <a:r>
              <a:rPr lang="en-US" dirty="0" smtClean="0"/>
              <a:t>to Senior </a:t>
            </a:r>
            <a:r>
              <a:rPr lang="en-US" dirty="0"/>
              <a:t>Management </a:t>
            </a:r>
            <a:r>
              <a:rPr lang="en-US" dirty="0" smtClean="0"/>
              <a:t>and </a:t>
            </a:r>
            <a:r>
              <a:rPr lang="en-US" dirty="0"/>
              <a:t>schedule a one on one </a:t>
            </a:r>
            <a:r>
              <a:rPr lang="en-US" dirty="0" smtClean="0"/>
              <a:t>meeting to review their ratings.</a:t>
            </a: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objectives</a:t>
            </a:r>
            <a:r>
              <a:rPr lang="en-US" dirty="0"/>
              <a:t> that should be achieved during the one on one meeting are as follows: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For the </a:t>
            </a:r>
            <a:r>
              <a:rPr lang="en-US" dirty="0" smtClean="0"/>
              <a:t>Program/Unit </a:t>
            </a:r>
            <a:r>
              <a:rPr lang="en-US" dirty="0"/>
              <a:t>M</a:t>
            </a:r>
            <a:r>
              <a:rPr lang="en-US" dirty="0" smtClean="0"/>
              <a:t>anager and Senior Management </a:t>
            </a:r>
            <a:r>
              <a:rPr lang="en-US" dirty="0"/>
              <a:t>and </a:t>
            </a:r>
            <a:r>
              <a:rPr lang="en-US" dirty="0" smtClean="0"/>
              <a:t>to </a:t>
            </a:r>
            <a:r>
              <a:rPr lang="en-US" dirty="0"/>
              <a:t>discuss the ratings and comments on the </a:t>
            </a:r>
            <a:r>
              <a:rPr lang="en-US" b="1" dirty="0">
                <a:solidFill>
                  <a:srgbClr val="FF0000"/>
                </a:solidFill>
              </a:rPr>
              <a:t>2014 </a:t>
            </a:r>
            <a:r>
              <a:rPr lang="en-US" b="1" dirty="0" smtClean="0">
                <a:solidFill>
                  <a:srgbClr val="FF0000"/>
                </a:solidFill>
              </a:rPr>
              <a:t>Program/Unit </a:t>
            </a:r>
            <a:r>
              <a:rPr lang="en-US" b="1" dirty="0">
                <a:solidFill>
                  <a:srgbClr val="FF0000"/>
                </a:solidFill>
              </a:rPr>
              <a:t>Goals &amp; Performance Evaluation Form.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Review the </a:t>
            </a:r>
            <a:r>
              <a:rPr lang="en-US" b="1" dirty="0">
                <a:solidFill>
                  <a:srgbClr val="FF0000"/>
                </a:solidFill>
              </a:rPr>
              <a:t>2015 </a:t>
            </a:r>
            <a:r>
              <a:rPr lang="en-US" b="1" dirty="0" smtClean="0">
                <a:solidFill>
                  <a:srgbClr val="FF0000"/>
                </a:solidFill>
              </a:rPr>
              <a:t>Program/Unit Goals Form</a:t>
            </a:r>
            <a:r>
              <a:rPr lang="en-US" dirty="0" smtClean="0"/>
              <a:t>. 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Program/Unit Manager and Senior Management </a:t>
            </a:r>
            <a:r>
              <a:rPr lang="en-US" dirty="0"/>
              <a:t>to agree on the </a:t>
            </a:r>
            <a:r>
              <a:rPr lang="en-US" b="1" u="sng" dirty="0"/>
              <a:t>final ratings</a:t>
            </a:r>
            <a:r>
              <a:rPr lang="en-US" dirty="0"/>
              <a:t> </a:t>
            </a:r>
            <a:r>
              <a:rPr lang="en-US" dirty="0" smtClean="0"/>
              <a:t>and goals that </a:t>
            </a:r>
            <a:r>
              <a:rPr lang="en-US" dirty="0"/>
              <a:t>will be submitted to F&amp;A.</a:t>
            </a:r>
          </a:p>
          <a:p>
            <a:endParaRPr lang="en-US" dirty="0"/>
          </a:p>
        </p:txBody>
      </p:sp>
      <p:pic>
        <p:nvPicPr>
          <p:cNvPr id="7" name="Picture 2" descr="C:\Users\Kristian.Vasquez\AppData\Local\Microsoft\Windows\Temporary Internet Files\Content.IE5\9DA9N6CX\MC900156753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916" y="3137668"/>
            <a:ext cx="1134108" cy="86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ight Arrow 7"/>
          <p:cNvSpPr/>
          <p:nvPr/>
        </p:nvSpPr>
        <p:spPr>
          <a:xfrm>
            <a:off x="3909643" y="3346500"/>
            <a:ext cx="971550" cy="39052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5" descr="C:\Users\Kristian.Vasquez\AppData\Local\Microsoft\Windows\Temporary Internet Files\Content.IE5\Z8OO00XZ\MC900056119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51" y="3082063"/>
            <a:ext cx="1032260" cy="877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5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99846" y="1110278"/>
            <a:ext cx="72383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the one on one meeting has taken </a:t>
            </a:r>
            <a:r>
              <a:rPr lang="en-US" dirty="0" smtClean="0"/>
              <a:t>place, the Program/Unit Manager </a:t>
            </a:r>
            <a:r>
              <a:rPr lang="en-US" dirty="0"/>
              <a:t>will finalize the </a:t>
            </a:r>
            <a:r>
              <a:rPr lang="en-US" b="1" dirty="0">
                <a:solidFill>
                  <a:schemeClr val="accent1"/>
                </a:solidFill>
              </a:rPr>
              <a:t>2014 </a:t>
            </a:r>
            <a:r>
              <a:rPr lang="en-US" b="1" dirty="0" smtClean="0">
                <a:solidFill>
                  <a:schemeClr val="accent1"/>
                </a:solidFill>
              </a:rPr>
              <a:t>Program/Unit </a:t>
            </a:r>
            <a:r>
              <a:rPr lang="en-US" b="1" dirty="0">
                <a:solidFill>
                  <a:schemeClr val="accent1"/>
                </a:solidFill>
              </a:rPr>
              <a:t>Goals &amp; Performance Evaluation </a:t>
            </a:r>
            <a:r>
              <a:rPr lang="en-US" b="1" dirty="0" smtClean="0">
                <a:solidFill>
                  <a:schemeClr val="accent1"/>
                </a:solidFill>
              </a:rPr>
              <a:t>Workbook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chemeClr val="accent1"/>
                </a:solidFill>
              </a:rPr>
              <a:t>2015 </a:t>
            </a:r>
            <a:r>
              <a:rPr lang="en-US" b="1" dirty="0" smtClean="0">
                <a:solidFill>
                  <a:schemeClr val="accent1"/>
                </a:solidFill>
              </a:rPr>
              <a:t>Program/Unit </a:t>
            </a:r>
            <a:r>
              <a:rPr lang="en-US" b="1" dirty="0">
                <a:solidFill>
                  <a:schemeClr val="accent1"/>
                </a:solidFill>
              </a:rPr>
              <a:t>Goals </a:t>
            </a:r>
            <a:r>
              <a:rPr lang="en-US" b="1" dirty="0" smtClean="0">
                <a:solidFill>
                  <a:schemeClr val="accent1"/>
                </a:solidFill>
              </a:rPr>
              <a:t>Form </a:t>
            </a:r>
            <a:r>
              <a:rPr lang="en-US" dirty="0"/>
              <a:t>by entering all final data.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the interim Senior Management will complete </a:t>
            </a:r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Salary Increase Form</a:t>
            </a:r>
            <a:r>
              <a:rPr lang="en-US" dirty="0"/>
              <a:t> if </a:t>
            </a:r>
            <a:r>
              <a:rPr lang="en-US" dirty="0" smtClean="0"/>
              <a:t>applicable for the Program/Unit Manager.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forms must then be printed and signed by both </a:t>
            </a:r>
            <a:r>
              <a:rPr lang="en-US" dirty="0" smtClean="0"/>
              <a:t>Program/Unit Managers and Senior Management. Once the printed forms have been signed, the Program/Unit Manager will submit hard copies and soft copies to F&amp;A.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will conclude the </a:t>
            </a:r>
            <a:r>
              <a:rPr lang="en-US" dirty="0" smtClean="0"/>
              <a:t> Program/Unit Manager Reviews </a:t>
            </a:r>
            <a:r>
              <a:rPr lang="en-US" dirty="0"/>
              <a:t>(Part </a:t>
            </a:r>
            <a:r>
              <a:rPr lang="en-US" dirty="0" smtClean="0"/>
              <a:t>II).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176" y="4030066"/>
            <a:ext cx="1495424" cy="1448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042" y="4024894"/>
            <a:ext cx="1903462" cy="1453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8961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pic>
        <p:nvPicPr>
          <p:cNvPr id="10" name="Picture Placeholder 9" descr="BU005376.png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2166" r="-62166"/>
          <a:stretch>
            <a:fillRect/>
          </a:stretch>
        </p:blipFill>
        <p:spPr>
          <a:xfrm>
            <a:off x="301625" y="887941"/>
            <a:ext cx="8691563" cy="4683126"/>
          </a:xfrm>
        </p:spPr>
      </p:pic>
    </p:spTree>
    <p:extLst>
      <p:ext uri="{BB962C8B-B14F-4D97-AF65-F5344CB8AC3E}">
        <p14:creationId xmlns:p14="http://schemas.microsoft.com/office/powerpoint/2010/main" val="403692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tnersPPTTemplate">
  <a:themeElements>
    <a:clrScheme name="Custom 1">
      <a:dk1>
        <a:sysClr val="windowText" lastClr="000000"/>
      </a:dk1>
      <a:lt1>
        <a:sysClr val="window" lastClr="FFFFFF"/>
      </a:lt1>
      <a:dk2>
        <a:srgbClr val="474822"/>
      </a:dk2>
      <a:lt2>
        <a:srgbClr val="FFFFFF"/>
      </a:lt2>
      <a:accent1>
        <a:srgbClr val="E54721"/>
      </a:accent1>
      <a:accent2>
        <a:srgbClr val="474822"/>
      </a:accent2>
      <a:accent3>
        <a:srgbClr val="F7AE2E"/>
      </a:accent3>
      <a:accent4>
        <a:srgbClr val="8E991A"/>
      </a:accent4>
      <a:accent5>
        <a:srgbClr val="007198"/>
      </a:accent5>
      <a:accent6>
        <a:srgbClr val="5B015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BAFD2B0E-FF25-4A02-BB13-5DF4AA208DD7}"/>
</file>

<file path=customXml/itemProps2.xml><?xml version="1.0" encoding="utf-8"?>
<ds:datastoreItem xmlns:ds="http://schemas.openxmlformats.org/officeDocument/2006/customXml" ds:itemID="{5AE6088C-E0BB-424C-AEBC-05C7C190CE6E}"/>
</file>

<file path=customXml/itemProps3.xml><?xml version="1.0" encoding="utf-8"?>
<ds:datastoreItem xmlns:ds="http://schemas.openxmlformats.org/officeDocument/2006/customXml" ds:itemID="{B2C3F14B-5D7D-4597-9ABD-2CEFA90A433A}"/>
</file>

<file path=docProps/app.xml><?xml version="1.0" encoding="utf-8"?>
<Properties xmlns="http://schemas.openxmlformats.org/officeDocument/2006/extended-properties" xmlns:vt="http://schemas.openxmlformats.org/officeDocument/2006/docPropsVTypes">
  <Template>PartnersPPTTemplate</Template>
  <TotalTime>3360</TotalTime>
  <Words>667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PartnersPPTTemplate</vt:lpstr>
      <vt:lpstr>Goals &amp; Performance Review Process  Part I Employee Reviews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Jamie M. Trimarchi</dc:creator>
  <cp:lastModifiedBy>Kristian C. Vasquez</cp:lastModifiedBy>
  <cp:revision>144</cp:revision>
  <cp:lastPrinted>2012-12-17T21:53:11Z</cp:lastPrinted>
  <dcterms:created xsi:type="dcterms:W3CDTF">2012-08-01T19:26:25Z</dcterms:created>
  <dcterms:modified xsi:type="dcterms:W3CDTF">2015-10-28T13:38:09Z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515800</vt:r8>
  </property>
</Properties>
</file>