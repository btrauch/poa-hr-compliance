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commentAuthors.xml" ContentType="application/vnd.openxmlformats-officedocument.presentationml.commentAuthors+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8" r:id="rId3"/>
    <p:sldId id="259" r:id="rId4"/>
    <p:sldId id="267" r:id="rId5"/>
    <p:sldId id="257" r:id="rId6"/>
    <p:sldId id="261" r:id="rId7"/>
    <p:sldId id="273" r:id="rId8"/>
    <p:sldId id="274" r:id="rId9"/>
    <p:sldId id="271" r:id="rId10"/>
    <p:sldId id="275" r:id="rId11"/>
    <p:sldId id="276" r:id="rId12"/>
    <p:sldId id="277" r:id="rId13"/>
    <p:sldId id="272" r:id="rId1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ulldog" initials="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FAE9E8"/>
    <a:srgbClr val="EF91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96970" autoAdjust="0"/>
  </p:normalViewPr>
  <p:slideViewPr>
    <p:cSldViewPr snapToGrid="0" showGuides="1">
      <p:cViewPr>
        <p:scale>
          <a:sx n="120" d="100"/>
          <a:sy n="120" d="100"/>
        </p:scale>
        <p:origin x="-1374" y="-60"/>
      </p:cViewPr>
      <p:guideLst>
        <p:guide orient="horz" pos="2732"/>
        <p:guide pos="20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4631" y="5581440"/>
            <a:ext cx="8692357" cy="682560"/>
          </a:xfrm>
        </p:spPr>
        <p:txBody>
          <a:bodyPr>
            <a:normAutofit/>
          </a:bodyPr>
          <a:lstStyle>
            <a:lvl1pPr>
              <a:defRPr sz="3600" baseline="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1479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0" name="Picture Placeholder 9"/>
          <p:cNvSpPr>
            <a:spLocks noGrp="1"/>
          </p:cNvSpPr>
          <p:nvPr>
            <p:ph type="pic" sz="quarter" idx="14"/>
          </p:nvPr>
        </p:nvSpPr>
        <p:spPr>
          <a:xfrm>
            <a:off x="225425" y="803274"/>
            <a:ext cx="8691563" cy="4683126"/>
          </a:xfrm>
        </p:spPr>
        <p:txBody>
          <a:bodyPr/>
          <a:lstStyle>
            <a:lvl1pPr>
              <a:buNone/>
              <a:defRPr baseline="0"/>
            </a:lvl1pPr>
          </a:lstStyle>
          <a:p>
            <a:r>
              <a:rPr lang="en-US" dirty="0" smtClean="0"/>
              <a:t>Click icon to add picture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 Left Image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49"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Picture Placeholder 12"/>
          <p:cNvSpPr>
            <a:spLocks noGrp="1"/>
          </p:cNvSpPr>
          <p:nvPr>
            <p:ph type="pic" sz="quarter" idx="14" hasCustomPrompt="1"/>
          </p:nvPr>
        </p:nvSpPr>
        <p:spPr>
          <a:xfrm>
            <a:off x="3171825" y="1745280"/>
            <a:ext cx="5761038" cy="4544395"/>
          </a:xfrm>
        </p:spPr>
        <p:txBody>
          <a:bodyPr/>
          <a:lstStyle>
            <a:lvl1pPr>
              <a:buNone/>
              <a:defRPr baseline="0"/>
            </a:lvl1pPr>
          </a:lstStyle>
          <a:p>
            <a:r>
              <a:rPr lang="en-US" dirty="0" smtClean="0"/>
              <a:t>Place Image Here</a:t>
            </a:r>
            <a:endParaRPr lang="en-US" dirty="0"/>
          </a:p>
        </p:txBody>
      </p:sp>
      <p:sp>
        <p:nvSpPr>
          <p:cNvPr id="15" name="Text Placeholder 14"/>
          <p:cNvSpPr>
            <a:spLocks noGrp="1"/>
          </p:cNvSpPr>
          <p:nvPr>
            <p:ph type="body" sz="quarter" idx="15" hasCustomPrompt="1"/>
          </p:nvPr>
        </p:nvSpPr>
        <p:spPr>
          <a:xfrm>
            <a:off x="112315" y="1745280"/>
            <a:ext cx="294612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8803814"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40" y="864000"/>
            <a:ext cx="5858548"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6" name="Text Placeholder 14"/>
          <p:cNvSpPr>
            <a:spLocks noGrp="1"/>
          </p:cNvSpPr>
          <p:nvPr>
            <p:ph type="body" sz="quarter" idx="16" hasCustomPrompt="1"/>
          </p:nvPr>
        </p:nvSpPr>
        <p:spPr>
          <a:xfrm>
            <a:off x="4558626" y="174216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hotos Top">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434498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178911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177958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177958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Bottom">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8777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382815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381862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381862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3205314"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Lef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5978644"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199307"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Copy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3055356" y="1745280"/>
            <a:ext cx="5869413"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Picture Placeholder 8"/>
          <p:cNvSpPr>
            <a:spLocks noGrp="1"/>
          </p:cNvSpPr>
          <p:nvPr>
            <p:ph type="pic" sz="quarter" idx="16" hasCustomPrompt="1"/>
          </p:nvPr>
        </p:nvSpPr>
        <p:spPr>
          <a:xfrm>
            <a:off x="219075" y="1036800"/>
            <a:ext cx="2835275" cy="5383050"/>
          </a:xfrm>
        </p:spPr>
        <p:txBody>
          <a:bodyPr/>
          <a:lstStyle>
            <a:lvl1pPr>
              <a:buNone/>
              <a:defRPr baseline="0"/>
            </a:lvl1pPr>
          </a:lstStyle>
          <a:p>
            <a:r>
              <a:rPr lang="en-US" dirty="0" smtClean="0"/>
              <a:t>Place Image Here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eme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4397587"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7335072"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Picture Placeholder 9"/>
          <p:cNvSpPr>
            <a:spLocks noGrp="1"/>
          </p:cNvSpPr>
          <p:nvPr>
            <p:ph type="pic" sz="quarter" idx="14"/>
          </p:nvPr>
        </p:nvSpPr>
        <p:spPr>
          <a:xfrm>
            <a:off x="7568342" y="1035050"/>
            <a:ext cx="1348646" cy="5358550"/>
          </a:xfrm>
        </p:spPr>
        <p:txBody>
          <a:bodyPr>
            <a:normAutofit/>
          </a:bodyPr>
          <a:lstStyle>
            <a:lvl1pPr>
              <a:buNone/>
              <a:defRPr sz="2400"/>
            </a:lvl1pPr>
          </a:lstStyle>
          <a:p>
            <a:r>
              <a:rPr lang="en-US" dirty="0" smtClean="0"/>
              <a:t>Click icon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13" y="1028160"/>
            <a:ext cx="8691562" cy="5529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Header 1</a:t>
            </a:r>
          </a:p>
          <a:p>
            <a:pPr lvl="1"/>
            <a:r>
              <a:rPr lang="en-US" dirty="0" smtClean="0"/>
              <a:t>Header 2</a:t>
            </a:r>
          </a:p>
          <a:p>
            <a:pPr lvl="2"/>
            <a:r>
              <a:rPr lang="en-US" dirty="0" smtClean="0"/>
              <a:t>Header 3</a:t>
            </a:r>
          </a:p>
          <a:p>
            <a:pPr lvl="3"/>
            <a:r>
              <a:rPr lang="en-US" dirty="0" smtClean="0"/>
              <a:t>Body Bold</a:t>
            </a:r>
          </a:p>
          <a:p>
            <a:pPr lvl="4"/>
            <a:r>
              <a:rPr lang="en-US" dirty="0" smtClean="0"/>
              <a:t>Body Text</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AA0BE-CF44-9147-AA0D-6E22E446DBA0}" type="datetimeFigureOut">
              <a:rPr lang="en-US" smtClean="0"/>
              <a:t>1/26/2015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107-A8E3-8A4C-AC75-25FC69E35D1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 id="2147483664" r:id="rId6"/>
    <p:sldLayoutId id="2147483665" r:id="rId7"/>
    <p:sldLayoutId id="2147483660" r:id="rId8"/>
    <p:sldLayoutId id="2147483662" r:id="rId9"/>
    <p:sldLayoutId id="2147483661" r:id="rId10"/>
    <p:sldLayoutId id="2147483663" r:id="rId11"/>
  </p:sldLayoutIdLst>
  <p:txStyles>
    <p:titleStyle>
      <a:lvl1pPr algn="ctr" defTabSz="457200" rtl="0" eaLnBrk="1" latinLnBrk="0" hangingPunct="1">
        <a:spcBef>
          <a:spcPct val="0"/>
        </a:spcBef>
        <a:buNone/>
        <a:defRPr sz="3600" kern="1200">
          <a:solidFill>
            <a:schemeClr val="tx2"/>
          </a:solidFill>
          <a:latin typeface="Memphis"/>
          <a:ea typeface="+mj-ea"/>
          <a:cs typeface="Memphis"/>
        </a:defRPr>
      </a:lvl1pPr>
    </p:titleStyle>
    <p:bodyStyle>
      <a:lvl1pPr marL="342900" indent="-342900" algn="l" defTabSz="457200" rtl="0" eaLnBrk="1" latinLnBrk="0" hangingPunct="1">
        <a:spcBef>
          <a:spcPct val="20000"/>
        </a:spcBef>
        <a:buFont typeface="Arial"/>
        <a:buChar char="•"/>
        <a:defRPr sz="3200" kern="1200">
          <a:solidFill>
            <a:schemeClr val="accent1"/>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accent4"/>
          </a:solidFill>
          <a:latin typeface="Memphis"/>
          <a:ea typeface="+mn-ea"/>
          <a:cs typeface="Memphis"/>
        </a:defRPr>
      </a:lvl2pPr>
      <a:lvl3pPr marL="1143000" indent="-228600" algn="l" defTabSz="457200" rtl="0" eaLnBrk="1" latinLnBrk="0" hangingPunct="1">
        <a:spcBef>
          <a:spcPct val="20000"/>
        </a:spcBef>
        <a:buFont typeface="Arial"/>
        <a:buChar char="•"/>
        <a:defRPr sz="1800" b="1" i="0" kern="1200" baseline="0">
          <a:solidFill>
            <a:schemeClr val="accent3"/>
          </a:solidFill>
          <a:latin typeface="News Gothic MT"/>
          <a:ea typeface="+mn-ea"/>
          <a:cs typeface="News Gothic MT"/>
        </a:defRPr>
      </a:lvl3pPr>
      <a:lvl4pPr marL="1600200" indent="-228600" algn="l" defTabSz="457200" rtl="0" eaLnBrk="1" latinLnBrk="0" hangingPunct="1">
        <a:spcBef>
          <a:spcPct val="20000"/>
        </a:spcBef>
        <a:buFont typeface="Arial"/>
        <a:buChar char="–"/>
        <a:defRPr sz="1200" b="1" i="0" kern="1200">
          <a:solidFill>
            <a:schemeClr val="tx1"/>
          </a:solidFill>
          <a:latin typeface="News Gothic MT"/>
          <a:ea typeface="+mn-ea"/>
          <a:cs typeface="News Gothic MT"/>
        </a:defRPr>
      </a:lvl4pPr>
      <a:lvl5pPr marL="2057400" indent="-228600" algn="l" defTabSz="457200" rtl="0" eaLnBrk="1" latinLnBrk="0" hangingPunct="1">
        <a:spcBef>
          <a:spcPct val="20000"/>
        </a:spcBef>
        <a:buFont typeface="Arial"/>
        <a:buChar char="»"/>
        <a:defRPr sz="1200" kern="1200">
          <a:solidFill>
            <a:schemeClr val="tx1"/>
          </a:solidFill>
          <a:latin typeface="News Gothic MT"/>
          <a:ea typeface="+mn-ea"/>
          <a:cs typeface="News Gothic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1.xml"/><Relationship Id="rId4" Type="http://schemas.openxmlformats.org/officeDocument/2006/relationships/image" Target="../media/image11.w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4906" y="284721"/>
            <a:ext cx="5691448" cy="810834"/>
          </a:xfrm>
        </p:spPr>
        <p:txBody>
          <a:bodyPr>
            <a:normAutofit fontScale="90000"/>
          </a:bodyPr>
          <a:lstStyle/>
          <a:p>
            <a:r>
              <a:rPr lang="en-US" sz="3200" b="1" dirty="0" smtClean="0"/>
              <a:t>2014 Review &amp; 2015 Preview Calendar</a:t>
            </a:r>
            <a:endParaRPr lang="en-US" sz="3200" b="1" dirty="0"/>
          </a:p>
        </p:txBody>
      </p:sp>
      <p:graphicFrame>
        <p:nvGraphicFramePr>
          <p:cNvPr id="4" name="Table 3"/>
          <p:cNvGraphicFramePr>
            <a:graphicFrameLocks noGrp="1"/>
          </p:cNvGraphicFramePr>
          <p:nvPr>
            <p:extLst>
              <p:ext uri="{D42A27DB-BD31-4B8C-83A1-F6EECF244321}">
                <p14:modId xmlns:p14="http://schemas.microsoft.com/office/powerpoint/2010/main" val="4221680242"/>
              </p:ext>
            </p:extLst>
          </p:nvPr>
        </p:nvGraphicFramePr>
        <p:xfrm>
          <a:off x="246643" y="1162201"/>
          <a:ext cx="8733454" cy="5201991"/>
        </p:xfrm>
        <a:graphic>
          <a:graphicData uri="http://schemas.openxmlformats.org/drawingml/2006/table">
            <a:tbl>
              <a:tblPr>
                <a:tableStyleId>{5C22544A-7EE6-4342-B048-85BDC9FD1C3A}</a:tableStyleId>
              </a:tblPr>
              <a:tblGrid>
                <a:gridCol w="1245616"/>
                <a:gridCol w="1246259"/>
                <a:gridCol w="1246259"/>
                <a:gridCol w="1246259"/>
                <a:gridCol w="1246259"/>
                <a:gridCol w="1246259"/>
                <a:gridCol w="1256543"/>
              </a:tblGrid>
              <a:tr h="331547">
                <a:tc gridSpan="7">
                  <a:txBody>
                    <a:bodyPr/>
                    <a:lstStyle/>
                    <a:p>
                      <a:pPr marL="0" marR="0" algn="ctr">
                        <a:spcBef>
                          <a:spcPts val="0"/>
                        </a:spcBef>
                        <a:spcAft>
                          <a:spcPts val="0"/>
                        </a:spcAft>
                      </a:pPr>
                      <a:r>
                        <a:rPr lang="en-US" sz="1900" kern="50" dirty="0" smtClean="0">
                          <a:effectLst/>
                        </a:rPr>
                        <a:t>JANUARY</a:t>
                      </a:r>
                      <a:endParaRPr lang="en-US" sz="900" kern="50" dirty="0">
                        <a:effectLst/>
                        <a:latin typeface="Times New Roman"/>
                        <a:ea typeface="Lucida Sans Unicode"/>
                        <a:cs typeface="Mangal"/>
                      </a:endParaRPr>
                    </a:p>
                  </a:txBody>
                  <a:tcPr marL="25756" marR="25756" marT="25756" marB="25756"/>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24455">
                <a:tc>
                  <a:txBody>
                    <a:bodyPr/>
                    <a:lstStyle/>
                    <a:p>
                      <a:pPr marL="0" marR="0" algn="ctr">
                        <a:spcBef>
                          <a:spcPts val="0"/>
                        </a:spcBef>
                        <a:spcAft>
                          <a:spcPts val="0"/>
                        </a:spcAft>
                      </a:pPr>
                      <a:r>
                        <a:rPr lang="en-US" sz="1000" b="1" kern="50" dirty="0">
                          <a:effectLst/>
                        </a:rPr>
                        <a:t>SUNDAY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MONDAY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TUESDAY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WEDNESDAY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THURSDAY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FRIDAY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SATURDAY</a:t>
                      </a:r>
                      <a:endParaRPr lang="en-US" sz="900" b="1" kern="50" dirty="0">
                        <a:effectLst/>
                        <a:latin typeface="Times New Roman"/>
                        <a:ea typeface="Lucida Sans Unicode"/>
                        <a:cs typeface="Mangal"/>
                      </a:endParaRPr>
                    </a:p>
                  </a:txBody>
                  <a:tcPr marL="25756" marR="25756" marT="25756" marB="25756"/>
                </a:tc>
              </a:tr>
              <a:tr h="747444">
                <a:tc>
                  <a:txBody>
                    <a:bodyPr/>
                    <a:lstStyle/>
                    <a:p>
                      <a:pPr marL="0" marR="0">
                        <a:spcBef>
                          <a:spcPts val="0"/>
                        </a:spcBef>
                        <a:spcAft>
                          <a:spcPts val="0"/>
                        </a:spcAft>
                      </a:pPr>
                      <a:r>
                        <a:rPr lang="en-US" sz="900" b="1" kern="50" dirty="0">
                          <a:effectLst/>
                        </a:rPr>
                        <a:t> </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 </a:t>
                      </a:r>
                      <a:endParaRPr lang="en-US" sz="900" b="1" kern="50" dirty="0">
                        <a:effectLst/>
                        <a:latin typeface="Times New Roman"/>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a:effectLst/>
                        </a:rPr>
                        <a:t> </a:t>
                      </a:r>
                      <a:endParaRPr lang="en-US" sz="900" b="1" kern="50" dirty="0">
                        <a:effectLst/>
                        <a:latin typeface="Times New Roman"/>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a:effectLst/>
                          <a:latin typeface="+mj-lt"/>
                        </a:rPr>
                        <a:t> </a:t>
                      </a:r>
                      <a:r>
                        <a:rPr lang="en-US" sz="900" b="1" kern="50" dirty="0" smtClean="0">
                          <a:effectLst/>
                          <a:latin typeface="+mj-lt"/>
                        </a:rPr>
                        <a:t>31</a:t>
                      </a:r>
                    </a:p>
                    <a:p>
                      <a:pPr marL="0" marR="0">
                        <a:spcBef>
                          <a:spcPts val="0"/>
                        </a:spcBef>
                        <a:spcAft>
                          <a:spcPts val="0"/>
                        </a:spcAft>
                      </a:pPr>
                      <a:endParaRPr lang="en-US" sz="900" b="1" kern="50" dirty="0" smtClean="0">
                        <a:effectLst/>
                        <a:latin typeface="+mj-lt"/>
                      </a:endParaRPr>
                    </a:p>
                    <a:p>
                      <a:pPr marL="0" marR="0" algn="ctr">
                        <a:spcBef>
                          <a:spcPts val="0"/>
                        </a:spcBef>
                        <a:spcAft>
                          <a:spcPts val="0"/>
                        </a:spcAft>
                      </a:pPr>
                      <a:r>
                        <a:rPr lang="en-US" sz="900" b="1" kern="50" dirty="0" smtClean="0">
                          <a:effectLst/>
                          <a:latin typeface="+mj-lt"/>
                          <a:ea typeface="Lucida Sans Unicode"/>
                          <a:cs typeface="Mangal"/>
                        </a:rPr>
                        <a:t>NEW YEAR’S</a:t>
                      </a:r>
                      <a:r>
                        <a:rPr lang="en-US" sz="900" b="1" kern="50" baseline="0" dirty="0" smtClean="0">
                          <a:effectLst/>
                          <a:latin typeface="+mj-lt"/>
                          <a:ea typeface="Lucida Sans Unicode"/>
                          <a:cs typeface="Mangal"/>
                        </a:rPr>
                        <a:t> EVE</a:t>
                      </a:r>
                      <a:endParaRPr lang="en-US" sz="900" b="1" kern="50" dirty="0">
                        <a:effectLst/>
                        <a:latin typeface="+mj-lt"/>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smtClean="0">
                          <a:effectLst/>
                          <a:latin typeface="+mj-lt"/>
                        </a:rPr>
                        <a:t>1</a:t>
                      </a:r>
                    </a:p>
                    <a:p>
                      <a:pPr marL="0" marR="0">
                        <a:spcBef>
                          <a:spcPts val="0"/>
                        </a:spcBef>
                        <a:spcAft>
                          <a:spcPts val="0"/>
                        </a:spcAft>
                      </a:pPr>
                      <a:endParaRPr lang="en-US" sz="900" b="1" kern="50" dirty="0" smtClean="0">
                        <a:effectLst/>
                        <a:latin typeface="+mj-lt"/>
                      </a:endParaRPr>
                    </a:p>
                    <a:p>
                      <a:pPr marL="0" marR="0" algn="ctr">
                        <a:spcBef>
                          <a:spcPts val="0"/>
                        </a:spcBef>
                        <a:spcAft>
                          <a:spcPts val="0"/>
                        </a:spcAft>
                      </a:pPr>
                      <a:r>
                        <a:rPr lang="en-US" sz="900" b="1" kern="50" dirty="0" smtClean="0">
                          <a:effectLst/>
                          <a:latin typeface="+mj-lt"/>
                          <a:ea typeface="Lucida Sans Unicode"/>
                          <a:cs typeface="Mangal"/>
                        </a:rPr>
                        <a:t>NEW YEAR’S DAY</a:t>
                      </a:r>
                    </a:p>
                    <a:p>
                      <a:pPr marL="0" marR="0" algn="ctr">
                        <a:spcBef>
                          <a:spcPts val="0"/>
                        </a:spcBef>
                        <a:spcAft>
                          <a:spcPts val="0"/>
                        </a:spcAft>
                      </a:pPr>
                      <a:r>
                        <a:rPr lang="en-US" sz="900" b="1" kern="50" dirty="0" smtClean="0">
                          <a:effectLst/>
                          <a:latin typeface="+mj-lt"/>
                          <a:ea typeface="Lucida Sans Unicode"/>
                          <a:cs typeface="Mangal"/>
                        </a:rPr>
                        <a:t>OFFICE CLOSED</a:t>
                      </a:r>
                      <a:endParaRPr lang="en-US" sz="900" b="1" kern="50" dirty="0">
                        <a:effectLst/>
                        <a:latin typeface="+mj-lt"/>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smtClean="0">
                          <a:effectLst/>
                        </a:rPr>
                        <a:t>2</a:t>
                      </a:r>
                    </a:p>
                    <a:p>
                      <a:pPr marL="0" marR="0">
                        <a:spcBef>
                          <a:spcPts val="0"/>
                        </a:spcBef>
                        <a:spcAft>
                          <a:spcPts val="0"/>
                        </a:spcAft>
                      </a:pPr>
                      <a:endParaRPr lang="en-US" sz="900" b="1" kern="50" dirty="0" smtClean="0">
                        <a:effectLst/>
                        <a:latin typeface="Times New Roman"/>
                        <a:ea typeface="Lucida Sans Unicode"/>
                        <a:cs typeface="Mangal"/>
                      </a:endParaRPr>
                    </a:p>
                    <a:p>
                      <a:pPr marL="0" marR="0" indent="0" algn="ctr" defTabSz="457200" rtl="0" eaLnBrk="1" fontAlgn="auto" latinLnBrk="0" hangingPunct="1">
                        <a:lnSpc>
                          <a:spcPct val="100000"/>
                        </a:lnSpc>
                        <a:spcBef>
                          <a:spcPts val="0"/>
                        </a:spcBef>
                        <a:spcAft>
                          <a:spcPts val="0"/>
                        </a:spcAft>
                        <a:buClrTx/>
                        <a:buSzTx/>
                        <a:buFontTx/>
                        <a:buNone/>
                        <a:tabLst/>
                        <a:defRPr/>
                      </a:pPr>
                      <a:r>
                        <a:rPr lang="en-US" sz="900" b="1" kern="50" dirty="0" smtClean="0">
                          <a:solidFill>
                            <a:schemeClr val="dk1"/>
                          </a:solidFill>
                          <a:effectLst/>
                          <a:latin typeface="+mn-lt"/>
                          <a:ea typeface="Lucida Sans Unicode"/>
                          <a:cs typeface="Mangal"/>
                        </a:rPr>
                        <a:t>OFFICE CLOSED</a:t>
                      </a:r>
                    </a:p>
                    <a:p>
                      <a:pPr marL="0" marR="0">
                        <a:spcBef>
                          <a:spcPts val="0"/>
                        </a:spcBef>
                        <a:spcAft>
                          <a:spcPts val="0"/>
                        </a:spcAft>
                      </a:pPr>
                      <a:endParaRPr lang="en-US" sz="900" b="1" kern="50" dirty="0">
                        <a:effectLst/>
                        <a:latin typeface="Times New Roman"/>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a:effectLst/>
                        </a:rPr>
                        <a:t>3</a:t>
                      </a:r>
                      <a:endParaRPr lang="en-US" sz="900" b="1" kern="50" dirty="0">
                        <a:effectLst/>
                        <a:latin typeface="Times New Roman"/>
                        <a:ea typeface="Lucida Sans Unicode"/>
                        <a:cs typeface="Mangal"/>
                      </a:endParaRPr>
                    </a:p>
                  </a:txBody>
                  <a:tcPr marL="25756" marR="25756" marT="25756" marB="25756"/>
                </a:tc>
              </a:tr>
              <a:tr h="747444">
                <a:tc>
                  <a:txBody>
                    <a:bodyPr/>
                    <a:lstStyle/>
                    <a:p>
                      <a:pPr marL="0" marR="0">
                        <a:spcBef>
                          <a:spcPts val="0"/>
                        </a:spcBef>
                        <a:spcAft>
                          <a:spcPts val="0"/>
                        </a:spcAft>
                      </a:pPr>
                      <a:r>
                        <a:rPr lang="en-US" sz="900" b="1" kern="50" dirty="0">
                          <a:effectLst/>
                        </a:rPr>
                        <a:t>4</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5</a:t>
                      </a:r>
                    </a:p>
                    <a:p>
                      <a:pPr marL="0" marR="0" algn="ctr">
                        <a:spcBef>
                          <a:spcPts val="0"/>
                        </a:spcBef>
                        <a:spcAft>
                          <a:spcPts val="0"/>
                        </a:spcAft>
                      </a:pPr>
                      <a:r>
                        <a:rPr lang="en-US" sz="800" b="0" kern="50" dirty="0" smtClean="0">
                          <a:effectLst/>
                          <a:latin typeface="Times New Roman"/>
                          <a:ea typeface="Lucida Sans Unicode"/>
                          <a:cs typeface="Mangal"/>
                        </a:rPr>
                        <a:t>Program/Unit</a:t>
                      </a:r>
                      <a:r>
                        <a:rPr lang="en-US" sz="800" b="0" kern="50" baseline="0" dirty="0" smtClean="0">
                          <a:effectLst/>
                          <a:latin typeface="Times New Roman"/>
                          <a:ea typeface="Lucida Sans Unicode"/>
                          <a:cs typeface="Mangal"/>
                        </a:rPr>
                        <a:t> Managers Deadline to Request 360 Peer Evaluations</a:t>
                      </a:r>
                      <a:endParaRPr lang="en-US" sz="800" b="0" kern="50" dirty="0">
                        <a:effectLst/>
                        <a:latin typeface="Times New Roman"/>
                        <a:ea typeface="Lucida Sans Unicode"/>
                        <a:cs typeface="Mangal"/>
                      </a:endParaRPr>
                    </a:p>
                  </a:txBody>
                  <a:tcPr marL="25756" marR="25756" marT="25756" marB="25756">
                    <a:solidFill>
                      <a:srgbClr val="EF917A"/>
                    </a:solidFill>
                  </a:tcPr>
                </a:tc>
                <a:tc>
                  <a:txBody>
                    <a:bodyPr/>
                    <a:lstStyle/>
                    <a:p>
                      <a:pPr marL="0" marR="0">
                        <a:spcBef>
                          <a:spcPts val="0"/>
                        </a:spcBef>
                        <a:spcAft>
                          <a:spcPts val="0"/>
                        </a:spcAft>
                      </a:pPr>
                      <a:r>
                        <a:rPr lang="en-US" sz="900" b="1" kern="50" dirty="0">
                          <a:effectLst/>
                        </a:rPr>
                        <a:t>6</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7</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8</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9</a:t>
                      </a:r>
                    </a:p>
                    <a:p>
                      <a:pPr marL="0" marR="0" algn="ctr">
                        <a:spcBef>
                          <a:spcPts val="0"/>
                        </a:spcBef>
                        <a:spcAft>
                          <a:spcPts val="0"/>
                        </a:spcAft>
                      </a:pPr>
                      <a:r>
                        <a:rPr lang="en-US" sz="800" b="0" kern="50" dirty="0" smtClean="0">
                          <a:effectLst/>
                          <a:latin typeface="Times New Roman"/>
                          <a:ea typeface="Lucida Sans Unicode"/>
                          <a:cs typeface="Mangal"/>
                        </a:rPr>
                        <a:t>360 Peer Evaluations</a:t>
                      </a:r>
                      <a:r>
                        <a:rPr lang="en-US" sz="800" b="0" kern="50" baseline="0" dirty="0" smtClean="0">
                          <a:effectLst/>
                          <a:latin typeface="Times New Roman"/>
                          <a:ea typeface="Lucida Sans Unicode"/>
                          <a:cs typeface="Mangal"/>
                        </a:rPr>
                        <a:t> </a:t>
                      </a:r>
                    </a:p>
                    <a:p>
                      <a:pPr marL="0" marR="0" algn="ctr">
                        <a:spcBef>
                          <a:spcPts val="0"/>
                        </a:spcBef>
                        <a:spcAft>
                          <a:spcPts val="0"/>
                        </a:spcAft>
                      </a:pPr>
                      <a:r>
                        <a:rPr lang="en-US" sz="800" b="0" kern="50" dirty="0" smtClean="0">
                          <a:effectLst/>
                          <a:latin typeface="Times New Roman"/>
                          <a:ea typeface="Lucida Sans Unicode"/>
                          <a:cs typeface="Mangal"/>
                        </a:rPr>
                        <a:t>Due</a:t>
                      </a:r>
                      <a:r>
                        <a:rPr lang="en-US" sz="800" b="0" kern="50" baseline="0" dirty="0" smtClean="0">
                          <a:effectLst/>
                          <a:latin typeface="Times New Roman"/>
                          <a:ea typeface="Lucida Sans Unicode"/>
                          <a:cs typeface="Mangal"/>
                        </a:rPr>
                        <a:t> to Program/Unit Managers</a:t>
                      </a:r>
                      <a:endParaRPr lang="en-US" sz="800" b="0" kern="50" dirty="0">
                        <a:effectLst/>
                        <a:latin typeface="Times New Roman"/>
                        <a:ea typeface="Lucida Sans Unicode"/>
                        <a:cs typeface="Mangal"/>
                      </a:endParaRPr>
                    </a:p>
                  </a:txBody>
                  <a:tcPr marL="25756" marR="25756" marT="25756" marB="25756">
                    <a:solidFill>
                      <a:srgbClr val="EF917A"/>
                    </a:solidFill>
                  </a:tcPr>
                </a:tc>
                <a:tc>
                  <a:txBody>
                    <a:bodyPr/>
                    <a:lstStyle/>
                    <a:p>
                      <a:pPr marL="0" marR="0">
                        <a:spcBef>
                          <a:spcPts val="0"/>
                        </a:spcBef>
                        <a:spcAft>
                          <a:spcPts val="0"/>
                        </a:spcAft>
                      </a:pPr>
                      <a:r>
                        <a:rPr lang="en-US" sz="900" b="1" kern="50" dirty="0">
                          <a:effectLst/>
                        </a:rPr>
                        <a:t>10</a:t>
                      </a:r>
                      <a:endParaRPr lang="en-US" sz="900" b="1" kern="50" dirty="0">
                        <a:effectLst/>
                        <a:latin typeface="Times New Roman"/>
                        <a:ea typeface="Lucida Sans Unicode"/>
                        <a:cs typeface="Mangal"/>
                      </a:endParaRPr>
                    </a:p>
                  </a:txBody>
                  <a:tcPr marL="25756" marR="25756" marT="25756" marB="25756"/>
                </a:tc>
              </a:tr>
              <a:tr h="1013010">
                <a:tc>
                  <a:txBody>
                    <a:bodyPr/>
                    <a:lstStyle/>
                    <a:p>
                      <a:pPr marL="0" marR="0">
                        <a:spcBef>
                          <a:spcPts val="0"/>
                        </a:spcBef>
                        <a:spcAft>
                          <a:spcPts val="0"/>
                        </a:spcAft>
                      </a:pPr>
                      <a:r>
                        <a:rPr lang="en-US" sz="900" b="1" kern="50" dirty="0">
                          <a:effectLst/>
                        </a:rPr>
                        <a:t>1</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12</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13</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14</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15</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16</a:t>
                      </a:r>
                    </a:p>
                    <a:p>
                      <a:pPr marL="0" marR="0">
                        <a:spcBef>
                          <a:spcPts val="0"/>
                        </a:spcBef>
                        <a:spcAft>
                          <a:spcPts val="0"/>
                        </a:spcAft>
                      </a:pPr>
                      <a:r>
                        <a:rPr lang="en-US" sz="800" b="0" kern="50" dirty="0" smtClean="0">
                          <a:effectLst/>
                          <a:latin typeface="Times New Roman"/>
                          <a:ea typeface="Lucida Sans Unicode"/>
                          <a:cs typeface="Mangal"/>
                        </a:rPr>
                        <a:t>Employee’s submit to Managers :</a:t>
                      </a:r>
                    </a:p>
                    <a:p>
                      <a:pPr marL="171450" marR="0" indent="-171450">
                        <a:spcBef>
                          <a:spcPts val="0"/>
                        </a:spcBef>
                        <a:spcAft>
                          <a:spcPts val="0"/>
                        </a:spcAft>
                        <a:buFont typeface="Arial" panose="020B0604020202020204" pitchFamily="34" charset="0"/>
                        <a:buChar char="•"/>
                      </a:pPr>
                      <a:r>
                        <a:rPr lang="en-US" sz="800" b="0" kern="50" dirty="0" smtClean="0">
                          <a:effectLst/>
                          <a:latin typeface="Times New Roman"/>
                          <a:ea typeface="Lucida Sans Unicode"/>
                          <a:cs typeface="Mangal"/>
                        </a:rPr>
                        <a:t>Draft 2014 Goals &amp; Performance Form </a:t>
                      </a:r>
                    </a:p>
                    <a:p>
                      <a:pPr marL="171450" marR="0" indent="-171450">
                        <a:spcBef>
                          <a:spcPts val="0"/>
                        </a:spcBef>
                        <a:spcAft>
                          <a:spcPts val="0"/>
                        </a:spcAft>
                        <a:buFont typeface="Arial" panose="020B0604020202020204" pitchFamily="34" charset="0"/>
                        <a:buChar char="•"/>
                      </a:pPr>
                      <a:r>
                        <a:rPr lang="en-US" sz="800" b="0" kern="50" dirty="0" smtClean="0">
                          <a:effectLst/>
                          <a:latin typeface="Times New Roman"/>
                          <a:ea typeface="Lucida Sans Unicode"/>
                          <a:cs typeface="Mangal"/>
                        </a:rPr>
                        <a:t>2015 Employee Goals &amp; Performance Expectations Form</a:t>
                      </a:r>
                      <a:endParaRPr lang="en-US" sz="800" b="0" kern="50" dirty="0">
                        <a:effectLst/>
                        <a:latin typeface="Times New Roman"/>
                        <a:ea typeface="Lucida Sans Unicode"/>
                        <a:cs typeface="Mangal"/>
                      </a:endParaRPr>
                    </a:p>
                  </a:txBody>
                  <a:tcPr marL="25756" marR="25756" marT="25756" marB="25756">
                    <a:solidFill>
                      <a:schemeClr val="accent1">
                        <a:lumMod val="60000"/>
                        <a:lumOff val="40000"/>
                      </a:schemeClr>
                    </a:solidFill>
                  </a:tcPr>
                </a:tc>
                <a:tc>
                  <a:txBody>
                    <a:bodyPr/>
                    <a:lstStyle/>
                    <a:p>
                      <a:pPr marL="0" marR="0">
                        <a:spcBef>
                          <a:spcPts val="0"/>
                        </a:spcBef>
                        <a:spcAft>
                          <a:spcPts val="0"/>
                        </a:spcAft>
                      </a:pPr>
                      <a:r>
                        <a:rPr lang="en-US" sz="900" b="1" kern="50" dirty="0">
                          <a:effectLst/>
                        </a:rPr>
                        <a:t>17</a:t>
                      </a:r>
                      <a:endParaRPr lang="en-US" sz="900" b="1" kern="50" dirty="0">
                        <a:effectLst/>
                        <a:latin typeface="Times New Roman"/>
                        <a:ea typeface="Lucida Sans Unicode"/>
                        <a:cs typeface="Mangal"/>
                      </a:endParaRPr>
                    </a:p>
                  </a:txBody>
                  <a:tcPr marL="25756" marR="25756" marT="25756" marB="25756"/>
                </a:tc>
              </a:tr>
              <a:tr h="1264855">
                <a:tc>
                  <a:txBody>
                    <a:bodyPr/>
                    <a:lstStyle/>
                    <a:p>
                      <a:pPr marL="0" marR="0">
                        <a:spcBef>
                          <a:spcPts val="0"/>
                        </a:spcBef>
                        <a:spcAft>
                          <a:spcPts val="0"/>
                        </a:spcAft>
                      </a:pPr>
                      <a:r>
                        <a:rPr lang="en-US" sz="900" b="1" kern="50" dirty="0">
                          <a:effectLst/>
                        </a:rPr>
                        <a:t>18</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19</a:t>
                      </a:r>
                    </a:p>
                    <a:p>
                      <a:pPr marL="0" marR="0">
                        <a:spcBef>
                          <a:spcPts val="0"/>
                        </a:spcBef>
                        <a:spcAft>
                          <a:spcPts val="0"/>
                        </a:spcAft>
                      </a:pPr>
                      <a:endParaRPr lang="en-US" sz="900" b="1" kern="50" dirty="0" smtClean="0">
                        <a:effectLst/>
                        <a:latin typeface="Times New Roman"/>
                        <a:ea typeface="Lucida Sans Unicode"/>
                        <a:cs typeface="Mangal"/>
                      </a:endParaRPr>
                    </a:p>
                    <a:p>
                      <a:pPr marL="0" marR="0" algn="ctr">
                        <a:spcBef>
                          <a:spcPts val="0"/>
                        </a:spcBef>
                        <a:spcAft>
                          <a:spcPts val="0"/>
                        </a:spcAft>
                      </a:pPr>
                      <a:r>
                        <a:rPr lang="en-US" sz="900" b="1" kern="50" dirty="0" smtClean="0">
                          <a:effectLst/>
                          <a:latin typeface="+mj-lt"/>
                          <a:ea typeface="Lucida Sans Unicode"/>
                          <a:cs typeface="Mangal"/>
                        </a:rPr>
                        <a:t>MLK</a:t>
                      </a:r>
                    </a:p>
                    <a:p>
                      <a:pPr marL="0" marR="0" algn="ctr">
                        <a:spcBef>
                          <a:spcPts val="0"/>
                        </a:spcBef>
                        <a:spcAft>
                          <a:spcPts val="0"/>
                        </a:spcAft>
                      </a:pPr>
                      <a:r>
                        <a:rPr lang="en-US" sz="900" b="1" kern="50" dirty="0" smtClean="0">
                          <a:effectLst/>
                          <a:latin typeface="+mj-lt"/>
                          <a:ea typeface="Lucida Sans Unicode"/>
                          <a:cs typeface="Mangal"/>
                        </a:rPr>
                        <a:t>OFFICE CLOSED</a:t>
                      </a:r>
                      <a:endParaRPr lang="en-US" sz="900" b="1" kern="50" dirty="0">
                        <a:effectLst/>
                        <a:latin typeface="+mj-lt"/>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a:effectLst/>
                        </a:rPr>
                        <a:t>20</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21</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22</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23</a:t>
                      </a:r>
                    </a:p>
                    <a:p>
                      <a:pPr marL="0" marR="0">
                        <a:spcBef>
                          <a:spcPts val="0"/>
                        </a:spcBef>
                        <a:spcAft>
                          <a:spcPts val="0"/>
                        </a:spcAft>
                      </a:pPr>
                      <a:r>
                        <a:rPr lang="en-US" sz="800" b="0" kern="50" dirty="0" smtClean="0">
                          <a:effectLst/>
                          <a:latin typeface="Times New Roman"/>
                          <a:ea typeface="Lucida Sans Unicode"/>
                          <a:cs typeface="Mangal"/>
                        </a:rPr>
                        <a:t>Employee’s submit</a:t>
                      </a:r>
                      <a:r>
                        <a:rPr lang="en-US" sz="800" b="0" kern="50" baseline="0" dirty="0" smtClean="0">
                          <a:effectLst/>
                          <a:latin typeface="Times New Roman"/>
                          <a:ea typeface="Lucida Sans Unicode"/>
                          <a:cs typeface="Mangal"/>
                        </a:rPr>
                        <a:t> to Managers:</a:t>
                      </a:r>
                    </a:p>
                    <a:p>
                      <a:pPr marL="171450" marR="0" indent="-171450">
                        <a:spcBef>
                          <a:spcPts val="0"/>
                        </a:spcBef>
                        <a:spcAft>
                          <a:spcPts val="0"/>
                        </a:spcAft>
                        <a:buFont typeface="Arial" panose="020B0604020202020204" pitchFamily="34" charset="0"/>
                        <a:buChar char="•"/>
                      </a:pPr>
                      <a:r>
                        <a:rPr lang="en-US" sz="800" b="0" kern="50" dirty="0" smtClean="0">
                          <a:effectLst/>
                          <a:latin typeface="Times New Roman"/>
                          <a:ea typeface="Lucida Sans Unicode"/>
                          <a:cs typeface="Mangal"/>
                        </a:rPr>
                        <a:t>Final</a:t>
                      </a:r>
                      <a:r>
                        <a:rPr lang="en-US" sz="800" b="0" kern="50" baseline="0" dirty="0" smtClean="0">
                          <a:effectLst/>
                          <a:latin typeface="Times New Roman"/>
                          <a:ea typeface="Lucida Sans Unicode"/>
                          <a:cs typeface="Mangal"/>
                        </a:rPr>
                        <a:t> </a:t>
                      </a:r>
                      <a:r>
                        <a:rPr lang="en-US" sz="800" b="0" kern="50" dirty="0" smtClean="0">
                          <a:effectLst/>
                          <a:latin typeface="Times New Roman"/>
                          <a:ea typeface="Lucida Sans Unicode"/>
                          <a:cs typeface="Mangal"/>
                        </a:rPr>
                        <a:t>2014 Goals &amp; Performance Evaluation Form </a:t>
                      </a:r>
                    </a:p>
                    <a:p>
                      <a:pPr marL="171450" marR="0" indent="-171450">
                        <a:spcBef>
                          <a:spcPts val="0"/>
                        </a:spcBef>
                        <a:spcAft>
                          <a:spcPts val="0"/>
                        </a:spcAft>
                        <a:buFont typeface="Arial" panose="020B0604020202020204" pitchFamily="34" charset="0"/>
                        <a:buChar char="•"/>
                      </a:pPr>
                      <a:r>
                        <a:rPr lang="en-US" sz="800" b="0" kern="50" dirty="0" smtClean="0">
                          <a:effectLst/>
                          <a:latin typeface="Times New Roman"/>
                          <a:ea typeface="Lucida Sans Unicode"/>
                          <a:cs typeface="Mangal"/>
                        </a:rPr>
                        <a:t>2015 Employee Goals &amp; Performance Expectations Form</a:t>
                      </a:r>
                    </a:p>
                    <a:p>
                      <a:pPr marL="0" marR="0">
                        <a:spcBef>
                          <a:spcPts val="0"/>
                        </a:spcBef>
                        <a:spcAft>
                          <a:spcPts val="0"/>
                        </a:spcAft>
                      </a:pPr>
                      <a:endParaRPr lang="en-US" sz="900" b="1" kern="50" dirty="0">
                        <a:effectLst/>
                        <a:latin typeface="Times New Roman"/>
                        <a:ea typeface="Lucida Sans Unicode"/>
                        <a:cs typeface="Mangal"/>
                      </a:endParaRPr>
                    </a:p>
                  </a:txBody>
                  <a:tcPr marL="25756" marR="25756" marT="25756" marB="25756">
                    <a:solidFill>
                      <a:schemeClr val="accent1">
                        <a:lumMod val="60000"/>
                        <a:lumOff val="40000"/>
                      </a:schemeClr>
                    </a:solidFill>
                  </a:tcPr>
                </a:tc>
                <a:tc>
                  <a:txBody>
                    <a:bodyPr/>
                    <a:lstStyle/>
                    <a:p>
                      <a:pPr marL="0" marR="0">
                        <a:spcBef>
                          <a:spcPts val="0"/>
                        </a:spcBef>
                        <a:spcAft>
                          <a:spcPts val="0"/>
                        </a:spcAft>
                      </a:pPr>
                      <a:r>
                        <a:rPr lang="en-US" sz="900" b="1" kern="50" dirty="0">
                          <a:effectLst/>
                        </a:rPr>
                        <a:t>24</a:t>
                      </a:r>
                      <a:endParaRPr lang="en-US" sz="900" b="1" kern="50" dirty="0">
                        <a:effectLst/>
                        <a:latin typeface="Times New Roman"/>
                        <a:ea typeface="Lucida Sans Unicode"/>
                        <a:cs typeface="Mangal"/>
                      </a:endParaRPr>
                    </a:p>
                  </a:txBody>
                  <a:tcPr marL="25756" marR="25756" marT="25756" marB="25756"/>
                </a:tc>
              </a:tr>
              <a:tr h="775979">
                <a:tc>
                  <a:txBody>
                    <a:bodyPr/>
                    <a:lstStyle/>
                    <a:p>
                      <a:pPr marL="0" marR="0">
                        <a:spcBef>
                          <a:spcPts val="0"/>
                        </a:spcBef>
                        <a:spcAft>
                          <a:spcPts val="0"/>
                        </a:spcAft>
                      </a:pPr>
                      <a:r>
                        <a:rPr lang="en-US" sz="900" b="1" kern="50" dirty="0">
                          <a:effectLst/>
                        </a:rPr>
                        <a:t>25</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a:effectLst/>
                        </a:rPr>
                        <a:t>26</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27</a:t>
                      </a:r>
                    </a:p>
                    <a:p>
                      <a:pPr marL="171450" marR="0" indent="-171450">
                        <a:spcBef>
                          <a:spcPts val="0"/>
                        </a:spcBef>
                        <a:spcAft>
                          <a:spcPts val="0"/>
                        </a:spcAft>
                        <a:buFont typeface="Arial" panose="020B0604020202020204" pitchFamily="34" charset="0"/>
                        <a:buChar char="•"/>
                      </a:pPr>
                      <a:r>
                        <a:rPr lang="en-US" sz="800" b="0" kern="50" dirty="0" smtClean="0">
                          <a:effectLst/>
                          <a:latin typeface="Times New Roman"/>
                          <a:ea typeface="Lucida Sans Unicode"/>
                          <a:cs typeface="Mangal"/>
                        </a:rPr>
                        <a:t>Program/Unit Manager Reviews Due to</a:t>
                      </a:r>
                      <a:r>
                        <a:rPr lang="en-US" sz="800" b="0" kern="50" baseline="0" dirty="0" smtClean="0">
                          <a:effectLst/>
                          <a:latin typeface="Times New Roman"/>
                          <a:ea typeface="Lucida Sans Unicode"/>
                          <a:cs typeface="Mangal"/>
                        </a:rPr>
                        <a:t> F&amp;A</a:t>
                      </a:r>
                    </a:p>
                    <a:p>
                      <a:pPr marL="171450" marR="0" indent="-171450">
                        <a:spcBef>
                          <a:spcPts val="0"/>
                        </a:spcBef>
                        <a:spcAft>
                          <a:spcPts val="0"/>
                        </a:spcAft>
                        <a:buFont typeface="Arial" panose="020B0604020202020204" pitchFamily="34" charset="0"/>
                        <a:buChar char="•"/>
                      </a:pPr>
                      <a:r>
                        <a:rPr lang="en-US" sz="800" b="0" kern="50" baseline="0" dirty="0" smtClean="0">
                          <a:effectLst/>
                          <a:latin typeface="Times New Roman"/>
                          <a:ea typeface="Lucida Sans Unicode"/>
                          <a:cs typeface="Mangal"/>
                        </a:rPr>
                        <a:t>Program/Unit Manager Submits Final Employee Reviews to F&amp;A</a:t>
                      </a:r>
                      <a:endParaRPr lang="en-US" sz="800" b="0" kern="50" dirty="0">
                        <a:effectLst/>
                        <a:latin typeface="Times New Roman"/>
                        <a:ea typeface="Lucida Sans Unicode"/>
                        <a:cs typeface="Mangal"/>
                      </a:endParaRPr>
                    </a:p>
                  </a:txBody>
                  <a:tcPr marL="25756" marR="25756" marT="25756" marB="25756">
                    <a:solidFill>
                      <a:srgbClr val="EF917A"/>
                    </a:solidFill>
                  </a:tcPr>
                </a:tc>
                <a:tc>
                  <a:txBody>
                    <a:bodyPr/>
                    <a:lstStyle/>
                    <a:p>
                      <a:pPr marL="0" marR="0">
                        <a:spcBef>
                          <a:spcPts val="0"/>
                        </a:spcBef>
                        <a:spcAft>
                          <a:spcPts val="0"/>
                        </a:spcAft>
                      </a:pPr>
                      <a:r>
                        <a:rPr lang="en-US" sz="900" b="1" kern="50" dirty="0">
                          <a:effectLst/>
                        </a:rPr>
                        <a:t>28</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rPr>
                        <a:t>29</a:t>
                      </a:r>
                    </a:p>
                    <a:p>
                      <a:pPr marL="0" marR="0">
                        <a:spcBef>
                          <a:spcPts val="0"/>
                        </a:spcBef>
                        <a:spcAft>
                          <a:spcPts val="0"/>
                        </a:spcAft>
                      </a:pPr>
                      <a:r>
                        <a:rPr lang="en-US" sz="800" b="0" kern="50" dirty="0" smtClean="0">
                          <a:effectLst/>
                          <a:latin typeface="Times New Roman"/>
                          <a:ea typeface="Lucida Sans Unicode"/>
                          <a:cs typeface="Mangal"/>
                        </a:rPr>
                        <a:t>Employee</a:t>
                      </a:r>
                      <a:r>
                        <a:rPr lang="en-US" sz="800" b="0" kern="50" baseline="0" dirty="0" smtClean="0">
                          <a:effectLst/>
                          <a:latin typeface="Times New Roman"/>
                          <a:ea typeface="Lucida Sans Unicode"/>
                          <a:cs typeface="Mangal"/>
                        </a:rPr>
                        <a:t> and Program/Unit Manager Evaluations submitted to President’s Office by F&amp;A</a:t>
                      </a:r>
                      <a:endParaRPr lang="en-US" sz="800" b="0" kern="50" dirty="0">
                        <a:effectLst/>
                        <a:latin typeface="Times New Roman"/>
                        <a:ea typeface="Lucida Sans Unicode"/>
                        <a:cs typeface="Mangal"/>
                      </a:endParaRPr>
                    </a:p>
                  </a:txBody>
                  <a:tcPr marL="25756" marR="25756" marT="25756" marB="25756">
                    <a:solidFill>
                      <a:srgbClr val="EF917A"/>
                    </a:solidFill>
                  </a:tcPr>
                </a:tc>
                <a:tc>
                  <a:txBody>
                    <a:bodyPr/>
                    <a:lstStyle/>
                    <a:p>
                      <a:pPr marL="0" marR="0">
                        <a:spcBef>
                          <a:spcPts val="0"/>
                        </a:spcBef>
                        <a:spcAft>
                          <a:spcPts val="0"/>
                        </a:spcAft>
                      </a:pPr>
                      <a:r>
                        <a:rPr lang="en-US" sz="900" b="1" kern="50" dirty="0">
                          <a:effectLst/>
                        </a:rPr>
                        <a:t>30</a:t>
                      </a:r>
                      <a:endParaRPr lang="en-US" sz="900" b="1" kern="50" dirty="0">
                        <a:effectLst/>
                        <a:latin typeface="Times New Roman"/>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a:effectLst/>
                        </a:rPr>
                        <a:t>31</a:t>
                      </a:r>
                      <a:endParaRPr lang="en-US" sz="900" b="1" kern="50" dirty="0">
                        <a:effectLst/>
                        <a:latin typeface="Times New Roman"/>
                        <a:ea typeface="Lucida Sans Unicode"/>
                        <a:cs typeface="Mangal"/>
                      </a:endParaRPr>
                    </a:p>
                  </a:txBody>
                  <a:tcPr marL="25756" marR="25756" marT="25756" marB="25756"/>
                </a:tc>
              </a:tr>
            </a:tbl>
          </a:graphicData>
        </a:graphic>
      </p:graphicFrame>
    </p:spTree>
    <p:extLst>
      <p:ext uri="{BB962C8B-B14F-4D97-AF65-F5344CB8AC3E}">
        <p14:creationId xmlns:p14="http://schemas.microsoft.com/office/powerpoint/2010/main" val="20494874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818957147"/>
              </p:ext>
            </p:extLst>
          </p:nvPr>
        </p:nvGraphicFramePr>
        <p:xfrm>
          <a:off x="245961" y="1414733"/>
          <a:ext cx="8734351" cy="4675514"/>
        </p:xfrm>
        <a:graphic>
          <a:graphicData uri="http://schemas.openxmlformats.org/drawingml/2006/table">
            <a:tbl>
              <a:tblPr>
                <a:tableStyleId>{5C22544A-7EE6-4342-B048-85BDC9FD1C3A}</a:tableStyleId>
              </a:tblPr>
              <a:tblGrid>
                <a:gridCol w="1245744"/>
                <a:gridCol w="1246387"/>
                <a:gridCol w="1246387"/>
                <a:gridCol w="1246387"/>
                <a:gridCol w="1246387"/>
                <a:gridCol w="1246387"/>
                <a:gridCol w="1256672"/>
              </a:tblGrid>
              <a:tr h="427043">
                <a:tc gridSpan="7">
                  <a:txBody>
                    <a:bodyPr/>
                    <a:lstStyle/>
                    <a:p>
                      <a:pPr marL="0" marR="0" algn="ctr">
                        <a:spcBef>
                          <a:spcPts val="0"/>
                        </a:spcBef>
                        <a:spcAft>
                          <a:spcPts val="0"/>
                        </a:spcAft>
                      </a:pPr>
                      <a:r>
                        <a:rPr lang="en-US" sz="1900" kern="50" dirty="0" smtClean="0">
                          <a:effectLst/>
                          <a:latin typeface="+mn-lt"/>
                          <a:ea typeface="+mn-ea"/>
                          <a:cs typeface="+mn-cs"/>
                        </a:rPr>
                        <a:t>FEBRUARY</a:t>
                      </a:r>
                      <a:endParaRPr lang="en-US" sz="900" kern="50" dirty="0">
                        <a:effectLst/>
                        <a:latin typeface="Times New Roman"/>
                        <a:ea typeface="Lucida Sans Unicode"/>
                        <a:cs typeface="Mangal"/>
                      </a:endParaRPr>
                    </a:p>
                  </a:txBody>
                  <a:tcPr marL="25756" marR="25756" marT="25756" marB="25756"/>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96679">
                <a:tc>
                  <a:txBody>
                    <a:bodyPr/>
                    <a:lstStyle/>
                    <a:p>
                      <a:pPr marL="0" marR="0" algn="ctr">
                        <a:spcBef>
                          <a:spcPts val="0"/>
                        </a:spcBef>
                        <a:spcAft>
                          <a:spcPts val="0"/>
                        </a:spcAft>
                      </a:pPr>
                      <a:r>
                        <a:rPr lang="en-US" sz="1000" b="1" kern="50" dirty="0">
                          <a:effectLst/>
                        </a:rPr>
                        <a:t>SUNDAY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MONDAY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TUESDAY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WEDNESDAY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THURSDAY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FRIDAY</a:t>
                      </a:r>
                      <a:endParaRPr lang="en-US" sz="900" b="1" kern="50" dirty="0">
                        <a:effectLst/>
                        <a:latin typeface="Times New Roman"/>
                        <a:ea typeface="Lucida Sans Unicode"/>
                        <a:cs typeface="Mangal"/>
                      </a:endParaRPr>
                    </a:p>
                  </a:txBody>
                  <a:tcPr marL="25756" marR="25756" marT="25756" marB="25756"/>
                </a:tc>
                <a:tc>
                  <a:txBody>
                    <a:bodyPr/>
                    <a:lstStyle/>
                    <a:p>
                      <a:pPr marL="0" marR="0" algn="ctr">
                        <a:spcBef>
                          <a:spcPts val="0"/>
                        </a:spcBef>
                        <a:spcAft>
                          <a:spcPts val="0"/>
                        </a:spcAft>
                      </a:pPr>
                      <a:r>
                        <a:rPr lang="en-US" sz="1000" b="1" kern="50" dirty="0">
                          <a:effectLst/>
                        </a:rPr>
                        <a:t>SATURDAY</a:t>
                      </a:r>
                      <a:endParaRPr lang="en-US" sz="900" b="1" kern="50" dirty="0">
                        <a:effectLst/>
                        <a:latin typeface="Times New Roman"/>
                        <a:ea typeface="Lucida Sans Unicode"/>
                        <a:cs typeface="Mangal"/>
                      </a:endParaRPr>
                    </a:p>
                  </a:txBody>
                  <a:tcPr marL="25756" marR="25756" marT="25756" marB="25756"/>
                </a:tc>
              </a:tr>
              <a:tr h="987948">
                <a:tc>
                  <a:txBody>
                    <a:bodyPr/>
                    <a:lstStyle/>
                    <a:p>
                      <a:pPr marL="0" marR="0">
                        <a:spcBef>
                          <a:spcPts val="0"/>
                        </a:spcBef>
                        <a:spcAft>
                          <a:spcPts val="0"/>
                        </a:spcAft>
                      </a:pPr>
                      <a:r>
                        <a:rPr lang="en-US" sz="900" b="1" kern="50" dirty="0" smtClean="0">
                          <a:effectLst/>
                          <a:latin typeface="Times New Roman"/>
                          <a:ea typeface="Lucida Sans Unicode"/>
                          <a:cs typeface="Mangal"/>
                        </a:rPr>
                        <a:t>1</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2</a:t>
                      </a:r>
                      <a:endParaRPr lang="en-US" sz="900" b="1" kern="50" dirty="0">
                        <a:effectLst/>
                        <a:latin typeface="Times New Roman"/>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3</a:t>
                      </a:r>
                      <a:endParaRPr lang="en-US" sz="900" b="1" kern="50" dirty="0">
                        <a:effectLst/>
                        <a:latin typeface="Times New Roman"/>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mj-lt"/>
                          <a:ea typeface="Lucida Sans Unicode"/>
                          <a:cs typeface="Mangal"/>
                        </a:rPr>
                        <a:t>4</a:t>
                      </a:r>
                      <a:endParaRPr lang="en-US" sz="900" b="1" kern="50" dirty="0">
                        <a:effectLst/>
                        <a:latin typeface="+mj-lt"/>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mj-lt"/>
                          <a:ea typeface="Lucida Sans Unicode"/>
                          <a:cs typeface="Mangal"/>
                        </a:rPr>
                        <a:t>5</a:t>
                      </a:r>
                      <a:endParaRPr lang="en-US" sz="900" b="1" kern="50" dirty="0">
                        <a:effectLst/>
                        <a:latin typeface="+mj-lt"/>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6</a:t>
                      </a:r>
                      <a:endParaRPr lang="en-US" sz="900" b="1" kern="50" dirty="0">
                        <a:effectLst/>
                        <a:latin typeface="Times New Roman"/>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7</a:t>
                      </a:r>
                      <a:endParaRPr lang="en-US" sz="900" b="1" kern="50" dirty="0">
                        <a:effectLst/>
                        <a:latin typeface="Times New Roman"/>
                        <a:ea typeface="Lucida Sans Unicode"/>
                        <a:cs typeface="Mangal"/>
                      </a:endParaRPr>
                    </a:p>
                  </a:txBody>
                  <a:tcPr marL="25756" marR="25756" marT="25756" marB="25756"/>
                </a:tc>
              </a:tr>
              <a:tr h="987948">
                <a:tc>
                  <a:txBody>
                    <a:bodyPr/>
                    <a:lstStyle/>
                    <a:p>
                      <a:pPr marL="0" marR="0">
                        <a:spcBef>
                          <a:spcPts val="0"/>
                        </a:spcBef>
                        <a:spcAft>
                          <a:spcPts val="0"/>
                        </a:spcAft>
                      </a:pPr>
                      <a:r>
                        <a:rPr lang="en-US" sz="900" b="1" kern="50" dirty="0" smtClean="0">
                          <a:effectLst/>
                          <a:latin typeface="Times New Roman"/>
                          <a:ea typeface="Lucida Sans Unicode"/>
                          <a:cs typeface="Mangal"/>
                        </a:rPr>
                        <a:t>8</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800" b="1" kern="50" dirty="0" smtClean="0">
                          <a:effectLst/>
                          <a:latin typeface="Times New Roman"/>
                          <a:ea typeface="Lucida Sans Unicode"/>
                          <a:cs typeface="Mangal"/>
                        </a:rPr>
                        <a:t>9</a:t>
                      </a:r>
                      <a:endParaRPr lang="en-US" sz="8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10</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11</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12</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800" b="1" kern="50" dirty="0" smtClean="0">
                          <a:effectLst/>
                          <a:latin typeface="Times New Roman"/>
                          <a:ea typeface="Lucida Sans Unicode"/>
                          <a:cs typeface="Mangal"/>
                        </a:rPr>
                        <a:t>13 </a:t>
                      </a:r>
                    </a:p>
                    <a:p>
                      <a:pPr marL="0" marR="0" algn="ctr">
                        <a:spcBef>
                          <a:spcPts val="0"/>
                        </a:spcBef>
                        <a:spcAft>
                          <a:spcPts val="0"/>
                        </a:spcAft>
                      </a:pPr>
                      <a:endParaRPr lang="en-US" sz="800" b="0" kern="50" dirty="0" smtClean="0">
                        <a:effectLst/>
                        <a:latin typeface="Times New Roman"/>
                        <a:ea typeface="Lucida Sans Unicode"/>
                        <a:cs typeface="Mangal"/>
                      </a:endParaRPr>
                    </a:p>
                    <a:p>
                      <a:pPr marL="0" marR="0" algn="ctr">
                        <a:spcBef>
                          <a:spcPts val="0"/>
                        </a:spcBef>
                        <a:spcAft>
                          <a:spcPts val="0"/>
                        </a:spcAft>
                      </a:pPr>
                      <a:r>
                        <a:rPr lang="en-US" sz="800" b="0" kern="50" dirty="0" smtClean="0">
                          <a:effectLst/>
                          <a:latin typeface="Times New Roman"/>
                          <a:ea typeface="Lucida Sans Unicode"/>
                          <a:cs typeface="Mangal"/>
                        </a:rPr>
                        <a:t>Senior</a:t>
                      </a:r>
                      <a:r>
                        <a:rPr lang="en-US" sz="800" b="0" kern="50" baseline="0" dirty="0" smtClean="0">
                          <a:effectLst/>
                          <a:latin typeface="Times New Roman"/>
                          <a:ea typeface="Lucida Sans Unicode"/>
                          <a:cs typeface="Mangal"/>
                        </a:rPr>
                        <a:t> Management One-on One Reviews Due</a:t>
                      </a:r>
                      <a:endParaRPr lang="en-US" sz="800" b="0" kern="50" dirty="0">
                        <a:effectLst/>
                        <a:latin typeface="Times New Roman"/>
                        <a:ea typeface="Lucida Sans Unicode"/>
                        <a:cs typeface="Mangal"/>
                      </a:endParaRPr>
                    </a:p>
                  </a:txBody>
                  <a:tcPr marL="25756" marR="25756" marT="25756" marB="25756">
                    <a:solidFill>
                      <a:schemeClr val="accent1">
                        <a:lumMod val="60000"/>
                        <a:lumOff val="40000"/>
                      </a:schemeClr>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14</a:t>
                      </a:r>
                      <a:endParaRPr lang="en-US" sz="900" b="1" kern="50" dirty="0">
                        <a:effectLst/>
                        <a:latin typeface="Times New Roman"/>
                        <a:ea typeface="Lucida Sans Unicode"/>
                        <a:cs typeface="Mangal"/>
                      </a:endParaRPr>
                    </a:p>
                  </a:txBody>
                  <a:tcPr marL="25756" marR="25756" marT="25756" marB="25756"/>
                </a:tc>
              </a:tr>
              <a:tr h="987948">
                <a:tc>
                  <a:txBody>
                    <a:bodyPr/>
                    <a:lstStyle/>
                    <a:p>
                      <a:pPr marL="0" marR="0">
                        <a:spcBef>
                          <a:spcPts val="0"/>
                        </a:spcBef>
                        <a:spcAft>
                          <a:spcPts val="0"/>
                        </a:spcAft>
                      </a:pPr>
                      <a:r>
                        <a:rPr lang="en-US" sz="900" b="1" kern="50" dirty="0" smtClean="0">
                          <a:effectLst/>
                          <a:latin typeface="Times New Roman"/>
                          <a:ea typeface="Lucida Sans Unicode"/>
                          <a:cs typeface="Mangal"/>
                        </a:rPr>
                        <a:t>15</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16</a:t>
                      </a:r>
                    </a:p>
                    <a:p>
                      <a:pPr marL="0" marR="0" algn="ctr">
                        <a:spcBef>
                          <a:spcPts val="0"/>
                        </a:spcBef>
                        <a:spcAft>
                          <a:spcPts val="0"/>
                        </a:spcAft>
                      </a:pPr>
                      <a:endParaRPr lang="en-US" sz="900" b="1" kern="50" dirty="0" smtClean="0">
                        <a:solidFill>
                          <a:schemeClr val="dk1"/>
                        </a:solidFill>
                        <a:effectLst/>
                        <a:latin typeface="+mn-lt"/>
                        <a:ea typeface="Lucida Sans Unicode"/>
                        <a:cs typeface="Mangal"/>
                      </a:endParaRPr>
                    </a:p>
                    <a:p>
                      <a:pPr marL="0" marR="0" algn="ctr">
                        <a:spcBef>
                          <a:spcPts val="0"/>
                        </a:spcBef>
                        <a:spcAft>
                          <a:spcPts val="0"/>
                        </a:spcAft>
                      </a:pPr>
                      <a:r>
                        <a:rPr lang="en-US" sz="900" b="1" kern="50" dirty="0" smtClean="0">
                          <a:solidFill>
                            <a:schemeClr val="dk1"/>
                          </a:solidFill>
                          <a:effectLst/>
                          <a:latin typeface="+mn-lt"/>
                          <a:ea typeface="Lucida Sans Unicode"/>
                          <a:cs typeface="Mangal"/>
                        </a:rPr>
                        <a:t>PRESIDENTS DAY</a:t>
                      </a:r>
                    </a:p>
                    <a:p>
                      <a:pPr marL="0" marR="0" algn="ctr">
                        <a:spcBef>
                          <a:spcPts val="0"/>
                        </a:spcBef>
                        <a:spcAft>
                          <a:spcPts val="0"/>
                        </a:spcAft>
                      </a:pPr>
                      <a:r>
                        <a:rPr lang="en-US" sz="900" b="1" kern="50" dirty="0" smtClean="0">
                          <a:solidFill>
                            <a:schemeClr val="dk1"/>
                          </a:solidFill>
                          <a:effectLst/>
                          <a:latin typeface="+mn-lt"/>
                          <a:ea typeface="Lucida Sans Unicode"/>
                          <a:cs typeface="Mangal"/>
                        </a:rPr>
                        <a:t>OFFICE CLOSED</a:t>
                      </a:r>
                    </a:p>
                    <a:p>
                      <a:pPr marL="0" marR="0">
                        <a:spcBef>
                          <a:spcPts val="0"/>
                        </a:spcBef>
                        <a:spcAft>
                          <a:spcPts val="0"/>
                        </a:spcAft>
                      </a:pPr>
                      <a:endParaRPr lang="en-US" sz="900" b="1" kern="50" dirty="0">
                        <a:effectLst/>
                        <a:latin typeface="Times New Roman"/>
                        <a:ea typeface="Lucida Sans Unicode"/>
                        <a:cs typeface="Mangal"/>
                      </a:endParaRPr>
                    </a:p>
                  </a:txBody>
                  <a:tcPr marL="25756" marR="25756" marT="25756" marB="25756">
                    <a:solidFill>
                      <a:srgbClr val="E8E8E8"/>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17</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18</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19</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800" b="1" kern="50" dirty="0" smtClean="0">
                          <a:effectLst/>
                          <a:latin typeface="Times New Roman"/>
                          <a:ea typeface="Lucida Sans Unicode"/>
                          <a:cs typeface="Mangal"/>
                        </a:rPr>
                        <a:t>20</a:t>
                      </a:r>
                    </a:p>
                    <a:p>
                      <a:pPr marL="0" marR="0" algn="ctr">
                        <a:spcBef>
                          <a:spcPts val="0"/>
                        </a:spcBef>
                        <a:spcAft>
                          <a:spcPts val="0"/>
                        </a:spcAft>
                      </a:pPr>
                      <a:endParaRPr lang="en-US" sz="800" b="0" kern="50" dirty="0" smtClean="0">
                        <a:effectLst/>
                        <a:latin typeface="Times New Roman"/>
                        <a:ea typeface="Lucida Sans Unicode"/>
                        <a:cs typeface="Mangal"/>
                      </a:endParaRPr>
                    </a:p>
                    <a:p>
                      <a:pPr marL="0" marR="0" algn="ctr">
                        <a:spcBef>
                          <a:spcPts val="0"/>
                        </a:spcBef>
                        <a:spcAft>
                          <a:spcPts val="0"/>
                        </a:spcAft>
                      </a:pPr>
                      <a:r>
                        <a:rPr lang="en-US" sz="800" b="0" kern="50" dirty="0" smtClean="0">
                          <a:effectLst/>
                          <a:latin typeface="Times New Roman"/>
                          <a:ea typeface="Lucida Sans Unicode"/>
                          <a:cs typeface="Mangal"/>
                        </a:rPr>
                        <a:t>Presidents Office Submits</a:t>
                      </a:r>
                      <a:r>
                        <a:rPr lang="en-US" sz="800" b="0" kern="50" baseline="0" dirty="0" smtClean="0">
                          <a:effectLst/>
                          <a:latin typeface="Times New Roman"/>
                          <a:ea typeface="Lucida Sans Unicode"/>
                          <a:cs typeface="Mangal"/>
                        </a:rPr>
                        <a:t> </a:t>
                      </a:r>
                      <a:r>
                        <a:rPr lang="en-US" sz="800" b="0" kern="50" dirty="0" smtClean="0">
                          <a:effectLst/>
                          <a:latin typeface="Times New Roman"/>
                          <a:ea typeface="Lucida Sans Unicode"/>
                          <a:cs typeface="Mangal"/>
                        </a:rPr>
                        <a:t>Final 2014</a:t>
                      </a:r>
                      <a:r>
                        <a:rPr lang="en-US" sz="800" b="0" kern="50" baseline="0" dirty="0" smtClean="0">
                          <a:effectLst/>
                          <a:latin typeface="Times New Roman"/>
                          <a:ea typeface="Lucida Sans Unicode"/>
                          <a:cs typeface="Mangal"/>
                        </a:rPr>
                        <a:t> Performance Documents to F&amp;A</a:t>
                      </a:r>
                    </a:p>
                    <a:p>
                      <a:pPr marL="0" marR="0">
                        <a:spcBef>
                          <a:spcPts val="0"/>
                        </a:spcBef>
                        <a:spcAft>
                          <a:spcPts val="0"/>
                        </a:spcAft>
                      </a:pPr>
                      <a:endParaRPr lang="en-US" sz="800" b="1" kern="50" dirty="0">
                        <a:effectLst/>
                        <a:latin typeface="Times New Roman"/>
                        <a:ea typeface="Lucida Sans Unicode"/>
                        <a:cs typeface="Mangal"/>
                      </a:endParaRPr>
                    </a:p>
                  </a:txBody>
                  <a:tcPr marL="25756" marR="25756" marT="25756" marB="25756">
                    <a:solidFill>
                      <a:schemeClr val="accent1">
                        <a:lumMod val="60000"/>
                        <a:lumOff val="40000"/>
                      </a:schemeClr>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21</a:t>
                      </a:r>
                      <a:endParaRPr lang="en-US" sz="900" b="1" kern="50" dirty="0">
                        <a:effectLst/>
                        <a:latin typeface="Times New Roman"/>
                        <a:ea typeface="Lucida Sans Unicode"/>
                        <a:cs typeface="Mangal"/>
                      </a:endParaRPr>
                    </a:p>
                  </a:txBody>
                  <a:tcPr marL="25756" marR="25756" marT="25756" marB="25756"/>
                </a:tc>
              </a:tr>
              <a:tr h="987948">
                <a:tc>
                  <a:txBody>
                    <a:bodyPr/>
                    <a:lstStyle/>
                    <a:p>
                      <a:pPr marL="0" marR="0">
                        <a:spcBef>
                          <a:spcPts val="0"/>
                        </a:spcBef>
                        <a:spcAft>
                          <a:spcPts val="0"/>
                        </a:spcAft>
                      </a:pPr>
                      <a:r>
                        <a:rPr lang="en-US" sz="900" b="1" kern="50" dirty="0" smtClean="0">
                          <a:effectLst/>
                          <a:latin typeface="Times New Roman"/>
                          <a:ea typeface="Lucida Sans Unicode"/>
                          <a:cs typeface="Mangal"/>
                        </a:rPr>
                        <a:t>22</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mj-lt"/>
                          <a:ea typeface="Lucida Sans Unicode"/>
                          <a:cs typeface="Mangal"/>
                        </a:rPr>
                        <a:t>23</a:t>
                      </a:r>
                      <a:endParaRPr lang="en-US" sz="900" b="1" kern="50" dirty="0">
                        <a:effectLst/>
                        <a:latin typeface="+mj-lt"/>
                        <a:ea typeface="Lucida Sans Unicode"/>
                        <a:cs typeface="Mangal"/>
                      </a:endParaRPr>
                    </a:p>
                  </a:txBody>
                  <a:tcPr marL="25756" marR="25756" marT="25756" marB="25756">
                    <a:solidFill>
                      <a:srgbClr val="FAE9E8"/>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24</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25</a:t>
                      </a:r>
                      <a:endParaRPr lang="en-US" sz="900" b="1" kern="50" dirty="0">
                        <a:effectLst/>
                        <a:latin typeface="Times New Roman"/>
                        <a:ea typeface="Lucida Sans Unicode"/>
                        <a:cs typeface="Mangal"/>
                      </a:endParaRPr>
                    </a:p>
                  </a:txBody>
                  <a:tcPr marL="25756" marR="25756" marT="25756" marB="25756"/>
                </a:tc>
                <a:tc>
                  <a:txBody>
                    <a:bodyPr/>
                    <a:lstStyle/>
                    <a:p>
                      <a:pPr marL="0" marR="0">
                        <a:spcBef>
                          <a:spcPts val="0"/>
                        </a:spcBef>
                        <a:spcAft>
                          <a:spcPts val="0"/>
                        </a:spcAft>
                      </a:pPr>
                      <a:r>
                        <a:rPr lang="en-US" sz="900" b="1" kern="50" dirty="0" smtClean="0">
                          <a:effectLst/>
                          <a:latin typeface="Times New Roman"/>
                          <a:ea typeface="Lucida Sans Unicode"/>
                          <a:cs typeface="Mangal"/>
                        </a:rPr>
                        <a:t>26</a:t>
                      </a:r>
                    </a:p>
                    <a:p>
                      <a:pPr marL="0" marR="0" algn="ctr">
                        <a:spcBef>
                          <a:spcPts val="0"/>
                        </a:spcBef>
                        <a:spcAft>
                          <a:spcPts val="0"/>
                        </a:spcAft>
                      </a:pPr>
                      <a:endParaRPr lang="en-US" sz="900" b="0" kern="50" dirty="0" smtClean="0">
                        <a:effectLst/>
                        <a:latin typeface="Times New Roman"/>
                        <a:ea typeface="Lucida Sans Unicode"/>
                        <a:cs typeface="Mangal"/>
                      </a:endParaRPr>
                    </a:p>
                    <a:p>
                      <a:pPr marL="0" marR="0" algn="ctr">
                        <a:spcBef>
                          <a:spcPts val="0"/>
                        </a:spcBef>
                        <a:spcAft>
                          <a:spcPts val="0"/>
                        </a:spcAft>
                      </a:pPr>
                      <a:r>
                        <a:rPr lang="en-US" sz="900" b="0" kern="50" dirty="0" smtClean="0">
                          <a:effectLst/>
                          <a:latin typeface="Times New Roman"/>
                          <a:ea typeface="Lucida Sans Unicode"/>
                          <a:cs typeface="Mangal"/>
                        </a:rPr>
                        <a:t>All Staff</a:t>
                      </a:r>
                      <a:r>
                        <a:rPr lang="en-US" sz="900" b="0" kern="50" baseline="0" dirty="0" smtClean="0">
                          <a:effectLst/>
                          <a:latin typeface="Times New Roman"/>
                          <a:ea typeface="Lucida Sans Unicode"/>
                          <a:cs typeface="Mangal"/>
                        </a:rPr>
                        <a:t> Review-Preview</a:t>
                      </a:r>
                    </a:p>
                    <a:p>
                      <a:pPr marL="0" marR="0" algn="ctr">
                        <a:spcBef>
                          <a:spcPts val="0"/>
                        </a:spcBef>
                        <a:spcAft>
                          <a:spcPts val="0"/>
                        </a:spcAft>
                      </a:pPr>
                      <a:r>
                        <a:rPr lang="en-US" sz="900" b="0" kern="50" baseline="0" dirty="0" smtClean="0">
                          <a:effectLst/>
                          <a:latin typeface="Times New Roman"/>
                          <a:ea typeface="Lucida Sans Unicode"/>
                          <a:cs typeface="Mangal"/>
                        </a:rPr>
                        <a:t>(Tentative)</a:t>
                      </a:r>
                      <a:endParaRPr lang="en-US" sz="900" b="0" kern="50" dirty="0">
                        <a:effectLst/>
                        <a:latin typeface="Times New Roman"/>
                        <a:ea typeface="Lucida Sans Unicode"/>
                        <a:cs typeface="Mangal"/>
                      </a:endParaRPr>
                    </a:p>
                  </a:txBody>
                  <a:tcPr marL="25756" marR="25756" marT="25756" marB="25756">
                    <a:solidFill>
                      <a:srgbClr val="EF917A"/>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27</a:t>
                      </a:r>
                    </a:p>
                    <a:p>
                      <a:pPr marL="0" marR="0" algn="ctr">
                        <a:spcBef>
                          <a:spcPts val="0"/>
                        </a:spcBef>
                        <a:spcAft>
                          <a:spcPts val="0"/>
                        </a:spcAft>
                      </a:pPr>
                      <a:endParaRPr lang="en-US" sz="900" b="0" kern="50" dirty="0" smtClean="0">
                        <a:effectLst/>
                        <a:latin typeface="Times New Roman"/>
                        <a:ea typeface="Lucida Sans Unicode"/>
                        <a:cs typeface="Mangal"/>
                      </a:endParaRPr>
                    </a:p>
                    <a:p>
                      <a:pPr marL="0" marR="0" algn="ctr">
                        <a:spcBef>
                          <a:spcPts val="0"/>
                        </a:spcBef>
                        <a:spcAft>
                          <a:spcPts val="0"/>
                        </a:spcAft>
                      </a:pPr>
                      <a:r>
                        <a:rPr lang="en-US" sz="900" b="0" kern="50" dirty="0" smtClean="0">
                          <a:effectLst/>
                          <a:latin typeface="Times New Roman"/>
                          <a:ea typeface="Lucida Sans Unicode"/>
                          <a:cs typeface="Mangal"/>
                        </a:rPr>
                        <a:t>All Staff Review-Preview</a:t>
                      </a:r>
                    </a:p>
                    <a:p>
                      <a:pPr marL="0" marR="0" algn="ctr">
                        <a:spcBef>
                          <a:spcPts val="0"/>
                        </a:spcBef>
                        <a:spcAft>
                          <a:spcPts val="0"/>
                        </a:spcAft>
                      </a:pPr>
                      <a:r>
                        <a:rPr lang="en-US" sz="900" b="0" kern="50" dirty="0" smtClean="0">
                          <a:effectLst/>
                          <a:latin typeface="Times New Roman"/>
                          <a:ea typeface="Lucida Sans Unicode"/>
                          <a:cs typeface="Mangal"/>
                        </a:rPr>
                        <a:t>(Tentative)</a:t>
                      </a:r>
                      <a:endParaRPr lang="en-US" sz="900" b="0" kern="50" dirty="0">
                        <a:effectLst/>
                        <a:latin typeface="Times New Roman"/>
                        <a:ea typeface="Lucida Sans Unicode"/>
                        <a:cs typeface="Mangal"/>
                      </a:endParaRPr>
                    </a:p>
                  </a:txBody>
                  <a:tcPr marL="25756" marR="25756" marT="25756" marB="25756">
                    <a:solidFill>
                      <a:schemeClr val="accent1">
                        <a:lumMod val="60000"/>
                        <a:lumOff val="40000"/>
                      </a:schemeClr>
                    </a:solidFill>
                  </a:tcPr>
                </a:tc>
                <a:tc>
                  <a:txBody>
                    <a:bodyPr/>
                    <a:lstStyle/>
                    <a:p>
                      <a:pPr marL="0" marR="0">
                        <a:spcBef>
                          <a:spcPts val="0"/>
                        </a:spcBef>
                        <a:spcAft>
                          <a:spcPts val="0"/>
                        </a:spcAft>
                      </a:pPr>
                      <a:r>
                        <a:rPr lang="en-US" sz="900" b="1" kern="50" dirty="0" smtClean="0">
                          <a:effectLst/>
                          <a:latin typeface="Times New Roman"/>
                          <a:ea typeface="Lucida Sans Unicode"/>
                          <a:cs typeface="Mangal"/>
                        </a:rPr>
                        <a:t>28</a:t>
                      </a:r>
                      <a:endParaRPr lang="en-US" sz="900" b="1" kern="50" dirty="0">
                        <a:effectLst/>
                        <a:latin typeface="Times New Roman"/>
                        <a:ea typeface="Lucida Sans Unicode"/>
                        <a:cs typeface="Mangal"/>
                      </a:endParaRPr>
                    </a:p>
                  </a:txBody>
                  <a:tcPr marL="25756" marR="25756" marT="25756" marB="25756"/>
                </a:tc>
              </a:tr>
            </a:tbl>
          </a:graphicData>
        </a:graphic>
      </p:graphicFrame>
      <p:sp>
        <p:nvSpPr>
          <p:cNvPr id="7" name="Title 1"/>
          <p:cNvSpPr>
            <a:spLocks noGrp="1"/>
          </p:cNvSpPr>
          <p:nvPr>
            <p:ph type="ctrTitle"/>
          </p:nvPr>
        </p:nvSpPr>
        <p:spPr>
          <a:xfrm>
            <a:off x="3528204" y="284722"/>
            <a:ext cx="5398150" cy="879844"/>
          </a:xfrm>
        </p:spPr>
        <p:txBody>
          <a:bodyPr>
            <a:normAutofit fontScale="90000"/>
          </a:bodyPr>
          <a:lstStyle/>
          <a:p>
            <a:pPr algn="ctr"/>
            <a:r>
              <a:rPr lang="en-US" sz="3200" b="1" dirty="0" smtClean="0"/>
              <a:t>2014 Review &amp; 2015 Preview Calendar</a:t>
            </a:r>
            <a:endParaRPr lang="en-US" sz="3200" b="1" dirty="0"/>
          </a:p>
        </p:txBody>
      </p:sp>
    </p:spTree>
    <p:extLst>
      <p:ext uri="{BB962C8B-B14F-4D97-AF65-F5344CB8AC3E}">
        <p14:creationId xmlns:p14="http://schemas.microsoft.com/office/powerpoint/2010/main" val="3903878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9017" y="245934"/>
            <a:ext cx="5862639" cy="889920"/>
          </a:xfrm>
        </p:spPr>
        <p:txBody>
          <a:bodyPr>
            <a:normAutofit/>
          </a:bodyPr>
          <a:lstStyle/>
          <a:p>
            <a:pPr algn="r"/>
            <a:r>
              <a:rPr lang="en-US" dirty="0" smtClean="0"/>
              <a:t>2014-2016 </a:t>
            </a:r>
            <a:r>
              <a:rPr lang="en-US" dirty="0"/>
              <a:t>Strategic </a:t>
            </a:r>
            <a:r>
              <a:rPr lang="en-US" dirty="0" smtClean="0"/>
              <a:t>Plan</a:t>
            </a:r>
            <a:endParaRPr lang="en-US" dirty="0"/>
          </a:p>
        </p:txBody>
      </p:sp>
      <p:sp>
        <p:nvSpPr>
          <p:cNvPr id="4" name="Text Placeholder 3"/>
          <p:cNvSpPr>
            <a:spLocks noGrp="1"/>
          </p:cNvSpPr>
          <p:nvPr>
            <p:ph type="body" sz="quarter" idx="15"/>
          </p:nvPr>
        </p:nvSpPr>
        <p:spPr>
          <a:xfrm>
            <a:off x="194734" y="1278468"/>
            <a:ext cx="1736479" cy="5029208"/>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pPr marL="457200" indent="-457200">
              <a:buFont typeface="+mj-lt"/>
              <a:buAutoNum type="arabicPeriod"/>
            </a:pPr>
            <a:endParaRPr lang="en-US" sz="1500" b="1" dirty="0" smtClean="0">
              <a:solidFill>
                <a:schemeClr val="accent1"/>
              </a:solidFill>
            </a:endParaRPr>
          </a:p>
          <a:p>
            <a:pPr marL="457200" indent="-457200">
              <a:buFont typeface="+mj-lt"/>
              <a:buAutoNum type="arabicPeriod"/>
            </a:pPr>
            <a:r>
              <a:rPr lang="en-US" sz="1500" b="1" dirty="0" smtClean="0">
                <a:solidFill>
                  <a:schemeClr val="accent1"/>
                </a:solidFill>
              </a:rPr>
              <a:t>Build </a:t>
            </a:r>
            <a:r>
              <a:rPr lang="en-US" sz="1500" b="1" dirty="0">
                <a:solidFill>
                  <a:schemeClr val="accent1"/>
                </a:solidFill>
              </a:rPr>
              <a:t>a Financially Sustainable </a:t>
            </a:r>
            <a:r>
              <a:rPr lang="en-US" sz="1500" b="1" dirty="0" smtClean="0">
                <a:solidFill>
                  <a:schemeClr val="accent1"/>
                </a:solidFill>
              </a:rPr>
              <a:t>Organization</a:t>
            </a:r>
          </a:p>
          <a:p>
            <a:pPr marL="0" indent="0"/>
            <a:endParaRPr lang="en-US" sz="1500" b="1" dirty="0">
              <a:solidFill>
                <a:schemeClr val="accent1"/>
              </a:solidFill>
            </a:endParaRPr>
          </a:p>
          <a:p>
            <a:pPr marL="171450" indent="-171450">
              <a:buFont typeface="Wingdings" pitchFamily="2" charset="2"/>
              <a:buChar char="Ø"/>
            </a:pPr>
            <a:r>
              <a:rPr lang="en-US" sz="1200" dirty="0" smtClean="0">
                <a:solidFill>
                  <a:schemeClr val="accent5">
                    <a:lumMod val="50000"/>
                  </a:schemeClr>
                </a:solidFill>
              </a:rPr>
              <a:t>Ensuring </a:t>
            </a:r>
            <a:r>
              <a:rPr lang="en-US" sz="1200" dirty="0">
                <a:solidFill>
                  <a:schemeClr val="accent5">
                    <a:lumMod val="50000"/>
                  </a:schemeClr>
                </a:solidFill>
              </a:rPr>
              <a:t>that Partners remains strong and influential is our top priority.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We </a:t>
            </a:r>
            <a:r>
              <a:rPr lang="en-US" sz="1200" dirty="0">
                <a:solidFill>
                  <a:schemeClr val="accent5">
                    <a:lumMod val="50000"/>
                  </a:schemeClr>
                </a:solidFill>
              </a:rPr>
              <a:t>all must make the necessary effort and time investment into sustaining Partners mission and strengthening our capacity to be financially independent.  </a:t>
            </a:r>
            <a:endParaRPr lang="en-US" sz="1200" dirty="0" smtClean="0">
              <a:solidFill>
                <a:schemeClr val="accent5">
                  <a:lumMod val="50000"/>
                </a:schemeClr>
              </a:solidFill>
            </a:endParaRPr>
          </a:p>
          <a:p>
            <a:pPr marL="171450" indent="-171450">
              <a:buFont typeface="Wingdings" pitchFamily="2" charset="2"/>
              <a:buChar char="Ø"/>
            </a:pPr>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The </a:t>
            </a:r>
            <a:r>
              <a:rPr lang="en-US" sz="1200" dirty="0">
                <a:solidFill>
                  <a:schemeClr val="accent5">
                    <a:lumMod val="50000"/>
                  </a:schemeClr>
                </a:solidFill>
              </a:rPr>
              <a:t>goal here is to “hold and expand” our core activities in areas such as Youth Engagement and in programs like A Ganar, Farmer to Farmer and the various professional leadership exchanges  that we manage with the Department of State.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At </a:t>
            </a:r>
            <a:r>
              <a:rPr lang="en-US" sz="1200" dirty="0">
                <a:solidFill>
                  <a:schemeClr val="accent5">
                    <a:lumMod val="50000"/>
                  </a:schemeClr>
                </a:solidFill>
              </a:rPr>
              <a:t>the same time, all must put a renewed emphasis on putting the infrastructure in place that will allow Partners to capitalize on new opportunities and develop unsolicited proposals in which we can champion new ideas that leverage the talent of our growing network of volunteers and affiliated institutions</a:t>
            </a:r>
            <a:r>
              <a:rPr lang="en-US" sz="1200" dirty="0" smtClean="0">
                <a:solidFill>
                  <a:schemeClr val="accent5">
                    <a:lumMod val="50000"/>
                  </a:schemeClr>
                </a:solidFill>
              </a:rPr>
              <a:t>.</a:t>
            </a:r>
            <a:endParaRPr lang="en-US" sz="1200" dirty="0">
              <a:solidFill>
                <a:schemeClr val="accent5">
                  <a:lumMod val="50000"/>
                </a:schemeClr>
              </a:solidFill>
            </a:endParaRPr>
          </a:p>
        </p:txBody>
      </p:sp>
      <p:sp>
        <p:nvSpPr>
          <p:cNvPr id="5" name="Text Placeholder 4"/>
          <p:cNvSpPr>
            <a:spLocks noGrp="1"/>
          </p:cNvSpPr>
          <p:nvPr>
            <p:ph type="body" sz="quarter" idx="16"/>
          </p:nvPr>
        </p:nvSpPr>
        <p:spPr>
          <a:xfrm>
            <a:off x="2479853" y="1287475"/>
            <a:ext cx="1923897" cy="5001830"/>
          </a:xfrm>
        </p:spPr>
        <p:style>
          <a:lnRef idx="2">
            <a:schemeClr val="accent5"/>
          </a:lnRef>
          <a:fillRef idx="1">
            <a:schemeClr val="lt1"/>
          </a:fillRef>
          <a:effectRef idx="0">
            <a:schemeClr val="accent5"/>
          </a:effectRef>
          <a:fontRef idx="minor">
            <a:schemeClr val="dk1"/>
          </a:fontRef>
        </p:style>
        <p:txBody>
          <a:bodyPr>
            <a:normAutofit fontScale="32500" lnSpcReduction="20000"/>
          </a:bodyPr>
          <a:lstStyle/>
          <a:p>
            <a:pPr marL="457200" indent="-457200">
              <a:buFont typeface="+mj-lt"/>
              <a:buAutoNum type="arabicPeriod" startAt="2"/>
            </a:pPr>
            <a:endParaRPr lang="en-US" sz="2900" b="1" dirty="0" smtClean="0">
              <a:solidFill>
                <a:schemeClr val="accent1"/>
              </a:solidFill>
            </a:endParaRPr>
          </a:p>
          <a:p>
            <a:pPr marL="457200" indent="-457200">
              <a:buFont typeface="+mj-lt"/>
              <a:buAutoNum type="arabicPeriod" startAt="2"/>
            </a:pPr>
            <a:r>
              <a:rPr lang="en-US" sz="3400" b="1" dirty="0" smtClean="0">
                <a:solidFill>
                  <a:schemeClr val="accent1"/>
                </a:solidFill>
              </a:rPr>
              <a:t>Strengthen </a:t>
            </a:r>
            <a:r>
              <a:rPr lang="en-US" sz="3400" b="1" dirty="0">
                <a:solidFill>
                  <a:schemeClr val="accent1"/>
                </a:solidFill>
              </a:rPr>
              <a:t>Our </a:t>
            </a:r>
            <a:r>
              <a:rPr lang="en-US" sz="3400" b="1" dirty="0" smtClean="0">
                <a:solidFill>
                  <a:schemeClr val="accent1"/>
                </a:solidFill>
              </a:rPr>
              <a:t>Network</a:t>
            </a:r>
          </a:p>
          <a:p>
            <a:pPr marL="0" indent="0"/>
            <a:endParaRPr lang="en-US" sz="2900" b="1" dirty="0">
              <a:solidFill>
                <a:schemeClr val="accent1"/>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The </a:t>
            </a:r>
            <a:r>
              <a:rPr lang="en-US" sz="2500" dirty="0">
                <a:solidFill>
                  <a:schemeClr val="accent5">
                    <a:lumMod val="50000"/>
                  </a:schemeClr>
                </a:solidFill>
              </a:rPr>
              <a:t>core strength of Partners has always been its ability to connect individuals and organizations across the hemisphere and amass a network that is greater than the sum of its parts.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Today we are creating a revitalized network of volunteers, civil society organizations, businesses, universities, governments and collaborators of all forms. </a:t>
            </a:r>
            <a:endParaRPr lang="en-US" sz="2500" dirty="0" smtClean="0">
              <a:solidFill>
                <a:schemeClr val="accent5">
                  <a:lumMod val="50000"/>
                </a:schemeClr>
              </a:solidFill>
            </a:endParaRPr>
          </a:p>
          <a:p>
            <a:pPr marL="0" indent="0"/>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We </a:t>
            </a:r>
            <a:r>
              <a:rPr lang="en-US" sz="2500" dirty="0">
                <a:solidFill>
                  <a:schemeClr val="accent5">
                    <a:lumMod val="50000"/>
                  </a:schemeClr>
                </a:solidFill>
              </a:rPr>
              <a:t>need to place renewed emphasis on learning and educating ourselves about the many ways to position Partners.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We are in a new era and need to be learning-ready, proactive</a:t>
            </a:r>
            <a:r>
              <a:rPr lang="en-US" sz="2500" dirty="0" smtClean="0">
                <a:solidFill>
                  <a:schemeClr val="accent5">
                    <a:lumMod val="50000"/>
                  </a:schemeClr>
                </a:solidFill>
              </a:rPr>
              <a:t>, and </a:t>
            </a:r>
            <a:r>
              <a:rPr lang="en-US" sz="2500" dirty="0">
                <a:solidFill>
                  <a:schemeClr val="accent5">
                    <a:lumMod val="50000"/>
                  </a:schemeClr>
                </a:solidFill>
              </a:rPr>
              <a:t>able to make connections and collaborate meaningfully across program areas. </a:t>
            </a:r>
          </a:p>
          <a:p>
            <a:endParaRPr lang="en-US" dirty="0"/>
          </a:p>
        </p:txBody>
      </p:sp>
      <p:sp>
        <p:nvSpPr>
          <p:cNvPr id="6" name="Text Placeholder 5"/>
          <p:cNvSpPr>
            <a:spLocks noGrp="1"/>
          </p:cNvSpPr>
          <p:nvPr>
            <p:ph type="body" sz="quarter" idx="17"/>
          </p:nvPr>
        </p:nvSpPr>
        <p:spPr>
          <a:xfrm>
            <a:off x="4765785" y="1287475"/>
            <a:ext cx="1920308" cy="5010297"/>
          </a:xfrm>
        </p:spPr>
        <p:style>
          <a:lnRef idx="2">
            <a:schemeClr val="accent6"/>
          </a:lnRef>
          <a:fillRef idx="1">
            <a:schemeClr val="lt1"/>
          </a:fillRef>
          <a:effectRef idx="0">
            <a:schemeClr val="accent6"/>
          </a:effectRef>
          <a:fontRef idx="minor">
            <a:schemeClr val="dk1"/>
          </a:fontRef>
        </p:style>
        <p:txBody>
          <a:bodyPr>
            <a:normAutofit fontScale="32500" lnSpcReduction="20000"/>
          </a:bodyPr>
          <a:lstStyle/>
          <a:p>
            <a:pPr marL="457200" indent="-457200">
              <a:buFont typeface="+mj-lt"/>
              <a:buAutoNum type="arabicPeriod" startAt="2"/>
            </a:pPr>
            <a:endParaRPr lang="en-US" sz="3400" b="1" dirty="0">
              <a:solidFill>
                <a:schemeClr val="accent1"/>
              </a:solidFill>
            </a:endParaRPr>
          </a:p>
          <a:p>
            <a:pPr marL="0" indent="0"/>
            <a:r>
              <a:rPr lang="en-US" sz="3400" b="1" dirty="0" smtClean="0">
                <a:solidFill>
                  <a:schemeClr val="accent1"/>
                </a:solidFill>
              </a:rPr>
              <a:t>3. 	Create </a:t>
            </a:r>
            <a:r>
              <a:rPr lang="en-US" sz="3400" b="1" dirty="0">
                <a:solidFill>
                  <a:schemeClr val="accent1"/>
                </a:solidFill>
              </a:rPr>
              <a:t>an </a:t>
            </a:r>
            <a:r>
              <a:rPr lang="en-US" sz="3400" b="1" dirty="0" smtClean="0">
                <a:solidFill>
                  <a:schemeClr val="accent1"/>
                </a:solidFill>
              </a:rPr>
              <a:t>	Accountable 	and 	Transparent 	Organization</a:t>
            </a:r>
            <a:endParaRPr lang="en-US" sz="3400" b="1" dirty="0">
              <a:solidFill>
                <a:schemeClr val="accent1"/>
              </a:solidFill>
            </a:endParaRPr>
          </a:p>
          <a:p>
            <a:pPr marL="0" indent="0"/>
            <a:endParaRPr lang="en-US" sz="2500" b="1" dirty="0" smtClean="0">
              <a:solidFill>
                <a:schemeClr val="accent1"/>
              </a:solidFill>
            </a:endParaRPr>
          </a:p>
          <a:p>
            <a:pPr>
              <a:buFont typeface="Wingdings" pitchFamily="2" charset="2"/>
              <a:buChar char="Ø"/>
            </a:pPr>
            <a:r>
              <a:rPr lang="en-US" sz="2500" dirty="0" smtClean="0">
                <a:solidFill>
                  <a:schemeClr val="accent5">
                    <a:lumMod val="50000"/>
                  </a:schemeClr>
                </a:solidFill>
              </a:rPr>
              <a:t>Partners </a:t>
            </a:r>
            <a:r>
              <a:rPr lang="en-US" sz="2500" dirty="0">
                <a:solidFill>
                  <a:schemeClr val="accent5">
                    <a:lumMod val="50000"/>
                  </a:schemeClr>
                </a:solidFill>
              </a:rPr>
              <a:t>must continually nurture its relationship with donors, grant-writers and all those who support our mission. </a:t>
            </a:r>
            <a:endParaRPr lang="en-US" sz="2500" dirty="0" smtClean="0">
              <a:solidFill>
                <a:schemeClr val="accent5">
                  <a:lumMod val="50000"/>
                </a:schemeClr>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To </a:t>
            </a:r>
            <a:r>
              <a:rPr lang="en-US" sz="2500" dirty="0">
                <a:solidFill>
                  <a:schemeClr val="accent5">
                    <a:lumMod val="50000"/>
                  </a:schemeClr>
                </a:solidFill>
              </a:rPr>
              <a:t>inspire trust and confidence in our operations, it is imperative that Partners create a climate of transparency and accountability, in which contributors can freely access financial and programmatic information. </a:t>
            </a:r>
            <a:endParaRPr lang="en-US" sz="2500" dirty="0" smtClean="0">
              <a:solidFill>
                <a:schemeClr val="accent5">
                  <a:lumMod val="50000"/>
                </a:schemeClr>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Through </a:t>
            </a:r>
            <a:r>
              <a:rPr lang="en-US" sz="2500" dirty="0">
                <a:solidFill>
                  <a:schemeClr val="accent5">
                    <a:lumMod val="50000"/>
                  </a:schemeClr>
                </a:solidFill>
              </a:rPr>
              <a:t>clean audits, an efficient governance structure, on-time submissions of quarterly and annual reports, improving donor communication, and  attaining BBB certification, Partners will be able to ensure supporters that their contributions are wisely invested and buttress our reputation among competitors and members alike</a:t>
            </a:r>
            <a:r>
              <a:rPr lang="en-US" sz="2500" dirty="0" smtClean="0"/>
              <a:t>.</a:t>
            </a:r>
            <a:endParaRPr lang="en-US" sz="2500" dirty="0"/>
          </a:p>
        </p:txBody>
      </p:sp>
      <p:sp>
        <p:nvSpPr>
          <p:cNvPr id="7" name="Text Placeholder 5"/>
          <p:cNvSpPr txBox="1">
            <a:spLocks/>
          </p:cNvSpPr>
          <p:nvPr/>
        </p:nvSpPr>
        <p:spPr>
          <a:xfrm>
            <a:off x="6951810" y="1287475"/>
            <a:ext cx="1848376" cy="50182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None/>
              <a:defRPr sz="2400" kern="1200" baseline="0">
                <a:solidFill>
                  <a:schemeClr val="accent4"/>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1800" b="1" i="0" kern="1200" baseline="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1200" b="1" i="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endParaRPr lang="en-US" sz="1000" b="1" dirty="0" smtClean="0">
              <a:solidFill>
                <a:schemeClr val="accent1"/>
              </a:solidFill>
            </a:endParaRPr>
          </a:p>
          <a:p>
            <a:pPr marL="0" indent="0"/>
            <a:r>
              <a:rPr lang="en-US" sz="1100" b="1" dirty="0" smtClean="0">
                <a:solidFill>
                  <a:schemeClr val="accent1"/>
                </a:solidFill>
              </a:rPr>
              <a:t>4. 	</a:t>
            </a:r>
            <a:r>
              <a:rPr lang="en-US" sz="1100" b="1" smtClean="0">
                <a:solidFill>
                  <a:schemeClr val="accent1"/>
                </a:solidFill>
              </a:rPr>
              <a:t>Evaluate and </a:t>
            </a:r>
            <a:r>
              <a:rPr lang="en-US" sz="1100" b="1" dirty="0" smtClean="0">
                <a:solidFill>
                  <a:schemeClr val="accent1"/>
                </a:solidFill>
              </a:rPr>
              <a:t>	Communicate 	Our  Impact and 	Value</a:t>
            </a:r>
          </a:p>
          <a:p>
            <a:pPr>
              <a:lnSpc>
                <a:spcPct val="80000"/>
              </a:lnSpc>
              <a:buFont typeface="Wingdings" pitchFamily="2" charset="2"/>
              <a:buChar char="Ø"/>
            </a:pPr>
            <a:r>
              <a:rPr lang="en-US" sz="800" i="1" dirty="0" smtClean="0">
                <a:solidFill>
                  <a:schemeClr val="accent5">
                    <a:lumMod val="50000"/>
                  </a:schemeClr>
                </a:solidFill>
              </a:rPr>
              <a:t>In progress</a:t>
            </a:r>
            <a:endParaRPr lang="en-US" sz="800" i="1" dirty="0">
              <a:solidFill>
                <a:schemeClr val="accent5">
                  <a:lumMod val="50000"/>
                </a:schemeClr>
              </a:solidFill>
            </a:endParaRPr>
          </a:p>
          <a:p>
            <a:pPr marL="0" indent="0"/>
            <a:endParaRPr lang="en-US" sz="1100" b="1" dirty="0" smtClean="0">
              <a:solidFill>
                <a:schemeClr val="accent1"/>
              </a:solidFill>
            </a:endParaRPr>
          </a:p>
          <a:p>
            <a:pPr marL="0" indent="0"/>
            <a:endParaRPr lang="en-US" sz="1100" b="1" dirty="0">
              <a:solidFill>
                <a:schemeClr val="accent1"/>
              </a:solidFill>
            </a:endParaRPr>
          </a:p>
          <a:p>
            <a:pPr marL="0" indent="0"/>
            <a:endParaRPr lang="en-US" sz="1100" b="1" dirty="0" smtClean="0">
              <a:solidFill>
                <a:schemeClr val="accent1"/>
              </a:solidFill>
            </a:endParaRPr>
          </a:p>
        </p:txBody>
      </p:sp>
    </p:spTree>
    <p:extLst>
      <p:ext uri="{BB962C8B-B14F-4D97-AF65-F5344CB8AC3E}">
        <p14:creationId xmlns:p14="http://schemas.microsoft.com/office/powerpoint/2010/main" val="3255552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1543792"/>
            <a:ext cx="6500427" cy="3129807"/>
          </a:xfrm>
        </p:spPr>
        <p:txBody>
          <a:bodyPr>
            <a:normAutofit/>
          </a:bodyPr>
          <a:lstStyle/>
          <a:p>
            <a:pPr algn="ctr"/>
            <a:r>
              <a:rPr lang="en-US" sz="3200" dirty="0" smtClean="0"/>
              <a:t>2014 Goals &amp; Performance Review Process</a:t>
            </a:r>
            <a:br>
              <a:rPr lang="en-US" sz="3200" dirty="0" smtClean="0"/>
            </a:br>
            <a:r>
              <a:rPr lang="en-US" sz="3200" dirty="0" smtClean="0"/>
              <a:t/>
            </a:r>
            <a:br>
              <a:rPr lang="en-US" sz="3200" dirty="0" smtClean="0"/>
            </a:br>
            <a:r>
              <a:rPr lang="en-US" sz="3200" b="1" dirty="0" smtClean="0">
                <a:solidFill>
                  <a:schemeClr val="accent1"/>
                </a:solidFill>
              </a:rPr>
              <a:t>Part I</a:t>
            </a:r>
            <a:r>
              <a:rPr lang="en-US" sz="3200" dirty="0" smtClean="0">
                <a:solidFill>
                  <a:schemeClr val="accent1"/>
                </a:solidFill>
              </a:rPr>
              <a:t/>
            </a:r>
            <a:br>
              <a:rPr lang="en-US" sz="3200" dirty="0" smtClean="0">
                <a:solidFill>
                  <a:schemeClr val="accent1"/>
                </a:solidFill>
              </a:rPr>
            </a:br>
            <a:r>
              <a:rPr lang="en-US" sz="3200" b="1" dirty="0" smtClean="0">
                <a:solidFill>
                  <a:schemeClr val="accent1"/>
                </a:solidFill>
              </a:rPr>
              <a:t>Employee Reviews</a:t>
            </a:r>
            <a:endParaRPr lang="en-US" sz="3200" b="1" dirty="0">
              <a:solidFill>
                <a:schemeClr val="accent1"/>
              </a:solidFill>
            </a:endParaRPr>
          </a:p>
        </p:txBody>
      </p:sp>
    </p:spTree>
    <p:extLst>
      <p:ext uri="{BB962C8B-B14F-4D97-AF65-F5344CB8AC3E}">
        <p14:creationId xmlns:p14="http://schemas.microsoft.com/office/powerpoint/2010/main" val="9819910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a:xfrm>
            <a:off x="226615" y="1270684"/>
            <a:ext cx="8162011" cy="1695154"/>
          </a:xfrm>
        </p:spPr>
        <p:txBody>
          <a:bodyPr>
            <a:normAutofit/>
          </a:bodyPr>
          <a:lstStyle/>
          <a:p>
            <a:pPr marL="285750" indent="-285750">
              <a:buFont typeface="Arial" panose="020B0604020202020204" pitchFamily="34" charset="0"/>
              <a:buChar char="•"/>
            </a:pPr>
            <a:r>
              <a:rPr lang="en-US" sz="1400" dirty="0" smtClean="0">
                <a:solidFill>
                  <a:schemeClr val="tx1"/>
                </a:solidFill>
              </a:rPr>
              <a:t>Supervisors will request two or three (2 min.-3 max.) confidential </a:t>
            </a:r>
            <a:r>
              <a:rPr lang="en-US" sz="1400" b="1" dirty="0" smtClean="0">
                <a:solidFill>
                  <a:schemeClr val="accent1"/>
                </a:solidFill>
              </a:rPr>
              <a:t>360</a:t>
            </a:r>
            <a:r>
              <a:rPr lang="en-US" sz="1400" b="1" baseline="30000" dirty="0" smtClean="0">
                <a:solidFill>
                  <a:schemeClr val="accent1"/>
                </a:solidFill>
              </a:rPr>
              <a:t>o</a:t>
            </a:r>
            <a:r>
              <a:rPr lang="en-US" sz="1400" b="1" dirty="0" smtClean="0">
                <a:solidFill>
                  <a:schemeClr val="accent1"/>
                </a:solidFill>
              </a:rPr>
              <a:t> Peer Evaluations</a:t>
            </a:r>
            <a:r>
              <a:rPr lang="en-US" sz="1400" dirty="0" smtClean="0"/>
              <a:t> </a:t>
            </a:r>
            <a:r>
              <a:rPr lang="en-US" sz="1400" dirty="0" smtClean="0">
                <a:solidFill>
                  <a:schemeClr val="tx1"/>
                </a:solidFill>
              </a:rPr>
              <a:t>from colleagues of each employee.</a:t>
            </a:r>
            <a:endParaRPr lang="en-US" sz="1400" dirty="0">
              <a:solidFill>
                <a:schemeClr val="tx1"/>
              </a:solidFill>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050" y="2270126"/>
            <a:ext cx="2860674" cy="370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78932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12315" y="1207008"/>
            <a:ext cx="2945439" cy="5108831"/>
          </a:xfrm>
        </p:spPr>
        <p:txBody>
          <a:bodyPr>
            <a:normAutofit fontScale="55000" lnSpcReduction="20000"/>
          </a:bodyPr>
          <a:lstStyle/>
          <a:p>
            <a:pPr>
              <a:buFont typeface="Arial" panose="020B0604020202020204" pitchFamily="34" charset="0"/>
              <a:buChar char="•"/>
            </a:pPr>
            <a:r>
              <a:rPr lang="en-US" sz="2500" dirty="0" smtClean="0">
                <a:solidFill>
                  <a:schemeClr val="tx1"/>
                </a:solidFill>
              </a:rPr>
              <a:t>Supervisors will email each of their employees a copy of the </a:t>
            </a:r>
            <a:r>
              <a:rPr lang="en-US" sz="2500" b="1" dirty="0" smtClean="0">
                <a:solidFill>
                  <a:schemeClr val="accent1"/>
                </a:solidFill>
              </a:rPr>
              <a:t>2014 Employee Goals &amp; Performance Evaluation Form </a:t>
            </a:r>
            <a:r>
              <a:rPr lang="en-US" sz="2500" dirty="0" smtClean="0">
                <a:solidFill>
                  <a:schemeClr val="tx1"/>
                </a:solidFill>
              </a:rPr>
              <a:t>and the </a:t>
            </a:r>
            <a:r>
              <a:rPr lang="en-US" sz="2500" b="1" dirty="0" smtClean="0">
                <a:solidFill>
                  <a:schemeClr val="accent1"/>
                </a:solidFill>
              </a:rPr>
              <a:t>2015 Employee Goals &amp; Performance Expectations Form.</a:t>
            </a:r>
          </a:p>
          <a:p>
            <a:pPr>
              <a:buFont typeface="Arial" panose="020B0604020202020204" pitchFamily="34" charset="0"/>
              <a:buChar char="•"/>
            </a:pPr>
            <a:r>
              <a:rPr lang="en-US" sz="2500" dirty="0" smtClean="0">
                <a:solidFill>
                  <a:schemeClr val="tx1"/>
                </a:solidFill>
              </a:rPr>
              <a:t>In the email, Supervisors will ask the employee to fill in </a:t>
            </a:r>
            <a:r>
              <a:rPr lang="en-US" sz="2500" b="1" dirty="0" smtClean="0">
                <a:solidFill>
                  <a:schemeClr val="tx1"/>
                </a:solidFill>
              </a:rPr>
              <a:t>Section A</a:t>
            </a:r>
            <a:r>
              <a:rPr lang="en-US" sz="2500" dirty="0" smtClean="0">
                <a:solidFill>
                  <a:schemeClr val="tx1"/>
                </a:solidFill>
              </a:rPr>
              <a:t> and </a:t>
            </a:r>
            <a:r>
              <a:rPr lang="en-US" sz="2500" b="1" dirty="0" smtClean="0">
                <a:solidFill>
                  <a:schemeClr val="tx1"/>
                </a:solidFill>
              </a:rPr>
              <a:t>Section B</a:t>
            </a:r>
            <a:r>
              <a:rPr lang="en-US" sz="2500" dirty="0" smtClean="0">
                <a:solidFill>
                  <a:schemeClr val="tx1"/>
                </a:solidFill>
              </a:rPr>
              <a:t> with the ratings that </a:t>
            </a:r>
            <a:r>
              <a:rPr lang="en-US" sz="2500" i="1" dirty="0" smtClean="0">
                <a:solidFill>
                  <a:schemeClr val="tx1"/>
                </a:solidFill>
              </a:rPr>
              <a:t>they</a:t>
            </a:r>
            <a:r>
              <a:rPr lang="en-US" sz="2500" dirty="0" smtClean="0">
                <a:solidFill>
                  <a:schemeClr val="tx1"/>
                </a:solidFill>
              </a:rPr>
              <a:t> believe they have earned for that specific goal. Employees must also complete the </a:t>
            </a:r>
            <a:r>
              <a:rPr lang="en-US" sz="2500" b="1" dirty="0" smtClean="0">
                <a:solidFill>
                  <a:schemeClr val="accent1"/>
                </a:solidFill>
              </a:rPr>
              <a:t>2015 Employee Goals &amp; Performance Expectations Form</a:t>
            </a:r>
            <a:r>
              <a:rPr lang="en-US" sz="2500" dirty="0" smtClean="0"/>
              <a:t> </a:t>
            </a:r>
            <a:r>
              <a:rPr lang="en-US" sz="2500" dirty="0" smtClean="0">
                <a:solidFill>
                  <a:schemeClr val="tx1"/>
                </a:solidFill>
              </a:rPr>
              <a:t>at this time.</a:t>
            </a:r>
          </a:p>
          <a:p>
            <a:pPr>
              <a:buFont typeface="Arial" panose="020B0604020202020204" pitchFamily="34" charset="0"/>
              <a:buChar char="•"/>
            </a:pPr>
            <a:r>
              <a:rPr lang="en-US" sz="2500" dirty="0" smtClean="0">
                <a:solidFill>
                  <a:schemeClr val="tx1"/>
                </a:solidFill>
              </a:rPr>
              <a:t>Once the employee completes the</a:t>
            </a:r>
            <a:r>
              <a:rPr lang="en-US" sz="2500" dirty="0" smtClean="0"/>
              <a:t> </a:t>
            </a:r>
            <a:r>
              <a:rPr lang="en-US" sz="2500" b="1" dirty="0" smtClean="0">
                <a:solidFill>
                  <a:schemeClr val="accent1"/>
                </a:solidFill>
              </a:rPr>
              <a:t>2014 Employee Goals &amp; Performance Evaluation Form</a:t>
            </a:r>
            <a:r>
              <a:rPr lang="en-US" sz="2500" dirty="0" smtClean="0"/>
              <a:t> </a:t>
            </a:r>
            <a:r>
              <a:rPr lang="en-US" sz="2500" dirty="0" smtClean="0">
                <a:solidFill>
                  <a:schemeClr val="tx1"/>
                </a:solidFill>
              </a:rPr>
              <a:t>and the </a:t>
            </a:r>
            <a:r>
              <a:rPr lang="en-US" sz="2500" b="1" dirty="0" smtClean="0">
                <a:solidFill>
                  <a:schemeClr val="accent1"/>
                </a:solidFill>
              </a:rPr>
              <a:t>2015 Employee Goals &amp; Performance Expectations Form</a:t>
            </a:r>
            <a:r>
              <a:rPr lang="en-US" sz="2500" dirty="0" smtClean="0"/>
              <a:t> </a:t>
            </a:r>
            <a:r>
              <a:rPr lang="en-US" sz="2500" dirty="0" smtClean="0">
                <a:solidFill>
                  <a:schemeClr val="tx1"/>
                </a:solidFill>
              </a:rPr>
              <a:t>in its entirety, they will email the completed forms to their supervisor.</a:t>
            </a:r>
          </a:p>
          <a:p>
            <a:endParaRPr lang="en-US" dirty="0" smtClean="0"/>
          </a:p>
          <a:p>
            <a:endParaRPr lang="en-US" b="1"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2765" y="292381"/>
            <a:ext cx="2255354" cy="1789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765" y="2032974"/>
            <a:ext cx="2252390" cy="1814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6195" y="380249"/>
            <a:ext cx="2214470" cy="170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6195" y="2082299"/>
            <a:ext cx="2214470" cy="1695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8045" y="4104013"/>
            <a:ext cx="2067339" cy="2233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8119" y="4218388"/>
            <a:ext cx="2032312" cy="2118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Oval 9"/>
          <p:cNvSpPr/>
          <p:nvPr/>
        </p:nvSpPr>
        <p:spPr>
          <a:xfrm>
            <a:off x="5307896" y="197354"/>
            <a:ext cx="1033670" cy="371679"/>
          </a:xfrm>
          <a:prstGeom prst="ellipse">
            <a:avLst/>
          </a:prstGeom>
          <a:noFill/>
          <a:ln w="158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p:cNvSpPr/>
          <p:nvPr/>
        </p:nvSpPr>
        <p:spPr>
          <a:xfrm>
            <a:off x="5410958" y="3984672"/>
            <a:ext cx="1033670" cy="371679"/>
          </a:xfrm>
          <a:prstGeom prst="ellipse">
            <a:avLst/>
          </a:prstGeom>
          <a:noFill/>
          <a:ln w="158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263173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9979" y="1118529"/>
            <a:ext cx="8575896" cy="4247317"/>
          </a:xfrm>
          <a:prstGeom prst="rect">
            <a:avLst/>
          </a:prstGeom>
        </p:spPr>
        <p:txBody>
          <a:bodyPr wrap="square">
            <a:spAutoFit/>
          </a:bodyPr>
          <a:lstStyle/>
          <a:p>
            <a:pPr marL="285750" indent="-285750">
              <a:buFont typeface="Arial" panose="020B0604020202020204" pitchFamily="34" charset="0"/>
              <a:buChar char="•"/>
            </a:pPr>
            <a:r>
              <a:rPr lang="en-US" dirty="0" smtClean="0"/>
              <a:t>Once the </a:t>
            </a:r>
            <a:r>
              <a:rPr lang="en-US" dirty="0"/>
              <a:t>Supervisor </a:t>
            </a:r>
            <a:r>
              <a:rPr lang="en-US" dirty="0" smtClean="0"/>
              <a:t>receives the completed </a:t>
            </a:r>
            <a:r>
              <a:rPr lang="en-US" b="1" dirty="0">
                <a:solidFill>
                  <a:schemeClr val="accent1"/>
                </a:solidFill>
              </a:rPr>
              <a:t>2014 Employee Goals &amp; Performance Evaluation Form </a:t>
            </a:r>
            <a:r>
              <a:rPr lang="en-US" dirty="0"/>
              <a:t>and the </a:t>
            </a:r>
            <a:r>
              <a:rPr lang="en-US" b="1" dirty="0">
                <a:solidFill>
                  <a:schemeClr val="accent1"/>
                </a:solidFill>
              </a:rPr>
              <a:t>2015 Employee Goals &amp; Performance Expectations </a:t>
            </a:r>
            <a:r>
              <a:rPr lang="en-US" b="1" dirty="0" smtClean="0">
                <a:solidFill>
                  <a:schemeClr val="accent1"/>
                </a:solidFill>
              </a:rPr>
              <a:t>Form, </a:t>
            </a:r>
            <a:r>
              <a:rPr lang="en-US" dirty="0" smtClean="0"/>
              <a:t> they will promptly set </a:t>
            </a:r>
            <a:r>
              <a:rPr lang="en-US" dirty="0"/>
              <a:t>a date and time to meet with the </a:t>
            </a:r>
            <a:r>
              <a:rPr lang="en-US" dirty="0" smtClean="0"/>
              <a:t>employee.  </a:t>
            </a:r>
          </a:p>
          <a:p>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endParaRPr lang="en-US" dirty="0" smtClean="0"/>
          </a:p>
          <a:p>
            <a:endParaRPr lang="en-US" dirty="0" smtClean="0"/>
          </a:p>
          <a:p>
            <a:endParaRPr lang="en-US" dirty="0" smtClean="0"/>
          </a:p>
          <a:p>
            <a:pPr marL="285750" indent="-285750">
              <a:buFont typeface="Arial" panose="020B0604020202020204" pitchFamily="34" charset="0"/>
              <a:buChar char="•"/>
            </a:pPr>
            <a:r>
              <a:rPr lang="en-US" dirty="0" smtClean="0"/>
              <a:t>The </a:t>
            </a:r>
            <a:r>
              <a:rPr lang="en-US" b="1" dirty="0" smtClean="0"/>
              <a:t>objectives</a:t>
            </a:r>
            <a:r>
              <a:rPr lang="en-US" dirty="0" smtClean="0"/>
              <a:t> that should be achieved during the one on one meeting are as follows:</a:t>
            </a:r>
          </a:p>
          <a:p>
            <a:pPr marL="742950" lvl="1" indent="-285750">
              <a:buFont typeface="Wingdings" panose="05000000000000000000" pitchFamily="2" charset="2"/>
              <a:buChar char="Ø"/>
            </a:pPr>
            <a:r>
              <a:rPr lang="en-US" dirty="0" smtClean="0"/>
              <a:t>For the </a:t>
            </a:r>
            <a:r>
              <a:rPr lang="en-US" dirty="0"/>
              <a:t>supervisor and employee </a:t>
            </a:r>
            <a:r>
              <a:rPr lang="en-US" dirty="0" smtClean="0"/>
              <a:t>to discuss </a:t>
            </a:r>
            <a:r>
              <a:rPr lang="en-US" dirty="0"/>
              <a:t>the ratings and </a:t>
            </a:r>
            <a:r>
              <a:rPr lang="en-US" dirty="0" smtClean="0"/>
              <a:t>comments on the </a:t>
            </a:r>
            <a:r>
              <a:rPr lang="en-US" b="1" dirty="0">
                <a:solidFill>
                  <a:schemeClr val="accent1"/>
                </a:solidFill>
              </a:rPr>
              <a:t>2014 Employee Goals &amp; Performance Evaluation </a:t>
            </a:r>
            <a:r>
              <a:rPr lang="en-US" b="1" dirty="0" smtClean="0">
                <a:solidFill>
                  <a:schemeClr val="accent1"/>
                </a:solidFill>
              </a:rPr>
              <a:t>Form</a:t>
            </a:r>
            <a:r>
              <a:rPr lang="en-US" b="1" dirty="0" smtClean="0"/>
              <a:t>.</a:t>
            </a:r>
          </a:p>
          <a:p>
            <a:pPr marL="742950" lvl="1" indent="-285750">
              <a:buFont typeface="Wingdings" panose="05000000000000000000" pitchFamily="2" charset="2"/>
              <a:buChar char="Ø"/>
            </a:pPr>
            <a:r>
              <a:rPr lang="en-US" dirty="0"/>
              <a:t>R</a:t>
            </a:r>
            <a:r>
              <a:rPr lang="en-US" dirty="0" smtClean="0"/>
              <a:t>eview the </a:t>
            </a:r>
            <a:r>
              <a:rPr lang="en-US" b="1" dirty="0" smtClean="0">
                <a:solidFill>
                  <a:schemeClr val="accent1"/>
                </a:solidFill>
              </a:rPr>
              <a:t>2015 Goals &amp; Performance Expectations Form</a:t>
            </a:r>
            <a:r>
              <a:rPr lang="en-US" dirty="0" smtClean="0"/>
              <a:t>. </a:t>
            </a:r>
          </a:p>
          <a:p>
            <a:pPr marL="742950" lvl="1" indent="-285750">
              <a:buFont typeface="Wingdings" panose="05000000000000000000" pitchFamily="2" charset="2"/>
              <a:buChar char="Ø"/>
            </a:pPr>
            <a:r>
              <a:rPr lang="en-US" dirty="0"/>
              <a:t>S</a:t>
            </a:r>
            <a:r>
              <a:rPr lang="en-US" dirty="0" smtClean="0"/>
              <a:t>upervisor </a:t>
            </a:r>
            <a:r>
              <a:rPr lang="en-US" dirty="0"/>
              <a:t>and employee to agree on the </a:t>
            </a:r>
            <a:r>
              <a:rPr lang="en-US" b="1" u="sng" dirty="0" smtClean="0"/>
              <a:t>final ratings</a:t>
            </a:r>
            <a:r>
              <a:rPr lang="en-US" dirty="0"/>
              <a:t> </a:t>
            </a:r>
            <a:r>
              <a:rPr lang="en-US" dirty="0" smtClean="0"/>
              <a:t>that will be submitted to F&amp;A.</a:t>
            </a:r>
            <a:endParaRPr lang="en-US" dirty="0"/>
          </a:p>
        </p:txBody>
      </p:sp>
      <p:pic>
        <p:nvPicPr>
          <p:cNvPr id="1026" name="Picture 2" descr="C:\Users\Kristian.Vasquez\AppData\Local\Microsoft\Windows\Temporary Internet Files\Content.IE5\9DA9N6CX\MC900156753[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392" y="2419297"/>
            <a:ext cx="1321060" cy="100195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Kristian.Vasquez\AppData\Local\Microsoft\Windows\Temporary Internet Files\Content.IE5\Z8OO00XZ\MC900056119[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2277" y="2381493"/>
            <a:ext cx="1218133" cy="1035910"/>
          </a:xfrm>
          <a:prstGeom prst="rect">
            <a:avLst/>
          </a:prstGeom>
          <a:noFill/>
          <a:extLst>
            <a:ext uri="{909E8E84-426E-40DD-AFC4-6F175D3DCCD1}">
              <a14:hiddenFill xmlns:a14="http://schemas.microsoft.com/office/drawing/2010/main">
                <a:solidFill>
                  <a:srgbClr val="FFFFFF"/>
                </a:solidFill>
              </a14:hiddenFill>
            </a:ext>
          </a:extLst>
        </p:spPr>
      </p:pic>
      <p:sp>
        <p:nvSpPr>
          <p:cNvPr id="2" name="Right Arrow 1"/>
          <p:cNvSpPr/>
          <p:nvPr/>
        </p:nvSpPr>
        <p:spPr>
          <a:xfrm>
            <a:off x="3943350" y="2743199"/>
            <a:ext cx="971550" cy="39052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31" name="Picture 7" descr="C:\Users\Kristian.Vasquez\AppData\Local\Microsoft\Windows\Temporary Internet Files\Content.IE5\Z8OO00XZ\MC900059041[1].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575" y="5134585"/>
            <a:ext cx="1530704" cy="1130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8520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a:xfrm>
            <a:off x="245665" y="1104900"/>
            <a:ext cx="8631635" cy="5166503"/>
          </a:xfrm>
        </p:spPr>
        <p:txBody>
          <a:bodyPr>
            <a:normAutofit fontScale="77500" lnSpcReduction="20000"/>
          </a:bodyPr>
          <a:lstStyle/>
          <a:p>
            <a:pPr>
              <a:buFont typeface="Arial" panose="020B0604020202020204" pitchFamily="34" charset="0"/>
              <a:buChar char="•"/>
            </a:pPr>
            <a:r>
              <a:rPr lang="en-US" dirty="0">
                <a:solidFill>
                  <a:schemeClr val="tx1"/>
                </a:solidFill>
              </a:rPr>
              <a:t>After the one on one meeting has taken place. The supervisor will </a:t>
            </a:r>
            <a:r>
              <a:rPr lang="en-US" dirty="0" smtClean="0">
                <a:solidFill>
                  <a:schemeClr val="tx1"/>
                </a:solidFill>
              </a:rPr>
              <a:t>finalize </a:t>
            </a:r>
            <a:r>
              <a:rPr lang="en-US" dirty="0">
                <a:solidFill>
                  <a:schemeClr val="tx1"/>
                </a:solidFill>
              </a:rPr>
              <a:t>the </a:t>
            </a:r>
            <a:r>
              <a:rPr lang="en-US" b="1" dirty="0" smtClean="0">
                <a:solidFill>
                  <a:schemeClr val="accent1"/>
                </a:solidFill>
              </a:rPr>
              <a:t>2014 Employee </a:t>
            </a:r>
            <a:r>
              <a:rPr lang="en-US" b="1" dirty="0">
                <a:solidFill>
                  <a:schemeClr val="accent1"/>
                </a:solidFill>
              </a:rPr>
              <a:t>Goals &amp; Performance Evaluation Form</a:t>
            </a:r>
            <a:r>
              <a:rPr lang="en-US" dirty="0">
                <a:solidFill>
                  <a:schemeClr val="accent1"/>
                </a:solidFill>
              </a:rPr>
              <a:t> </a:t>
            </a:r>
            <a:r>
              <a:rPr lang="en-US" dirty="0" smtClean="0">
                <a:solidFill>
                  <a:schemeClr val="tx1"/>
                </a:solidFill>
              </a:rPr>
              <a:t>and the </a:t>
            </a:r>
            <a:r>
              <a:rPr lang="en-US" b="1" dirty="0" smtClean="0">
                <a:solidFill>
                  <a:schemeClr val="accent1"/>
                </a:solidFill>
              </a:rPr>
              <a:t>2015 Employee Goals &amp; Performance Expectations Form </a:t>
            </a:r>
            <a:r>
              <a:rPr lang="en-US" dirty="0" smtClean="0">
                <a:solidFill>
                  <a:schemeClr val="tx1"/>
                </a:solidFill>
              </a:rPr>
              <a:t>by entering all final data. The supervisor must also complete the </a:t>
            </a:r>
            <a:r>
              <a:rPr lang="en-US" b="1" dirty="0" smtClean="0">
                <a:solidFill>
                  <a:schemeClr val="accent1"/>
                </a:solidFill>
              </a:rPr>
              <a:t>Salary Increase Form</a:t>
            </a:r>
            <a:r>
              <a:rPr lang="en-US" dirty="0" smtClean="0">
                <a:solidFill>
                  <a:schemeClr val="tx1"/>
                </a:solidFill>
              </a:rPr>
              <a:t> if applicable.</a:t>
            </a:r>
            <a:endParaRPr lang="en-US" dirty="0" smtClean="0"/>
          </a:p>
          <a:p>
            <a:pPr>
              <a:buFont typeface="Arial" panose="020B0604020202020204" pitchFamily="34" charset="0"/>
              <a:buChar char="•"/>
            </a:pPr>
            <a:r>
              <a:rPr lang="en-US" dirty="0" smtClean="0">
                <a:solidFill>
                  <a:schemeClr val="tx1"/>
                </a:solidFill>
              </a:rPr>
              <a:t>The forms must then be printed and signed by both </a:t>
            </a:r>
            <a:r>
              <a:rPr lang="en-US" dirty="0">
                <a:solidFill>
                  <a:schemeClr val="tx1"/>
                </a:solidFill>
              </a:rPr>
              <a:t>the employee and </a:t>
            </a:r>
            <a:r>
              <a:rPr lang="en-US" dirty="0" smtClean="0">
                <a:solidFill>
                  <a:schemeClr val="tx1"/>
                </a:solidFill>
              </a:rPr>
              <a:t>supervisor. Supervisors will then turn in all final documents to F&amp;A.</a:t>
            </a:r>
          </a:p>
          <a:p>
            <a:pPr>
              <a:buFont typeface="Arial" panose="020B0604020202020204" pitchFamily="34" charset="0"/>
              <a:buChar char="•"/>
            </a:pPr>
            <a:r>
              <a:rPr lang="en-US" b="1" dirty="0" smtClean="0">
                <a:solidFill>
                  <a:schemeClr val="tx1"/>
                </a:solidFill>
              </a:rPr>
              <a:t>Please only submit hard copies, not soft copies of employee documents.</a:t>
            </a:r>
          </a:p>
          <a:p>
            <a:pPr marL="0" indent="0"/>
            <a:endParaRPr lang="en-US" dirty="0"/>
          </a:p>
          <a:p>
            <a:pPr marL="0" indent="0"/>
            <a:endParaRPr lang="en-US" dirty="0" smtClean="0"/>
          </a:p>
          <a:p>
            <a:pPr>
              <a:buFont typeface="Arial" panose="020B0604020202020204" pitchFamily="34" charset="0"/>
              <a:buChar char="•"/>
            </a:pPr>
            <a:endParaRPr lang="en-US" dirty="0" smtClean="0"/>
          </a:p>
          <a:p>
            <a:pPr marL="0" indent="0"/>
            <a:endParaRPr lang="en-US" dirty="0"/>
          </a:p>
          <a:p>
            <a:pPr>
              <a:buFont typeface="Arial" panose="020B0604020202020204" pitchFamily="34" charset="0"/>
              <a:buChar char="•"/>
            </a:pPr>
            <a:endParaRPr lang="en-US" dirty="0" smtClean="0"/>
          </a:p>
          <a:p>
            <a:pPr>
              <a:buFont typeface="Arial" panose="020B0604020202020204" pitchFamily="34" charset="0"/>
              <a:buChar char="•"/>
            </a:pPr>
            <a:endParaRPr lang="en-US" dirty="0"/>
          </a:p>
          <a:p>
            <a:pPr>
              <a:buFont typeface="Arial" panose="020B0604020202020204" pitchFamily="34" charset="0"/>
              <a:buChar char="•"/>
            </a:pPr>
            <a:endParaRPr lang="en-US" dirty="0" smtClean="0"/>
          </a:p>
          <a:p>
            <a:pPr>
              <a:buFont typeface="Arial" panose="020B0604020202020204" pitchFamily="34" charset="0"/>
              <a:buChar char="•"/>
            </a:pPr>
            <a:r>
              <a:rPr lang="en-US" dirty="0" smtClean="0">
                <a:solidFill>
                  <a:schemeClr val="tx1"/>
                </a:solidFill>
              </a:rPr>
              <a:t>This will conclude the employee review (Part I) and begin the </a:t>
            </a:r>
            <a:r>
              <a:rPr lang="en-US" dirty="0">
                <a:solidFill>
                  <a:schemeClr val="tx1"/>
                </a:solidFill>
              </a:rPr>
              <a:t>s</a:t>
            </a:r>
            <a:r>
              <a:rPr lang="en-US" dirty="0" smtClean="0">
                <a:solidFill>
                  <a:schemeClr val="tx1"/>
                </a:solidFill>
              </a:rPr>
              <a:t>upervisor’s evaluation process (Part II).</a:t>
            </a:r>
            <a:endParaRPr lang="en-US" dirty="0">
              <a:solidFill>
                <a:schemeClr val="tx1"/>
              </a:solidFill>
            </a:endParaRP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276600"/>
            <a:ext cx="1495424" cy="1717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283" y="3276600"/>
            <a:ext cx="2346805" cy="1717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5195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441305" y="2176332"/>
            <a:ext cx="6500427" cy="249726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2"/>
                </a:solidFill>
                <a:latin typeface="Memphis"/>
                <a:ea typeface="+mj-ea"/>
                <a:cs typeface="Memphis"/>
              </a:defRPr>
            </a:lvl1pPr>
          </a:lstStyle>
          <a:p>
            <a:pPr algn="ctr"/>
            <a:endParaRPr lang="en-US" sz="3200" dirty="0" smtClean="0"/>
          </a:p>
        </p:txBody>
      </p:sp>
      <p:sp>
        <p:nvSpPr>
          <p:cNvPr id="2" name="Rectangle 1"/>
          <p:cNvSpPr/>
          <p:nvPr/>
        </p:nvSpPr>
        <p:spPr>
          <a:xfrm>
            <a:off x="1190625" y="2076450"/>
            <a:ext cx="6486525" cy="2554545"/>
          </a:xfrm>
          <a:prstGeom prst="rect">
            <a:avLst/>
          </a:prstGeom>
        </p:spPr>
        <p:txBody>
          <a:bodyPr wrap="square">
            <a:spAutoFit/>
          </a:bodyPr>
          <a:lstStyle/>
          <a:p>
            <a:pPr algn="ctr"/>
            <a:r>
              <a:rPr lang="en-US" sz="3200" dirty="0"/>
              <a:t>2014 Goals &amp; Performance Review Process</a:t>
            </a:r>
            <a:br>
              <a:rPr lang="en-US" sz="3200" dirty="0"/>
            </a:br>
            <a:r>
              <a:rPr lang="en-US" sz="3200" dirty="0"/>
              <a:t/>
            </a:r>
            <a:br>
              <a:rPr lang="en-US" sz="3200" dirty="0"/>
            </a:br>
            <a:r>
              <a:rPr lang="en-US" sz="3200" b="1" dirty="0">
                <a:solidFill>
                  <a:schemeClr val="accent1"/>
                </a:solidFill>
              </a:rPr>
              <a:t>Part </a:t>
            </a:r>
            <a:r>
              <a:rPr lang="en-US" sz="3200" b="1" dirty="0" smtClean="0">
                <a:solidFill>
                  <a:schemeClr val="accent1"/>
                </a:solidFill>
              </a:rPr>
              <a:t>II</a:t>
            </a:r>
            <a:r>
              <a:rPr lang="en-US" sz="3200" dirty="0">
                <a:solidFill>
                  <a:schemeClr val="accent1"/>
                </a:solidFill>
              </a:rPr>
              <a:t/>
            </a:r>
            <a:br>
              <a:rPr lang="en-US" sz="3200" dirty="0">
                <a:solidFill>
                  <a:schemeClr val="accent1"/>
                </a:solidFill>
              </a:rPr>
            </a:br>
            <a:r>
              <a:rPr lang="en-US" sz="3200" b="1" dirty="0" smtClean="0">
                <a:solidFill>
                  <a:schemeClr val="accent1"/>
                </a:solidFill>
              </a:rPr>
              <a:t>Program/Unit Manager </a:t>
            </a:r>
            <a:r>
              <a:rPr lang="en-US" sz="3200" b="1" dirty="0">
                <a:solidFill>
                  <a:schemeClr val="accent1"/>
                </a:solidFill>
              </a:rPr>
              <a:t>Reviews</a:t>
            </a:r>
            <a:endParaRPr lang="en-US" sz="3200" dirty="0">
              <a:solidFill>
                <a:schemeClr val="accent1"/>
              </a:solidFill>
            </a:endParaRPr>
          </a:p>
        </p:txBody>
      </p:sp>
    </p:spTree>
    <p:extLst>
      <p:ext uri="{BB962C8B-B14F-4D97-AF65-F5344CB8AC3E}">
        <p14:creationId xmlns:p14="http://schemas.microsoft.com/office/powerpoint/2010/main" val="22013549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5216" y="1105216"/>
            <a:ext cx="7710221" cy="452431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Program/Unit Managers will be evaluated based on performance in achieving their 2014 Program/Unit goals. </a:t>
            </a:r>
            <a:endParaRPr lang="en-US" dirty="0"/>
          </a:p>
          <a:p>
            <a:pPr marL="285750" indent="-285750">
              <a:buFont typeface="Arial" panose="020B0604020202020204" pitchFamily="34" charset="0"/>
              <a:buChar char="•"/>
            </a:pPr>
            <a:r>
              <a:rPr lang="en-US" dirty="0" smtClean="0"/>
              <a:t>F&amp;A will email each Program/Unit manager their respective </a:t>
            </a:r>
            <a:r>
              <a:rPr lang="en-US" b="1" dirty="0" smtClean="0">
                <a:solidFill>
                  <a:schemeClr val="accent1"/>
                </a:solidFill>
              </a:rPr>
              <a:t>2014 Program/Unit Goals &amp; Performance Evaluation Workbook </a:t>
            </a:r>
            <a:r>
              <a:rPr lang="en-US" b="1" dirty="0" smtClean="0"/>
              <a:t>(See Example Below)</a:t>
            </a:r>
            <a:r>
              <a:rPr lang="en-US" b="1" dirty="0" smtClean="0">
                <a:solidFill>
                  <a:schemeClr val="accent1"/>
                </a:solidFill>
              </a:rPr>
              <a:t> </a:t>
            </a:r>
            <a:r>
              <a:rPr lang="en-US" dirty="0" smtClean="0"/>
              <a:t>and a blank </a:t>
            </a:r>
            <a:r>
              <a:rPr lang="en-US" b="1" dirty="0" smtClean="0">
                <a:solidFill>
                  <a:schemeClr val="accent1"/>
                </a:solidFill>
              </a:rPr>
              <a:t>2015 Program/Unit Goals Form.</a:t>
            </a:r>
            <a:endParaRPr lang="en-US" b="1" dirty="0">
              <a:solidFill>
                <a:schemeClr val="accent1"/>
              </a:solidFill>
            </a:endParaRPr>
          </a:p>
          <a:p>
            <a:pPr marL="285750" indent="-285750">
              <a:buFont typeface="Arial" panose="020B0604020202020204" pitchFamily="34" charset="0"/>
              <a:buChar char="•"/>
            </a:pPr>
            <a:r>
              <a:rPr lang="en-US" dirty="0" smtClean="0"/>
              <a:t>The workbook is pre-filled based on data given and presented during midyear reviews.</a:t>
            </a:r>
          </a:p>
          <a:p>
            <a:endParaRPr lang="en-US" b="1" dirty="0" smtClean="0">
              <a:solidFill>
                <a:schemeClr val="accent1"/>
              </a:solidFill>
            </a:endParaRPr>
          </a:p>
          <a:p>
            <a:endParaRPr lang="en-US" b="1" dirty="0">
              <a:solidFill>
                <a:schemeClr val="accent1"/>
              </a:solidFill>
            </a:endParaRPr>
          </a:p>
          <a:p>
            <a:endParaRPr lang="en-US" b="1" dirty="0" smtClean="0">
              <a:solidFill>
                <a:schemeClr val="accent1"/>
              </a:solidFill>
            </a:endParaRPr>
          </a:p>
          <a:p>
            <a:endParaRPr lang="en-US" b="1" dirty="0">
              <a:solidFill>
                <a:schemeClr val="accent1"/>
              </a:solidFill>
            </a:endParaRPr>
          </a:p>
          <a:p>
            <a:endParaRPr lang="en-US" b="1" dirty="0" smtClean="0">
              <a:solidFill>
                <a:schemeClr val="accent1"/>
              </a:solidFill>
            </a:endParaRPr>
          </a:p>
          <a:p>
            <a:endParaRPr lang="en-US" b="1" dirty="0" smtClean="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742" y="3459573"/>
            <a:ext cx="2237493" cy="2840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Oval 6"/>
          <p:cNvSpPr/>
          <p:nvPr/>
        </p:nvSpPr>
        <p:spPr>
          <a:xfrm>
            <a:off x="7691891" y="3652045"/>
            <a:ext cx="1340345" cy="3530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698" y="3431916"/>
            <a:ext cx="3157248" cy="2789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17" y="3488309"/>
            <a:ext cx="3164319" cy="2733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p:cNvSpPr/>
          <p:nvPr/>
        </p:nvSpPr>
        <p:spPr>
          <a:xfrm>
            <a:off x="799435" y="3656026"/>
            <a:ext cx="1340345" cy="353026"/>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9099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45312" y="1066994"/>
            <a:ext cx="7797800" cy="5632311"/>
          </a:xfrm>
          <a:prstGeom prst="rect">
            <a:avLst/>
          </a:prstGeom>
        </p:spPr>
        <p:txBody>
          <a:bodyPr wrap="square">
            <a:spAutoFit/>
          </a:bodyPr>
          <a:lstStyle/>
          <a:p>
            <a:pPr marL="285750" indent="-285750">
              <a:buFont typeface="Arial" panose="020B0604020202020204" pitchFamily="34" charset="0"/>
              <a:buChar char="•"/>
            </a:pPr>
            <a:r>
              <a:rPr lang="en-US" dirty="0" smtClean="0"/>
              <a:t>Program/Unit </a:t>
            </a:r>
            <a:r>
              <a:rPr lang="en-US" dirty="0"/>
              <a:t>Managers will update </a:t>
            </a:r>
            <a:r>
              <a:rPr lang="en-US" b="1" dirty="0" smtClean="0"/>
              <a:t>Section A.</a:t>
            </a:r>
            <a:r>
              <a:rPr lang="en-US" dirty="0" smtClean="0"/>
              <a:t> with the </a:t>
            </a:r>
            <a:r>
              <a:rPr lang="en-US" dirty="0"/>
              <a:t>information as </a:t>
            </a:r>
            <a:r>
              <a:rPr lang="en-US" dirty="0" smtClean="0"/>
              <a:t>needed, </a:t>
            </a:r>
            <a:r>
              <a:rPr lang="en-US" dirty="0"/>
              <a:t>including the </a:t>
            </a:r>
            <a:r>
              <a:rPr lang="en-US" dirty="0" smtClean="0"/>
              <a:t>ratings. They will also complete </a:t>
            </a:r>
            <a:r>
              <a:rPr lang="en-US" b="1" dirty="0" smtClean="0"/>
              <a:t>Section B.</a:t>
            </a:r>
            <a:r>
              <a:rPr lang="en-US" dirty="0" smtClean="0"/>
              <a:t> by entering the ratings they believe they have earned.</a:t>
            </a:r>
          </a:p>
          <a:p>
            <a:pPr marL="285750" indent="-285750">
              <a:buFont typeface="Arial" panose="020B0604020202020204" pitchFamily="34" charset="0"/>
              <a:buChar char="•"/>
            </a:pPr>
            <a:r>
              <a:rPr lang="en-US" dirty="0"/>
              <a:t>Once this has been completed</a:t>
            </a:r>
            <a:r>
              <a:rPr lang="en-US" dirty="0" smtClean="0"/>
              <a:t>,</a:t>
            </a:r>
            <a:r>
              <a:rPr lang="en-US" dirty="0"/>
              <a:t> Program/Unit</a:t>
            </a:r>
            <a:r>
              <a:rPr lang="en-US" dirty="0" smtClean="0"/>
              <a:t> Managers will email their </a:t>
            </a:r>
            <a:r>
              <a:rPr lang="en-US" b="1" dirty="0">
                <a:solidFill>
                  <a:schemeClr val="accent1"/>
                </a:solidFill>
              </a:rPr>
              <a:t>2014 </a:t>
            </a:r>
            <a:r>
              <a:rPr lang="en-US" b="1" dirty="0" smtClean="0">
                <a:solidFill>
                  <a:schemeClr val="accent1"/>
                </a:solidFill>
              </a:rPr>
              <a:t>Program/Unit </a:t>
            </a:r>
            <a:r>
              <a:rPr lang="en-US" b="1" dirty="0">
                <a:solidFill>
                  <a:schemeClr val="accent1"/>
                </a:solidFill>
              </a:rPr>
              <a:t>Goals &amp; Performance Evaluation </a:t>
            </a:r>
            <a:r>
              <a:rPr lang="en-US" b="1" dirty="0" smtClean="0">
                <a:solidFill>
                  <a:schemeClr val="accent1"/>
                </a:solidFill>
              </a:rPr>
              <a:t>Workbook </a:t>
            </a:r>
            <a:r>
              <a:rPr lang="en-US" dirty="0"/>
              <a:t>and </a:t>
            </a:r>
            <a:r>
              <a:rPr lang="en-US" b="1" dirty="0" smtClean="0">
                <a:solidFill>
                  <a:schemeClr val="accent1"/>
                </a:solidFill>
              </a:rPr>
              <a:t>2015 </a:t>
            </a:r>
            <a:r>
              <a:rPr lang="en-US" b="1" dirty="0">
                <a:solidFill>
                  <a:schemeClr val="accent1"/>
                </a:solidFill>
              </a:rPr>
              <a:t>Program/Unit Goals </a:t>
            </a:r>
            <a:r>
              <a:rPr lang="en-US" b="1" dirty="0" smtClean="0">
                <a:solidFill>
                  <a:schemeClr val="accent1"/>
                </a:solidFill>
              </a:rPr>
              <a:t>Form </a:t>
            </a:r>
            <a:r>
              <a:rPr lang="en-US" dirty="0" smtClean="0"/>
              <a:t>to Senior </a:t>
            </a:r>
            <a:r>
              <a:rPr lang="en-US" dirty="0"/>
              <a:t>Management </a:t>
            </a:r>
            <a:r>
              <a:rPr lang="en-US" dirty="0" smtClean="0"/>
              <a:t>and </a:t>
            </a:r>
            <a:r>
              <a:rPr lang="en-US" dirty="0"/>
              <a:t>schedule a one on one </a:t>
            </a:r>
            <a:r>
              <a:rPr lang="en-US" dirty="0" smtClean="0"/>
              <a:t>meeting to review their ratings.</a:t>
            </a:r>
            <a:endParaRPr lang="en-US" dirty="0"/>
          </a:p>
          <a:p>
            <a:endParaRPr lang="en-US" dirty="0"/>
          </a:p>
          <a:p>
            <a:endParaRPr lang="en-US" dirty="0" smtClean="0"/>
          </a:p>
          <a:p>
            <a:endParaRPr lang="en-US" dirty="0"/>
          </a:p>
          <a:p>
            <a:endParaRPr lang="en-US" dirty="0"/>
          </a:p>
          <a:p>
            <a:pPr marL="285750" indent="-285750">
              <a:buFont typeface="Arial" panose="020B0604020202020204" pitchFamily="34" charset="0"/>
              <a:buChar char="•"/>
            </a:pPr>
            <a:r>
              <a:rPr lang="en-US" dirty="0"/>
              <a:t>The </a:t>
            </a:r>
            <a:r>
              <a:rPr lang="en-US" b="1" dirty="0"/>
              <a:t>objectives</a:t>
            </a:r>
            <a:r>
              <a:rPr lang="en-US" dirty="0"/>
              <a:t> that should be achieved during the one on one meeting are as follows:</a:t>
            </a:r>
          </a:p>
          <a:p>
            <a:pPr marL="742950" lvl="1" indent="-285750">
              <a:buFont typeface="Wingdings" panose="05000000000000000000" pitchFamily="2" charset="2"/>
              <a:buChar char="Ø"/>
            </a:pPr>
            <a:r>
              <a:rPr lang="en-US" dirty="0"/>
              <a:t>For the </a:t>
            </a:r>
            <a:r>
              <a:rPr lang="en-US" dirty="0" smtClean="0"/>
              <a:t>Program/Unit </a:t>
            </a:r>
            <a:r>
              <a:rPr lang="en-US" dirty="0"/>
              <a:t>M</a:t>
            </a:r>
            <a:r>
              <a:rPr lang="en-US" dirty="0" smtClean="0"/>
              <a:t>anager and Senior Management </a:t>
            </a:r>
            <a:r>
              <a:rPr lang="en-US" dirty="0"/>
              <a:t>and </a:t>
            </a:r>
            <a:r>
              <a:rPr lang="en-US" dirty="0" smtClean="0"/>
              <a:t>to </a:t>
            </a:r>
            <a:r>
              <a:rPr lang="en-US" dirty="0"/>
              <a:t>discuss the ratings and comments on the </a:t>
            </a:r>
            <a:r>
              <a:rPr lang="en-US" b="1" dirty="0">
                <a:solidFill>
                  <a:srgbClr val="FF0000"/>
                </a:solidFill>
              </a:rPr>
              <a:t>2014 </a:t>
            </a:r>
            <a:r>
              <a:rPr lang="en-US" b="1" dirty="0" smtClean="0">
                <a:solidFill>
                  <a:srgbClr val="FF0000"/>
                </a:solidFill>
              </a:rPr>
              <a:t>Program/Unit </a:t>
            </a:r>
            <a:r>
              <a:rPr lang="en-US" b="1" dirty="0">
                <a:solidFill>
                  <a:srgbClr val="FF0000"/>
                </a:solidFill>
              </a:rPr>
              <a:t>Goals &amp; Performance Evaluation Form.</a:t>
            </a:r>
          </a:p>
          <a:p>
            <a:pPr marL="742950" lvl="1" indent="-285750">
              <a:buFont typeface="Wingdings" panose="05000000000000000000" pitchFamily="2" charset="2"/>
              <a:buChar char="Ø"/>
            </a:pPr>
            <a:r>
              <a:rPr lang="en-US" dirty="0"/>
              <a:t>Review the </a:t>
            </a:r>
            <a:r>
              <a:rPr lang="en-US" b="1" dirty="0">
                <a:solidFill>
                  <a:srgbClr val="FF0000"/>
                </a:solidFill>
              </a:rPr>
              <a:t>2015 </a:t>
            </a:r>
            <a:r>
              <a:rPr lang="en-US" b="1" dirty="0" smtClean="0">
                <a:solidFill>
                  <a:srgbClr val="FF0000"/>
                </a:solidFill>
              </a:rPr>
              <a:t>Program/Unit Goals Form</a:t>
            </a:r>
            <a:r>
              <a:rPr lang="en-US" dirty="0" smtClean="0"/>
              <a:t>. </a:t>
            </a:r>
            <a:endParaRPr lang="en-US" dirty="0"/>
          </a:p>
          <a:p>
            <a:pPr marL="742950" lvl="1" indent="-285750">
              <a:buFont typeface="Wingdings" panose="05000000000000000000" pitchFamily="2" charset="2"/>
              <a:buChar char="Ø"/>
            </a:pPr>
            <a:r>
              <a:rPr lang="en-US" dirty="0" smtClean="0"/>
              <a:t>Program/Unit Manager and Senior Management </a:t>
            </a:r>
            <a:r>
              <a:rPr lang="en-US" dirty="0"/>
              <a:t>to agree on the </a:t>
            </a:r>
            <a:r>
              <a:rPr lang="en-US" b="1" u="sng" dirty="0"/>
              <a:t>final ratings</a:t>
            </a:r>
            <a:r>
              <a:rPr lang="en-US" dirty="0"/>
              <a:t> </a:t>
            </a:r>
            <a:r>
              <a:rPr lang="en-US" dirty="0" smtClean="0"/>
              <a:t>and goals that </a:t>
            </a:r>
            <a:r>
              <a:rPr lang="en-US" dirty="0"/>
              <a:t>will be submitted to F&amp;A.</a:t>
            </a:r>
          </a:p>
          <a:p>
            <a:endParaRPr lang="en-US" dirty="0"/>
          </a:p>
        </p:txBody>
      </p:sp>
      <p:pic>
        <p:nvPicPr>
          <p:cNvPr id="7" name="Picture 2" descr="C:\Users\Kristian.Vasquez\AppData\Local\Microsoft\Windows\Temporary Internet Files\Content.IE5\9DA9N6CX\MC900156753[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2916" y="3137668"/>
            <a:ext cx="1134108" cy="860161"/>
          </a:xfrm>
          <a:prstGeom prst="rect">
            <a:avLst/>
          </a:prstGeom>
          <a:noFill/>
          <a:extLst>
            <a:ext uri="{909E8E84-426E-40DD-AFC4-6F175D3DCCD1}">
              <a14:hiddenFill xmlns:a14="http://schemas.microsoft.com/office/drawing/2010/main">
                <a:solidFill>
                  <a:srgbClr val="FFFFFF"/>
                </a:solidFill>
              </a14:hiddenFill>
            </a:ext>
          </a:extLst>
        </p:spPr>
      </p:pic>
      <p:sp>
        <p:nvSpPr>
          <p:cNvPr id="8" name="Right Arrow 7"/>
          <p:cNvSpPr/>
          <p:nvPr/>
        </p:nvSpPr>
        <p:spPr>
          <a:xfrm>
            <a:off x="3909643" y="3346500"/>
            <a:ext cx="971550" cy="39052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5" descr="C:\Users\Kristian.Vasquez\AppData\Local\Microsoft\Windows\Temporary Internet Files\Content.IE5\Z8OO00XZ\MC900056119[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6651" y="3082063"/>
            <a:ext cx="1032260" cy="877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955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99846" y="1110278"/>
            <a:ext cx="7238391" cy="5078313"/>
          </a:xfrm>
          <a:prstGeom prst="rect">
            <a:avLst/>
          </a:prstGeom>
        </p:spPr>
        <p:txBody>
          <a:bodyPr wrap="square">
            <a:spAutoFit/>
          </a:bodyPr>
          <a:lstStyle/>
          <a:p>
            <a:pPr marL="285750" indent="-285750">
              <a:buFont typeface="Arial" panose="020B0604020202020204" pitchFamily="34" charset="0"/>
              <a:buChar char="•"/>
            </a:pPr>
            <a:r>
              <a:rPr lang="en-US" dirty="0"/>
              <a:t>After the one on one meeting has taken </a:t>
            </a:r>
            <a:r>
              <a:rPr lang="en-US" dirty="0" smtClean="0"/>
              <a:t>place, the Program/Unit Manager </a:t>
            </a:r>
            <a:r>
              <a:rPr lang="en-US" dirty="0"/>
              <a:t>will finalize the </a:t>
            </a:r>
            <a:r>
              <a:rPr lang="en-US" b="1" dirty="0">
                <a:solidFill>
                  <a:schemeClr val="accent1"/>
                </a:solidFill>
              </a:rPr>
              <a:t>2014 </a:t>
            </a:r>
            <a:r>
              <a:rPr lang="en-US" b="1" dirty="0" smtClean="0">
                <a:solidFill>
                  <a:schemeClr val="accent1"/>
                </a:solidFill>
              </a:rPr>
              <a:t>Program/Unit </a:t>
            </a:r>
            <a:r>
              <a:rPr lang="en-US" b="1" dirty="0">
                <a:solidFill>
                  <a:schemeClr val="accent1"/>
                </a:solidFill>
              </a:rPr>
              <a:t>Goals &amp; Performance Evaluation </a:t>
            </a:r>
            <a:r>
              <a:rPr lang="en-US" b="1" dirty="0" smtClean="0">
                <a:solidFill>
                  <a:schemeClr val="accent1"/>
                </a:solidFill>
              </a:rPr>
              <a:t>Workbook</a:t>
            </a:r>
            <a:r>
              <a:rPr lang="en-US" dirty="0" smtClean="0">
                <a:solidFill>
                  <a:schemeClr val="accent1"/>
                </a:solidFill>
              </a:rPr>
              <a:t> </a:t>
            </a:r>
            <a:r>
              <a:rPr lang="en-US" dirty="0"/>
              <a:t>and the </a:t>
            </a:r>
            <a:r>
              <a:rPr lang="en-US" b="1" dirty="0">
                <a:solidFill>
                  <a:schemeClr val="accent1"/>
                </a:solidFill>
              </a:rPr>
              <a:t>2015 </a:t>
            </a:r>
            <a:r>
              <a:rPr lang="en-US" b="1" dirty="0" smtClean="0">
                <a:solidFill>
                  <a:schemeClr val="accent1"/>
                </a:solidFill>
              </a:rPr>
              <a:t>Program/Unit </a:t>
            </a:r>
            <a:r>
              <a:rPr lang="en-US" b="1" dirty="0">
                <a:solidFill>
                  <a:schemeClr val="accent1"/>
                </a:solidFill>
              </a:rPr>
              <a:t>Goals </a:t>
            </a:r>
            <a:r>
              <a:rPr lang="en-US" b="1" dirty="0" smtClean="0">
                <a:solidFill>
                  <a:schemeClr val="accent1"/>
                </a:solidFill>
              </a:rPr>
              <a:t>Form </a:t>
            </a:r>
            <a:r>
              <a:rPr lang="en-US" dirty="0"/>
              <a:t>by entering all final data. </a:t>
            </a:r>
            <a:endParaRPr lang="en-US" dirty="0" smtClean="0"/>
          </a:p>
          <a:p>
            <a:pPr marL="285750" indent="-285750">
              <a:buFont typeface="Arial" panose="020B0604020202020204" pitchFamily="34" charset="0"/>
              <a:buChar char="•"/>
            </a:pPr>
            <a:r>
              <a:rPr lang="en-US" dirty="0" smtClean="0"/>
              <a:t>In the interim Senior Management will complete </a:t>
            </a:r>
            <a:r>
              <a:rPr lang="en-US" dirty="0"/>
              <a:t>the </a:t>
            </a:r>
            <a:r>
              <a:rPr lang="en-US" b="1" dirty="0">
                <a:solidFill>
                  <a:schemeClr val="accent1"/>
                </a:solidFill>
              </a:rPr>
              <a:t>Salary Increase Form</a:t>
            </a:r>
            <a:r>
              <a:rPr lang="en-US" dirty="0"/>
              <a:t> if </a:t>
            </a:r>
            <a:r>
              <a:rPr lang="en-US" dirty="0" smtClean="0"/>
              <a:t>applicable for the Program/Unit Manager.</a:t>
            </a:r>
            <a:endParaRPr lang="en-US" dirty="0"/>
          </a:p>
          <a:p>
            <a:pPr marL="285750" indent="-285750">
              <a:buFont typeface="Arial" panose="020B0604020202020204" pitchFamily="34" charset="0"/>
              <a:buChar char="•"/>
            </a:pPr>
            <a:r>
              <a:rPr lang="en-US" dirty="0"/>
              <a:t>The forms must then be printed and signed by both </a:t>
            </a:r>
            <a:r>
              <a:rPr lang="en-US" dirty="0" smtClean="0"/>
              <a:t>Program/Unit Managers and Senior Management. Once the printed forms have been signed, the Program/Unit Manager will submit hard copies and soft copies to F&amp;A.</a:t>
            </a:r>
          </a:p>
          <a:p>
            <a:endParaRPr lang="en-US" dirty="0"/>
          </a:p>
          <a:p>
            <a:endParaRPr lang="en-US" dirty="0" smtClean="0"/>
          </a:p>
          <a:p>
            <a:endParaRPr lang="en-US" dirty="0"/>
          </a:p>
          <a:p>
            <a:endParaRPr lang="en-US" dirty="0"/>
          </a:p>
          <a:p>
            <a:endParaRPr lang="en-US" dirty="0" smtClean="0"/>
          </a:p>
          <a:p>
            <a:endParaRPr lang="en-US" dirty="0" smtClean="0"/>
          </a:p>
          <a:p>
            <a:endParaRPr lang="en-US" dirty="0"/>
          </a:p>
          <a:p>
            <a:pPr marL="285750" indent="-285750">
              <a:buFont typeface="Arial" panose="020B0604020202020204" pitchFamily="34" charset="0"/>
              <a:buChar char="•"/>
            </a:pPr>
            <a:r>
              <a:rPr lang="en-US" dirty="0" smtClean="0"/>
              <a:t>This </a:t>
            </a:r>
            <a:r>
              <a:rPr lang="en-US" dirty="0"/>
              <a:t>will conclude the </a:t>
            </a:r>
            <a:r>
              <a:rPr lang="en-US" dirty="0" smtClean="0"/>
              <a:t> Program/Unit Manager Reviews </a:t>
            </a:r>
            <a:r>
              <a:rPr lang="en-US" dirty="0"/>
              <a:t>(Part </a:t>
            </a:r>
            <a:r>
              <a:rPr lang="en-US" dirty="0" smtClean="0"/>
              <a:t>II).</a:t>
            </a:r>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176" y="4030066"/>
            <a:ext cx="1495424" cy="1448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042" y="4024894"/>
            <a:ext cx="1903462" cy="1453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8961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Questions?</a:t>
            </a:r>
            <a:endParaRPr lang="en-US" dirty="0"/>
          </a:p>
        </p:txBody>
      </p:sp>
      <p:pic>
        <p:nvPicPr>
          <p:cNvPr id="10" name="Picture Placeholder 9" descr="BU005376.png"/>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2166" r="-62166"/>
          <a:stretch>
            <a:fillRect/>
          </a:stretch>
        </p:blipFill>
        <p:spPr>
          <a:xfrm>
            <a:off x="301625" y="887941"/>
            <a:ext cx="8691563" cy="4683126"/>
          </a:xfrm>
        </p:spPr>
      </p:pic>
    </p:spTree>
    <p:extLst>
      <p:ext uri="{BB962C8B-B14F-4D97-AF65-F5344CB8AC3E}">
        <p14:creationId xmlns:p14="http://schemas.microsoft.com/office/powerpoint/2010/main" val="4036928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tnersPPTTemplate">
  <a:themeElements>
    <a:clrScheme name="Custom 1">
      <a:dk1>
        <a:sysClr val="windowText" lastClr="000000"/>
      </a:dk1>
      <a:lt1>
        <a:sysClr val="window" lastClr="FFFFFF"/>
      </a:lt1>
      <a:dk2>
        <a:srgbClr val="474822"/>
      </a:dk2>
      <a:lt2>
        <a:srgbClr val="FFFFFF"/>
      </a:lt2>
      <a:accent1>
        <a:srgbClr val="E54721"/>
      </a:accent1>
      <a:accent2>
        <a:srgbClr val="474822"/>
      </a:accent2>
      <a:accent3>
        <a:srgbClr val="F7AE2E"/>
      </a:accent3>
      <a:accent4>
        <a:srgbClr val="8E991A"/>
      </a:accent4>
      <a:accent5>
        <a:srgbClr val="007198"/>
      </a:accent5>
      <a:accent6>
        <a:srgbClr val="5B015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4EF42948-2799-44A1-BFE5-EFFC972950E6}"/>
</file>

<file path=customXml/itemProps2.xml><?xml version="1.0" encoding="utf-8"?>
<ds:datastoreItem xmlns:ds="http://schemas.openxmlformats.org/officeDocument/2006/customXml" ds:itemID="{6AFCDA11-6DD6-447F-8393-B24EFC01080C}"/>
</file>

<file path=customXml/itemProps3.xml><?xml version="1.0" encoding="utf-8"?>
<ds:datastoreItem xmlns:ds="http://schemas.openxmlformats.org/officeDocument/2006/customXml" ds:itemID="{17D31FAD-99E1-486E-BAED-5F7EF03457F5}"/>
</file>

<file path=docProps/app.xml><?xml version="1.0" encoding="utf-8"?>
<Properties xmlns="http://schemas.openxmlformats.org/officeDocument/2006/extended-properties" xmlns:vt="http://schemas.openxmlformats.org/officeDocument/2006/docPropsVTypes">
  <Template>PartnersPPTTemplate</Template>
  <TotalTime>3351</TotalTime>
  <Words>1103</Words>
  <Application>Microsoft Office PowerPoint</Application>
  <PresentationFormat>On-screen Show (4:3)</PresentationFormat>
  <Paragraphs>210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PartnersPPTTemplate</vt:lpstr>
      <vt:lpstr>2014 Review &amp; 2015 Preview Calendar</vt:lpstr>
      <vt:lpstr>2014 Review &amp; 2015 Preview Calendar</vt:lpstr>
      <vt:lpstr>2014-2016 Strategic Plan</vt:lpstr>
      <vt:lpstr>2014 Goals &amp; Performance Review Process  Part I Employee Reviews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M. Trimarchi</dc:creator>
  <cp:lastModifiedBy>Kristian C. Vasquez</cp:lastModifiedBy>
  <cp:revision>143</cp:revision>
  <cp:lastPrinted>2012-12-17T21:53:11Z</cp:lastPrinted>
  <dcterms:created xsi:type="dcterms:W3CDTF">2012-08-01T19:26:25Z</dcterms:created>
  <dcterms:modified xsi:type="dcterms:W3CDTF">2015-01-26T15:24:45Z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515600</vt:r8>
  </property>
</Properties>
</file>