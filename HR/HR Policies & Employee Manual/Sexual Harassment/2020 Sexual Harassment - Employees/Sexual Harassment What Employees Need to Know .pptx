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entation.xml" ContentType="application/vnd.openxmlformats-officedocument.presentationml.presentation.main+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1.xml" ContentType="application/vnd.openxmlformats-officedocument.presentationml.notesSlide+xml"/>
  <Override PartName="/ppt/slideLayouts/slideLayout14.xml" ContentType="application/vnd.openxmlformats-officedocument.presentationml.slideLayout+xml"/>
  <Override PartName="/ppt/slideLayouts/slideLayout13.xml" ContentType="application/vnd.openxmlformats-officedocument.presentationml.slideLayout+xml"/>
  <Override PartName="/ppt/slideLayouts/slideLayout12.xml" ContentType="application/vnd.openxmlformats-officedocument.presentationml.slideLayout+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Layouts/slideLayout9.xml" ContentType="application/vnd.openxmlformats-officedocument.presentationml.slideLayout+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Layouts/slideLayout6.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docProps/core.xml" ContentType="application/vnd.openxmlformats-package.core-properties+xml"/>
  <Override PartName="/docProps/app.xml" ContentType="application/vnd.openxmlformats-officedocument.extended-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342" r:id="rId2"/>
    <p:sldId id="279" r:id="rId3"/>
    <p:sldId id="280" r:id="rId4"/>
    <p:sldId id="303" r:id="rId5"/>
    <p:sldId id="305" r:id="rId6"/>
    <p:sldId id="258" r:id="rId7"/>
    <p:sldId id="259" r:id="rId8"/>
    <p:sldId id="260" r:id="rId9"/>
    <p:sldId id="261" r:id="rId10"/>
    <p:sldId id="282" r:id="rId11"/>
    <p:sldId id="262" r:id="rId12"/>
    <p:sldId id="264" r:id="rId13"/>
    <p:sldId id="306" r:id="rId14"/>
    <p:sldId id="330" r:id="rId15"/>
    <p:sldId id="331" r:id="rId16"/>
    <p:sldId id="309" r:id="rId17"/>
    <p:sldId id="310" r:id="rId18"/>
    <p:sldId id="311" r:id="rId19"/>
    <p:sldId id="312" r:id="rId20"/>
    <p:sldId id="269" r:id="rId21"/>
    <p:sldId id="313" r:id="rId22"/>
    <p:sldId id="314" r:id="rId23"/>
  </p:sldIdLst>
  <p:sldSz cx="12192000" cy="6858000"/>
  <p:notesSz cx="6858000" cy="9144000"/>
  <p:defaultTextStyle>
    <a:defPPr>
      <a:defRPr lang="fr-E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5204"/>
    <p:restoredTop sz="94649"/>
  </p:normalViewPr>
  <p:slideViewPr>
    <p:cSldViewPr snapToGrid="0" snapToObjects="1">
      <p:cViewPr varScale="1">
        <p:scale>
          <a:sx n="81" d="100"/>
          <a:sy n="81" d="100"/>
        </p:scale>
        <p:origin x="216" y="41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customXml" Target="../customXml/item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customXml" Target="../customXml/item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 Id="rId30" Type="http://schemas.openxmlformats.org/officeDocument/2006/relationships/customXml" Target="../customXml/item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EG"/>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4888A39-C9A3-9048-BC61-8EC47B850053}" type="datetimeFigureOut">
              <a:rPr lang="fr-EG" smtClean="0"/>
              <a:t>16/06/2020</a:t>
            </a:fld>
            <a:endParaRPr lang="fr-EG"/>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EG"/>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EG"/>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EG"/>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8BEC927-DD33-6546-B3CF-DCBA5CC73E5D}" type="slidenum">
              <a:rPr lang="fr-EG" smtClean="0"/>
              <a:t>‹N°›</a:t>
            </a:fld>
            <a:endParaRPr lang="fr-EG"/>
          </a:p>
        </p:txBody>
      </p:sp>
    </p:spTree>
    <p:extLst>
      <p:ext uri="{BB962C8B-B14F-4D97-AF65-F5344CB8AC3E}">
        <p14:creationId xmlns:p14="http://schemas.microsoft.com/office/powerpoint/2010/main" val="15968533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8">
            <a:extLst>
              <a:ext uri="{FF2B5EF4-FFF2-40B4-BE49-F238E27FC236}">
                <a16:creationId xmlns:a16="http://schemas.microsoft.com/office/drawing/2014/main" id="{C5704638-78DD-B041-B41C-5F62407A9DF6}"/>
              </a:ext>
            </a:extLst>
          </p:cNvPr>
          <p:cNvSpPr>
            <a:spLocks noGrp="1" noRot="1" noChangeAspect="1" noChangeArrowheads="1" noTextEdit="1"/>
          </p:cNvSpPr>
          <p:nvPr>
            <p:ph type="sldImg"/>
          </p:nvPr>
        </p:nvSpPr>
        <p:spPr>
          <a:ln/>
        </p:spPr>
      </p:sp>
      <p:sp>
        <p:nvSpPr>
          <p:cNvPr id="8194" name="Rectangle 9">
            <a:extLst>
              <a:ext uri="{FF2B5EF4-FFF2-40B4-BE49-F238E27FC236}">
                <a16:creationId xmlns:a16="http://schemas.microsoft.com/office/drawing/2014/main" id="{9B5C292C-1FBA-C045-8D40-B6BA2350DE7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fr-EG" b="1"/>
              <a:t>Slide Show Notes</a:t>
            </a:r>
          </a:p>
          <a:p>
            <a:r>
              <a:rPr lang="en-US" altLang="fr-EG"/>
              <a:t>The main objective of this training session is to inform you about sexual harassment so that your awareness of this issue will help prevent it.  By the end of this session you will be able to:</a:t>
            </a:r>
          </a:p>
          <a:p>
            <a:pPr lvl="1"/>
            <a:r>
              <a:rPr lang="en-US" altLang="fr-EG"/>
              <a:t>Recognize sexual harassment</a:t>
            </a:r>
          </a:p>
          <a:p>
            <a:pPr lvl="1"/>
            <a:r>
              <a:rPr lang="en-US" altLang="fr-EG"/>
              <a:t>Differentiate between the two main kinds of harassment</a:t>
            </a:r>
          </a:p>
          <a:p>
            <a:pPr lvl="1"/>
            <a:r>
              <a:rPr lang="en-US" altLang="fr-EG"/>
              <a:t>Understand and follow company policy regarding sexual harassment</a:t>
            </a:r>
          </a:p>
          <a:p>
            <a:pPr lvl="1"/>
            <a:r>
              <a:rPr lang="en-US" altLang="fr-EG"/>
              <a:t>Report incidents and cooperate in investigations of sexual harassment; and</a:t>
            </a:r>
          </a:p>
          <a:p>
            <a:pPr lvl="1"/>
            <a:r>
              <a:rPr lang="en-US" altLang="fr-EG"/>
              <a:t>Help promote and maintain a comfortable, productive work environment</a:t>
            </a:r>
          </a:p>
          <a:p>
            <a:r>
              <a:rPr lang="en-US" altLang="fr-EG"/>
              <a:t>At the end of this session, you’ll take a short quiz to test your understanding.</a:t>
            </a:r>
          </a:p>
        </p:txBody>
      </p:sp>
    </p:spTree>
    <p:extLst>
      <p:ext uri="{BB962C8B-B14F-4D97-AF65-F5344CB8AC3E}">
        <p14:creationId xmlns:p14="http://schemas.microsoft.com/office/powerpoint/2010/main" val="25663576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Rectangle 4">
            <a:extLst>
              <a:ext uri="{FF2B5EF4-FFF2-40B4-BE49-F238E27FC236}">
                <a16:creationId xmlns:a16="http://schemas.microsoft.com/office/drawing/2014/main" id="{F5457149-9EE1-2A49-A762-A5C24938A6AB}"/>
              </a:ext>
            </a:extLst>
          </p:cNvPr>
          <p:cNvSpPr>
            <a:spLocks noGrp="1" noRot="1" noChangeAspect="1" noChangeArrowheads="1" noTextEdit="1"/>
          </p:cNvSpPr>
          <p:nvPr>
            <p:ph type="sldImg"/>
          </p:nvPr>
        </p:nvSpPr>
        <p:spPr>
          <a:ln/>
        </p:spPr>
      </p:sp>
      <p:sp>
        <p:nvSpPr>
          <p:cNvPr id="10242" name="Rectangle 5">
            <a:extLst>
              <a:ext uri="{FF2B5EF4-FFF2-40B4-BE49-F238E27FC236}">
                <a16:creationId xmlns:a16="http://schemas.microsoft.com/office/drawing/2014/main" id="{6EA71193-69BA-3A46-ADFE-6940F0E27C4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fr-EG" b="1"/>
              <a:t>Slide Show Notes</a:t>
            </a:r>
          </a:p>
          <a:p>
            <a:r>
              <a:rPr lang="en-US" altLang="fr-EG"/>
              <a:t>This session will discuss:</a:t>
            </a:r>
          </a:p>
          <a:p>
            <a:pPr lvl="1"/>
            <a:r>
              <a:rPr lang="en-US" altLang="fr-EG"/>
              <a:t>Why it’s important for you to know about sexual harassment;</a:t>
            </a:r>
          </a:p>
          <a:p>
            <a:pPr lvl="1"/>
            <a:r>
              <a:rPr lang="en-US" altLang="fr-EG"/>
              <a:t>The laws that prohibit sexual harassment in the workplace;</a:t>
            </a:r>
          </a:p>
          <a:p>
            <a:pPr lvl="1"/>
            <a:r>
              <a:rPr lang="en-US" altLang="fr-EG"/>
              <a:t>What constitutes sexual harassment;</a:t>
            </a:r>
          </a:p>
          <a:p>
            <a:pPr lvl="1"/>
            <a:r>
              <a:rPr lang="en-US" altLang="fr-EG"/>
              <a:t>Who is affected by sexual harassment;</a:t>
            </a:r>
          </a:p>
          <a:p>
            <a:pPr lvl="1"/>
            <a:r>
              <a:rPr lang="en-US" altLang="fr-EG"/>
              <a:t>What to do about it; and</a:t>
            </a:r>
          </a:p>
          <a:p>
            <a:pPr lvl="1"/>
            <a:r>
              <a:rPr lang="en-US" altLang="fr-EG"/>
              <a:t>How to prevent sexual harassment</a:t>
            </a:r>
          </a:p>
          <a:p>
            <a:r>
              <a:rPr lang="en-US" altLang="fr-EG"/>
              <a:t>Feel free to ask questions during the presentation if anything is unclear or needs further explanation.</a:t>
            </a:r>
          </a:p>
        </p:txBody>
      </p:sp>
    </p:spTree>
    <p:extLst>
      <p:ext uri="{BB962C8B-B14F-4D97-AF65-F5344CB8AC3E}">
        <p14:creationId xmlns:p14="http://schemas.microsoft.com/office/powerpoint/2010/main" val="20829729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6">
            <a:extLst>
              <a:ext uri="{FF2B5EF4-FFF2-40B4-BE49-F238E27FC236}">
                <a16:creationId xmlns:a16="http://schemas.microsoft.com/office/drawing/2014/main" id="{C1F31DDE-3C12-0343-BDB8-3D64A2B3B0DE}"/>
              </a:ext>
            </a:extLst>
          </p:cNvPr>
          <p:cNvSpPr>
            <a:spLocks noGrp="1" noRot="1" noChangeAspect="1" noChangeArrowheads="1" noTextEdit="1"/>
          </p:cNvSpPr>
          <p:nvPr>
            <p:ph type="sldImg"/>
          </p:nvPr>
        </p:nvSpPr>
        <p:spPr>
          <a:ln/>
        </p:spPr>
      </p:sp>
      <p:sp>
        <p:nvSpPr>
          <p:cNvPr id="12290" name="Rectangle 7">
            <a:extLst>
              <a:ext uri="{FF2B5EF4-FFF2-40B4-BE49-F238E27FC236}">
                <a16:creationId xmlns:a16="http://schemas.microsoft.com/office/drawing/2014/main" id="{F7BDBCFF-6861-8A49-BE05-50D9A6D5605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fr-EG" b="1"/>
              <a:t>Slide Show Notes</a:t>
            </a:r>
          </a:p>
          <a:p>
            <a:r>
              <a:rPr lang="en-US" altLang="fr-EG"/>
              <a:t>Why do you need to know about sexual harassment?  First of all, we want you to work in an environment that is free of sexual harassment.  If you and your colleagues understand what it is and why it is harmful, this will help prevent it. In addition, you need to know about this subject because:</a:t>
            </a:r>
          </a:p>
          <a:p>
            <a:pPr lvl="1"/>
            <a:r>
              <a:rPr lang="en-US" altLang="fr-EG"/>
              <a:t>We all have the right to fair treatment at work;</a:t>
            </a:r>
          </a:p>
          <a:p>
            <a:pPr lvl="1"/>
            <a:r>
              <a:rPr lang="en-US" altLang="fr-EG"/>
              <a:t>Sexual harassment harms everyone, not just the victim;</a:t>
            </a:r>
          </a:p>
          <a:p>
            <a:pPr lvl="1"/>
            <a:r>
              <a:rPr lang="en-US" altLang="fr-EG"/>
              <a:t>It undermines the trust and respect necessary for a productive work environment; </a:t>
            </a:r>
            <a:r>
              <a:rPr lang="en-US" altLang="fr-EG" i="1"/>
              <a:t>and</a:t>
            </a:r>
            <a:endParaRPr lang="en-US" altLang="fr-EG"/>
          </a:p>
          <a:p>
            <a:pPr lvl="1"/>
            <a:r>
              <a:rPr lang="en-US" altLang="fr-EG"/>
              <a:t>Sexual harassment is not just a woman’s issue—men and women on every level may be either harassers or victims. </a:t>
            </a:r>
          </a:p>
        </p:txBody>
      </p:sp>
    </p:spTree>
    <p:extLst>
      <p:ext uri="{BB962C8B-B14F-4D97-AF65-F5344CB8AC3E}">
        <p14:creationId xmlns:p14="http://schemas.microsoft.com/office/powerpoint/2010/main" val="17254494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Rectangle 2">
            <a:extLst>
              <a:ext uri="{FF2B5EF4-FFF2-40B4-BE49-F238E27FC236}">
                <a16:creationId xmlns:a16="http://schemas.microsoft.com/office/drawing/2014/main" id="{EC905BE9-CC89-554A-8641-A3CEA43C3681}"/>
              </a:ext>
            </a:extLst>
          </p:cNvPr>
          <p:cNvSpPr>
            <a:spLocks noGrp="1" noRot="1" noChangeAspect="1" noChangeArrowheads="1" noTextEdit="1"/>
          </p:cNvSpPr>
          <p:nvPr>
            <p:ph type="sldImg"/>
          </p:nvPr>
        </p:nvSpPr>
        <p:spPr>
          <a:ln/>
        </p:spPr>
      </p:sp>
      <p:sp>
        <p:nvSpPr>
          <p:cNvPr id="14338" name="Rectangle 3">
            <a:extLst>
              <a:ext uri="{FF2B5EF4-FFF2-40B4-BE49-F238E27FC236}">
                <a16:creationId xmlns:a16="http://schemas.microsoft.com/office/drawing/2014/main" id="{C6346AE4-DCBF-0A49-A89E-0E092027357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fr-EG" b="1"/>
              <a:t>Slide Show Notes</a:t>
            </a:r>
          </a:p>
          <a:p>
            <a:r>
              <a:rPr lang="en-US" altLang="fr-EG"/>
              <a:t>Just how widespread is the problem of sexual harassment? Consider these statistics:</a:t>
            </a:r>
          </a:p>
          <a:p>
            <a:pPr lvl="1"/>
            <a:r>
              <a:rPr lang="en-US" altLang="fr-EG"/>
              <a:t>About 70% of women and 20% of men have experienced sexual harassment in the workplace.</a:t>
            </a:r>
          </a:p>
          <a:p>
            <a:pPr lvl="1"/>
            <a:r>
              <a:rPr lang="en-US" altLang="fr-EG"/>
              <a:t>There are about 15,000 cases of sexual harassment filed each year in the United States.</a:t>
            </a:r>
          </a:p>
          <a:p>
            <a:pPr lvl="1"/>
            <a:r>
              <a:rPr lang="en-US" altLang="fr-EG"/>
              <a:t>These charges cost U.S. companies almost $40 million each year.</a:t>
            </a:r>
          </a:p>
          <a:p>
            <a:pPr lvl="1"/>
            <a:r>
              <a:rPr lang="en-US" altLang="fr-EG"/>
              <a:t>The number of complaints filed by men has more than tripled in recent years, indicating this is not just a woman’s problem.</a:t>
            </a:r>
          </a:p>
          <a:p>
            <a:endParaRPr lang="en-US" altLang="fr-EG"/>
          </a:p>
        </p:txBody>
      </p:sp>
    </p:spTree>
    <p:extLst>
      <p:ext uri="{BB962C8B-B14F-4D97-AF65-F5344CB8AC3E}">
        <p14:creationId xmlns:p14="http://schemas.microsoft.com/office/powerpoint/2010/main" val="20686181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4">
            <a:extLst>
              <a:ext uri="{FF2B5EF4-FFF2-40B4-BE49-F238E27FC236}">
                <a16:creationId xmlns:a16="http://schemas.microsoft.com/office/drawing/2014/main" id="{42B47215-6C35-2D41-BF39-6346FA72445C}"/>
              </a:ext>
            </a:extLst>
          </p:cNvPr>
          <p:cNvSpPr>
            <a:spLocks noGrp="1" noRot="1" noChangeAspect="1" noChangeArrowheads="1" noTextEdit="1"/>
          </p:cNvSpPr>
          <p:nvPr>
            <p:ph type="sldImg"/>
          </p:nvPr>
        </p:nvSpPr>
        <p:spPr>
          <a:ln/>
        </p:spPr>
      </p:sp>
      <p:sp>
        <p:nvSpPr>
          <p:cNvPr id="16386" name="Rectangle 5">
            <a:extLst>
              <a:ext uri="{FF2B5EF4-FFF2-40B4-BE49-F238E27FC236}">
                <a16:creationId xmlns:a16="http://schemas.microsoft.com/office/drawing/2014/main" id="{E175B3E2-A1A4-5740-B157-1BF69224E0C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fr-EG" b="1" dirty="0"/>
              <a:t>Slide Show Notes</a:t>
            </a:r>
          </a:p>
          <a:p>
            <a:r>
              <a:rPr lang="en-US" altLang="fr-EG" dirty="0"/>
              <a:t>Let’s consider what the law says about sexual harassment.</a:t>
            </a:r>
          </a:p>
          <a:p>
            <a:pPr lvl="1"/>
            <a:r>
              <a:rPr lang="en-US" altLang="fr-EG" dirty="0"/>
              <a:t>Title VII of the Civil Rights Act generally prohibits employers from discrimination in employment based on race, color, national origin, religion, or sex;</a:t>
            </a:r>
          </a:p>
          <a:p>
            <a:pPr lvl="1"/>
            <a:r>
              <a:rPr lang="en-US" altLang="fr-EG" dirty="0"/>
              <a:t>Courts have interpreted sexual harassment as a form of sex discrimination that is prohibited by Title VII;</a:t>
            </a:r>
          </a:p>
          <a:p>
            <a:pPr lvl="1"/>
            <a:r>
              <a:rPr lang="en-US" altLang="fr-EG" dirty="0"/>
              <a:t>State civil rights and fair employment laws also prohibit sexual harassment in the workplace; and</a:t>
            </a:r>
          </a:p>
          <a:p>
            <a:pPr lvl="1"/>
            <a:r>
              <a:rPr lang="en-US" altLang="fr-EG" dirty="0"/>
              <a:t>Finally, the U.S. Equal Employment Opportunity Commission (EEOC) has issued a comprehensive definition of sexual harassment, which we’ll discuss further on the next slide.</a:t>
            </a:r>
          </a:p>
          <a:p>
            <a:endParaRPr lang="en-US" altLang="fr-EG" i="1" dirty="0"/>
          </a:p>
        </p:txBody>
      </p:sp>
    </p:spTree>
    <p:extLst>
      <p:ext uri="{BB962C8B-B14F-4D97-AF65-F5344CB8AC3E}">
        <p14:creationId xmlns:p14="http://schemas.microsoft.com/office/powerpoint/2010/main" val="6595496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6">
            <a:extLst>
              <a:ext uri="{FF2B5EF4-FFF2-40B4-BE49-F238E27FC236}">
                <a16:creationId xmlns:a16="http://schemas.microsoft.com/office/drawing/2014/main" id="{35CB7D09-23CB-AF45-96B8-634F47239489}"/>
              </a:ext>
            </a:extLst>
          </p:cNvPr>
          <p:cNvSpPr>
            <a:spLocks noGrp="1" noRot="1" noChangeAspect="1" noChangeArrowheads="1" noTextEdit="1"/>
          </p:cNvSpPr>
          <p:nvPr>
            <p:ph type="sldImg"/>
          </p:nvPr>
        </p:nvSpPr>
        <p:spPr>
          <a:ln/>
        </p:spPr>
      </p:sp>
      <p:sp>
        <p:nvSpPr>
          <p:cNvPr id="18434" name="Rectangle 7">
            <a:extLst>
              <a:ext uri="{FF2B5EF4-FFF2-40B4-BE49-F238E27FC236}">
                <a16:creationId xmlns:a16="http://schemas.microsoft.com/office/drawing/2014/main" id="{7AD292D7-73DB-F949-AC09-8E0DD41B980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fr-EG" b="1"/>
              <a:t>Slide Show Notes</a:t>
            </a:r>
          </a:p>
          <a:p>
            <a:r>
              <a:rPr lang="en-US" altLang="fr-EG"/>
              <a:t>The EEOC defines sexual harassment as sexual conduct that is unwelcome, harmful, or illegal.</a:t>
            </a:r>
          </a:p>
          <a:p>
            <a:pPr lvl="1"/>
            <a:r>
              <a:rPr lang="en-US" altLang="fr-EG" i="1"/>
              <a:t>Unwelcome</a:t>
            </a:r>
            <a:r>
              <a:rPr lang="en-US" altLang="fr-EG"/>
              <a:t> conduct can include sexual advances, requests for sexual favors, verbal or physical conduct of a sexual nature, or displays of sexually explicit or suggestive materials.</a:t>
            </a:r>
          </a:p>
          <a:p>
            <a:pPr lvl="1"/>
            <a:r>
              <a:rPr lang="en-US" altLang="fr-EG" i="1"/>
              <a:t>Harmful </a:t>
            </a:r>
            <a:r>
              <a:rPr lang="en-US" altLang="fr-EG"/>
              <a:t>conduct can harm either the physical or emotional health of the victim, or of witnesses to the conduct.  This can also negatively affect the atmosphere of the workplace in general.</a:t>
            </a:r>
          </a:p>
          <a:p>
            <a:pPr lvl="1"/>
            <a:r>
              <a:rPr lang="en-US" altLang="fr-EG"/>
              <a:t>Finally, remember that all forms of sexual harassment are </a:t>
            </a:r>
            <a:r>
              <a:rPr lang="en-US" altLang="fr-EG" i="1"/>
              <a:t>illegal</a:t>
            </a:r>
            <a:r>
              <a:rPr lang="en-US" altLang="fr-EG"/>
              <a:t>, and cannot be tolerated.</a:t>
            </a:r>
          </a:p>
        </p:txBody>
      </p:sp>
    </p:spTree>
    <p:extLst>
      <p:ext uri="{BB962C8B-B14F-4D97-AF65-F5344CB8AC3E}">
        <p14:creationId xmlns:p14="http://schemas.microsoft.com/office/powerpoint/2010/main" val="30632922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4">
            <a:extLst>
              <a:ext uri="{FF2B5EF4-FFF2-40B4-BE49-F238E27FC236}">
                <a16:creationId xmlns:a16="http://schemas.microsoft.com/office/drawing/2014/main" id="{0871AA0F-1C63-DF41-B971-DDDA59B67F78}"/>
              </a:ext>
            </a:extLst>
          </p:cNvPr>
          <p:cNvSpPr>
            <a:spLocks noGrp="1" noRot="1" noChangeAspect="1" noChangeArrowheads="1" noTextEdit="1"/>
          </p:cNvSpPr>
          <p:nvPr>
            <p:ph type="sldImg"/>
          </p:nvPr>
        </p:nvSpPr>
        <p:spPr>
          <a:ln/>
        </p:spPr>
      </p:sp>
      <p:sp>
        <p:nvSpPr>
          <p:cNvPr id="20482" name="Rectangle 5">
            <a:extLst>
              <a:ext uri="{FF2B5EF4-FFF2-40B4-BE49-F238E27FC236}">
                <a16:creationId xmlns:a16="http://schemas.microsoft.com/office/drawing/2014/main" id="{F6D3464E-72A1-3443-8B74-2ECEBA0B265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fr-EG" b="1"/>
              <a:t>Slide Show Notes</a:t>
            </a:r>
          </a:p>
          <a:p>
            <a:r>
              <a:rPr lang="en-US" altLang="fr-EG"/>
              <a:t>A little later in the session, we’ll get into a more specific definition of sexual harassment. But first let’s take a moment now to play judge and decide whether these actions are harassment.</a:t>
            </a:r>
          </a:p>
          <a:p>
            <a:pPr lvl="1"/>
            <a:r>
              <a:rPr lang="en-US" altLang="fr-EG"/>
              <a:t>Let’s take a look at this example: A female employee wears miniskirts to work.  Is this inviting sexual harassment?  </a:t>
            </a:r>
          </a:p>
          <a:p>
            <a:pPr lvl="2"/>
            <a:r>
              <a:rPr lang="en-US" altLang="fr-EG"/>
              <a:t>No.  Employees must abide by the workplace’s dress code, but if the code permits miniskirts, employees have the right to wear them without being harassed.</a:t>
            </a:r>
          </a:p>
          <a:p>
            <a:pPr lvl="1"/>
            <a:r>
              <a:rPr lang="en-US" altLang="fr-EG"/>
              <a:t>Let’s take a look at this example: A female supervisor makes frequent comments about a male employee’s physique.  Is this sexual harassment?  </a:t>
            </a:r>
          </a:p>
          <a:p>
            <a:pPr lvl="2"/>
            <a:r>
              <a:rPr lang="en-US" altLang="fr-EG"/>
              <a:t>Yes.  Male employees can be victims of sexual harassment and have the same protection under the law as female employees.</a:t>
            </a:r>
          </a:p>
          <a:p>
            <a:pPr lvl="1"/>
            <a:r>
              <a:rPr lang="en-US" altLang="fr-EG"/>
              <a:t>Here’s a third example:  A male supervisor makes frequent comments about a male employee’s physique.  Is this sexual harassment?  </a:t>
            </a:r>
          </a:p>
          <a:p>
            <a:pPr lvl="2"/>
            <a:r>
              <a:rPr lang="en-US" altLang="fr-EG"/>
              <a:t>Yes.  Sexual harassment can happen between two people of the same gender.  The key point is </a:t>
            </a:r>
            <a:r>
              <a:rPr lang="en-US" altLang="fr-EG" i="1"/>
              <a:t>not</a:t>
            </a:r>
            <a:r>
              <a:rPr lang="en-US" altLang="fr-EG"/>
              <a:t> the sexual orientation of the people involved but that the harassment is sexual in nature.</a:t>
            </a:r>
          </a:p>
        </p:txBody>
      </p:sp>
    </p:spTree>
    <p:extLst>
      <p:ext uri="{BB962C8B-B14F-4D97-AF65-F5344CB8AC3E}">
        <p14:creationId xmlns:p14="http://schemas.microsoft.com/office/powerpoint/2010/main" val="19003349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4">
            <a:extLst>
              <a:ext uri="{FF2B5EF4-FFF2-40B4-BE49-F238E27FC236}">
                <a16:creationId xmlns:a16="http://schemas.microsoft.com/office/drawing/2014/main" id="{ADD855AB-8807-1342-8F0D-C04715AD2EFE}"/>
              </a:ext>
            </a:extLst>
          </p:cNvPr>
          <p:cNvSpPr>
            <a:spLocks noGrp="1" noRot="1" noChangeAspect="1" noChangeArrowheads="1" noTextEdit="1"/>
          </p:cNvSpPr>
          <p:nvPr>
            <p:ph type="sldImg"/>
          </p:nvPr>
        </p:nvSpPr>
        <p:spPr>
          <a:ln/>
        </p:spPr>
      </p:sp>
      <p:sp>
        <p:nvSpPr>
          <p:cNvPr id="22530" name="Rectangle 5">
            <a:extLst>
              <a:ext uri="{FF2B5EF4-FFF2-40B4-BE49-F238E27FC236}">
                <a16:creationId xmlns:a16="http://schemas.microsoft.com/office/drawing/2014/main" id="{5FC14242-C2AC-1A44-955B-2F3C43752CA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fr-EG" b="1"/>
              <a:t>Slide Show Notes</a:t>
            </a:r>
          </a:p>
          <a:p>
            <a:r>
              <a:rPr lang="en-US" altLang="fr-EG"/>
              <a:t>Here are some other scenarios.</a:t>
            </a:r>
          </a:p>
          <a:p>
            <a:pPr lvl="1"/>
            <a:r>
              <a:rPr lang="en-US" altLang="fr-EG"/>
              <a:t>Two employees forward each other off-color jokes that they receive in e-mails.  Is this sexual harassment?  </a:t>
            </a:r>
          </a:p>
          <a:p>
            <a:pPr lvl="2"/>
            <a:r>
              <a:rPr lang="en-US" altLang="fr-EG"/>
              <a:t>No.  This exchange is not unwelcome; however, it may violate the </a:t>
            </a:r>
            <a:br>
              <a:rPr lang="en-US" altLang="fr-EG"/>
            </a:br>
            <a:r>
              <a:rPr lang="en-US" altLang="fr-EG"/>
              <a:t>e-mail policy at your workplace.  If one of the employees suddenly complains of sexual harassment, the claim probably won’t stand because the employee had been participating in the behavior and had not indicated it was offensive.  If one of the employees decides that the exchange is no longer welcome, he or she needs to communicate this to the other employee – and the other employee needs to stop sending jokes.</a:t>
            </a:r>
          </a:p>
          <a:p>
            <a:pPr lvl="1"/>
            <a:r>
              <a:rPr lang="en-US" altLang="fr-EG"/>
              <a:t>What about this example:  An employee asks a co-worker out on a date.  Is this sexual harassment?  </a:t>
            </a:r>
          </a:p>
          <a:p>
            <a:pPr lvl="2"/>
            <a:r>
              <a:rPr lang="en-US" altLang="fr-EG"/>
              <a:t>No, a simple request for a date is not sexual harassment.  However, if the answer is No, the employee should be careful about asking repeatedly.  This can be a form of sexual harassment.</a:t>
            </a:r>
          </a:p>
          <a:p>
            <a:pPr lvl="1"/>
            <a:r>
              <a:rPr lang="en-US" altLang="fr-EG"/>
              <a:t>Two co-workers develop a personal relationship.  Is this sexual harassment?  </a:t>
            </a:r>
          </a:p>
          <a:p>
            <a:pPr lvl="2"/>
            <a:r>
              <a:rPr lang="en-US" altLang="fr-EG"/>
              <a:t>No.  People can and do form relationships with co-workers.  As long as both people consent to the relationship, this is not harassment.  Remember that only </a:t>
            </a:r>
            <a:r>
              <a:rPr lang="en-US" altLang="fr-EG" i="1"/>
              <a:t>unwelcome</a:t>
            </a:r>
            <a:r>
              <a:rPr lang="en-US" altLang="fr-EG"/>
              <a:t> sexual conduct is unlawful.</a:t>
            </a:r>
          </a:p>
        </p:txBody>
      </p:sp>
    </p:spTree>
    <p:extLst>
      <p:ext uri="{BB962C8B-B14F-4D97-AF65-F5344CB8AC3E}">
        <p14:creationId xmlns:p14="http://schemas.microsoft.com/office/powerpoint/2010/main" val="39842811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4">
            <a:extLst>
              <a:ext uri="{FF2B5EF4-FFF2-40B4-BE49-F238E27FC236}">
                <a16:creationId xmlns:a16="http://schemas.microsoft.com/office/drawing/2014/main" id="{6A1F2E49-25A9-3640-A845-D38A3AD0A0B2}"/>
              </a:ext>
            </a:extLst>
          </p:cNvPr>
          <p:cNvSpPr>
            <a:spLocks noGrp="1" noRot="1" noChangeAspect="1" noChangeArrowheads="1" noTextEdit="1"/>
          </p:cNvSpPr>
          <p:nvPr>
            <p:ph type="sldImg"/>
          </p:nvPr>
        </p:nvSpPr>
        <p:spPr>
          <a:ln/>
        </p:spPr>
      </p:sp>
      <p:sp>
        <p:nvSpPr>
          <p:cNvPr id="24578" name="Rectangle 5">
            <a:extLst>
              <a:ext uri="{FF2B5EF4-FFF2-40B4-BE49-F238E27FC236}">
                <a16:creationId xmlns:a16="http://schemas.microsoft.com/office/drawing/2014/main" id="{C9F314B0-0BF3-F14A-9D76-C42BB52FE6C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fr-EG" b="1"/>
              <a:t>Slide Show Notes</a:t>
            </a:r>
          </a:p>
          <a:p>
            <a:r>
              <a:rPr lang="en-US" altLang="fr-EG"/>
              <a:t>Here are three more scenarios.  </a:t>
            </a:r>
          </a:p>
          <a:p>
            <a:pPr lvl="1"/>
            <a:r>
              <a:rPr lang="en-US" altLang="fr-EG"/>
              <a:t>An employee posts a swimsuit calendar in his work area.  Is this sexual harassment?  </a:t>
            </a:r>
          </a:p>
          <a:p>
            <a:pPr lvl="2"/>
            <a:r>
              <a:rPr lang="en-US" altLang="fr-EG"/>
              <a:t>Yes.  Under the EEOC definition, posting a swimsuit calendar is considered a “visual display of explicit or suggestive materials.”</a:t>
            </a:r>
          </a:p>
          <a:p>
            <a:pPr lvl="1"/>
            <a:r>
              <a:rPr lang="en-US" altLang="fr-EG"/>
              <a:t>How about this:  A female employee posts a male pin-up in her work area. Is this sexual harassment?  </a:t>
            </a:r>
          </a:p>
          <a:p>
            <a:pPr lvl="2"/>
            <a:r>
              <a:rPr lang="en-US" altLang="fr-EG"/>
              <a:t>Yes it is, for the same reason as the previous example.  It doesn’t matter if the visual display is of a woman or a man.</a:t>
            </a:r>
          </a:p>
          <a:p>
            <a:pPr lvl="1"/>
            <a:r>
              <a:rPr lang="en-US" altLang="fr-EG"/>
              <a:t>Finally, what if a good customer makes provocative comments to employees?  Is this considered sexual harassment?  </a:t>
            </a:r>
          </a:p>
          <a:p>
            <a:pPr lvl="2"/>
            <a:r>
              <a:rPr lang="en-US" altLang="fr-EG"/>
              <a:t>Yes.  Customers or clients can be guilty of sexual harassment, just as employees can.</a:t>
            </a:r>
          </a:p>
          <a:p>
            <a:pPr lvl="1"/>
            <a:endParaRPr lang="en-US" altLang="fr-EG" i="1"/>
          </a:p>
          <a:p>
            <a:pPr lvl="1"/>
            <a:endParaRPr lang="en-US" altLang="fr-EG"/>
          </a:p>
        </p:txBody>
      </p:sp>
    </p:spTree>
    <p:extLst>
      <p:ext uri="{BB962C8B-B14F-4D97-AF65-F5344CB8AC3E}">
        <p14:creationId xmlns:p14="http://schemas.microsoft.com/office/powerpoint/2010/main" val="26670238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4">
            <a:extLst>
              <a:ext uri="{FF2B5EF4-FFF2-40B4-BE49-F238E27FC236}">
                <a16:creationId xmlns:a16="http://schemas.microsoft.com/office/drawing/2014/main" id="{7EE8AB9D-B6CA-7A40-BCF7-2C87D0870B75}"/>
              </a:ext>
            </a:extLst>
          </p:cNvPr>
          <p:cNvSpPr>
            <a:spLocks noGrp="1" noRot="1" noChangeAspect="1" noChangeArrowheads="1" noTextEdit="1"/>
          </p:cNvSpPr>
          <p:nvPr>
            <p:ph type="sldImg"/>
          </p:nvPr>
        </p:nvSpPr>
        <p:spPr>
          <a:ln/>
        </p:spPr>
      </p:sp>
      <p:sp>
        <p:nvSpPr>
          <p:cNvPr id="26626" name="Rectangle 5">
            <a:extLst>
              <a:ext uri="{FF2B5EF4-FFF2-40B4-BE49-F238E27FC236}">
                <a16:creationId xmlns:a16="http://schemas.microsoft.com/office/drawing/2014/main" id="{ED0D11DD-90FC-2140-911E-4E6212D7228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fr-EG" b="1"/>
              <a:t>Slide Show Notes</a:t>
            </a:r>
          </a:p>
          <a:p>
            <a:r>
              <a:rPr lang="en-US" altLang="fr-EG"/>
              <a:t>There are two main forms of sexual harassment, which we’ll review in the next slides.</a:t>
            </a:r>
          </a:p>
          <a:p>
            <a:pPr lvl="1"/>
            <a:r>
              <a:rPr lang="en-US" altLang="fr-EG"/>
              <a:t>“Economic harassment” is also known as “tangible employment harassment.”  It involves </a:t>
            </a:r>
            <a:r>
              <a:rPr lang="en-US" altLang="fr-EG" i="1"/>
              <a:t>quid pro quo,</a:t>
            </a:r>
            <a:r>
              <a:rPr lang="en-US" altLang="fr-EG"/>
              <a:t> or “this for that” – essentially, it means that the victim is the target of a </a:t>
            </a:r>
            <a:r>
              <a:rPr lang="en-US" altLang="fr-EG" i="1"/>
              <a:t>tangible economic action</a:t>
            </a:r>
            <a:r>
              <a:rPr lang="en-US" altLang="fr-EG"/>
              <a:t> because he or she refuses a sexual request.  Examples might include: Being fired, or being passed over for a promotion or a raise, or being given less desirable work assignments by a person in authority for refusing his or her sexual advances.  Alternately, a person might be promised a raise or other job benefit in return for sexual favors.  Economic harassment focuses on the harm done to the victim rather than on the specific conduct of the harasser.</a:t>
            </a:r>
          </a:p>
          <a:p>
            <a:pPr lvl="1"/>
            <a:r>
              <a:rPr lang="en-US" altLang="fr-EG"/>
              <a:t>The workplace is automatically liable in cases of economic harassment if a supervisor takes tangible economic action against an employee.</a:t>
            </a:r>
          </a:p>
          <a:p>
            <a:pPr lvl="1"/>
            <a:r>
              <a:rPr lang="en-US" altLang="fr-EG"/>
              <a:t>However, the workplace is automatically liable only if the </a:t>
            </a:r>
            <a:r>
              <a:rPr lang="en-US" altLang="fr-EG" i="1"/>
              <a:t>threat</a:t>
            </a:r>
            <a:r>
              <a:rPr lang="en-US" altLang="fr-EG"/>
              <a:t> of a negative action, or the promise of a positive benefit, actually results in an employment action such as termination, promotion, demotion, or reassignment to a considerably different position. </a:t>
            </a:r>
          </a:p>
        </p:txBody>
      </p:sp>
    </p:spTree>
    <p:extLst>
      <p:ext uri="{BB962C8B-B14F-4D97-AF65-F5344CB8AC3E}">
        <p14:creationId xmlns:p14="http://schemas.microsoft.com/office/powerpoint/2010/main" val="368451842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4">
            <a:extLst>
              <a:ext uri="{FF2B5EF4-FFF2-40B4-BE49-F238E27FC236}">
                <a16:creationId xmlns:a16="http://schemas.microsoft.com/office/drawing/2014/main" id="{6C47581D-3C87-134D-B246-65C6F3F0F9B7}"/>
              </a:ext>
            </a:extLst>
          </p:cNvPr>
          <p:cNvSpPr>
            <a:spLocks noGrp="1" noRot="1" noChangeAspect="1" noChangeArrowheads="1" noTextEdit="1"/>
          </p:cNvSpPr>
          <p:nvPr>
            <p:ph type="sldImg"/>
          </p:nvPr>
        </p:nvSpPr>
        <p:spPr>
          <a:ln/>
        </p:spPr>
      </p:sp>
      <p:sp>
        <p:nvSpPr>
          <p:cNvPr id="28674" name="Rectangle 5">
            <a:extLst>
              <a:ext uri="{FF2B5EF4-FFF2-40B4-BE49-F238E27FC236}">
                <a16:creationId xmlns:a16="http://schemas.microsoft.com/office/drawing/2014/main" id="{83372BEA-C0A7-DD4E-BED5-5B647893170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fr-EG" b="1"/>
              <a:t>Slide Show Notes</a:t>
            </a:r>
          </a:p>
          <a:p>
            <a:r>
              <a:rPr lang="en-US" altLang="fr-EG"/>
              <a:t>The other main form of sexual harassment is hostile work environment. </a:t>
            </a:r>
          </a:p>
          <a:p>
            <a:pPr lvl="1"/>
            <a:r>
              <a:rPr lang="en-US" altLang="fr-EG"/>
              <a:t>Conduct that is either severe or pervasive, or both, constitutes a hostile work environment.  In other words, the offensive conduct might be aimed specifically at certain persons, or it might be more generalized throughout the workplace.</a:t>
            </a:r>
          </a:p>
          <a:p>
            <a:pPr lvl="1"/>
            <a:r>
              <a:rPr lang="en-US" altLang="fr-EG"/>
              <a:t>This kind of regular and repeated conduct can include items displayed in the workplace that unreasonably interfere with job performance or that create an intimidating, hostile, or offensive work environment. </a:t>
            </a:r>
          </a:p>
          <a:p>
            <a:pPr lvl="1"/>
            <a:endParaRPr lang="en-US" altLang="fr-EG"/>
          </a:p>
          <a:p>
            <a:pPr lvl="1">
              <a:buFont typeface="Times" pitchFamily="2" charset="0"/>
              <a:buNone/>
            </a:pPr>
            <a:r>
              <a:rPr lang="en-US" altLang="fr-EG"/>
              <a:t> ﻿</a:t>
            </a:r>
            <a:r>
              <a:rPr lang="en-US" altLang="fr-EG" i="1"/>
              <a:t>Suggest that a simple test for determining when something goes over the line might be, “Would I want my spouse, child, or parent to have to experience, see, or listen to something like this?”</a:t>
            </a:r>
          </a:p>
          <a:p>
            <a:pPr lvl="1">
              <a:buFont typeface="Times" pitchFamily="2" charset="0"/>
              <a:buNone/>
            </a:pPr>
            <a:endParaRPr lang="en-US" altLang="fr-EG"/>
          </a:p>
        </p:txBody>
      </p:sp>
    </p:spTree>
    <p:extLst>
      <p:ext uri="{BB962C8B-B14F-4D97-AF65-F5344CB8AC3E}">
        <p14:creationId xmlns:p14="http://schemas.microsoft.com/office/powerpoint/2010/main" val="40001199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2">
            <a:extLst>
              <a:ext uri="{FF2B5EF4-FFF2-40B4-BE49-F238E27FC236}">
                <a16:creationId xmlns:a16="http://schemas.microsoft.com/office/drawing/2014/main" id="{EC682D76-4342-9B44-9326-0FC86DD9610A}"/>
              </a:ext>
            </a:extLst>
          </p:cNvPr>
          <p:cNvSpPr>
            <a:spLocks noGrp="1" noRot="1" noChangeAspect="1" noChangeArrowheads="1" noTextEdit="1"/>
          </p:cNvSpPr>
          <p:nvPr>
            <p:ph type="sldImg"/>
          </p:nvPr>
        </p:nvSpPr>
        <p:spPr>
          <a:ln/>
        </p:spPr>
      </p:sp>
      <p:sp>
        <p:nvSpPr>
          <p:cNvPr id="30722" name="Rectangle 3">
            <a:extLst>
              <a:ext uri="{FF2B5EF4-FFF2-40B4-BE49-F238E27FC236}">
                <a16:creationId xmlns:a16="http://schemas.microsoft.com/office/drawing/2014/main" id="{F26B27CF-091E-D041-928D-2439B47F5EA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fr-EG" b="1"/>
              <a:t>Slide Show Notes</a:t>
            </a:r>
          </a:p>
          <a:p>
            <a:r>
              <a:rPr lang="en-US" altLang="fr-EG"/>
              <a:t>Examples of a hostile work environment include:</a:t>
            </a:r>
          </a:p>
          <a:p>
            <a:pPr lvl="1"/>
            <a:r>
              <a:rPr lang="en-US" altLang="fr-EG"/>
              <a:t>Posting sexually explicit pictures, calendars, graffiti, or objects around the work area, </a:t>
            </a:r>
            <a:r>
              <a:rPr lang="en-US" altLang="fr-EG" i="1"/>
              <a:t>and</a:t>
            </a:r>
          </a:p>
          <a:p>
            <a:pPr lvl="1"/>
            <a:r>
              <a:rPr lang="en-US" altLang="fr-EG"/>
              <a:t>Regularly using dirty words, making sexual jokes, using obscene gestures, or making rude comments of a sexual nature.</a:t>
            </a:r>
          </a:p>
          <a:p>
            <a:endParaRPr lang="en-US" altLang="fr-EG"/>
          </a:p>
        </p:txBody>
      </p:sp>
    </p:spTree>
    <p:extLst>
      <p:ext uri="{BB962C8B-B14F-4D97-AF65-F5344CB8AC3E}">
        <p14:creationId xmlns:p14="http://schemas.microsoft.com/office/powerpoint/2010/main" val="72302112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7">
            <a:extLst>
              <a:ext uri="{FF2B5EF4-FFF2-40B4-BE49-F238E27FC236}">
                <a16:creationId xmlns:a16="http://schemas.microsoft.com/office/drawing/2014/main" id="{B5AE8978-717B-2948-80B6-47C43B5AB7E1}"/>
              </a:ext>
            </a:extLst>
          </p:cNvPr>
          <p:cNvSpPr>
            <a:spLocks noGrp="1" noChangeArrowheads="1"/>
          </p:cNvSpPr>
          <p:nvPr>
            <p:ph type="sldNum" sz="quarter" idx="4294967295"/>
          </p:nvPr>
        </p:nvSpPr>
        <p:spPr bwMode="auto">
          <a:xfrm>
            <a:off x="3886200" y="8831263"/>
            <a:ext cx="2971800" cy="46513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fontAlgn="base">
              <a:spcBef>
                <a:spcPct val="0"/>
              </a:spcBef>
              <a:spcAft>
                <a:spcPct val="0"/>
              </a:spcAft>
              <a:defRPr>
                <a:solidFill>
                  <a:schemeClr val="tx1"/>
                </a:solidFill>
                <a:latin typeface="Franklin Gothic Book" panose="020B0503020102020204" pitchFamily="34" charset="0"/>
              </a:defRPr>
            </a:lvl6pPr>
            <a:lvl7pPr marL="2971800" indent="-228600" defTabSz="457200" fontAlgn="base">
              <a:spcBef>
                <a:spcPct val="0"/>
              </a:spcBef>
              <a:spcAft>
                <a:spcPct val="0"/>
              </a:spcAft>
              <a:defRPr>
                <a:solidFill>
                  <a:schemeClr val="tx1"/>
                </a:solidFill>
                <a:latin typeface="Franklin Gothic Book" panose="020B0503020102020204" pitchFamily="34" charset="0"/>
              </a:defRPr>
            </a:lvl7pPr>
            <a:lvl8pPr marL="3429000" indent="-228600" defTabSz="457200" fontAlgn="base">
              <a:spcBef>
                <a:spcPct val="0"/>
              </a:spcBef>
              <a:spcAft>
                <a:spcPct val="0"/>
              </a:spcAft>
              <a:defRPr>
                <a:solidFill>
                  <a:schemeClr val="tx1"/>
                </a:solidFill>
                <a:latin typeface="Franklin Gothic Book" panose="020B0503020102020204" pitchFamily="34" charset="0"/>
              </a:defRPr>
            </a:lvl8pPr>
            <a:lvl9pPr marL="3886200" indent="-228600" defTabSz="457200" fontAlgn="base">
              <a:spcBef>
                <a:spcPct val="0"/>
              </a:spcBef>
              <a:spcAft>
                <a:spcPct val="0"/>
              </a:spcAft>
              <a:defRPr>
                <a:solidFill>
                  <a:schemeClr val="tx1"/>
                </a:solidFill>
                <a:latin typeface="Franklin Gothic Book" panose="020B0503020102020204" pitchFamily="34" charset="0"/>
              </a:defRPr>
            </a:lvl9pPr>
          </a:lstStyle>
          <a:p>
            <a:pPr eaLnBrk="1" hangingPunct="1"/>
            <a:fld id="{540F88D4-EFEA-594D-B3E3-6220DBF27738}" type="slidenum">
              <a:rPr lang="en-US" altLang="fr-EG" sz="2400">
                <a:latin typeface="Times New Roman" panose="02020603050405020304" pitchFamily="18" charset="0"/>
              </a:rPr>
              <a:pPr eaLnBrk="1" hangingPunct="1"/>
              <a:t>14</a:t>
            </a:fld>
            <a:endParaRPr lang="en-US" altLang="fr-EG" sz="2400">
              <a:latin typeface="Times New Roman" panose="02020603050405020304" pitchFamily="18" charset="0"/>
            </a:endParaRPr>
          </a:p>
        </p:txBody>
      </p:sp>
      <p:sp>
        <p:nvSpPr>
          <p:cNvPr id="32770" name="Rectangle 2">
            <a:extLst>
              <a:ext uri="{FF2B5EF4-FFF2-40B4-BE49-F238E27FC236}">
                <a16:creationId xmlns:a16="http://schemas.microsoft.com/office/drawing/2014/main" id="{C6AF8B5D-DF6F-814C-9B05-61283573C754}"/>
              </a:ext>
            </a:extLst>
          </p:cNvPr>
          <p:cNvSpPr>
            <a:spLocks noGrp="1" noRot="1" noChangeAspect="1" noChangeArrowheads="1" noTextEdit="1"/>
          </p:cNvSpPr>
          <p:nvPr>
            <p:ph type="sldImg"/>
          </p:nvPr>
        </p:nvSpPr>
        <p:spPr>
          <a:ln/>
        </p:spPr>
      </p:sp>
      <p:sp>
        <p:nvSpPr>
          <p:cNvPr id="32771" name="Rectangle 3">
            <a:extLst>
              <a:ext uri="{FF2B5EF4-FFF2-40B4-BE49-F238E27FC236}">
                <a16:creationId xmlns:a16="http://schemas.microsoft.com/office/drawing/2014/main" id="{1F237850-F72B-5A42-B4AF-8DF9836773D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fr-EG" b="1"/>
              <a:t>Slide Show Notes</a:t>
            </a:r>
          </a:p>
          <a:p>
            <a:r>
              <a:rPr lang="en-US" altLang="fr-EG"/>
              <a:t>In this exercise, decide whether the following statements are describing economic harassment or hostile work environment:</a:t>
            </a:r>
          </a:p>
          <a:p>
            <a:pPr marL="346075" lvl="1" indent="-231775">
              <a:buFontTx/>
              <a:buAutoNum type="arabicPeriod"/>
            </a:pPr>
            <a:r>
              <a:rPr lang="en-US" altLang="fr-EG"/>
              <a:t>An employee is asked to talk about her raise with her supervisor after business hours at a romantic restaurant.</a:t>
            </a:r>
          </a:p>
          <a:p>
            <a:pPr marL="346075" lvl="1" indent="-231775">
              <a:buFontTx/>
              <a:buNone/>
            </a:pPr>
            <a:r>
              <a:rPr lang="en-US" altLang="fr-EG"/>
              <a:t>This is economic harassment.</a:t>
            </a:r>
          </a:p>
          <a:p>
            <a:pPr marL="346075" lvl="1" indent="-231775">
              <a:buFontTx/>
              <a:buAutoNum type="arabicPeriod" startAt="2"/>
            </a:pPr>
            <a:r>
              <a:rPr lang="en-US" altLang="fr-EG"/>
              <a:t>An employee brings a sexually explicit gag gift into work for a co-worker’s birthday present.</a:t>
            </a:r>
          </a:p>
          <a:p>
            <a:pPr marL="346075" lvl="1" indent="-231775">
              <a:buFontTx/>
              <a:buNone/>
            </a:pPr>
            <a:r>
              <a:rPr lang="en-US" altLang="fr-EG"/>
              <a:t>This describes a hostile work environment.</a:t>
            </a:r>
          </a:p>
        </p:txBody>
      </p:sp>
    </p:spTree>
    <p:extLst>
      <p:ext uri="{BB962C8B-B14F-4D97-AF65-F5344CB8AC3E}">
        <p14:creationId xmlns:p14="http://schemas.microsoft.com/office/powerpoint/2010/main" val="139021325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7">
            <a:extLst>
              <a:ext uri="{FF2B5EF4-FFF2-40B4-BE49-F238E27FC236}">
                <a16:creationId xmlns:a16="http://schemas.microsoft.com/office/drawing/2014/main" id="{4104643C-DA27-9D4A-AA87-6ABB24BF64F1}"/>
              </a:ext>
            </a:extLst>
          </p:cNvPr>
          <p:cNvSpPr>
            <a:spLocks noGrp="1" noChangeArrowheads="1"/>
          </p:cNvSpPr>
          <p:nvPr>
            <p:ph type="sldNum" sz="quarter" idx="4294967295"/>
          </p:nvPr>
        </p:nvSpPr>
        <p:spPr bwMode="auto">
          <a:xfrm>
            <a:off x="3886200" y="8831263"/>
            <a:ext cx="2971800" cy="46513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fontAlgn="base">
              <a:spcBef>
                <a:spcPct val="0"/>
              </a:spcBef>
              <a:spcAft>
                <a:spcPct val="0"/>
              </a:spcAft>
              <a:defRPr>
                <a:solidFill>
                  <a:schemeClr val="tx1"/>
                </a:solidFill>
                <a:latin typeface="Franklin Gothic Book" panose="020B0503020102020204" pitchFamily="34" charset="0"/>
              </a:defRPr>
            </a:lvl6pPr>
            <a:lvl7pPr marL="2971800" indent="-228600" defTabSz="457200" fontAlgn="base">
              <a:spcBef>
                <a:spcPct val="0"/>
              </a:spcBef>
              <a:spcAft>
                <a:spcPct val="0"/>
              </a:spcAft>
              <a:defRPr>
                <a:solidFill>
                  <a:schemeClr val="tx1"/>
                </a:solidFill>
                <a:latin typeface="Franklin Gothic Book" panose="020B0503020102020204" pitchFamily="34" charset="0"/>
              </a:defRPr>
            </a:lvl7pPr>
            <a:lvl8pPr marL="3429000" indent="-228600" defTabSz="457200" fontAlgn="base">
              <a:spcBef>
                <a:spcPct val="0"/>
              </a:spcBef>
              <a:spcAft>
                <a:spcPct val="0"/>
              </a:spcAft>
              <a:defRPr>
                <a:solidFill>
                  <a:schemeClr val="tx1"/>
                </a:solidFill>
                <a:latin typeface="Franklin Gothic Book" panose="020B0503020102020204" pitchFamily="34" charset="0"/>
              </a:defRPr>
            </a:lvl8pPr>
            <a:lvl9pPr marL="3886200" indent="-228600" defTabSz="457200" fontAlgn="base">
              <a:spcBef>
                <a:spcPct val="0"/>
              </a:spcBef>
              <a:spcAft>
                <a:spcPct val="0"/>
              </a:spcAft>
              <a:defRPr>
                <a:solidFill>
                  <a:schemeClr val="tx1"/>
                </a:solidFill>
                <a:latin typeface="Franklin Gothic Book" panose="020B0503020102020204" pitchFamily="34" charset="0"/>
              </a:defRPr>
            </a:lvl9pPr>
          </a:lstStyle>
          <a:p>
            <a:pPr eaLnBrk="1" hangingPunct="1"/>
            <a:fld id="{246C342B-3C10-9D4E-BD39-3E0207F39203}" type="slidenum">
              <a:rPr lang="en-US" altLang="fr-EG" sz="2400">
                <a:latin typeface="Times New Roman" panose="02020603050405020304" pitchFamily="18" charset="0"/>
              </a:rPr>
              <a:pPr eaLnBrk="1" hangingPunct="1"/>
              <a:t>15</a:t>
            </a:fld>
            <a:endParaRPr lang="en-US" altLang="fr-EG" sz="2400">
              <a:latin typeface="Times New Roman" panose="02020603050405020304" pitchFamily="18" charset="0"/>
            </a:endParaRPr>
          </a:p>
        </p:txBody>
      </p:sp>
      <p:sp>
        <p:nvSpPr>
          <p:cNvPr id="34818" name="Rectangle 2">
            <a:extLst>
              <a:ext uri="{FF2B5EF4-FFF2-40B4-BE49-F238E27FC236}">
                <a16:creationId xmlns:a16="http://schemas.microsoft.com/office/drawing/2014/main" id="{847D726D-2125-1244-BF0B-A75158E41E33}"/>
              </a:ext>
            </a:extLst>
          </p:cNvPr>
          <p:cNvSpPr>
            <a:spLocks noGrp="1" noRot="1" noChangeAspect="1" noChangeArrowheads="1" noTextEdit="1"/>
          </p:cNvSpPr>
          <p:nvPr>
            <p:ph type="sldImg"/>
          </p:nvPr>
        </p:nvSpPr>
        <p:spPr>
          <a:ln/>
        </p:spPr>
      </p:sp>
      <p:sp>
        <p:nvSpPr>
          <p:cNvPr id="34819" name="Rectangle 3">
            <a:extLst>
              <a:ext uri="{FF2B5EF4-FFF2-40B4-BE49-F238E27FC236}">
                <a16:creationId xmlns:a16="http://schemas.microsoft.com/office/drawing/2014/main" id="{6B5191AF-3242-2D4E-B610-8E82BBE186A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fr-EG" b="1"/>
              <a:t>Slide Show Notes</a:t>
            </a:r>
          </a:p>
          <a:p>
            <a:r>
              <a:rPr lang="en-US" altLang="fr-EG"/>
              <a:t>Here are two more examples. Decide whether they are describing economic harassment or hostile work environment:</a:t>
            </a:r>
          </a:p>
          <a:p>
            <a:pPr marL="346075" lvl="1" indent="-231775">
              <a:buFontTx/>
              <a:buAutoNum type="arabicPeriod" startAt="3"/>
            </a:pPr>
            <a:r>
              <a:rPr lang="en-US" altLang="fr-EG"/>
              <a:t>A supervisor regularly uses obscene language when talking to his employees.</a:t>
            </a:r>
          </a:p>
          <a:p>
            <a:pPr marL="346075" lvl="1" indent="-231775">
              <a:buFontTx/>
              <a:buNone/>
            </a:pPr>
            <a:r>
              <a:rPr lang="en-US" altLang="fr-EG"/>
              <a:t>This also describes a hostile work environment.</a:t>
            </a:r>
          </a:p>
          <a:p>
            <a:pPr marL="346075" lvl="1" indent="-231775">
              <a:buFontTx/>
              <a:buAutoNum type="arabicPeriod" startAt="4"/>
            </a:pPr>
            <a:r>
              <a:rPr lang="en-US" altLang="fr-EG"/>
              <a:t>An employee who appears to be “very close” to the boss always gets the easiest job assignments.</a:t>
            </a:r>
          </a:p>
          <a:p>
            <a:pPr marL="346075" lvl="1" indent="-231775">
              <a:buFont typeface="Times" pitchFamily="2" charset="0"/>
              <a:buNone/>
            </a:pPr>
            <a:r>
              <a:rPr lang="en-US" altLang="fr-EG"/>
              <a:t>This is economic harassment.</a:t>
            </a:r>
          </a:p>
        </p:txBody>
      </p:sp>
    </p:spTree>
    <p:extLst>
      <p:ext uri="{BB962C8B-B14F-4D97-AF65-F5344CB8AC3E}">
        <p14:creationId xmlns:p14="http://schemas.microsoft.com/office/powerpoint/2010/main" val="128964389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4">
            <a:extLst>
              <a:ext uri="{FF2B5EF4-FFF2-40B4-BE49-F238E27FC236}">
                <a16:creationId xmlns:a16="http://schemas.microsoft.com/office/drawing/2014/main" id="{E86509D6-0268-5545-A786-555245FBF8A0}"/>
              </a:ext>
            </a:extLst>
          </p:cNvPr>
          <p:cNvSpPr>
            <a:spLocks noGrp="1" noRot="1" noChangeAspect="1" noChangeArrowheads="1" noTextEdit="1"/>
          </p:cNvSpPr>
          <p:nvPr>
            <p:ph type="sldImg"/>
          </p:nvPr>
        </p:nvSpPr>
        <p:spPr>
          <a:ln/>
        </p:spPr>
      </p:sp>
      <p:sp>
        <p:nvSpPr>
          <p:cNvPr id="36866" name="Rectangle 5">
            <a:extLst>
              <a:ext uri="{FF2B5EF4-FFF2-40B4-BE49-F238E27FC236}">
                <a16:creationId xmlns:a16="http://schemas.microsoft.com/office/drawing/2014/main" id="{BCD3B508-C92F-B64C-819B-C621848AB07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fr-EG" b="1"/>
              <a:t>Slide Show Notes</a:t>
            </a:r>
          </a:p>
          <a:p>
            <a:r>
              <a:rPr lang="en-US" altLang="fr-EG"/>
              <a:t>It’s important to understand who is affected by sexual harassment laws and workplace policies when it occurs in the workplace.</a:t>
            </a:r>
          </a:p>
          <a:p>
            <a:pPr lvl="1"/>
            <a:r>
              <a:rPr lang="en-US" altLang="fr-EG"/>
              <a:t>Those who commit acts of sexual harassment can be anyone in the organization, at any level. In other words, unlawful sexual harassment can travel up, down, and sideways within the organization.</a:t>
            </a:r>
          </a:p>
          <a:p>
            <a:pPr lvl="1"/>
            <a:r>
              <a:rPr lang="en-US" altLang="fr-EG"/>
              <a:t>Similarly, clients and customers can also be guilty of committing sexual harassment against employees.</a:t>
            </a:r>
          </a:p>
          <a:p>
            <a:pPr lvl="1"/>
            <a:r>
              <a:rPr lang="en-US" altLang="fr-EG"/>
              <a:t>Finally, harassers and victims can be members of the same sex.  There can be male-on-male or female-on-female acts of sexual harassment.  As mentioned earlier, the key is not the sexual orientation of the person or persons involved, but rather that the act of harassment is sexual in nature.  Ordinary socializing in the workplace that may include horseplay or even flirtation between members of the same sex will generally NOT be considered harassment; instead, the harassment must be of a severely hostile or abusive nature.</a:t>
            </a:r>
          </a:p>
        </p:txBody>
      </p:sp>
    </p:spTree>
    <p:extLst>
      <p:ext uri="{BB962C8B-B14F-4D97-AF65-F5344CB8AC3E}">
        <p14:creationId xmlns:p14="http://schemas.microsoft.com/office/powerpoint/2010/main" val="154845063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4">
            <a:extLst>
              <a:ext uri="{FF2B5EF4-FFF2-40B4-BE49-F238E27FC236}">
                <a16:creationId xmlns:a16="http://schemas.microsoft.com/office/drawing/2014/main" id="{EAAB5912-D345-FB41-8E42-CB200487F2E7}"/>
              </a:ext>
            </a:extLst>
          </p:cNvPr>
          <p:cNvSpPr>
            <a:spLocks noGrp="1" noRot="1" noChangeAspect="1" noChangeArrowheads="1" noTextEdit="1"/>
          </p:cNvSpPr>
          <p:nvPr>
            <p:ph type="sldImg"/>
          </p:nvPr>
        </p:nvSpPr>
        <p:spPr>
          <a:ln/>
        </p:spPr>
      </p:sp>
      <p:sp>
        <p:nvSpPr>
          <p:cNvPr id="38914" name="Rectangle 5">
            <a:extLst>
              <a:ext uri="{FF2B5EF4-FFF2-40B4-BE49-F238E27FC236}">
                <a16:creationId xmlns:a16="http://schemas.microsoft.com/office/drawing/2014/main" id="{634E28F9-0A18-B346-9F4A-4110E84F8BD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fr-EG" b="1"/>
              <a:t>Slide Show Notes</a:t>
            </a:r>
          </a:p>
          <a:p>
            <a:r>
              <a:rPr lang="en-US" altLang="fr-EG"/>
              <a:t>Sexual harassment laws and policies also affect those who experience the harassment.  These include:</a:t>
            </a:r>
          </a:p>
          <a:p>
            <a:pPr lvl="1"/>
            <a:r>
              <a:rPr lang="en-US" altLang="fr-EG"/>
              <a:t>Direct targets of sexual harassment—for example, someone who is constantly subjected to a co-worker’s sexual advances is a direct target of sexual harassment and, therefore, a victim of an unlawful act.</a:t>
            </a:r>
          </a:p>
          <a:p>
            <a:pPr lvl="1"/>
            <a:r>
              <a:rPr lang="en-US" altLang="fr-EG"/>
              <a:t>Bystanders and witnesses may also be considered to be sexual harassment victims, depending on the specifics of the case.  In other words, if you witness acts of sexual harassment against a co-worker, you may also be affected by harassment and may be protected under the law.</a:t>
            </a:r>
          </a:p>
        </p:txBody>
      </p:sp>
    </p:spTree>
    <p:extLst>
      <p:ext uri="{BB962C8B-B14F-4D97-AF65-F5344CB8AC3E}">
        <p14:creationId xmlns:p14="http://schemas.microsoft.com/office/powerpoint/2010/main" val="310647758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4">
            <a:extLst>
              <a:ext uri="{FF2B5EF4-FFF2-40B4-BE49-F238E27FC236}">
                <a16:creationId xmlns:a16="http://schemas.microsoft.com/office/drawing/2014/main" id="{2958C904-F00F-C048-A409-ED96C932EDCD}"/>
              </a:ext>
            </a:extLst>
          </p:cNvPr>
          <p:cNvSpPr>
            <a:spLocks noGrp="1" noRot="1" noChangeAspect="1" noChangeArrowheads="1" noTextEdit="1"/>
          </p:cNvSpPr>
          <p:nvPr>
            <p:ph type="sldImg"/>
          </p:nvPr>
        </p:nvSpPr>
        <p:spPr>
          <a:ln/>
        </p:spPr>
      </p:sp>
      <p:sp>
        <p:nvSpPr>
          <p:cNvPr id="40962" name="Rectangle 5">
            <a:extLst>
              <a:ext uri="{FF2B5EF4-FFF2-40B4-BE49-F238E27FC236}">
                <a16:creationId xmlns:a16="http://schemas.microsoft.com/office/drawing/2014/main" id="{6658E3D1-AFB3-1643-8924-6AA0FE4749D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fr-EG" b="1"/>
              <a:t>Slide Show Notes</a:t>
            </a:r>
          </a:p>
          <a:p>
            <a:pPr lvl="1"/>
            <a:r>
              <a:rPr lang="en-US" altLang="fr-EG"/>
              <a:t>Now it is time to ask yourself if you understand the information presented so far. Do you understand the two main forms of </a:t>
            </a:r>
            <a:br>
              <a:rPr lang="en-US" altLang="fr-EG"/>
            </a:br>
            <a:r>
              <a:rPr lang="en-US" altLang="fr-EG"/>
              <a:t>sexual harassment—economic harassment and a hostile work environment?  Is it clear who may be affected by sexual harassment in the workplace?</a:t>
            </a:r>
          </a:p>
          <a:p>
            <a:endParaRPr lang="en-US" altLang="fr-EG"/>
          </a:p>
        </p:txBody>
      </p:sp>
    </p:spTree>
    <p:extLst>
      <p:ext uri="{BB962C8B-B14F-4D97-AF65-F5344CB8AC3E}">
        <p14:creationId xmlns:p14="http://schemas.microsoft.com/office/powerpoint/2010/main" val="267582807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4">
            <a:extLst>
              <a:ext uri="{FF2B5EF4-FFF2-40B4-BE49-F238E27FC236}">
                <a16:creationId xmlns:a16="http://schemas.microsoft.com/office/drawing/2014/main" id="{8C7C473B-7DD9-A548-85E9-86D06DF6BA6F}"/>
              </a:ext>
            </a:extLst>
          </p:cNvPr>
          <p:cNvSpPr>
            <a:spLocks noGrp="1" noRot="1" noChangeAspect="1" noChangeArrowheads="1" noTextEdit="1"/>
          </p:cNvSpPr>
          <p:nvPr>
            <p:ph type="sldImg"/>
          </p:nvPr>
        </p:nvSpPr>
        <p:spPr>
          <a:ln/>
        </p:spPr>
      </p:sp>
      <p:sp>
        <p:nvSpPr>
          <p:cNvPr id="43010" name="Rectangle 5">
            <a:extLst>
              <a:ext uri="{FF2B5EF4-FFF2-40B4-BE49-F238E27FC236}">
                <a16:creationId xmlns:a16="http://schemas.microsoft.com/office/drawing/2014/main" id="{2115CA85-C0F8-F94F-9807-5ADF36082C5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fr-EG" b="1"/>
              <a:t>Slide Show Notes</a:t>
            </a:r>
          </a:p>
          <a:p>
            <a:r>
              <a:rPr lang="en-US" altLang="fr-EG"/>
              <a:t>Now let’s talk about prevention —what we all can do to prevent sexual harassment.  Both the workplace and you, as an employee, have responsibilities.</a:t>
            </a:r>
          </a:p>
          <a:p>
            <a:r>
              <a:rPr lang="en-US" altLang="fr-EG"/>
              <a:t>As a workplace, we work to create, communicate, and enforce a policy on sexual harassment that accomplishes the following goals:</a:t>
            </a:r>
          </a:p>
          <a:p>
            <a:pPr lvl="1"/>
            <a:r>
              <a:rPr lang="en-US" altLang="fr-EG"/>
              <a:t>First, it provides a clear statement of our position against sexual harassment, so that everyone understands what is and what is not acceptable behavior.</a:t>
            </a:r>
          </a:p>
          <a:p>
            <a:pPr lvl="1"/>
            <a:r>
              <a:rPr lang="en-US" altLang="fr-EG"/>
              <a:t>Second, it promotes compliance, as well as prevention, by defining the responsibilities of managers and employees in preventing sexual harassment and in responding quickly and thoroughly to any complaints.</a:t>
            </a:r>
          </a:p>
          <a:p>
            <a:pPr lvl="1"/>
            <a:r>
              <a:rPr lang="en-US" altLang="fr-EG"/>
              <a:t>Finally, it protects your rights and fosters respect for everyone.  We want to maintain a respectful and dignified work environment by preserving confidentiality whenever possible, and by communicating and enforcing a policy of “no retaliation” against anyone who reports sexual harassment.</a:t>
            </a:r>
          </a:p>
          <a:p>
            <a:r>
              <a:rPr lang="en-US" altLang="fr-EG" i="1"/>
              <a:t>Introduce and review your workplace’s sexual harassment policy.</a:t>
            </a:r>
          </a:p>
          <a:p>
            <a:pPr lvl="1"/>
            <a:endParaRPr lang="en-US" altLang="fr-EG" i="1"/>
          </a:p>
        </p:txBody>
      </p:sp>
    </p:spTree>
    <p:extLst>
      <p:ext uri="{BB962C8B-B14F-4D97-AF65-F5344CB8AC3E}">
        <p14:creationId xmlns:p14="http://schemas.microsoft.com/office/powerpoint/2010/main" val="200848195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4">
            <a:extLst>
              <a:ext uri="{FF2B5EF4-FFF2-40B4-BE49-F238E27FC236}">
                <a16:creationId xmlns:a16="http://schemas.microsoft.com/office/drawing/2014/main" id="{9D2DD536-C9CF-EE4E-9115-95945301E434}"/>
              </a:ext>
            </a:extLst>
          </p:cNvPr>
          <p:cNvSpPr>
            <a:spLocks noGrp="1" noRot="1" noChangeAspect="1" noChangeArrowheads="1" noTextEdit="1"/>
          </p:cNvSpPr>
          <p:nvPr>
            <p:ph type="sldImg"/>
          </p:nvPr>
        </p:nvSpPr>
        <p:spPr>
          <a:ln/>
        </p:spPr>
      </p:sp>
      <p:sp>
        <p:nvSpPr>
          <p:cNvPr id="45058" name="Rectangle 5">
            <a:extLst>
              <a:ext uri="{FF2B5EF4-FFF2-40B4-BE49-F238E27FC236}">
                <a16:creationId xmlns:a16="http://schemas.microsoft.com/office/drawing/2014/main" id="{E638361B-1A25-6C4E-AB52-2B8CB7FEB11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fr-EG" b="1"/>
              <a:t>Slide Show Notes</a:t>
            </a:r>
          </a:p>
          <a:p>
            <a:r>
              <a:rPr lang="en-US" altLang="fr-EG"/>
              <a:t>Here are some of the things you can do to help prevent sexual harassment:</a:t>
            </a:r>
          </a:p>
          <a:p>
            <a:pPr lvl="1"/>
            <a:r>
              <a:rPr lang="en-US" altLang="fr-EG"/>
              <a:t>First, know and comply with workplace policy on sexual harassment.  Be sure to take the time to read it, and ask your supervisor or HR representative if you have any questions about your responsibilities.</a:t>
            </a:r>
          </a:p>
          <a:p>
            <a:pPr lvl="1"/>
            <a:r>
              <a:rPr lang="en-US" altLang="fr-EG"/>
              <a:t>Next, and more specifically, it’s very important to address incidents of sexual harassment immediately.  Report any incident that you reasonably believe is offensive, whether you are the direct target </a:t>
            </a:r>
            <a:br>
              <a:rPr lang="en-US" altLang="fr-EG"/>
            </a:br>
            <a:r>
              <a:rPr lang="en-US" altLang="fr-EG"/>
              <a:t>or not.  If you can, respond directly to anyone who is committing sexual harassment, making it clear that this behavior bothers you.  </a:t>
            </a:r>
            <a:br>
              <a:rPr lang="en-US" altLang="fr-EG"/>
            </a:br>
            <a:r>
              <a:rPr lang="en-US" altLang="fr-EG"/>
              <a:t>If it’s uncomfortable for you to address them directly – for example, if the harasser is your supervisor –report the incident to your supervisor’s manager or to an HR representative.  Record the </a:t>
            </a:r>
            <a:br>
              <a:rPr lang="en-US" altLang="fr-EG"/>
            </a:br>
            <a:r>
              <a:rPr lang="en-US" altLang="fr-EG"/>
              <a:t>time, place, and details of the incident, including the names of </a:t>
            </a:r>
            <a:br>
              <a:rPr lang="en-US" altLang="fr-EG"/>
            </a:br>
            <a:r>
              <a:rPr lang="en-US" altLang="fr-EG"/>
              <a:t>any co-workers who might have observed it.</a:t>
            </a:r>
          </a:p>
          <a:p>
            <a:r>
              <a:rPr lang="en-US" altLang="fr-EG" i="1"/>
              <a:t>Explain your workplace’s procedures for reporting incidents of sexual harassment. Make sure trainees know specifically who they can go to with a complaint. Assure trainees that complaints will be handled promptly, sensitively, and as confidentially as possible</a:t>
            </a:r>
          </a:p>
        </p:txBody>
      </p:sp>
    </p:spTree>
    <p:extLst>
      <p:ext uri="{BB962C8B-B14F-4D97-AF65-F5344CB8AC3E}">
        <p14:creationId xmlns:p14="http://schemas.microsoft.com/office/powerpoint/2010/main" val="415366848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4">
            <a:extLst>
              <a:ext uri="{FF2B5EF4-FFF2-40B4-BE49-F238E27FC236}">
                <a16:creationId xmlns:a16="http://schemas.microsoft.com/office/drawing/2014/main" id="{977A455B-FD0B-2B48-B149-F28CA6BDFACE}"/>
              </a:ext>
            </a:extLst>
          </p:cNvPr>
          <p:cNvSpPr>
            <a:spLocks noGrp="1" noRot="1" noChangeAspect="1" noChangeArrowheads="1" noTextEdit="1"/>
          </p:cNvSpPr>
          <p:nvPr>
            <p:ph type="sldImg"/>
          </p:nvPr>
        </p:nvSpPr>
        <p:spPr>
          <a:ln/>
        </p:spPr>
      </p:sp>
      <p:sp>
        <p:nvSpPr>
          <p:cNvPr id="47106" name="Rectangle 5">
            <a:extLst>
              <a:ext uri="{FF2B5EF4-FFF2-40B4-BE49-F238E27FC236}">
                <a16:creationId xmlns:a16="http://schemas.microsoft.com/office/drawing/2014/main" id="{01C6F707-5F7D-B544-8195-6F9694D3AB6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fr-EG" b="1"/>
              <a:t>Slide Show Notes</a:t>
            </a:r>
          </a:p>
          <a:p>
            <a:pPr lvl="1"/>
            <a:r>
              <a:rPr lang="en-US" altLang="fr-EG"/>
              <a:t>In addition, you can help prevent sexual harassment by supporting victims of sexual harassment as much as possible.  Encourage them to report incidents according to workplace policy, and support them throughout the process until it is resolved to everyone’s satisfaction.</a:t>
            </a:r>
          </a:p>
          <a:p>
            <a:pPr lvl="1"/>
            <a:r>
              <a:rPr lang="en-US" altLang="fr-EG"/>
              <a:t>Finally, cooperate with investigations of sexual harassment.  Provide any information you might have about an incident, and do your part to help make the investigation run smoothly and move as quickly as possible toward a resolution.</a:t>
            </a:r>
          </a:p>
        </p:txBody>
      </p:sp>
    </p:spTree>
    <p:extLst>
      <p:ext uri="{BB962C8B-B14F-4D97-AF65-F5344CB8AC3E}">
        <p14:creationId xmlns:p14="http://schemas.microsoft.com/office/powerpoint/2010/main" val="45471603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4">
            <a:extLst>
              <a:ext uri="{FF2B5EF4-FFF2-40B4-BE49-F238E27FC236}">
                <a16:creationId xmlns:a16="http://schemas.microsoft.com/office/drawing/2014/main" id="{A91D9EE6-4237-114D-A713-9CB6C599B62D}"/>
              </a:ext>
            </a:extLst>
          </p:cNvPr>
          <p:cNvSpPr>
            <a:spLocks noGrp="1" noRot="1" noChangeAspect="1" noChangeArrowheads="1" noTextEdit="1"/>
          </p:cNvSpPr>
          <p:nvPr>
            <p:ph type="sldImg"/>
          </p:nvPr>
        </p:nvSpPr>
        <p:spPr>
          <a:ln/>
        </p:spPr>
      </p:sp>
      <p:sp>
        <p:nvSpPr>
          <p:cNvPr id="49154" name="Rectangle 5">
            <a:extLst>
              <a:ext uri="{FF2B5EF4-FFF2-40B4-BE49-F238E27FC236}">
                <a16:creationId xmlns:a16="http://schemas.microsoft.com/office/drawing/2014/main" id="{F5AEB428-0E83-1640-B387-C7A17118A62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fr-EG" b="1"/>
              <a:t>Slide Show Notes</a:t>
            </a:r>
          </a:p>
          <a:p>
            <a:r>
              <a:rPr lang="en-US" altLang="fr-EG"/>
              <a:t>In conclusion, here are the key points you should remember from this training session on sexual harassment:</a:t>
            </a:r>
          </a:p>
          <a:p>
            <a:pPr lvl="1"/>
            <a:r>
              <a:rPr lang="en-US" altLang="fr-EG"/>
              <a:t>Sexual harassment is prohibited, both by law and by workplace policy;</a:t>
            </a:r>
          </a:p>
          <a:p>
            <a:pPr lvl="1"/>
            <a:r>
              <a:rPr lang="en-US" altLang="fr-EG"/>
              <a:t>Sexual harassment involves more than just physical conduct; it can also be verbal or visual;</a:t>
            </a:r>
          </a:p>
          <a:p>
            <a:pPr lvl="1"/>
            <a:r>
              <a:rPr lang="en-US" altLang="fr-EG"/>
              <a:t>Sexual harassment harms us all because it takes away from having a respectful, dignified, and comfortable work environment; </a:t>
            </a:r>
            <a:r>
              <a:rPr lang="en-US" altLang="fr-EG" i="1"/>
              <a:t>and</a:t>
            </a:r>
            <a:endParaRPr lang="en-US" altLang="fr-EG"/>
          </a:p>
          <a:p>
            <a:pPr lvl="1"/>
            <a:r>
              <a:rPr lang="en-US" altLang="fr-EG"/>
              <a:t>Finally, you have the power to help prevent sexual harassment.  Know the workplace’s policy, and do your part to confront sexual harassment, report incidents, and support victims.</a:t>
            </a:r>
          </a:p>
          <a:p>
            <a:r>
              <a:rPr lang="en-US" altLang="fr-EG"/>
              <a:t>This concludes this training session.</a:t>
            </a:r>
          </a:p>
          <a:p>
            <a:r>
              <a:rPr lang="en-US" altLang="fr-EG" i="1"/>
              <a:t>Give the quiz, if appropriate</a:t>
            </a:r>
            <a:r>
              <a:rPr lang="en-US" altLang="fr-EG"/>
              <a:t>.</a:t>
            </a:r>
          </a:p>
        </p:txBody>
      </p:sp>
    </p:spTree>
    <p:extLst>
      <p:ext uri="{BB962C8B-B14F-4D97-AF65-F5344CB8AC3E}">
        <p14:creationId xmlns:p14="http://schemas.microsoft.com/office/powerpoint/2010/main" val="27643911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499D2F9-865E-4D4D-8F98-C2888F3343AA}"/>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fr-EG"/>
          </a:p>
        </p:txBody>
      </p:sp>
      <p:sp>
        <p:nvSpPr>
          <p:cNvPr id="3" name="Sous-titre 2">
            <a:extLst>
              <a:ext uri="{FF2B5EF4-FFF2-40B4-BE49-F238E27FC236}">
                <a16:creationId xmlns:a16="http://schemas.microsoft.com/office/drawing/2014/main" id="{C7F1E5CE-1130-1940-9D96-F760EE8726F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fr-EG"/>
          </a:p>
        </p:txBody>
      </p:sp>
      <p:sp>
        <p:nvSpPr>
          <p:cNvPr id="4" name="Espace réservé de la date 3">
            <a:extLst>
              <a:ext uri="{FF2B5EF4-FFF2-40B4-BE49-F238E27FC236}">
                <a16:creationId xmlns:a16="http://schemas.microsoft.com/office/drawing/2014/main" id="{87F52004-DA5B-6947-8E3A-2916D586A91A}"/>
              </a:ext>
            </a:extLst>
          </p:cNvPr>
          <p:cNvSpPr>
            <a:spLocks noGrp="1"/>
          </p:cNvSpPr>
          <p:nvPr>
            <p:ph type="dt" sz="half" idx="10"/>
          </p:nvPr>
        </p:nvSpPr>
        <p:spPr/>
        <p:txBody>
          <a:bodyPr/>
          <a:lstStyle/>
          <a:p>
            <a:fld id="{91761FBD-AE4F-BC40-8ACF-FA330BC01A49}" type="datetimeFigureOut">
              <a:rPr lang="fr-EG" smtClean="0"/>
              <a:t>16/06/2020</a:t>
            </a:fld>
            <a:endParaRPr lang="fr-EG"/>
          </a:p>
        </p:txBody>
      </p:sp>
      <p:sp>
        <p:nvSpPr>
          <p:cNvPr id="5" name="Espace réservé du pied de page 4">
            <a:extLst>
              <a:ext uri="{FF2B5EF4-FFF2-40B4-BE49-F238E27FC236}">
                <a16:creationId xmlns:a16="http://schemas.microsoft.com/office/drawing/2014/main" id="{2A1E4251-7A94-3B4D-BA0C-3F97B08C6F94}"/>
              </a:ext>
            </a:extLst>
          </p:cNvPr>
          <p:cNvSpPr>
            <a:spLocks noGrp="1"/>
          </p:cNvSpPr>
          <p:nvPr>
            <p:ph type="ftr" sz="quarter" idx="11"/>
          </p:nvPr>
        </p:nvSpPr>
        <p:spPr/>
        <p:txBody>
          <a:bodyPr/>
          <a:lstStyle/>
          <a:p>
            <a:endParaRPr lang="fr-EG"/>
          </a:p>
        </p:txBody>
      </p:sp>
      <p:sp>
        <p:nvSpPr>
          <p:cNvPr id="6" name="Espace réservé du numéro de diapositive 5">
            <a:extLst>
              <a:ext uri="{FF2B5EF4-FFF2-40B4-BE49-F238E27FC236}">
                <a16:creationId xmlns:a16="http://schemas.microsoft.com/office/drawing/2014/main" id="{26513F76-DE29-6B4F-BF19-5BBDDC0262E1}"/>
              </a:ext>
            </a:extLst>
          </p:cNvPr>
          <p:cNvSpPr>
            <a:spLocks noGrp="1"/>
          </p:cNvSpPr>
          <p:nvPr>
            <p:ph type="sldNum" sz="quarter" idx="12"/>
          </p:nvPr>
        </p:nvSpPr>
        <p:spPr/>
        <p:txBody>
          <a:bodyPr/>
          <a:lstStyle/>
          <a:p>
            <a:fld id="{DD5D71DE-8DD5-FC4A-8B8D-4E87190B4F7D}" type="slidenum">
              <a:rPr lang="fr-EG" smtClean="0"/>
              <a:t>‹N°›</a:t>
            </a:fld>
            <a:endParaRPr lang="fr-EG"/>
          </a:p>
        </p:txBody>
      </p:sp>
    </p:spTree>
    <p:extLst>
      <p:ext uri="{BB962C8B-B14F-4D97-AF65-F5344CB8AC3E}">
        <p14:creationId xmlns:p14="http://schemas.microsoft.com/office/powerpoint/2010/main" val="12525058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39604C2-BC93-F344-AFAF-EB2A3F03388C}"/>
              </a:ext>
            </a:extLst>
          </p:cNvPr>
          <p:cNvSpPr>
            <a:spLocks noGrp="1"/>
          </p:cNvSpPr>
          <p:nvPr>
            <p:ph type="title"/>
          </p:nvPr>
        </p:nvSpPr>
        <p:spPr/>
        <p:txBody>
          <a:bodyPr/>
          <a:lstStyle/>
          <a:p>
            <a:r>
              <a:rPr lang="fr-FR"/>
              <a:t>Modifiez le style du titre</a:t>
            </a:r>
            <a:endParaRPr lang="fr-EG"/>
          </a:p>
        </p:txBody>
      </p:sp>
      <p:sp>
        <p:nvSpPr>
          <p:cNvPr id="3" name="Espace réservé du contenu 2">
            <a:extLst>
              <a:ext uri="{FF2B5EF4-FFF2-40B4-BE49-F238E27FC236}">
                <a16:creationId xmlns:a16="http://schemas.microsoft.com/office/drawing/2014/main" id="{C4310944-7F27-3F40-A617-968F0BE5F282}"/>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EG"/>
          </a:p>
        </p:txBody>
      </p:sp>
      <p:sp>
        <p:nvSpPr>
          <p:cNvPr id="4" name="Espace réservé de la date 3">
            <a:extLst>
              <a:ext uri="{FF2B5EF4-FFF2-40B4-BE49-F238E27FC236}">
                <a16:creationId xmlns:a16="http://schemas.microsoft.com/office/drawing/2014/main" id="{EAD38B24-AD51-1440-B84C-BC7CFFC1AD6F}"/>
              </a:ext>
            </a:extLst>
          </p:cNvPr>
          <p:cNvSpPr>
            <a:spLocks noGrp="1"/>
          </p:cNvSpPr>
          <p:nvPr>
            <p:ph type="dt" sz="half" idx="10"/>
          </p:nvPr>
        </p:nvSpPr>
        <p:spPr/>
        <p:txBody>
          <a:bodyPr/>
          <a:lstStyle/>
          <a:p>
            <a:fld id="{91761FBD-AE4F-BC40-8ACF-FA330BC01A49}" type="datetimeFigureOut">
              <a:rPr lang="fr-EG" smtClean="0"/>
              <a:t>16/06/2020</a:t>
            </a:fld>
            <a:endParaRPr lang="fr-EG"/>
          </a:p>
        </p:txBody>
      </p:sp>
      <p:sp>
        <p:nvSpPr>
          <p:cNvPr id="5" name="Espace réservé du pied de page 4">
            <a:extLst>
              <a:ext uri="{FF2B5EF4-FFF2-40B4-BE49-F238E27FC236}">
                <a16:creationId xmlns:a16="http://schemas.microsoft.com/office/drawing/2014/main" id="{C893C0FF-7BD9-0449-98ED-BDFC5DEE672F}"/>
              </a:ext>
            </a:extLst>
          </p:cNvPr>
          <p:cNvSpPr>
            <a:spLocks noGrp="1"/>
          </p:cNvSpPr>
          <p:nvPr>
            <p:ph type="ftr" sz="quarter" idx="11"/>
          </p:nvPr>
        </p:nvSpPr>
        <p:spPr/>
        <p:txBody>
          <a:bodyPr/>
          <a:lstStyle/>
          <a:p>
            <a:endParaRPr lang="fr-EG"/>
          </a:p>
        </p:txBody>
      </p:sp>
      <p:sp>
        <p:nvSpPr>
          <p:cNvPr id="6" name="Espace réservé du numéro de diapositive 5">
            <a:extLst>
              <a:ext uri="{FF2B5EF4-FFF2-40B4-BE49-F238E27FC236}">
                <a16:creationId xmlns:a16="http://schemas.microsoft.com/office/drawing/2014/main" id="{1EA0F071-C1FD-FA4A-97B4-9CBE6BAC938D}"/>
              </a:ext>
            </a:extLst>
          </p:cNvPr>
          <p:cNvSpPr>
            <a:spLocks noGrp="1"/>
          </p:cNvSpPr>
          <p:nvPr>
            <p:ph type="sldNum" sz="quarter" idx="12"/>
          </p:nvPr>
        </p:nvSpPr>
        <p:spPr/>
        <p:txBody>
          <a:bodyPr/>
          <a:lstStyle/>
          <a:p>
            <a:fld id="{DD5D71DE-8DD5-FC4A-8B8D-4E87190B4F7D}" type="slidenum">
              <a:rPr lang="fr-EG" smtClean="0"/>
              <a:t>‹N°›</a:t>
            </a:fld>
            <a:endParaRPr lang="fr-EG"/>
          </a:p>
        </p:txBody>
      </p:sp>
    </p:spTree>
    <p:extLst>
      <p:ext uri="{BB962C8B-B14F-4D97-AF65-F5344CB8AC3E}">
        <p14:creationId xmlns:p14="http://schemas.microsoft.com/office/powerpoint/2010/main" val="1124747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55CAB38-D9B3-3448-83C3-D62E6C150732}"/>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endParaRPr lang="fr-EG"/>
          </a:p>
        </p:txBody>
      </p:sp>
      <p:sp>
        <p:nvSpPr>
          <p:cNvPr id="3" name="Espace réservé du texte 2">
            <a:extLst>
              <a:ext uri="{FF2B5EF4-FFF2-40B4-BE49-F238E27FC236}">
                <a16:creationId xmlns:a16="http://schemas.microsoft.com/office/drawing/2014/main" id="{DC70E9CD-F910-C641-9F5E-2DFB62C6265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094ED0E9-A2EF-1749-A22F-95BD55B48D4D}"/>
              </a:ext>
            </a:extLst>
          </p:cNvPr>
          <p:cNvSpPr>
            <a:spLocks noGrp="1"/>
          </p:cNvSpPr>
          <p:nvPr>
            <p:ph type="dt" sz="half" idx="10"/>
          </p:nvPr>
        </p:nvSpPr>
        <p:spPr/>
        <p:txBody>
          <a:bodyPr/>
          <a:lstStyle/>
          <a:p>
            <a:fld id="{91761FBD-AE4F-BC40-8ACF-FA330BC01A49}" type="datetimeFigureOut">
              <a:rPr lang="fr-EG" smtClean="0"/>
              <a:t>16/06/2020</a:t>
            </a:fld>
            <a:endParaRPr lang="fr-EG"/>
          </a:p>
        </p:txBody>
      </p:sp>
      <p:sp>
        <p:nvSpPr>
          <p:cNvPr id="5" name="Espace réservé du pied de page 4">
            <a:extLst>
              <a:ext uri="{FF2B5EF4-FFF2-40B4-BE49-F238E27FC236}">
                <a16:creationId xmlns:a16="http://schemas.microsoft.com/office/drawing/2014/main" id="{F814F41E-1761-A14E-B795-B73C658497D7}"/>
              </a:ext>
            </a:extLst>
          </p:cNvPr>
          <p:cNvSpPr>
            <a:spLocks noGrp="1"/>
          </p:cNvSpPr>
          <p:nvPr>
            <p:ph type="ftr" sz="quarter" idx="11"/>
          </p:nvPr>
        </p:nvSpPr>
        <p:spPr/>
        <p:txBody>
          <a:bodyPr/>
          <a:lstStyle/>
          <a:p>
            <a:endParaRPr lang="fr-EG"/>
          </a:p>
        </p:txBody>
      </p:sp>
      <p:sp>
        <p:nvSpPr>
          <p:cNvPr id="6" name="Espace réservé du numéro de diapositive 5">
            <a:extLst>
              <a:ext uri="{FF2B5EF4-FFF2-40B4-BE49-F238E27FC236}">
                <a16:creationId xmlns:a16="http://schemas.microsoft.com/office/drawing/2014/main" id="{28E31D65-A8C3-8140-86A2-3ED128ED2176}"/>
              </a:ext>
            </a:extLst>
          </p:cNvPr>
          <p:cNvSpPr>
            <a:spLocks noGrp="1"/>
          </p:cNvSpPr>
          <p:nvPr>
            <p:ph type="sldNum" sz="quarter" idx="12"/>
          </p:nvPr>
        </p:nvSpPr>
        <p:spPr/>
        <p:txBody>
          <a:bodyPr/>
          <a:lstStyle/>
          <a:p>
            <a:fld id="{DD5D71DE-8DD5-FC4A-8B8D-4E87190B4F7D}" type="slidenum">
              <a:rPr lang="fr-EG" smtClean="0"/>
              <a:t>‹N°›</a:t>
            </a:fld>
            <a:endParaRPr lang="fr-EG"/>
          </a:p>
        </p:txBody>
      </p:sp>
    </p:spTree>
    <p:extLst>
      <p:ext uri="{BB962C8B-B14F-4D97-AF65-F5344CB8AC3E}">
        <p14:creationId xmlns:p14="http://schemas.microsoft.com/office/powerpoint/2010/main" val="11625444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F2172C6-FEBF-4D47-BB56-1CF44C869EDF}"/>
              </a:ext>
            </a:extLst>
          </p:cNvPr>
          <p:cNvSpPr>
            <a:spLocks noGrp="1"/>
          </p:cNvSpPr>
          <p:nvPr>
            <p:ph type="title"/>
          </p:nvPr>
        </p:nvSpPr>
        <p:spPr/>
        <p:txBody>
          <a:bodyPr/>
          <a:lstStyle/>
          <a:p>
            <a:r>
              <a:rPr lang="fr-FR"/>
              <a:t>Modifiez le style du titre</a:t>
            </a:r>
            <a:endParaRPr lang="fr-EG"/>
          </a:p>
        </p:txBody>
      </p:sp>
      <p:sp>
        <p:nvSpPr>
          <p:cNvPr id="3" name="Espace réservé du contenu 2">
            <a:extLst>
              <a:ext uri="{FF2B5EF4-FFF2-40B4-BE49-F238E27FC236}">
                <a16:creationId xmlns:a16="http://schemas.microsoft.com/office/drawing/2014/main" id="{3B11AD9B-CBD5-8249-B6BB-0E33F2502F1B}"/>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EG"/>
          </a:p>
        </p:txBody>
      </p:sp>
      <p:sp>
        <p:nvSpPr>
          <p:cNvPr id="4" name="Espace réservé du contenu 3">
            <a:extLst>
              <a:ext uri="{FF2B5EF4-FFF2-40B4-BE49-F238E27FC236}">
                <a16:creationId xmlns:a16="http://schemas.microsoft.com/office/drawing/2014/main" id="{26E73F79-2232-AB47-978C-5D54824576FB}"/>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EG"/>
          </a:p>
        </p:txBody>
      </p:sp>
      <p:sp>
        <p:nvSpPr>
          <p:cNvPr id="5" name="Espace réservé de la date 4">
            <a:extLst>
              <a:ext uri="{FF2B5EF4-FFF2-40B4-BE49-F238E27FC236}">
                <a16:creationId xmlns:a16="http://schemas.microsoft.com/office/drawing/2014/main" id="{EF0A244D-AAB3-C34F-8AC2-3E89E05DDA56}"/>
              </a:ext>
            </a:extLst>
          </p:cNvPr>
          <p:cNvSpPr>
            <a:spLocks noGrp="1"/>
          </p:cNvSpPr>
          <p:nvPr>
            <p:ph type="dt" sz="half" idx="10"/>
          </p:nvPr>
        </p:nvSpPr>
        <p:spPr/>
        <p:txBody>
          <a:bodyPr/>
          <a:lstStyle/>
          <a:p>
            <a:fld id="{91761FBD-AE4F-BC40-8ACF-FA330BC01A49}" type="datetimeFigureOut">
              <a:rPr lang="fr-EG" smtClean="0"/>
              <a:t>16/06/2020</a:t>
            </a:fld>
            <a:endParaRPr lang="fr-EG"/>
          </a:p>
        </p:txBody>
      </p:sp>
      <p:sp>
        <p:nvSpPr>
          <p:cNvPr id="6" name="Espace réservé du pied de page 5">
            <a:extLst>
              <a:ext uri="{FF2B5EF4-FFF2-40B4-BE49-F238E27FC236}">
                <a16:creationId xmlns:a16="http://schemas.microsoft.com/office/drawing/2014/main" id="{BFBC949D-C566-474C-AFAD-8D3D691EFFA4}"/>
              </a:ext>
            </a:extLst>
          </p:cNvPr>
          <p:cNvSpPr>
            <a:spLocks noGrp="1"/>
          </p:cNvSpPr>
          <p:nvPr>
            <p:ph type="ftr" sz="quarter" idx="11"/>
          </p:nvPr>
        </p:nvSpPr>
        <p:spPr/>
        <p:txBody>
          <a:bodyPr/>
          <a:lstStyle/>
          <a:p>
            <a:endParaRPr lang="fr-EG"/>
          </a:p>
        </p:txBody>
      </p:sp>
      <p:sp>
        <p:nvSpPr>
          <p:cNvPr id="7" name="Espace réservé du numéro de diapositive 6">
            <a:extLst>
              <a:ext uri="{FF2B5EF4-FFF2-40B4-BE49-F238E27FC236}">
                <a16:creationId xmlns:a16="http://schemas.microsoft.com/office/drawing/2014/main" id="{0AED9C50-614A-D941-A507-B2E0AD42733A}"/>
              </a:ext>
            </a:extLst>
          </p:cNvPr>
          <p:cNvSpPr>
            <a:spLocks noGrp="1"/>
          </p:cNvSpPr>
          <p:nvPr>
            <p:ph type="sldNum" sz="quarter" idx="12"/>
          </p:nvPr>
        </p:nvSpPr>
        <p:spPr/>
        <p:txBody>
          <a:bodyPr/>
          <a:lstStyle/>
          <a:p>
            <a:fld id="{DD5D71DE-8DD5-FC4A-8B8D-4E87190B4F7D}" type="slidenum">
              <a:rPr lang="fr-EG" smtClean="0"/>
              <a:t>‹N°›</a:t>
            </a:fld>
            <a:endParaRPr lang="fr-EG"/>
          </a:p>
        </p:txBody>
      </p:sp>
    </p:spTree>
    <p:extLst>
      <p:ext uri="{BB962C8B-B14F-4D97-AF65-F5344CB8AC3E}">
        <p14:creationId xmlns:p14="http://schemas.microsoft.com/office/powerpoint/2010/main" val="17283425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85E8EEA-0F1F-544A-BB5D-E0CDA5E9718E}"/>
              </a:ext>
            </a:extLst>
          </p:cNvPr>
          <p:cNvSpPr>
            <a:spLocks noGrp="1"/>
          </p:cNvSpPr>
          <p:nvPr>
            <p:ph type="title"/>
          </p:nvPr>
        </p:nvSpPr>
        <p:spPr>
          <a:xfrm>
            <a:off x="839788" y="365125"/>
            <a:ext cx="10515600" cy="1325563"/>
          </a:xfrm>
        </p:spPr>
        <p:txBody>
          <a:bodyPr/>
          <a:lstStyle/>
          <a:p>
            <a:r>
              <a:rPr lang="fr-FR"/>
              <a:t>Modifiez le style du titre</a:t>
            </a:r>
            <a:endParaRPr lang="fr-EG"/>
          </a:p>
        </p:txBody>
      </p:sp>
      <p:sp>
        <p:nvSpPr>
          <p:cNvPr id="3" name="Espace réservé du texte 2">
            <a:extLst>
              <a:ext uri="{FF2B5EF4-FFF2-40B4-BE49-F238E27FC236}">
                <a16:creationId xmlns:a16="http://schemas.microsoft.com/office/drawing/2014/main" id="{05D584C5-4C8D-5645-B19F-3B7EB397AED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A825D2E7-69B4-0245-8FDF-5EC59E8D6FC4}"/>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EG"/>
          </a:p>
        </p:txBody>
      </p:sp>
      <p:sp>
        <p:nvSpPr>
          <p:cNvPr id="5" name="Espace réservé du texte 4">
            <a:extLst>
              <a:ext uri="{FF2B5EF4-FFF2-40B4-BE49-F238E27FC236}">
                <a16:creationId xmlns:a16="http://schemas.microsoft.com/office/drawing/2014/main" id="{355AF093-641F-944C-9583-E1995AABBA0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5869F6CB-CE6F-3842-8E7B-A4414B333979}"/>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EG"/>
          </a:p>
        </p:txBody>
      </p:sp>
      <p:sp>
        <p:nvSpPr>
          <p:cNvPr id="7" name="Espace réservé de la date 6">
            <a:extLst>
              <a:ext uri="{FF2B5EF4-FFF2-40B4-BE49-F238E27FC236}">
                <a16:creationId xmlns:a16="http://schemas.microsoft.com/office/drawing/2014/main" id="{9E79A0F6-812A-7C4C-BC33-ED04C0B25FC5}"/>
              </a:ext>
            </a:extLst>
          </p:cNvPr>
          <p:cNvSpPr>
            <a:spLocks noGrp="1"/>
          </p:cNvSpPr>
          <p:nvPr>
            <p:ph type="dt" sz="half" idx="10"/>
          </p:nvPr>
        </p:nvSpPr>
        <p:spPr/>
        <p:txBody>
          <a:bodyPr/>
          <a:lstStyle/>
          <a:p>
            <a:fld id="{91761FBD-AE4F-BC40-8ACF-FA330BC01A49}" type="datetimeFigureOut">
              <a:rPr lang="fr-EG" smtClean="0"/>
              <a:t>16/06/2020</a:t>
            </a:fld>
            <a:endParaRPr lang="fr-EG"/>
          </a:p>
        </p:txBody>
      </p:sp>
      <p:sp>
        <p:nvSpPr>
          <p:cNvPr id="8" name="Espace réservé du pied de page 7">
            <a:extLst>
              <a:ext uri="{FF2B5EF4-FFF2-40B4-BE49-F238E27FC236}">
                <a16:creationId xmlns:a16="http://schemas.microsoft.com/office/drawing/2014/main" id="{86B04286-FCAE-9143-AFE3-AFB2A54774F9}"/>
              </a:ext>
            </a:extLst>
          </p:cNvPr>
          <p:cNvSpPr>
            <a:spLocks noGrp="1"/>
          </p:cNvSpPr>
          <p:nvPr>
            <p:ph type="ftr" sz="quarter" idx="11"/>
          </p:nvPr>
        </p:nvSpPr>
        <p:spPr/>
        <p:txBody>
          <a:bodyPr/>
          <a:lstStyle/>
          <a:p>
            <a:endParaRPr lang="fr-EG"/>
          </a:p>
        </p:txBody>
      </p:sp>
      <p:sp>
        <p:nvSpPr>
          <p:cNvPr id="9" name="Espace réservé du numéro de diapositive 8">
            <a:extLst>
              <a:ext uri="{FF2B5EF4-FFF2-40B4-BE49-F238E27FC236}">
                <a16:creationId xmlns:a16="http://schemas.microsoft.com/office/drawing/2014/main" id="{B530103C-6046-4E40-8F09-17465DD4B2A4}"/>
              </a:ext>
            </a:extLst>
          </p:cNvPr>
          <p:cNvSpPr>
            <a:spLocks noGrp="1"/>
          </p:cNvSpPr>
          <p:nvPr>
            <p:ph type="sldNum" sz="quarter" idx="12"/>
          </p:nvPr>
        </p:nvSpPr>
        <p:spPr/>
        <p:txBody>
          <a:bodyPr/>
          <a:lstStyle/>
          <a:p>
            <a:fld id="{DD5D71DE-8DD5-FC4A-8B8D-4E87190B4F7D}" type="slidenum">
              <a:rPr lang="fr-EG" smtClean="0"/>
              <a:t>‹N°›</a:t>
            </a:fld>
            <a:endParaRPr lang="fr-EG"/>
          </a:p>
        </p:txBody>
      </p:sp>
    </p:spTree>
    <p:extLst>
      <p:ext uri="{BB962C8B-B14F-4D97-AF65-F5344CB8AC3E}">
        <p14:creationId xmlns:p14="http://schemas.microsoft.com/office/powerpoint/2010/main" val="3026196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6834242-2549-F742-BA25-428AF4AB096B}"/>
              </a:ext>
            </a:extLst>
          </p:cNvPr>
          <p:cNvSpPr>
            <a:spLocks noGrp="1"/>
          </p:cNvSpPr>
          <p:nvPr>
            <p:ph type="title"/>
          </p:nvPr>
        </p:nvSpPr>
        <p:spPr/>
        <p:txBody>
          <a:bodyPr/>
          <a:lstStyle/>
          <a:p>
            <a:r>
              <a:rPr lang="fr-FR"/>
              <a:t>Modifiez le style du titre</a:t>
            </a:r>
            <a:endParaRPr lang="fr-EG"/>
          </a:p>
        </p:txBody>
      </p:sp>
      <p:sp>
        <p:nvSpPr>
          <p:cNvPr id="3" name="Espace réservé de la date 2">
            <a:extLst>
              <a:ext uri="{FF2B5EF4-FFF2-40B4-BE49-F238E27FC236}">
                <a16:creationId xmlns:a16="http://schemas.microsoft.com/office/drawing/2014/main" id="{BBBA36D5-D7B4-2B45-BE6F-D7C211B3EF6C}"/>
              </a:ext>
            </a:extLst>
          </p:cNvPr>
          <p:cNvSpPr>
            <a:spLocks noGrp="1"/>
          </p:cNvSpPr>
          <p:nvPr>
            <p:ph type="dt" sz="half" idx="10"/>
          </p:nvPr>
        </p:nvSpPr>
        <p:spPr/>
        <p:txBody>
          <a:bodyPr/>
          <a:lstStyle/>
          <a:p>
            <a:fld id="{91761FBD-AE4F-BC40-8ACF-FA330BC01A49}" type="datetimeFigureOut">
              <a:rPr lang="fr-EG" smtClean="0"/>
              <a:t>16/06/2020</a:t>
            </a:fld>
            <a:endParaRPr lang="fr-EG"/>
          </a:p>
        </p:txBody>
      </p:sp>
      <p:sp>
        <p:nvSpPr>
          <p:cNvPr id="4" name="Espace réservé du pied de page 3">
            <a:extLst>
              <a:ext uri="{FF2B5EF4-FFF2-40B4-BE49-F238E27FC236}">
                <a16:creationId xmlns:a16="http://schemas.microsoft.com/office/drawing/2014/main" id="{88FD7A2A-2D51-3E4D-9247-088A741EB438}"/>
              </a:ext>
            </a:extLst>
          </p:cNvPr>
          <p:cNvSpPr>
            <a:spLocks noGrp="1"/>
          </p:cNvSpPr>
          <p:nvPr>
            <p:ph type="ftr" sz="quarter" idx="11"/>
          </p:nvPr>
        </p:nvSpPr>
        <p:spPr/>
        <p:txBody>
          <a:bodyPr/>
          <a:lstStyle/>
          <a:p>
            <a:endParaRPr lang="fr-EG"/>
          </a:p>
        </p:txBody>
      </p:sp>
      <p:sp>
        <p:nvSpPr>
          <p:cNvPr id="5" name="Espace réservé du numéro de diapositive 4">
            <a:extLst>
              <a:ext uri="{FF2B5EF4-FFF2-40B4-BE49-F238E27FC236}">
                <a16:creationId xmlns:a16="http://schemas.microsoft.com/office/drawing/2014/main" id="{E7D6F7DC-2269-7D4F-8DC7-6E7DC9DC5F8C}"/>
              </a:ext>
            </a:extLst>
          </p:cNvPr>
          <p:cNvSpPr>
            <a:spLocks noGrp="1"/>
          </p:cNvSpPr>
          <p:nvPr>
            <p:ph type="sldNum" sz="quarter" idx="12"/>
          </p:nvPr>
        </p:nvSpPr>
        <p:spPr/>
        <p:txBody>
          <a:bodyPr/>
          <a:lstStyle/>
          <a:p>
            <a:fld id="{DD5D71DE-8DD5-FC4A-8B8D-4E87190B4F7D}" type="slidenum">
              <a:rPr lang="fr-EG" smtClean="0"/>
              <a:t>‹N°›</a:t>
            </a:fld>
            <a:endParaRPr lang="fr-EG"/>
          </a:p>
        </p:txBody>
      </p:sp>
    </p:spTree>
    <p:extLst>
      <p:ext uri="{BB962C8B-B14F-4D97-AF65-F5344CB8AC3E}">
        <p14:creationId xmlns:p14="http://schemas.microsoft.com/office/powerpoint/2010/main" val="13050588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4DB9F308-F8FA-7E49-B036-E1046D21DE84}"/>
              </a:ext>
            </a:extLst>
          </p:cNvPr>
          <p:cNvSpPr>
            <a:spLocks noGrp="1"/>
          </p:cNvSpPr>
          <p:nvPr>
            <p:ph type="dt" sz="half" idx="10"/>
          </p:nvPr>
        </p:nvSpPr>
        <p:spPr/>
        <p:txBody>
          <a:bodyPr/>
          <a:lstStyle/>
          <a:p>
            <a:fld id="{91761FBD-AE4F-BC40-8ACF-FA330BC01A49}" type="datetimeFigureOut">
              <a:rPr lang="fr-EG" smtClean="0"/>
              <a:t>16/06/2020</a:t>
            </a:fld>
            <a:endParaRPr lang="fr-EG"/>
          </a:p>
        </p:txBody>
      </p:sp>
      <p:sp>
        <p:nvSpPr>
          <p:cNvPr id="3" name="Espace réservé du pied de page 2">
            <a:extLst>
              <a:ext uri="{FF2B5EF4-FFF2-40B4-BE49-F238E27FC236}">
                <a16:creationId xmlns:a16="http://schemas.microsoft.com/office/drawing/2014/main" id="{87DA3C8F-55BF-4E40-9292-EC2AB67660D6}"/>
              </a:ext>
            </a:extLst>
          </p:cNvPr>
          <p:cNvSpPr>
            <a:spLocks noGrp="1"/>
          </p:cNvSpPr>
          <p:nvPr>
            <p:ph type="ftr" sz="quarter" idx="11"/>
          </p:nvPr>
        </p:nvSpPr>
        <p:spPr/>
        <p:txBody>
          <a:bodyPr/>
          <a:lstStyle/>
          <a:p>
            <a:endParaRPr lang="fr-EG"/>
          </a:p>
        </p:txBody>
      </p:sp>
      <p:sp>
        <p:nvSpPr>
          <p:cNvPr id="4" name="Espace réservé du numéro de diapositive 3">
            <a:extLst>
              <a:ext uri="{FF2B5EF4-FFF2-40B4-BE49-F238E27FC236}">
                <a16:creationId xmlns:a16="http://schemas.microsoft.com/office/drawing/2014/main" id="{EB2E7B6C-AF29-894E-BBDE-F8800E2353D4}"/>
              </a:ext>
            </a:extLst>
          </p:cNvPr>
          <p:cNvSpPr>
            <a:spLocks noGrp="1"/>
          </p:cNvSpPr>
          <p:nvPr>
            <p:ph type="sldNum" sz="quarter" idx="12"/>
          </p:nvPr>
        </p:nvSpPr>
        <p:spPr/>
        <p:txBody>
          <a:bodyPr/>
          <a:lstStyle/>
          <a:p>
            <a:fld id="{DD5D71DE-8DD5-FC4A-8B8D-4E87190B4F7D}" type="slidenum">
              <a:rPr lang="fr-EG" smtClean="0"/>
              <a:t>‹N°›</a:t>
            </a:fld>
            <a:endParaRPr lang="fr-EG"/>
          </a:p>
        </p:txBody>
      </p:sp>
    </p:spTree>
    <p:extLst>
      <p:ext uri="{BB962C8B-B14F-4D97-AF65-F5344CB8AC3E}">
        <p14:creationId xmlns:p14="http://schemas.microsoft.com/office/powerpoint/2010/main" val="33085694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86F6163-3B7C-0844-92E3-D256766A15CD}"/>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fr-EG"/>
          </a:p>
        </p:txBody>
      </p:sp>
      <p:sp>
        <p:nvSpPr>
          <p:cNvPr id="3" name="Espace réservé du contenu 2">
            <a:extLst>
              <a:ext uri="{FF2B5EF4-FFF2-40B4-BE49-F238E27FC236}">
                <a16:creationId xmlns:a16="http://schemas.microsoft.com/office/drawing/2014/main" id="{16F6FF30-E39A-EA46-8285-3A05B133C0F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EG"/>
          </a:p>
        </p:txBody>
      </p:sp>
      <p:sp>
        <p:nvSpPr>
          <p:cNvPr id="4" name="Espace réservé du texte 3">
            <a:extLst>
              <a:ext uri="{FF2B5EF4-FFF2-40B4-BE49-F238E27FC236}">
                <a16:creationId xmlns:a16="http://schemas.microsoft.com/office/drawing/2014/main" id="{FDCA457B-BC32-B84B-A744-CEA3A5F6623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39345769-2C04-404F-A20A-CD3DE04E5950}"/>
              </a:ext>
            </a:extLst>
          </p:cNvPr>
          <p:cNvSpPr>
            <a:spLocks noGrp="1"/>
          </p:cNvSpPr>
          <p:nvPr>
            <p:ph type="dt" sz="half" idx="10"/>
          </p:nvPr>
        </p:nvSpPr>
        <p:spPr/>
        <p:txBody>
          <a:bodyPr/>
          <a:lstStyle/>
          <a:p>
            <a:fld id="{91761FBD-AE4F-BC40-8ACF-FA330BC01A49}" type="datetimeFigureOut">
              <a:rPr lang="fr-EG" smtClean="0"/>
              <a:t>16/06/2020</a:t>
            </a:fld>
            <a:endParaRPr lang="fr-EG"/>
          </a:p>
        </p:txBody>
      </p:sp>
      <p:sp>
        <p:nvSpPr>
          <p:cNvPr id="6" name="Espace réservé du pied de page 5">
            <a:extLst>
              <a:ext uri="{FF2B5EF4-FFF2-40B4-BE49-F238E27FC236}">
                <a16:creationId xmlns:a16="http://schemas.microsoft.com/office/drawing/2014/main" id="{D60A208E-4F0E-DB4D-B87F-BE2518A23AA9}"/>
              </a:ext>
            </a:extLst>
          </p:cNvPr>
          <p:cNvSpPr>
            <a:spLocks noGrp="1"/>
          </p:cNvSpPr>
          <p:nvPr>
            <p:ph type="ftr" sz="quarter" idx="11"/>
          </p:nvPr>
        </p:nvSpPr>
        <p:spPr/>
        <p:txBody>
          <a:bodyPr/>
          <a:lstStyle/>
          <a:p>
            <a:endParaRPr lang="fr-EG"/>
          </a:p>
        </p:txBody>
      </p:sp>
      <p:sp>
        <p:nvSpPr>
          <p:cNvPr id="7" name="Espace réservé du numéro de diapositive 6">
            <a:extLst>
              <a:ext uri="{FF2B5EF4-FFF2-40B4-BE49-F238E27FC236}">
                <a16:creationId xmlns:a16="http://schemas.microsoft.com/office/drawing/2014/main" id="{A618881A-A04A-FC4C-A1A4-53EAA15A788F}"/>
              </a:ext>
            </a:extLst>
          </p:cNvPr>
          <p:cNvSpPr>
            <a:spLocks noGrp="1"/>
          </p:cNvSpPr>
          <p:nvPr>
            <p:ph type="sldNum" sz="quarter" idx="12"/>
          </p:nvPr>
        </p:nvSpPr>
        <p:spPr/>
        <p:txBody>
          <a:bodyPr/>
          <a:lstStyle/>
          <a:p>
            <a:fld id="{DD5D71DE-8DD5-FC4A-8B8D-4E87190B4F7D}" type="slidenum">
              <a:rPr lang="fr-EG" smtClean="0"/>
              <a:t>‹N°›</a:t>
            </a:fld>
            <a:endParaRPr lang="fr-EG"/>
          </a:p>
        </p:txBody>
      </p:sp>
    </p:spTree>
    <p:extLst>
      <p:ext uri="{BB962C8B-B14F-4D97-AF65-F5344CB8AC3E}">
        <p14:creationId xmlns:p14="http://schemas.microsoft.com/office/powerpoint/2010/main" val="14070010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76A9127-7397-3F44-8003-2A089386ED22}"/>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fr-EG"/>
          </a:p>
        </p:txBody>
      </p:sp>
      <p:sp>
        <p:nvSpPr>
          <p:cNvPr id="3" name="Espace réservé pour une image  2">
            <a:extLst>
              <a:ext uri="{FF2B5EF4-FFF2-40B4-BE49-F238E27FC236}">
                <a16:creationId xmlns:a16="http://schemas.microsoft.com/office/drawing/2014/main" id="{E1572922-77A0-6447-9CC8-3545000383D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EG"/>
          </a:p>
        </p:txBody>
      </p:sp>
      <p:sp>
        <p:nvSpPr>
          <p:cNvPr id="4" name="Espace réservé du texte 3">
            <a:extLst>
              <a:ext uri="{FF2B5EF4-FFF2-40B4-BE49-F238E27FC236}">
                <a16:creationId xmlns:a16="http://schemas.microsoft.com/office/drawing/2014/main" id="{8D54803D-1DC9-F346-ADEF-F307D78F0D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26171C61-F92A-2947-862A-B52BEC93A7CA}"/>
              </a:ext>
            </a:extLst>
          </p:cNvPr>
          <p:cNvSpPr>
            <a:spLocks noGrp="1"/>
          </p:cNvSpPr>
          <p:nvPr>
            <p:ph type="dt" sz="half" idx="10"/>
          </p:nvPr>
        </p:nvSpPr>
        <p:spPr/>
        <p:txBody>
          <a:bodyPr/>
          <a:lstStyle/>
          <a:p>
            <a:fld id="{91761FBD-AE4F-BC40-8ACF-FA330BC01A49}" type="datetimeFigureOut">
              <a:rPr lang="fr-EG" smtClean="0"/>
              <a:t>16/06/2020</a:t>
            </a:fld>
            <a:endParaRPr lang="fr-EG"/>
          </a:p>
        </p:txBody>
      </p:sp>
      <p:sp>
        <p:nvSpPr>
          <p:cNvPr id="6" name="Espace réservé du pied de page 5">
            <a:extLst>
              <a:ext uri="{FF2B5EF4-FFF2-40B4-BE49-F238E27FC236}">
                <a16:creationId xmlns:a16="http://schemas.microsoft.com/office/drawing/2014/main" id="{6F95B765-30EC-3B49-801C-72619ABEABB2}"/>
              </a:ext>
            </a:extLst>
          </p:cNvPr>
          <p:cNvSpPr>
            <a:spLocks noGrp="1"/>
          </p:cNvSpPr>
          <p:nvPr>
            <p:ph type="ftr" sz="quarter" idx="11"/>
          </p:nvPr>
        </p:nvSpPr>
        <p:spPr/>
        <p:txBody>
          <a:bodyPr/>
          <a:lstStyle/>
          <a:p>
            <a:endParaRPr lang="fr-EG"/>
          </a:p>
        </p:txBody>
      </p:sp>
      <p:sp>
        <p:nvSpPr>
          <p:cNvPr id="7" name="Espace réservé du numéro de diapositive 6">
            <a:extLst>
              <a:ext uri="{FF2B5EF4-FFF2-40B4-BE49-F238E27FC236}">
                <a16:creationId xmlns:a16="http://schemas.microsoft.com/office/drawing/2014/main" id="{5C954FD6-1AA0-BA44-B803-812D193254C7}"/>
              </a:ext>
            </a:extLst>
          </p:cNvPr>
          <p:cNvSpPr>
            <a:spLocks noGrp="1"/>
          </p:cNvSpPr>
          <p:nvPr>
            <p:ph type="sldNum" sz="quarter" idx="12"/>
          </p:nvPr>
        </p:nvSpPr>
        <p:spPr/>
        <p:txBody>
          <a:bodyPr/>
          <a:lstStyle/>
          <a:p>
            <a:fld id="{DD5D71DE-8DD5-FC4A-8B8D-4E87190B4F7D}" type="slidenum">
              <a:rPr lang="fr-EG" smtClean="0"/>
              <a:t>‹N°›</a:t>
            </a:fld>
            <a:endParaRPr lang="fr-EG"/>
          </a:p>
        </p:txBody>
      </p:sp>
    </p:spTree>
    <p:extLst>
      <p:ext uri="{BB962C8B-B14F-4D97-AF65-F5344CB8AC3E}">
        <p14:creationId xmlns:p14="http://schemas.microsoft.com/office/powerpoint/2010/main" val="7231073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B505511-440A-5B4B-9740-E6D400E87357}"/>
              </a:ext>
            </a:extLst>
          </p:cNvPr>
          <p:cNvSpPr>
            <a:spLocks noGrp="1"/>
          </p:cNvSpPr>
          <p:nvPr>
            <p:ph type="title"/>
          </p:nvPr>
        </p:nvSpPr>
        <p:spPr/>
        <p:txBody>
          <a:bodyPr/>
          <a:lstStyle/>
          <a:p>
            <a:r>
              <a:rPr lang="fr-FR"/>
              <a:t>Modifiez le style du titre</a:t>
            </a:r>
            <a:endParaRPr lang="fr-EG"/>
          </a:p>
        </p:txBody>
      </p:sp>
      <p:sp>
        <p:nvSpPr>
          <p:cNvPr id="3" name="Espace réservé du texte vertical 2">
            <a:extLst>
              <a:ext uri="{FF2B5EF4-FFF2-40B4-BE49-F238E27FC236}">
                <a16:creationId xmlns:a16="http://schemas.microsoft.com/office/drawing/2014/main" id="{8FC7CB0C-B985-1C48-B665-B7567515EF29}"/>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EG"/>
          </a:p>
        </p:txBody>
      </p:sp>
      <p:sp>
        <p:nvSpPr>
          <p:cNvPr id="4" name="Espace réservé de la date 3">
            <a:extLst>
              <a:ext uri="{FF2B5EF4-FFF2-40B4-BE49-F238E27FC236}">
                <a16:creationId xmlns:a16="http://schemas.microsoft.com/office/drawing/2014/main" id="{7923A0E5-196A-B041-A0D9-CB6BEC304168}"/>
              </a:ext>
            </a:extLst>
          </p:cNvPr>
          <p:cNvSpPr>
            <a:spLocks noGrp="1"/>
          </p:cNvSpPr>
          <p:nvPr>
            <p:ph type="dt" sz="half" idx="10"/>
          </p:nvPr>
        </p:nvSpPr>
        <p:spPr/>
        <p:txBody>
          <a:bodyPr/>
          <a:lstStyle/>
          <a:p>
            <a:fld id="{91761FBD-AE4F-BC40-8ACF-FA330BC01A49}" type="datetimeFigureOut">
              <a:rPr lang="fr-EG" smtClean="0"/>
              <a:t>16/06/2020</a:t>
            </a:fld>
            <a:endParaRPr lang="fr-EG"/>
          </a:p>
        </p:txBody>
      </p:sp>
      <p:sp>
        <p:nvSpPr>
          <p:cNvPr id="5" name="Espace réservé du pied de page 4">
            <a:extLst>
              <a:ext uri="{FF2B5EF4-FFF2-40B4-BE49-F238E27FC236}">
                <a16:creationId xmlns:a16="http://schemas.microsoft.com/office/drawing/2014/main" id="{ADAFFFE8-7CB6-6848-846A-019C9555D10A}"/>
              </a:ext>
            </a:extLst>
          </p:cNvPr>
          <p:cNvSpPr>
            <a:spLocks noGrp="1"/>
          </p:cNvSpPr>
          <p:nvPr>
            <p:ph type="ftr" sz="quarter" idx="11"/>
          </p:nvPr>
        </p:nvSpPr>
        <p:spPr/>
        <p:txBody>
          <a:bodyPr/>
          <a:lstStyle/>
          <a:p>
            <a:endParaRPr lang="fr-EG"/>
          </a:p>
        </p:txBody>
      </p:sp>
      <p:sp>
        <p:nvSpPr>
          <p:cNvPr id="6" name="Espace réservé du numéro de diapositive 5">
            <a:extLst>
              <a:ext uri="{FF2B5EF4-FFF2-40B4-BE49-F238E27FC236}">
                <a16:creationId xmlns:a16="http://schemas.microsoft.com/office/drawing/2014/main" id="{00608EA8-C239-FE47-9C99-56BCCE7A0874}"/>
              </a:ext>
            </a:extLst>
          </p:cNvPr>
          <p:cNvSpPr>
            <a:spLocks noGrp="1"/>
          </p:cNvSpPr>
          <p:nvPr>
            <p:ph type="sldNum" sz="quarter" idx="12"/>
          </p:nvPr>
        </p:nvSpPr>
        <p:spPr/>
        <p:txBody>
          <a:bodyPr/>
          <a:lstStyle/>
          <a:p>
            <a:fld id="{DD5D71DE-8DD5-FC4A-8B8D-4E87190B4F7D}" type="slidenum">
              <a:rPr lang="fr-EG" smtClean="0"/>
              <a:t>‹N°›</a:t>
            </a:fld>
            <a:endParaRPr lang="fr-EG"/>
          </a:p>
        </p:txBody>
      </p:sp>
    </p:spTree>
    <p:extLst>
      <p:ext uri="{BB962C8B-B14F-4D97-AF65-F5344CB8AC3E}">
        <p14:creationId xmlns:p14="http://schemas.microsoft.com/office/powerpoint/2010/main" val="35584710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C41473C5-7F24-4A48-8964-3C6418188D45}"/>
              </a:ext>
            </a:extLst>
          </p:cNvPr>
          <p:cNvSpPr>
            <a:spLocks noGrp="1"/>
          </p:cNvSpPr>
          <p:nvPr>
            <p:ph type="title" orient="vert"/>
          </p:nvPr>
        </p:nvSpPr>
        <p:spPr>
          <a:xfrm>
            <a:off x="8724900" y="365125"/>
            <a:ext cx="2628900" cy="5811838"/>
          </a:xfrm>
        </p:spPr>
        <p:txBody>
          <a:bodyPr vert="eaVert"/>
          <a:lstStyle/>
          <a:p>
            <a:r>
              <a:rPr lang="fr-FR"/>
              <a:t>Modifiez le style du titre</a:t>
            </a:r>
            <a:endParaRPr lang="fr-EG"/>
          </a:p>
        </p:txBody>
      </p:sp>
      <p:sp>
        <p:nvSpPr>
          <p:cNvPr id="3" name="Espace réservé du texte vertical 2">
            <a:extLst>
              <a:ext uri="{FF2B5EF4-FFF2-40B4-BE49-F238E27FC236}">
                <a16:creationId xmlns:a16="http://schemas.microsoft.com/office/drawing/2014/main" id="{9A57773A-2964-3540-8114-F4FB30994180}"/>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EG"/>
          </a:p>
        </p:txBody>
      </p:sp>
      <p:sp>
        <p:nvSpPr>
          <p:cNvPr id="4" name="Espace réservé de la date 3">
            <a:extLst>
              <a:ext uri="{FF2B5EF4-FFF2-40B4-BE49-F238E27FC236}">
                <a16:creationId xmlns:a16="http://schemas.microsoft.com/office/drawing/2014/main" id="{7C365EFD-2214-2E4D-A8F7-3642B19EB351}"/>
              </a:ext>
            </a:extLst>
          </p:cNvPr>
          <p:cNvSpPr>
            <a:spLocks noGrp="1"/>
          </p:cNvSpPr>
          <p:nvPr>
            <p:ph type="dt" sz="half" idx="10"/>
          </p:nvPr>
        </p:nvSpPr>
        <p:spPr/>
        <p:txBody>
          <a:bodyPr/>
          <a:lstStyle/>
          <a:p>
            <a:fld id="{91761FBD-AE4F-BC40-8ACF-FA330BC01A49}" type="datetimeFigureOut">
              <a:rPr lang="fr-EG" smtClean="0"/>
              <a:t>16/06/2020</a:t>
            </a:fld>
            <a:endParaRPr lang="fr-EG"/>
          </a:p>
        </p:txBody>
      </p:sp>
      <p:sp>
        <p:nvSpPr>
          <p:cNvPr id="5" name="Espace réservé du pied de page 4">
            <a:extLst>
              <a:ext uri="{FF2B5EF4-FFF2-40B4-BE49-F238E27FC236}">
                <a16:creationId xmlns:a16="http://schemas.microsoft.com/office/drawing/2014/main" id="{B1BBDDF9-3CF3-9348-944D-BB0ACD29FD3D}"/>
              </a:ext>
            </a:extLst>
          </p:cNvPr>
          <p:cNvSpPr>
            <a:spLocks noGrp="1"/>
          </p:cNvSpPr>
          <p:nvPr>
            <p:ph type="ftr" sz="quarter" idx="11"/>
          </p:nvPr>
        </p:nvSpPr>
        <p:spPr/>
        <p:txBody>
          <a:bodyPr/>
          <a:lstStyle/>
          <a:p>
            <a:endParaRPr lang="fr-EG"/>
          </a:p>
        </p:txBody>
      </p:sp>
      <p:sp>
        <p:nvSpPr>
          <p:cNvPr id="6" name="Espace réservé du numéro de diapositive 5">
            <a:extLst>
              <a:ext uri="{FF2B5EF4-FFF2-40B4-BE49-F238E27FC236}">
                <a16:creationId xmlns:a16="http://schemas.microsoft.com/office/drawing/2014/main" id="{FA6FEB1C-6EDD-064E-9A27-E19E90580373}"/>
              </a:ext>
            </a:extLst>
          </p:cNvPr>
          <p:cNvSpPr>
            <a:spLocks noGrp="1"/>
          </p:cNvSpPr>
          <p:nvPr>
            <p:ph type="sldNum" sz="quarter" idx="12"/>
          </p:nvPr>
        </p:nvSpPr>
        <p:spPr/>
        <p:txBody>
          <a:bodyPr/>
          <a:lstStyle/>
          <a:p>
            <a:fld id="{DD5D71DE-8DD5-FC4A-8B8D-4E87190B4F7D}" type="slidenum">
              <a:rPr lang="fr-EG" smtClean="0"/>
              <a:t>‹N°›</a:t>
            </a:fld>
            <a:endParaRPr lang="fr-EG"/>
          </a:p>
        </p:txBody>
      </p:sp>
    </p:spTree>
    <p:extLst>
      <p:ext uri="{BB962C8B-B14F-4D97-AF65-F5344CB8AC3E}">
        <p14:creationId xmlns:p14="http://schemas.microsoft.com/office/powerpoint/2010/main" val="373618926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AD4C2670-1C4E-E246-BAC9-F0B5989DBF4E}"/>
              </a:ext>
            </a:extLst>
          </p:cNvPr>
          <p:cNvSpPr txBox="1">
            <a:spLocks/>
          </p:cNvSpPr>
          <p:nvPr userDrawn="1"/>
        </p:nvSpPr>
        <p:spPr bwMode="auto">
          <a:xfrm>
            <a:off x="0" y="6629400"/>
            <a:ext cx="3454400" cy="228600"/>
          </a:xfrm>
          <a:prstGeom prst="rect">
            <a:avLst/>
          </a:prstGeom>
          <a:noFill/>
          <a:ln>
            <a:noFill/>
          </a:ln>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fontAlgn="auto" hangingPunct="1">
              <a:spcBef>
                <a:spcPts val="0"/>
              </a:spcBef>
              <a:spcAft>
                <a:spcPts val="0"/>
              </a:spcAft>
              <a:defRPr/>
            </a:pPr>
            <a:endParaRPr lang="en-US" sz="1000">
              <a:latin typeface="Garamond" pitchFamily="18" charset="0"/>
            </a:endParaRPr>
          </a:p>
          <a:p>
            <a:pPr eaLnBrk="1" fontAlgn="auto" hangingPunct="1">
              <a:spcBef>
                <a:spcPts val="0"/>
              </a:spcBef>
              <a:spcAft>
                <a:spcPts val="0"/>
              </a:spcAft>
              <a:defRPr/>
            </a:pPr>
            <a:endParaRPr lang="en-US" sz="1000">
              <a:latin typeface="Garamond" pitchFamily="18" charset="0"/>
            </a:endParaRP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0285B1FE-4613-3346-9BC5-1623089C910B}"/>
              </a:ext>
            </a:extLst>
          </p:cNvPr>
          <p:cNvSpPr>
            <a:spLocks noGrp="1"/>
          </p:cNvSpPr>
          <p:nvPr>
            <p:ph type="ftr" sz="quarter" idx="10"/>
          </p:nvPr>
        </p:nvSpPr>
        <p:spPr>
          <a:xfrm flipV="1">
            <a:off x="0" y="6858000"/>
            <a:ext cx="3454400" cy="46038"/>
          </a:xfrm>
        </p:spPr>
        <p:txBody>
          <a:bodyPr/>
          <a:lstStyle>
            <a:lvl1pPr>
              <a:defRPr/>
            </a:lvl1pPr>
          </a:lstStyle>
          <a:p>
            <a:pPr>
              <a:defRPr/>
            </a:pPr>
            <a:endParaRPr lang="en-US"/>
          </a:p>
        </p:txBody>
      </p:sp>
    </p:spTree>
    <p:extLst>
      <p:ext uri="{BB962C8B-B14F-4D97-AF65-F5344CB8AC3E}">
        <p14:creationId xmlns:p14="http://schemas.microsoft.com/office/powerpoint/2010/main" val="102734347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422400" y="762000"/>
            <a:ext cx="10058400" cy="1143000"/>
          </a:xfrm>
        </p:spPr>
        <p:txBody>
          <a:bodyPr/>
          <a:lstStyle/>
          <a:p>
            <a:r>
              <a:rPr lang="en-US"/>
              <a:t>Click to edit Master title style</a:t>
            </a:r>
          </a:p>
        </p:txBody>
      </p:sp>
      <p:sp>
        <p:nvSpPr>
          <p:cNvPr id="3" name="Text Placeholder 2"/>
          <p:cNvSpPr>
            <a:spLocks noGrp="1"/>
          </p:cNvSpPr>
          <p:nvPr>
            <p:ph type="body" sz="half" idx="1"/>
          </p:nvPr>
        </p:nvSpPr>
        <p:spPr>
          <a:xfrm>
            <a:off x="1422400" y="2057400"/>
            <a:ext cx="4927600" cy="4191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553200" y="2057400"/>
            <a:ext cx="4927600" cy="4191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4A7520F7-E93D-EA46-BF20-098F31EF3C65}"/>
              </a:ext>
            </a:extLst>
          </p:cNvPr>
          <p:cNvSpPr>
            <a:spLocks noGrp="1"/>
          </p:cNvSpPr>
          <p:nvPr>
            <p:ph type="ftr" sz="quarter" idx="10"/>
          </p:nvPr>
        </p:nvSpPr>
        <p:spPr/>
        <p:txBody>
          <a:bodyPr/>
          <a:lstStyle>
            <a:lvl1pPr>
              <a:defRPr>
                <a:latin typeface="Times New Roman" pitchFamily="18" charset="0"/>
              </a:defRPr>
            </a:lvl1pPr>
          </a:lstStyle>
          <a:p>
            <a:pPr>
              <a:defRPr/>
            </a:pPr>
            <a:endParaRPr lang="en-US"/>
          </a:p>
        </p:txBody>
      </p:sp>
    </p:spTree>
    <p:extLst>
      <p:ext uri="{BB962C8B-B14F-4D97-AF65-F5344CB8AC3E}">
        <p14:creationId xmlns:p14="http://schemas.microsoft.com/office/powerpoint/2010/main" val="239647334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ClipArt">
  <p:cSld name="Title, Text and Clip Art">
    <p:spTree>
      <p:nvGrpSpPr>
        <p:cNvPr id="1" name=""/>
        <p:cNvGrpSpPr/>
        <p:nvPr/>
      </p:nvGrpSpPr>
      <p:grpSpPr>
        <a:xfrm>
          <a:off x="0" y="0"/>
          <a:ext cx="0" cy="0"/>
          <a:chOff x="0" y="0"/>
          <a:chExt cx="0" cy="0"/>
        </a:xfrm>
      </p:grpSpPr>
      <p:sp>
        <p:nvSpPr>
          <p:cNvPr id="2" name="Title 1"/>
          <p:cNvSpPr>
            <a:spLocks noGrp="1"/>
          </p:cNvSpPr>
          <p:nvPr>
            <p:ph type="title"/>
          </p:nvPr>
        </p:nvSpPr>
        <p:spPr>
          <a:xfrm>
            <a:off x="1422400" y="762000"/>
            <a:ext cx="10058400" cy="1143000"/>
          </a:xfrm>
        </p:spPr>
        <p:txBody>
          <a:bodyPr/>
          <a:lstStyle/>
          <a:p>
            <a:r>
              <a:rPr lang="en-US"/>
              <a:t>Click to edit Master title style</a:t>
            </a:r>
          </a:p>
        </p:txBody>
      </p:sp>
      <p:sp>
        <p:nvSpPr>
          <p:cNvPr id="3" name="Text Placeholder 2"/>
          <p:cNvSpPr>
            <a:spLocks noGrp="1"/>
          </p:cNvSpPr>
          <p:nvPr>
            <p:ph type="body" sz="half" idx="1"/>
          </p:nvPr>
        </p:nvSpPr>
        <p:spPr>
          <a:xfrm>
            <a:off x="1422400" y="2057400"/>
            <a:ext cx="4927600" cy="4191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lipArt Placeholder 3"/>
          <p:cNvSpPr>
            <a:spLocks noGrp="1"/>
          </p:cNvSpPr>
          <p:nvPr>
            <p:ph type="clipArt" sz="half" idx="2"/>
          </p:nvPr>
        </p:nvSpPr>
        <p:spPr>
          <a:xfrm>
            <a:off x="6553200" y="2057400"/>
            <a:ext cx="4927600" cy="4191000"/>
          </a:xfrm>
        </p:spPr>
        <p:txBody>
          <a:bodyPr rtlCol="0">
            <a:normAutofit/>
          </a:bodyPr>
          <a:lstStyle/>
          <a:p>
            <a:pPr lvl="0"/>
            <a:endParaRPr lang="en-US" noProof="0"/>
          </a:p>
        </p:txBody>
      </p:sp>
      <p:sp>
        <p:nvSpPr>
          <p:cNvPr id="5" name="Footer Placeholder 4">
            <a:extLst>
              <a:ext uri="{FF2B5EF4-FFF2-40B4-BE49-F238E27FC236}">
                <a16:creationId xmlns:a16="http://schemas.microsoft.com/office/drawing/2014/main" id="{47318FD9-AE35-4E4A-A231-A504DB00C00F}"/>
              </a:ext>
            </a:extLst>
          </p:cNvPr>
          <p:cNvSpPr>
            <a:spLocks noGrp="1"/>
          </p:cNvSpPr>
          <p:nvPr>
            <p:ph type="ftr" sz="quarter" idx="10"/>
          </p:nvPr>
        </p:nvSpPr>
        <p:spPr/>
        <p:txBody>
          <a:bodyPr/>
          <a:lstStyle>
            <a:lvl1pPr>
              <a:defRPr>
                <a:latin typeface="Times New Roman" pitchFamily="18" charset="0"/>
              </a:defRPr>
            </a:lvl1pPr>
          </a:lstStyle>
          <a:p>
            <a:pPr>
              <a:defRPr/>
            </a:pPr>
            <a:endParaRPr lang="en-US"/>
          </a:p>
        </p:txBody>
      </p:sp>
    </p:spTree>
    <p:extLst>
      <p:ext uri="{BB962C8B-B14F-4D97-AF65-F5344CB8AC3E}">
        <p14:creationId xmlns:p14="http://schemas.microsoft.com/office/powerpoint/2010/main" val="8781069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5F9CD5D1-F091-DE42-9411-F17289739EF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endParaRPr lang="fr-EG"/>
          </a:p>
        </p:txBody>
      </p:sp>
      <p:sp>
        <p:nvSpPr>
          <p:cNvPr id="3" name="Espace réservé du texte 2">
            <a:extLst>
              <a:ext uri="{FF2B5EF4-FFF2-40B4-BE49-F238E27FC236}">
                <a16:creationId xmlns:a16="http://schemas.microsoft.com/office/drawing/2014/main" id="{72533153-24A2-9E41-A477-94F5459D3FC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EG"/>
          </a:p>
        </p:txBody>
      </p:sp>
      <p:sp>
        <p:nvSpPr>
          <p:cNvPr id="4" name="Espace réservé de la date 3">
            <a:extLst>
              <a:ext uri="{FF2B5EF4-FFF2-40B4-BE49-F238E27FC236}">
                <a16:creationId xmlns:a16="http://schemas.microsoft.com/office/drawing/2014/main" id="{A9CBCDA9-1763-3346-B780-45C2FC86D9B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1761FBD-AE4F-BC40-8ACF-FA330BC01A49}" type="datetimeFigureOut">
              <a:rPr lang="fr-EG" smtClean="0"/>
              <a:t>16/06/2020</a:t>
            </a:fld>
            <a:endParaRPr lang="fr-EG"/>
          </a:p>
        </p:txBody>
      </p:sp>
      <p:sp>
        <p:nvSpPr>
          <p:cNvPr id="5" name="Espace réservé du pied de page 4">
            <a:extLst>
              <a:ext uri="{FF2B5EF4-FFF2-40B4-BE49-F238E27FC236}">
                <a16:creationId xmlns:a16="http://schemas.microsoft.com/office/drawing/2014/main" id="{D0D1DF00-77B3-2C44-B737-FBFE1367EF7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EG"/>
          </a:p>
        </p:txBody>
      </p:sp>
      <p:sp>
        <p:nvSpPr>
          <p:cNvPr id="6" name="Espace réservé du numéro de diapositive 5">
            <a:extLst>
              <a:ext uri="{FF2B5EF4-FFF2-40B4-BE49-F238E27FC236}">
                <a16:creationId xmlns:a16="http://schemas.microsoft.com/office/drawing/2014/main" id="{7EC0F9C8-AF86-2B46-B328-9BFDB1C158F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D5D71DE-8DD5-FC4A-8B8D-4E87190B4F7D}" type="slidenum">
              <a:rPr lang="fr-EG" smtClean="0"/>
              <a:t>‹N°›</a:t>
            </a:fld>
            <a:endParaRPr lang="fr-EG"/>
          </a:p>
        </p:txBody>
      </p:sp>
    </p:spTree>
    <p:extLst>
      <p:ext uri="{BB962C8B-B14F-4D97-AF65-F5344CB8AC3E}">
        <p14:creationId xmlns:p14="http://schemas.microsoft.com/office/powerpoint/2010/main" val="350169079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E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5.xml"/><Relationship Id="rId1" Type="http://schemas.openxmlformats.org/officeDocument/2006/relationships/slideLayout" Target="../slideLayouts/slideLayout13.xml"/><Relationship Id="rId5" Type="http://schemas.openxmlformats.org/officeDocument/2006/relationships/image" Target="../media/image13.jpeg"/><Relationship Id="rId4" Type="http://schemas.openxmlformats.org/officeDocument/2006/relationships/image" Target="../media/image12.jpeg"/></Relationships>
</file>

<file path=ppt/slides/_rels/slide17.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7.xml"/><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16F9E488-0718-4E1E-9D12-26779F6062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3" name="Freeform: Shape 72">
            <a:extLst>
              <a:ext uri="{FF2B5EF4-FFF2-40B4-BE49-F238E27FC236}">
                <a16:creationId xmlns:a16="http://schemas.microsoft.com/office/drawing/2014/main" id="{09BE6F6B-19BD-443C-8FB0-FA45F13F95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539505" cy="6857542"/>
          </a:xfrm>
          <a:custGeom>
            <a:avLst/>
            <a:gdLst>
              <a:gd name="connsiteX0" fmla="*/ 0 w 7539505"/>
              <a:gd name="connsiteY0" fmla="*/ 0 h 6857542"/>
              <a:gd name="connsiteX1" fmla="*/ 6392832 w 7539505"/>
              <a:gd name="connsiteY1" fmla="*/ 0 h 6857542"/>
              <a:gd name="connsiteX2" fmla="*/ 6405479 w 7539505"/>
              <a:gd name="connsiteY2" fmla="*/ 31774 h 6857542"/>
              <a:gd name="connsiteX3" fmla="*/ 7460487 w 7539505"/>
              <a:gd name="connsiteY3" fmla="*/ 2682457 h 6857542"/>
              <a:gd name="connsiteX4" fmla="*/ 7460487 w 7539505"/>
              <a:gd name="connsiteY4" fmla="*/ 3752208 h 6857542"/>
              <a:gd name="connsiteX5" fmla="*/ 6302983 w 7539505"/>
              <a:gd name="connsiteY5" fmla="*/ 6660411 h 6857542"/>
              <a:gd name="connsiteX6" fmla="*/ 6224521 w 7539505"/>
              <a:gd name="connsiteY6" fmla="*/ 6857542 h 6857542"/>
              <a:gd name="connsiteX7" fmla="*/ 0 w 7539505"/>
              <a:gd name="connsiteY7" fmla="*/ 6857542 h 6857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539505" h="6857542">
                <a:moveTo>
                  <a:pt x="0" y="0"/>
                </a:moveTo>
                <a:lnTo>
                  <a:pt x="6392832" y="0"/>
                </a:lnTo>
                <a:lnTo>
                  <a:pt x="6405479" y="31774"/>
                </a:lnTo>
                <a:cubicBezTo>
                  <a:pt x="7460487" y="2682457"/>
                  <a:pt x="7460487" y="2682457"/>
                  <a:pt x="7460487" y="2682457"/>
                </a:cubicBezTo>
                <a:cubicBezTo>
                  <a:pt x="7565845" y="2988100"/>
                  <a:pt x="7565845" y="3446565"/>
                  <a:pt x="7460487" y="3752208"/>
                </a:cubicBezTo>
                <a:cubicBezTo>
                  <a:pt x="6976500" y="4968215"/>
                  <a:pt x="6598385" y="5918220"/>
                  <a:pt x="6302983" y="6660411"/>
                </a:cubicBezTo>
                <a:lnTo>
                  <a:pt x="6224521" y="6857542"/>
                </a:lnTo>
                <a:lnTo>
                  <a:pt x="0" y="6857542"/>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TextBox 9">
            <a:extLst>
              <a:ext uri="{FF2B5EF4-FFF2-40B4-BE49-F238E27FC236}">
                <a16:creationId xmlns:a16="http://schemas.microsoft.com/office/drawing/2014/main" id="{8BBEFA5A-CBFE-2F42-8F73-1870F9A1FCA4}"/>
              </a:ext>
            </a:extLst>
          </p:cNvPr>
          <p:cNvSpPr txBox="1"/>
          <p:nvPr/>
        </p:nvSpPr>
        <p:spPr>
          <a:xfrm>
            <a:off x="811033" y="681629"/>
            <a:ext cx="5573478" cy="3683638"/>
          </a:xfrm>
          <a:prstGeom prst="rect">
            <a:avLst/>
          </a:prstGeom>
        </p:spPr>
        <p:txBody>
          <a:bodyPr vert="horz" lIns="91440" tIns="45720" rIns="91440" bIns="45720" rtlCol="0" anchor="b">
            <a:normAutofit/>
          </a:bodyPr>
          <a:lstStyle/>
          <a:p>
            <a:pPr algn="r">
              <a:lnSpc>
                <a:spcPct val="90000"/>
              </a:lnSpc>
              <a:spcBef>
                <a:spcPct val="0"/>
              </a:spcBef>
              <a:spcAft>
                <a:spcPts val="600"/>
              </a:spcAft>
              <a:defRPr/>
            </a:pPr>
            <a:r>
              <a:rPr lang="en-US" sz="7200">
                <a:solidFill>
                  <a:schemeClr val="bg1"/>
                </a:solidFill>
                <a:latin typeface="+mj-lt"/>
                <a:ea typeface="+mj-ea"/>
                <a:cs typeface="+mj-cs"/>
              </a:rPr>
              <a:t>Sexual Harassment </a:t>
            </a:r>
          </a:p>
        </p:txBody>
      </p:sp>
      <p:grpSp>
        <p:nvGrpSpPr>
          <p:cNvPr id="75" name="Group 74">
            <a:extLst>
              <a:ext uri="{FF2B5EF4-FFF2-40B4-BE49-F238E27FC236}">
                <a16:creationId xmlns:a16="http://schemas.microsoft.com/office/drawing/2014/main" id="{26B5F537-3960-4E10-AE03-D496B4CD531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40080" y="640080"/>
            <a:ext cx="1128382" cy="847206"/>
            <a:chOff x="5307830" y="325570"/>
            <a:chExt cx="1128382" cy="847206"/>
          </a:xfrm>
        </p:grpSpPr>
        <p:sp>
          <p:nvSpPr>
            <p:cNvPr id="76" name="Freeform 5">
              <a:extLst>
                <a:ext uri="{FF2B5EF4-FFF2-40B4-BE49-F238E27FC236}">
                  <a16:creationId xmlns:a16="http://schemas.microsoft.com/office/drawing/2014/main" id="{4F9A94D1-9FCD-4778-A663-68663B4D3FE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307830" y="577396"/>
              <a:ext cx="675351" cy="595380"/>
            </a:xfrm>
            <a:custGeom>
              <a:avLst/>
              <a:gdLst>
                <a:gd name="T0" fmla="*/ 225 w 785"/>
                <a:gd name="T1" fmla="*/ 692 h 692"/>
                <a:gd name="T2" fmla="*/ 177 w 785"/>
                <a:gd name="T3" fmla="*/ 665 h 692"/>
                <a:gd name="T4" fmla="*/ 9 w 785"/>
                <a:gd name="T5" fmla="*/ 374 h 692"/>
                <a:gd name="T6" fmla="*/ 9 w 785"/>
                <a:gd name="T7" fmla="*/ 318 h 692"/>
                <a:gd name="T8" fmla="*/ 177 w 785"/>
                <a:gd name="T9" fmla="*/ 27 h 692"/>
                <a:gd name="T10" fmla="*/ 225 w 785"/>
                <a:gd name="T11" fmla="*/ 0 h 692"/>
                <a:gd name="T12" fmla="*/ 561 w 785"/>
                <a:gd name="T13" fmla="*/ 0 h 692"/>
                <a:gd name="T14" fmla="*/ 609 w 785"/>
                <a:gd name="T15" fmla="*/ 27 h 692"/>
                <a:gd name="T16" fmla="*/ 777 w 785"/>
                <a:gd name="T17" fmla="*/ 318 h 692"/>
                <a:gd name="T18" fmla="*/ 777 w 785"/>
                <a:gd name="T19" fmla="*/ 374 h 692"/>
                <a:gd name="T20" fmla="*/ 609 w 785"/>
                <a:gd name="T21" fmla="*/ 665 h 692"/>
                <a:gd name="T22" fmla="*/ 561 w 785"/>
                <a:gd name="T23" fmla="*/ 692 h 692"/>
                <a:gd name="T24" fmla="*/ 225 w 785"/>
                <a:gd name="T25" fmla="*/ 692 h 6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5" h="692">
                  <a:moveTo>
                    <a:pt x="225" y="692"/>
                  </a:moveTo>
                  <a:cubicBezTo>
                    <a:pt x="207" y="692"/>
                    <a:pt x="185" y="680"/>
                    <a:pt x="177" y="665"/>
                  </a:cubicBezTo>
                  <a:cubicBezTo>
                    <a:pt x="9" y="374"/>
                    <a:pt x="9" y="374"/>
                    <a:pt x="9" y="374"/>
                  </a:cubicBezTo>
                  <a:cubicBezTo>
                    <a:pt x="0" y="358"/>
                    <a:pt x="0" y="334"/>
                    <a:pt x="9" y="318"/>
                  </a:cubicBezTo>
                  <a:cubicBezTo>
                    <a:pt x="177" y="27"/>
                    <a:pt x="177" y="27"/>
                    <a:pt x="177" y="27"/>
                  </a:cubicBezTo>
                  <a:cubicBezTo>
                    <a:pt x="185" y="12"/>
                    <a:pt x="207" y="0"/>
                    <a:pt x="225" y="0"/>
                  </a:cubicBezTo>
                  <a:cubicBezTo>
                    <a:pt x="561" y="0"/>
                    <a:pt x="561" y="0"/>
                    <a:pt x="561" y="0"/>
                  </a:cubicBezTo>
                  <a:cubicBezTo>
                    <a:pt x="578" y="0"/>
                    <a:pt x="600" y="12"/>
                    <a:pt x="609" y="27"/>
                  </a:cubicBezTo>
                  <a:cubicBezTo>
                    <a:pt x="777" y="318"/>
                    <a:pt x="777" y="318"/>
                    <a:pt x="777" y="318"/>
                  </a:cubicBezTo>
                  <a:cubicBezTo>
                    <a:pt x="785" y="334"/>
                    <a:pt x="785" y="358"/>
                    <a:pt x="777" y="374"/>
                  </a:cubicBezTo>
                  <a:cubicBezTo>
                    <a:pt x="609" y="665"/>
                    <a:pt x="609" y="665"/>
                    <a:pt x="609" y="665"/>
                  </a:cubicBezTo>
                  <a:cubicBezTo>
                    <a:pt x="600" y="680"/>
                    <a:pt x="578" y="692"/>
                    <a:pt x="561" y="692"/>
                  </a:cubicBezTo>
                  <a:lnTo>
                    <a:pt x="225" y="692"/>
                  </a:lnTo>
                  <a:close/>
                </a:path>
              </a:pathLst>
            </a:custGeom>
            <a:noFill/>
            <a:ln w="28575" cmpd="sng">
              <a:solidFill>
                <a:schemeClr val="bg1"/>
              </a:solidFill>
            </a:ln>
          </p:spPr>
          <p:txBody>
            <a:bodyPr vert="horz" wrap="square" lIns="91440" tIns="45720" rIns="91440" bIns="45720" numCol="1" anchor="t" anchorCtr="0" compatLnSpc="1">
              <a:prstTxWarp prst="textNoShape">
                <a:avLst/>
              </a:prstTxWarp>
            </a:bodyPr>
            <a:lstStyle/>
            <a:p>
              <a:endParaRPr lang="en-US"/>
            </a:p>
          </p:txBody>
        </p:sp>
        <p:sp>
          <p:nvSpPr>
            <p:cNvPr id="77" name="Freeform 5">
              <a:extLst>
                <a:ext uri="{FF2B5EF4-FFF2-40B4-BE49-F238E27FC236}">
                  <a16:creationId xmlns:a16="http://schemas.microsoft.com/office/drawing/2014/main" id="{BB080F40-90BD-4CAA-9447-8DC3FCD0F23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85720" y="325570"/>
              <a:ext cx="550492" cy="485306"/>
            </a:xfrm>
            <a:custGeom>
              <a:avLst/>
              <a:gdLst>
                <a:gd name="T0" fmla="*/ 225 w 785"/>
                <a:gd name="T1" fmla="*/ 692 h 692"/>
                <a:gd name="T2" fmla="*/ 177 w 785"/>
                <a:gd name="T3" fmla="*/ 665 h 692"/>
                <a:gd name="T4" fmla="*/ 9 w 785"/>
                <a:gd name="T5" fmla="*/ 374 h 692"/>
                <a:gd name="T6" fmla="*/ 9 w 785"/>
                <a:gd name="T7" fmla="*/ 318 h 692"/>
                <a:gd name="T8" fmla="*/ 177 w 785"/>
                <a:gd name="T9" fmla="*/ 27 h 692"/>
                <a:gd name="T10" fmla="*/ 225 w 785"/>
                <a:gd name="T11" fmla="*/ 0 h 692"/>
                <a:gd name="T12" fmla="*/ 561 w 785"/>
                <a:gd name="T13" fmla="*/ 0 h 692"/>
                <a:gd name="T14" fmla="*/ 609 w 785"/>
                <a:gd name="T15" fmla="*/ 27 h 692"/>
                <a:gd name="T16" fmla="*/ 777 w 785"/>
                <a:gd name="T17" fmla="*/ 318 h 692"/>
                <a:gd name="T18" fmla="*/ 777 w 785"/>
                <a:gd name="T19" fmla="*/ 374 h 692"/>
                <a:gd name="T20" fmla="*/ 609 w 785"/>
                <a:gd name="T21" fmla="*/ 665 h 692"/>
                <a:gd name="T22" fmla="*/ 561 w 785"/>
                <a:gd name="T23" fmla="*/ 692 h 692"/>
                <a:gd name="T24" fmla="*/ 225 w 785"/>
                <a:gd name="T25" fmla="*/ 692 h 6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5" h="692">
                  <a:moveTo>
                    <a:pt x="225" y="692"/>
                  </a:moveTo>
                  <a:cubicBezTo>
                    <a:pt x="207" y="692"/>
                    <a:pt x="185" y="680"/>
                    <a:pt x="177" y="665"/>
                  </a:cubicBezTo>
                  <a:cubicBezTo>
                    <a:pt x="9" y="374"/>
                    <a:pt x="9" y="374"/>
                    <a:pt x="9" y="374"/>
                  </a:cubicBezTo>
                  <a:cubicBezTo>
                    <a:pt x="0" y="358"/>
                    <a:pt x="0" y="334"/>
                    <a:pt x="9" y="318"/>
                  </a:cubicBezTo>
                  <a:cubicBezTo>
                    <a:pt x="177" y="27"/>
                    <a:pt x="177" y="27"/>
                    <a:pt x="177" y="27"/>
                  </a:cubicBezTo>
                  <a:cubicBezTo>
                    <a:pt x="185" y="12"/>
                    <a:pt x="207" y="0"/>
                    <a:pt x="225" y="0"/>
                  </a:cubicBezTo>
                  <a:cubicBezTo>
                    <a:pt x="561" y="0"/>
                    <a:pt x="561" y="0"/>
                    <a:pt x="561" y="0"/>
                  </a:cubicBezTo>
                  <a:cubicBezTo>
                    <a:pt x="578" y="0"/>
                    <a:pt x="600" y="12"/>
                    <a:pt x="609" y="27"/>
                  </a:cubicBezTo>
                  <a:cubicBezTo>
                    <a:pt x="777" y="318"/>
                    <a:pt x="777" y="318"/>
                    <a:pt x="777" y="318"/>
                  </a:cubicBezTo>
                  <a:cubicBezTo>
                    <a:pt x="785" y="334"/>
                    <a:pt x="785" y="358"/>
                    <a:pt x="777" y="374"/>
                  </a:cubicBezTo>
                  <a:cubicBezTo>
                    <a:pt x="609" y="665"/>
                    <a:pt x="609" y="665"/>
                    <a:pt x="609" y="665"/>
                  </a:cubicBezTo>
                  <a:cubicBezTo>
                    <a:pt x="600" y="680"/>
                    <a:pt x="578" y="692"/>
                    <a:pt x="561" y="692"/>
                  </a:cubicBezTo>
                  <a:lnTo>
                    <a:pt x="225" y="692"/>
                  </a:lnTo>
                  <a:close/>
                </a:path>
              </a:pathLst>
            </a:custGeom>
            <a:noFill/>
            <a:ln w="28575" cmpd="sng">
              <a:solidFill>
                <a:schemeClr val="bg1"/>
              </a:solidFill>
            </a:ln>
          </p:spPr>
          <p:txBody>
            <a:bodyPr vert="horz" wrap="square" lIns="91440" tIns="45720" rIns="91440" bIns="45720" numCol="1" anchor="t" anchorCtr="0" compatLnSpc="1">
              <a:prstTxWarp prst="textNoShape">
                <a:avLst/>
              </a:prstTxWarp>
            </a:bodyPr>
            <a:lstStyle/>
            <a:p>
              <a:endParaRPr lang="en-US"/>
            </a:p>
          </p:txBody>
        </p:sp>
      </p:grpSp>
      <p:pic>
        <p:nvPicPr>
          <p:cNvPr id="6145" name="Picture 2" descr="C:\Users\mgb\Desktop\Logo.png">
            <a:extLst>
              <a:ext uri="{FF2B5EF4-FFF2-40B4-BE49-F238E27FC236}">
                <a16:creationId xmlns:a16="http://schemas.microsoft.com/office/drawing/2014/main" id="{25EC16FF-35E9-D647-A880-F65F6C65D944}"/>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8118282" y="1914631"/>
            <a:ext cx="3449589" cy="56671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46" name="Picture 1033" descr="HRTPyngmnhndwshldr1-16,122">
            <a:extLst>
              <a:ext uri="{FF2B5EF4-FFF2-40B4-BE49-F238E27FC236}">
                <a16:creationId xmlns:a16="http://schemas.microsoft.com/office/drawing/2014/main" id="{2D1D72ED-5276-DC47-AFB9-19C9163688F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929" t="16364" r="1849" b="32877"/>
          <a:stretch>
            <a:fillRect/>
          </a:stretch>
        </p:blipFill>
        <p:spPr bwMode="auto">
          <a:xfrm>
            <a:off x="8539256" y="3606466"/>
            <a:ext cx="2616480" cy="2148242"/>
          </a:xfrm>
          <a:prstGeom prst="rect">
            <a:avLst/>
          </a:prstGeom>
          <a:noFill/>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 name="TextBox 11">
            <a:extLst>
              <a:ext uri="{FF2B5EF4-FFF2-40B4-BE49-F238E27FC236}">
                <a16:creationId xmlns:a16="http://schemas.microsoft.com/office/drawing/2014/main" id="{0045DB05-B38C-E04B-B60E-1439B9F50F84}"/>
              </a:ext>
            </a:extLst>
          </p:cNvPr>
          <p:cNvSpPr txBox="1"/>
          <p:nvPr/>
        </p:nvSpPr>
        <p:spPr>
          <a:xfrm>
            <a:off x="3670300" y="2074864"/>
            <a:ext cx="4726550" cy="1031051"/>
          </a:xfrm>
          <a:prstGeom prst="rect">
            <a:avLst/>
          </a:prstGeom>
          <a:noFill/>
        </p:spPr>
        <p:txBody>
          <a:bodyPr wrap="none">
            <a:spAutoFit/>
          </a:bodyPr>
          <a:lstStyle/>
          <a:p>
            <a:pPr>
              <a:spcAft>
                <a:spcPts val="600"/>
              </a:spcAft>
              <a:defRPr/>
            </a:pPr>
            <a:r>
              <a:rPr lang="en-US" sz="2800" dirty="0">
                <a:latin typeface="+mj-lt"/>
              </a:rPr>
              <a:t>What Employees Need to Know</a:t>
            </a:r>
            <a:endParaRPr lang="en-US" sz="2800">
              <a:latin typeface="+mj-lt"/>
            </a:endParaRPr>
          </a:p>
          <a:p>
            <a:pPr>
              <a:spcAft>
                <a:spcPts val="600"/>
              </a:spcAft>
              <a:defRPr/>
            </a:pPr>
            <a:endParaRPr lang="en-US" sz="2800">
              <a:latin typeface="+mj-lt"/>
            </a:endParaRPr>
          </a:p>
        </p:txBody>
      </p:sp>
    </p:spTree>
    <p:extLst>
      <p:ext uri="{BB962C8B-B14F-4D97-AF65-F5344CB8AC3E}">
        <p14:creationId xmlns:p14="http://schemas.microsoft.com/office/powerpoint/2010/main" val="18361990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33CD251C-A887-4D2F-925B-FC09719853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Freeform: Shape 73">
            <a:extLst>
              <a:ext uri="{FF2B5EF4-FFF2-40B4-BE49-F238E27FC236}">
                <a16:creationId xmlns:a16="http://schemas.microsoft.com/office/drawing/2014/main" id="{3B2069EE-A08E-44F0-B3F9-3CF8CC2DCA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126740" cy="6857542"/>
          </a:xfrm>
          <a:custGeom>
            <a:avLst/>
            <a:gdLst>
              <a:gd name="connsiteX0" fmla="*/ 0 w 6126740"/>
              <a:gd name="connsiteY0" fmla="*/ 0 h 6857542"/>
              <a:gd name="connsiteX1" fmla="*/ 4980067 w 6126740"/>
              <a:gd name="connsiteY1" fmla="*/ 0 h 6857542"/>
              <a:gd name="connsiteX2" fmla="*/ 4992714 w 6126740"/>
              <a:gd name="connsiteY2" fmla="*/ 31774 h 6857542"/>
              <a:gd name="connsiteX3" fmla="*/ 6047722 w 6126740"/>
              <a:gd name="connsiteY3" fmla="*/ 2682457 h 6857542"/>
              <a:gd name="connsiteX4" fmla="*/ 6047722 w 6126740"/>
              <a:gd name="connsiteY4" fmla="*/ 3752208 h 6857542"/>
              <a:gd name="connsiteX5" fmla="*/ 4890218 w 6126740"/>
              <a:gd name="connsiteY5" fmla="*/ 6660411 h 6857542"/>
              <a:gd name="connsiteX6" fmla="*/ 4811756 w 6126740"/>
              <a:gd name="connsiteY6" fmla="*/ 6857542 h 6857542"/>
              <a:gd name="connsiteX7" fmla="*/ 0 w 6126740"/>
              <a:gd name="connsiteY7" fmla="*/ 6857542 h 6857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126740" h="6857542">
                <a:moveTo>
                  <a:pt x="0" y="0"/>
                </a:moveTo>
                <a:lnTo>
                  <a:pt x="4980067" y="0"/>
                </a:lnTo>
                <a:lnTo>
                  <a:pt x="4992714" y="31774"/>
                </a:lnTo>
                <a:cubicBezTo>
                  <a:pt x="6047722" y="2682457"/>
                  <a:pt x="6047722" y="2682457"/>
                  <a:pt x="6047722" y="2682457"/>
                </a:cubicBezTo>
                <a:cubicBezTo>
                  <a:pt x="6153080" y="2988100"/>
                  <a:pt x="6153080" y="3446565"/>
                  <a:pt x="6047722" y="3752208"/>
                </a:cubicBezTo>
                <a:cubicBezTo>
                  <a:pt x="5563735" y="4968215"/>
                  <a:pt x="5185620" y="5918220"/>
                  <a:pt x="4890218" y="6660411"/>
                </a:cubicBezTo>
                <a:lnTo>
                  <a:pt x="4811756" y="6857542"/>
                </a:lnTo>
                <a:lnTo>
                  <a:pt x="0" y="6857542"/>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171" name="Rectangle 1038">
            <a:extLst>
              <a:ext uri="{FF2B5EF4-FFF2-40B4-BE49-F238E27FC236}">
                <a16:creationId xmlns:a16="http://schemas.microsoft.com/office/drawing/2014/main" id="{04F6CD06-29E3-1E46-BF42-CB30CA0E3B35}"/>
              </a:ext>
            </a:extLst>
          </p:cNvPr>
          <p:cNvSpPr>
            <a:spLocks noGrp="1" noChangeArrowheads="1"/>
          </p:cNvSpPr>
          <p:nvPr>
            <p:ph type="title" idx="4294967295"/>
          </p:nvPr>
        </p:nvSpPr>
        <p:spPr>
          <a:xfrm>
            <a:off x="767290" y="1289146"/>
            <a:ext cx="4153626" cy="4279709"/>
          </a:xfrm>
        </p:spPr>
        <p:txBody>
          <a:bodyPr vert="horz" lIns="91440" tIns="45720" rIns="91440" bIns="45720" rtlCol="0" anchor="ctr">
            <a:normAutofit/>
          </a:bodyPr>
          <a:lstStyle/>
          <a:p>
            <a:pPr algn="r"/>
            <a:r>
              <a:rPr lang="en-US" altLang="fr-EG" sz="5400" b="1" kern="1200">
                <a:solidFill>
                  <a:schemeClr val="bg1"/>
                </a:solidFill>
                <a:latin typeface="+mj-lt"/>
                <a:ea typeface="+mj-ea"/>
                <a:cs typeface="+mj-cs"/>
              </a:rPr>
              <a:t>SESSION OBJECTIVES</a:t>
            </a:r>
          </a:p>
        </p:txBody>
      </p:sp>
      <p:grpSp>
        <p:nvGrpSpPr>
          <p:cNvPr id="76" name="Group 75">
            <a:extLst>
              <a:ext uri="{FF2B5EF4-FFF2-40B4-BE49-F238E27FC236}">
                <a16:creationId xmlns:a16="http://schemas.microsoft.com/office/drawing/2014/main" id="{E12BF2FB-8A96-4B53-86A0-04755C545EB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103027" y="681628"/>
            <a:ext cx="1562267" cy="1172973"/>
            <a:chOff x="7493121" y="1000124"/>
            <a:chExt cx="1562267" cy="1172973"/>
          </a:xfrm>
        </p:grpSpPr>
        <p:sp>
          <p:nvSpPr>
            <p:cNvPr id="77" name="Freeform 5">
              <a:extLst>
                <a:ext uri="{FF2B5EF4-FFF2-40B4-BE49-F238E27FC236}">
                  <a16:creationId xmlns:a16="http://schemas.microsoft.com/office/drawing/2014/main" id="{893D4739-55F8-4E73-8F98-AF42D54BD4A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7493121" y="1348782"/>
              <a:ext cx="935037" cy="824315"/>
            </a:xfrm>
            <a:custGeom>
              <a:avLst/>
              <a:gdLst>
                <a:gd name="T0" fmla="*/ 225 w 785"/>
                <a:gd name="T1" fmla="*/ 692 h 692"/>
                <a:gd name="T2" fmla="*/ 177 w 785"/>
                <a:gd name="T3" fmla="*/ 665 h 692"/>
                <a:gd name="T4" fmla="*/ 9 w 785"/>
                <a:gd name="T5" fmla="*/ 374 h 692"/>
                <a:gd name="T6" fmla="*/ 9 w 785"/>
                <a:gd name="T7" fmla="*/ 318 h 692"/>
                <a:gd name="T8" fmla="*/ 177 w 785"/>
                <a:gd name="T9" fmla="*/ 27 h 692"/>
                <a:gd name="T10" fmla="*/ 225 w 785"/>
                <a:gd name="T11" fmla="*/ 0 h 692"/>
                <a:gd name="T12" fmla="*/ 561 w 785"/>
                <a:gd name="T13" fmla="*/ 0 h 692"/>
                <a:gd name="T14" fmla="*/ 609 w 785"/>
                <a:gd name="T15" fmla="*/ 27 h 692"/>
                <a:gd name="T16" fmla="*/ 777 w 785"/>
                <a:gd name="T17" fmla="*/ 318 h 692"/>
                <a:gd name="T18" fmla="*/ 777 w 785"/>
                <a:gd name="T19" fmla="*/ 374 h 692"/>
                <a:gd name="T20" fmla="*/ 609 w 785"/>
                <a:gd name="T21" fmla="*/ 665 h 692"/>
                <a:gd name="T22" fmla="*/ 561 w 785"/>
                <a:gd name="T23" fmla="*/ 692 h 692"/>
                <a:gd name="T24" fmla="*/ 225 w 785"/>
                <a:gd name="T25" fmla="*/ 692 h 6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5" h="692">
                  <a:moveTo>
                    <a:pt x="225" y="692"/>
                  </a:moveTo>
                  <a:cubicBezTo>
                    <a:pt x="207" y="692"/>
                    <a:pt x="185" y="680"/>
                    <a:pt x="177" y="665"/>
                  </a:cubicBezTo>
                  <a:cubicBezTo>
                    <a:pt x="9" y="374"/>
                    <a:pt x="9" y="374"/>
                    <a:pt x="9" y="374"/>
                  </a:cubicBezTo>
                  <a:cubicBezTo>
                    <a:pt x="0" y="358"/>
                    <a:pt x="0" y="334"/>
                    <a:pt x="9" y="318"/>
                  </a:cubicBezTo>
                  <a:cubicBezTo>
                    <a:pt x="177" y="27"/>
                    <a:pt x="177" y="27"/>
                    <a:pt x="177" y="27"/>
                  </a:cubicBezTo>
                  <a:cubicBezTo>
                    <a:pt x="185" y="12"/>
                    <a:pt x="207" y="0"/>
                    <a:pt x="225" y="0"/>
                  </a:cubicBezTo>
                  <a:cubicBezTo>
                    <a:pt x="561" y="0"/>
                    <a:pt x="561" y="0"/>
                    <a:pt x="561" y="0"/>
                  </a:cubicBezTo>
                  <a:cubicBezTo>
                    <a:pt x="578" y="0"/>
                    <a:pt x="600" y="12"/>
                    <a:pt x="609" y="27"/>
                  </a:cubicBezTo>
                  <a:cubicBezTo>
                    <a:pt x="777" y="318"/>
                    <a:pt x="777" y="318"/>
                    <a:pt x="777" y="318"/>
                  </a:cubicBezTo>
                  <a:cubicBezTo>
                    <a:pt x="785" y="334"/>
                    <a:pt x="785" y="358"/>
                    <a:pt x="777" y="374"/>
                  </a:cubicBezTo>
                  <a:cubicBezTo>
                    <a:pt x="609" y="665"/>
                    <a:pt x="609" y="665"/>
                    <a:pt x="609" y="665"/>
                  </a:cubicBezTo>
                  <a:cubicBezTo>
                    <a:pt x="600" y="680"/>
                    <a:pt x="578" y="692"/>
                    <a:pt x="561" y="692"/>
                  </a:cubicBezTo>
                  <a:lnTo>
                    <a:pt x="225" y="692"/>
                  </a:lnTo>
                  <a:close/>
                </a:path>
              </a:pathLst>
            </a:custGeom>
            <a:noFill/>
            <a:ln w="28575" cmpd="sng">
              <a:solidFill>
                <a:schemeClr val="tx1"/>
              </a:solidFill>
            </a:ln>
          </p:spPr>
          <p:txBody>
            <a:bodyPr vert="horz" wrap="square" lIns="91440" tIns="45720" rIns="91440" bIns="45720" numCol="1" anchor="t" anchorCtr="0" compatLnSpc="1">
              <a:prstTxWarp prst="textNoShape">
                <a:avLst/>
              </a:prstTxWarp>
            </a:bodyPr>
            <a:lstStyle/>
            <a:p>
              <a:endParaRPr lang="en-US"/>
            </a:p>
          </p:txBody>
        </p:sp>
        <p:sp>
          <p:nvSpPr>
            <p:cNvPr id="78" name="Freeform 5">
              <a:extLst>
                <a:ext uri="{FF2B5EF4-FFF2-40B4-BE49-F238E27FC236}">
                  <a16:creationId xmlns:a16="http://schemas.microsoft.com/office/drawing/2014/main" id="{A1AA190F-FB42-4BED-8AA1-A5A01B43C91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8293221" y="1000124"/>
              <a:ext cx="762167" cy="671915"/>
            </a:xfrm>
            <a:custGeom>
              <a:avLst/>
              <a:gdLst>
                <a:gd name="T0" fmla="*/ 225 w 785"/>
                <a:gd name="T1" fmla="*/ 692 h 692"/>
                <a:gd name="T2" fmla="*/ 177 w 785"/>
                <a:gd name="T3" fmla="*/ 665 h 692"/>
                <a:gd name="T4" fmla="*/ 9 w 785"/>
                <a:gd name="T5" fmla="*/ 374 h 692"/>
                <a:gd name="T6" fmla="*/ 9 w 785"/>
                <a:gd name="T7" fmla="*/ 318 h 692"/>
                <a:gd name="T8" fmla="*/ 177 w 785"/>
                <a:gd name="T9" fmla="*/ 27 h 692"/>
                <a:gd name="T10" fmla="*/ 225 w 785"/>
                <a:gd name="T11" fmla="*/ 0 h 692"/>
                <a:gd name="T12" fmla="*/ 561 w 785"/>
                <a:gd name="T13" fmla="*/ 0 h 692"/>
                <a:gd name="T14" fmla="*/ 609 w 785"/>
                <a:gd name="T15" fmla="*/ 27 h 692"/>
                <a:gd name="T16" fmla="*/ 777 w 785"/>
                <a:gd name="T17" fmla="*/ 318 h 692"/>
                <a:gd name="T18" fmla="*/ 777 w 785"/>
                <a:gd name="T19" fmla="*/ 374 h 692"/>
                <a:gd name="T20" fmla="*/ 609 w 785"/>
                <a:gd name="T21" fmla="*/ 665 h 692"/>
                <a:gd name="T22" fmla="*/ 561 w 785"/>
                <a:gd name="T23" fmla="*/ 692 h 692"/>
                <a:gd name="T24" fmla="*/ 225 w 785"/>
                <a:gd name="T25" fmla="*/ 692 h 6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5" h="692">
                  <a:moveTo>
                    <a:pt x="225" y="692"/>
                  </a:moveTo>
                  <a:cubicBezTo>
                    <a:pt x="207" y="692"/>
                    <a:pt x="185" y="680"/>
                    <a:pt x="177" y="665"/>
                  </a:cubicBezTo>
                  <a:cubicBezTo>
                    <a:pt x="9" y="374"/>
                    <a:pt x="9" y="374"/>
                    <a:pt x="9" y="374"/>
                  </a:cubicBezTo>
                  <a:cubicBezTo>
                    <a:pt x="0" y="358"/>
                    <a:pt x="0" y="334"/>
                    <a:pt x="9" y="318"/>
                  </a:cubicBezTo>
                  <a:cubicBezTo>
                    <a:pt x="177" y="27"/>
                    <a:pt x="177" y="27"/>
                    <a:pt x="177" y="27"/>
                  </a:cubicBezTo>
                  <a:cubicBezTo>
                    <a:pt x="185" y="12"/>
                    <a:pt x="207" y="0"/>
                    <a:pt x="225" y="0"/>
                  </a:cubicBezTo>
                  <a:cubicBezTo>
                    <a:pt x="561" y="0"/>
                    <a:pt x="561" y="0"/>
                    <a:pt x="561" y="0"/>
                  </a:cubicBezTo>
                  <a:cubicBezTo>
                    <a:pt x="578" y="0"/>
                    <a:pt x="600" y="12"/>
                    <a:pt x="609" y="27"/>
                  </a:cubicBezTo>
                  <a:cubicBezTo>
                    <a:pt x="777" y="318"/>
                    <a:pt x="777" y="318"/>
                    <a:pt x="777" y="318"/>
                  </a:cubicBezTo>
                  <a:cubicBezTo>
                    <a:pt x="785" y="334"/>
                    <a:pt x="785" y="358"/>
                    <a:pt x="777" y="374"/>
                  </a:cubicBezTo>
                  <a:cubicBezTo>
                    <a:pt x="609" y="665"/>
                    <a:pt x="609" y="665"/>
                    <a:pt x="609" y="665"/>
                  </a:cubicBezTo>
                  <a:cubicBezTo>
                    <a:pt x="600" y="680"/>
                    <a:pt x="578" y="692"/>
                    <a:pt x="561" y="692"/>
                  </a:cubicBezTo>
                  <a:lnTo>
                    <a:pt x="225" y="692"/>
                  </a:lnTo>
                  <a:close/>
                </a:path>
              </a:pathLst>
            </a:custGeom>
            <a:noFill/>
            <a:ln w="28575" cmpd="sng">
              <a:solidFill>
                <a:schemeClr val="tx1"/>
              </a:solidFill>
            </a:ln>
          </p:spPr>
          <p:txBody>
            <a:bodyPr vert="horz" wrap="square" lIns="91440" tIns="45720" rIns="91440" bIns="45720" numCol="1" anchor="t" anchorCtr="0" compatLnSpc="1">
              <a:prstTxWarp prst="textNoShape">
                <a:avLst/>
              </a:prstTxWarp>
            </a:bodyPr>
            <a:lstStyle/>
            <a:p>
              <a:endParaRPr lang="en-US"/>
            </a:p>
          </p:txBody>
        </p:sp>
      </p:grpSp>
      <p:sp>
        <p:nvSpPr>
          <p:cNvPr id="7170" name="Rectangle 1039">
            <a:extLst>
              <a:ext uri="{FF2B5EF4-FFF2-40B4-BE49-F238E27FC236}">
                <a16:creationId xmlns:a16="http://schemas.microsoft.com/office/drawing/2014/main" id="{48C8F881-2880-9C4B-891E-7281D183B162}"/>
              </a:ext>
            </a:extLst>
          </p:cNvPr>
          <p:cNvSpPr>
            <a:spLocks noGrp="1" noChangeArrowheads="1"/>
          </p:cNvSpPr>
          <p:nvPr>
            <p:ph idx="1"/>
          </p:nvPr>
        </p:nvSpPr>
        <p:spPr>
          <a:xfrm>
            <a:off x="6514140" y="1854601"/>
            <a:ext cx="4776711" cy="3148798"/>
          </a:xfrm>
        </p:spPr>
        <p:txBody>
          <a:bodyPr vert="horz" lIns="91440" tIns="45720" rIns="91440" bIns="45720" rtlCol="0" anchor="ctr">
            <a:normAutofit/>
          </a:bodyPr>
          <a:lstStyle/>
          <a:p>
            <a:pPr marL="0"/>
            <a:r>
              <a:rPr lang="en-US" altLang="fr-EG" sz="1900"/>
              <a:t>You will be able to:</a:t>
            </a:r>
          </a:p>
          <a:p>
            <a:pPr lvl="1"/>
            <a:r>
              <a:rPr lang="en-US" altLang="fr-EG" sz="1900" i="0"/>
              <a:t>Recognize sexual harassment</a:t>
            </a:r>
          </a:p>
          <a:p>
            <a:pPr lvl="1"/>
            <a:r>
              <a:rPr lang="en-US" altLang="fr-EG" sz="1900" i="0"/>
              <a:t>Differentiate between the two main kinds of harassment</a:t>
            </a:r>
          </a:p>
          <a:p>
            <a:pPr lvl="1"/>
            <a:r>
              <a:rPr lang="en-US" altLang="fr-EG" sz="1900" i="0"/>
              <a:t>Understand and follow company policy</a:t>
            </a:r>
          </a:p>
          <a:p>
            <a:pPr lvl="1"/>
            <a:r>
              <a:rPr lang="en-US" altLang="fr-EG" sz="1900" i="0"/>
              <a:t>Report incidents and cooperate in investigations</a:t>
            </a:r>
          </a:p>
          <a:p>
            <a:pPr lvl="1"/>
            <a:r>
              <a:rPr lang="en-US" altLang="fr-EG" sz="1900" i="0"/>
              <a:t>Help promote and maintain a comfortable, productive work environment</a:t>
            </a:r>
          </a:p>
        </p:txBody>
      </p:sp>
      <p:sp>
        <p:nvSpPr>
          <p:cNvPr id="7169" name="Rectangle 1036">
            <a:extLst>
              <a:ext uri="{FF2B5EF4-FFF2-40B4-BE49-F238E27FC236}">
                <a16:creationId xmlns:a16="http://schemas.microsoft.com/office/drawing/2014/main" id="{6F6C4BCB-78D9-5444-B778-5C717C4467E1}"/>
              </a:ext>
            </a:extLst>
          </p:cNvPr>
          <p:cNvSpPr>
            <a:spLocks noChangeArrowheads="1"/>
          </p:cNvSpPr>
          <p:nvPr/>
        </p:nvSpPr>
        <p:spPr bwMode="auto">
          <a:xfrm>
            <a:off x="3070225" y="6467475"/>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fontAlgn="base">
              <a:spcBef>
                <a:spcPct val="0"/>
              </a:spcBef>
              <a:spcAft>
                <a:spcPct val="0"/>
              </a:spcAft>
              <a:defRPr>
                <a:solidFill>
                  <a:schemeClr val="tx1"/>
                </a:solidFill>
                <a:latin typeface="Franklin Gothic Book" panose="020B0503020102020204" pitchFamily="34" charset="0"/>
              </a:defRPr>
            </a:lvl6pPr>
            <a:lvl7pPr marL="2971800" indent="-228600" defTabSz="457200" fontAlgn="base">
              <a:spcBef>
                <a:spcPct val="0"/>
              </a:spcBef>
              <a:spcAft>
                <a:spcPct val="0"/>
              </a:spcAft>
              <a:defRPr>
                <a:solidFill>
                  <a:schemeClr val="tx1"/>
                </a:solidFill>
                <a:latin typeface="Franklin Gothic Book" panose="020B0503020102020204" pitchFamily="34" charset="0"/>
              </a:defRPr>
            </a:lvl7pPr>
            <a:lvl8pPr marL="3429000" indent="-228600" defTabSz="457200" fontAlgn="base">
              <a:spcBef>
                <a:spcPct val="0"/>
              </a:spcBef>
              <a:spcAft>
                <a:spcPct val="0"/>
              </a:spcAft>
              <a:defRPr>
                <a:solidFill>
                  <a:schemeClr val="tx1"/>
                </a:solidFill>
                <a:latin typeface="Franklin Gothic Book" panose="020B0503020102020204" pitchFamily="34" charset="0"/>
              </a:defRPr>
            </a:lvl8pPr>
            <a:lvl9pPr marL="3886200" indent="-228600" defTabSz="457200" fontAlgn="base">
              <a:spcBef>
                <a:spcPct val="0"/>
              </a:spcBef>
              <a:spcAft>
                <a:spcPct val="0"/>
              </a:spcAft>
              <a:defRPr>
                <a:solidFill>
                  <a:schemeClr val="tx1"/>
                </a:solidFill>
                <a:latin typeface="Franklin Gothic Book" panose="020B0503020102020204" pitchFamily="34" charset="0"/>
              </a:defRPr>
            </a:lvl9pPr>
          </a:lstStyle>
          <a:p>
            <a:pPr eaLnBrk="1" hangingPunct="1"/>
            <a:endParaRPr lang="fr-EG" altLang="fr-EG" sz="2400">
              <a:latin typeface="Times New Roman" panose="02020603050405020304" pitchFamily="18" charset="0"/>
            </a:endParaRPr>
          </a:p>
        </p:txBody>
      </p:sp>
    </p:spTree>
    <p:extLst>
      <p:ext uri="{BB962C8B-B14F-4D97-AF65-F5344CB8AC3E}">
        <p14:creationId xmlns:p14="http://schemas.microsoft.com/office/powerpoint/2010/main" val="41212056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33CD251C-A887-4D2F-925B-FC09719853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20" name="Freeform: Shape 72">
            <a:extLst>
              <a:ext uri="{FF2B5EF4-FFF2-40B4-BE49-F238E27FC236}">
                <a16:creationId xmlns:a16="http://schemas.microsoft.com/office/drawing/2014/main" id="{3B2069EE-A08E-44F0-B3F9-3CF8CC2DCA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126740" cy="6857542"/>
          </a:xfrm>
          <a:custGeom>
            <a:avLst/>
            <a:gdLst>
              <a:gd name="connsiteX0" fmla="*/ 0 w 6126740"/>
              <a:gd name="connsiteY0" fmla="*/ 0 h 6857542"/>
              <a:gd name="connsiteX1" fmla="*/ 4980067 w 6126740"/>
              <a:gd name="connsiteY1" fmla="*/ 0 h 6857542"/>
              <a:gd name="connsiteX2" fmla="*/ 4992714 w 6126740"/>
              <a:gd name="connsiteY2" fmla="*/ 31774 h 6857542"/>
              <a:gd name="connsiteX3" fmla="*/ 6047722 w 6126740"/>
              <a:gd name="connsiteY3" fmla="*/ 2682457 h 6857542"/>
              <a:gd name="connsiteX4" fmla="*/ 6047722 w 6126740"/>
              <a:gd name="connsiteY4" fmla="*/ 3752208 h 6857542"/>
              <a:gd name="connsiteX5" fmla="*/ 4890218 w 6126740"/>
              <a:gd name="connsiteY5" fmla="*/ 6660411 h 6857542"/>
              <a:gd name="connsiteX6" fmla="*/ 4811756 w 6126740"/>
              <a:gd name="connsiteY6" fmla="*/ 6857542 h 6857542"/>
              <a:gd name="connsiteX7" fmla="*/ 0 w 6126740"/>
              <a:gd name="connsiteY7" fmla="*/ 6857542 h 6857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126740" h="6857542">
                <a:moveTo>
                  <a:pt x="0" y="0"/>
                </a:moveTo>
                <a:lnTo>
                  <a:pt x="4980067" y="0"/>
                </a:lnTo>
                <a:lnTo>
                  <a:pt x="4992714" y="31774"/>
                </a:lnTo>
                <a:cubicBezTo>
                  <a:pt x="6047722" y="2682457"/>
                  <a:pt x="6047722" y="2682457"/>
                  <a:pt x="6047722" y="2682457"/>
                </a:cubicBezTo>
                <a:cubicBezTo>
                  <a:pt x="6153080" y="2988100"/>
                  <a:pt x="6153080" y="3446565"/>
                  <a:pt x="6047722" y="3752208"/>
                </a:cubicBezTo>
                <a:cubicBezTo>
                  <a:pt x="5563735" y="4968215"/>
                  <a:pt x="5185620" y="5918220"/>
                  <a:pt x="4890218" y="6660411"/>
                </a:cubicBezTo>
                <a:lnTo>
                  <a:pt x="4811756" y="6857542"/>
                </a:lnTo>
                <a:lnTo>
                  <a:pt x="0" y="6857542"/>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218" name="Rectangle 8">
            <a:extLst>
              <a:ext uri="{FF2B5EF4-FFF2-40B4-BE49-F238E27FC236}">
                <a16:creationId xmlns:a16="http://schemas.microsoft.com/office/drawing/2014/main" id="{C9987546-5D66-B241-880F-B85D54C1648A}"/>
              </a:ext>
            </a:extLst>
          </p:cNvPr>
          <p:cNvSpPr>
            <a:spLocks noGrp="1" noChangeArrowheads="1"/>
          </p:cNvSpPr>
          <p:nvPr>
            <p:ph type="title" idx="4294967295"/>
          </p:nvPr>
        </p:nvSpPr>
        <p:spPr>
          <a:xfrm>
            <a:off x="767290" y="1289146"/>
            <a:ext cx="4153626" cy="4279709"/>
          </a:xfrm>
        </p:spPr>
        <p:txBody>
          <a:bodyPr vert="horz" lIns="91440" tIns="45720" rIns="91440" bIns="45720" rtlCol="0" anchor="ctr">
            <a:normAutofit/>
          </a:bodyPr>
          <a:lstStyle/>
          <a:p>
            <a:pPr algn="r"/>
            <a:r>
              <a:rPr lang="en-US" altLang="fr-EG" sz="5400" b="1" kern="1200">
                <a:solidFill>
                  <a:schemeClr val="bg1"/>
                </a:solidFill>
                <a:latin typeface="+mj-lt"/>
                <a:ea typeface="+mj-ea"/>
                <a:cs typeface="+mj-cs"/>
              </a:rPr>
              <a:t>SESSION OUTLINE</a:t>
            </a:r>
          </a:p>
        </p:txBody>
      </p:sp>
      <p:grpSp>
        <p:nvGrpSpPr>
          <p:cNvPr id="9221" name="Group 74">
            <a:extLst>
              <a:ext uri="{FF2B5EF4-FFF2-40B4-BE49-F238E27FC236}">
                <a16:creationId xmlns:a16="http://schemas.microsoft.com/office/drawing/2014/main" id="{E12BF2FB-8A96-4B53-86A0-04755C545EB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103027" y="681628"/>
            <a:ext cx="1562267" cy="1172973"/>
            <a:chOff x="7493121" y="1000124"/>
            <a:chExt cx="1562267" cy="1172973"/>
          </a:xfrm>
        </p:grpSpPr>
        <p:sp>
          <p:nvSpPr>
            <p:cNvPr id="76" name="Freeform 5">
              <a:extLst>
                <a:ext uri="{FF2B5EF4-FFF2-40B4-BE49-F238E27FC236}">
                  <a16:creationId xmlns:a16="http://schemas.microsoft.com/office/drawing/2014/main" id="{893D4739-55F8-4E73-8F98-AF42D54BD4A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7493121" y="1348782"/>
              <a:ext cx="935037" cy="824315"/>
            </a:xfrm>
            <a:custGeom>
              <a:avLst/>
              <a:gdLst>
                <a:gd name="T0" fmla="*/ 225 w 785"/>
                <a:gd name="T1" fmla="*/ 692 h 692"/>
                <a:gd name="T2" fmla="*/ 177 w 785"/>
                <a:gd name="T3" fmla="*/ 665 h 692"/>
                <a:gd name="T4" fmla="*/ 9 w 785"/>
                <a:gd name="T5" fmla="*/ 374 h 692"/>
                <a:gd name="T6" fmla="*/ 9 w 785"/>
                <a:gd name="T7" fmla="*/ 318 h 692"/>
                <a:gd name="T8" fmla="*/ 177 w 785"/>
                <a:gd name="T9" fmla="*/ 27 h 692"/>
                <a:gd name="T10" fmla="*/ 225 w 785"/>
                <a:gd name="T11" fmla="*/ 0 h 692"/>
                <a:gd name="T12" fmla="*/ 561 w 785"/>
                <a:gd name="T13" fmla="*/ 0 h 692"/>
                <a:gd name="T14" fmla="*/ 609 w 785"/>
                <a:gd name="T15" fmla="*/ 27 h 692"/>
                <a:gd name="T16" fmla="*/ 777 w 785"/>
                <a:gd name="T17" fmla="*/ 318 h 692"/>
                <a:gd name="T18" fmla="*/ 777 w 785"/>
                <a:gd name="T19" fmla="*/ 374 h 692"/>
                <a:gd name="T20" fmla="*/ 609 w 785"/>
                <a:gd name="T21" fmla="*/ 665 h 692"/>
                <a:gd name="T22" fmla="*/ 561 w 785"/>
                <a:gd name="T23" fmla="*/ 692 h 692"/>
                <a:gd name="T24" fmla="*/ 225 w 785"/>
                <a:gd name="T25" fmla="*/ 692 h 6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5" h="692">
                  <a:moveTo>
                    <a:pt x="225" y="692"/>
                  </a:moveTo>
                  <a:cubicBezTo>
                    <a:pt x="207" y="692"/>
                    <a:pt x="185" y="680"/>
                    <a:pt x="177" y="665"/>
                  </a:cubicBezTo>
                  <a:cubicBezTo>
                    <a:pt x="9" y="374"/>
                    <a:pt x="9" y="374"/>
                    <a:pt x="9" y="374"/>
                  </a:cubicBezTo>
                  <a:cubicBezTo>
                    <a:pt x="0" y="358"/>
                    <a:pt x="0" y="334"/>
                    <a:pt x="9" y="318"/>
                  </a:cubicBezTo>
                  <a:cubicBezTo>
                    <a:pt x="177" y="27"/>
                    <a:pt x="177" y="27"/>
                    <a:pt x="177" y="27"/>
                  </a:cubicBezTo>
                  <a:cubicBezTo>
                    <a:pt x="185" y="12"/>
                    <a:pt x="207" y="0"/>
                    <a:pt x="225" y="0"/>
                  </a:cubicBezTo>
                  <a:cubicBezTo>
                    <a:pt x="561" y="0"/>
                    <a:pt x="561" y="0"/>
                    <a:pt x="561" y="0"/>
                  </a:cubicBezTo>
                  <a:cubicBezTo>
                    <a:pt x="578" y="0"/>
                    <a:pt x="600" y="12"/>
                    <a:pt x="609" y="27"/>
                  </a:cubicBezTo>
                  <a:cubicBezTo>
                    <a:pt x="777" y="318"/>
                    <a:pt x="777" y="318"/>
                    <a:pt x="777" y="318"/>
                  </a:cubicBezTo>
                  <a:cubicBezTo>
                    <a:pt x="785" y="334"/>
                    <a:pt x="785" y="358"/>
                    <a:pt x="777" y="374"/>
                  </a:cubicBezTo>
                  <a:cubicBezTo>
                    <a:pt x="609" y="665"/>
                    <a:pt x="609" y="665"/>
                    <a:pt x="609" y="665"/>
                  </a:cubicBezTo>
                  <a:cubicBezTo>
                    <a:pt x="600" y="680"/>
                    <a:pt x="578" y="692"/>
                    <a:pt x="561" y="692"/>
                  </a:cubicBezTo>
                  <a:lnTo>
                    <a:pt x="225" y="692"/>
                  </a:lnTo>
                  <a:close/>
                </a:path>
              </a:pathLst>
            </a:custGeom>
            <a:noFill/>
            <a:ln w="28575" cmpd="sng">
              <a:solidFill>
                <a:schemeClr val="tx1"/>
              </a:solidFill>
            </a:ln>
          </p:spPr>
          <p:txBody>
            <a:bodyPr vert="horz" wrap="square" lIns="91440" tIns="45720" rIns="91440" bIns="45720" numCol="1" anchor="t" anchorCtr="0" compatLnSpc="1">
              <a:prstTxWarp prst="textNoShape">
                <a:avLst/>
              </a:prstTxWarp>
            </a:bodyPr>
            <a:lstStyle/>
            <a:p>
              <a:endParaRPr lang="en-US"/>
            </a:p>
          </p:txBody>
        </p:sp>
        <p:sp>
          <p:nvSpPr>
            <p:cNvPr id="77" name="Freeform 5">
              <a:extLst>
                <a:ext uri="{FF2B5EF4-FFF2-40B4-BE49-F238E27FC236}">
                  <a16:creationId xmlns:a16="http://schemas.microsoft.com/office/drawing/2014/main" id="{A1AA190F-FB42-4BED-8AA1-A5A01B43C91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8293221" y="1000124"/>
              <a:ext cx="762167" cy="671915"/>
            </a:xfrm>
            <a:custGeom>
              <a:avLst/>
              <a:gdLst>
                <a:gd name="T0" fmla="*/ 225 w 785"/>
                <a:gd name="T1" fmla="*/ 692 h 692"/>
                <a:gd name="T2" fmla="*/ 177 w 785"/>
                <a:gd name="T3" fmla="*/ 665 h 692"/>
                <a:gd name="T4" fmla="*/ 9 w 785"/>
                <a:gd name="T5" fmla="*/ 374 h 692"/>
                <a:gd name="T6" fmla="*/ 9 w 785"/>
                <a:gd name="T7" fmla="*/ 318 h 692"/>
                <a:gd name="T8" fmla="*/ 177 w 785"/>
                <a:gd name="T9" fmla="*/ 27 h 692"/>
                <a:gd name="T10" fmla="*/ 225 w 785"/>
                <a:gd name="T11" fmla="*/ 0 h 692"/>
                <a:gd name="T12" fmla="*/ 561 w 785"/>
                <a:gd name="T13" fmla="*/ 0 h 692"/>
                <a:gd name="T14" fmla="*/ 609 w 785"/>
                <a:gd name="T15" fmla="*/ 27 h 692"/>
                <a:gd name="T16" fmla="*/ 777 w 785"/>
                <a:gd name="T17" fmla="*/ 318 h 692"/>
                <a:gd name="T18" fmla="*/ 777 w 785"/>
                <a:gd name="T19" fmla="*/ 374 h 692"/>
                <a:gd name="T20" fmla="*/ 609 w 785"/>
                <a:gd name="T21" fmla="*/ 665 h 692"/>
                <a:gd name="T22" fmla="*/ 561 w 785"/>
                <a:gd name="T23" fmla="*/ 692 h 692"/>
                <a:gd name="T24" fmla="*/ 225 w 785"/>
                <a:gd name="T25" fmla="*/ 692 h 6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5" h="692">
                  <a:moveTo>
                    <a:pt x="225" y="692"/>
                  </a:moveTo>
                  <a:cubicBezTo>
                    <a:pt x="207" y="692"/>
                    <a:pt x="185" y="680"/>
                    <a:pt x="177" y="665"/>
                  </a:cubicBezTo>
                  <a:cubicBezTo>
                    <a:pt x="9" y="374"/>
                    <a:pt x="9" y="374"/>
                    <a:pt x="9" y="374"/>
                  </a:cubicBezTo>
                  <a:cubicBezTo>
                    <a:pt x="0" y="358"/>
                    <a:pt x="0" y="334"/>
                    <a:pt x="9" y="318"/>
                  </a:cubicBezTo>
                  <a:cubicBezTo>
                    <a:pt x="177" y="27"/>
                    <a:pt x="177" y="27"/>
                    <a:pt x="177" y="27"/>
                  </a:cubicBezTo>
                  <a:cubicBezTo>
                    <a:pt x="185" y="12"/>
                    <a:pt x="207" y="0"/>
                    <a:pt x="225" y="0"/>
                  </a:cubicBezTo>
                  <a:cubicBezTo>
                    <a:pt x="561" y="0"/>
                    <a:pt x="561" y="0"/>
                    <a:pt x="561" y="0"/>
                  </a:cubicBezTo>
                  <a:cubicBezTo>
                    <a:pt x="578" y="0"/>
                    <a:pt x="600" y="12"/>
                    <a:pt x="609" y="27"/>
                  </a:cubicBezTo>
                  <a:cubicBezTo>
                    <a:pt x="777" y="318"/>
                    <a:pt x="777" y="318"/>
                    <a:pt x="777" y="318"/>
                  </a:cubicBezTo>
                  <a:cubicBezTo>
                    <a:pt x="785" y="334"/>
                    <a:pt x="785" y="358"/>
                    <a:pt x="777" y="374"/>
                  </a:cubicBezTo>
                  <a:cubicBezTo>
                    <a:pt x="609" y="665"/>
                    <a:pt x="609" y="665"/>
                    <a:pt x="609" y="665"/>
                  </a:cubicBezTo>
                  <a:cubicBezTo>
                    <a:pt x="600" y="680"/>
                    <a:pt x="578" y="692"/>
                    <a:pt x="561" y="692"/>
                  </a:cubicBezTo>
                  <a:lnTo>
                    <a:pt x="225" y="692"/>
                  </a:lnTo>
                  <a:close/>
                </a:path>
              </a:pathLst>
            </a:custGeom>
            <a:noFill/>
            <a:ln w="28575" cmpd="sng">
              <a:solidFill>
                <a:schemeClr val="tx1"/>
              </a:solidFill>
            </a:ln>
          </p:spPr>
          <p:txBody>
            <a:bodyPr vert="horz" wrap="square" lIns="91440" tIns="45720" rIns="91440" bIns="45720" numCol="1" anchor="t" anchorCtr="0" compatLnSpc="1">
              <a:prstTxWarp prst="textNoShape">
                <a:avLst/>
              </a:prstTxWarp>
            </a:bodyPr>
            <a:lstStyle/>
            <a:p>
              <a:endParaRPr lang="en-US"/>
            </a:p>
          </p:txBody>
        </p:sp>
      </p:grpSp>
      <p:sp>
        <p:nvSpPr>
          <p:cNvPr id="9217" name="Rectangle 9">
            <a:extLst>
              <a:ext uri="{FF2B5EF4-FFF2-40B4-BE49-F238E27FC236}">
                <a16:creationId xmlns:a16="http://schemas.microsoft.com/office/drawing/2014/main" id="{403E2D7F-6846-BE4F-BC40-1B1B27B1840C}"/>
              </a:ext>
            </a:extLst>
          </p:cNvPr>
          <p:cNvSpPr>
            <a:spLocks noGrp="1" noChangeArrowheads="1"/>
          </p:cNvSpPr>
          <p:nvPr>
            <p:ph idx="1"/>
          </p:nvPr>
        </p:nvSpPr>
        <p:spPr>
          <a:xfrm>
            <a:off x="6514140" y="1854601"/>
            <a:ext cx="4776711" cy="3148798"/>
          </a:xfrm>
        </p:spPr>
        <p:txBody>
          <a:bodyPr vert="horz" lIns="91440" tIns="45720" rIns="91440" bIns="45720" rtlCol="0" anchor="ctr">
            <a:normAutofit/>
          </a:bodyPr>
          <a:lstStyle/>
          <a:p>
            <a:pPr lvl="1"/>
            <a:r>
              <a:rPr lang="en-US" altLang="fr-EG" sz="2200" i="0"/>
              <a:t>Why it’s important for you to know about sexual harassment</a:t>
            </a:r>
          </a:p>
          <a:p>
            <a:pPr lvl="1"/>
            <a:r>
              <a:rPr lang="en-US" altLang="fr-EG" sz="2200" i="0"/>
              <a:t>Laws that prohibit sexual harassment in the workplace</a:t>
            </a:r>
          </a:p>
          <a:p>
            <a:pPr lvl="1"/>
            <a:r>
              <a:rPr lang="en-US" altLang="fr-EG" sz="2200" i="0"/>
              <a:t>What constitutes sexual harassment</a:t>
            </a:r>
          </a:p>
          <a:p>
            <a:pPr lvl="1"/>
            <a:r>
              <a:rPr lang="en-US" altLang="fr-EG" sz="2200" i="0"/>
              <a:t>Who is affected by it</a:t>
            </a:r>
          </a:p>
          <a:p>
            <a:pPr lvl="1"/>
            <a:r>
              <a:rPr lang="en-US" altLang="fr-EG" sz="2200" i="0"/>
              <a:t>What to do about it</a:t>
            </a:r>
          </a:p>
          <a:p>
            <a:pPr lvl="1"/>
            <a:r>
              <a:rPr lang="en-US" altLang="fr-EG" sz="2200" i="0"/>
              <a:t>How to prevent it</a:t>
            </a:r>
          </a:p>
          <a:p>
            <a:pPr marL="0"/>
            <a:endParaRPr lang="en-US" altLang="fr-EG" sz="2200"/>
          </a:p>
        </p:txBody>
      </p:sp>
    </p:spTree>
    <p:extLst>
      <p:ext uri="{BB962C8B-B14F-4D97-AF65-F5344CB8AC3E}">
        <p14:creationId xmlns:p14="http://schemas.microsoft.com/office/powerpoint/2010/main" val="40133632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6" name="Rectangle 135">
            <a:extLst>
              <a:ext uri="{FF2B5EF4-FFF2-40B4-BE49-F238E27FC236}">
                <a16:creationId xmlns:a16="http://schemas.microsoft.com/office/drawing/2014/main" id="{33CD251C-A887-4D2F-925B-FC09719853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65" name="Rectangle 5">
            <a:extLst>
              <a:ext uri="{FF2B5EF4-FFF2-40B4-BE49-F238E27FC236}">
                <a16:creationId xmlns:a16="http://schemas.microsoft.com/office/drawing/2014/main" id="{ECA9988F-DACA-2746-8F82-14BFE62CFEBD}"/>
              </a:ext>
            </a:extLst>
          </p:cNvPr>
          <p:cNvSpPr>
            <a:spLocks noGrp="1" noChangeArrowheads="1"/>
          </p:cNvSpPr>
          <p:nvPr>
            <p:ph type="title"/>
          </p:nvPr>
        </p:nvSpPr>
        <p:spPr>
          <a:xfrm>
            <a:off x="1000452" y="1610024"/>
            <a:ext cx="3058621" cy="1457002"/>
          </a:xfrm>
        </p:spPr>
        <p:txBody>
          <a:bodyPr vert="horz" lIns="91440" tIns="45720" rIns="91440" bIns="45720" rtlCol="0" anchor="b">
            <a:normAutofit/>
          </a:bodyPr>
          <a:lstStyle/>
          <a:p>
            <a:r>
              <a:rPr lang="en-US" altLang="fr-EG" sz="3400" b="1"/>
              <a:t>WHY YOU NEED TO KNOW</a:t>
            </a:r>
          </a:p>
        </p:txBody>
      </p:sp>
      <p:grpSp>
        <p:nvGrpSpPr>
          <p:cNvPr id="138" name="Group 137">
            <a:extLst>
              <a:ext uri="{FF2B5EF4-FFF2-40B4-BE49-F238E27FC236}">
                <a16:creationId xmlns:a16="http://schemas.microsoft.com/office/drawing/2014/main" id="{770AE191-D2EA-45C9-A44D-830C188F74C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72021" y="518649"/>
            <a:ext cx="1128382" cy="847206"/>
            <a:chOff x="8183879" y="1000124"/>
            <a:chExt cx="1562267" cy="1172973"/>
          </a:xfrm>
        </p:grpSpPr>
        <p:sp>
          <p:nvSpPr>
            <p:cNvPr id="139" name="Freeform 5">
              <a:extLst>
                <a:ext uri="{FF2B5EF4-FFF2-40B4-BE49-F238E27FC236}">
                  <a16:creationId xmlns:a16="http://schemas.microsoft.com/office/drawing/2014/main" id="{23A0E4C1-B7A6-4637-AC51-4A5AE3841FF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8183879" y="1348782"/>
              <a:ext cx="935037" cy="824315"/>
            </a:xfrm>
            <a:custGeom>
              <a:avLst/>
              <a:gdLst>
                <a:gd name="T0" fmla="*/ 225 w 785"/>
                <a:gd name="T1" fmla="*/ 692 h 692"/>
                <a:gd name="T2" fmla="*/ 177 w 785"/>
                <a:gd name="T3" fmla="*/ 665 h 692"/>
                <a:gd name="T4" fmla="*/ 9 w 785"/>
                <a:gd name="T5" fmla="*/ 374 h 692"/>
                <a:gd name="T6" fmla="*/ 9 w 785"/>
                <a:gd name="T7" fmla="*/ 318 h 692"/>
                <a:gd name="T8" fmla="*/ 177 w 785"/>
                <a:gd name="T9" fmla="*/ 27 h 692"/>
                <a:gd name="T10" fmla="*/ 225 w 785"/>
                <a:gd name="T11" fmla="*/ 0 h 692"/>
                <a:gd name="T12" fmla="*/ 561 w 785"/>
                <a:gd name="T13" fmla="*/ 0 h 692"/>
                <a:gd name="T14" fmla="*/ 609 w 785"/>
                <a:gd name="T15" fmla="*/ 27 h 692"/>
                <a:gd name="T16" fmla="*/ 777 w 785"/>
                <a:gd name="T17" fmla="*/ 318 h 692"/>
                <a:gd name="T18" fmla="*/ 777 w 785"/>
                <a:gd name="T19" fmla="*/ 374 h 692"/>
                <a:gd name="T20" fmla="*/ 609 w 785"/>
                <a:gd name="T21" fmla="*/ 665 h 692"/>
                <a:gd name="T22" fmla="*/ 561 w 785"/>
                <a:gd name="T23" fmla="*/ 692 h 692"/>
                <a:gd name="T24" fmla="*/ 225 w 785"/>
                <a:gd name="T25" fmla="*/ 692 h 6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5" h="692">
                  <a:moveTo>
                    <a:pt x="225" y="692"/>
                  </a:moveTo>
                  <a:cubicBezTo>
                    <a:pt x="207" y="692"/>
                    <a:pt x="185" y="680"/>
                    <a:pt x="177" y="665"/>
                  </a:cubicBezTo>
                  <a:cubicBezTo>
                    <a:pt x="9" y="374"/>
                    <a:pt x="9" y="374"/>
                    <a:pt x="9" y="374"/>
                  </a:cubicBezTo>
                  <a:cubicBezTo>
                    <a:pt x="0" y="358"/>
                    <a:pt x="0" y="334"/>
                    <a:pt x="9" y="318"/>
                  </a:cubicBezTo>
                  <a:cubicBezTo>
                    <a:pt x="177" y="27"/>
                    <a:pt x="177" y="27"/>
                    <a:pt x="177" y="27"/>
                  </a:cubicBezTo>
                  <a:cubicBezTo>
                    <a:pt x="185" y="12"/>
                    <a:pt x="207" y="0"/>
                    <a:pt x="225" y="0"/>
                  </a:cubicBezTo>
                  <a:cubicBezTo>
                    <a:pt x="561" y="0"/>
                    <a:pt x="561" y="0"/>
                    <a:pt x="561" y="0"/>
                  </a:cubicBezTo>
                  <a:cubicBezTo>
                    <a:pt x="578" y="0"/>
                    <a:pt x="600" y="12"/>
                    <a:pt x="609" y="27"/>
                  </a:cubicBezTo>
                  <a:cubicBezTo>
                    <a:pt x="777" y="318"/>
                    <a:pt x="777" y="318"/>
                    <a:pt x="777" y="318"/>
                  </a:cubicBezTo>
                  <a:cubicBezTo>
                    <a:pt x="785" y="334"/>
                    <a:pt x="785" y="358"/>
                    <a:pt x="777" y="374"/>
                  </a:cubicBezTo>
                  <a:cubicBezTo>
                    <a:pt x="609" y="665"/>
                    <a:pt x="609" y="665"/>
                    <a:pt x="609" y="665"/>
                  </a:cubicBezTo>
                  <a:cubicBezTo>
                    <a:pt x="600" y="680"/>
                    <a:pt x="578" y="692"/>
                    <a:pt x="561" y="692"/>
                  </a:cubicBezTo>
                  <a:lnTo>
                    <a:pt x="225" y="692"/>
                  </a:lnTo>
                  <a:close/>
                </a:path>
              </a:pathLst>
            </a:custGeom>
            <a:noFill/>
            <a:ln w="28575" cmpd="sng">
              <a:solidFill>
                <a:schemeClr val="tx1"/>
              </a:solidFill>
            </a:ln>
          </p:spPr>
          <p:txBody>
            <a:bodyPr vert="horz" wrap="square" lIns="91440" tIns="45720" rIns="91440" bIns="45720" numCol="1" anchor="t" anchorCtr="0" compatLnSpc="1">
              <a:prstTxWarp prst="textNoShape">
                <a:avLst/>
              </a:prstTxWarp>
            </a:bodyPr>
            <a:lstStyle/>
            <a:p>
              <a:endParaRPr lang="en-US"/>
            </a:p>
          </p:txBody>
        </p:sp>
        <p:sp>
          <p:nvSpPr>
            <p:cNvPr id="140" name="Freeform 5">
              <a:extLst>
                <a:ext uri="{FF2B5EF4-FFF2-40B4-BE49-F238E27FC236}">
                  <a16:creationId xmlns:a16="http://schemas.microsoft.com/office/drawing/2014/main" id="{F4E8C039-CC58-44F3-8A7B-E0A934C1D01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8983979" y="1000124"/>
              <a:ext cx="762167" cy="671915"/>
            </a:xfrm>
            <a:custGeom>
              <a:avLst/>
              <a:gdLst>
                <a:gd name="T0" fmla="*/ 225 w 785"/>
                <a:gd name="T1" fmla="*/ 692 h 692"/>
                <a:gd name="T2" fmla="*/ 177 w 785"/>
                <a:gd name="T3" fmla="*/ 665 h 692"/>
                <a:gd name="T4" fmla="*/ 9 w 785"/>
                <a:gd name="T5" fmla="*/ 374 h 692"/>
                <a:gd name="T6" fmla="*/ 9 w 785"/>
                <a:gd name="T7" fmla="*/ 318 h 692"/>
                <a:gd name="T8" fmla="*/ 177 w 785"/>
                <a:gd name="T9" fmla="*/ 27 h 692"/>
                <a:gd name="T10" fmla="*/ 225 w 785"/>
                <a:gd name="T11" fmla="*/ 0 h 692"/>
                <a:gd name="T12" fmla="*/ 561 w 785"/>
                <a:gd name="T13" fmla="*/ 0 h 692"/>
                <a:gd name="T14" fmla="*/ 609 w 785"/>
                <a:gd name="T15" fmla="*/ 27 h 692"/>
                <a:gd name="T16" fmla="*/ 777 w 785"/>
                <a:gd name="T17" fmla="*/ 318 h 692"/>
                <a:gd name="T18" fmla="*/ 777 w 785"/>
                <a:gd name="T19" fmla="*/ 374 h 692"/>
                <a:gd name="T20" fmla="*/ 609 w 785"/>
                <a:gd name="T21" fmla="*/ 665 h 692"/>
                <a:gd name="T22" fmla="*/ 561 w 785"/>
                <a:gd name="T23" fmla="*/ 692 h 692"/>
                <a:gd name="T24" fmla="*/ 225 w 785"/>
                <a:gd name="T25" fmla="*/ 692 h 6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5" h="692">
                  <a:moveTo>
                    <a:pt x="225" y="692"/>
                  </a:moveTo>
                  <a:cubicBezTo>
                    <a:pt x="207" y="692"/>
                    <a:pt x="185" y="680"/>
                    <a:pt x="177" y="665"/>
                  </a:cubicBezTo>
                  <a:cubicBezTo>
                    <a:pt x="9" y="374"/>
                    <a:pt x="9" y="374"/>
                    <a:pt x="9" y="374"/>
                  </a:cubicBezTo>
                  <a:cubicBezTo>
                    <a:pt x="0" y="358"/>
                    <a:pt x="0" y="334"/>
                    <a:pt x="9" y="318"/>
                  </a:cubicBezTo>
                  <a:cubicBezTo>
                    <a:pt x="177" y="27"/>
                    <a:pt x="177" y="27"/>
                    <a:pt x="177" y="27"/>
                  </a:cubicBezTo>
                  <a:cubicBezTo>
                    <a:pt x="185" y="12"/>
                    <a:pt x="207" y="0"/>
                    <a:pt x="225" y="0"/>
                  </a:cubicBezTo>
                  <a:cubicBezTo>
                    <a:pt x="561" y="0"/>
                    <a:pt x="561" y="0"/>
                    <a:pt x="561" y="0"/>
                  </a:cubicBezTo>
                  <a:cubicBezTo>
                    <a:pt x="578" y="0"/>
                    <a:pt x="600" y="12"/>
                    <a:pt x="609" y="27"/>
                  </a:cubicBezTo>
                  <a:cubicBezTo>
                    <a:pt x="777" y="318"/>
                    <a:pt x="777" y="318"/>
                    <a:pt x="777" y="318"/>
                  </a:cubicBezTo>
                  <a:cubicBezTo>
                    <a:pt x="785" y="334"/>
                    <a:pt x="785" y="358"/>
                    <a:pt x="777" y="374"/>
                  </a:cubicBezTo>
                  <a:cubicBezTo>
                    <a:pt x="609" y="665"/>
                    <a:pt x="609" y="665"/>
                    <a:pt x="609" y="665"/>
                  </a:cubicBezTo>
                  <a:cubicBezTo>
                    <a:pt x="600" y="680"/>
                    <a:pt x="578" y="692"/>
                    <a:pt x="561" y="692"/>
                  </a:cubicBezTo>
                  <a:lnTo>
                    <a:pt x="225" y="692"/>
                  </a:lnTo>
                  <a:close/>
                </a:path>
              </a:pathLst>
            </a:custGeom>
            <a:noFill/>
            <a:ln w="28575" cmpd="sng">
              <a:solidFill>
                <a:schemeClr val="tx1"/>
              </a:solidFill>
            </a:ln>
          </p:spPr>
          <p:txBody>
            <a:bodyPr vert="horz" wrap="square" lIns="91440" tIns="45720" rIns="91440" bIns="45720" numCol="1" anchor="t" anchorCtr="0" compatLnSpc="1">
              <a:prstTxWarp prst="textNoShape">
                <a:avLst/>
              </a:prstTxWarp>
            </a:bodyPr>
            <a:lstStyle/>
            <a:p>
              <a:endParaRPr lang="en-US"/>
            </a:p>
          </p:txBody>
        </p:sp>
      </p:grpSp>
      <p:sp>
        <p:nvSpPr>
          <p:cNvPr id="19459" name="Rectangle 7">
            <a:extLst>
              <a:ext uri="{FF2B5EF4-FFF2-40B4-BE49-F238E27FC236}">
                <a16:creationId xmlns:a16="http://schemas.microsoft.com/office/drawing/2014/main" id="{E9FF2B96-9BDB-5245-962B-1AE369B7BCE2}"/>
              </a:ext>
            </a:extLst>
          </p:cNvPr>
          <p:cNvSpPr>
            <a:spLocks noGrp="1" noChangeArrowheads="1"/>
          </p:cNvSpPr>
          <p:nvPr>
            <p:ph type="body" sz="half" idx="1"/>
          </p:nvPr>
        </p:nvSpPr>
        <p:spPr>
          <a:xfrm>
            <a:off x="1000450" y="3067026"/>
            <a:ext cx="3058623" cy="3272324"/>
          </a:xfrm>
        </p:spPr>
        <p:txBody>
          <a:bodyPr vert="horz" lIns="91440" tIns="45720" rIns="91440" bIns="45720" rtlCol="0" anchor="t">
            <a:normAutofit/>
          </a:bodyPr>
          <a:lstStyle/>
          <a:p>
            <a:pPr lvl="1">
              <a:defRPr/>
            </a:pPr>
            <a:r>
              <a:rPr lang="en-US" altLang="fr-EG" sz="1700"/>
              <a:t>We all have the right to fair treatment at work</a:t>
            </a:r>
          </a:p>
          <a:p>
            <a:pPr lvl="1">
              <a:defRPr/>
            </a:pPr>
            <a:r>
              <a:rPr lang="en-US" altLang="fr-EG" sz="1700"/>
              <a:t>Sexual harassment harms everyone</a:t>
            </a:r>
          </a:p>
          <a:p>
            <a:pPr lvl="1">
              <a:defRPr/>
            </a:pPr>
            <a:r>
              <a:rPr lang="en-US" altLang="fr-EG" sz="1700"/>
              <a:t>It undermines the trust and respect necessary for a productive work environment</a:t>
            </a:r>
          </a:p>
          <a:p>
            <a:pPr lvl="1">
              <a:defRPr/>
            </a:pPr>
            <a:r>
              <a:rPr lang="en-US" altLang="fr-EG" sz="1700"/>
              <a:t>Men and women on every level may be harassers or victims</a:t>
            </a:r>
          </a:p>
          <a:p>
            <a:pPr marL="0">
              <a:defRPr/>
            </a:pPr>
            <a:endParaRPr lang="en-US" altLang="fr-EG" sz="1700"/>
          </a:p>
        </p:txBody>
      </p:sp>
      <p:pic>
        <p:nvPicPr>
          <p:cNvPr id="11267" name="Picture 9">
            <a:extLst>
              <a:ext uri="{FF2B5EF4-FFF2-40B4-BE49-F238E27FC236}">
                <a16:creationId xmlns:a16="http://schemas.microsoft.com/office/drawing/2014/main" id="{31F873F5-AAE4-8B4F-9B6A-876E93565AD2}"/>
              </a:ext>
            </a:extLst>
          </p:cNvPr>
          <p:cNvPicPr>
            <a:picLocks noGrp="1" noChangeAspect="1" noChangeArrowheads="1"/>
          </p:cNvPicPr>
          <p:nvPr>
            <p:ph sz="half" idx="2"/>
          </p:nvPr>
        </p:nvPicPr>
        <p:blipFill rotWithShape="1">
          <a:blip r:embed="rId3">
            <a:extLst>
              <a:ext uri="{28A0092B-C50C-407E-A947-70E740481C1C}">
                <a14:useLocalDpi xmlns:a14="http://schemas.microsoft.com/office/drawing/2010/main" val="0"/>
              </a:ext>
            </a:extLst>
          </a:blip>
          <a:srcRect l="3564" r="23727" b="-1"/>
          <a:stretch/>
        </p:blipFill>
        <p:spPr>
          <a:xfrm>
            <a:off x="4636963" y="10"/>
            <a:ext cx="7555037" cy="6857990"/>
          </a:xfrm>
          <a:prstGeom prst="rect">
            <a:avLst/>
          </a:prstGeom>
          <a:noFill/>
        </p:spPr>
      </p:pic>
    </p:spTree>
    <p:extLst>
      <p:ext uri="{BB962C8B-B14F-4D97-AF65-F5344CB8AC3E}">
        <p14:creationId xmlns:p14="http://schemas.microsoft.com/office/powerpoint/2010/main" val="29015104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33CD251C-A887-4D2F-925B-FC09719853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Freeform: Shape 72">
            <a:extLst>
              <a:ext uri="{FF2B5EF4-FFF2-40B4-BE49-F238E27FC236}">
                <a16:creationId xmlns:a16="http://schemas.microsoft.com/office/drawing/2014/main" id="{3B2069EE-A08E-44F0-B3F9-3CF8CC2DCA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126740" cy="6857542"/>
          </a:xfrm>
          <a:custGeom>
            <a:avLst/>
            <a:gdLst>
              <a:gd name="connsiteX0" fmla="*/ 0 w 6126740"/>
              <a:gd name="connsiteY0" fmla="*/ 0 h 6857542"/>
              <a:gd name="connsiteX1" fmla="*/ 4980067 w 6126740"/>
              <a:gd name="connsiteY1" fmla="*/ 0 h 6857542"/>
              <a:gd name="connsiteX2" fmla="*/ 4992714 w 6126740"/>
              <a:gd name="connsiteY2" fmla="*/ 31774 h 6857542"/>
              <a:gd name="connsiteX3" fmla="*/ 6047722 w 6126740"/>
              <a:gd name="connsiteY3" fmla="*/ 2682457 h 6857542"/>
              <a:gd name="connsiteX4" fmla="*/ 6047722 w 6126740"/>
              <a:gd name="connsiteY4" fmla="*/ 3752208 h 6857542"/>
              <a:gd name="connsiteX5" fmla="*/ 4890218 w 6126740"/>
              <a:gd name="connsiteY5" fmla="*/ 6660411 h 6857542"/>
              <a:gd name="connsiteX6" fmla="*/ 4811756 w 6126740"/>
              <a:gd name="connsiteY6" fmla="*/ 6857542 h 6857542"/>
              <a:gd name="connsiteX7" fmla="*/ 0 w 6126740"/>
              <a:gd name="connsiteY7" fmla="*/ 6857542 h 6857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126740" h="6857542">
                <a:moveTo>
                  <a:pt x="0" y="0"/>
                </a:moveTo>
                <a:lnTo>
                  <a:pt x="4980067" y="0"/>
                </a:lnTo>
                <a:lnTo>
                  <a:pt x="4992714" y="31774"/>
                </a:lnTo>
                <a:cubicBezTo>
                  <a:pt x="6047722" y="2682457"/>
                  <a:pt x="6047722" y="2682457"/>
                  <a:pt x="6047722" y="2682457"/>
                </a:cubicBezTo>
                <a:cubicBezTo>
                  <a:pt x="6153080" y="2988100"/>
                  <a:pt x="6153080" y="3446565"/>
                  <a:pt x="6047722" y="3752208"/>
                </a:cubicBezTo>
                <a:cubicBezTo>
                  <a:pt x="5563735" y="4968215"/>
                  <a:pt x="5185620" y="5918220"/>
                  <a:pt x="4890218" y="6660411"/>
                </a:cubicBezTo>
                <a:lnTo>
                  <a:pt x="4811756" y="6857542"/>
                </a:lnTo>
                <a:lnTo>
                  <a:pt x="0" y="6857542"/>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313" name="Rectangle 2">
            <a:extLst>
              <a:ext uri="{FF2B5EF4-FFF2-40B4-BE49-F238E27FC236}">
                <a16:creationId xmlns:a16="http://schemas.microsoft.com/office/drawing/2014/main" id="{C6B39A1C-2E50-9A47-AD53-BB0CB3FD8704}"/>
              </a:ext>
            </a:extLst>
          </p:cNvPr>
          <p:cNvSpPr>
            <a:spLocks noGrp="1" noChangeArrowheads="1"/>
          </p:cNvSpPr>
          <p:nvPr>
            <p:ph type="title"/>
          </p:nvPr>
        </p:nvSpPr>
        <p:spPr>
          <a:xfrm>
            <a:off x="767290" y="1289146"/>
            <a:ext cx="4153626" cy="4279709"/>
          </a:xfrm>
        </p:spPr>
        <p:txBody>
          <a:bodyPr anchor="ctr">
            <a:normAutofit/>
          </a:bodyPr>
          <a:lstStyle/>
          <a:p>
            <a:pPr algn="r"/>
            <a:r>
              <a:rPr lang="en-US" altLang="fr-EG" sz="5400">
                <a:solidFill>
                  <a:schemeClr val="bg1"/>
                </a:solidFill>
              </a:rPr>
              <a:t>HOW WIDESPREAD IS SEXUAL HARASSMENT</a:t>
            </a:r>
          </a:p>
        </p:txBody>
      </p:sp>
      <p:grpSp>
        <p:nvGrpSpPr>
          <p:cNvPr id="75" name="Group 74">
            <a:extLst>
              <a:ext uri="{FF2B5EF4-FFF2-40B4-BE49-F238E27FC236}">
                <a16:creationId xmlns:a16="http://schemas.microsoft.com/office/drawing/2014/main" id="{E12BF2FB-8A96-4B53-86A0-04755C545EB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103027" y="681628"/>
            <a:ext cx="1562267" cy="1172973"/>
            <a:chOff x="7493121" y="1000124"/>
            <a:chExt cx="1562267" cy="1172973"/>
          </a:xfrm>
        </p:grpSpPr>
        <p:sp>
          <p:nvSpPr>
            <p:cNvPr id="76" name="Freeform 5">
              <a:extLst>
                <a:ext uri="{FF2B5EF4-FFF2-40B4-BE49-F238E27FC236}">
                  <a16:creationId xmlns:a16="http://schemas.microsoft.com/office/drawing/2014/main" id="{893D4739-55F8-4E73-8F98-AF42D54BD4A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7493121" y="1348782"/>
              <a:ext cx="935037" cy="824315"/>
            </a:xfrm>
            <a:custGeom>
              <a:avLst/>
              <a:gdLst>
                <a:gd name="T0" fmla="*/ 225 w 785"/>
                <a:gd name="T1" fmla="*/ 692 h 692"/>
                <a:gd name="T2" fmla="*/ 177 w 785"/>
                <a:gd name="T3" fmla="*/ 665 h 692"/>
                <a:gd name="T4" fmla="*/ 9 w 785"/>
                <a:gd name="T5" fmla="*/ 374 h 692"/>
                <a:gd name="T6" fmla="*/ 9 w 785"/>
                <a:gd name="T7" fmla="*/ 318 h 692"/>
                <a:gd name="T8" fmla="*/ 177 w 785"/>
                <a:gd name="T9" fmla="*/ 27 h 692"/>
                <a:gd name="T10" fmla="*/ 225 w 785"/>
                <a:gd name="T11" fmla="*/ 0 h 692"/>
                <a:gd name="T12" fmla="*/ 561 w 785"/>
                <a:gd name="T13" fmla="*/ 0 h 692"/>
                <a:gd name="T14" fmla="*/ 609 w 785"/>
                <a:gd name="T15" fmla="*/ 27 h 692"/>
                <a:gd name="T16" fmla="*/ 777 w 785"/>
                <a:gd name="T17" fmla="*/ 318 h 692"/>
                <a:gd name="T18" fmla="*/ 777 w 785"/>
                <a:gd name="T19" fmla="*/ 374 h 692"/>
                <a:gd name="T20" fmla="*/ 609 w 785"/>
                <a:gd name="T21" fmla="*/ 665 h 692"/>
                <a:gd name="T22" fmla="*/ 561 w 785"/>
                <a:gd name="T23" fmla="*/ 692 h 692"/>
                <a:gd name="T24" fmla="*/ 225 w 785"/>
                <a:gd name="T25" fmla="*/ 692 h 6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5" h="692">
                  <a:moveTo>
                    <a:pt x="225" y="692"/>
                  </a:moveTo>
                  <a:cubicBezTo>
                    <a:pt x="207" y="692"/>
                    <a:pt x="185" y="680"/>
                    <a:pt x="177" y="665"/>
                  </a:cubicBezTo>
                  <a:cubicBezTo>
                    <a:pt x="9" y="374"/>
                    <a:pt x="9" y="374"/>
                    <a:pt x="9" y="374"/>
                  </a:cubicBezTo>
                  <a:cubicBezTo>
                    <a:pt x="0" y="358"/>
                    <a:pt x="0" y="334"/>
                    <a:pt x="9" y="318"/>
                  </a:cubicBezTo>
                  <a:cubicBezTo>
                    <a:pt x="177" y="27"/>
                    <a:pt x="177" y="27"/>
                    <a:pt x="177" y="27"/>
                  </a:cubicBezTo>
                  <a:cubicBezTo>
                    <a:pt x="185" y="12"/>
                    <a:pt x="207" y="0"/>
                    <a:pt x="225" y="0"/>
                  </a:cubicBezTo>
                  <a:cubicBezTo>
                    <a:pt x="561" y="0"/>
                    <a:pt x="561" y="0"/>
                    <a:pt x="561" y="0"/>
                  </a:cubicBezTo>
                  <a:cubicBezTo>
                    <a:pt x="578" y="0"/>
                    <a:pt x="600" y="12"/>
                    <a:pt x="609" y="27"/>
                  </a:cubicBezTo>
                  <a:cubicBezTo>
                    <a:pt x="777" y="318"/>
                    <a:pt x="777" y="318"/>
                    <a:pt x="777" y="318"/>
                  </a:cubicBezTo>
                  <a:cubicBezTo>
                    <a:pt x="785" y="334"/>
                    <a:pt x="785" y="358"/>
                    <a:pt x="777" y="374"/>
                  </a:cubicBezTo>
                  <a:cubicBezTo>
                    <a:pt x="609" y="665"/>
                    <a:pt x="609" y="665"/>
                    <a:pt x="609" y="665"/>
                  </a:cubicBezTo>
                  <a:cubicBezTo>
                    <a:pt x="600" y="680"/>
                    <a:pt x="578" y="692"/>
                    <a:pt x="561" y="692"/>
                  </a:cubicBezTo>
                  <a:lnTo>
                    <a:pt x="225" y="692"/>
                  </a:lnTo>
                  <a:close/>
                </a:path>
              </a:pathLst>
            </a:custGeom>
            <a:noFill/>
            <a:ln w="28575" cmpd="sng">
              <a:solidFill>
                <a:schemeClr val="tx1"/>
              </a:solidFill>
            </a:ln>
          </p:spPr>
          <p:txBody>
            <a:bodyPr vert="horz" wrap="square" lIns="91440" tIns="45720" rIns="91440" bIns="45720" numCol="1" anchor="t" anchorCtr="0" compatLnSpc="1">
              <a:prstTxWarp prst="textNoShape">
                <a:avLst/>
              </a:prstTxWarp>
            </a:bodyPr>
            <a:lstStyle/>
            <a:p>
              <a:endParaRPr lang="en-US"/>
            </a:p>
          </p:txBody>
        </p:sp>
        <p:sp>
          <p:nvSpPr>
            <p:cNvPr id="77" name="Freeform 5">
              <a:extLst>
                <a:ext uri="{FF2B5EF4-FFF2-40B4-BE49-F238E27FC236}">
                  <a16:creationId xmlns:a16="http://schemas.microsoft.com/office/drawing/2014/main" id="{A1AA190F-FB42-4BED-8AA1-A5A01B43C91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8293221" y="1000124"/>
              <a:ext cx="762167" cy="671915"/>
            </a:xfrm>
            <a:custGeom>
              <a:avLst/>
              <a:gdLst>
                <a:gd name="T0" fmla="*/ 225 w 785"/>
                <a:gd name="T1" fmla="*/ 692 h 692"/>
                <a:gd name="T2" fmla="*/ 177 w 785"/>
                <a:gd name="T3" fmla="*/ 665 h 692"/>
                <a:gd name="T4" fmla="*/ 9 w 785"/>
                <a:gd name="T5" fmla="*/ 374 h 692"/>
                <a:gd name="T6" fmla="*/ 9 w 785"/>
                <a:gd name="T7" fmla="*/ 318 h 692"/>
                <a:gd name="T8" fmla="*/ 177 w 785"/>
                <a:gd name="T9" fmla="*/ 27 h 692"/>
                <a:gd name="T10" fmla="*/ 225 w 785"/>
                <a:gd name="T11" fmla="*/ 0 h 692"/>
                <a:gd name="T12" fmla="*/ 561 w 785"/>
                <a:gd name="T13" fmla="*/ 0 h 692"/>
                <a:gd name="T14" fmla="*/ 609 w 785"/>
                <a:gd name="T15" fmla="*/ 27 h 692"/>
                <a:gd name="T16" fmla="*/ 777 w 785"/>
                <a:gd name="T17" fmla="*/ 318 h 692"/>
                <a:gd name="T18" fmla="*/ 777 w 785"/>
                <a:gd name="T19" fmla="*/ 374 h 692"/>
                <a:gd name="T20" fmla="*/ 609 w 785"/>
                <a:gd name="T21" fmla="*/ 665 h 692"/>
                <a:gd name="T22" fmla="*/ 561 w 785"/>
                <a:gd name="T23" fmla="*/ 692 h 692"/>
                <a:gd name="T24" fmla="*/ 225 w 785"/>
                <a:gd name="T25" fmla="*/ 692 h 6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5" h="692">
                  <a:moveTo>
                    <a:pt x="225" y="692"/>
                  </a:moveTo>
                  <a:cubicBezTo>
                    <a:pt x="207" y="692"/>
                    <a:pt x="185" y="680"/>
                    <a:pt x="177" y="665"/>
                  </a:cubicBezTo>
                  <a:cubicBezTo>
                    <a:pt x="9" y="374"/>
                    <a:pt x="9" y="374"/>
                    <a:pt x="9" y="374"/>
                  </a:cubicBezTo>
                  <a:cubicBezTo>
                    <a:pt x="0" y="358"/>
                    <a:pt x="0" y="334"/>
                    <a:pt x="9" y="318"/>
                  </a:cubicBezTo>
                  <a:cubicBezTo>
                    <a:pt x="177" y="27"/>
                    <a:pt x="177" y="27"/>
                    <a:pt x="177" y="27"/>
                  </a:cubicBezTo>
                  <a:cubicBezTo>
                    <a:pt x="185" y="12"/>
                    <a:pt x="207" y="0"/>
                    <a:pt x="225" y="0"/>
                  </a:cubicBezTo>
                  <a:cubicBezTo>
                    <a:pt x="561" y="0"/>
                    <a:pt x="561" y="0"/>
                    <a:pt x="561" y="0"/>
                  </a:cubicBezTo>
                  <a:cubicBezTo>
                    <a:pt x="578" y="0"/>
                    <a:pt x="600" y="12"/>
                    <a:pt x="609" y="27"/>
                  </a:cubicBezTo>
                  <a:cubicBezTo>
                    <a:pt x="777" y="318"/>
                    <a:pt x="777" y="318"/>
                    <a:pt x="777" y="318"/>
                  </a:cubicBezTo>
                  <a:cubicBezTo>
                    <a:pt x="785" y="334"/>
                    <a:pt x="785" y="358"/>
                    <a:pt x="777" y="374"/>
                  </a:cubicBezTo>
                  <a:cubicBezTo>
                    <a:pt x="609" y="665"/>
                    <a:pt x="609" y="665"/>
                    <a:pt x="609" y="665"/>
                  </a:cubicBezTo>
                  <a:cubicBezTo>
                    <a:pt x="600" y="680"/>
                    <a:pt x="578" y="692"/>
                    <a:pt x="561" y="692"/>
                  </a:cubicBezTo>
                  <a:lnTo>
                    <a:pt x="225" y="692"/>
                  </a:lnTo>
                  <a:close/>
                </a:path>
              </a:pathLst>
            </a:custGeom>
            <a:noFill/>
            <a:ln w="28575" cmpd="sng">
              <a:solidFill>
                <a:schemeClr val="tx1"/>
              </a:solidFill>
            </a:ln>
          </p:spPr>
          <p:txBody>
            <a:bodyPr vert="horz" wrap="square" lIns="91440" tIns="45720" rIns="91440" bIns="45720" numCol="1" anchor="t" anchorCtr="0" compatLnSpc="1">
              <a:prstTxWarp prst="textNoShape">
                <a:avLst/>
              </a:prstTxWarp>
            </a:bodyPr>
            <a:lstStyle/>
            <a:p>
              <a:endParaRPr lang="en-US"/>
            </a:p>
          </p:txBody>
        </p:sp>
      </p:grpSp>
      <p:sp>
        <p:nvSpPr>
          <p:cNvPr id="13314" name="Rectangle 3">
            <a:extLst>
              <a:ext uri="{FF2B5EF4-FFF2-40B4-BE49-F238E27FC236}">
                <a16:creationId xmlns:a16="http://schemas.microsoft.com/office/drawing/2014/main" id="{49CC9100-E977-3043-856B-C5C738C22387}"/>
              </a:ext>
            </a:extLst>
          </p:cNvPr>
          <p:cNvSpPr>
            <a:spLocks noGrp="1" noChangeArrowheads="1"/>
          </p:cNvSpPr>
          <p:nvPr>
            <p:ph idx="1"/>
          </p:nvPr>
        </p:nvSpPr>
        <p:spPr>
          <a:xfrm>
            <a:off x="6514140" y="1854601"/>
            <a:ext cx="4776711" cy="3148798"/>
          </a:xfrm>
        </p:spPr>
        <p:txBody>
          <a:bodyPr anchor="ctr">
            <a:normAutofit/>
          </a:bodyPr>
          <a:lstStyle/>
          <a:p>
            <a:pPr lvl="1">
              <a:buFont typeface="Wingdings" pitchFamily="2" charset="2"/>
              <a:buChar char="§"/>
            </a:pPr>
            <a:r>
              <a:rPr lang="en-US" altLang="fr-EG" sz="2000" i="0"/>
              <a:t>About 70% of women and 20% of men have experienced sexual harassment</a:t>
            </a:r>
          </a:p>
          <a:p>
            <a:pPr lvl="1">
              <a:buFont typeface="Wingdings" pitchFamily="2" charset="2"/>
              <a:buChar char="§"/>
            </a:pPr>
            <a:r>
              <a:rPr lang="en-US" altLang="fr-EG" sz="2000" i="0"/>
              <a:t>About 15,000 sexual harassment cases are filed each year</a:t>
            </a:r>
          </a:p>
          <a:p>
            <a:pPr lvl="1">
              <a:buFont typeface="Wingdings" pitchFamily="2" charset="2"/>
              <a:buChar char="§"/>
            </a:pPr>
            <a:r>
              <a:rPr lang="en-US" altLang="fr-EG" sz="2000" i="0"/>
              <a:t>Charges of sexual harassment cost U.S. companies almost $40 million each year</a:t>
            </a:r>
          </a:p>
          <a:p>
            <a:pPr lvl="1">
              <a:buFont typeface="Wingdings" pitchFamily="2" charset="2"/>
              <a:buChar char="§"/>
            </a:pPr>
            <a:r>
              <a:rPr lang="en-US" altLang="fr-EG" sz="2000" i="0"/>
              <a:t>Complaints filed by men have more than tripled in recent years</a:t>
            </a:r>
          </a:p>
          <a:p>
            <a:pPr lvl="1">
              <a:buFont typeface="Symbol" pitchFamily="2" charset="2"/>
              <a:buChar char=""/>
            </a:pPr>
            <a:endParaRPr lang="en-US" altLang="fr-EG" sz="2000"/>
          </a:p>
        </p:txBody>
      </p:sp>
    </p:spTree>
    <p:extLst>
      <p:ext uri="{BB962C8B-B14F-4D97-AF65-F5344CB8AC3E}">
        <p14:creationId xmlns:p14="http://schemas.microsoft.com/office/powerpoint/2010/main" val="18292203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PhAnim="0">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33CD251C-A887-4D2F-925B-FC09719853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361" name="Rectangle 15">
            <a:extLst>
              <a:ext uri="{FF2B5EF4-FFF2-40B4-BE49-F238E27FC236}">
                <a16:creationId xmlns:a16="http://schemas.microsoft.com/office/drawing/2014/main" id="{F4A4EE4C-CF93-9D4D-996F-4A0B08204EFC}"/>
              </a:ext>
            </a:extLst>
          </p:cNvPr>
          <p:cNvSpPr>
            <a:spLocks noGrp="1" noChangeArrowheads="1"/>
          </p:cNvSpPr>
          <p:nvPr>
            <p:ph type="title"/>
          </p:nvPr>
        </p:nvSpPr>
        <p:spPr>
          <a:xfrm>
            <a:off x="1000452" y="1610024"/>
            <a:ext cx="3058621" cy="1457002"/>
          </a:xfrm>
        </p:spPr>
        <p:txBody>
          <a:bodyPr vert="horz" lIns="91440" tIns="45720" rIns="91440" bIns="45720" rtlCol="0" anchor="b">
            <a:normAutofit fontScale="90000"/>
          </a:bodyPr>
          <a:lstStyle/>
          <a:p>
            <a:r>
              <a:rPr lang="en-US" altLang="fr-EG" sz="4000" b="1"/>
              <a:t>HARASSMENT AND THE LAW</a:t>
            </a:r>
            <a:endParaRPr lang="en-US" altLang="fr-EG" sz="4000"/>
          </a:p>
        </p:txBody>
      </p:sp>
      <p:grpSp>
        <p:nvGrpSpPr>
          <p:cNvPr id="74" name="Group 73">
            <a:extLst>
              <a:ext uri="{FF2B5EF4-FFF2-40B4-BE49-F238E27FC236}">
                <a16:creationId xmlns:a16="http://schemas.microsoft.com/office/drawing/2014/main" id="{770AE191-D2EA-45C9-A44D-830C188F74C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72021" y="518649"/>
            <a:ext cx="1128382" cy="847206"/>
            <a:chOff x="8183879" y="1000124"/>
            <a:chExt cx="1562267" cy="1172973"/>
          </a:xfrm>
        </p:grpSpPr>
        <p:sp>
          <p:nvSpPr>
            <p:cNvPr id="75" name="Freeform 5">
              <a:extLst>
                <a:ext uri="{FF2B5EF4-FFF2-40B4-BE49-F238E27FC236}">
                  <a16:creationId xmlns:a16="http://schemas.microsoft.com/office/drawing/2014/main" id="{23A0E4C1-B7A6-4637-AC51-4A5AE3841FF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8183879" y="1348782"/>
              <a:ext cx="935037" cy="824315"/>
            </a:xfrm>
            <a:custGeom>
              <a:avLst/>
              <a:gdLst>
                <a:gd name="T0" fmla="*/ 225 w 785"/>
                <a:gd name="T1" fmla="*/ 692 h 692"/>
                <a:gd name="T2" fmla="*/ 177 w 785"/>
                <a:gd name="T3" fmla="*/ 665 h 692"/>
                <a:gd name="T4" fmla="*/ 9 w 785"/>
                <a:gd name="T5" fmla="*/ 374 h 692"/>
                <a:gd name="T6" fmla="*/ 9 w 785"/>
                <a:gd name="T7" fmla="*/ 318 h 692"/>
                <a:gd name="T8" fmla="*/ 177 w 785"/>
                <a:gd name="T9" fmla="*/ 27 h 692"/>
                <a:gd name="T10" fmla="*/ 225 w 785"/>
                <a:gd name="T11" fmla="*/ 0 h 692"/>
                <a:gd name="T12" fmla="*/ 561 w 785"/>
                <a:gd name="T13" fmla="*/ 0 h 692"/>
                <a:gd name="T14" fmla="*/ 609 w 785"/>
                <a:gd name="T15" fmla="*/ 27 h 692"/>
                <a:gd name="T16" fmla="*/ 777 w 785"/>
                <a:gd name="T17" fmla="*/ 318 h 692"/>
                <a:gd name="T18" fmla="*/ 777 w 785"/>
                <a:gd name="T19" fmla="*/ 374 h 692"/>
                <a:gd name="T20" fmla="*/ 609 w 785"/>
                <a:gd name="T21" fmla="*/ 665 h 692"/>
                <a:gd name="T22" fmla="*/ 561 w 785"/>
                <a:gd name="T23" fmla="*/ 692 h 692"/>
                <a:gd name="T24" fmla="*/ 225 w 785"/>
                <a:gd name="T25" fmla="*/ 692 h 6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5" h="692">
                  <a:moveTo>
                    <a:pt x="225" y="692"/>
                  </a:moveTo>
                  <a:cubicBezTo>
                    <a:pt x="207" y="692"/>
                    <a:pt x="185" y="680"/>
                    <a:pt x="177" y="665"/>
                  </a:cubicBezTo>
                  <a:cubicBezTo>
                    <a:pt x="9" y="374"/>
                    <a:pt x="9" y="374"/>
                    <a:pt x="9" y="374"/>
                  </a:cubicBezTo>
                  <a:cubicBezTo>
                    <a:pt x="0" y="358"/>
                    <a:pt x="0" y="334"/>
                    <a:pt x="9" y="318"/>
                  </a:cubicBezTo>
                  <a:cubicBezTo>
                    <a:pt x="177" y="27"/>
                    <a:pt x="177" y="27"/>
                    <a:pt x="177" y="27"/>
                  </a:cubicBezTo>
                  <a:cubicBezTo>
                    <a:pt x="185" y="12"/>
                    <a:pt x="207" y="0"/>
                    <a:pt x="225" y="0"/>
                  </a:cubicBezTo>
                  <a:cubicBezTo>
                    <a:pt x="561" y="0"/>
                    <a:pt x="561" y="0"/>
                    <a:pt x="561" y="0"/>
                  </a:cubicBezTo>
                  <a:cubicBezTo>
                    <a:pt x="578" y="0"/>
                    <a:pt x="600" y="12"/>
                    <a:pt x="609" y="27"/>
                  </a:cubicBezTo>
                  <a:cubicBezTo>
                    <a:pt x="777" y="318"/>
                    <a:pt x="777" y="318"/>
                    <a:pt x="777" y="318"/>
                  </a:cubicBezTo>
                  <a:cubicBezTo>
                    <a:pt x="785" y="334"/>
                    <a:pt x="785" y="358"/>
                    <a:pt x="777" y="374"/>
                  </a:cubicBezTo>
                  <a:cubicBezTo>
                    <a:pt x="609" y="665"/>
                    <a:pt x="609" y="665"/>
                    <a:pt x="609" y="665"/>
                  </a:cubicBezTo>
                  <a:cubicBezTo>
                    <a:pt x="600" y="680"/>
                    <a:pt x="578" y="692"/>
                    <a:pt x="561" y="692"/>
                  </a:cubicBezTo>
                  <a:lnTo>
                    <a:pt x="225" y="692"/>
                  </a:lnTo>
                  <a:close/>
                </a:path>
              </a:pathLst>
            </a:custGeom>
            <a:noFill/>
            <a:ln w="28575" cmpd="sng">
              <a:solidFill>
                <a:schemeClr val="tx1"/>
              </a:solidFill>
            </a:ln>
          </p:spPr>
          <p:txBody>
            <a:bodyPr vert="horz" wrap="square" lIns="91440" tIns="45720" rIns="91440" bIns="45720" numCol="1" anchor="t" anchorCtr="0" compatLnSpc="1">
              <a:prstTxWarp prst="textNoShape">
                <a:avLst/>
              </a:prstTxWarp>
            </a:bodyPr>
            <a:lstStyle/>
            <a:p>
              <a:endParaRPr lang="en-US"/>
            </a:p>
          </p:txBody>
        </p:sp>
        <p:sp>
          <p:nvSpPr>
            <p:cNvPr id="76" name="Freeform 5">
              <a:extLst>
                <a:ext uri="{FF2B5EF4-FFF2-40B4-BE49-F238E27FC236}">
                  <a16:creationId xmlns:a16="http://schemas.microsoft.com/office/drawing/2014/main" id="{F4E8C039-CC58-44F3-8A7B-E0A934C1D01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8983979" y="1000124"/>
              <a:ext cx="762167" cy="671915"/>
            </a:xfrm>
            <a:custGeom>
              <a:avLst/>
              <a:gdLst>
                <a:gd name="T0" fmla="*/ 225 w 785"/>
                <a:gd name="T1" fmla="*/ 692 h 692"/>
                <a:gd name="T2" fmla="*/ 177 w 785"/>
                <a:gd name="T3" fmla="*/ 665 h 692"/>
                <a:gd name="T4" fmla="*/ 9 w 785"/>
                <a:gd name="T5" fmla="*/ 374 h 692"/>
                <a:gd name="T6" fmla="*/ 9 w 785"/>
                <a:gd name="T7" fmla="*/ 318 h 692"/>
                <a:gd name="T8" fmla="*/ 177 w 785"/>
                <a:gd name="T9" fmla="*/ 27 h 692"/>
                <a:gd name="T10" fmla="*/ 225 w 785"/>
                <a:gd name="T11" fmla="*/ 0 h 692"/>
                <a:gd name="T12" fmla="*/ 561 w 785"/>
                <a:gd name="T13" fmla="*/ 0 h 692"/>
                <a:gd name="T14" fmla="*/ 609 w 785"/>
                <a:gd name="T15" fmla="*/ 27 h 692"/>
                <a:gd name="T16" fmla="*/ 777 w 785"/>
                <a:gd name="T17" fmla="*/ 318 h 692"/>
                <a:gd name="T18" fmla="*/ 777 w 785"/>
                <a:gd name="T19" fmla="*/ 374 h 692"/>
                <a:gd name="T20" fmla="*/ 609 w 785"/>
                <a:gd name="T21" fmla="*/ 665 h 692"/>
                <a:gd name="T22" fmla="*/ 561 w 785"/>
                <a:gd name="T23" fmla="*/ 692 h 692"/>
                <a:gd name="T24" fmla="*/ 225 w 785"/>
                <a:gd name="T25" fmla="*/ 692 h 6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5" h="692">
                  <a:moveTo>
                    <a:pt x="225" y="692"/>
                  </a:moveTo>
                  <a:cubicBezTo>
                    <a:pt x="207" y="692"/>
                    <a:pt x="185" y="680"/>
                    <a:pt x="177" y="665"/>
                  </a:cubicBezTo>
                  <a:cubicBezTo>
                    <a:pt x="9" y="374"/>
                    <a:pt x="9" y="374"/>
                    <a:pt x="9" y="374"/>
                  </a:cubicBezTo>
                  <a:cubicBezTo>
                    <a:pt x="0" y="358"/>
                    <a:pt x="0" y="334"/>
                    <a:pt x="9" y="318"/>
                  </a:cubicBezTo>
                  <a:cubicBezTo>
                    <a:pt x="177" y="27"/>
                    <a:pt x="177" y="27"/>
                    <a:pt x="177" y="27"/>
                  </a:cubicBezTo>
                  <a:cubicBezTo>
                    <a:pt x="185" y="12"/>
                    <a:pt x="207" y="0"/>
                    <a:pt x="225" y="0"/>
                  </a:cubicBezTo>
                  <a:cubicBezTo>
                    <a:pt x="561" y="0"/>
                    <a:pt x="561" y="0"/>
                    <a:pt x="561" y="0"/>
                  </a:cubicBezTo>
                  <a:cubicBezTo>
                    <a:pt x="578" y="0"/>
                    <a:pt x="600" y="12"/>
                    <a:pt x="609" y="27"/>
                  </a:cubicBezTo>
                  <a:cubicBezTo>
                    <a:pt x="777" y="318"/>
                    <a:pt x="777" y="318"/>
                    <a:pt x="777" y="318"/>
                  </a:cubicBezTo>
                  <a:cubicBezTo>
                    <a:pt x="785" y="334"/>
                    <a:pt x="785" y="358"/>
                    <a:pt x="777" y="374"/>
                  </a:cubicBezTo>
                  <a:cubicBezTo>
                    <a:pt x="609" y="665"/>
                    <a:pt x="609" y="665"/>
                    <a:pt x="609" y="665"/>
                  </a:cubicBezTo>
                  <a:cubicBezTo>
                    <a:pt x="600" y="680"/>
                    <a:pt x="578" y="692"/>
                    <a:pt x="561" y="692"/>
                  </a:cubicBezTo>
                  <a:lnTo>
                    <a:pt x="225" y="692"/>
                  </a:lnTo>
                  <a:close/>
                </a:path>
              </a:pathLst>
            </a:custGeom>
            <a:noFill/>
            <a:ln w="28575" cmpd="sng">
              <a:solidFill>
                <a:schemeClr val="tx1"/>
              </a:solidFill>
            </a:ln>
          </p:spPr>
          <p:txBody>
            <a:bodyPr vert="horz" wrap="square" lIns="91440" tIns="45720" rIns="91440" bIns="45720" numCol="1" anchor="t" anchorCtr="0" compatLnSpc="1">
              <a:prstTxWarp prst="textNoShape">
                <a:avLst/>
              </a:prstTxWarp>
            </a:bodyPr>
            <a:lstStyle/>
            <a:p>
              <a:endParaRPr lang="en-US"/>
            </a:p>
          </p:txBody>
        </p:sp>
      </p:grpSp>
      <p:sp>
        <p:nvSpPr>
          <p:cNvPr id="15362" name="Rectangle 16">
            <a:extLst>
              <a:ext uri="{FF2B5EF4-FFF2-40B4-BE49-F238E27FC236}">
                <a16:creationId xmlns:a16="http://schemas.microsoft.com/office/drawing/2014/main" id="{8A06508D-A0EA-4D4A-974B-F90F605F3A91}"/>
              </a:ext>
            </a:extLst>
          </p:cNvPr>
          <p:cNvSpPr>
            <a:spLocks noGrp="1" noChangeArrowheads="1"/>
          </p:cNvSpPr>
          <p:nvPr>
            <p:ph type="body" sz="half" idx="1"/>
          </p:nvPr>
        </p:nvSpPr>
        <p:spPr>
          <a:xfrm>
            <a:off x="1000450" y="3067026"/>
            <a:ext cx="3058623" cy="3272324"/>
          </a:xfrm>
        </p:spPr>
        <p:txBody>
          <a:bodyPr vert="horz" lIns="91440" tIns="45720" rIns="91440" bIns="45720" rtlCol="0" anchor="t">
            <a:normAutofit/>
          </a:bodyPr>
          <a:lstStyle/>
          <a:p>
            <a:pPr lvl="1"/>
            <a:r>
              <a:rPr lang="en-US" altLang="fr-EG" sz="2000"/>
              <a:t>Title VII</a:t>
            </a:r>
          </a:p>
          <a:p>
            <a:pPr lvl="1"/>
            <a:r>
              <a:rPr lang="en-US" altLang="fr-EG" sz="2000"/>
              <a:t>The courts</a:t>
            </a:r>
          </a:p>
          <a:p>
            <a:pPr lvl="1"/>
            <a:r>
              <a:rPr lang="en-US" altLang="fr-EG" sz="2000"/>
              <a:t>State law</a:t>
            </a:r>
          </a:p>
          <a:p>
            <a:pPr lvl="1"/>
            <a:r>
              <a:rPr lang="en-US" altLang="fr-EG" sz="2000"/>
              <a:t>Equal Employment Opportunity Commission (EEOC)</a:t>
            </a:r>
          </a:p>
          <a:p>
            <a:pPr marL="0"/>
            <a:endParaRPr lang="en-US" altLang="fr-EG" sz="2000"/>
          </a:p>
        </p:txBody>
      </p:sp>
      <p:pic>
        <p:nvPicPr>
          <p:cNvPr id="15363" name="Picture 28">
            <a:extLst>
              <a:ext uri="{FF2B5EF4-FFF2-40B4-BE49-F238E27FC236}">
                <a16:creationId xmlns:a16="http://schemas.microsoft.com/office/drawing/2014/main" id="{CC3D39A8-5C70-C440-BD09-F48ED8098FB6}"/>
              </a:ext>
            </a:extLst>
          </p:cNvPr>
          <p:cNvPicPr>
            <a:picLocks noGrp="1" noChangeAspect="1" noChangeArrowheads="1"/>
          </p:cNvPicPr>
          <p:nvPr>
            <p:ph sz="half" idx="2"/>
          </p:nvPr>
        </p:nvPicPr>
        <p:blipFill rotWithShape="1">
          <a:blip r:embed="rId3">
            <a:extLst>
              <a:ext uri="{28A0092B-C50C-407E-A947-70E740481C1C}">
                <a14:useLocalDpi xmlns:a14="http://schemas.microsoft.com/office/drawing/2010/main" val="0"/>
              </a:ext>
            </a:extLst>
          </a:blip>
          <a:srcRect t="14593" r="2" b="26179"/>
          <a:stretch/>
        </p:blipFill>
        <p:spPr>
          <a:xfrm>
            <a:off x="4636963" y="10"/>
            <a:ext cx="7555037" cy="6857990"/>
          </a:xfrm>
          <a:prstGeom prst="rect">
            <a:avLst/>
          </a:prstGeom>
          <a:noFill/>
        </p:spPr>
      </p:pic>
    </p:spTree>
    <p:extLst>
      <p:ext uri="{BB962C8B-B14F-4D97-AF65-F5344CB8AC3E}">
        <p14:creationId xmlns:p14="http://schemas.microsoft.com/office/powerpoint/2010/main" val="17717016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530" name="Rectangle 19">
            <a:extLst>
              <a:ext uri="{FF2B5EF4-FFF2-40B4-BE49-F238E27FC236}">
                <a16:creationId xmlns:a16="http://schemas.microsoft.com/office/drawing/2014/main" id="{ADD84F74-553C-6344-9574-3D6EACAD4A3A}"/>
              </a:ext>
            </a:extLst>
          </p:cNvPr>
          <p:cNvSpPr>
            <a:spLocks noGrp="1" noChangeArrowheads="1"/>
          </p:cNvSpPr>
          <p:nvPr>
            <p:ph type="title"/>
          </p:nvPr>
        </p:nvSpPr>
        <p:spPr/>
        <p:txBody>
          <a:bodyPr rtlCol="0">
            <a:normAutofit/>
          </a:bodyPr>
          <a:lstStyle/>
          <a:p>
            <a:pPr algn="ctr">
              <a:defRPr/>
            </a:pPr>
            <a:r>
              <a:rPr lang="en-US" altLang="fr-EG" b="1" dirty="0">
                <a:solidFill>
                  <a:schemeClr val="tx1"/>
                </a:solidFill>
              </a:rPr>
              <a:t>HARASSMENT AND THE LAW (cont.)</a:t>
            </a:r>
            <a:endParaRPr lang="en-US" altLang="fr-EG" dirty="0"/>
          </a:p>
        </p:txBody>
      </p:sp>
      <p:sp>
        <p:nvSpPr>
          <p:cNvPr id="17410" name="Rectangle 20">
            <a:extLst>
              <a:ext uri="{FF2B5EF4-FFF2-40B4-BE49-F238E27FC236}">
                <a16:creationId xmlns:a16="http://schemas.microsoft.com/office/drawing/2014/main" id="{CF1230BC-BEA1-3843-853B-D3982EBBAFE4}"/>
              </a:ext>
            </a:extLst>
          </p:cNvPr>
          <p:cNvSpPr>
            <a:spLocks noGrp="1" noChangeArrowheads="1"/>
          </p:cNvSpPr>
          <p:nvPr>
            <p:ph type="body" sz="half" idx="1"/>
          </p:nvPr>
        </p:nvSpPr>
        <p:spPr/>
        <p:txBody>
          <a:bodyPr/>
          <a:lstStyle/>
          <a:p>
            <a:pPr marL="0" indent="0">
              <a:buNone/>
            </a:pPr>
            <a:r>
              <a:rPr lang="en-US" altLang="fr-EG" sz="2400"/>
              <a:t>EEOC defines sexual harassment as sexual </a:t>
            </a:r>
            <a:br>
              <a:rPr lang="en-US" altLang="fr-EG" sz="2400"/>
            </a:br>
            <a:r>
              <a:rPr lang="en-US" altLang="fr-EG" sz="2400"/>
              <a:t>conduct that is:</a:t>
            </a:r>
          </a:p>
          <a:p>
            <a:pPr lvl="1"/>
            <a:r>
              <a:rPr lang="en-US" altLang="fr-EG"/>
              <a:t>Unwelcome</a:t>
            </a:r>
          </a:p>
          <a:p>
            <a:pPr lvl="1"/>
            <a:r>
              <a:rPr lang="en-US" altLang="fr-EG"/>
              <a:t>Harmful</a:t>
            </a:r>
          </a:p>
          <a:p>
            <a:pPr lvl="1"/>
            <a:r>
              <a:rPr lang="en-US" altLang="fr-EG"/>
              <a:t>Illegal</a:t>
            </a:r>
          </a:p>
        </p:txBody>
      </p:sp>
      <p:pic>
        <p:nvPicPr>
          <p:cNvPr id="17411" name="Picture 29" descr="HRTPoldmn hnd wmn shldr4-16">
            <a:extLst>
              <a:ext uri="{FF2B5EF4-FFF2-40B4-BE49-F238E27FC236}">
                <a16:creationId xmlns:a16="http://schemas.microsoft.com/office/drawing/2014/main" id="{ADF49AC8-EECD-C141-B17A-0965F2952541}"/>
              </a:ext>
            </a:extLst>
          </p:cNvPr>
          <p:cNvPicPr>
            <a:picLocks noGrp="1" noChangeAspect="1" noChangeArrowheads="1"/>
          </p:cNvPicPr>
          <p:nvPr>
            <p:ph type="clipArt" sz="half" idx="2"/>
          </p:nvPr>
        </p:nvPicPr>
        <p:blipFill>
          <a:blip r:embed="rId3">
            <a:extLst>
              <a:ext uri="{28A0092B-C50C-407E-A947-70E740481C1C}">
                <a14:useLocalDpi xmlns:a14="http://schemas.microsoft.com/office/drawing/2010/main" val="0"/>
              </a:ext>
            </a:extLst>
          </a:blip>
          <a:srcRect/>
          <a:stretch>
            <a:fillRect/>
          </a:stretch>
        </p:blipFill>
        <p:spPr>
          <a:xfrm>
            <a:off x="6921500" y="2089150"/>
            <a:ext cx="2730500" cy="4127500"/>
          </a:xfrm>
          <a:noFill/>
          <a:ln>
            <a:solidFill>
              <a:schemeClr val="tx1"/>
            </a:solidFill>
            <a:miter lim="800000"/>
            <a:headEnd/>
            <a:tailEnd/>
          </a:ln>
        </p:spPr>
      </p:pic>
    </p:spTree>
    <p:extLst>
      <p:ext uri="{BB962C8B-B14F-4D97-AF65-F5344CB8AC3E}">
        <p14:creationId xmlns:p14="http://schemas.microsoft.com/office/powerpoint/2010/main" val="33531418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6" name="Rectangle 135">
            <a:extLst>
              <a:ext uri="{FF2B5EF4-FFF2-40B4-BE49-F238E27FC236}">
                <a16:creationId xmlns:a16="http://schemas.microsoft.com/office/drawing/2014/main" id="{122F9423-F4B1-45D4-8445-E9991ECCBC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554" name="Rectangle 12">
            <a:extLst>
              <a:ext uri="{FF2B5EF4-FFF2-40B4-BE49-F238E27FC236}">
                <a16:creationId xmlns:a16="http://schemas.microsoft.com/office/drawing/2014/main" id="{21CF9FBD-C17E-DE48-ABFA-51D1F4C2B4A5}"/>
              </a:ext>
            </a:extLst>
          </p:cNvPr>
          <p:cNvSpPr>
            <a:spLocks noGrp="1" noChangeArrowheads="1"/>
          </p:cNvSpPr>
          <p:nvPr>
            <p:ph type="title"/>
          </p:nvPr>
        </p:nvSpPr>
        <p:spPr>
          <a:xfrm>
            <a:off x="1000451" y="1610024"/>
            <a:ext cx="5568995" cy="1457002"/>
          </a:xfrm>
        </p:spPr>
        <p:txBody>
          <a:bodyPr vert="horz" lIns="91440" tIns="45720" rIns="91440" bIns="45720" rtlCol="0" anchor="b">
            <a:normAutofit/>
          </a:bodyPr>
          <a:lstStyle/>
          <a:p>
            <a:pPr>
              <a:defRPr/>
            </a:pPr>
            <a:r>
              <a:rPr lang="en-US" altLang="fr-EG" b="1"/>
              <a:t>IS THIS SEXUAL HARASSMENT?</a:t>
            </a:r>
            <a:endParaRPr lang="en-US" altLang="fr-EG"/>
          </a:p>
        </p:txBody>
      </p:sp>
      <p:grpSp>
        <p:nvGrpSpPr>
          <p:cNvPr id="138" name="Group 137">
            <a:extLst>
              <a:ext uri="{FF2B5EF4-FFF2-40B4-BE49-F238E27FC236}">
                <a16:creationId xmlns:a16="http://schemas.microsoft.com/office/drawing/2014/main" id="{770AE191-D2EA-45C9-A44D-830C188F74C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72021" y="518649"/>
            <a:ext cx="1128382" cy="847206"/>
            <a:chOff x="8183879" y="1000124"/>
            <a:chExt cx="1562267" cy="1172973"/>
          </a:xfrm>
        </p:grpSpPr>
        <p:sp>
          <p:nvSpPr>
            <p:cNvPr id="139" name="Freeform 5">
              <a:extLst>
                <a:ext uri="{FF2B5EF4-FFF2-40B4-BE49-F238E27FC236}">
                  <a16:creationId xmlns:a16="http://schemas.microsoft.com/office/drawing/2014/main" id="{23A0E4C1-B7A6-4637-AC51-4A5AE3841FF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8183879" y="1348782"/>
              <a:ext cx="935037" cy="824315"/>
            </a:xfrm>
            <a:custGeom>
              <a:avLst/>
              <a:gdLst>
                <a:gd name="T0" fmla="*/ 225 w 785"/>
                <a:gd name="T1" fmla="*/ 692 h 692"/>
                <a:gd name="T2" fmla="*/ 177 w 785"/>
                <a:gd name="T3" fmla="*/ 665 h 692"/>
                <a:gd name="T4" fmla="*/ 9 w 785"/>
                <a:gd name="T5" fmla="*/ 374 h 692"/>
                <a:gd name="T6" fmla="*/ 9 w 785"/>
                <a:gd name="T7" fmla="*/ 318 h 692"/>
                <a:gd name="T8" fmla="*/ 177 w 785"/>
                <a:gd name="T9" fmla="*/ 27 h 692"/>
                <a:gd name="T10" fmla="*/ 225 w 785"/>
                <a:gd name="T11" fmla="*/ 0 h 692"/>
                <a:gd name="T12" fmla="*/ 561 w 785"/>
                <a:gd name="T13" fmla="*/ 0 h 692"/>
                <a:gd name="T14" fmla="*/ 609 w 785"/>
                <a:gd name="T15" fmla="*/ 27 h 692"/>
                <a:gd name="T16" fmla="*/ 777 w 785"/>
                <a:gd name="T17" fmla="*/ 318 h 692"/>
                <a:gd name="T18" fmla="*/ 777 w 785"/>
                <a:gd name="T19" fmla="*/ 374 h 692"/>
                <a:gd name="T20" fmla="*/ 609 w 785"/>
                <a:gd name="T21" fmla="*/ 665 h 692"/>
                <a:gd name="T22" fmla="*/ 561 w 785"/>
                <a:gd name="T23" fmla="*/ 692 h 692"/>
                <a:gd name="T24" fmla="*/ 225 w 785"/>
                <a:gd name="T25" fmla="*/ 692 h 6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5" h="692">
                  <a:moveTo>
                    <a:pt x="225" y="692"/>
                  </a:moveTo>
                  <a:cubicBezTo>
                    <a:pt x="207" y="692"/>
                    <a:pt x="185" y="680"/>
                    <a:pt x="177" y="665"/>
                  </a:cubicBezTo>
                  <a:cubicBezTo>
                    <a:pt x="9" y="374"/>
                    <a:pt x="9" y="374"/>
                    <a:pt x="9" y="374"/>
                  </a:cubicBezTo>
                  <a:cubicBezTo>
                    <a:pt x="0" y="358"/>
                    <a:pt x="0" y="334"/>
                    <a:pt x="9" y="318"/>
                  </a:cubicBezTo>
                  <a:cubicBezTo>
                    <a:pt x="177" y="27"/>
                    <a:pt x="177" y="27"/>
                    <a:pt x="177" y="27"/>
                  </a:cubicBezTo>
                  <a:cubicBezTo>
                    <a:pt x="185" y="12"/>
                    <a:pt x="207" y="0"/>
                    <a:pt x="225" y="0"/>
                  </a:cubicBezTo>
                  <a:cubicBezTo>
                    <a:pt x="561" y="0"/>
                    <a:pt x="561" y="0"/>
                    <a:pt x="561" y="0"/>
                  </a:cubicBezTo>
                  <a:cubicBezTo>
                    <a:pt x="578" y="0"/>
                    <a:pt x="600" y="12"/>
                    <a:pt x="609" y="27"/>
                  </a:cubicBezTo>
                  <a:cubicBezTo>
                    <a:pt x="777" y="318"/>
                    <a:pt x="777" y="318"/>
                    <a:pt x="777" y="318"/>
                  </a:cubicBezTo>
                  <a:cubicBezTo>
                    <a:pt x="785" y="334"/>
                    <a:pt x="785" y="358"/>
                    <a:pt x="777" y="374"/>
                  </a:cubicBezTo>
                  <a:cubicBezTo>
                    <a:pt x="609" y="665"/>
                    <a:pt x="609" y="665"/>
                    <a:pt x="609" y="665"/>
                  </a:cubicBezTo>
                  <a:cubicBezTo>
                    <a:pt x="600" y="680"/>
                    <a:pt x="578" y="692"/>
                    <a:pt x="561" y="692"/>
                  </a:cubicBezTo>
                  <a:lnTo>
                    <a:pt x="225" y="692"/>
                  </a:lnTo>
                  <a:close/>
                </a:path>
              </a:pathLst>
            </a:custGeom>
            <a:noFill/>
            <a:ln w="28575" cmpd="sng">
              <a:solidFill>
                <a:schemeClr val="tx1"/>
              </a:solidFill>
            </a:ln>
          </p:spPr>
          <p:txBody>
            <a:bodyPr vert="horz" wrap="square" lIns="91440" tIns="45720" rIns="91440" bIns="45720" numCol="1" anchor="t" anchorCtr="0" compatLnSpc="1">
              <a:prstTxWarp prst="textNoShape">
                <a:avLst/>
              </a:prstTxWarp>
            </a:bodyPr>
            <a:lstStyle/>
            <a:p>
              <a:endParaRPr lang="en-US"/>
            </a:p>
          </p:txBody>
        </p:sp>
        <p:sp>
          <p:nvSpPr>
            <p:cNvPr id="140" name="Freeform 5">
              <a:extLst>
                <a:ext uri="{FF2B5EF4-FFF2-40B4-BE49-F238E27FC236}">
                  <a16:creationId xmlns:a16="http://schemas.microsoft.com/office/drawing/2014/main" id="{F4E8C039-CC58-44F3-8A7B-E0A934C1D01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8983979" y="1000124"/>
              <a:ext cx="762167" cy="671915"/>
            </a:xfrm>
            <a:custGeom>
              <a:avLst/>
              <a:gdLst>
                <a:gd name="T0" fmla="*/ 225 w 785"/>
                <a:gd name="T1" fmla="*/ 692 h 692"/>
                <a:gd name="T2" fmla="*/ 177 w 785"/>
                <a:gd name="T3" fmla="*/ 665 h 692"/>
                <a:gd name="T4" fmla="*/ 9 w 785"/>
                <a:gd name="T5" fmla="*/ 374 h 692"/>
                <a:gd name="T6" fmla="*/ 9 w 785"/>
                <a:gd name="T7" fmla="*/ 318 h 692"/>
                <a:gd name="T8" fmla="*/ 177 w 785"/>
                <a:gd name="T9" fmla="*/ 27 h 692"/>
                <a:gd name="T10" fmla="*/ 225 w 785"/>
                <a:gd name="T11" fmla="*/ 0 h 692"/>
                <a:gd name="T12" fmla="*/ 561 w 785"/>
                <a:gd name="T13" fmla="*/ 0 h 692"/>
                <a:gd name="T14" fmla="*/ 609 w 785"/>
                <a:gd name="T15" fmla="*/ 27 h 692"/>
                <a:gd name="T16" fmla="*/ 777 w 785"/>
                <a:gd name="T17" fmla="*/ 318 h 692"/>
                <a:gd name="T18" fmla="*/ 777 w 785"/>
                <a:gd name="T19" fmla="*/ 374 h 692"/>
                <a:gd name="T20" fmla="*/ 609 w 785"/>
                <a:gd name="T21" fmla="*/ 665 h 692"/>
                <a:gd name="T22" fmla="*/ 561 w 785"/>
                <a:gd name="T23" fmla="*/ 692 h 692"/>
                <a:gd name="T24" fmla="*/ 225 w 785"/>
                <a:gd name="T25" fmla="*/ 692 h 6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5" h="692">
                  <a:moveTo>
                    <a:pt x="225" y="692"/>
                  </a:moveTo>
                  <a:cubicBezTo>
                    <a:pt x="207" y="692"/>
                    <a:pt x="185" y="680"/>
                    <a:pt x="177" y="665"/>
                  </a:cubicBezTo>
                  <a:cubicBezTo>
                    <a:pt x="9" y="374"/>
                    <a:pt x="9" y="374"/>
                    <a:pt x="9" y="374"/>
                  </a:cubicBezTo>
                  <a:cubicBezTo>
                    <a:pt x="0" y="358"/>
                    <a:pt x="0" y="334"/>
                    <a:pt x="9" y="318"/>
                  </a:cubicBezTo>
                  <a:cubicBezTo>
                    <a:pt x="177" y="27"/>
                    <a:pt x="177" y="27"/>
                    <a:pt x="177" y="27"/>
                  </a:cubicBezTo>
                  <a:cubicBezTo>
                    <a:pt x="185" y="12"/>
                    <a:pt x="207" y="0"/>
                    <a:pt x="225" y="0"/>
                  </a:cubicBezTo>
                  <a:cubicBezTo>
                    <a:pt x="561" y="0"/>
                    <a:pt x="561" y="0"/>
                    <a:pt x="561" y="0"/>
                  </a:cubicBezTo>
                  <a:cubicBezTo>
                    <a:pt x="578" y="0"/>
                    <a:pt x="600" y="12"/>
                    <a:pt x="609" y="27"/>
                  </a:cubicBezTo>
                  <a:cubicBezTo>
                    <a:pt x="777" y="318"/>
                    <a:pt x="777" y="318"/>
                    <a:pt x="777" y="318"/>
                  </a:cubicBezTo>
                  <a:cubicBezTo>
                    <a:pt x="785" y="334"/>
                    <a:pt x="785" y="358"/>
                    <a:pt x="777" y="374"/>
                  </a:cubicBezTo>
                  <a:cubicBezTo>
                    <a:pt x="609" y="665"/>
                    <a:pt x="609" y="665"/>
                    <a:pt x="609" y="665"/>
                  </a:cubicBezTo>
                  <a:cubicBezTo>
                    <a:pt x="600" y="680"/>
                    <a:pt x="578" y="692"/>
                    <a:pt x="561" y="692"/>
                  </a:cubicBezTo>
                  <a:lnTo>
                    <a:pt x="225" y="692"/>
                  </a:lnTo>
                  <a:close/>
                </a:path>
              </a:pathLst>
            </a:custGeom>
            <a:noFill/>
            <a:ln w="28575" cmpd="sng">
              <a:solidFill>
                <a:schemeClr val="tx1"/>
              </a:solidFill>
            </a:ln>
          </p:spPr>
          <p:txBody>
            <a:bodyPr vert="horz" wrap="square" lIns="91440" tIns="45720" rIns="91440" bIns="45720" numCol="1" anchor="t" anchorCtr="0" compatLnSpc="1">
              <a:prstTxWarp prst="textNoShape">
                <a:avLst/>
              </a:prstTxWarp>
            </a:bodyPr>
            <a:lstStyle/>
            <a:p>
              <a:endParaRPr lang="en-US"/>
            </a:p>
          </p:txBody>
        </p:sp>
      </p:grpSp>
      <p:sp>
        <p:nvSpPr>
          <p:cNvPr id="23555" name="Rectangle 14">
            <a:extLst>
              <a:ext uri="{FF2B5EF4-FFF2-40B4-BE49-F238E27FC236}">
                <a16:creationId xmlns:a16="http://schemas.microsoft.com/office/drawing/2014/main" id="{918A77B3-2E34-8444-85AB-E7B0FF0E61CA}"/>
              </a:ext>
            </a:extLst>
          </p:cNvPr>
          <p:cNvSpPr>
            <a:spLocks noGrp="1" noChangeArrowheads="1"/>
          </p:cNvSpPr>
          <p:nvPr>
            <p:ph type="body" sz="half" idx="1"/>
          </p:nvPr>
        </p:nvSpPr>
        <p:spPr>
          <a:xfrm>
            <a:off x="1000450" y="3067026"/>
            <a:ext cx="5568991" cy="2968014"/>
          </a:xfrm>
        </p:spPr>
        <p:txBody>
          <a:bodyPr vert="horz" lIns="91440" tIns="45720" rIns="91440" bIns="45720" rtlCol="0" anchor="t">
            <a:normAutofit/>
          </a:bodyPr>
          <a:lstStyle/>
          <a:p>
            <a:pPr lvl="1">
              <a:defRPr/>
            </a:pPr>
            <a:r>
              <a:rPr lang="en-US" altLang="fr-EG" sz="2000"/>
              <a:t>A female employee wears miniskirts</a:t>
            </a:r>
          </a:p>
          <a:p>
            <a:pPr lvl="1">
              <a:defRPr/>
            </a:pPr>
            <a:r>
              <a:rPr lang="en-US" altLang="fr-EG" sz="2000"/>
              <a:t>A female supervisor makes frequent</a:t>
            </a:r>
            <a:br>
              <a:rPr lang="en-US" altLang="fr-EG" sz="2000"/>
            </a:br>
            <a:r>
              <a:rPr lang="en-US" altLang="fr-EG" sz="2000"/>
              <a:t>comments about a male employee’s physique</a:t>
            </a:r>
          </a:p>
          <a:p>
            <a:pPr lvl="1">
              <a:defRPr/>
            </a:pPr>
            <a:r>
              <a:rPr lang="en-US" altLang="fr-EG" sz="2000"/>
              <a:t>A male supervisor makes frequent </a:t>
            </a:r>
            <a:br>
              <a:rPr lang="en-US" altLang="fr-EG" sz="2000"/>
            </a:br>
            <a:r>
              <a:rPr lang="en-US" altLang="fr-EG" sz="2000"/>
              <a:t>comments about a male employee’s physique</a:t>
            </a:r>
          </a:p>
        </p:txBody>
      </p:sp>
      <p:pic>
        <p:nvPicPr>
          <p:cNvPr id="19459" name="Picture 32">
            <a:extLst>
              <a:ext uri="{FF2B5EF4-FFF2-40B4-BE49-F238E27FC236}">
                <a16:creationId xmlns:a16="http://schemas.microsoft.com/office/drawing/2014/main" id="{85588023-27C9-6D4B-89B6-E847C76435BE}"/>
              </a:ext>
            </a:extLst>
          </p:cNvPr>
          <p:cNvPicPr>
            <a:picLocks noGrp="1" noChangeAspect="1" noChangeArrowheads="1"/>
          </p:cNvPicPr>
          <p:nvPr>
            <p:ph sz="half" idx="2"/>
          </p:nvPr>
        </p:nvPicPr>
        <p:blipFill rotWithShape="1">
          <a:blip r:embed="rId3">
            <a:extLst>
              <a:ext uri="{28A0092B-C50C-407E-A947-70E740481C1C}">
                <a14:useLocalDpi xmlns:a14="http://schemas.microsoft.com/office/drawing/2010/main" val="0"/>
              </a:ext>
            </a:extLst>
          </a:blip>
          <a:srcRect r="-1" b="2202"/>
          <a:stretch/>
        </p:blipFill>
        <p:spPr>
          <a:xfrm>
            <a:off x="7534656" y="10"/>
            <a:ext cx="4657344" cy="6857990"/>
          </a:xfrm>
          <a:prstGeom prst="rect">
            <a:avLst/>
          </a:prstGeom>
          <a:noFill/>
        </p:spPr>
      </p:pic>
    </p:spTree>
    <p:extLst>
      <p:ext uri="{BB962C8B-B14F-4D97-AF65-F5344CB8AC3E}">
        <p14:creationId xmlns:p14="http://schemas.microsoft.com/office/powerpoint/2010/main" val="14949585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5" name="Rectangle 134">
            <a:extLst>
              <a:ext uri="{FF2B5EF4-FFF2-40B4-BE49-F238E27FC236}">
                <a16:creationId xmlns:a16="http://schemas.microsoft.com/office/drawing/2014/main" id="{122F9423-F4B1-45D4-8445-E9991ECCBC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578" name="Rectangle 13">
            <a:extLst>
              <a:ext uri="{FF2B5EF4-FFF2-40B4-BE49-F238E27FC236}">
                <a16:creationId xmlns:a16="http://schemas.microsoft.com/office/drawing/2014/main" id="{A456D772-6565-A748-AA6C-C0AD2785D257}"/>
              </a:ext>
            </a:extLst>
          </p:cNvPr>
          <p:cNvSpPr>
            <a:spLocks noGrp="1" noChangeArrowheads="1"/>
          </p:cNvSpPr>
          <p:nvPr>
            <p:ph type="title"/>
          </p:nvPr>
        </p:nvSpPr>
        <p:spPr>
          <a:xfrm>
            <a:off x="1000451" y="1610024"/>
            <a:ext cx="5568995" cy="1457002"/>
          </a:xfrm>
        </p:spPr>
        <p:txBody>
          <a:bodyPr vert="horz" lIns="91440" tIns="45720" rIns="91440" bIns="45720" rtlCol="0" anchor="b">
            <a:normAutofit/>
          </a:bodyPr>
          <a:lstStyle/>
          <a:p>
            <a:pPr>
              <a:defRPr/>
            </a:pPr>
            <a:r>
              <a:rPr lang="en-US" altLang="fr-EG" b="1"/>
              <a:t>IS THIS SEXUAL HARASSMENT? (cont.)</a:t>
            </a:r>
            <a:endParaRPr lang="en-US" altLang="fr-EG"/>
          </a:p>
        </p:txBody>
      </p:sp>
      <p:grpSp>
        <p:nvGrpSpPr>
          <p:cNvPr id="137" name="Group 136">
            <a:extLst>
              <a:ext uri="{FF2B5EF4-FFF2-40B4-BE49-F238E27FC236}">
                <a16:creationId xmlns:a16="http://schemas.microsoft.com/office/drawing/2014/main" id="{770AE191-D2EA-45C9-A44D-830C188F74C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72021" y="518649"/>
            <a:ext cx="1128382" cy="847206"/>
            <a:chOff x="8183879" y="1000124"/>
            <a:chExt cx="1562267" cy="1172973"/>
          </a:xfrm>
        </p:grpSpPr>
        <p:sp>
          <p:nvSpPr>
            <p:cNvPr id="138" name="Freeform 5">
              <a:extLst>
                <a:ext uri="{FF2B5EF4-FFF2-40B4-BE49-F238E27FC236}">
                  <a16:creationId xmlns:a16="http://schemas.microsoft.com/office/drawing/2014/main" id="{23A0E4C1-B7A6-4637-AC51-4A5AE3841FF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8183879" y="1348782"/>
              <a:ext cx="935037" cy="824315"/>
            </a:xfrm>
            <a:custGeom>
              <a:avLst/>
              <a:gdLst>
                <a:gd name="T0" fmla="*/ 225 w 785"/>
                <a:gd name="T1" fmla="*/ 692 h 692"/>
                <a:gd name="T2" fmla="*/ 177 w 785"/>
                <a:gd name="T3" fmla="*/ 665 h 692"/>
                <a:gd name="T4" fmla="*/ 9 w 785"/>
                <a:gd name="T5" fmla="*/ 374 h 692"/>
                <a:gd name="T6" fmla="*/ 9 w 785"/>
                <a:gd name="T7" fmla="*/ 318 h 692"/>
                <a:gd name="T8" fmla="*/ 177 w 785"/>
                <a:gd name="T9" fmla="*/ 27 h 692"/>
                <a:gd name="T10" fmla="*/ 225 w 785"/>
                <a:gd name="T11" fmla="*/ 0 h 692"/>
                <a:gd name="T12" fmla="*/ 561 w 785"/>
                <a:gd name="T13" fmla="*/ 0 h 692"/>
                <a:gd name="T14" fmla="*/ 609 w 785"/>
                <a:gd name="T15" fmla="*/ 27 h 692"/>
                <a:gd name="T16" fmla="*/ 777 w 785"/>
                <a:gd name="T17" fmla="*/ 318 h 692"/>
                <a:gd name="T18" fmla="*/ 777 w 785"/>
                <a:gd name="T19" fmla="*/ 374 h 692"/>
                <a:gd name="T20" fmla="*/ 609 w 785"/>
                <a:gd name="T21" fmla="*/ 665 h 692"/>
                <a:gd name="T22" fmla="*/ 561 w 785"/>
                <a:gd name="T23" fmla="*/ 692 h 692"/>
                <a:gd name="T24" fmla="*/ 225 w 785"/>
                <a:gd name="T25" fmla="*/ 692 h 6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5" h="692">
                  <a:moveTo>
                    <a:pt x="225" y="692"/>
                  </a:moveTo>
                  <a:cubicBezTo>
                    <a:pt x="207" y="692"/>
                    <a:pt x="185" y="680"/>
                    <a:pt x="177" y="665"/>
                  </a:cubicBezTo>
                  <a:cubicBezTo>
                    <a:pt x="9" y="374"/>
                    <a:pt x="9" y="374"/>
                    <a:pt x="9" y="374"/>
                  </a:cubicBezTo>
                  <a:cubicBezTo>
                    <a:pt x="0" y="358"/>
                    <a:pt x="0" y="334"/>
                    <a:pt x="9" y="318"/>
                  </a:cubicBezTo>
                  <a:cubicBezTo>
                    <a:pt x="177" y="27"/>
                    <a:pt x="177" y="27"/>
                    <a:pt x="177" y="27"/>
                  </a:cubicBezTo>
                  <a:cubicBezTo>
                    <a:pt x="185" y="12"/>
                    <a:pt x="207" y="0"/>
                    <a:pt x="225" y="0"/>
                  </a:cubicBezTo>
                  <a:cubicBezTo>
                    <a:pt x="561" y="0"/>
                    <a:pt x="561" y="0"/>
                    <a:pt x="561" y="0"/>
                  </a:cubicBezTo>
                  <a:cubicBezTo>
                    <a:pt x="578" y="0"/>
                    <a:pt x="600" y="12"/>
                    <a:pt x="609" y="27"/>
                  </a:cubicBezTo>
                  <a:cubicBezTo>
                    <a:pt x="777" y="318"/>
                    <a:pt x="777" y="318"/>
                    <a:pt x="777" y="318"/>
                  </a:cubicBezTo>
                  <a:cubicBezTo>
                    <a:pt x="785" y="334"/>
                    <a:pt x="785" y="358"/>
                    <a:pt x="777" y="374"/>
                  </a:cubicBezTo>
                  <a:cubicBezTo>
                    <a:pt x="609" y="665"/>
                    <a:pt x="609" y="665"/>
                    <a:pt x="609" y="665"/>
                  </a:cubicBezTo>
                  <a:cubicBezTo>
                    <a:pt x="600" y="680"/>
                    <a:pt x="578" y="692"/>
                    <a:pt x="561" y="692"/>
                  </a:cubicBezTo>
                  <a:lnTo>
                    <a:pt x="225" y="692"/>
                  </a:lnTo>
                  <a:close/>
                </a:path>
              </a:pathLst>
            </a:custGeom>
            <a:noFill/>
            <a:ln w="28575" cmpd="sng">
              <a:solidFill>
                <a:schemeClr val="tx1"/>
              </a:solidFill>
            </a:ln>
          </p:spPr>
          <p:txBody>
            <a:bodyPr vert="horz" wrap="square" lIns="91440" tIns="45720" rIns="91440" bIns="45720" numCol="1" anchor="t" anchorCtr="0" compatLnSpc="1">
              <a:prstTxWarp prst="textNoShape">
                <a:avLst/>
              </a:prstTxWarp>
            </a:bodyPr>
            <a:lstStyle/>
            <a:p>
              <a:endParaRPr lang="en-US"/>
            </a:p>
          </p:txBody>
        </p:sp>
        <p:sp>
          <p:nvSpPr>
            <p:cNvPr id="139" name="Freeform 5">
              <a:extLst>
                <a:ext uri="{FF2B5EF4-FFF2-40B4-BE49-F238E27FC236}">
                  <a16:creationId xmlns:a16="http://schemas.microsoft.com/office/drawing/2014/main" id="{F4E8C039-CC58-44F3-8A7B-E0A934C1D01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8983979" y="1000124"/>
              <a:ext cx="762167" cy="671915"/>
            </a:xfrm>
            <a:custGeom>
              <a:avLst/>
              <a:gdLst>
                <a:gd name="T0" fmla="*/ 225 w 785"/>
                <a:gd name="T1" fmla="*/ 692 h 692"/>
                <a:gd name="T2" fmla="*/ 177 w 785"/>
                <a:gd name="T3" fmla="*/ 665 h 692"/>
                <a:gd name="T4" fmla="*/ 9 w 785"/>
                <a:gd name="T5" fmla="*/ 374 h 692"/>
                <a:gd name="T6" fmla="*/ 9 w 785"/>
                <a:gd name="T7" fmla="*/ 318 h 692"/>
                <a:gd name="T8" fmla="*/ 177 w 785"/>
                <a:gd name="T9" fmla="*/ 27 h 692"/>
                <a:gd name="T10" fmla="*/ 225 w 785"/>
                <a:gd name="T11" fmla="*/ 0 h 692"/>
                <a:gd name="T12" fmla="*/ 561 w 785"/>
                <a:gd name="T13" fmla="*/ 0 h 692"/>
                <a:gd name="T14" fmla="*/ 609 w 785"/>
                <a:gd name="T15" fmla="*/ 27 h 692"/>
                <a:gd name="T16" fmla="*/ 777 w 785"/>
                <a:gd name="T17" fmla="*/ 318 h 692"/>
                <a:gd name="T18" fmla="*/ 777 w 785"/>
                <a:gd name="T19" fmla="*/ 374 h 692"/>
                <a:gd name="T20" fmla="*/ 609 w 785"/>
                <a:gd name="T21" fmla="*/ 665 h 692"/>
                <a:gd name="T22" fmla="*/ 561 w 785"/>
                <a:gd name="T23" fmla="*/ 692 h 692"/>
                <a:gd name="T24" fmla="*/ 225 w 785"/>
                <a:gd name="T25" fmla="*/ 692 h 6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5" h="692">
                  <a:moveTo>
                    <a:pt x="225" y="692"/>
                  </a:moveTo>
                  <a:cubicBezTo>
                    <a:pt x="207" y="692"/>
                    <a:pt x="185" y="680"/>
                    <a:pt x="177" y="665"/>
                  </a:cubicBezTo>
                  <a:cubicBezTo>
                    <a:pt x="9" y="374"/>
                    <a:pt x="9" y="374"/>
                    <a:pt x="9" y="374"/>
                  </a:cubicBezTo>
                  <a:cubicBezTo>
                    <a:pt x="0" y="358"/>
                    <a:pt x="0" y="334"/>
                    <a:pt x="9" y="318"/>
                  </a:cubicBezTo>
                  <a:cubicBezTo>
                    <a:pt x="177" y="27"/>
                    <a:pt x="177" y="27"/>
                    <a:pt x="177" y="27"/>
                  </a:cubicBezTo>
                  <a:cubicBezTo>
                    <a:pt x="185" y="12"/>
                    <a:pt x="207" y="0"/>
                    <a:pt x="225" y="0"/>
                  </a:cubicBezTo>
                  <a:cubicBezTo>
                    <a:pt x="561" y="0"/>
                    <a:pt x="561" y="0"/>
                    <a:pt x="561" y="0"/>
                  </a:cubicBezTo>
                  <a:cubicBezTo>
                    <a:pt x="578" y="0"/>
                    <a:pt x="600" y="12"/>
                    <a:pt x="609" y="27"/>
                  </a:cubicBezTo>
                  <a:cubicBezTo>
                    <a:pt x="777" y="318"/>
                    <a:pt x="777" y="318"/>
                    <a:pt x="777" y="318"/>
                  </a:cubicBezTo>
                  <a:cubicBezTo>
                    <a:pt x="785" y="334"/>
                    <a:pt x="785" y="358"/>
                    <a:pt x="777" y="374"/>
                  </a:cubicBezTo>
                  <a:cubicBezTo>
                    <a:pt x="609" y="665"/>
                    <a:pt x="609" y="665"/>
                    <a:pt x="609" y="665"/>
                  </a:cubicBezTo>
                  <a:cubicBezTo>
                    <a:pt x="600" y="680"/>
                    <a:pt x="578" y="692"/>
                    <a:pt x="561" y="692"/>
                  </a:cubicBezTo>
                  <a:lnTo>
                    <a:pt x="225" y="692"/>
                  </a:lnTo>
                  <a:close/>
                </a:path>
              </a:pathLst>
            </a:custGeom>
            <a:noFill/>
            <a:ln w="28575" cmpd="sng">
              <a:solidFill>
                <a:schemeClr val="tx1"/>
              </a:solidFill>
            </a:ln>
          </p:spPr>
          <p:txBody>
            <a:bodyPr vert="horz" wrap="square" lIns="91440" tIns="45720" rIns="91440" bIns="45720" numCol="1" anchor="t" anchorCtr="0" compatLnSpc="1">
              <a:prstTxWarp prst="textNoShape">
                <a:avLst/>
              </a:prstTxWarp>
            </a:bodyPr>
            <a:lstStyle/>
            <a:p>
              <a:endParaRPr lang="en-US"/>
            </a:p>
          </p:txBody>
        </p:sp>
      </p:grpSp>
      <p:sp>
        <p:nvSpPr>
          <p:cNvPr id="21506" name="Rectangle 14">
            <a:extLst>
              <a:ext uri="{FF2B5EF4-FFF2-40B4-BE49-F238E27FC236}">
                <a16:creationId xmlns:a16="http://schemas.microsoft.com/office/drawing/2014/main" id="{C7537131-A968-B141-B236-D7B04B8E4C97}"/>
              </a:ext>
            </a:extLst>
          </p:cNvPr>
          <p:cNvSpPr>
            <a:spLocks noGrp="1" noChangeArrowheads="1"/>
          </p:cNvSpPr>
          <p:nvPr>
            <p:ph type="body" sz="half" idx="1"/>
          </p:nvPr>
        </p:nvSpPr>
        <p:spPr>
          <a:xfrm>
            <a:off x="1000450" y="3067026"/>
            <a:ext cx="5568991" cy="2968014"/>
          </a:xfrm>
        </p:spPr>
        <p:txBody>
          <a:bodyPr vert="horz" lIns="91440" tIns="45720" rIns="91440" bIns="45720" rtlCol="0" anchor="t">
            <a:normAutofit/>
          </a:bodyPr>
          <a:lstStyle/>
          <a:p>
            <a:pPr lvl="1"/>
            <a:r>
              <a:rPr lang="en-US" altLang="fr-EG" sz="2000"/>
              <a:t>Two co-workers forward each other off-color jokes they receive in e-mails </a:t>
            </a:r>
          </a:p>
          <a:p>
            <a:pPr lvl="1"/>
            <a:r>
              <a:rPr lang="en-US" altLang="fr-EG" sz="2000"/>
              <a:t>An employee asks a co-worker out</a:t>
            </a:r>
          </a:p>
          <a:p>
            <a:pPr lvl="1"/>
            <a:r>
              <a:rPr lang="en-US" altLang="fr-EG" sz="2000"/>
              <a:t>Two co-workers develop a personal</a:t>
            </a:r>
            <a:br>
              <a:rPr lang="en-US" altLang="fr-EG" sz="2000"/>
            </a:br>
            <a:r>
              <a:rPr lang="en-US" altLang="fr-EG" sz="2000"/>
              <a:t>relationship</a:t>
            </a:r>
          </a:p>
        </p:txBody>
      </p:sp>
      <p:pic>
        <p:nvPicPr>
          <p:cNvPr id="21507" name="Picture 27">
            <a:extLst>
              <a:ext uri="{FF2B5EF4-FFF2-40B4-BE49-F238E27FC236}">
                <a16:creationId xmlns:a16="http://schemas.microsoft.com/office/drawing/2014/main" id="{435CFEA7-EE23-D34E-8418-23A0E26E4E9F}"/>
              </a:ext>
            </a:extLst>
          </p:cNvPr>
          <p:cNvPicPr>
            <a:picLocks noGrp="1" noChangeAspect="1" noChangeArrowheads="1"/>
          </p:cNvPicPr>
          <p:nvPr>
            <p:ph sz="half" idx="2"/>
          </p:nvPr>
        </p:nvPicPr>
        <p:blipFill rotWithShape="1">
          <a:blip r:embed="rId3">
            <a:extLst>
              <a:ext uri="{28A0092B-C50C-407E-A947-70E740481C1C}">
                <a14:useLocalDpi xmlns:a14="http://schemas.microsoft.com/office/drawing/2010/main" val="0"/>
              </a:ext>
            </a:extLst>
          </a:blip>
          <a:srcRect l="27456" r="28232" b="1"/>
          <a:stretch/>
        </p:blipFill>
        <p:spPr>
          <a:xfrm>
            <a:off x="7534656" y="10"/>
            <a:ext cx="4657344" cy="6857990"/>
          </a:xfrm>
          <a:prstGeom prst="rect">
            <a:avLst/>
          </a:prstGeom>
          <a:noFill/>
        </p:spPr>
      </p:pic>
    </p:spTree>
    <p:extLst>
      <p:ext uri="{BB962C8B-B14F-4D97-AF65-F5344CB8AC3E}">
        <p14:creationId xmlns:p14="http://schemas.microsoft.com/office/powerpoint/2010/main" val="11879560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PhAnim="0">
  <p:cSld>
    <p:bg>
      <p:bgPr>
        <a:solidFill>
          <a:schemeClr val="bg1"/>
        </a:solidFill>
        <a:effectLst/>
      </p:bgPr>
    </p:bg>
    <p:spTree>
      <p:nvGrpSpPr>
        <p:cNvPr id="1" name=""/>
        <p:cNvGrpSpPr/>
        <p:nvPr/>
      </p:nvGrpSpPr>
      <p:grpSpPr>
        <a:xfrm>
          <a:off x="0" y="0"/>
          <a:ext cx="0" cy="0"/>
          <a:chOff x="0" y="0"/>
          <a:chExt cx="0" cy="0"/>
        </a:xfrm>
      </p:grpSpPr>
      <p:sp useBgFill="1">
        <p:nvSpPr>
          <p:cNvPr id="73" name="Rectangle 72">
            <a:extLst>
              <a:ext uri="{FF2B5EF4-FFF2-40B4-BE49-F238E27FC236}">
                <a16:creationId xmlns:a16="http://schemas.microsoft.com/office/drawing/2014/main" id="{122F9423-F4B1-45D4-8445-E9991ECCBC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602" name="Rectangle 12">
            <a:extLst>
              <a:ext uri="{FF2B5EF4-FFF2-40B4-BE49-F238E27FC236}">
                <a16:creationId xmlns:a16="http://schemas.microsoft.com/office/drawing/2014/main" id="{7AF8D1FF-5DAC-EA40-8981-6EDAB5D870E2}"/>
              </a:ext>
            </a:extLst>
          </p:cNvPr>
          <p:cNvSpPr>
            <a:spLocks noGrp="1" noChangeArrowheads="1"/>
          </p:cNvSpPr>
          <p:nvPr>
            <p:ph type="title"/>
          </p:nvPr>
        </p:nvSpPr>
        <p:spPr>
          <a:xfrm>
            <a:off x="1000451" y="1610024"/>
            <a:ext cx="5568995" cy="1457002"/>
          </a:xfrm>
        </p:spPr>
        <p:txBody>
          <a:bodyPr vert="horz" lIns="91440" tIns="45720" rIns="91440" bIns="45720" rtlCol="0" anchor="b">
            <a:normAutofit/>
          </a:bodyPr>
          <a:lstStyle/>
          <a:p>
            <a:pPr>
              <a:defRPr/>
            </a:pPr>
            <a:r>
              <a:rPr lang="en-US" altLang="fr-EG" b="1"/>
              <a:t>IS THIS SEXUAL HARASSMENT? (cont.)</a:t>
            </a:r>
            <a:endParaRPr lang="en-US" altLang="fr-EG"/>
          </a:p>
        </p:txBody>
      </p:sp>
      <p:grpSp>
        <p:nvGrpSpPr>
          <p:cNvPr id="75" name="Group 74">
            <a:extLst>
              <a:ext uri="{FF2B5EF4-FFF2-40B4-BE49-F238E27FC236}">
                <a16:creationId xmlns:a16="http://schemas.microsoft.com/office/drawing/2014/main" id="{770AE191-D2EA-45C9-A44D-830C188F74C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72021" y="518649"/>
            <a:ext cx="1128382" cy="847206"/>
            <a:chOff x="8183879" y="1000124"/>
            <a:chExt cx="1562267" cy="1172973"/>
          </a:xfrm>
        </p:grpSpPr>
        <p:sp>
          <p:nvSpPr>
            <p:cNvPr id="76" name="Freeform 5">
              <a:extLst>
                <a:ext uri="{FF2B5EF4-FFF2-40B4-BE49-F238E27FC236}">
                  <a16:creationId xmlns:a16="http://schemas.microsoft.com/office/drawing/2014/main" id="{23A0E4C1-B7A6-4637-AC51-4A5AE3841FF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8183879" y="1348782"/>
              <a:ext cx="935037" cy="824315"/>
            </a:xfrm>
            <a:custGeom>
              <a:avLst/>
              <a:gdLst>
                <a:gd name="T0" fmla="*/ 225 w 785"/>
                <a:gd name="T1" fmla="*/ 692 h 692"/>
                <a:gd name="T2" fmla="*/ 177 w 785"/>
                <a:gd name="T3" fmla="*/ 665 h 692"/>
                <a:gd name="T4" fmla="*/ 9 w 785"/>
                <a:gd name="T5" fmla="*/ 374 h 692"/>
                <a:gd name="T6" fmla="*/ 9 w 785"/>
                <a:gd name="T7" fmla="*/ 318 h 692"/>
                <a:gd name="T8" fmla="*/ 177 w 785"/>
                <a:gd name="T9" fmla="*/ 27 h 692"/>
                <a:gd name="T10" fmla="*/ 225 w 785"/>
                <a:gd name="T11" fmla="*/ 0 h 692"/>
                <a:gd name="T12" fmla="*/ 561 w 785"/>
                <a:gd name="T13" fmla="*/ 0 h 692"/>
                <a:gd name="T14" fmla="*/ 609 w 785"/>
                <a:gd name="T15" fmla="*/ 27 h 692"/>
                <a:gd name="T16" fmla="*/ 777 w 785"/>
                <a:gd name="T17" fmla="*/ 318 h 692"/>
                <a:gd name="T18" fmla="*/ 777 w 785"/>
                <a:gd name="T19" fmla="*/ 374 h 692"/>
                <a:gd name="T20" fmla="*/ 609 w 785"/>
                <a:gd name="T21" fmla="*/ 665 h 692"/>
                <a:gd name="T22" fmla="*/ 561 w 785"/>
                <a:gd name="T23" fmla="*/ 692 h 692"/>
                <a:gd name="T24" fmla="*/ 225 w 785"/>
                <a:gd name="T25" fmla="*/ 692 h 6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5" h="692">
                  <a:moveTo>
                    <a:pt x="225" y="692"/>
                  </a:moveTo>
                  <a:cubicBezTo>
                    <a:pt x="207" y="692"/>
                    <a:pt x="185" y="680"/>
                    <a:pt x="177" y="665"/>
                  </a:cubicBezTo>
                  <a:cubicBezTo>
                    <a:pt x="9" y="374"/>
                    <a:pt x="9" y="374"/>
                    <a:pt x="9" y="374"/>
                  </a:cubicBezTo>
                  <a:cubicBezTo>
                    <a:pt x="0" y="358"/>
                    <a:pt x="0" y="334"/>
                    <a:pt x="9" y="318"/>
                  </a:cubicBezTo>
                  <a:cubicBezTo>
                    <a:pt x="177" y="27"/>
                    <a:pt x="177" y="27"/>
                    <a:pt x="177" y="27"/>
                  </a:cubicBezTo>
                  <a:cubicBezTo>
                    <a:pt x="185" y="12"/>
                    <a:pt x="207" y="0"/>
                    <a:pt x="225" y="0"/>
                  </a:cubicBezTo>
                  <a:cubicBezTo>
                    <a:pt x="561" y="0"/>
                    <a:pt x="561" y="0"/>
                    <a:pt x="561" y="0"/>
                  </a:cubicBezTo>
                  <a:cubicBezTo>
                    <a:pt x="578" y="0"/>
                    <a:pt x="600" y="12"/>
                    <a:pt x="609" y="27"/>
                  </a:cubicBezTo>
                  <a:cubicBezTo>
                    <a:pt x="777" y="318"/>
                    <a:pt x="777" y="318"/>
                    <a:pt x="777" y="318"/>
                  </a:cubicBezTo>
                  <a:cubicBezTo>
                    <a:pt x="785" y="334"/>
                    <a:pt x="785" y="358"/>
                    <a:pt x="777" y="374"/>
                  </a:cubicBezTo>
                  <a:cubicBezTo>
                    <a:pt x="609" y="665"/>
                    <a:pt x="609" y="665"/>
                    <a:pt x="609" y="665"/>
                  </a:cubicBezTo>
                  <a:cubicBezTo>
                    <a:pt x="600" y="680"/>
                    <a:pt x="578" y="692"/>
                    <a:pt x="561" y="692"/>
                  </a:cubicBezTo>
                  <a:lnTo>
                    <a:pt x="225" y="692"/>
                  </a:lnTo>
                  <a:close/>
                </a:path>
              </a:pathLst>
            </a:custGeom>
            <a:noFill/>
            <a:ln w="28575" cmpd="sng">
              <a:solidFill>
                <a:schemeClr val="tx1"/>
              </a:solidFill>
            </a:ln>
          </p:spPr>
          <p:txBody>
            <a:bodyPr vert="horz" wrap="square" lIns="91440" tIns="45720" rIns="91440" bIns="45720" numCol="1" anchor="t" anchorCtr="0" compatLnSpc="1">
              <a:prstTxWarp prst="textNoShape">
                <a:avLst/>
              </a:prstTxWarp>
            </a:bodyPr>
            <a:lstStyle/>
            <a:p>
              <a:endParaRPr lang="en-US"/>
            </a:p>
          </p:txBody>
        </p:sp>
        <p:sp>
          <p:nvSpPr>
            <p:cNvPr id="77" name="Freeform 5">
              <a:extLst>
                <a:ext uri="{FF2B5EF4-FFF2-40B4-BE49-F238E27FC236}">
                  <a16:creationId xmlns:a16="http://schemas.microsoft.com/office/drawing/2014/main" id="{F4E8C039-CC58-44F3-8A7B-E0A934C1D01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8983979" y="1000124"/>
              <a:ext cx="762167" cy="671915"/>
            </a:xfrm>
            <a:custGeom>
              <a:avLst/>
              <a:gdLst>
                <a:gd name="T0" fmla="*/ 225 w 785"/>
                <a:gd name="T1" fmla="*/ 692 h 692"/>
                <a:gd name="T2" fmla="*/ 177 w 785"/>
                <a:gd name="T3" fmla="*/ 665 h 692"/>
                <a:gd name="T4" fmla="*/ 9 w 785"/>
                <a:gd name="T5" fmla="*/ 374 h 692"/>
                <a:gd name="T6" fmla="*/ 9 w 785"/>
                <a:gd name="T7" fmla="*/ 318 h 692"/>
                <a:gd name="T8" fmla="*/ 177 w 785"/>
                <a:gd name="T9" fmla="*/ 27 h 692"/>
                <a:gd name="T10" fmla="*/ 225 w 785"/>
                <a:gd name="T11" fmla="*/ 0 h 692"/>
                <a:gd name="T12" fmla="*/ 561 w 785"/>
                <a:gd name="T13" fmla="*/ 0 h 692"/>
                <a:gd name="T14" fmla="*/ 609 w 785"/>
                <a:gd name="T15" fmla="*/ 27 h 692"/>
                <a:gd name="T16" fmla="*/ 777 w 785"/>
                <a:gd name="T17" fmla="*/ 318 h 692"/>
                <a:gd name="T18" fmla="*/ 777 w 785"/>
                <a:gd name="T19" fmla="*/ 374 h 692"/>
                <a:gd name="T20" fmla="*/ 609 w 785"/>
                <a:gd name="T21" fmla="*/ 665 h 692"/>
                <a:gd name="T22" fmla="*/ 561 w 785"/>
                <a:gd name="T23" fmla="*/ 692 h 692"/>
                <a:gd name="T24" fmla="*/ 225 w 785"/>
                <a:gd name="T25" fmla="*/ 692 h 6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5" h="692">
                  <a:moveTo>
                    <a:pt x="225" y="692"/>
                  </a:moveTo>
                  <a:cubicBezTo>
                    <a:pt x="207" y="692"/>
                    <a:pt x="185" y="680"/>
                    <a:pt x="177" y="665"/>
                  </a:cubicBezTo>
                  <a:cubicBezTo>
                    <a:pt x="9" y="374"/>
                    <a:pt x="9" y="374"/>
                    <a:pt x="9" y="374"/>
                  </a:cubicBezTo>
                  <a:cubicBezTo>
                    <a:pt x="0" y="358"/>
                    <a:pt x="0" y="334"/>
                    <a:pt x="9" y="318"/>
                  </a:cubicBezTo>
                  <a:cubicBezTo>
                    <a:pt x="177" y="27"/>
                    <a:pt x="177" y="27"/>
                    <a:pt x="177" y="27"/>
                  </a:cubicBezTo>
                  <a:cubicBezTo>
                    <a:pt x="185" y="12"/>
                    <a:pt x="207" y="0"/>
                    <a:pt x="225" y="0"/>
                  </a:cubicBezTo>
                  <a:cubicBezTo>
                    <a:pt x="561" y="0"/>
                    <a:pt x="561" y="0"/>
                    <a:pt x="561" y="0"/>
                  </a:cubicBezTo>
                  <a:cubicBezTo>
                    <a:pt x="578" y="0"/>
                    <a:pt x="600" y="12"/>
                    <a:pt x="609" y="27"/>
                  </a:cubicBezTo>
                  <a:cubicBezTo>
                    <a:pt x="777" y="318"/>
                    <a:pt x="777" y="318"/>
                    <a:pt x="777" y="318"/>
                  </a:cubicBezTo>
                  <a:cubicBezTo>
                    <a:pt x="785" y="334"/>
                    <a:pt x="785" y="358"/>
                    <a:pt x="777" y="374"/>
                  </a:cubicBezTo>
                  <a:cubicBezTo>
                    <a:pt x="609" y="665"/>
                    <a:pt x="609" y="665"/>
                    <a:pt x="609" y="665"/>
                  </a:cubicBezTo>
                  <a:cubicBezTo>
                    <a:pt x="600" y="680"/>
                    <a:pt x="578" y="692"/>
                    <a:pt x="561" y="692"/>
                  </a:cubicBezTo>
                  <a:lnTo>
                    <a:pt x="225" y="692"/>
                  </a:lnTo>
                  <a:close/>
                </a:path>
              </a:pathLst>
            </a:custGeom>
            <a:noFill/>
            <a:ln w="28575" cmpd="sng">
              <a:solidFill>
                <a:schemeClr val="tx1"/>
              </a:solidFill>
            </a:ln>
          </p:spPr>
          <p:txBody>
            <a:bodyPr vert="horz" wrap="square" lIns="91440" tIns="45720" rIns="91440" bIns="45720" numCol="1" anchor="t" anchorCtr="0" compatLnSpc="1">
              <a:prstTxWarp prst="textNoShape">
                <a:avLst/>
              </a:prstTxWarp>
            </a:bodyPr>
            <a:lstStyle/>
            <a:p>
              <a:endParaRPr lang="en-US"/>
            </a:p>
          </p:txBody>
        </p:sp>
      </p:grpSp>
      <p:sp>
        <p:nvSpPr>
          <p:cNvPr id="23554" name="Rectangle 13">
            <a:extLst>
              <a:ext uri="{FF2B5EF4-FFF2-40B4-BE49-F238E27FC236}">
                <a16:creationId xmlns:a16="http://schemas.microsoft.com/office/drawing/2014/main" id="{810DC021-E057-5D47-A173-EEB024387209}"/>
              </a:ext>
            </a:extLst>
          </p:cNvPr>
          <p:cNvSpPr>
            <a:spLocks noGrp="1" noChangeArrowheads="1"/>
          </p:cNvSpPr>
          <p:nvPr>
            <p:ph type="body" sz="half" idx="1"/>
          </p:nvPr>
        </p:nvSpPr>
        <p:spPr>
          <a:xfrm>
            <a:off x="1000450" y="3067026"/>
            <a:ext cx="5568991" cy="2968014"/>
          </a:xfrm>
        </p:spPr>
        <p:txBody>
          <a:bodyPr vert="horz" lIns="91440" tIns="45720" rIns="91440" bIns="45720" rtlCol="0" anchor="t">
            <a:normAutofit/>
          </a:bodyPr>
          <a:lstStyle/>
          <a:p>
            <a:pPr lvl="1"/>
            <a:r>
              <a:rPr lang="en-US" altLang="fr-EG" sz="2000"/>
              <a:t>An employee posts a swimsuit calendar in his work area</a:t>
            </a:r>
          </a:p>
          <a:p>
            <a:pPr lvl="1"/>
            <a:r>
              <a:rPr lang="en-US" altLang="fr-EG" sz="2000"/>
              <a:t>An employee posts a male pinup in her work area </a:t>
            </a:r>
          </a:p>
          <a:p>
            <a:pPr lvl="1"/>
            <a:r>
              <a:rPr lang="en-US" altLang="fr-EG" sz="2000"/>
              <a:t>A good customer makes provocative comments to employees</a:t>
            </a:r>
          </a:p>
        </p:txBody>
      </p:sp>
      <p:pic>
        <p:nvPicPr>
          <p:cNvPr id="23555" name="Picture 17">
            <a:extLst>
              <a:ext uri="{FF2B5EF4-FFF2-40B4-BE49-F238E27FC236}">
                <a16:creationId xmlns:a16="http://schemas.microsoft.com/office/drawing/2014/main" id="{B53EB553-70A4-2340-956A-509147840808}"/>
              </a:ext>
            </a:extLst>
          </p:cNvPr>
          <p:cNvPicPr>
            <a:picLocks noGrp="1" noChangeAspect="1" noChangeArrowheads="1"/>
          </p:cNvPicPr>
          <p:nvPr>
            <p:ph sz="half" idx="2"/>
          </p:nvPr>
        </p:nvPicPr>
        <p:blipFill rotWithShape="1">
          <a:blip r:embed="rId3">
            <a:extLst>
              <a:ext uri="{28A0092B-C50C-407E-A947-70E740481C1C}">
                <a14:useLocalDpi xmlns:a14="http://schemas.microsoft.com/office/drawing/2010/main" val="0"/>
              </a:ext>
            </a:extLst>
          </a:blip>
          <a:srcRect l="17508" r="37670" b="-1"/>
          <a:stretch/>
        </p:blipFill>
        <p:spPr>
          <a:xfrm>
            <a:off x="7534656" y="10"/>
            <a:ext cx="4657344" cy="6857990"/>
          </a:xfrm>
          <a:prstGeom prst="rect">
            <a:avLst/>
          </a:prstGeom>
          <a:noFill/>
        </p:spPr>
      </p:pic>
    </p:spTree>
    <p:extLst>
      <p:ext uri="{BB962C8B-B14F-4D97-AF65-F5344CB8AC3E}">
        <p14:creationId xmlns:p14="http://schemas.microsoft.com/office/powerpoint/2010/main" val="31615330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PhAnim="0">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122F9423-F4B1-45D4-8445-E9991ECCBC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601" name="Rectangle 12">
            <a:extLst>
              <a:ext uri="{FF2B5EF4-FFF2-40B4-BE49-F238E27FC236}">
                <a16:creationId xmlns:a16="http://schemas.microsoft.com/office/drawing/2014/main" id="{7D85D9AB-A4BD-5B40-91FE-37FDDDAEE21E}"/>
              </a:ext>
            </a:extLst>
          </p:cNvPr>
          <p:cNvSpPr>
            <a:spLocks noGrp="1" noChangeArrowheads="1"/>
          </p:cNvSpPr>
          <p:nvPr>
            <p:ph type="title"/>
          </p:nvPr>
        </p:nvSpPr>
        <p:spPr>
          <a:xfrm>
            <a:off x="1000451" y="1610024"/>
            <a:ext cx="5568995" cy="1457002"/>
          </a:xfrm>
        </p:spPr>
        <p:txBody>
          <a:bodyPr vert="horz" lIns="91440" tIns="45720" rIns="91440" bIns="45720" rtlCol="0" anchor="b">
            <a:normAutofit/>
          </a:bodyPr>
          <a:lstStyle/>
          <a:p>
            <a:r>
              <a:rPr lang="en-US" altLang="fr-EG" b="1"/>
              <a:t>ECONOMIC HARASSMENT</a:t>
            </a:r>
            <a:endParaRPr lang="en-US" altLang="fr-EG"/>
          </a:p>
        </p:txBody>
      </p:sp>
      <p:grpSp>
        <p:nvGrpSpPr>
          <p:cNvPr id="74" name="Group 73">
            <a:extLst>
              <a:ext uri="{FF2B5EF4-FFF2-40B4-BE49-F238E27FC236}">
                <a16:creationId xmlns:a16="http://schemas.microsoft.com/office/drawing/2014/main" id="{770AE191-D2EA-45C9-A44D-830C188F74C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72021" y="518649"/>
            <a:ext cx="1128382" cy="847206"/>
            <a:chOff x="8183879" y="1000124"/>
            <a:chExt cx="1562267" cy="1172973"/>
          </a:xfrm>
        </p:grpSpPr>
        <p:sp>
          <p:nvSpPr>
            <p:cNvPr id="75" name="Freeform 5">
              <a:extLst>
                <a:ext uri="{FF2B5EF4-FFF2-40B4-BE49-F238E27FC236}">
                  <a16:creationId xmlns:a16="http://schemas.microsoft.com/office/drawing/2014/main" id="{23A0E4C1-B7A6-4637-AC51-4A5AE3841FF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8183879" y="1348782"/>
              <a:ext cx="935037" cy="824315"/>
            </a:xfrm>
            <a:custGeom>
              <a:avLst/>
              <a:gdLst>
                <a:gd name="T0" fmla="*/ 225 w 785"/>
                <a:gd name="T1" fmla="*/ 692 h 692"/>
                <a:gd name="T2" fmla="*/ 177 w 785"/>
                <a:gd name="T3" fmla="*/ 665 h 692"/>
                <a:gd name="T4" fmla="*/ 9 w 785"/>
                <a:gd name="T5" fmla="*/ 374 h 692"/>
                <a:gd name="T6" fmla="*/ 9 w 785"/>
                <a:gd name="T7" fmla="*/ 318 h 692"/>
                <a:gd name="T8" fmla="*/ 177 w 785"/>
                <a:gd name="T9" fmla="*/ 27 h 692"/>
                <a:gd name="T10" fmla="*/ 225 w 785"/>
                <a:gd name="T11" fmla="*/ 0 h 692"/>
                <a:gd name="T12" fmla="*/ 561 w 785"/>
                <a:gd name="T13" fmla="*/ 0 h 692"/>
                <a:gd name="T14" fmla="*/ 609 w 785"/>
                <a:gd name="T15" fmla="*/ 27 h 692"/>
                <a:gd name="T16" fmla="*/ 777 w 785"/>
                <a:gd name="T17" fmla="*/ 318 h 692"/>
                <a:gd name="T18" fmla="*/ 777 w 785"/>
                <a:gd name="T19" fmla="*/ 374 h 692"/>
                <a:gd name="T20" fmla="*/ 609 w 785"/>
                <a:gd name="T21" fmla="*/ 665 h 692"/>
                <a:gd name="T22" fmla="*/ 561 w 785"/>
                <a:gd name="T23" fmla="*/ 692 h 692"/>
                <a:gd name="T24" fmla="*/ 225 w 785"/>
                <a:gd name="T25" fmla="*/ 692 h 6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5" h="692">
                  <a:moveTo>
                    <a:pt x="225" y="692"/>
                  </a:moveTo>
                  <a:cubicBezTo>
                    <a:pt x="207" y="692"/>
                    <a:pt x="185" y="680"/>
                    <a:pt x="177" y="665"/>
                  </a:cubicBezTo>
                  <a:cubicBezTo>
                    <a:pt x="9" y="374"/>
                    <a:pt x="9" y="374"/>
                    <a:pt x="9" y="374"/>
                  </a:cubicBezTo>
                  <a:cubicBezTo>
                    <a:pt x="0" y="358"/>
                    <a:pt x="0" y="334"/>
                    <a:pt x="9" y="318"/>
                  </a:cubicBezTo>
                  <a:cubicBezTo>
                    <a:pt x="177" y="27"/>
                    <a:pt x="177" y="27"/>
                    <a:pt x="177" y="27"/>
                  </a:cubicBezTo>
                  <a:cubicBezTo>
                    <a:pt x="185" y="12"/>
                    <a:pt x="207" y="0"/>
                    <a:pt x="225" y="0"/>
                  </a:cubicBezTo>
                  <a:cubicBezTo>
                    <a:pt x="561" y="0"/>
                    <a:pt x="561" y="0"/>
                    <a:pt x="561" y="0"/>
                  </a:cubicBezTo>
                  <a:cubicBezTo>
                    <a:pt x="578" y="0"/>
                    <a:pt x="600" y="12"/>
                    <a:pt x="609" y="27"/>
                  </a:cubicBezTo>
                  <a:cubicBezTo>
                    <a:pt x="777" y="318"/>
                    <a:pt x="777" y="318"/>
                    <a:pt x="777" y="318"/>
                  </a:cubicBezTo>
                  <a:cubicBezTo>
                    <a:pt x="785" y="334"/>
                    <a:pt x="785" y="358"/>
                    <a:pt x="777" y="374"/>
                  </a:cubicBezTo>
                  <a:cubicBezTo>
                    <a:pt x="609" y="665"/>
                    <a:pt x="609" y="665"/>
                    <a:pt x="609" y="665"/>
                  </a:cubicBezTo>
                  <a:cubicBezTo>
                    <a:pt x="600" y="680"/>
                    <a:pt x="578" y="692"/>
                    <a:pt x="561" y="692"/>
                  </a:cubicBezTo>
                  <a:lnTo>
                    <a:pt x="225" y="692"/>
                  </a:lnTo>
                  <a:close/>
                </a:path>
              </a:pathLst>
            </a:custGeom>
            <a:noFill/>
            <a:ln w="28575" cmpd="sng">
              <a:solidFill>
                <a:schemeClr val="tx1"/>
              </a:solidFill>
            </a:ln>
          </p:spPr>
          <p:txBody>
            <a:bodyPr vert="horz" wrap="square" lIns="91440" tIns="45720" rIns="91440" bIns="45720" numCol="1" anchor="t" anchorCtr="0" compatLnSpc="1">
              <a:prstTxWarp prst="textNoShape">
                <a:avLst/>
              </a:prstTxWarp>
            </a:bodyPr>
            <a:lstStyle/>
            <a:p>
              <a:endParaRPr lang="en-US"/>
            </a:p>
          </p:txBody>
        </p:sp>
        <p:sp>
          <p:nvSpPr>
            <p:cNvPr id="76" name="Freeform 5">
              <a:extLst>
                <a:ext uri="{FF2B5EF4-FFF2-40B4-BE49-F238E27FC236}">
                  <a16:creationId xmlns:a16="http://schemas.microsoft.com/office/drawing/2014/main" id="{F4E8C039-CC58-44F3-8A7B-E0A934C1D01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8983979" y="1000124"/>
              <a:ext cx="762167" cy="671915"/>
            </a:xfrm>
            <a:custGeom>
              <a:avLst/>
              <a:gdLst>
                <a:gd name="T0" fmla="*/ 225 w 785"/>
                <a:gd name="T1" fmla="*/ 692 h 692"/>
                <a:gd name="T2" fmla="*/ 177 w 785"/>
                <a:gd name="T3" fmla="*/ 665 h 692"/>
                <a:gd name="T4" fmla="*/ 9 w 785"/>
                <a:gd name="T5" fmla="*/ 374 h 692"/>
                <a:gd name="T6" fmla="*/ 9 w 785"/>
                <a:gd name="T7" fmla="*/ 318 h 692"/>
                <a:gd name="T8" fmla="*/ 177 w 785"/>
                <a:gd name="T9" fmla="*/ 27 h 692"/>
                <a:gd name="T10" fmla="*/ 225 w 785"/>
                <a:gd name="T11" fmla="*/ 0 h 692"/>
                <a:gd name="T12" fmla="*/ 561 w 785"/>
                <a:gd name="T13" fmla="*/ 0 h 692"/>
                <a:gd name="T14" fmla="*/ 609 w 785"/>
                <a:gd name="T15" fmla="*/ 27 h 692"/>
                <a:gd name="T16" fmla="*/ 777 w 785"/>
                <a:gd name="T17" fmla="*/ 318 h 692"/>
                <a:gd name="T18" fmla="*/ 777 w 785"/>
                <a:gd name="T19" fmla="*/ 374 h 692"/>
                <a:gd name="T20" fmla="*/ 609 w 785"/>
                <a:gd name="T21" fmla="*/ 665 h 692"/>
                <a:gd name="T22" fmla="*/ 561 w 785"/>
                <a:gd name="T23" fmla="*/ 692 h 692"/>
                <a:gd name="T24" fmla="*/ 225 w 785"/>
                <a:gd name="T25" fmla="*/ 692 h 6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5" h="692">
                  <a:moveTo>
                    <a:pt x="225" y="692"/>
                  </a:moveTo>
                  <a:cubicBezTo>
                    <a:pt x="207" y="692"/>
                    <a:pt x="185" y="680"/>
                    <a:pt x="177" y="665"/>
                  </a:cubicBezTo>
                  <a:cubicBezTo>
                    <a:pt x="9" y="374"/>
                    <a:pt x="9" y="374"/>
                    <a:pt x="9" y="374"/>
                  </a:cubicBezTo>
                  <a:cubicBezTo>
                    <a:pt x="0" y="358"/>
                    <a:pt x="0" y="334"/>
                    <a:pt x="9" y="318"/>
                  </a:cubicBezTo>
                  <a:cubicBezTo>
                    <a:pt x="177" y="27"/>
                    <a:pt x="177" y="27"/>
                    <a:pt x="177" y="27"/>
                  </a:cubicBezTo>
                  <a:cubicBezTo>
                    <a:pt x="185" y="12"/>
                    <a:pt x="207" y="0"/>
                    <a:pt x="225" y="0"/>
                  </a:cubicBezTo>
                  <a:cubicBezTo>
                    <a:pt x="561" y="0"/>
                    <a:pt x="561" y="0"/>
                    <a:pt x="561" y="0"/>
                  </a:cubicBezTo>
                  <a:cubicBezTo>
                    <a:pt x="578" y="0"/>
                    <a:pt x="600" y="12"/>
                    <a:pt x="609" y="27"/>
                  </a:cubicBezTo>
                  <a:cubicBezTo>
                    <a:pt x="777" y="318"/>
                    <a:pt x="777" y="318"/>
                    <a:pt x="777" y="318"/>
                  </a:cubicBezTo>
                  <a:cubicBezTo>
                    <a:pt x="785" y="334"/>
                    <a:pt x="785" y="358"/>
                    <a:pt x="777" y="374"/>
                  </a:cubicBezTo>
                  <a:cubicBezTo>
                    <a:pt x="609" y="665"/>
                    <a:pt x="609" y="665"/>
                    <a:pt x="609" y="665"/>
                  </a:cubicBezTo>
                  <a:cubicBezTo>
                    <a:pt x="600" y="680"/>
                    <a:pt x="578" y="692"/>
                    <a:pt x="561" y="692"/>
                  </a:cubicBezTo>
                  <a:lnTo>
                    <a:pt x="225" y="692"/>
                  </a:lnTo>
                  <a:close/>
                </a:path>
              </a:pathLst>
            </a:custGeom>
            <a:noFill/>
            <a:ln w="28575" cmpd="sng">
              <a:solidFill>
                <a:schemeClr val="tx1"/>
              </a:solidFill>
            </a:ln>
          </p:spPr>
          <p:txBody>
            <a:bodyPr vert="horz" wrap="square" lIns="91440" tIns="45720" rIns="91440" bIns="45720" numCol="1" anchor="t" anchorCtr="0" compatLnSpc="1">
              <a:prstTxWarp prst="textNoShape">
                <a:avLst/>
              </a:prstTxWarp>
            </a:bodyPr>
            <a:lstStyle/>
            <a:p>
              <a:endParaRPr lang="en-US"/>
            </a:p>
          </p:txBody>
        </p:sp>
      </p:grpSp>
      <p:sp>
        <p:nvSpPr>
          <p:cNvPr id="25602" name="Rectangle 13">
            <a:extLst>
              <a:ext uri="{FF2B5EF4-FFF2-40B4-BE49-F238E27FC236}">
                <a16:creationId xmlns:a16="http://schemas.microsoft.com/office/drawing/2014/main" id="{E853048A-69DF-C947-BC89-F15B2115AE23}"/>
              </a:ext>
            </a:extLst>
          </p:cNvPr>
          <p:cNvSpPr>
            <a:spLocks noGrp="1" noChangeArrowheads="1"/>
          </p:cNvSpPr>
          <p:nvPr>
            <p:ph type="body" sz="half" idx="1"/>
          </p:nvPr>
        </p:nvSpPr>
        <p:spPr>
          <a:xfrm>
            <a:off x="1000450" y="3067026"/>
            <a:ext cx="5568991" cy="2968014"/>
          </a:xfrm>
        </p:spPr>
        <p:txBody>
          <a:bodyPr vert="horz" lIns="91440" tIns="45720" rIns="91440" bIns="45720" rtlCol="0" anchor="t">
            <a:normAutofit/>
          </a:bodyPr>
          <a:lstStyle/>
          <a:p>
            <a:pPr lvl="1"/>
            <a:r>
              <a:rPr lang="en-US" altLang="fr-EG" sz="2000"/>
              <a:t>Quid pro quo or economic harassment</a:t>
            </a:r>
          </a:p>
          <a:p>
            <a:pPr lvl="1"/>
            <a:r>
              <a:rPr lang="en-US" altLang="fr-EG" sz="2000"/>
              <a:t>Automatic liability</a:t>
            </a:r>
          </a:p>
          <a:p>
            <a:pPr lvl="1"/>
            <a:r>
              <a:rPr lang="en-US" altLang="fr-EG" sz="2000"/>
              <a:t>Tangible employment action must actually </a:t>
            </a:r>
            <a:br>
              <a:rPr lang="en-US" altLang="fr-EG" sz="2000"/>
            </a:br>
            <a:r>
              <a:rPr lang="en-US" altLang="fr-EG" sz="2000"/>
              <a:t>occur</a:t>
            </a:r>
          </a:p>
          <a:p>
            <a:pPr marL="0"/>
            <a:endParaRPr lang="en-US" altLang="fr-EG" sz="2000"/>
          </a:p>
        </p:txBody>
      </p:sp>
      <p:pic>
        <p:nvPicPr>
          <p:cNvPr id="25603" name="Picture 21">
            <a:extLst>
              <a:ext uri="{FF2B5EF4-FFF2-40B4-BE49-F238E27FC236}">
                <a16:creationId xmlns:a16="http://schemas.microsoft.com/office/drawing/2014/main" id="{35E50BFD-1A88-C944-B10F-0FF6D9134907}"/>
              </a:ext>
            </a:extLst>
          </p:cNvPr>
          <p:cNvPicPr>
            <a:picLocks noGrp="1" noChangeAspect="1" noChangeArrowheads="1"/>
          </p:cNvPicPr>
          <p:nvPr>
            <p:ph sz="half" idx="2"/>
          </p:nvPr>
        </p:nvPicPr>
        <p:blipFill rotWithShape="1">
          <a:blip r:embed="rId3">
            <a:extLst>
              <a:ext uri="{28A0092B-C50C-407E-A947-70E740481C1C}">
                <a14:useLocalDpi xmlns:a14="http://schemas.microsoft.com/office/drawing/2010/main" val="0"/>
              </a:ext>
            </a:extLst>
          </a:blip>
          <a:srcRect l="17093" r="14996"/>
          <a:stretch/>
        </p:blipFill>
        <p:spPr>
          <a:xfrm>
            <a:off x="7534656" y="10"/>
            <a:ext cx="4657344" cy="6857990"/>
          </a:xfrm>
          <a:prstGeom prst="rect">
            <a:avLst/>
          </a:prstGeom>
          <a:noFill/>
        </p:spPr>
      </p:pic>
    </p:spTree>
    <p:extLst>
      <p:ext uri="{BB962C8B-B14F-4D97-AF65-F5344CB8AC3E}">
        <p14:creationId xmlns:p14="http://schemas.microsoft.com/office/powerpoint/2010/main" val="5174523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PhAnim="0">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33CD251C-A887-4D2F-925B-FC09719853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649" name="Rectangle 6">
            <a:extLst>
              <a:ext uri="{FF2B5EF4-FFF2-40B4-BE49-F238E27FC236}">
                <a16:creationId xmlns:a16="http://schemas.microsoft.com/office/drawing/2014/main" id="{7E14CB18-28C8-734D-9E76-0A6799C406B0}"/>
              </a:ext>
            </a:extLst>
          </p:cNvPr>
          <p:cNvSpPr>
            <a:spLocks noGrp="1" noChangeArrowheads="1"/>
          </p:cNvSpPr>
          <p:nvPr>
            <p:ph type="title"/>
          </p:nvPr>
        </p:nvSpPr>
        <p:spPr>
          <a:xfrm>
            <a:off x="1000452" y="1610024"/>
            <a:ext cx="3058621" cy="1457002"/>
          </a:xfrm>
        </p:spPr>
        <p:txBody>
          <a:bodyPr vert="horz" lIns="91440" tIns="45720" rIns="91440" bIns="45720" rtlCol="0" anchor="b">
            <a:normAutofit fontScale="90000"/>
          </a:bodyPr>
          <a:lstStyle/>
          <a:p>
            <a:r>
              <a:rPr lang="en-US" altLang="fr-EG" sz="3700" b="1"/>
              <a:t>HOSTILE WORK ENVIRONMENT</a:t>
            </a:r>
            <a:endParaRPr lang="en-US" altLang="fr-EG" sz="3700"/>
          </a:p>
        </p:txBody>
      </p:sp>
      <p:grpSp>
        <p:nvGrpSpPr>
          <p:cNvPr id="74" name="Group 73">
            <a:extLst>
              <a:ext uri="{FF2B5EF4-FFF2-40B4-BE49-F238E27FC236}">
                <a16:creationId xmlns:a16="http://schemas.microsoft.com/office/drawing/2014/main" id="{770AE191-D2EA-45C9-A44D-830C188F74C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72021" y="518649"/>
            <a:ext cx="1128382" cy="847206"/>
            <a:chOff x="8183879" y="1000124"/>
            <a:chExt cx="1562267" cy="1172973"/>
          </a:xfrm>
        </p:grpSpPr>
        <p:sp>
          <p:nvSpPr>
            <p:cNvPr id="75" name="Freeform 5">
              <a:extLst>
                <a:ext uri="{FF2B5EF4-FFF2-40B4-BE49-F238E27FC236}">
                  <a16:creationId xmlns:a16="http://schemas.microsoft.com/office/drawing/2014/main" id="{23A0E4C1-B7A6-4637-AC51-4A5AE3841FF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8183879" y="1348782"/>
              <a:ext cx="935037" cy="824315"/>
            </a:xfrm>
            <a:custGeom>
              <a:avLst/>
              <a:gdLst>
                <a:gd name="T0" fmla="*/ 225 w 785"/>
                <a:gd name="T1" fmla="*/ 692 h 692"/>
                <a:gd name="T2" fmla="*/ 177 w 785"/>
                <a:gd name="T3" fmla="*/ 665 h 692"/>
                <a:gd name="T4" fmla="*/ 9 w 785"/>
                <a:gd name="T5" fmla="*/ 374 h 692"/>
                <a:gd name="T6" fmla="*/ 9 w 785"/>
                <a:gd name="T7" fmla="*/ 318 h 692"/>
                <a:gd name="T8" fmla="*/ 177 w 785"/>
                <a:gd name="T9" fmla="*/ 27 h 692"/>
                <a:gd name="T10" fmla="*/ 225 w 785"/>
                <a:gd name="T11" fmla="*/ 0 h 692"/>
                <a:gd name="T12" fmla="*/ 561 w 785"/>
                <a:gd name="T13" fmla="*/ 0 h 692"/>
                <a:gd name="T14" fmla="*/ 609 w 785"/>
                <a:gd name="T15" fmla="*/ 27 h 692"/>
                <a:gd name="T16" fmla="*/ 777 w 785"/>
                <a:gd name="T17" fmla="*/ 318 h 692"/>
                <a:gd name="T18" fmla="*/ 777 w 785"/>
                <a:gd name="T19" fmla="*/ 374 h 692"/>
                <a:gd name="T20" fmla="*/ 609 w 785"/>
                <a:gd name="T21" fmla="*/ 665 h 692"/>
                <a:gd name="T22" fmla="*/ 561 w 785"/>
                <a:gd name="T23" fmla="*/ 692 h 692"/>
                <a:gd name="T24" fmla="*/ 225 w 785"/>
                <a:gd name="T25" fmla="*/ 692 h 6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5" h="692">
                  <a:moveTo>
                    <a:pt x="225" y="692"/>
                  </a:moveTo>
                  <a:cubicBezTo>
                    <a:pt x="207" y="692"/>
                    <a:pt x="185" y="680"/>
                    <a:pt x="177" y="665"/>
                  </a:cubicBezTo>
                  <a:cubicBezTo>
                    <a:pt x="9" y="374"/>
                    <a:pt x="9" y="374"/>
                    <a:pt x="9" y="374"/>
                  </a:cubicBezTo>
                  <a:cubicBezTo>
                    <a:pt x="0" y="358"/>
                    <a:pt x="0" y="334"/>
                    <a:pt x="9" y="318"/>
                  </a:cubicBezTo>
                  <a:cubicBezTo>
                    <a:pt x="177" y="27"/>
                    <a:pt x="177" y="27"/>
                    <a:pt x="177" y="27"/>
                  </a:cubicBezTo>
                  <a:cubicBezTo>
                    <a:pt x="185" y="12"/>
                    <a:pt x="207" y="0"/>
                    <a:pt x="225" y="0"/>
                  </a:cubicBezTo>
                  <a:cubicBezTo>
                    <a:pt x="561" y="0"/>
                    <a:pt x="561" y="0"/>
                    <a:pt x="561" y="0"/>
                  </a:cubicBezTo>
                  <a:cubicBezTo>
                    <a:pt x="578" y="0"/>
                    <a:pt x="600" y="12"/>
                    <a:pt x="609" y="27"/>
                  </a:cubicBezTo>
                  <a:cubicBezTo>
                    <a:pt x="777" y="318"/>
                    <a:pt x="777" y="318"/>
                    <a:pt x="777" y="318"/>
                  </a:cubicBezTo>
                  <a:cubicBezTo>
                    <a:pt x="785" y="334"/>
                    <a:pt x="785" y="358"/>
                    <a:pt x="777" y="374"/>
                  </a:cubicBezTo>
                  <a:cubicBezTo>
                    <a:pt x="609" y="665"/>
                    <a:pt x="609" y="665"/>
                    <a:pt x="609" y="665"/>
                  </a:cubicBezTo>
                  <a:cubicBezTo>
                    <a:pt x="600" y="680"/>
                    <a:pt x="578" y="692"/>
                    <a:pt x="561" y="692"/>
                  </a:cubicBezTo>
                  <a:lnTo>
                    <a:pt x="225" y="692"/>
                  </a:lnTo>
                  <a:close/>
                </a:path>
              </a:pathLst>
            </a:custGeom>
            <a:noFill/>
            <a:ln w="28575" cmpd="sng">
              <a:solidFill>
                <a:schemeClr val="tx1"/>
              </a:solidFill>
            </a:ln>
          </p:spPr>
          <p:txBody>
            <a:bodyPr vert="horz" wrap="square" lIns="91440" tIns="45720" rIns="91440" bIns="45720" numCol="1" anchor="t" anchorCtr="0" compatLnSpc="1">
              <a:prstTxWarp prst="textNoShape">
                <a:avLst/>
              </a:prstTxWarp>
            </a:bodyPr>
            <a:lstStyle/>
            <a:p>
              <a:endParaRPr lang="en-US"/>
            </a:p>
          </p:txBody>
        </p:sp>
        <p:sp>
          <p:nvSpPr>
            <p:cNvPr id="76" name="Freeform 5">
              <a:extLst>
                <a:ext uri="{FF2B5EF4-FFF2-40B4-BE49-F238E27FC236}">
                  <a16:creationId xmlns:a16="http://schemas.microsoft.com/office/drawing/2014/main" id="{F4E8C039-CC58-44F3-8A7B-E0A934C1D01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8983979" y="1000124"/>
              <a:ext cx="762167" cy="671915"/>
            </a:xfrm>
            <a:custGeom>
              <a:avLst/>
              <a:gdLst>
                <a:gd name="T0" fmla="*/ 225 w 785"/>
                <a:gd name="T1" fmla="*/ 692 h 692"/>
                <a:gd name="T2" fmla="*/ 177 w 785"/>
                <a:gd name="T3" fmla="*/ 665 h 692"/>
                <a:gd name="T4" fmla="*/ 9 w 785"/>
                <a:gd name="T5" fmla="*/ 374 h 692"/>
                <a:gd name="T6" fmla="*/ 9 w 785"/>
                <a:gd name="T7" fmla="*/ 318 h 692"/>
                <a:gd name="T8" fmla="*/ 177 w 785"/>
                <a:gd name="T9" fmla="*/ 27 h 692"/>
                <a:gd name="T10" fmla="*/ 225 w 785"/>
                <a:gd name="T11" fmla="*/ 0 h 692"/>
                <a:gd name="T12" fmla="*/ 561 w 785"/>
                <a:gd name="T13" fmla="*/ 0 h 692"/>
                <a:gd name="T14" fmla="*/ 609 w 785"/>
                <a:gd name="T15" fmla="*/ 27 h 692"/>
                <a:gd name="T16" fmla="*/ 777 w 785"/>
                <a:gd name="T17" fmla="*/ 318 h 692"/>
                <a:gd name="T18" fmla="*/ 777 w 785"/>
                <a:gd name="T19" fmla="*/ 374 h 692"/>
                <a:gd name="T20" fmla="*/ 609 w 785"/>
                <a:gd name="T21" fmla="*/ 665 h 692"/>
                <a:gd name="T22" fmla="*/ 561 w 785"/>
                <a:gd name="T23" fmla="*/ 692 h 692"/>
                <a:gd name="T24" fmla="*/ 225 w 785"/>
                <a:gd name="T25" fmla="*/ 692 h 6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5" h="692">
                  <a:moveTo>
                    <a:pt x="225" y="692"/>
                  </a:moveTo>
                  <a:cubicBezTo>
                    <a:pt x="207" y="692"/>
                    <a:pt x="185" y="680"/>
                    <a:pt x="177" y="665"/>
                  </a:cubicBezTo>
                  <a:cubicBezTo>
                    <a:pt x="9" y="374"/>
                    <a:pt x="9" y="374"/>
                    <a:pt x="9" y="374"/>
                  </a:cubicBezTo>
                  <a:cubicBezTo>
                    <a:pt x="0" y="358"/>
                    <a:pt x="0" y="334"/>
                    <a:pt x="9" y="318"/>
                  </a:cubicBezTo>
                  <a:cubicBezTo>
                    <a:pt x="177" y="27"/>
                    <a:pt x="177" y="27"/>
                    <a:pt x="177" y="27"/>
                  </a:cubicBezTo>
                  <a:cubicBezTo>
                    <a:pt x="185" y="12"/>
                    <a:pt x="207" y="0"/>
                    <a:pt x="225" y="0"/>
                  </a:cubicBezTo>
                  <a:cubicBezTo>
                    <a:pt x="561" y="0"/>
                    <a:pt x="561" y="0"/>
                    <a:pt x="561" y="0"/>
                  </a:cubicBezTo>
                  <a:cubicBezTo>
                    <a:pt x="578" y="0"/>
                    <a:pt x="600" y="12"/>
                    <a:pt x="609" y="27"/>
                  </a:cubicBezTo>
                  <a:cubicBezTo>
                    <a:pt x="777" y="318"/>
                    <a:pt x="777" y="318"/>
                    <a:pt x="777" y="318"/>
                  </a:cubicBezTo>
                  <a:cubicBezTo>
                    <a:pt x="785" y="334"/>
                    <a:pt x="785" y="358"/>
                    <a:pt x="777" y="374"/>
                  </a:cubicBezTo>
                  <a:cubicBezTo>
                    <a:pt x="609" y="665"/>
                    <a:pt x="609" y="665"/>
                    <a:pt x="609" y="665"/>
                  </a:cubicBezTo>
                  <a:cubicBezTo>
                    <a:pt x="600" y="680"/>
                    <a:pt x="578" y="692"/>
                    <a:pt x="561" y="692"/>
                  </a:cubicBezTo>
                  <a:lnTo>
                    <a:pt x="225" y="692"/>
                  </a:lnTo>
                  <a:close/>
                </a:path>
              </a:pathLst>
            </a:custGeom>
            <a:noFill/>
            <a:ln w="28575" cmpd="sng">
              <a:solidFill>
                <a:schemeClr val="tx1"/>
              </a:solidFill>
            </a:ln>
          </p:spPr>
          <p:txBody>
            <a:bodyPr vert="horz" wrap="square" lIns="91440" tIns="45720" rIns="91440" bIns="45720" numCol="1" anchor="t" anchorCtr="0" compatLnSpc="1">
              <a:prstTxWarp prst="textNoShape">
                <a:avLst/>
              </a:prstTxWarp>
            </a:bodyPr>
            <a:lstStyle/>
            <a:p>
              <a:endParaRPr lang="en-US"/>
            </a:p>
          </p:txBody>
        </p:sp>
      </p:grpSp>
      <p:sp>
        <p:nvSpPr>
          <p:cNvPr id="27650" name="Rectangle 8">
            <a:extLst>
              <a:ext uri="{FF2B5EF4-FFF2-40B4-BE49-F238E27FC236}">
                <a16:creationId xmlns:a16="http://schemas.microsoft.com/office/drawing/2014/main" id="{6C5A8948-C525-1E4F-9CB5-B491B6A34050}"/>
              </a:ext>
            </a:extLst>
          </p:cNvPr>
          <p:cNvSpPr>
            <a:spLocks noGrp="1" noChangeArrowheads="1"/>
          </p:cNvSpPr>
          <p:nvPr>
            <p:ph type="body" sz="half" idx="1"/>
          </p:nvPr>
        </p:nvSpPr>
        <p:spPr>
          <a:xfrm>
            <a:off x="1000450" y="3067026"/>
            <a:ext cx="3058623" cy="3272324"/>
          </a:xfrm>
        </p:spPr>
        <p:txBody>
          <a:bodyPr vert="horz" lIns="91440" tIns="45720" rIns="91440" bIns="45720" rtlCol="0" anchor="t">
            <a:normAutofit/>
          </a:bodyPr>
          <a:lstStyle/>
          <a:p>
            <a:pPr lvl="1"/>
            <a:r>
              <a:rPr lang="en-US" altLang="fr-EG" sz="2000"/>
              <a:t>Severe or pervasive conduct (or both)</a:t>
            </a:r>
          </a:p>
          <a:p>
            <a:pPr lvl="1"/>
            <a:r>
              <a:rPr lang="en-US" altLang="fr-EG" sz="2000"/>
              <a:t>Intimidating, hostile, or offensive displays</a:t>
            </a:r>
          </a:p>
        </p:txBody>
      </p:sp>
      <p:pic>
        <p:nvPicPr>
          <p:cNvPr id="27651" name="Picture 21">
            <a:extLst>
              <a:ext uri="{FF2B5EF4-FFF2-40B4-BE49-F238E27FC236}">
                <a16:creationId xmlns:a16="http://schemas.microsoft.com/office/drawing/2014/main" id="{9290B27C-90F4-7A48-BDB4-9C5790E883EB}"/>
              </a:ext>
            </a:extLst>
          </p:cNvPr>
          <p:cNvPicPr>
            <a:picLocks noGrp="1" noChangeAspect="1" noChangeArrowheads="1"/>
          </p:cNvPicPr>
          <p:nvPr>
            <p:ph sz="half" idx="2"/>
          </p:nvPr>
        </p:nvPicPr>
        <p:blipFill rotWithShape="1">
          <a:blip r:embed="rId3">
            <a:extLst>
              <a:ext uri="{28A0092B-C50C-407E-A947-70E740481C1C}">
                <a14:useLocalDpi xmlns:a14="http://schemas.microsoft.com/office/drawing/2010/main" val="0"/>
              </a:ext>
            </a:extLst>
          </a:blip>
          <a:srcRect r="2" b="13044"/>
          <a:stretch/>
        </p:blipFill>
        <p:spPr>
          <a:xfrm>
            <a:off x="4636963" y="10"/>
            <a:ext cx="7555037" cy="6857990"/>
          </a:xfrm>
          <a:prstGeom prst="rect">
            <a:avLst/>
          </a:prstGeom>
          <a:noFill/>
        </p:spPr>
      </p:pic>
    </p:spTree>
    <p:extLst>
      <p:ext uri="{BB962C8B-B14F-4D97-AF65-F5344CB8AC3E}">
        <p14:creationId xmlns:p14="http://schemas.microsoft.com/office/powerpoint/2010/main" val="20884214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122F9423-F4B1-45D4-8445-E9991ECCBC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698" name="Rectangle 2">
            <a:extLst>
              <a:ext uri="{FF2B5EF4-FFF2-40B4-BE49-F238E27FC236}">
                <a16:creationId xmlns:a16="http://schemas.microsoft.com/office/drawing/2014/main" id="{3E9F5664-9D85-2348-94AD-9CDD431CEC1B}"/>
              </a:ext>
            </a:extLst>
          </p:cNvPr>
          <p:cNvSpPr>
            <a:spLocks noGrp="1" noChangeArrowheads="1"/>
          </p:cNvSpPr>
          <p:nvPr>
            <p:ph type="title"/>
          </p:nvPr>
        </p:nvSpPr>
        <p:spPr>
          <a:xfrm>
            <a:off x="1000451" y="1610024"/>
            <a:ext cx="5568995" cy="1457002"/>
          </a:xfrm>
        </p:spPr>
        <p:txBody>
          <a:bodyPr vert="horz" lIns="91440" tIns="45720" rIns="91440" bIns="45720" rtlCol="0" anchor="b">
            <a:normAutofit/>
          </a:bodyPr>
          <a:lstStyle/>
          <a:p>
            <a:pPr>
              <a:defRPr/>
            </a:pPr>
            <a:r>
              <a:rPr lang="en-US" altLang="fr-EG" b="1"/>
              <a:t>HOSTILE WORK ENVIRONMENT (cont.)</a:t>
            </a:r>
            <a:endParaRPr lang="en-US" altLang="fr-EG"/>
          </a:p>
        </p:txBody>
      </p:sp>
      <p:grpSp>
        <p:nvGrpSpPr>
          <p:cNvPr id="74" name="Group 73">
            <a:extLst>
              <a:ext uri="{FF2B5EF4-FFF2-40B4-BE49-F238E27FC236}">
                <a16:creationId xmlns:a16="http://schemas.microsoft.com/office/drawing/2014/main" id="{770AE191-D2EA-45C9-A44D-830C188F74C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72021" y="518649"/>
            <a:ext cx="1128382" cy="847206"/>
            <a:chOff x="8183879" y="1000124"/>
            <a:chExt cx="1562267" cy="1172973"/>
          </a:xfrm>
        </p:grpSpPr>
        <p:sp>
          <p:nvSpPr>
            <p:cNvPr id="75" name="Freeform 5">
              <a:extLst>
                <a:ext uri="{FF2B5EF4-FFF2-40B4-BE49-F238E27FC236}">
                  <a16:creationId xmlns:a16="http://schemas.microsoft.com/office/drawing/2014/main" id="{23A0E4C1-B7A6-4637-AC51-4A5AE3841FF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8183879" y="1348782"/>
              <a:ext cx="935037" cy="824315"/>
            </a:xfrm>
            <a:custGeom>
              <a:avLst/>
              <a:gdLst>
                <a:gd name="T0" fmla="*/ 225 w 785"/>
                <a:gd name="T1" fmla="*/ 692 h 692"/>
                <a:gd name="T2" fmla="*/ 177 w 785"/>
                <a:gd name="T3" fmla="*/ 665 h 692"/>
                <a:gd name="T4" fmla="*/ 9 w 785"/>
                <a:gd name="T5" fmla="*/ 374 h 692"/>
                <a:gd name="T6" fmla="*/ 9 w 785"/>
                <a:gd name="T7" fmla="*/ 318 h 692"/>
                <a:gd name="T8" fmla="*/ 177 w 785"/>
                <a:gd name="T9" fmla="*/ 27 h 692"/>
                <a:gd name="T10" fmla="*/ 225 w 785"/>
                <a:gd name="T11" fmla="*/ 0 h 692"/>
                <a:gd name="T12" fmla="*/ 561 w 785"/>
                <a:gd name="T13" fmla="*/ 0 h 692"/>
                <a:gd name="T14" fmla="*/ 609 w 785"/>
                <a:gd name="T15" fmla="*/ 27 h 692"/>
                <a:gd name="T16" fmla="*/ 777 w 785"/>
                <a:gd name="T17" fmla="*/ 318 h 692"/>
                <a:gd name="T18" fmla="*/ 777 w 785"/>
                <a:gd name="T19" fmla="*/ 374 h 692"/>
                <a:gd name="T20" fmla="*/ 609 w 785"/>
                <a:gd name="T21" fmla="*/ 665 h 692"/>
                <a:gd name="T22" fmla="*/ 561 w 785"/>
                <a:gd name="T23" fmla="*/ 692 h 692"/>
                <a:gd name="T24" fmla="*/ 225 w 785"/>
                <a:gd name="T25" fmla="*/ 692 h 6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5" h="692">
                  <a:moveTo>
                    <a:pt x="225" y="692"/>
                  </a:moveTo>
                  <a:cubicBezTo>
                    <a:pt x="207" y="692"/>
                    <a:pt x="185" y="680"/>
                    <a:pt x="177" y="665"/>
                  </a:cubicBezTo>
                  <a:cubicBezTo>
                    <a:pt x="9" y="374"/>
                    <a:pt x="9" y="374"/>
                    <a:pt x="9" y="374"/>
                  </a:cubicBezTo>
                  <a:cubicBezTo>
                    <a:pt x="0" y="358"/>
                    <a:pt x="0" y="334"/>
                    <a:pt x="9" y="318"/>
                  </a:cubicBezTo>
                  <a:cubicBezTo>
                    <a:pt x="177" y="27"/>
                    <a:pt x="177" y="27"/>
                    <a:pt x="177" y="27"/>
                  </a:cubicBezTo>
                  <a:cubicBezTo>
                    <a:pt x="185" y="12"/>
                    <a:pt x="207" y="0"/>
                    <a:pt x="225" y="0"/>
                  </a:cubicBezTo>
                  <a:cubicBezTo>
                    <a:pt x="561" y="0"/>
                    <a:pt x="561" y="0"/>
                    <a:pt x="561" y="0"/>
                  </a:cubicBezTo>
                  <a:cubicBezTo>
                    <a:pt x="578" y="0"/>
                    <a:pt x="600" y="12"/>
                    <a:pt x="609" y="27"/>
                  </a:cubicBezTo>
                  <a:cubicBezTo>
                    <a:pt x="777" y="318"/>
                    <a:pt x="777" y="318"/>
                    <a:pt x="777" y="318"/>
                  </a:cubicBezTo>
                  <a:cubicBezTo>
                    <a:pt x="785" y="334"/>
                    <a:pt x="785" y="358"/>
                    <a:pt x="777" y="374"/>
                  </a:cubicBezTo>
                  <a:cubicBezTo>
                    <a:pt x="609" y="665"/>
                    <a:pt x="609" y="665"/>
                    <a:pt x="609" y="665"/>
                  </a:cubicBezTo>
                  <a:cubicBezTo>
                    <a:pt x="600" y="680"/>
                    <a:pt x="578" y="692"/>
                    <a:pt x="561" y="692"/>
                  </a:cubicBezTo>
                  <a:lnTo>
                    <a:pt x="225" y="692"/>
                  </a:lnTo>
                  <a:close/>
                </a:path>
              </a:pathLst>
            </a:custGeom>
            <a:noFill/>
            <a:ln w="28575" cmpd="sng">
              <a:solidFill>
                <a:schemeClr val="tx1"/>
              </a:solidFill>
            </a:ln>
          </p:spPr>
          <p:txBody>
            <a:bodyPr vert="horz" wrap="square" lIns="91440" tIns="45720" rIns="91440" bIns="45720" numCol="1" anchor="t" anchorCtr="0" compatLnSpc="1">
              <a:prstTxWarp prst="textNoShape">
                <a:avLst/>
              </a:prstTxWarp>
            </a:bodyPr>
            <a:lstStyle/>
            <a:p>
              <a:endParaRPr lang="en-US"/>
            </a:p>
          </p:txBody>
        </p:sp>
        <p:sp>
          <p:nvSpPr>
            <p:cNvPr id="76" name="Freeform 5">
              <a:extLst>
                <a:ext uri="{FF2B5EF4-FFF2-40B4-BE49-F238E27FC236}">
                  <a16:creationId xmlns:a16="http://schemas.microsoft.com/office/drawing/2014/main" id="{F4E8C039-CC58-44F3-8A7B-E0A934C1D01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8983979" y="1000124"/>
              <a:ext cx="762167" cy="671915"/>
            </a:xfrm>
            <a:custGeom>
              <a:avLst/>
              <a:gdLst>
                <a:gd name="T0" fmla="*/ 225 w 785"/>
                <a:gd name="T1" fmla="*/ 692 h 692"/>
                <a:gd name="T2" fmla="*/ 177 w 785"/>
                <a:gd name="T3" fmla="*/ 665 h 692"/>
                <a:gd name="T4" fmla="*/ 9 w 785"/>
                <a:gd name="T5" fmla="*/ 374 h 692"/>
                <a:gd name="T6" fmla="*/ 9 w 785"/>
                <a:gd name="T7" fmla="*/ 318 h 692"/>
                <a:gd name="T8" fmla="*/ 177 w 785"/>
                <a:gd name="T9" fmla="*/ 27 h 692"/>
                <a:gd name="T10" fmla="*/ 225 w 785"/>
                <a:gd name="T11" fmla="*/ 0 h 692"/>
                <a:gd name="T12" fmla="*/ 561 w 785"/>
                <a:gd name="T13" fmla="*/ 0 h 692"/>
                <a:gd name="T14" fmla="*/ 609 w 785"/>
                <a:gd name="T15" fmla="*/ 27 h 692"/>
                <a:gd name="T16" fmla="*/ 777 w 785"/>
                <a:gd name="T17" fmla="*/ 318 h 692"/>
                <a:gd name="T18" fmla="*/ 777 w 785"/>
                <a:gd name="T19" fmla="*/ 374 h 692"/>
                <a:gd name="T20" fmla="*/ 609 w 785"/>
                <a:gd name="T21" fmla="*/ 665 h 692"/>
                <a:gd name="T22" fmla="*/ 561 w 785"/>
                <a:gd name="T23" fmla="*/ 692 h 692"/>
                <a:gd name="T24" fmla="*/ 225 w 785"/>
                <a:gd name="T25" fmla="*/ 692 h 6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5" h="692">
                  <a:moveTo>
                    <a:pt x="225" y="692"/>
                  </a:moveTo>
                  <a:cubicBezTo>
                    <a:pt x="207" y="692"/>
                    <a:pt x="185" y="680"/>
                    <a:pt x="177" y="665"/>
                  </a:cubicBezTo>
                  <a:cubicBezTo>
                    <a:pt x="9" y="374"/>
                    <a:pt x="9" y="374"/>
                    <a:pt x="9" y="374"/>
                  </a:cubicBezTo>
                  <a:cubicBezTo>
                    <a:pt x="0" y="358"/>
                    <a:pt x="0" y="334"/>
                    <a:pt x="9" y="318"/>
                  </a:cubicBezTo>
                  <a:cubicBezTo>
                    <a:pt x="177" y="27"/>
                    <a:pt x="177" y="27"/>
                    <a:pt x="177" y="27"/>
                  </a:cubicBezTo>
                  <a:cubicBezTo>
                    <a:pt x="185" y="12"/>
                    <a:pt x="207" y="0"/>
                    <a:pt x="225" y="0"/>
                  </a:cubicBezTo>
                  <a:cubicBezTo>
                    <a:pt x="561" y="0"/>
                    <a:pt x="561" y="0"/>
                    <a:pt x="561" y="0"/>
                  </a:cubicBezTo>
                  <a:cubicBezTo>
                    <a:pt x="578" y="0"/>
                    <a:pt x="600" y="12"/>
                    <a:pt x="609" y="27"/>
                  </a:cubicBezTo>
                  <a:cubicBezTo>
                    <a:pt x="777" y="318"/>
                    <a:pt x="777" y="318"/>
                    <a:pt x="777" y="318"/>
                  </a:cubicBezTo>
                  <a:cubicBezTo>
                    <a:pt x="785" y="334"/>
                    <a:pt x="785" y="358"/>
                    <a:pt x="777" y="374"/>
                  </a:cubicBezTo>
                  <a:cubicBezTo>
                    <a:pt x="609" y="665"/>
                    <a:pt x="609" y="665"/>
                    <a:pt x="609" y="665"/>
                  </a:cubicBezTo>
                  <a:cubicBezTo>
                    <a:pt x="600" y="680"/>
                    <a:pt x="578" y="692"/>
                    <a:pt x="561" y="692"/>
                  </a:cubicBezTo>
                  <a:lnTo>
                    <a:pt x="225" y="692"/>
                  </a:lnTo>
                  <a:close/>
                </a:path>
              </a:pathLst>
            </a:custGeom>
            <a:noFill/>
            <a:ln w="28575" cmpd="sng">
              <a:solidFill>
                <a:schemeClr val="tx1"/>
              </a:solidFill>
            </a:ln>
          </p:spPr>
          <p:txBody>
            <a:bodyPr vert="horz" wrap="square" lIns="91440" tIns="45720" rIns="91440" bIns="45720" numCol="1" anchor="t" anchorCtr="0" compatLnSpc="1">
              <a:prstTxWarp prst="textNoShape">
                <a:avLst/>
              </a:prstTxWarp>
            </a:bodyPr>
            <a:lstStyle/>
            <a:p>
              <a:endParaRPr lang="en-US"/>
            </a:p>
          </p:txBody>
        </p:sp>
      </p:grpSp>
      <p:sp>
        <p:nvSpPr>
          <p:cNvPr id="29699" name="Rectangle 3">
            <a:extLst>
              <a:ext uri="{FF2B5EF4-FFF2-40B4-BE49-F238E27FC236}">
                <a16:creationId xmlns:a16="http://schemas.microsoft.com/office/drawing/2014/main" id="{7D87028C-329A-1C49-8EC3-86F57B2A7D79}"/>
              </a:ext>
            </a:extLst>
          </p:cNvPr>
          <p:cNvSpPr>
            <a:spLocks noGrp="1" noChangeArrowheads="1"/>
          </p:cNvSpPr>
          <p:nvPr>
            <p:ph type="body" sz="half" idx="1"/>
          </p:nvPr>
        </p:nvSpPr>
        <p:spPr>
          <a:xfrm>
            <a:off x="1000450" y="3067026"/>
            <a:ext cx="5568991" cy="2968014"/>
          </a:xfrm>
        </p:spPr>
        <p:txBody>
          <a:bodyPr vert="horz" lIns="91440" tIns="45720" rIns="91440" bIns="45720" rtlCol="0" anchor="t">
            <a:normAutofit/>
          </a:bodyPr>
          <a:lstStyle/>
          <a:p>
            <a:pPr marL="0">
              <a:defRPr/>
            </a:pPr>
            <a:r>
              <a:rPr lang="en-US" altLang="fr-EG" sz="2000"/>
              <a:t>Examples include:</a:t>
            </a:r>
          </a:p>
          <a:p>
            <a:pPr lvl="1">
              <a:defRPr/>
            </a:pPr>
            <a:r>
              <a:rPr lang="en-US" altLang="fr-EG" sz="2000"/>
              <a:t>Sexually explicit pictures, calendars, graffiti, or objects</a:t>
            </a:r>
          </a:p>
          <a:p>
            <a:pPr lvl="1">
              <a:defRPr/>
            </a:pPr>
            <a:r>
              <a:rPr lang="en-US" altLang="fr-EG" sz="2000"/>
              <a:t>Regularly:</a:t>
            </a:r>
          </a:p>
          <a:p>
            <a:pPr lvl="2">
              <a:defRPr/>
            </a:pPr>
            <a:r>
              <a:rPr lang="en-US" altLang="fr-EG" dirty="0"/>
              <a:t>Using dirty words</a:t>
            </a:r>
            <a:endParaRPr lang="en-US" altLang="fr-EG"/>
          </a:p>
          <a:p>
            <a:pPr lvl="2">
              <a:defRPr/>
            </a:pPr>
            <a:r>
              <a:rPr lang="en-US" altLang="fr-EG" dirty="0"/>
              <a:t>Making sexual jokes</a:t>
            </a:r>
            <a:endParaRPr lang="en-US" altLang="fr-EG"/>
          </a:p>
          <a:p>
            <a:pPr lvl="2">
              <a:defRPr/>
            </a:pPr>
            <a:r>
              <a:rPr lang="en-US" altLang="fr-EG" dirty="0"/>
              <a:t>Using obscene gestures</a:t>
            </a:r>
            <a:endParaRPr lang="en-US" altLang="fr-EG"/>
          </a:p>
          <a:p>
            <a:pPr lvl="2">
              <a:defRPr/>
            </a:pPr>
            <a:r>
              <a:rPr lang="en-US" altLang="fr-EG" dirty="0"/>
              <a:t>Making rude comments of a sexual nature</a:t>
            </a:r>
            <a:endParaRPr lang="en-US" altLang="fr-EG"/>
          </a:p>
        </p:txBody>
      </p:sp>
      <p:pic>
        <p:nvPicPr>
          <p:cNvPr id="2" name="Picture 5" descr="sex harass hardhats man woman">
            <a:extLst>
              <a:ext uri="{FF2B5EF4-FFF2-40B4-BE49-F238E27FC236}">
                <a16:creationId xmlns:a16="http://schemas.microsoft.com/office/drawing/2014/main" id="{30418C8D-C37D-484A-865E-5F7EB21F3F38}"/>
              </a:ext>
            </a:extLst>
          </p:cNvPr>
          <p:cNvPicPr>
            <a:picLocks noGrp="1" noChangeAspect="1" noChangeArrowheads="1"/>
          </p:cNvPicPr>
          <p:nvPr>
            <p:ph sz="half" idx="2"/>
          </p:nvPr>
        </p:nvPicPr>
        <p:blipFill rotWithShape="1">
          <a:blip r:embed="rId3">
            <a:extLst>
              <a:ext uri="{28A0092B-C50C-407E-A947-70E740481C1C}">
                <a14:useLocalDpi xmlns:a14="http://schemas.microsoft.com/office/drawing/2010/main" val="0"/>
              </a:ext>
            </a:extLst>
          </a:blip>
          <a:srcRect r="27946"/>
          <a:stretch/>
        </p:blipFill>
        <p:spPr>
          <a:xfrm>
            <a:off x="7534656" y="10"/>
            <a:ext cx="4657344" cy="6857990"/>
          </a:xfrm>
          <a:prstGeom prst="rect">
            <a:avLst/>
          </a:prstGeom>
        </p:spPr>
      </p:pic>
    </p:spTree>
    <p:extLst>
      <p:ext uri="{BB962C8B-B14F-4D97-AF65-F5344CB8AC3E}">
        <p14:creationId xmlns:p14="http://schemas.microsoft.com/office/powerpoint/2010/main" val="2212928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2">
            <a:extLst>
              <a:ext uri="{FF2B5EF4-FFF2-40B4-BE49-F238E27FC236}">
                <a16:creationId xmlns:a16="http://schemas.microsoft.com/office/drawing/2014/main" id="{3FF53F82-20E0-4E43-A5CE-B3E591E925DB}"/>
              </a:ext>
            </a:extLst>
          </p:cNvPr>
          <p:cNvSpPr>
            <a:spLocks noGrp="1" noChangeArrowheads="1"/>
          </p:cNvSpPr>
          <p:nvPr>
            <p:ph type="title"/>
          </p:nvPr>
        </p:nvSpPr>
        <p:spPr/>
        <p:txBody>
          <a:bodyPr/>
          <a:lstStyle/>
          <a:p>
            <a:pPr algn="ctr"/>
            <a:r>
              <a:rPr lang="en-US" altLang="fr-EG" sz="4000" b="1"/>
              <a:t>ECONOMIC HARASSMENT OR HOSTILE WORK ENVIRONMENT?</a:t>
            </a:r>
            <a:endParaRPr lang="en-US" altLang="fr-EG" sz="4000"/>
          </a:p>
        </p:txBody>
      </p:sp>
      <p:sp>
        <p:nvSpPr>
          <p:cNvPr id="112643" name="Rectangle 3">
            <a:extLst>
              <a:ext uri="{FF2B5EF4-FFF2-40B4-BE49-F238E27FC236}">
                <a16:creationId xmlns:a16="http://schemas.microsoft.com/office/drawing/2014/main" id="{7FE14AA1-9E51-6A48-8704-294D31DC0E55}"/>
              </a:ext>
            </a:extLst>
          </p:cNvPr>
          <p:cNvSpPr>
            <a:spLocks noGrp="1" noChangeArrowheads="1"/>
          </p:cNvSpPr>
          <p:nvPr>
            <p:ph idx="1"/>
          </p:nvPr>
        </p:nvSpPr>
        <p:spPr>
          <a:xfrm>
            <a:off x="2654300" y="2235200"/>
            <a:ext cx="7340600" cy="3251200"/>
          </a:xfrm>
        </p:spPr>
        <p:txBody>
          <a:bodyPr>
            <a:normAutofit fontScale="77500" lnSpcReduction="20000"/>
          </a:bodyPr>
          <a:lstStyle/>
          <a:p>
            <a:pPr marL="0" indent="0">
              <a:spcAft>
                <a:spcPct val="200000"/>
              </a:spcAft>
              <a:buNone/>
            </a:pPr>
            <a:r>
              <a:rPr lang="en-US" altLang="fr-EG"/>
              <a:t>An employee is asked to talk about her raise with her supervisor after business hours at a romantic restaurant.</a:t>
            </a:r>
            <a:endParaRPr lang="en-US" altLang="fr-EG" sz="2400"/>
          </a:p>
          <a:p>
            <a:pPr marL="0" indent="0">
              <a:spcBef>
                <a:spcPct val="0"/>
              </a:spcBef>
              <a:spcAft>
                <a:spcPct val="260000"/>
              </a:spcAft>
              <a:buNone/>
            </a:pPr>
            <a:endParaRPr lang="en-US" altLang="fr-EG"/>
          </a:p>
          <a:p>
            <a:pPr marL="0" indent="0">
              <a:spcBef>
                <a:spcPct val="0"/>
              </a:spcBef>
              <a:spcAft>
                <a:spcPct val="260000"/>
              </a:spcAft>
              <a:buNone/>
            </a:pPr>
            <a:r>
              <a:rPr lang="en-US" altLang="fr-EG"/>
              <a:t>An employee brings a sexually explicit </a:t>
            </a:r>
            <a:br>
              <a:rPr lang="en-US" altLang="fr-EG"/>
            </a:br>
            <a:r>
              <a:rPr lang="en-US" altLang="fr-EG"/>
              <a:t>gag gift into work for a co-worker’s </a:t>
            </a:r>
            <a:br>
              <a:rPr lang="en-US" altLang="fr-EG"/>
            </a:br>
            <a:r>
              <a:rPr lang="en-US" altLang="fr-EG"/>
              <a:t>birthday present.</a:t>
            </a:r>
            <a:endParaRPr lang="en-US" altLang="fr-EG" sz="2400"/>
          </a:p>
        </p:txBody>
      </p:sp>
      <p:sp>
        <p:nvSpPr>
          <p:cNvPr id="112644" name="Text Box 4">
            <a:extLst>
              <a:ext uri="{FF2B5EF4-FFF2-40B4-BE49-F238E27FC236}">
                <a16:creationId xmlns:a16="http://schemas.microsoft.com/office/drawing/2014/main" id="{0EA28181-D0DA-3244-8E76-11FC417F9A6B}"/>
              </a:ext>
            </a:extLst>
          </p:cNvPr>
          <p:cNvSpPr txBox="1">
            <a:spLocks noChangeArrowheads="1"/>
          </p:cNvSpPr>
          <p:nvPr/>
        </p:nvSpPr>
        <p:spPr bwMode="auto">
          <a:xfrm>
            <a:off x="2540000" y="2776538"/>
            <a:ext cx="57404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Franklin Gothic Book" panose="020B0503020102020204" pitchFamily="34" charset="0"/>
              </a:defRPr>
            </a:lvl1pPr>
            <a:lvl2pPr marL="11430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fontAlgn="base">
              <a:spcBef>
                <a:spcPct val="0"/>
              </a:spcBef>
              <a:spcAft>
                <a:spcPct val="0"/>
              </a:spcAft>
              <a:defRPr>
                <a:solidFill>
                  <a:schemeClr val="tx1"/>
                </a:solidFill>
                <a:latin typeface="Franklin Gothic Book" panose="020B0503020102020204" pitchFamily="34" charset="0"/>
              </a:defRPr>
            </a:lvl6pPr>
            <a:lvl7pPr marL="2971800" indent="-228600" defTabSz="457200" fontAlgn="base">
              <a:spcBef>
                <a:spcPct val="0"/>
              </a:spcBef>
              <a:spcAft>
                <a:spcPct val="0"/>
              </a:spcAft>
              <a:defRPr>
                <a:solidFill>
                  <a:schemeClr val="tx1"/>
                </a:solidFill>
                <a:latin typeface="Franklin Gothic Book" panose="020B0503020102020204" pitchFamily="34" charset="0"/>
              </a:defRPr>
            </a:lvl7pPr>
            <a:lvl8pPr marL="3429000" indent="-228600" defTabSz="457200" fontAlgn="base">
              <a:spcBef>
                <a:spcPct val="0"/>
              </a:spcBef>
              <a:spcAft>
                <a:spcPct val="0"/>
              </a:spcAft>
              <a:defRPr>
                <a:solidFill>
                  <a:schemeClr val="tx1"/>
                </a:solidFill>
                <a:latin typeface="Franklin Gothic Book" panose="020B0503020102020204" pitchFamily="34" charset="0"/>
              </a:defRPr>
            </a:lvl8pPr>
            <a:lvl9pPr marL="3886200" indent="-228600" defTabSz="457200" fontAlgn="base">
              <a:spcBef>
                <a:spcPct val="0"/>
              </a:spcBef>
              <a:spcAft>
                <a:spcPct val="0"/>
              </a:spcAft>
              <a:defRPr>
                <a:solidFill>
                  <a:schemeClr val="tx1"/>
                </a:solidFill>
                <a:latin typeface="Franklin Gothic Book" panose="020B0503020102020204" pitchFamily="34" charset="0"/>
              </a:defRPr>
            </a:lvl9pPr>
          </a:lstStyle>
          <a:p>
            <a:pPr lvl="1" eaLnBrk="1" hangingPunct="1">
              <a:spcBef>
                <a:spcPct val="30000"/>
              </a:spcBef>
            </a:pPr>
            <a:r>
              <a:rPr lang="en-US" altLang="fr-EG" sz="2800">
                <a:solidFill>
                  <a:srgbClr val="CC0000"/>
                </a:solidFill>
                <a:latin typeface="Arial" panose="020B0604020202020204" pitchFamily="34" charset="0"/>
              </a:rPr>
              <a:t>This is </a:t>
            </a:r>
            <a:r>
              <a:rPr lang="en-US" altLang="fr-EG" sz="2800" u="sng">
                <a:solidFill>
                  <a:srgbClr val="CC0000"/>
                </a:solidFill>
                <a:latin typeface="Arial" panose="020B0604020202020204" pitchFamily="34" charset="0"/>
              </a:rPr>
              <a:t>economic harassment.</a:t>
            </a:r>
          </a:p>
        </p:txBody>
      </p:sp>
      <p:sp>
        <p:nvSpPr>
          <p:cNvPr id="112646" name="Text Box 6">
            <a:extLst>
              <a:ext uri="{FF2B5EF4-FFF2-40B4-BE49-F238E27FC236}">
                <a16:creationId xmlns:a16="http://schemas.microsoft.com/office/drawing/2014/main" id="{752477B5-C3D7-814D-B907-57ECB0ACBE87}"/>
              </a:ext>
            </a:extLst>
          </p:cNvPr>
          <p:cNvSpPr txBox="1">
            <a:spLocks noChangeArrowheads="1"/>
          </p:cNvSpPr>
          <p:nvPr/>
        </p:nvSpPr>
        <p:spPr bwMode="auto">
          <a:xfrm>
            <a:off x="2540000" y="5448301"/>
            <a:ext cx="7493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Franklin Gothic Book" panose="020B0503020102020204" pitchFamily="34" charset="0"/>
              </a:defRPr>
            </a:lvl1pPr>
            <a:lvl2pPr marL="11430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fontAlgn="base">
              <a:spcBef>
                <a:spcPct val="0"/>
              </a:spcBef>
              <a:spcAft>
                <a:spcPct val="0"/>
              </a:spcAft>
              <a:defRPr>
                <a:solidFill>
                  <a:schemeClr val="tx1"/>
                </a:solidFill>
                <a:latin typeface="Franklin Gothic Book" panose="020B0503020102020204" pitchFamily="34" charset="0"/>
              </a:defRPr>
            </a:lvl6pPr>
            <a:lvl7pPr marL="2971800" indent="-228600" defTabSz="457200" fontAlgn="base">
              <a:spcBef>
                <a:spcPct val="0"/>
              </a:spcBef>
              <a:spcAft>
                <a:spcPct val="0"/>
              </a:spcAft>
              <a:defRPr>
                <a:solidFill>
                  <a:schemeClr val="tx1"/>
                </a:solidFill>
                <a:latin typeface="Franklin Gothic Book" panose="020B0503020102020204" pitchFamily="34" charset="0"/>
              </a:defRPr>
            </a:lvl7pPr>
            <a:lvl8pPr marL="3429000" indent="-228600" defTabSz="457200" fontAlgn="base">
              <a:spcBef>
                <a:spcPct val="0"/>
              </a:spcBef>
              <a:spcAft>
                <a:spcPct val="0"/>
              </a:spcAft>
              <a:defRPr>
                <a:solidFill>
                  <a:schemeClr val="tx1"/>
                </a:solidFill>
                <a:latin typeface="Franklin Gothic Book" panose="020B0503020102020204" pitchFamily="34" charset="0"/>
              </a:defRPr>
            </a:lvl8pPr>
            <a:lvl9pPr marL="3886200" indent="-228600" defTabSz="457200" fontAlgn="base">
              <a:spcBef>
                <a:spcPct val="0"/>
              </a:spcBef>
              <a:spcAft>
                <a:spcPct val="0"/>
              </a:spcAft>
              <a:defRPr>
                <a:solidFill>
                  <a:schemeClr val="tx1"/>
                </a:solidFill>
                <a:latin typeface="Franklin Gothic Book" panose="020B0503020102020204" pitchFamily="34" charset="0"/>
              </a:defRPr>
            </a:lvl9pPr>
          </a:lstStyle>
          <a:p>
            <a:pPr lvl="1" eaLnBrk="1" hangingPunct="1">
              <a:spcBef>
                <a:spcPct val="30000"/>
              </a:spcBef>
            </a:pPr>
            <a:r>
              <a:rPr lang="en-US" altLang="fr-EG" sz="2800">
                <a:solidFill>
                  <a:srgbClr val="CC0000"/>
                </a:solidFill>
                <a:latin typeface="Arial" panose="020B0604020202020204" pitchFamily="34" charset="0"/>
              </a:rPr>
              <a:t>This describes a </a:t>
            </a:r>
            <a:r>
              <a:rPr lang="en-US" altLang="fr-EG" sz="2800" u="sng">
                <a:solidFill>
                  <a:srgbClr val="CC0000"/>
                </a:solidFill>
                <a:latin typeface="Arial" panose="020B0604020202020204" pitchFamily="34" charset="0"/>
              </a:rPr>
              <a:t>hostile work environment.</a:t>
            </a:r>
          </a:p>
        </p:txBody>
      </p:sp>
    </p:spTree>
    <p:extLst>
      <p:ext uri="{BB962C8B-B14F-4D97-AF65-F5344CB8AC3E}">
        <p14:creationId xmlns:p14="http://schemas.microsoft.com/office/powerpoint/2010/main" val="420270414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12643">
                                            <p:txEl>
                                              <p:pRg st="0" end="0"/>
                                            </p:txEl>
                                          </p:spTgt>
                                        </p:tgtEl>
                                        <p:attrNameLst>
                                          <p:attrName>style.visibility</p:attrName>
                                        </p:attrNameLst>
                                      </p:cBhvr>
                                      <p:to>
                                        <p:strVal val="visible"/>
                                      </p:to>
                                    </p:set>
                                    <p:anim calcmode="lin" valueType="num">
                                      <p:cBhvr additive="base">
                                        <p:cTn id="7" dur="500" fill="hold"/>
                                        <p:tgtEl>
                                          <p:spTgt spid="11264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1264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9" presetClass="entr" presetSubtype="0" fill="hold" grpId="0" nodeType="clickEffect">
                                  <p:stCondLst>
                                    <p:cond delay="0"/>
                                  </p:stCondLst>
                                  <p:childTnLst>
                                    <p:set>
                                      <p:cBhvr>
                                        <p:cTn id="12" dur="1" fill="hold">
                                          <p:stCondLst>
                                            <p:cond delay="0"/>
                                          </p:stCondLst>
                                        </p:cTn>
                                        <p:tgtEl>
                                          <p:spTgt spid="112644"/>
                                        </p:tgtEl>
                                        <p:attrNameLst>
                                          <p:attrName>style.visibility</p:attrName>
                                        </p:attrNameLst>
                                      </p:cBhvr>
                                      <p:to>
                                        <p:strVal val="visible"/>
                                      </p:to>
                                    </p:set>
                                    <p:animEffect transition="in" filter="dissolve">
                                      <p:cBhvr>
                                        <p:cTn id="13" dur="500"/>
                                        <p:tgtEl>
                                          <p:spTgt spid="112644"/>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8" fill="hold" nodeType="clickEffect">
                                  <p:stCondLst>
                                    <p:cond delay="0"/>
                                  </p:stCondLst>
                                  <p:childTnLst>
                                    <p:set>
                                      <p:cBhvr>
                                        <p:cTn id="17" dur="1" fill="hold">
                                          <p:stCondLst>
                                            <p:cond delay="0"/>
                                          </p:stCondLst>
                                        </p:cTn>
                                        <p:tgtEl>
                                          <p:spTgt spid="112643">
                                            <p:txEl>
                                              <p:pRg st="2" end="2"/>
                                            </p:txEl>
                                          </p:spTgt>
                                        </p:tgtEl>
                                        <p:attrNameLst>
                                          <p:attrName>style.visibility</p:attrName>
                                        </p:attrNameLst>
                                      </p:cBhvr>
                                      <p:to>
                                        <p:strVal val="visible"/>
                                      </p:to>
                                    </p:set>
                                    <p:anim calcmode="lin" valueType="num">
                                      <p:cBhvr additive="base">
                                        <p:cTn id="18" dur="500" fill="hold"/>
                                        <p:tgtEl>
                                          <p:spTgt spid="112643">
                                            <p:txEl>
                                              <p:pRg st="2" end="2"/>
                                            </p:txEl>
                                          </p:spTgt>
                                        </p:tgtEl>
                                        <p:attrNameLst>
                                          <p:attrName>ppt_x</p:attrName>
                                        </p:attrNameLst>
                                      </p:cBhvr>
                                      <p:tavLst>
                                        <p:tav tm="0">
                                          <p:val>
                                            <p:strVal val="0-#ppt_w/2"/>
                                          </p:val>
                                        </p:tav>
                                        <p:tav tm="100000">
                                          <p:val>
                                            <p:strVal val="#ppt_x"/>
                                          </p:val>
                                        </p:tav>
                                      </p:tavLst>
                                    </p:anim>
                                    <p:anim calcmode="lin" valueType="num">
                                      <p:cBhvr additive="base">
                                        <p:cTn id="19" dur="500" fill="hold"/>
                                        <p:tgtEl>
                                          <p:spTgt spid="11264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9" presetClass="entr" presetSubtype="0" fill="hold" grpId="0" nodeType="clickEffect">
                                  <p:stCondLst>
                                    <p:cond delay="0"/>
                                  </p:stCondLst>
                                  <p:childTnLst>
                                    <p:set>
                                      <p:cBhvr>
                                        <p:cTn id="23" dur="1" fill="hold">
                                          <p:stCondLst>
                                            <p:cond delay="0"/>
                                          </p:stCondLst>
                                        </p:cTn>
                                        <p:tgtEl>
                                          <p:spTgt spid="112646"/>
                                        </p:tgtEl>
                                        <p:attrNameLst>
                                          <p:attrName>style.visibility</p:attrName>
                                        </p:attrNameLst>
                                      </p:cBhvr>
                                      <p:to>
                                        <p:strVal val="visible"/>
                                      </p:to>
                                    </p:set>
                                    <p:animEffect transition="in" filter="dissolve">
                                      <p:cBhvr>
                                        <p:cTn id="24" dur="500"/>
                                        <p:tgtEl>
                                          <p:spTgt spid="1126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44" grpId="0"/>
      <p:bldP spid="112646"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2">
            <a:extLst>
              <a:ext uri="{FF2B5EF4-FFF2-40B4-BE49-F238E27FC236}">
                <a16:creationId xmlns:a16="http://schemas.microsoft.com/office/drawing/2014/main" id="{2B667D13-8716-4547-B888-D064031778B1}"/>
              </a:ext>
            </a:extLst>
          </p:cNvPr>
          <p:cNvSpPr>
            <a:spLocks noGrp="1" noChangeArrowheads="1"/>
          </p:cNvSpPr>
          <p:nvPr>
            <p:ph type="title"/>
          </p:nvPr>
        </p:nvSpPr>
        <p:spPr/>
        <p:txBody>
          <a:bodyPr/>
          <a:lstStyle/>
          <a:p>
            <a:r>
              <a:rPr lang="en-US" altLang="fr-EG" sz="3800"/>
              <a:t>Economic Harassment or Hostile Work Environment?</a:t>
            </a:r>
            <a:r>
              <a:rPr lang="en-US" altLang="fr-EG" sz="2000"/>
              <a:t> </a:t>
            </a:r>
            <a:r>
              <a:rPr lang="en-US" altLang="fr-EG" sz="2300"/>
              <a:t>(cont.)</a:t>
            </a:r>
          </a:p>
        </p:txBody>
      </p:sp>
      <p:sp>
        <p:nvSpPr>
          <p:cNvPr id="119811" name="Rectangle 3">
            <a:extLst>
              <a:ext uri="{FF2B5EF4-FFF2-40B4-BE49-F238E27FC236}">
                <a16:creationId xmlns:a16="http://schemas.microsoft.com/office/drawing/2014/main" id="{E3A9EA25-29EE-AC4F-87EB-1AE09DA4B30B}"/>
              </a:ext>
            </a:extLst>
          </p:cNvPr>
          <p:cNvSpPr>
            <a:spLocks noGrp="1" noChangeArrowheads="1"/>
          </p:cNvSpPr>
          <p:nvPr>
            <p:ph idx="1"/>
          </p:nvPr>
        </p:nvSpPr>
        <p:spPr>
          <a:xfrm>
            <a:off x="2708275" y="2246314"/>
            <a:ext cx="6997700" cy="3925887"/>
          </a:xfrm>
        </p:spPr>
        <p:txBody>
          <a:bodyPr>
            <a:normAutofit fontScale="92500"/>
          </a:bodyPr>
          <a:lstStyle/>
          <a:p>
            <a:pPr marL="0" indent="0">
              <a:spcBef>
                <a:spcPct val="23000"/>
              </a:spcBef>
              <a:spcAft>
                <a:spcPct val="200000"/>
              </a:spcAft>
              <a:buNone/>
            </a:pPr>
            <a:r>
              <a:rPr lang="en-US" altLang="fr-EG" dirty="0"/>
              <a:t>A supervisor regularly uses obscene language when talking to his employees.</a:t>
            </a:r>
          </a:p>
          <a:p>
            <a:pPr marL="0" indent="0">
              <a:spcBef>
                <a:spcPct val="23000"/>
              </a:spcBef>
              <a:spcAft>
                <a:spcPct val="200000"/>
              </a:spcAft>
              <a:buNone/>
            </a:pPr>
            <a:endParaRPr lang="en-US" altLang="fr-EG" dirty="0"/>
          </a:p>
          <a:p>
            <a:pPr marL="0" indent="0">
              <a:spcBef>
                <a:spcPct val="23000"/>
              </a:spcBef>
              <a:spcAft>
                <a:spcPct val="200000"/>
              </a:spcAft>
              <a:buNone/>
            </a:pPr>
            <a:r>
              <a:rPr lang="en-US" altLang="fr-EG" dirty="0"/>
              <a:t>An employee who appears to be “very close” to the boss always gets the easiest job assignments.</a:t>
            </a:r>
          </a:p>
        </p:txBody>
      </p:sp>
      <p:sp>
        <p:nvSpPr>
          <p:cNvPr id="119812" name="Text Box 4">
            <a:extLst>
              <a:ext uri="{FF2B5EF4-FFF2-40B4-BE49-F238E27FC236}">
                <a16:creationId xmlns:a16="http://schemas.microsoft.com/office/drawing/2014/main" id="{D29E5448-E3FC-E04F-96AF-E8F26B698CE0}"/>
              </a:ext>
            </a:extLst>
          </p:cNvPr>
          <p:cNvSpPr txBox="1">
            <a:spLocks noChangeArrowheads="1"/>
          </p:cNvSpPr>
          <p:nvPr/>
        </p:nvSpPr>
        <p:spPr bwMode="auto">
          <a:xfrm>
            <a:off x="2557463" y="5973762"/>
            <a:ext cx="701198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Franklin Gothic Book" panose="020B0503020102020204" pitchFamily="34" charset="0"/>
              </a:defRPr>
            </a:lvl1pPr>
            <a:lvl2pPr marL="11430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fontAlgn="base">
              <a:spcBef>
                <a:spcPct val="0"/>
              </a:spcBef>
              <a:spcAft>
                <a:spcPct val="0"/>
              </a:spcAft>
              <a:defRPr>
                <a:solidFill>
                  <a:schemeClr val="tx1"/>
                </a:solidFill>
                <a:latin typeface="Franklin Gothic Book" panose="020B0503020102020204" pitchFamily="34" charset="0"/>
              </a:defRPr>
            </a:lvl6pPr>
            <a:lvl7pPr marL="2971800" indent="-228600" defTabSz="457200" fontAlgn="base">
              <a:spcBef>
                <a:spcPct val="0"/>
              </a:spcBef>
              <a:spcAft>
                <a:spcPct val="0"/>
              </a:spcAft>
              <a:defRPr>
                <a:solidFill>
                  <a:schemeClr val="tx1"/>
                </a:solidFill>
                <a:latin typeface="Franklin Gothic Book" panose="020B0503020102020204" pitchFamily="34" charset="0"/>
              </a:defRPr>
            </a:lvl7pPr>
            <a:lvl8pPr marL="3429000" indent="-228600" defTabSz="457200" fontAlgn="base">
              <a:spcBef>
                <a:spcPct val="0"/>
              </a:spcBef>
              <a:spcAft>
                <a:spcPct val="0"/>
              </a:spcAft>
              <a:defRPr>
                <a:solidFill>
                  <a:schemeClr val="tx1"/>
                </a:solidFill>
                <a:latin typeface="Franklin Gothic Book" panose="020B0503020102020204" pitchFamily="34" charset="0"/>
              </a:defRPr>
            </a:lvl8pPr>
            <a:lvl9pPr marL="3886200" indent="-228600" defTabSz="457200" fontAlgn="base">
              <a:spcBef>
                <a:spcPct val="0"/>
              </a:spcBef>
              <a:spcAft>
                <a:spcPct val="0"/>
              </a:spcAft>
              <a:defRPr>
                <a:solidFill>
                  <a:schemeClr val="tx1"/>
                </a:solidFill>
                <a:latin typeface="Franklin Gothic Book" panose="020B0503020102020204" pitchFamily="34" charset="0"/>
              </a:defRPr>
            </a:lvl9pPr>
          </a:lstStyle>
          <a:p>
            <a:pPr lvl="1" eaLnBrk="1" hangingPunct="1">
              <a:spcBef>
                <a:spcPct val="30000"/>
              </a:spcBef>
            </a:pPr>
            <a:r>
              <a:rPr lang="en-US" altLang="fr-EG" sz="2800" dirty="0">
                <a:solidFill>
                  <a:srgbClr val="CC0000"/>
                </a:solidFill>
                <a:latin typeface="Arial" panose="020B0604020202020204" pitchFamily="34" charset="0"/>
              </a:rPr>
              <a:t>This is </a:t>
            </a:r>
            <a:r>
              <a:rPr lang="en-US" altLang="fr-EG" sz="2800" u="sng" dirty="0">
                <a:solidFill>
                  <a:srgbClr val="CC0000"/>
                </a:solidFill>
                <a:latin typeface="Arial" panose="020B0604020202020204" pitchFamily="34" charset="0"/>
              </a:rPr>
              <a:t>economic harassment.</a:t>
            </a:r>
          </a:p>
        </p:txBody>
      </p:sp>
      <p:sp>
        <p:nvSpPr>
          <p:cNvPr id="119814" name="Text Box 6">
            <a:extLst>
              <a:ext uri="{FF2B5EF4-FFF2-40B4-BE49-F238E27FC236}">
                <a16:creationId xmlns:a16="http://schemas.microsoft.com/office/drawing/2014/main" id="{C8D825E9-B3D9-DF4F-8DC1-B7993AA6B069}"/>
              </a:ext>
            </a:extLst>
          </p:cNvPr>
          <p:cNvSpPr txBox="1">
            <a:spLocks noChangeArrowheads="1"/>
          </p:cNvSpPr>
          <p:nvPr/>
        </p:nvSpPr>
        <p:spPr bwMode="auto">
          <a:xfrm>
            <a:off x="2557463" y="3098801"/>
            <a:ext cx="7650162"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Franklin Gothic Book" panose="020B0503020102020204" pitchFamily="34" charset="0"/>
              </a:defRPr>
            </a:lvl1pPr>
            <a:lvl2pPr marL="11430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fontAlgn="base">
              <a:spcBef>
                <a:spcPct val="0"/>
              </a:spcBef>
              <a:spcAft>
                <a:spcPct val="0"/>
              </a:spcAft>
              <a:defRPr>
                <a:solidFill>
                  <a:schemeClr val="tx1"/>
                </a:solidFill>
                <a:latin typeface="Franklin Gothic Book" panose="020B0503020102020204" pitchFamily="34" charset="0"/>
              </a:defRPr>
            </a:lvl6pPr>
            <a:lvl7pPr marL="2971800" indent="-228600" defTabSz="457200" fontAlgn="base">
              <a:spcBef>
                <a:spcPct val="0"/>
              </a:spcBef>
              <a:spcAft>
                <a:spcPct val="0"/>
              </a:spcAft>
              <a:defRPr>
                <a:solidFill>
                  <a:schemeClr val="tx1"/>
                </a:solidFill>
                <a:latin typeface="Franklin Gothic Book" panose="020B0503020102020204" pitchFamily="34" charset="0"/>
              </a:defRPr>
            </a:lvl7pPr>
            <a:lvl8pPr marL="3429000" indent="-228600" defTabSz="457200" fontAlgn="base">
              <a:spcBef>
                <a:spcPct val="0"/>
              </a:spcBef>
              <a:spcAft>
                <a:spcPct val="0"/>
              </a:spcAft>
              <a:defRPr>
                <a:solidFill>
                  <a:schemeClr val="tx1"/>
                </a:solidFill>
                <a:latin typeface="Franklin Gothic Book" panose="020B0503020102020204" pitchFamily="34" charset="0"/>
              </a:defRPr>
            </a:lvl8pPr>
            <a:lvl9pPr marL="3886200" indent="-228600" defTabSz="457200" fontAlgn="base">
              <a:spcBef>
                <a:spcPct val="0"/>
              </a:spcBef>
              <a:spcAft>
                <a:spcPct val="0"/>
              </a:spcAft>
              <a:defRPr>
                <a:solidFill>
                  <a:schemeClr val="tx1"/>
                </a:solidFill>
                <a:latin typeface="Franklin Gothic Book" panose="020B0503020102020204" pitchFamily="34" charset="0"/>
              </a:defRPr>
            </a:lvl9pPr>
          </a:lstStyle>
          <a:p>
            <a:pPr lvl="1" eaLnBrk="1" hangingPunct="1">
              <a:spcBef>
                <a:spcPct val="30000"/>
              </a:spcBef>
            </a:pPr>
            <a:r>
              <a:rPr lang="en-US" altLang="fr-EG" sz="2800">
                <a:solidFill>
                  <a:srgbClr val="CC0000"/>
                </a:solidFill>
                <a:latin typeface="Arial" panose="020B0604020202020204" pitchFamily="34" charset="0"/>
              </a:rPr>
              <a:t>This describes a </a:t>
            </a:r>
            <a:r>
              <a:rPr lang="en-US" altLang="fr-EG" sz="2800" u="sng">
                <a:solidFill>
                  <a:srgbClr val="CC0000"/>
                </a:solidFill>
                <a:latin typeface="Arial" panose="020B0604020202020204" pitchFamily="34" charset="0"/>
              </a:rPr>
              <a:t>hostile work environment.</a:t>
            </a:r>
          </a:p>
        </p:txBody>
      </p:sp>
    </p:spTree>
    <p:extLst>
      <p:ext uri="{BB962C8B-B14F-4D97-AF65-F5344CB8AC3E}">
        <p14:creationId xmlns:p14="http://schemas.microsoft.com/office/powerpoint/2010/main" val="160259345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19811">
                                            <p:txEl>
                                              <p:pRg st="0" end="0"/>
                                            </p:txEl>
                                          </p:spTgt>
                                        </p:tgtEl>
                                        <p:attrNameLst>
                                          <p:attrName>style.visibility</p:attrName>
                                        </p:attrNameLst>
                                      </p:cBhvr>
                                      <p:to>
                                        <p:strVal val="visible"/>
                                      </p:to>
                                    </p:set>
                                    <p:anim calcmode="lin" valueType="num">
                                      <p:cBhvr additive="base">
                                        <p:cTn id="7" dur="500" fill="hold"/>
                                        <p:tgtEl>
                                          <p:spTgt spid="11981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1981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9" presetClass="entr" presetSubtype="0" fill="hold" grpId="0" nodeType="clickEffect">
                                  <p:stCondLst>
                                    <p:cond delay="0"/>
                                  </p:stCondLst>
                                  <p:childTnLst>
                                    <p:set>
                                      <p:cBhvr>
                                        <p:cTn id="12" dur="1" fill="hold">
                                          <p:stCondLst>
                                            <p:cond delay="0"/>
                                          </p:stCondLst>
                                        </p:cTn>
                                        <p:tgtEl>
                                          <p:spTgt spid="119814"/>
                                        </p:tgtEl>
                                        <p:attrNameLst>
                                          <p:attrName>style.visibility</p:attrName>
                                        </p:attrNameLst>
                                      </p:cBhvr>
                                      <p:to>
                                        <p:strVal val="visible"/>
                                      </p:to>
                                    </p:set>
                                    <p:animEffect transition="in" filter="dissolve">
                                      <p:cBhvr>
                                        <p:cTn id="13" dur="500"/>
                                        <p:tgtEl>
                                          <p:spTgt spid="119814"/>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8" fill="hold" nodeType="clickEffect">
                                  <p:stCondLst>
                                    <p:cond delay="0"/>
                                  </p:stCondLst>
                                  <p:childTnLst>
                                    <p:set>
                                      <p:cBhvr>
                                        <p:cTn id="17" dur="1" fill="hold">
                                          <p:stCondLst>
                                            <p:cond delay="0"/>
                                          </p:stCondLst>
                                        </p:cTn>
                                        <p:tgtEl>
                                          <p:spTgt spid="119811">
                                            <p:txEl>
                                              <p:pRg st="2" end="2"/>
                                            </p:txEl>
                                          </p:spTgt>
                                        </p:tgtEl>
                                        <p:attrNameLst>
                                          <p:attrName>style.visibility</p:attrName>
                                        </p:attrNameLst>
                                      </p:cBhvr>
                                      <p:to>
                                        <p:strVal val="visible"/>
                                      </p:to>
                                    </p:set>
                                    <p:anim calcmode="lin" valueType="num">
                                      <p:cBhvr additive="base">
                                        <p:cTn id="18" dur="500" fill="hold"/>
                                        <p:tgtEl>
                                          <p:spTgt spid="119811">
                                            <p:txEl>
                                              <p:pRg st="2" end="2"/>
                                            </p:txEl>
                                          </p:spTgt>
                                        </p:tgtEl>
                                        <p:attrNameLst>
                                          <p:attrName>ppt_x</p:attrName>
                                        </p:attrNameLst>
                                      </p:cBhvr>
                                      <p:tavLst>
                                        <p:tav tm="0">
                                          <p:val>
                                            <p:strVal val="0-#ppt_w/2"/>
                                          </p:val>
                                        </p:tav>
                                        <p:tav tm="100000">
                                          <p:val>
                                            <p:strVal val="#ppt_x"/>
                                          </p:val>
                                        </p:tav>
                                      </p:tavLst>
                                    </p:anim>
                                    <p:anim calcmode="lin" valueType="num">
                                      <p:cBhvr additive="base">
                                        <p:cTn id="19" dur="500" fill="hold"/>
                                        <p:tgtEl>
                                          <p:spTgt spid="119811">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9" presetClass="entr" presetSubtype="0" fill="hold" grpId="0" nodeType="clickEffect">
                                  <p:stCondLst>
                                    <p:cond delay="0"/>
                                  </p:stCondLst>
                                  <p:childTnLst>
                                    <p:set>
                                      <p:cBhvr>
                                        <p:cTn id="23" dur="1" fill="hold">
                                          <p:stCondLst>
                                            <p:cond delay="0"/>
                                          </p:stCondLst>
                                        </p:cTn>
                                        <p:tgtEl>
                                          <p:spTgt spid="119812"/>
                                        </p:tgtEl>
                                        <p:attrNameLst>
                                          <p:attrName>style.visibility</p:attrName>
                                        </p:attrNameLst>
                                      </p:cBhvr>
                                      <p:to>
                                        <p:strVal val="visible"/>
                                      </p:to>
                                    </p:set>
                                    <p:animEffect transition="in" filter="dissolve">
                                      <p:cBhvr>
                                        <p:cTn id="24" dur="500"/>
                                        <p:tgtEl>
                                          <p:spTgt spid="1198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812" grpId="0"/>
      <p:bldP spid="119814" grpId="0"/>
    </p:bldLst>
  </p:timing>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5841" name="Rectangle 8">
            <a:extLst>
              <a:ext uri="{FF2B5EF4-FFF2-40B4-BE49-F238E27FC236}">
                <a16:creationId xmlns:a16="http://schemas.microsoft.com/office/drawing/2014/main" id="{B0A7B69F-1F0B-7E4F-95B0-535360245625}"/>
              </a:ext>
            </a:extLst>
          </p:cNvPr>
          <p:cNvSpPr>
            <a:spLocks noGrp="1" noChangeArrowheads="1"/>
          </p:cNvSpPr>
          <p:nvPr>
            <p:ph type="title"/>
          </p:nvPr>
        </p:nvSpPr>
        <p:spPr/>
        <p:txBody>
          <a:bodyPr/>
          <a:lstStyle/>
          <a:p>
            <a:pPr algn="ctr"/>
            <a:r>
              <a:rPr lang="en-US" altLang="fr-EG" b="1">
                <a:solidFill>
                  <a:schemeClr val="tx1"/>
                </a:solidFill>
              </a:rPr>
              <a:t>WHO IS AFFECTED?</a:t>
            </a:r>
            <a:endParaRPr lang="en-US" altLang="fr-EG"/>
          </a:p>
        </p:txBody>
      </p:sp>
      <p:sp>
        <p:nvSpPr>
          <p:cNvPr id="23562" name="Rectangle 10">
            <a:extLst>
              <a:ext uri="{FF2B5EF4-FFF2-40B4-BE49-F238E27FC236}">
                <a16:creationId xmlns:a16="http://schemas.microsoft.com/office/drawing/2014/main" id="{475D50FB-83F5-F240-A1D0-1AB0B5790240}"/>
              </a:ext>
            </a:extLst>
          </p:cNvPr>
          <p:cNvSpPr>
            <a:spLocks noGrp="1" noChangeArrowheads="1"/>
          </p:cNvSpPr>
          <p:nvPr>
            <p:ph type="body" sz="half" idx="1"/>
          </p:nvPr>
        </p:nvSpPr>
        <p:spPr/>
        <p:txBody>
          <a:bodyPr/>
          <a:lstStyle/>
          <a:p>
            <a:pPr marL="0" indent="0">
              <a:lnSpc>
                <a:spcPct val="95000"/>
              </a:lnSpc>
              <a:spcBef>
                <a:spcPct val="28000"/>
              </a:spcBef>
              <a:buNone/>
            </a:pPr>
            <a:r>
              <a:rPr lang="en-US" altLang="fr-EG" sz="2400"/>
              <a:t>Those who commit acts of sexual harassment, including:</a:t>
            </a:r>
          </a:p>
          <a:p>
            <a:pPr lvl="1">
              <a:lnSpc>
                <a:spcPct val="95000"/>
              </a:lnSpc>
              <a:spcBef>
                <a:spcPct val="28000"/>
              </a:spcBef>
              <a:buFont typeface="Wingdings" pitchFamily="2" charset="2"/>
              <a:buChar char="§"/>
            </a:pPr>
            <a:r>
              <a:rPr lang="en-US" altLang="fr-EG"/>
              <a:t>Employees at any level</a:t>
            </a:r>
          </a:p>
          <a:p>
            <a:pPr lvl="1">
              <a:lnSpc>
                <a:spcPct val="95000"/>
              </a:lnSpc>
              <a:spcBef>
                <a:spcPct val="28000"/>
              </a:spcBef>
              <a:buFont typeface="Wingdings" pitchFamily="2" charset="2"/>
              <a:buChar char="§"/>
            </a:pPr>
            <a:r>
              <a:rPr lang="en-US" altLang="fr-EG"/>
              <a:t>Clients or customers</a:t>
            </a:r>
          </a:p>
          <a:p>
            <a:pPr lvl="1">
              <a:lnSpc>
                <a:spcPct val="95000"/>
              </a:lnSpc>
              <a:spcBef>
                <a:spcPct val="28000"/>
              </a:spcBef>
              <a:buFont typeface="Wingdings" pitchFamily="2" charset="2"/>
              <a:buChar char="§"/>
            </a:pPr>
            <a:r>
              <a:rPr lang="en-US" altLang="fr-EG"/>
              <a:t>Members of the </a:t>
            </a:r>
            <a:br>
              <a:rPr lang="en-US" altLang="fr-EG"/>
            </a:br>
            <a:r>
              <a:rPr lang="en-US" altLang="fr-EG"/>
              <a:t>same sex</a:t>
            </a:r>
          </a:p>
        </p:txBody>
      </p:sp>
      <p:pic>
        <p:nvPicPr>
          <p:cNvPr id="23593" name="Picture 41" descr="sex harassment office BOZ124">
            <a:extLst>
              <a:ext uri="{FF2B5EF4-FFF2-40B4-BE49-F238E27FC236}">
                <a16:creationId xmlns:a16="http://schemas.microsoft.com/office/drawing/2014/main" id="{EE7EA838-8A10-724D-B6A8-059037AAC43A}"/>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l="6529" r="9279"/>
          <a:stretch>
            <a:fillRect/>
          </a:stretch>
        </p:blipFill>
        <p:spPr>
          <a:xfrm>
            <a:off x="6375400" y="2090738"/>
            <a:ext cx="3678238" cy="3433762"/>
          </a:xfrm>
          <a:ln>
            <a:solidFill>
              <a:schemeClr val="tx1"/>
            </a:solidFill>
            <a:miter lim="800000"/>
            <a:headEnd/>
            <a:tailEnd/>
          </a:ln>
        </p:spPr>
      </p:pic>
      <p:pic>
        <p:nvPicPr>
          <p:cNvPr id="23598" name="Picture 46" descr="harsss woman hold mans tielo IS113-079">
            <a:extLst>
              <a:ext uri="{FF2B5EF4-FFF2-40B4-BE49-F238E27FC236}">
                <a16:creationId xmlns:a16="http://schemas.microsoft.com/office/drawing/2014/main" id="{94312792-D795-554C-804F-D93079B62C2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t="2397"/>
          <a:stretch>
            <a:fillRect/>
          </a:stretch>
        </p:blipFill>
        <p:spPr bwMode="auto">
          <a:xfrm>
            <a:off x="6384925" y="2079626"/>
            <a:ext cx="3689350" cy="419417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pic>
        <p:nvPicPr>
          <p:cNvPr id="23599" name="Picture 47" descr="*hand on hand men harassaa011388">
            <a:extLst>
              <a:ext uri="{FF2B5EF4-FFF2-40B4-BE49-F238E27FC236}">
                <a16:creationId xmlns:a16="http://schemas.microsoft.com/office/drawing/2014/main" id="{C38C8A7D-1ACA-5442-A0DD-F920F1E341F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l="9740" r="24512"/>
          <a:stretch>
            <a:fillRect/>
          </a:stretch>
        </p:blipFill>
        <p:spPr bwMode="auto">
          <a:xfrm>
            <a:off x="6327775" y="2098676"/>
            <a:ext cx="3767138" cy="418147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7474499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3562">
                                            <p:txEl>
                                              <p:pRg st="0" end="0"/>
                                            </p:txEl>
                                          </p:spTgt>
                                        </p:tgtEl>
                                        <p:attrNameLst>
                                          <p:attrName>style.visibility</p:attrName>
                                        </p:attrNameLst>
                                      </p:cBhvr>
                                      <p:to>
                                        <p:strVal val="visible"/>
                                      </p:to>
                                    </p:set>
                                    <p:anim calcmode="lin" valueType="num">
                                      <p:cBhvr additive="base">
                                        <p:cTn id="7" dur="500" fill="hold"/>
                                        <p:tgtEl>
                                          <p:spTgt spid="23562">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3562">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3562">
                                            <p:txEl>
                                              <p:pRg st="1" end="1"/>
                                            </p:txEl>
                                          </p:spTgt>
                                        </p:tgtEl>
                                        <p:attrNameLst>
                                          <p:attrName>style.visibility</p:attrName>
                                        </p:attrNameLst>
                                      </p:cBhvr>
                                      <p:to>
                                        <p:strVal val="visible"/>
                                      </p:to>
                                    </p:set>
                                    <p:anim calcmode="lin" valueType="num">
                                      <p:cBhvr additive="base">
                                        <p:cTn id="13" dur="500" fill="hold"/>
                                        <p:tgtEl>
                                          <p:spTgt spid="23562">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3562">
                                            <p:txEl>
                                              <p:pRg st="1" end="1"/>
                                            </p:txEl>
                                          </p:spTgt>
                                        </p:tgtEl>
                                        <p:attrNameLst>
                                          <p:attrName>ppt_y</p:attrName>
                                        </p:attrNameLst>
                                      </p:cBhvr>
                                      <p:tavLst>
                                        <p:tav tm="0">
                                          <p:val>
                                            <p:strVal val="#ppt_y"/>
                                          </p:val>
                                        </p:tav>
                                        <p:tav tm="100000">
                                          <p:val>
                                            <p:strVal val="#ppt_y"/>
                                          </p:val>
                                        </p:tav>
                                      </p:tavLst>
                                    </p:anim>
                                  </p:childTnLst>
                                </p:cTn>
                              </p:par>
                              <p:par>
                                <p:cTn id="15" presetID="9" presetClass="entr" presetSubtype="0" fill="hold" nodeType="withEffect">
                                  <p:stCondLst>
                                    <p:cond delay="0"/>
                                  </p:stCondLst>
                                  <p:childTnLst>
                                    <p:set>
                                      <p:cBhvr>
                                        <p:cTn id="16" dur="1" fill="hold">
                                          <p:stCondLst>
                                            <p:cond delay="0"/>
                                          </p:stCondLst>
                                        </p:cTn>
                                        <p:tgtEl>
                                          <p:spTgt spid="23593"/>
                                        </p:tgtEl>
                                        <p:attrNameLst>
                                          <p:attrName>style.visibility</p:attrName>
                                        </p:attrNameLst>
                                      </p:cBhvr>
                                      <p:to>
                                        <p:strVal val="visible"/>
                                      </p:to>
                                    </p:set>
                                    <p:animEffect transition="in" filter="dissolve">
                                      <p:cBhvr>
                                        <p:cTn id="17" dur="500"/>
                                        <p:tgtEl>
                                          <p:spTgt spid="2359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 presetClass="entr" presetSubtype="8" fill="hold" grpId="0" nodeType="clickEffect">
                                  <p:stCondLst>
                                    <p:cond delay="0"/>
                                  </p:stCondLst>
                                  <p:childTnLst>
                                    <p:set>
                                      <p:cBhvr>
                                        <p:cTn id="21" dur="1" fill="hold">
                                          <p:stCondLst>
                                            <p:cond delay="0"/>
                                          </p:stCondLst>
                                        </p:cTn>
                                        <p:tgtEl>
                                          <p:spTgt spid="23562">
                                            <p:txEl>
                                              <p:pRg st="2" end="2"/>
                                            </p:txEl>
                                          </p:spTgt>
                                        </p:tgtEl>
                                        <p:attrNameLst>
                                          <p:attrName>style.visibility</p:attrName>
                                        </p:attrNameLst>
                                      </p:cBhvr>
                                      <p:to>
                                        <p:strVal val="visible"/>
                                      </p:to>
                                    </p:set>
                                    <p:anim calcmode="lin" valueType="num">
                                      <p:cBhvr additive="base">
                                        <p:cTn id="22" dur="500" fill="hold"/>
                                        <p:tgtEl>
                                          <p:spTgt spid="23562">
                                            <p:txEl>
                                              <p:pRg st="2" end="2"/>
                                            </p:txEl>
                                          </p:spTgt>
                                        </p:tgtEl>
                                        <p:attrNameLst>
                                          <p:attrName>ppt_x</p:attrName>
                                        </p:attrNameLst>
                                      </p:cBhvr>
                                      <p:tavLst>
                                        <p:tav tm="0">
                                          <p:val>
                                            <p:strVal val="0-#ppt_w/2"/>
                                          </p:val>
                                        </p:tav>
                                        <p:tav tm="100000">
                                          <p:val>
                                            <p:strVal val="#ppt_x"/>
                                          </p:val>
                                        </p:tav>
                                      </p:tavLst>
                                    </p:anim>
                                    <p:anim calcmode="lin" valueType="num">
                                      <p:cBhvr additive="base">
                                        <p:cTn id="23" dur="500" fill="hold"/>
                                        <p:tgtEl>
                                          <p:spTgt spid="23562">
                                            <p:txEl>
                                              <p:pRg st="2" end="2"/>
                                            </p:txEl>
                                          </p:spTgt>
                                        </p:tgtEl>
                                        <p:attrNameLst>
                                          <p:attrName>ppt_y</p:attrName>
                                        </p:attrNameLst>
                                      </p:cBhvr>
                                      <p:tavLst>
                                        <p:tav tm="0">
                                          <p:val>
                                            <p:strVal val="#ppt_y"/>
                                          </p:val>
                                        </p:tav>
                                        <p:tav tm="100000">
                                          <p:val>
                                            <p:strVal val="#ppt_y"/>
                                          </p:val>
                                        </p:tav>
                                      </p:tavLst>
                                    </p:anim>
                                  </p:childTnLst>
                                </p:cTn>
                              </p:par>
                              <p:par>
                                <p:cTn id="24" presetID="9" presetClass="exit" presetSubtype="0" fill="hold" nodeType="withEffect">
                                  <p:stCondLst>
                                    <p:cond delay="0"/>
                                  </p:stCondLst>
                                  <p:childTnLst>
                                    <p:animEffect transition="out" filter="dissolve">
                                      <p:cBhvr>
                                        <p:cTn id="25" dur="500"/>
                                        <p:tgtEl>
                                          <p:spTgt spid="23593"/>
                                        </p:tgtEl>
                                      </p:cBhvr>
                                    </p:animEffect>
                                    <p:set>
                                      <p:cBhvr>
                                        <p:cTn id="26" dur="1" fill="hold">
                                          <p:stCondLst>
                                            <p:cond delay="499"/>
                                          </p:stCondLst>
                                        </p:cTn>
                                        <p:tgtEl>
                                          <p:spTgt spid="23593"/>
                                        </p:tgtEl>
                                        <p:attrNameLst>
                                          <p:attrName>style.visibility</p:attrName>
                                        </p:attrNameLst>
                                      </p:cBhvr>
                                      <p:to>
                                        <p:strVal val="hidden"/>
                                      </p:to>
                                    </p:set>
                                  </p:childTnLst>
                                </p:cTn>
                              </p:par>
                              <p:par>
                                <p:cTn id="27" presetID="9" presetClass="entr" presetSubtype="0" fill="hold" nodeType="withEffect">
                                  <p:stCondLst>
                                    <p:cond delay="0"/>
                                  </p:stCondLst>
                                  <p:childTnLst>
                                    <p:set>
                                      <p:cBhvr>
                                        <p:cTn id="28" dur="1" fill="hold">
                                          <p:stCondLst>
                                            <p:cond delay="0"/>
                                          </p:stCondLst>
                                        </p:cTn>
                                        <p:tgtEl>
                                          <p:spTgt spid="23598"/>
                                        </p:tgtEl>
                                        <p:attrNameLst>
                                          <p:attrName>style.visibility</p:attrName>
                                        </p:attrNameLst>
                                      </p:cBhvr>
                                      <p:to>
                                        <p:strVal val="visible"/>
                                      </p:to>
                                    </p:set>
                                    <p:animEffect transition="in" filter="dissolve">
                                      <p:cBhvr>
                                        <p:cTn id="29" dur="500"/>
                                        <p:tgtEl>
                                          <p:spTgt spid="23598"/>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 presetClass="entr" presetSubtype="8" fill="hold" grpId="0" nodeType="clickEffect">
                                  <p:stCondLst>
                                    <p:cond delay="0"/>
                                  </p:stCondLst>
                                  <p:childTnLst>
                                    <p:set>
                                      <p:cBhvr>
                                        <p:cTn id="33" dur="1" fill="hold">
                                          <p:stCondLst>
                                            <p:cond delay="0"/>
                                          </p:stCondLst>
                                        </p:cTn>
                                        <p:tgtEl>
                                          <p:spTgt spid="23562">
                                            <p:txEl>
                                              <p:pRg st="3" end="3"/>
                                            </p:txEl>
                                          </p:spTgt>
                                        </p:tgtEl>
                                        <p:attrNameLst>
                                          <p:attrName>style.visibility</p:attrName>
                                        </p:attrNameLst>
                                      </p:cBhvr>
                                      <p:to>
                                        <p:strVal val="visible"/>
                                      </p:to>
                                    </p:set>
                                    <p:anim calcmode="lin" valueType="num">
                                      <p:cBhvr additive="base">
                                        <p:cTn id="34" dur="500" fill="hold"/>
                                        <p:tgtEl>
                                          <p:spTgt spid="23562">
                                            <p:txEl>
                                              <p:pRg st="3" end="3"/>
                                            </p:txEl>
                                          </p:spTgt>
                                        </p:tgtEl>
                                        <p:attrNameLst>
                                          <p:attrName>ppt_x</p:attrName>
                                        </p:attrNameLst>
                                      </p:cBhvr>
                                      <p:tavLst>
                                        <p:tav tm="0">
                                          <p:val>
                                            <p:strVal val="0-#ppt_w/2"/>
                                          </p:val>
                                        </p:tav>
                                        <p:tav tm="100000">
                                          <p:val>
                                            <p:strVal val="#ppt_x"/>
                                          </p:val>
                                        </p:tav>
                                      </p:tavLst>
                                    </p:anim>
                                    <p:anim calcmode="lin" valueType="num">
                                      <p:cBhvr additive="base">
                                        <p:cTn id="35" dur="500" fill="hold"/>
                                        <p:tgtEl>
                                          <p:spTgt spid="23562">
                                            <p:txEl>
                                              <p:pRg st="3" end="3"/>
                                            </p:txEl>
                                          </p:spTgt>
                                        </p:tgtEl>
                                        <p:attrNameLst>
                                          <p:attrName>ppt_y</p:attrName>
                                        </p:attrNameLst>
                                      </p:cBhvr>
                                      <p:tavLst>
                                        <p:tav tm="0">
                                          <p:val>
                                            <p:strVal val="#ppt_y"/>
                                          </p:val>
                                        </p:tav>
                                        <p:tav tm="100000">
                                          <p:val>
                                            <p:strVal val="#ppt_y"/>
                                          </p:val>
                                        </p:tav>
                                      </p:tavLst>
                                    </p:anim>
                                  </p:childTnLst>
                                </p:cTn>
                              </p:par>
                              <p:par>
                                <p:cTn id="36" presetID="9" presetClass="exit" presetSubtype="0" fill="hold" nodeType="withEffect">
                                  <p:stCondLst>
                                    <p:cond delay="0"/>
                                  </p:stCondLst>
                                  <p:childTnLst>
                                    <p:animEffect transition="out" filter="dissolve">
                                      <p:cBhvr>
                                        <p:cTn id="37" dur="500"/>
                                        <p:tgtEl>
                                          <p:spTgt spid="23598"/>
                                        </p:tgtEl>
                                      </p:cBhvr>
                                    </p:animEffect>
                                    <p:set>
                                      <p:cBhvr>
                                        <p:cTn id="38" dur="1" fill="hold">
                                          <p:stCondLst>
                                            <p:cond delay="499"/>
                                          </p:stCondLst>
                                        </p:cTn>
                                        <p:tgtEl>
                                          <p:spTgt spid="23598"/>
                                        </p:tgtEl>
                                        <p:attrNameLst>
                                          <p:attrName>style.visibility</p:attrName>
                                        </p:attrNameLst>
                                      </p:cBhvr>
                                      <p:to>
                                        <p:strVal val="hidden"/>
                                      </p:to>
                                    </p:set>
                                  </p:childTnLst>
                                </p:cTn>
                              </p:par>
                              <p:par>
                                <p:cTn id="39" presetID="9" presetClass="entr" presetSubtype="0" fill="hold" nodeType="withEffect">
                                  <p:stCondLst>
                                    <p:cond delay="0"/>
                                  </p:stCondLst>
                                  <p:childTnLst>
                                    <p:set>
                                      <p:cBhvr>
                                        <p:cTn id="40" dur="1" fill="hold">
                                          <p:stCondLst>
                                            <p:cond delay="0"/>
                                          </p:stCondLst>
                                        </p:cTn>
                                        <p:tgtEl>
                                          <p:spTgt spid="23599"/>
                                        </p:tgtEl>
                                        <p:attrNameLst>
                                          <p:attrName>style.visibility</p:attrName>
                                        </p:attrNameLst>
                                      </p:cBhvr>
                                      <p:to>
                                        <p:strVal val="visible"/>
                                      </p:to>
                                    </p:set>
                                    <p:animEffect transition="in" filter="dissolve">
                                      <p:cBhvr>
                                        <p:cTn id="41" dur="500"/>
                                        <p:tgtEl>
                                          <p:spTgt spid="235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62" grpId="0" build="p"/>
    </p:bldLst>
  </p:timing>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7889" name="Rectangle 25">
            <a:extLst>
              <a:ext uri="{FF2B5EF4-FFF2-40B4-BE49-F238E27FC236}">
                <a16:creationId xmlns:a16="http://schemas.microsoft.com/office/drawing/2014/main" id="{A5451CF9-1157-A746-A3B0-39394C54BD06}"/>
              </a:ext>
            </a:extLst>
          </p:cNvPr>
          <p:cNvSpPr>
            <a:spLocks noGrp="1" noChangeArrowheads="1"/>
          </p:cNvSpPr>
          <p:nvPr>
            <p:ph type="title"/>
          </p:nvPr>
        </p:nvSpPr>
        <p:spPr/>
        <p:txBody>
          <a:bodyPr/>
          <a:lstStyle/>
          <a:p>
            <a:pPr algn="ctr"/>
            <a:r>
              <a:rPr lang="en-US" altLang="fr-EG" b="1">
                <a:solidFill>
                  <a:schemeClr val="tx1"/>
                </a:solidFill>
              </a:rPr>
              <a:t>WHO IS AFFECTED? (cont.)</a:t>
            </a:r>
            <a:endParaRPr lang="en-US" altLang="fr-EG"/>
          </a:p>
        </p:txBody>
      </p:sp>
      <p:sp>
        <p:nvSpPr>
          <p:cNvPr id="37890" name="Rectangle 26">
            <a:extLst>
              <a:ext uri="{FF2B5EF4-FFF2-40B4-BE49-F238E27FC236}">
                <a16:creationId xmlns:a16="http://schemas.microsoft.com/office/drawing/2014/main" id="{2C279E39-E881-554D-A809-91F60B045435}"/>
              </a:ext>
            </a:extLst>
          </p:cNvPr>
          <p:cNvSpPr>
            <a:spLocks noGrp="1" noChangeArrowheads="1"/>
          </p:cNvSpPr>
          <p:nvPr>
            <p:ph type="body" sz="half" idx="1"/>
          </p:nvPr>
        </p:nvSpPr>
        <p:spPr/>
        <p:txBody>
          <a:bodyPr/>
          <a:lstStyle/>
          <a:p>
            <a:pPr marL="0" indent="0">
              <a:lnSpc>
                <a:spcPct val="98000"/>
              </a:lnSpc>
              <a:spcBef>
                <a:spcPct val="28000"/>
              </a:spcBef>
              <a:buNone/>
            </a:pPr>
            <a:r>
              <a:rPr lang="en-US" altLang="fr-EG" sz="2500"/>
              <a:t>Those who experience harassment, including:</a:t>
            </a:r>
          </a:p>
          <a:p>
            <a:pPr lvl="1">
              <a:lnSpc>
                <a:spcPct val="98000"/>
              </a:lnSpc>
              <a:spcBef>
                <a:spcPct val="28000"/>
              </a:spcBef>
              <a:buFont typeface="Wingdings" pitchFamily="2" charset="2"/>
              <a:buChar char="§"/>
            </a:pPr>
            <a:r>
              <a:rPr lang="en-US" altLang="fr-EG" sz="2500"/>
              <a:t>Direct targets</a:t>
            </a:r>
          </a:p>
          <a:p>
            <a:pPr lvl="1">
              <a:lnSpc>
                <a:spcPct val="98000"/>
              </a:lnSpc>
              <a:spcBef>
                <a:spcPct val="28000"/>
              </a:spcBef>
              <a:buFont typeface="Wingdings" pitchFamily="2" charset="2"/>
              <a:buChar char="§"/>
            </a:pPr>
            <a:r>
              <a:rPr lang="en-US" altLang="fr-EG" sz="2500"/>
              <a:t>Bystanders and witnesses</a:t>
            </a:r>
            <a:endParaRPr lang="en-US" altLang="fr-EG"/>
          </a:p>
        </p:txBody>
      </p:sp>
      <p:pic>
        <p:nvPicPr>
          <p:cNvPr id="37891" name="Picture 50" descr="crowd people blurry street AKXRDA">
            <a:extLst>
              <a:ext uri="{FF2B5EF4-FFF2-40B4-BE49-F238E27FC236}">
                <a16:creationId xmlns:a16="http://schemas.microsoft.com/office/drawing/2014/main" id="{084C55DA-E71A-204A-AD24-6267439BDBB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9438"/>
          <a:stretch>
            <a:fillRect/>
          </a:stretch>
        </p:blipFill>
        <p:spPr bwMode="auto">
          <a:xfrm>
            <a:off x="6469064" y="2128839"/>
            <a:ext cx="3533775" cy="42005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249570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Rectangle 8">
            <a:extLst>
              <a:ext uri="{FF2B5EF4-FFF2-40B4-BE49-F238E27FC236}">
                <a16:creationId xmlns:a16="http://schemas.microsoft.com/office/drawing/2014/main" id="{B9D0E628-3E74-2047-AE82-7E42BB8F5F3D}"/>
              </a:ext>
            </a:extLst>
          </p:cNvPr>
          <p:cNvSpPr>
            <a:spLocks noGrp="1" noChangeArrowheads="1"/>
          </p:cNvSpPr>
          <p:nvPr>
            <p:ph type="title"/>
          </p:nvPr>
        </p:nvSpPr>
        <p:spPr/>
        <p:txBody>
          <a:bodyPr/>
          <a:lstStyle/>
          <a:p>
            <a:pPr algn="ctr"/>
            <a:r>
              <a:rPr lang="en-US" altLang="fr-EG" b="1"/>
              <a:t>SEXUAL HARASSMENT</a:t>
            </a:r>
          </a:p>
        </p:txBody>
      </p:sp>
      <p:sp>
        <p:nvSpPr>
          <p:cNvPr id="71689" name="Rectangle 9">
            <a:extLst>
              <a:ext uri="{FF2B5EF4-FFF2-40B4-BE49-F238E27FC236}">
                <a16:creationId xmlns:a16="http://schemas.microsoft.com/office/drawing/2014/main" id="{78D16EF3-08C4-A14A-91AA-4BB8281B5048}"/>
              </a:ext>
            </a:extLst>
          </p:cNvPr>
          <p:cNvSpPr>
            <a:spLocks noGrp="1" noChangeArrowheads="1"/>
          </p:cNvSpPr>
          <p:nvPr>
            <p:ph type="body" sz="half" idx="1"/>
          </p:nvPr>
        </p:nvSpPr>
        <p:spPr/>
        <p:txBody>
          <a:bodyPr rtlCol="0">
            <a:normAutofit/>
          </a:bodyPr>
          <a:lstStyle/>
          <a:p>
            <a:pPr lvl="1" indent="-384048">
              <a:spcBef>
                <a:spcPct val="30000"/>
              </a:spcBef>
              <a:buFont typeface="Wingdings" pitchFamily="2" charset="2"/>
              <a:buChar char="§"/>
              <a:defRPr/>
            </a:pPr>
            <a:r>
              <a:rPr lang="en-US" altLang="fr-EG" dirty="0"/>
              <a:t>Do you understand the two main forms of sexual harassment – economic harassment and hostile work environment?</a:t>
            </a:r>
          </a:p>
          <a:p>
            <a:pPr lvl="1" indent="-384048">
              <a:spcBef>
                <a:spcPct val="30000"/>
              </a:spcBef>
              <a:buFont typeface="Wingdings" pitchFamily="2" charset="2"/>
              <a:buChar char="§"/>
              <a:defRPr/>
            </a:pPr>
            <a:r>
              <a:rPr lang="en-US" altLang="fr-EG" dirty="0"/>
              <a:t>Is it clear who may be affected by sexual harassment in the workplace?</a:t>
            </a:r>
          </a:p>
          <a:p>
            <a:pPr marL="0" indent="0">
              <a:buNone/>
              <a:defRPr/>
            </a:pPr>
            <a:endParaRPr lang="en-US" altLang="fr-EG" sz="2400" dirty="0"/>
          </a:p>
        </p:txBody>
      </p:sp>
      <p:pic>
        <p:nvPicPr>
          <p:cNvPr id="39939" name="Picture 13">
            <a:extLst>
              <a:ext uri="{FF2B5EF4-FFF2-40B4-BE49-F238E27FC236}">
                <a16:creationId xmlns:a16="http://schemas.microsoft.com/office/drawing/2014/main" id="{C7880DAE-7A9D-DE4C-8EA7-EA4CC2545B08}"/>
              </a:ext>
            </a:extLst>
          </p:cNvPr>
          <p:cNvPicPr>
            <a:picLocks noGrp="1" noChangeAspect="1" noChangeArrowheads="1"/>
          </p:cNvPicPr>
          <p:nvPr>
            <p:ph type="clipArt" sz="half" idx="2"/>
          </p:nvPr>
        </p:nvPicPr>
        <p:blipFill>
          <a:blip r:embed="rId3">
            <a:extLst>
              <a:ext uri="{28A0092B-C50C-407E-A947-70E740481C1C}">
                <a14:useLocalDpi xmlns:a14="http://schemas.microsoft.com/office/drawing/2010/main" val="0"/>
              </a:ext>
            </a:extLst>
          </a:blip>
          <a:srcRect/>
          <a:stretch>
            <a:fillRect/>
          </a:stretch>
        </p:blipFill>
        <p:spPr>
          <a:xfrm>
            <a:off x="6472239" y="2057400"/>
            <a:ext cx="3629025" cy="4191000"/>
          </a:xfrm>
          <a:ln>
            <a:solidFill>
              <a:schemeClr val="tx1"/>
            </a:solidFill>
            <a:miter lim="800000"/>
            <a:headEnd/>
            <a:tailEnd/>
          </a:ln>
        </p:spPr>
      </p:pic>
    </p:spTree>
    <p:extLst>
      <p:ext uri="{BB962C8B-B14F-4D97-AF65-F5344CB8AC3E}">
        <p14:creationId xmlns:p14="http://schemas.microsoft.com/office/powerpoint/2010/main" val="265829470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71689">
                                            <p:txEl>
                                              <p:pRg st="0" end="0"/>
                                            </p:txEl>
                                          </p:spTgt>
                                        </p:tgtEl>
                                        <p:attrNameLst>
                                          <p:attrName>style.visibility</p:attrName>
                                        </p:attrNameLst>
                                      </p:cBhvr>
                                      <p:to>
                                        <p:strVal val="visible"/>
                                      </p:to>
                                    </p:set>
                                    <p:anim calcmode="lin" valueType="num">
                                      <p:cBhvr additive="base">
                                        <p:cTn id="7" dur="500" fill="hold"/>
                                        <p:tgtEl>
                                          <p:spTgt spid="7168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71689">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71689">
                                            <p:txEl>
                                              <p:pRg st="1" end="1"/>
                                            </p:txEl>
                                          </p:spTgt>
                                        </p:tgtEl>
                                        <p:attrNameLst>
                                          <p:attrName>style.visibility</p:attrName>
                                        </p:attrNameLst>
                                      </p:cBhvr>
                                      <p:to>
                                        <p:strVal val="visible"/>
                                      </p:to>
                                    </p:set>
                                    <p:anim calcmode="lin" valueType="num">
                                      <p:cBhvr additive="base">
                                        <p:cTn id="11" dur="500" fill="hold"/>
                                        <p:tgtEl>
                                          <p:spTgt spid="71689">
                                            <p:txEl>
                                              <p:pRg st="1" end="1"/>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71689">
                                            <p:txEl>
                                              <p:pRg st="1" end="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689"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6" name="Rectangle 135">
            <a:extLst>
              <a:ext uri="{FF2B5EF4-FFF2-40B4-BE49-F238E27FC236}">
                <a16:creationId xmlns:a16="http://schemas.microsoft.com/office/drawing/2014/main" id="{122F9423-F4B1-45D4-8445-E9991ECCBC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842" name="Rectangle 12">
            <a:extLst>
              <a:ext uri="{FF2B5EF4-FFF2-40B4-BE49-F238E27FC236}">
                <a16:creationId xmlns:a16="http://schemas.microsoft.com/office/drawing/2014/main" id="{88CB310C-27E6-3F46-9400-5ECA4212A6E1}"/>
              </a:ext>
            </a:extLst>
          </p:cNvPr>
          <p:cNvSpPr>
            <a:spLocks noGrp="1" noChangeArrowheads="1"/>
          </p:cNvSpPr>
          <p:nvPr>
            <p:ph type="title"/>
          </p:nvPr>
        </p:nvSpPr>
        <p:spPr>
          <a:xfrm>
            <a:off x="1000451" y="1610024"/>
            <a:ext cx="5568995" cy="1457002"/>
          </a:xfrm>
        </p:spPr>
        <p:txBody>
          <a:bodyPr vert="horz" lIns="91440" tIns="45720" rIns="91440" bIns="45720" rtlCol="0" anchor="b">
            <a:normAutofit/>
          </a:bodyPr>
          <a:lstStyle/>
          <a:p>
            <a:pPr>
              <a:defRPr/>
            </a:pPr>
            <a:r>
              <a:rPr lang="en-US" altLang="fr-EG" b="1"/>
              <a:t>PREVENTION: What We Can All Do To Help</a:t>
            </a:r>
            <a:endParaRPr lang="en-US" altLang="fr-EG"/>
          </a:p>
        </p:txBody>
      </p:sp>
      <p:grpSp>
        <p:nvGrpSpPr>
          <p:cNvPr id="138" name="Group 137">
            <a:extLst>
              <a:ext uri="{FF2B5EF4-FFF2-40B4-BE49-F238E27FC236}">
                <a16:creationId xmlns:a16="http://schemas.microsoft.com/office/drawing/2014/main" id="{770AE191-D2EA-45C9-A44D-830C188F74C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72021" y="518649"/>
            <a:ext cx="1128382" cy="847206"/>
            <a:chOff x="8183879" y="1000124"/>
            <a:chExt cx="1562267" cy="1172973"/>
          </a:xfrm>
        </p:grpSpPr>
        <p:sp>
          <p:nvSpPr>
            <p:cNvPr id="139" name="Freeform 5">
              <a:extLst>
                <a:ext uri="{FF2B5EF4-FFF2-40B4-BE49-F238E27FC236}">
                  <a16:creationId xmlns:a16="http://schemas.microsoft.com/office/drawing/2014/main" id="{23A0E4C1-B7A6-4637-AC51-4A5AE3841FF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8183879" y="1348782"/>
              <a:ext cx="935037" cy="824315"/>
            </a:xfrm>
            <a:custGeom>
              <a:avLst/>
              <a:gdLst>
                <a:gd name="T0" fmla="*/ 225 w 785"/>
                <a:gd name="T1" fmla="*/ 692 h 692"/>
                <a:gd name="T2" fmla="*/ 177 w 785"/>
                <a:gd name="T3" fmla="*/ 665 h 692"/>
                <a:gd name="T4" fmla="*/ 9 w 785"/>
                <a:gd name="T5" fmla="*/ 374 h 692"/>
                <a:gd name="T6" fmla="*/ 9 w 785"/>
                <a:gd name="T7" fmla="*/ 318 h 692"/>
                <a:gd name="T8" fmla="*/ 177 w 785"/>
                <a:gd name="T9" fmla="*/ 27 h 692"/>
                <a:gd name="T10" fmla="*/ 225 w 785"/>
                <a:gd name="T11" fmla="*/ 0 h 692"/>
                <a:gd name="T12" fmla="*/ 561 w 785"/>
                <a:gd name="T13" fmla="*/ 0 h 692"/>
                <a:gd name="T14" fmla="*/ 609 w 785"/>
                <a:gd name="T15" fmla="*/ 27 h 692"/>
                <a:gd name="T16" fmla="*/ 777 w 785"/>
                <a:gd name="T17" fmla="*/ 318 h 692"/>
                <a:gd name="T18" fmla="*/ 777 w 785"/>
                <a:gd name="T19" fmla="*/ 374 h 692"/>
                <a:gd name="T20" fmla="*/ 609 w 785"/>
                <a:gd name="T21" fmla="*/ 665 h 692"/>
                <a:gd name="T22" fmla="*/ 561 w 785"/>
                <a:gd name="T23" fmla="*/ 692 h 692"/>
                <a:gd name="T24" fmla="*/ 225 w 785"/>
                <a:gd name="T25" fmla="*/ 692 h 6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5" h="692">
                  <a:moveTo>
                    <a:pt x="225" y="692"/>
                  </a:moveTo>
                  <a:cubicBezTo>
                    <a:pt x="207" y="692"/>
                    <a:pt x="185" y="680"/>
                    <a:pt x="177" y="665"/>
                  </a:cubicBezTo>
                  <a:cubicBezTo>
                    <a:pt x="9" y="374"/>
                    <a:pt x="9" y="374"/>
                    <a:pt x="9" y="374"/>
                  </a:cubicBezTo>
                  <a:cubicBezTo>
                    <a:pt x="0" y="358"/>
                    <a:pt x="0" y="334"/>
                    <a:pt x="9" y="318"/>
                  </a:cubicBezTo>
                  <a:cubicBezTo>
                    <a:pt x="177" y="27"/>
                    <a:pt x="177" y="27"/>
                    <a:pt x="177" y="27"/>
                  </a:cubicBezTo>
                  <a:cubicBezTo>
                    <a:pt x="185" y="12"/>
                    <a:pt x="207" y="0"/>
                    <a:pt x="225" y="0"/>
                  </a:cubicBezTo>
                  <a:cubicBezTo>
                    <a:pt x="561" y="0"/>
                    <a:pt x="561" y="0"/>
                    <a:pt x="561" y="0"/>
                  </a:cubicBezTo>
                  <a:cubicBezTo>
                    <a:pt x="578" y="0"/>
                    <a:pt x="600" y="12"/>
                    <a:pt x="609" y="27"/>
                  </a:cubicBezTo>
                  <a:cubicBezTo>
                    <a:pt x="777" y="318"/>
                    <a:pt x="777" y="318"/>
                    <a:pt x="777" y="318"/>
                  </a:cubicBezTo>
                  <a:cubicBezTo>
                    <a:pt x="785" y="334"/>
                    <a:pt x="785" y="358"/>
                    <a:pt x="777" y="374"/>
                  </a:cubicBezTo>
                  <a:cubicBezTo>
                    <a:pt x="609" y="665"/>
                    <a:pt x="609" y="665"/>
                    <a:pt x="609" y="665"/>
                  </a:cubicBezTo>
                  <a:cubicBezTo>
                    <a:pt x="600" y="680"/>
                    <a:pt x="578" y="692"/>
                    <a:pt x="561" y="692"/>
                  </a:cubicBezTo>
                  <a:lnTo>
                    <a:pt x="225" y="692"/>
                  </a:lnTo>
                  <a:close/>
                </a:path>
              </a:pathLst>
            </a:custGeom>
            <a:noFill/>
            <a:ln w="28575" cmpd="sng">
              <a:solidFill>
                <a:schemeClr val="tx1"/>
              </a:solidFill>
            </a:ln>
          </p:spPr>
          <p:txBody>
            <a:bodyPr vert="horz" wrap="square" lIns="91440" tIns="45720" rIns="91440" bIns="45720" numCol="1" anchor="t" anchorCtr="0" compatLnSpc="1">
              <a:prstTxWarp prst="textNoShape">
                <a:avLst/>
              </a:prstTxWarp>
            </a:bodyPr>
            <a:lstStyle/>
            <a:p>
              <a:endParaRPr lang="en-US"/>
            </a:p>
          </p:txBody>
        </p:sp>
        <p:sp>
          <p:nvSpPr>
            <p:cNvPr id="140" name="Freeform 5">
              <a:extLst>
                <a:ext uri="{FF2B5EF4-FFF2-40B4-BE49-F238E27FC236}">
                  <a16:creationId xmlns:a16="http://schemas.microsoft.com/office/drawing/2014/main" id="{F4E8C039-CC58-44F3-8A7B-E0A934C1D01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8983979" y="1000124"/>
              <a:ext cx="762167" cy="671915"/>
            </a:xfrm>
            <a:custGeom>
              <a:avLst/>
              <a:gdLst>
                <a:gd name="T0" fmla="*/ 225 w 785"/>
                <a:gd name="T1" fmla="*/ 692 h 692"/>
                <a:gd name="T2" fmla="*/ 177 w 785"/>
                <a:gd name="T3" fmla="*/ 665 h 692"/>
                <a:gd name="T4" fmla="*/ 9 w 785"/>
                <a:gd name="T5" fmla="*/ 374 h 692"/>
                <a:gd name="T6" fmla="*/ 9 w 785"/>
                <a:gd name="T7" fmla="*/ 318 h 692"/>
                <a:gd name="T8" fmla="*/ 177 w 785"/>
                <a:gd name="T9" fmla="*/ 27 h 692"/>
                <a:gd name="T10" fmla="*/ 225 w 785"/>
                <a:gd name="T11" fmla="*/ 0 h 692"/>
                <a:gd name="T12" fmla="*/ 561 w 785"/>
                <a:gd name="T13" fmla="*/ 0 h 692"/>
                <a:gd name="T14" fmla="*/ 609 w 785"/>
                <a:gd name="T15" fmla="*/ 27 h 692"/>
                <a:gd name="T16" fmla="*/ 777 w 785"/>
                <a:gd name="T17" fmla="*/ 318 h 692"/>
                <a:gd name="T18" fmla="*/ 777 w 785"/>
                <a:gd name="T19" fmla="*/ 374 h 692"/>
                <a:gd name="T20" fmla="*/ 609 w 785"/>
                <a:gd name="T21" fmla="*/ 665 h 692"/>
                <a:gd name="T22" fmla="*/ 561 w 785"/>
                <a:gd name="T23" fmla="*/ 692 h 692"/>
                <a:gd name="T24" fmla="*/ 225 w 785"/>
                <a:gd name="T25" fmla="*/ 692 h 6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5" h="692">
                  <a:moveTo>
                    <a:pt x="225" y="692"/>
                  </a:moveTo>
                  <a:cubicBezTo>
                    <a:pt x="207" y="692"/>
                    <a:pt x="185" y="680"/>
                    <a:pt x="177" y="665"/>
                  </a:cubicBezTo>
                  <a:cubicBezTo>
                    <a:pt x="9" y="374"/>
                    <a:pt x="9" y="374"/>
                    <a:pt x="9" y="374"/>
                  </a:cubicBezTo>
                  <a:cubicBezTo>
                    <a:pt x="0" y="358"/>
                    <a:pt x="0" y="334"/>
                    <a:pt x="9" y="318"/>
                  </a:cubicBezTo>
                  <a:cubicBezTo>
                    <a:pt x="177" y="27"/>
                    <a:pt x="177" y="27"/>
                    <a:pt x="177" y="27"/>
                  </a:cubicBezTo>
                  <a:cubicBezTo>
                    <a:pt x="185" y="12"/>
                    <a:pt x="207" y="0"/>
                    <a:pt x="225" y="0"/>
                  </a:cubicBezTo>
                  <a:cubicBezTo>
                    <a:pt x="561" y="0"/>
                    <a:pt x="561" y="0"/>
                    <a:pt x="561" y="0"/>
                  </a:cubicBezTo>
                  <a:cubicBezTo>
                    <a:pt x="578" y="0"/>
                    <a:pt x="600" y="12"/>
                    <a:pt x="609" y="27"/>
                  </a:cubicBezTo>
                  <a:cubicBezTo>
                    <a:pt x="777" y="318"/>
                    <a:pt x="777" y="318"/>
                    <a:pt x="777" y="318"/>
                  </a:cubicBezTo>
                  <a:cubicBezTo>
                    <a:pt x="785" y="334"/>
                    <a:pt x="785" y="358"/>
                    <a:pt x="777" y="374"/>
                  </a:cubicBezTo>
                  <a:cubicBezTo>
                    <a:pt x="609" y="665"/>
                    <a:pt x="609" y="665"/>
                    <a:pt x="609" y="665"/>
                  </a:cubicBezTo>
                  <a:cubicBezTo>
                    <a:pt x="600" y="680"/>
                    <a:pt x="578" y="692"/>
                    <a:pt x="561" y="692"/>
                  </a:cubicBezTo>
                  <a:lnTo>
                    <a:pt x="225" y="692"/>
                  </a:lnTo>
                  <a:close/>
                </a:path>
              </a:pathLst>
            </a:custGeom>
            <a:noFill/>
            <a:ln w="28575" cmpd="sng">
              <a:solidFill>
                <a:schemeClr val="tx1"/>
              </a:solidFill>
            </a:ln>
          </p:spPr>
          <p:txBody>
            <a:bodyPr vert="horz" wrap="square" lIns="91440" tIns="45720" rIns="91440" bIns="45720" numCol="1" anchor="t" anchorCtr="0" compatLnSpc="1">
              <a:prstTxWarp prst="textNoShape">
                <a:avLst/>
              </a:prstTxWarp>
            </a:bodyPr>
            <a:lstStyle/>
            <a:p>
              <a:endParaRPr lang="en-US"/>
            </a:p>
          </p:txBody>
        </p:sp>
      </p:grpSp>
      <p:sp>
        <p:nvSpPr>
          <p:cNvPr id="35843" name="Rectangle 13">
            <a:extLst>
              <a:ext uri="{FF2B5EF4-FFF2-40B4-BE49-F238E27FC236}">
                <a16:creationId xmlns:a16="http://schemas.microsoft.com/office/drawing/2014/main" id="{9F5CBF1F-9CE0-394F-8595-B81F29CE09EE}"/>
              </a:ext>
            </a:extLst>
          </p:cNvPr>
          <p:cNvSpPr>
            <a:spLocks noGrp="1" noChangeArrowheads="1"/>
          </p:cNvSpPr>
          <p:nvPr>
            <p:ph type="body" sz="half" idx="1"/>
          </p:nvPr>
        </p:nvSpPr>
        <p:spPr>
          <a:xfrm>
            <a:off x="1000450" y="3067026"/>
            <a:ext cx="5568991" cy="2968014"/>
          </a:xfrm>
        </p:spPr>
        <p:txBody>
          <a:bodyPr vert="horz" lIns="91440" tIns="45720" rIns="91440" bIns="45720" rtlCol="0" anchor="t">
            <a:normAutofit/>
          </a:bodyPr>
          <a:lstStyle/>
          <a:p>
            <a:pPr lvl="1">
              <a:defRPr/>
            </a:pPr>
            <a:r>
              <a:rPr lang="en-US" altLang="fr-EG" sz="2000"/>
              <a:t>Provide a clear statement of our position against sexual harassment</a:t>
            </a:r>
          </a:p>
          <a:p>
            <a:pPr lvl="1">
              <a:defRPr/>
            </a:pPr>
            <a:r>
              <a:rPr lang="en-US" altLang="fr-EG" sz="2000"/>
              <a:t>Promote compliance and prevention by defining responsibilities</a:t>
            </a:r>
          </a:p>
          <a:p>
            <a:pPr lvl="1">
              <a:defRPr/>
            </a:pPr>
            <a:r>
              <a:rPr lang="en-US" altLang="fr-EG" sz="2000"/>
              <a:t>Protect your rights and foster respect for everyone</a:t>
            </a:r>
          </a:p>
        </p:txBody>
      </p:sp>
      <p:pic>
        <p:nvPicPr>
          <p:cNvPr id="41987" name="Picture 17">
            <a:extLst>
              <a:ext uri="{FF2B5EF4-FFF2-40B4-BE49-F238E27FC236}">
                <a16:creationId xmlns:a16="http://schemas.microsoft.com/office/drawing/2014/main" id="{05B127D2-5CFF-324E-9405-A25F35A20F20}"/>
              </a:ext>
            </a:extLst>
          </p:cNvPr>
          <p:cNvPicPr>
            <a:picLocks noGrp="1" noChangeAspect="1" noChangeArrowheads="1"/>
          </p:cNvPicPr>
          <p:nvPr>
            <p:ph sz="half" idx="2"/>
          </p:nvPr>
        </p:nvPicPr>
        <p:blipFill rotWithShape="1">
          <a:blip r:embed="rId3">
            <a:extLst>
              <a:ext uri="{28A0092B-C50C-407E-A947-70E740481C1C}">
                <a14:useLocalDpi xmlns:a14="http://schemas.microsoft.com/office/drawing/2010/main" val="0"/>
              </a:ext>
            </a:extLst>
          </a:blip>
          <a:srcRect l="27456" r="28232" b="1"/>
          <a:stretch/>
        </p:blipFill>
        <p:spPr>
          <a:xfrm>
            <a:off x="7534656" y="10"/>
            <a:ext cx="4657344" cy="6857990"/>
          </a:xfrm>
          <a:prstGeom prst="rect">
            <a:avLst/>
          </a:prstGeom>
          <a:noFill/>
        </p:spPr>
      </p:pic>
    </p:spTree>
    <p:extLst>
      <p:ext uri="{BB962C8B-B14F-4D97-AF65-F5344CB8AC3E}">
        <p14:creationId xmlns:p14="http://schemas.microsoft.com/office/powerpoint/2010/main" val="22771521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6" name="Rectangle 135">
            <a:extLst>
              <a:ext uri="{FF2B5EF4-FFF2-40B4-BE49-F238E27FC236}">
                <a16:creationId xmlns:a16="http://schemas.microsoft.com/office/drawing/2014/main" id="{33CD251C-A887-4D2F-925B-FC09719853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866" name="Rectangle 16">
            <a:extLst>
              <a:ext uri="{FF2B5EF4-FFF2-40B4-BE49-F238E27FC236}">
                <a16:creationId xmlns:a16="http://schemas.microsoft.com/office/drawing/2014/main" id="{080AF5EF-13B3-3D4B-A478-E26744B2B90A}"/>
              </a:ext>
            </a:extLst>
          </p:cNvPr>
          <p:cNvSpPr>
            <a:spLocks noGrp="1" noChangeArrowheads="1"/>
          </p:cNvSpPr>
          <p:nvPr>
            <p:ph type="title"/>
          </p:nvPr>
        </p:nvSpPr>
        <p:spPr>
          <a:xfrm>
            <a:off x="1000452" y="1610024"/>
            <a:ext cx="3058621" cy="1457002"/>
          </a:xfrm>
        </p:spPr>
        <p:txBody>
          <a:bodyPr vert="horz" lIns="91440" tIns="45720" rIns="91440" bIns="45720" rtlCol="0" anchor="b">
            <a:normAutofit/>
          </a:bodyPr>
          <a:lstStyle/>
          <a:p>
            <a:pPr>
              <a:defRPr/>
            </a:pPr>
            <a:r>
              <a:rPr lang="en-US" altLang="fr-EG" sz="3100" b="1"/>
              <a:t>PREVENTION: What You Can Do</a:t>
            </a:r>
          </a:p>
        </p:txBody>
      </p:sp>
      <p:grpSp>
        <p:nvGrpSpPr>
          <p:cNvPr id="138" name="Group 137">
            <a:extLst>
              <a:ext uri="{FF2B5EF4-FFF2-40B4-BE49-F238E27FC236}">
                <a16:creationId xmlns:a16="http://schemas.microsoft.com/office/drawing/2014/main" id="{770AE191-D2EA-45C9-A44D-830C188F74C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72021" y="518649"/>
            <a:ext cx="1128382" cy="847206"/>
            <a:chOff x="8183879" y="1000124"/>
            <a:chExt cx="1562267" cy="1172973"/>
          </a:xfrm>
        </p:grpSpPr>
        <p:sp>
          <p:nvSpPr>
            <p:cNvPr id="139" name="Freeform 5">
              <a:extLst>
                <a:ext uri="{FF2B5EF4-FFF2-40B4-BE49-F238E27FC236}">
                  <a16:creationId xmlns:a16="http://schemas.microsoft.com/office/drawing/2014/main" id="{23A0E4C1-B7A6-4637-AC51-4A5AE3841FF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8183879" y="1348782"/>
              <a:ext cx="935037" cy="824315"/>
            </a:xfrm>
            <a:custGeom>
              <a:avLst/>
              <a:gdLst>
                <a:gd name="T0" fmla="*/ 225 w 785"/>
                <a:gd name="T1" fmla="*/ 692 h 692"/>
                <a:gd name="T2" fmla="*/ 177 w 785"/>
                <a:gd name="T3" fmla="*/ 665 h 692"/>
                <a:gd name="T4" fmla="*/ 9 w 785"/>
                <a:gd name="T5" fmla="*/ 374 h 692"/>
                <a:gd name="T6" fmla="*/ 9 w 785"/>
                <a:gd name="T7" fmla="*/ 318 h 692"/>
                <a:gd name="T8" fmla="*/ 177 w 785"/>
                <a:gd name="T9" fmla="*/ 27 h 692"/>
                <a:gd name="T10" fmla="*/ 225 w 785"/>
                <a:gd name="T11" fmla="*/ 0 h 692"/>
                <a:gd name="T12" fmla="*/ 561 w 785"/>
                <a:gd name="T13" fmla="*/ 0 h 692"/>
                <a:gd name="T14" fmla="*/ 609 w 785"/>
                <a:gd name="T15" fmla="*/ 27 h 692"/>
                <a:gd name="T16" fmla="*/ 777 w 785"/>
                <a:gd name="T17" fmla="*/ 318 h 692"/>
                <a:gd name="T18" fmla="*/ 777 w 785"/>
                <a:gd name="T19" fmla="*/ 374 h 692"/>
                <a:gd name="T20" fmla="*/ 609 w 785"/>
                <a:gd name="T21" fmla="*/ 665 h 692"/>
                <a:gd name="T22" fmla="*/ 561 w 785"/>
                <a:gd name="T23" fmla="*/ 692 h 692"/>
                <a:gd name="T24" fmla="*/ 225 w 785"/>
                <a:gd name="T25" fmla="*/ 692 h 6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5" h="692">
                  <a:moveTo>
                    <a:pt x="225" y="692"/>
                  </a:moveTo>
                  <a:cubicBezTo>
                    <a:pt x="207" y="692"/>
                    <a:pt x="185" y="680"/>
                    <a:pt x="177" y="665"/>
                  </a:cubicBezTo>
                  <a:cubicBezTo>
                    <a:pt x="9" y="374"/>
                    <a:pt x="9" y="374"/>
                    <a:pt x="9" y="374"/>
                  </a:cubicBezTo>
                  <a:cubicBezTo>
                    <a:pt x="0" y="358"/>
                    <a:pt x="0" y="334"/>
                    <a:pt x="9" y="318"/>
                  </a:cubicBezTo>
                  <a:cubicBezTo>
                    <a:pt x="177" y="27"/>
                    <a:pt x="177" y="27"/>
                    <a:pt x="177" y="27"/>
                  </a:cubicBezTo>
                  <a:cubicBezTo>
                    <a:pt x="185" y="12"/>
                    <a:pt x="207" y="0"/>
                    <a:pt x="225" y="0"/>
                  </a:cubicBezTo>
                  <a:cubicBezTo>
                    <a:pt x="561" y="0"/>
                    <a:pt x="561" y="0"/>
                    <a:pt x="561" y="0"/>
                  </a:cubicBezTo>
                  <a:cubicBezTo>
                    <a:pt x="578" y="0"/>
                    <a:pt x="600" y="12"/>
                    <a:pt x="609" y="27"/>
                  </a:cubicBezTo>
                  <a:cubicBezTo>
                    <a:pt x="777" y="318"/>
                    <a:pt x="777" y="318"/>
                    <a:pt x="777" y="318"/>
                  </a:cubicBezTo>
                  <a:cubicBezTo>
                    <a:pt x="785" y="334"/>
                    <a:pt x="785" y="358"/>
                    <a:pt x="777" y="374"/>
                  </a:cubicBezTo>
                  <a:cubicBezTo>
                    <a:pt x="609" y="665"/>
                    <a:pt x="609" y="665"/>
                    <a:pt x="609" y="665"/>
                  </a:cubicBezTo>
                  <a:cubicBezTo>
                    <a:pt x="600" y="680"/>
                    <a:pt x="578" y="692"/>
                    <a:pt x="561" y="692"/>
                  </a:cubicBezTo>
                  <a:lnTo>
                    <a:pt x="225" y="692"/>
                  </a:lnTo>
                  <a:close/>
                </a:path>
              </a:pathLst>
            </a:custGeom>
            <a:noFill/>
            <a:ln w="28575" cmpd="sng">
              <a:solidFill>
                <a:schemeClr val="tx1"/>
              </a:solidFill>
            </a:ln>
          </p:spPr>
          <p:txBody>
            <a:bodyPr vert="horz" wrap="square" lIns="91440" tIns="45720" rIns="91440" bIns="45720" numCol="1" anchor="t" anchorCtr="0" compatLnSpc="1">
              <a:prstTxWarp prst="textNoShape">
                <a:avLst/>
              </a:prstTxWarp>
            </a:bodyPr>
            <a:lstStyle/>
            <a:p>
              <a:endParaRPr lang="en-US"/>
            </a:p>
          </p:txBody>
        </p:sp>
        <p:sp>
          <p:nvSpPr>
            <p:cNvPr id="140" name="Freeform 5">
              <a:extLst>
                <a:ext uri="{FF2B5EF4-FFF2-40B4-BE49-F238E27FC236}">
                  <a16:creationId xmlns:a16="http://schemas.microsoft.com/office/drawing/2014/main" id="{F4E8C039-CC58-44F3-8A7B-E0A934C1D01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8983979" y="1000124"/>
              <a:ext cx="762167" cy="671915"/>
            </a:xfrm>
            <a:custGeom>
              <a:avLst/>
              <a:gdLst>
                <a:gd name="T0" fmla="*/ 225 w 785"/>
                <a:gd name="T1" fmla="*/ 692 h 692"/>
                <a:gd name="T2" fmla="*/ 177 w 785"/>
                <a:gd name="T3" fmla="*/ 665 h 692"/>
                <a:gd name="T4" fmla="*/ 9 w 785"/>
                <a:gd name="T5" fmla="*/ 374 h 692"/>
                <a:gd name="T6" fmla="*/ 9 w 785"/>
                <a:gd name="T7" fmla="*/ 318 h 692"/>
                <a:gd name="T8" fmla="*/ 177 w 785"/>
                <a:gd name="T9" fmla="*/ 27 h 692"/>
                <a:gd name="T10" fmla="*/ 225 w 785"/>
                <a:gd name="T11" fmla="*/ 0 h 692"/>
                <a:gd name="T12" fmla="*/ 561 w 785"/>
                <a:gd name="T13" fmla="*/ 0 h 692"/>
                <a:gd name="T14" fmla="*/ 609 w 785"/>
                <a:gd name="T15" fmla="*/ 27 h 692"/>
                <a:gd name="T16" fmla="*/ 777 w 785"/>
                <a:gd name="T17" fmla="*/ 318 h 692"/>
                <a:gd name="T18" fmla="*/ 777 w 785"/>
                <a:gd name="T19" fmla="*/ 374 h 692"/>
                <a:gd name="T20" fmla="*/ 609 w 785"/>
                <a:gd name="T21" fmla="*/ 665 h 692"/>
                <a:gd name="T22" fmla="*/ 561 w 785"/>
                <a:gd name="T23" fmla="*/ 692 h 692"/>
                <a:gd name="T24" fmla="*/ 225 w 785"/>
                <a:gd name="T25" fmla="*/ 692 h 6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5" h="692">
                  <a:moveTo>
                    <a:pt x="225" y="692"/>
                  </a:moveTo>
                  <a:cubicBezTo>
                    <a:pt x="207" y="692"/>
                    <a:pt x="185" y="680"/>
                    <a:pt x="177" y="665"/>
                  </a:cubicBezTo>
                  <a:cubicBezTo>
                    <a:pt x="9" y="374"/>
                    <a:pt x="9" y="374"/>
                    <a:pt x="9" y="374"/>
                  </a:cubicBezTo>
                  <a:cubicBezTo>
                    <a:pt x="0" y="358"/>
                    <a:pt x="0" y="334"/>
                    <a:pt x="9" y="318"/>
                  </a:cubicBezTo>
                  <a:cubicBezTo>
                    <a:pt x="177" y="27"/>
                    <a:pt x="177" y="27"/>
                    <a:pt x="177" y="27"/>
                  </a:cubicBezTo>
                  <a:cubicBezTo>
                    <a:pt x="185" y="12"/>
                    <a:pt x="207" y="0"/>
                    <a:pt x="225" y="0"/>
                  </a:cubicBezTo>
                  <a:cubicBezTo>
                    <a:pt x="561" y="0"/>
                    <a:pt x="561" y="0"/>
                    <a:pt x="561" y="0"/>
                  </a:cubicBezTo>
                  <a:cubicBezTo>
                    <a:pt x="578" y="0"/>
                    <a:pt x="600" y="12"/>
                    <a:pt x="609" y="27"/>
                  </a:cubicBezTo>
                  <a:cubicBezTo>
                    <a:pt x="777" y="318"/>
                    <a:pt x="777" y="318"/>
                    <a:pt x="777" y="318"/>
                  </a:cubicBezTo>
                  <a:cubicBezTo>
                    <a:pt x="785" y="334"/>
                    <a:pt x="785" y="358"/>
                    <a:pt x="777" y="374"/>
                  </a:cubicBezTo>
                  <a:cubicBezTo>
                    <a:pt x="609" y="665"/>
                    <a:pt x="609" y="665"/>
                    <a:pt x="609" y="665"/>
                  </a:cubicBezTo>
                  <a:cubicBezTo>
                    <a:pt x="600" y="680"/>
                    <a:pt x="578" y="692"/>
                    <a:pt x="561" y="692"/>
                  </a:cubicBezTo>
                  <a:lnTo>
                    <a:pt x="225" y="692"/>
                  </a:lnTo>
                  <a:close/>
                </a:path>
              </a:pathLst>
            </a:custGeom>
            <a:noFill/>
            <a:ln w="28575" cmpd="sng">
              <a:solidFill>
                <a:schemeClr val="tx1"/>
              </a:solidFill>
            </a:ln>
          </p:spPr>
          <p:txBody>
            <a:bodyPr vert="horz" wrap="square" lIns="91440" tIns="45720" rIns="91440" bIns="45720" numCol="1" anchor="t" anchorCtr="0" compatLnSpc="1">
              <a:prstTxWarp prst="textNoShape">
                <a:avLst/>
              </a:prstTxWarp>
            </a:bodyPr>
            <a:lstStyle/>
            <a:p>
              <a:endParaRPr lang="en-US"/>
            </a:p>
          </p:txBody>
        </p:sp>
      </p:grpSp>
      <p:sp>
        <p:nvSpPr>
          <p:cNvPr id="44034" name="Rectangle 17">
            <a:extLst>
              <a:ext uri="{FF2B5EF4-FFF2-40B4-BE49-F238E27FC236}">
                <a16:creationId xmlns:a16="http://schemas.microsoft.com/office/drawing/2014/main" id="{9136B0DA-E46C-6D4D-B781-B9B5793C92C9}"/>
              </a:ext>
            </a:extLst>
          </p:cNvPr>
          <p:cNvSpPr>
            <a:spLocks noGrp="1" noChangeArrowheads="1"/>
          </p:cNvSpPr>
          <p:nvPr>
            <p:ph type="body" sz="half" idx="1"/>
          </p:nvPr>
        </p:nvSpPr>
        <p:spPr>
          <a:xfrm>
            <a:off x="1000450" y="3067026"/>
            <a:ext cx="3058623" cy="3272324"/>
          </a:xfrm>
        </p:spPr>
        <p:txBody>
          <a:bodyPr vert="horz" lIns="91440" tIns="45720" rIns="91440" bIns="45720" rtlCol="0" anchor="t">
            <a:normAutofit/>
          </a:bodyPr>
          <a:lstStyle/>
          <a:p>
            <a:pPr lvl="1"/>
            <a:r>
              <a:rPr lang="en-US" altLang="fr-EG" sz="2000"/>
              <a:t>Know and comply with company policy</a:t>
            </a:r>
          </a:p>
          <a:p>
            <a:pPr lvl="1"/>
            <a:r>
              <a:rPr lang="en-US" altLang="fr-EG" sz="2000"/>
              <a:t>Address incidents of sexual harassment </a:t>
            </a:r>
            <a:br>
              <a:rPr lang="en-US" altLang="fr-EG" sz="2000"/>
            </a:br>
            <a:r>
              <a:rPr lang="en-US" altLang="fr-EG" sz="2000"/>
              <a:t>immediately</a:t>
            </a:r>
          </a:p>
        </p:txBody>
      </p:sp>
      <p:pic>
        <p:nvPicPr>
          <p:cNvPr id="44035" name="Picture 30">
            <a:extLst>
              <a:ext uri="{FF2B5EF4-FFF2-40B4-BE49-F238E27FC236}">
                <a16:creationId xmlns:a16="http://schemas.microsoft.com/office/drawing/2014/main" id="{4BDCA265-D36C-0444-B626-2E1D13A029C6}"/>
              </a:ext>
            </a:extLst>
          </p:cNvPr>
          <p:cNvPicPr>
            <a:picLocks noGrp="1" noChangeAspect="1" noChangeArrowheads="1"/>
          </p:cNvPicPr>
          <p:nvPr>
            <p:ph sz="half" idx="2"/>
          </p:nvPr>
        </p:nvPicPr>
        <p:blipFill rotWithShape="1">
          <a:blip r:embed="rId3">
            <a:extLst>
              <a:ext uri="{28A0092B-C50C-407E-A947-70E740481C1C}">
                <a14:useLocalDpi xmlns:a14="http://schemas.microsoft.com/office/drawing/2010/main" val="0"/>
              </a:ext>
            </a:extLst>
          </a:blip>
          <a:srcRect t="5" r="2" b="6175"/>
          <a:stretch/>
        </p:blipFill>
        <p:spPr>
          <a:xfrm>
            <a:off x="4636963" y="10"/>
            <a:ext cx="7555037" cy="6857990"/>
          </a:xfrm>
          <a:prstGeom prst="rect">
            <a:avLst/>
          </a:prstGeom>
          <a:noFill/>
        </p:spPr>
      </p:pic>
    </p:spTree>
    <p:extLst>
      <p:ext uri="{BB962C8B-B14F-4D97-AF65-F5344CB8AC3E}">
        <p14:creationId xmlns:p14="http://schemas.microsoft.com/office/powerpoint/2010/main" val="31352693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6" name="Rectangle 135">
            <a:extLst>
              <a:ext uri="{FF2B5EF4-FFF2-40B4-BE49-F238E27FC236}">
                <a16:creationId xmlns:a16="http://schemas.microsoft.com/office/drawing/2014/main" id="{33CD251C-A887-4D2F-925B-FC09719853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890" name="Rectangle 19">
            <a:extLst>
              <a:ext uri="{FF2B5EF4-FFF2-40B4-BE49-F238E27FC236}">
                <a16:creationId xmlns:a16="http://schemas.microsoft.com/office/drawing/2014/main" id="{68157553-D760-8442-88E7-07A54447D623}"/>
              </a:ext>
            </a:extLst>
          </p:cNvPr>
          <p:cNvSpPr>
            <a:spLocks noGrp="1" noChangeArrowheads="1"/>
          </p:cNvSpPr>
          <p:nvPr>
            <p:ph type="title"/>
          </p:nvPr>
        </p:nvSpPr>
        <p:spPr>
          <a:xfrm>
            <a:off x="1000452" y="1610024"/>
            <a:ext cx="3058621" cy="1457002"/>
          </a:xfrm>
        </p:spPr>
        <p:txBody>
          <a:bodyPr vert="horz" lIns="91440" tIns="45720" rIns="91440" bIns="45720" rtlCol="0" anchor="b">
            <a:normAutofit/>
          </a:bodyPr>
          <a:lstStyle/>
          <a:p>
            <a:pPr>
              <a:defRPr/>
            </a:pPr>
            <a:r>
              <a:rPr lang="en-US" altLang="fr-EG" sz="2500" b="1"/>
              <a:t>PREVENTION: What You </a:t>
            </a:r>
            <a:br>
              <a:rPr lang="en-US" altLang="fr-EG" sz="2500" b="1"/>
            </a:br>
            <a:r>
              <a:rPr lang="en-US" altLang="fr-EG" sz="2500" b="1"/>
              <a:t>Can Do to Help (cont.)</a:t>
            </a:r>
          </a:p>
        </p:txBody>
      </p:sp>
      <p:grpSp>
        <p:nvGrpSpPr>
          <p:cNvPr id="138" name="Group 137">
            <a:extLst>
              <a:ext uri="{FF2B5EF4-FFF2-40B4-BE49-F238E27FC236}">
                <a16:creationId xmlns:a16="http://schemas.microsoft.com/office/drawing/2014/main" id="{770AE191-D2EA-45C9-A44D-830C188F74C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72021" y="518649"/>
            <a:ext cx="1128382" cy="847206"/>
            <a:chOff x="8183879" y="1000124"/>
            <a:chExt cx="1562267" cy="1172973"/>
          </a:xfrm>
        </p:grpSpPr>
        <p:sp>
          <p:nvSpPr>
            <p:cNvPr id="139" name="Freeform 5">
              <a:extLst>
                <a:ext uri="{FF2B5EF4-FFF2-40B4-BE49-F238E27FC236}">
                  <a16:creationId xmlns:a16="http://schemas.microsoft.com/office/drawing/2014/main" id="{23A0E4C1-B7A6-4637-AC51-4A5AE3841FF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8183879" y="1348782"/>
              <a:ext cx="935037" cy="824315"/>
            </a:xfrm>
            <a:custGeom>
              <a:avLst/>
              <a:gdLst>
                <a:gd name="T0" fmla="*/ 225 w 785"/>
                <a:gd name="T1" fmla="*/ 692 h 692"/>
                <a:gd name="T2" fmla="*/ 177 w 785"/>
                <a:gd name="T3" fmla="*/ 665 h 692"/>
                <a:gd name="T4" fmla="*/ 9 w 785"/>
                <a:gd name="T5" fmla="*/ 374 h 692"/>
                <a:gd name="T6" fmla="*/ 9 w 785"/>
                <a:gd name="T7" fmla="*/ 318 h 692"/>
                <a:gd name="T8" fmla="*/ 177 w 785"/>
                <a:gd name="T9" fmla="*/ 27 h 692"/>
                <a:gd name="T10" fmla="*/ 225 w 785"/>
                <a:gd name="T11" fmla="*/ 0 h 692"/>
                <a:gd name="T12" fmla="*/ 561 w 785"/>
                <a:gd name="T13" fmla="*/ 0 h 692"/>
                <a:gd name="T14" fmla="*/ 609 w 785"/>
                <a:gd name="T15" fmla="*/ 27 h 692"/>
                <a:gd name="T16" fmla="*/ 777 w 785"/>
                <a:gd name="T17" fmla="*/ 318 h 692"/>
                <a:gd name="T18" fmla="*/ 777 w 785"/>
                <a:gd name="T19" fmla="*/ 374 h 692"/>
                <a:gd name="T20" fmla="*/ 609 w 785"/>
                <a:gd name="T21" fmla="*/ 665 h 692"/>
                <a:gd name="T22" fmla="*/ 561 w 785"/>
                <a:gd name="T23" fmla="*/ 692 h 692"/>
                <a:gd name="T24" fmla="*/ 225 w 785"/>
                <a:gd name="T25" fmla="*/ 692 h 6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5" h="692">
                  <a:moveTo>
                    <a:pt x="225" y="692"/>
                  </a:moveTo>
                  <a:cubicBezTo>
                    <a:pt x="207" y="692"/>
                    <a:pt x="185" y="680"/>
                    <a:pt x="177" y="665"/>
                  </a:cubicBezTo>
                  <a:cubicBezTo>
                    <a:pt x="9" y="374"/>
                    <a:pt x="9" y="374"/>
                    <a:pt x="9" y="374"/>
                  </a:cubicBezTo>
                  <a:cubicBezTo>
                    <a:pt x="0" y="358"/>
                    <a:pt x="0" y="334"/>
                    <a:pt x="9" y="318"/>
                  </a:cubicBezTo>
                  <a:cubicBezTo>
                    <a:pt x="177" y="27"/>
                    <a:pt x="177" y="27"/>
                    <a:pt x="177" y="27"/>
                  </a:cubicBezTo>
                  <a:cubicBezTo>
                    <a:pt x="185" y="12"/>
                    <a:pt x="207" y="0"/>
                    <a:pt x="225" y="0"/>
                  </a:cubicBezTo>
                  <a:cubicBezTo>
                    <a:pt x="561" y="0"/>
                    <a:pt x="561" y="0"/>
                    <a:pt x="561" y="0"/>
                  </a:cubicBezTo>
                  <a:cubicBezTo>
                    <a:pt x="578" y="0"/>
                    <a:pt x="600" y="12"/>
                    <a:pt x="609" y="27"/>
                  </a:cubicBezTo>
                  <a:cubicBezTo>
                    <a:pt x="777" y="318"/>
                    <a:pt x="777" y="318"/>
                    <a:pt x="777" y="318"/>
                  </a:cubicBezTo>
                  <a:cubicBezTo>
                    <a:pt x="785" y="334"/>
                    <a:pt x="785" y="358"/>
                    <a:pt x="777" y="374"/>
                  </a:cubicBezTo>
                  <a:cubicBezTo>
                    <a:pt x="609" y="665"/>
                    <a:pt x="609" y="665"/>
                    <a:pt x="609" y="665"/>
                  </a:cubicBezTo>
                  <a:cubicBezTo>
                    <a:pt x="600" y="680"/>
                    <a:pt x="578" y="692"/>
                    <a:pt x="561" y="692"/>
                  </a:cubicBezTo>
                  <a:lnTo>
                    <a:pt x="225" y="692"/>
                  </a:lnTo>
                  <a:close/>
                </a:path>
              </a:pathLst>
            </a:custGeom>
            <a:noFill/>
            <a:ln w="28575" cmpd="sng">
              <a:solidFill>
                <a:schemeClr val="tx1"/>
              </a:solidFill>
            </a:ln>
          </p:spPr>
          <p:txBody>
            <a:bodyPr vert="horz" wrap="square" lIns="91440" tIns="45720" rIns="91440" bIns="45720" numCol="1" anchor="t" anchorCtr="0" compatLnSpc="1">
              <a:prstTxWarp prst="textNoShape">
                <a:avLst/>
              </a:prstTxWarp>
            </a:bodyPr>
            <a:lstStyle/>
            <a:p>
              <a:endParaRPr lang="en-US"/>
            </a:p>
          </p:txBody>
        </p:sp>
        <p:sp>
          <p:nvSpPr>
            <p:cNvPr id="140" name="Freeform 5">
              <a:extLst>
                <a:ext uri="{FF2B5EF4-FFF2-40B4-BE49-F238E27FC236}">
                  <a16:creationId xmlns:a16="http://schemas.microsoft.com/office/drawing/2014/main" id="{F4E8C039-CC58-44F3-8A7B-E0A934C1D01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8983979" y="1000124"/>
              <a:ext cx="762167" cy="671915"/>
            </a:xfrm>
            <a:custGeom>
              <a:avLst/>
              <a:gdLst>
                <a:gd name="T0" fmla="*/ 225 w 785"/>
                <a:gd name="T1" fmla="*/ 692 h 692"/>
                <a:gd name="T2" fmla="*/ 177 w 785"/>
                <a:gd name="T3" fmla="*/ 665 h 692"/>
                <a:gd name="T4" fmla="*/ 9 w 785"/>
                <a:gd name="T5" fmla="*/ 374 h 692"/>
                <a:gd name="T6" fmla="*/ 9 w 785"/>
                <a:gd name="T7" fmla="*/ 318 h 692"/>
                <a:gd name="T8" fmla="*/ 177 w 785"/>
                <a:gd name="T9" fmla="*/ 27 h 692"/>
                <a:gd name="T10" fmla="*/ 225 w 785"/>
                <a:gd name="T11" fmla="*/ 0 h 692"/>
                <a:gd name="T12" fmla="*/ 561 w 785"/>
                <a:gd name="T13" fmla="*/ 0 h 692"/>
                <a:gd name="T14" fmla="*/ 609 w 785"/>
                <a:gd name="T15" fmla="*/ 27 h 692"/>
                <a:gd name="T16" fmla="*/ 777 w 785"/>
                <a:gd name="T17" fmla="*/ 318 h 692"/>
                <a:gd name="T18" fmla="*/ 777 w 785"/>
                <a:gd name="T19" fmla="*/ 374 h 692"/>
                <a:gd name="T20" fmla="*/ 609 w 785"/>
                <a:gd name="T21" fmla="*/ 665 h 692"/>
                <a:gd name="T22" fmla="*/ 561 w 785"/>
                <a:gd name="T23" fmla="*/ 692 h 692"/>
                <a:gd name="T24" fmla="*/ 225 w 785"/>
                <a:gd name="T25" fmla="*/ 692 h 6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5" h="692">
                  <a:moveTo>
                    <a:pt x="225" y="692"/>
                  </a:moveTo>
                  <a:cubicBezTo>
                    <a:pt x="207" y="692"/>
                    <a:pt x="185" y="680"/>
                    <a:pt x="177" y="665"/>
                  </a:cubicBezTo>
                  <a:cubicBezTo>
                    <a:pt x="9" y="374"/>
                    <a:pt x="9" y="374"/>
                    <a:pt x="9" y="374"/>
                  </a:cubicBezTo>
                  <a:cubicBezTo>
                    <a:pt x="0" y="358"/>
                    <a:pt x="0" y="334"/>
                    <a:pt x="9" y="318"/>
                  </a:cubicBezTo>
                  <a:cubicBezTo>
                    <a:pt x="177" y="27"/>
                    <a:pt x="177" y="27"/>
                    <a:pt x="177" y="27"/>
                  </a:cubicBezTo>
                  <a:cubicBezTo>
                    <a:pt x="185" y="12"/>
                    <a:pt x="207" y="0"/>
                    <a:pt x="225" y="0"/>
                  </a:cubicBezTo>
                  <a:cubicBezTo>
                    <a:pt x="561" y="0"/>
                    <a:pt x="561" y="0"/>
                    <a:pt x="561" y="0"/>
                  </a:cubicBezTo>
                  <a:cubicBezTo>
                    <a:pt x="578" y="0"/>
                    <a:pt x="600" y="12"/>
                    <a:pt x="609" y="27"/>
                  </a:cubicBezTo>
                  <a:cubicBezTo>
                    <a:pt x="777" y="318"/>
                    <a:pt x="777" y="318"/>
                    <a:pt x="777" y="318"/>
                  </a:cubicBezTo>
                  <a:cubicBezTo>
                    <a:pt x="785" y="334"/>
                    <a:pt x="785" y="358"/>
                    <a:pt x="777" y="374"/>
                  </a:cubicBezTo>
                  <a:cubicBezTo>
                    <a:pt x="609" y="665"/>
                    <a:pt x="609" y="665"/>
                    <a:pt x="609" y="665"/>
                  </a:cubicBezTo>
                  <a:cubicBezTo>
                    <a:pt x="600" y="680"/>
                    <a:pt x="578" y="692"/>
                    <a:pt x="561" y="692"/>
                  </a:cubicBezTo>
                  <a:lnTo>
                    <a:pt x="225" y="692"/>
                  </a:lnTo>
                  <a:close/>
                </a:path>
              </a:pathLst>
            </a:custGeom>
            <a:noFill/>
            <a:ln w="28575" cmpd="sng">
              <a:solidFill>
                <a:schemeClr val="tx1"/>
              </a:solidFill>
            </a:ln>
          </p:spPr>
          <p:txBody>
            <a:bodyPr vert="horz" wrap="square" lIns="91440" tIns="45720" rIns="91440" bIns="45720" numCol="1" anchor="t" anchorCtr="0" compatLnSpc="1">
              <a:prstTxWarp prst="textNoShape">
                <a:avLst/>
              </a:prstTxWarp>
            </a:bodyPr>
            <a:lstStyle/>
            <a:p>
              <a:endParaRPr lang="en-US"/>
            </a:p>
          </p:txBody>
        </p:sp>
      </p:grpSp>
      <p:sp>
        <p:nvSpPr>
          <p:cNvPr id="46082" name="Rectangle 20">
            <a:extLst>
              <a:ext uri="{FF2B5EF4-FFF2-40B4-BE49-F238E27FC236}">
                <a16:creationId xmlns:a16="http://schemas.microsoft.com/office/drawing/2014/main" id="{8652AC51-B065-0E4D-A87C-930785167FD3}"/>
              </a:ext>
            </a:extLst>
          </p:cNvPr>
          <p:cNvSpPr>
            <a:spLocks noGrp="1" noChangeArrowheads="1"/>
          </p:cNvSpPr>
          <p:nvPr>
            <p:ph type="body" sz="half" idx="1"/>
          </p:nvPr>
        </p:nvSpPr>
        <p:spPr>
          <a:xfrm>
            <a:off x="1000450" y="3067026"/>
            <a:ext cx="3058623" cy="3272324"/>
          </a:xfrm>
        </p:spPr>
        <p:txBody>
          <a:bodyPr vert="horz" lIns="91440" tIns="45720" rIns="91440" bIns="45720" rtlCol="0" anchor="t">
            <a:normAutofit/>
          </a:bodyPr>
          <a:lstStyle/>
          <a:p>
            <a:pPr lvl="1">
              <a:spcBef>
                <a:spcPct val="30000"/>
              </a:spcBef>
            </a:pPr>
            <a:r>
              <a:rPr lang="en-US" altLang="fr-EG" sz="2000"/>
              <a:t>Support victims</a:t>
            </a:r>
          </a:p>
          <a:p>
            <a:pPr lvl="1">
              <a:spcBef>
                <a:spcPct val="30000"/>
              </a:spcBef>
            </a:pPr>
            <a:r>
              <a:rPr lang="en-US" altLang="fr-EG" sz="2000"/>
              <a:t>Cooperate with investigations</a:t>
            </a:r>
          </a:p>
          <a:p>
            <a:pPr marL="0"/>
            <a:endParaRPr lang="en-US" altLang="fr-EG" sz="2000"/>
          </a:p>
          <a:p>
            <a:pPr marL="0"/>
            <a:endParaRPr lang="en-US" altLang="fr-EG" sz="2000"/>
          </a:p>
        </p:txBody>
      </p:sp>
      <p:pic>
        <p:nvPicPr>
          <p:cNvPr id="46083" name="Picture 25" descr="discipline interview concern IS824-052">
            <a:extLst>
              <a:ext uri="{FF2B5EF4-FFF2-40B4-BE49-F238E27FC236}">
                <a16:creationId xmlns:a16="http://schemas.microsoft.com/office/drawing/2014/main" id="{E31C4FAB-BD17-F44A-842E-E270BC8A1301}"/>
              </a:ext>
            </a:extLst>
          </p:cNvPr>
          <p:cNvPicPr>
            <a:picLocks noGrp="1" noChangeAspect="1" noChangeArrowheads="1"/>
          </p:cNvPicPr>
          <p:nvPr>
            <p:ph sz="half" idx="2"/>
          </p:nvPr>
        </p:nvPicPr>
        <p:blipFill rotWithShape="1">
          <a:blip r:embed="rId3">
            <a:extLst>
              <a:ext uri="{28A0092B-C50C-407E-A947-70E740481C1C}">
                <a14:useLocalDpi xmlns:a14="http://schemas.microsoft.com/office/drawing/2010/main" val="0"/>
              </a:ext>
            </a:extLst>
          </a:blip>
          <a:srcRect t="18311" r="1" b="11114"/>
          <a:stretch/>
        </p:blipFill>
        <p:spPr>
          <a:xfrm>
            <a:off x="4636963" y="10"/>
            <a:ext cx="7555037" cy="6857990"/>
          </a:xfrm>
          <a:prstGeom prst="rect">
            <a:avLst/>
          </a:prstGeom>
        </p:spPr>
      </p:pic>
    </p:spTree>
    <p:extLst>
      <p:ext uri="{BB962C8B-B14F-4D97-AF65-F5344CB8AC3E}">
        <p14:creationId xmlns:p14="http://schemas.microsoft.com/office/powerpoint/2010/main" val="114728200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 name="Freeform: Shape 70">
            <a:extLst>
              <a:ext uri="{FF2B5EF4-FFF2-40B4-BE49-F238E27FC236}">
                <a16:creationId xmlns:a16="http://schemas.microsoft.com/office/drawing/2014/main" id="{F60FCA6E-0894-46CD-BD49-5955A51E00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31955" y="5346696"/>
            <a:ext cx="5360045" cy="1511304"/>
          </a:xfrm>
          <a:custGeom>
            <a:avLst/>
            <a:gdLst>
              <a:gd name="connsiteX0" fmla="*/ 4545473 w 5360045"/>
              <a:gd name="connsiteY0" fmla="*/ 0 h 1511304"/>
              <a:gd name="connsiteX1" fmla="*/ 5360045 w 5360045"/>
              <a:gd name="connsiteY1" fmla="*/ 0 h 1511304"/>
              <a:gd name="connsiteX2" fmla="*/ 5360045 w 5360045"/>
              <a:gd name="connsiteY2" fmla="*/ 1046730 h 1511304"/>
              <a:gd name="connsiteX3" fmla="*/ 5360045 w 5360045"/>
              <a:gd name="connsiteY3" fmla="*/ 1508760 h 1511304"/>
              <a:gd name="connsiteX4" fmla="*/ 5360045 w 5360045"/>
              <a:gd name="connsiteY4" fmla="*/ 1511304 h 1511304"/>
              <a:gd name="connsiteX5" fmla="*/ 4545474 w 5360045"/>
              <a:gd name="connsiteY5" fmla="*/ 1511304 h 1511304"/>
              <a:gd name="connsiteX6" fmla="*/ 2525897 w 5360045"/>
              <a:gd name="connsiteY6" fmla="*/ 1511304 h 1511304"/>
              <a:gd name="connsiteX7" fmla="*/ 0 w 5360045"/>
              <a:gd name="connsiteY7" fmla="*/ 1511304 h 1511304"/>
              <a:gd name="connsiteX8" fmla="*/ 697617 w 5360045"/>
              <a:gd name="connsiteY8" fmla="*/ 3 h 1511304"/>
              <a:gd name="connsiteX9" fmla="*/ 4545473 w 5360045"/>
              <a:gd name="connsiteY9" fmla="*/ 3 h 1511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360045" h="1511304">
                <a:moveTo>
                  <a:pt x="4545473" y="0"/>
                </a:moveTo>
                <a:lnTo>
                  <a:pt x="5360045" y="0"/>
                </a:lnTo>
                <a:lnTo>
                  <a:pt x="5360045" y="1046730"/>
                </a:lnTo>
                <a:lnTo>
                  <a:pt x="5360045" y="1508760"/>
                </a:lnTo>
                <a:lnTo>
                  <a:pt x="5360045" y="1511304"/>
                </a:lnTo>
                <a:lnTo>
                  <a:pt x="4545474" y="1511304"/>
                </a:lnTo>
                <a:lnTo>
                  <a:pt x="2525897" y="1511304"/>
                </a:lnTo>
                <a:lnTo>
                  <a:pt x="0" y="1511304"/>
                </a:lnTo>
                <a:lnTo>
                  <a:pt x="697617" y="3"/>
                </a:lnTo>
                <a:lnTo>
                  <a:pt x="4545473" y="3"/>
                </a:lnTo>
                <a:close/>
              </a:path>
            </a:pathLst>
          </a:custGeom>
          <a:solidFill>
            <a:srgbClr val="404040">
              <a:alpha val="8470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3" name="Freeform: Shape 72">
            <a:extLst>
              <a:ext uri="{FF2B5EF4-FFF2-40B4-BE49-F238E27FC236}">
                <a16:creationId xmlns:a16="http://schemas.microsoft.com/office/drawing/2014/main" id="{E78C6E4B-A1F1-4B6C-97EC-BE997495D6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346694"/>
            <a:ext cx="7346605" cy="1511306"/>
          </a:xfrm>
          <a:custGeom>
            <a:avLst/>
            <a:gdLst>
              <a:gd name="connsiteX0" fmla="*/ 0 w 7346605"/>
              <a:gd name="connsiteY0" fmla="*/ 0 h 1511306"/>
              <a:gd name="connsiteX1" fmla="*/ 239486 w 7346605"/>
              <a:gd name="connsiteY1" fmla="*/ 0 h 1511306"/>
              <a:gd name="connsiteX2" fmla="*/ 1209568 w 7346605"/>
              <a:gd name="connsiteY2" fmla="*/ 0 h 1511306"/>
              <a:gd name="connsiteX3" fmla="*/ 2405743 w 7346605"/>
              <a:gd name="connsiteY3" fmla="*/ 0 h 1511306"/>
              <a:gd name="connsiteX4" fmla="*/ 2405743 w 7346605"/>
              <a:gd name="connsiteY4" fmla="*/ 2544 h 1511306"/>
              <a:gd name="connsiteX5" fmla="*/ 2801131 w 7346605"/>
              <a:gd name="connsiteY5" fmla="*/ 2544 h 1511306"/>
              <a:gd name="connsiteX6" fmla="*/ 2801131 w 7346605"/>
              <a:gd name="connsiteY6" fmla="*/ 0 h 1511306"/>
              <a:gd name="connsiteX7" fmla="*/ 7346605 w 7346605"/>
              <a:gd name="connsiteY7" fmla="*/ 0 h 1511306"/>
              <a:gd name="connsiteX8" fmla="*/ 6648988 w 7346605"/>
              <a:gd name="connsiteY8" fmla="*/ 1511301 h 1511306"/>
              <a:gd name="connsiteX9" fmla="*/ 2801132 w 7346605"/>
              <a:gd name="connsiteY9" fmla="*/ 1511301 h 1511306"/>
              <a:gd name="connsiteX10" fmla="*/ 2801132 w 7346605"/>
              <a:gd name="connsiteY10" fmla="*/ 1511304 h 1511306"/>
              <a:gd name="connsiteX11" fmla="*/ 2405743 w 7346605"/>
              <a:gd name="connsiteY11" fmla="*/ 1511304 h 1511306"/>
              <a:gd name="connsiteX12" fmla="*/ 2405743 w 7346605"/>
              <a:gd name="connsiteY12" fmla="*/ 1511306 h 1511306"/>
              <a:gd name="connsiteX13" fmla="*/ 1333411 w 7346605"/>
              <a:gd name="connsiteY13" fmla="*/ 1511306 h 1511306"/>
              <a:gd name="connsiteX14" fmla="*/ 1219208 w 7346605"/>
              <a:gd name="connsiteY14" fmla="*/ 1511306 h 1511306"/>
              <a:gd name="connsiteX15" fmla="*/ 1209568 w 7346605"/>
              <a:gd name="connsiteY15" fmla="*/ 1511306 h 1511306"/>
              <a:gd name="connsiteX16" fmla="*/ 239486 w 7346605"/>
              <a:gd name="connsiteY16" fmla="*/ 1511306 h 1511306"/>
              <a:gd name="connsiteX17" fmla="*/ 0 w 7346605"/>
              <a:gd name="connsiteY17" fmla="*/ 1511306 h 15113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346605" h="1511306">
                <a:moveTo>
                  <a:pt x="0" y="0"/>
                </a:moveTo>
                <a:lnTo>
                  <a:pt x="239486" y="0"/>
                </a:lnTo>
                <a:lnTo>
                  <a:pt x="1209568" y="0"/>
                </a:lnTo>
                <a:lnTo>
                  <a:pt x="2405743" y="0"/>
                </a:lnTo>
                <a:lnTo>
                  <a:pt x="2405743" y="2544"/>
                </a:lnTo>
                <a:lnTo>
                  <a:pt x="2801131" y="2544"/>
                </a:lnTo>
                <a:lnTo>
                  <a:pt x="2801131" y="0"/>
                </a:lnTo>
                <a:lnTo>
                  <a:pt x="7346605" y="0"/>
                </a:lnTo>
                <a:lnTo>
                  <a:pt x="6648988" y="1511301"/>
                </a:lnTo>
                <a:lnTo>
                  <a:pt x="2801132" y="1511301"/>
                </a:lnTo>
                <a:lnTo>
                  <a:pt x="2801132" y="1511304"/>
                </a:lnTo>
                <a:lnTo>
                  <a:pt x="2405743" y="1511304"/>
                </a:lnTo>
                <a:lnTo>
                  <a:pt x="2405743" y="1511306"/>
                </a:lnTo>
                <a:lnTo>
                  <a:pt x="1333411" y="1511306"/>
                </a:lnTo>
                <a:lnTo>
                  <a:pt x="1219208" y="1511306"/>
                </a:lnTo>
                <a:lnTo>
                  <a:pt x="1209568" y="1511306"/>
                </a:lnTo>
                <a:lnTo>
                  <a:pt x="239486" y="1511306"/>
                </a:lnTo>
                <a:lnTo>
                  <a:pt x="0" y="1511306"/>
                </a:lnTo>
                <a:close/>
              </a:path>
            </a:pathLst>
          </a:custGeom>
          <a:solidFill>
            <a:srgbClr val="D0CE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lumMod val="95000"/>
                </a:schemeClr>
              </a:solidFill>
            </a:endParaRPr>
          </a:p>
        </p:txBody>
      </p:sp>
      <p:pic>
        <p:nvPicPr>
          <p:cNvPr id="48130" name="Picture 20" descr="KEY-POINTS-TO-REMEMBER-ICON3">
            <a:extLst>
              <a:ext uri="{FF2B5EF4-FFF2-40B4-BE49-F238E27FC236}">
                <a16:creationId xmlns:a16="http://schemas.microsoft.com/office/drawing/2014/main" id="{120995A2-4ACD-D948-9D36-C10222FCADFE}"/>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841247" y="2324490"/>
            <a:ext cx="6049942" cy="1270486"/>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129" name="Rectangle 18">
            <a:extLst>
              <a:ext uri="{FF2B5EF4-FFF2-40B4-BE49-F238E27FC236}">
                <a16:creationId xmlns:a16="http://schemas.microsoft.com/office/drawing/2014/main" id="{9F640F0F-84B8-324B-9D7E-88257F39059E}"/>
              </a:ext>
            </a:extLst>
          </p:cNvPr>
          <p:cNvSpPr>
            <a:spLocks noGrp="1" noChangeArrowheads="1"/>
          </p:cNvSpPr>
          <p:nvPr>
            <p:ph idx="1"/>
          </p:nvPr>
        </p:nvSpPr>
        <p:spPr>
          <a:xfrm>
            <a:off x="7534655" y="965199"/>
            <a:ext cx="4008101" cy="4020458"/>
          </a:xfrm>
        </p:spPr>
        <p:txBody>
          <a:bodyPr anchor="ctr">
            <a:normAutofit/>
          </a:bodyPr>
          <a:lstStyle/>
          <a:p>
            <a:pPr lvl="1">
              <a:spcBef>
                <a:spcPct val="27000"/>
              </a:spcBef>
              <a:buFont typeface="Wingdings" pitchFamily="2" charset="2"/>
              <a:buChar char="§"/>
            </a:pPr>
            <a:r>
              <a:rPr lang="en-US" altLang="fr-EG" sz="2000" i="0"/>
              <a:t>Sexual harassment is prohibited by law </a:t>
            </a:r>
            <a:br>
              <a:rPr lang="en-US" altLang="fr-EG" sz="2000" i="0"/>
            </a:br>
            <a:r>
              <a:rPr lang="en-US" altLang="fr-EG" sz="2000" i="0"/>
              <a:t>and workplace policy</a:t>
            </a:r>
          </a:p>
          <a:p>
            <a:pPr lvl="1">
              <a:spcBef>
                <a:spcPct val="27000"/>
              </a:spcBef>
              <a:buFont typeface="Wingdings" pitchFamily="2" charset="2"/>
              <a:buChar char="§"/>
            </a:pPr>
            <a:r>
              <a:rPr lang="en-US" altLang="fr-EG" sz="2000" i="0"/>
              <a:t>It involves more than physical conduct; it can also be verbal or visual</a:t>
            </a:r>
          </a:p>
          <a:p>
            <a:pPr lvl="1">
              <a:spcBef>
                <a:spcPct val="27000"/>
              </a:spcBef>
              <a:buFont typeface="Wingdings" pitchFamily="2" charset="2"/>
              <a:buChar char="§"/>
            </a:pPr>
            <a:r>
              <a:rPr lang="en-US" altLang="fr-EG" sz="2000" i="0"/>
              <a:t>Sexual harassment harms us all</a:t>
            </a:r>
          </a:p>
          <a:p>
            <a:pPr lvl="1">
              <a:spcBef>
                <a:spcPct val="27000"/>
              </a:spcBef>
              <a:buFont typeface="Wingdings" pitchFamily="2" charset="2"/>
              <a:buChar char="§"/>
            </a:pPr>
            <a:r>
              <a:rPr lang="en-US" altLang="fr-EG" sz="2000" i="0"/>
              <a:t>You have the power to help prevent it</a:t>
            </a:r>
          </a:p>
          <a:p>
            <a:pPr marL="0" indent="0">
              <a:buNone/>
            </a:pPr>
            <a:endParaRPr lang="en-US" altLang="fr-EG" sz="2000"/>
          </a:p>
        </p:txBody>
      </p:sp>
    </p:spTree>
    <p:extLst>
      <p:ext uri="{BB962C8B-B14F-4D97-AF65-F5344CB8AC3E}">
        <p14:creationId xmlns:p14="http://schemas.microsoft.com/office/powerpoint/2010/main" val="466815099"/>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206C8355D678A459F2EF8957171B231" ma:contentTypeVersion="12" ma:contentTypeDescription="Create a new document." ma:contentTypeScope="" ma:versionID="b9b9115c0a7ba5ac1a4f71ca19fa2a6b">
  <xsd:schema xmlns:xsd="http://www.w3.org/2001/XMLSchema" xmlns:xs="http://www.w3.org/2001/XMLSchema" xmlns:p="http://schemas.microsoft.com/office/2006/metadata/properties" xmlns:ns2="f2466082-b6bf-4153-98c3-3c41e85fda18" xmlns:ns3="dc808d36-874f-4b27-aec2-2fd649817929" targetNamespace="http://schemas.microsoft.com/office/2006/metadata/properties" ma:root="true" ma:fieldsID="3ee5f6545d17dbae8f4c99dcf00b8be7" ns2:_="" ns3:_="">
    <xsd:import namespace="f2466082-b6bf-4153-98c3-3c41e85fda18"/>
    <xsd:import namespace="dc808d36-874f-4b27-aec2-2fd649817929"/>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3:SharedWithUsers" minOccurs="0"/>
                <xsd:element ref="ns3:SharedWithDetails"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2466082-b6bf-4153-98c3-3c41e85fda1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9"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dc808d36-874f-4b27-aec2-2fd649817929"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27E84501-5EDE-4876-B36F-043D923B6697}"/>
</file>

<file path=customXml/itemProps2.xml><?xml version="1.0" encoding="utf-8"?>
<ds:datastoreItem xmlns:ds="http://schemas.openxmlformats.org/officeDocument/2006/customXml" ds:itemID="{7BD854F7-82F5-423E-8EB4-CAFDF3069AA1}"/>
</file>

<file path=customXml/itemProps3.xml><?xml version="1.0" encoding="utf-8"?>
<ds:datastoreItem xmlns:ds="http://schemas.openxmlformats.org/officeDocument/2006/customXml" ds:itemID="{01480372-8EA7-4A1E-BDBB-1B67E76EF5F1}"/>
</file>

<file path=docProps/app.xml><?xml version="1.0" encoding="utf-8"?>
<Properties xmlns="http://schemas.openxmlformats.org/officeDocument/2006/extended-properties" xmlns:vt="http://schemas.openxmlformats.org/officeDocument/2006/docPropsVTypes">
  <TotalTime>0</TotalTime>
  <Words>3289</Words>
  <Application>Microsoft Macintosh PowerPoint</Application>
  <PresentationFormat>Grand écran</PresentationFormat>
  <Paragraphs>228</Paragraphs>
  <Slides>22</Slides>
  <Notes>21</Notes>
  <HiddenSlides>0</HiddenSlides>
  <MMClips>0</MMClips>
  <ScaleCrop>false</ScaleCrop>
  <HeadingPairs>
    <vt:vector size="6" baseType="variant">
      <vt:variant>
        <vt:lpstr>Polices utilisées</vt:lpstr>
      </vt:variant>
      <vt:variant>
        <vt:i4>8</vt:i4>
      </vt:variant>
      <vt:variant>
        <vt:lpstr>Thème</vt:lpstr>
      </vt:variant>
      <vt:variant>
        <vt:i4>1</vt:i4>
      </vt:variant>
      <vt:variant>
        <vt:lpstr>Titres des diapositives</vt:lpstr>
      </vt:variant>
      <vt:variant>
        <vt:i4>22</vt:i4>
      </vt:variant>
    </vt:vector>
  </HeadingPairs>
  <TitlesOfParts>
    <vt:vector size="31" baseType="lpstr">
      <vt:lpstr>Arial</vt:lpstr>
      <vt:lpstr>Calibri</vt:lpstr>
      <vt:lpstr>Calibri Light</vt:lpstr>
      <vt:lpstr>Garamond</vt:lpstr>
      <vt:lpstr>Symbol</vt:lpstr>
      <vt:lpstr>Times</vt:lpstr>
      <vt:lpstr>Times New Roman</vt:lpstr>
      <vt:lpstr>Wingdings</vt:lpstr>
      <vt:lpstr>Thème Office</vt:lpstr>
      <vt:lpstr>Présentation PowerPoint</vt:lpstr>
      <vt:lpstr>SESSION OBJECTIVES</vt:lpstr>
      <vt:lpstr>SESSION OUTLINE</vt:lpstr>
      <vt:lpstr>WHY YOU NEED TO KNOW</vt:lpstr>
      <vt:lpstr>HOW WIDESPREAD IS SEXUAL HARASSMENT</vt:lpstr>
      <vt:lpstr>HARASSMENT AND THE LAW</vt:lpstr>
      <vt:lpstr>HARASSMENT AND THE LAW (cont.)</vt:lpstr>
      <vt:lpstr>IS THIS SEXUAL HARASSMENT?</vt:lpstr>
      <vt:lpstr>IS THIS SEXUAL HARASSMENT? (cont.)</vt:lpstr>
      <vt:lpstr>IS THIS SEXUAL HARASSMENT? (cont.)</vt:lpstr>
      <vt:lpstr>ECONOMIC HARASSMENT</vt:lpstr>
      <vt:lpstr>HOSTILE WORK ENVIRONMENT</vt:lpstr>
      <vt:lpstr>HOSTILE WORK ENVIRONMENT (cont.)</vt:lpstr>
      <vt:lpstr>ECONOMIC HARASSMENT OR HOSTILE WORK ENVIRONMENT?</vt:lpstr>
      <vt:lpstr>Economic Harassment or Hostile Work Environment? (cont.)</vt:lpstr>
      <vt:lpstr>WHO IS AFFECTED?</vt:lpstr>
      <vt:lpstr>WHO IS AFFECTED? (cont.)</vt:lpstr>
      <vt:lpstr>SEXUAL HARASSMENT</vt:lpstr>
      <vt:lpstr>PREVENTION: What We Can All Do To Help</vt:lpstr>
      <vt:lpstr>PREVENTION: What You Can Do</vt:lpstr>
      <vt:lpstr>PREVENTION: What You  Can Do to Help (cont.)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Yewande Maraiyesa</dc:creator>
  <cp:lastModifiedBy>Yewande Maraiyesa</cp:lastModifiedBy>
  <cp:revision>1</cp:revision>
  <dcterms:created xsi:type="dcterms:W3CDTF">2020-06-16T16:00:14Z</dcterms:created>
  <dcterms:modified xsi:type="dcterms:W3CDTF">2020-06-16T16:00:20Z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0x0101003206C8355D678A459F2EF8957171B231</vt:lpwstr>
  </property>
</Properties>
</file>