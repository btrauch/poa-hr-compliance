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0.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3.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4.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5.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9.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20.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21.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22.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23.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24.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sldIdLst>
    <p:sldId id="267" r:id="rId5"/>
    <p:sldId id="268" r:id="rId6"/>
    <p:sldId id="304" r:id="rId7"/>
    <p:sldId id="286" r:id="rId8"/>
    <p:sldId id="295" r:id="rId9"/>
    <p:sldId id="293" r:id="rId10"/>
    <p:sldId id="284" r:id="rId11"/>
    <p:sldId id="292" r:id="rId12"/>
    <p:sldId id="303" r:id="rId13"/>
    <p:sldId id="298" r:id="rId14"/>
    <p:sldId id="299" r:id="rId15"/>
    <p:sldId id="306" r:id="rId16"/>
    <p:sldId id="307" r:id="rId17"/>
    <p:sldId id="308" r:id="rId18"/>
    <p:sldId id="309" r:id="rId19"/>
    <p:sldId id="310" r:id="rId20"/>
    <p:sldId id="311" r:id="rId21"/>
    <p:sldId id="312" r:id="rId22"/>
    <p:sldId id="313" r:id="rId23"/>
    <p:sldId id="346"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7" r:id="rId53"/>
    <p:sldId id="305" r:id="rId5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67B9CF"/>
    <a:srgbClr val="C86664"/>
    <a:srgbClr val="658E22"/>
    <a:srgbClr val="214F87"/>
    <a:srgbClr val="D2A000"/>
    <a:srgbClr val="EAB200"/>
    <a:srgbClr val="696969"/>
    <a:srgbClr val="3E6CA4"/>
    <a:srgbClr val="4478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44A79-D97D-446A-B499-B7E9DC08ADD2}" v="1" dt="2020-02-18T17:16:18.874"/>
    <p1510:client id="{512EE613-C6E4-10A9-240A-EEF32F53440F}" v="16" dt="2020-02-18T15:23:30.421"/>
    <p1510:client id="{8D796942-9284-44F3-81F2-561931D84ACA}" v="5" dt="2020-02-18T19:57:33.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754" y="-19"/>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cPhail" userId="S::jmcphail@partners.net::d9640ad9-0be2-4377-a498-4127ac76f093" providerId="AD" clId="Web-{512EE613-C6E4-10A9-240A-EEF32F53440F}"/>
    <pc:docChg chg="modSld">
      <pc:chgData name="John McPhail" userId="S::jmcphail@partners.net::d9640ad9-0be2-4377-a498-4127ac76f093" providerId="AD" clId="Web-{512EE613-C6E4-10A9-240A-EEF32F53440F}" dt="2020-02-18T15:23:30.421" v="12" actId="20577"/>
      <pc:docMkLst>
        <pc:docMk/>
      </pc:docMkLst>
      <pc:sldChg chg="modSp">
        <pc:chgData name="John McPhail" userId="S::jmcphail@partners.net::d9640ad9-0be2-4377-a498-4127ac76f093" providerId="AD" clId="Web-{512EE613-C6E4-10A9-240A-EEF32F53440F}" dt="2020-02-18T15:04:01.674" v="0" actId="1076"/>
        <pc:sldMkLst>
          <pc:docMk/>
          <pc:sldMk cId="2950975700" sldId="267"/>
        </pc:sldMkLst>
        <pc:spChg chg="mod">
          <ac:chgData name="John McPhail" userId="S::jmcphail@partners.net::d9640ad9-0be2-4377-a498-4127ac76f093" providerId="AD" clId="Web-{512EE613-C6E4-10A9-240A-EEF32F53440F}" dt="2020-02-18T15:04:01.674" v="0" actId="1076"/>
          <ac:spMkLst>
            <pc:docMk/>
            <pc:sldMk cId="2950975700" sldId="267"/>
            <ac:spMk id="4" creationId="{00000000-0000-0000-0000-000000000000}"/>
          </ac:spMkLst>
        </pc:spChg>
      </pc:sldChg>
      <pc:sldChg chg="modSp">
        <pc:chgData name="John McPhail" userId="S::jmcphail@partners.net::d9640ad9-0be2-4377-a498-4127ac76f093" providerId="AD" clId="Web-{512EE613-C6E4-10A9-240A-EEF32F53440F}" dt="2020-02-18T15:16:49.245" v="1" actId="20577"/>
        <pc:sldMkLst>
          <pc:docMk/>
          <pc:sldMk cId="2908577941" sldId="311"/>
        </pc:sldMkLst>
        <pc:spChg chg="mod">
          <ac:chgData name="John McPhail" userId="S::jmcphail@partners.net::d9640ad9-0be2-4377-a498-4127ac76f093" providerId="AD" clId="Web-{512EE613-C6E4-10A9-240A-EEF32F53440F}" dt="2020-02-18T15:16:49.245" v="1" actId="20577"/>
          <ac:spMkLst>
            <pc:docMk/>
            <pc:sldMk cId="2908577941" sldId="311"/>
            <ac:spMk id="11" creationId="{60E32B3D-980E-46DF-89A6-6A2703FCBEEC}"/>
          </ac:spMkLst>
        </pc:spChg>
      </pc:sldChg>
      <pc:sldChg chg="modSp">
        <pc:chgData name="John McPhail" userId="S::jmcphail@partners.net::d9640ad9-0be2-4377-a498-4127ac76f093" providerId="AD" clId="Web-{512EE613-C6E4-10A9-240A-EEF32F53440F}" dt="2020-02-18T15:17:08.276" v="3" actId="20577"/>
        <pc:sldMkLst>
          <pc:docMk/>
          <pc:sldMk cId="3512712766" sldId="313"/>
        </pc:sldMkLst>
        <pc:spChg chg="mod">
          <ac:chgData name="John McPhail" userId="S::jmcphail@partners.net::d9640ad9-0be2-4377-a498-4127ac76f093" providerId="AD" clId="Web-{512EE613-C6E4-10A9-240A-EEF32F53440F}" dt="2020-02-18T15:17:08.276" v="3" actId="20577"/>
          <ac:spMkLst>
            <pc:docMk/>
            <pc:sldMk cId="3512712766" sldId="313"/>
            <ac:spMk id="14" creationId="{1230563A-8090-4CFE-B572-314967768B14}"/>
          </ac:spMkLst>
        </pc:spChg>
      </pc:sldChg>
      <pc:sldChg chg="modSp">
        <pc:chgData name="John McPhail" userId="S::jmcphail@partners.net::d9640ad9-0be2-4377-a498-4127ac76f093" providerId="AD" clId="Web-{512EE613-C6E4-10A9-240A-EEF32F53440F}" dt="2020-02-18T15:18:27.793" v="4" actId="20577"/>
        <pc:sldMkLst>
          <pc:docMk/>
          <pc:sldMk cId="2287359374" sldId="317"/>
        </pc:sldMkLst>
        <pc:spChg chg="mod">
          <ac:chgData name="John McPhail" userId="S::jmcphail@partners.net::d9640ad9-0be2-4377-a498-4127ac76f093" providerId="AD" clId="Web-{512EE613-C6E4-10A9-240A-EEF32F53440F}" dt="2020-02-18T15:18:27.793" v="4" actId="20577"/>
          <ac:spMkLst>
            <pc:docMk/>
            <pc:sldMk cId="2287359374" sldId="317"/>
            <ac:spMk id="12" creationId="{6FE81DAC-6B4E-48DF-AE06-51160DB09132}"/>
          </ac:spMkLst>
        </pc:spChg>
      </pc:sldChg>
      <pc:sldChg chg="modSp">
        <pc:chgData name="John McPhail" userId="S::jmcphail@partners.net::d9640ad9-0be2-4377-a498-4127ac76f093" providerId="AD" clId="Web-{512EE613-C6E4-10A9-240A-EEF32F53440F}" dt="2020-02-18T15:19:03.856" v="6" actId="20577"/>
        <pc:sldMkLst>
          <pc:docMk/>
          <pc:sldMk cId="194365707" sldId="321"/>
        </pc:sldMkLst>
        <pc:spChg chg="mod">
          <ac:chgData name="John McPhail" userId="S::jmcphail@partners.net::d9640ad9-0be2-4377-a498-4127ac76f093" providerId="AD" clId="Web-{512EE613-C6E4-10A9-240A-EEF32F53440F}" dt="2020-02-18T15:19:03.856" v="6" actId="20577"/>
          <ac:spMkLst>
            <pc:docMk/>
            <pc:sldMk cId="194365707" sldId="321"/>
            <ac:spMk id="9" creationId="{51ED6B9B-4DFA-4D91-8D9A-FEF4A66DF1E6}"/>
          </ac:spMkLst>
        </pc:spChg>
      </pc:sldChg>
      <pc:sldChg chg="modSp">
        <pc:chgData name="John McPhail" userId="S::jmcphail@partners.net::d9640ad9-0be2-4377-a498-4127ac76f093" providerId="AD" clId="Web-{512EE613-C6E4-10A9-240A-EEF32F53440F}" dt="2020-02-18T15:19:57.810" v="7" actId="20577"/>
        <pc:sldMkLst>
          <pc:docMk/>
          <pc:sldMk cId="2475424343" sldId="325"/>
        </pc:sldMkLst>
        <pc:spChg chg="mod">
          <ac:chgData name="John McPhail" userId="S::jmcphail@partners.net::d9640ad9-0be2-4377-a498-4127ac76f093" providerId="AD" clId="Web-{512EE613-C6E4-10A9-240A-EEF32F53440F}" dt="2020-02-18T15:19:57.810" v="7" actId="20577"/>
          <ac:spMkLst>
            <pc:docMk/>
            <pc:sldMk cId="2475424343" sldId="325"/>
            <ac:spMk id="9" creationId="{8A25D22D-9FE2-4C2B-B7CD-F6F978D768FC}"/>
          </ac:spMkLst>
        </pc:spChg>
      </pc:sldChg>
      <pc:sldChg chg="modSp">
        <pc:chgData name="John McPhail" userId="S::jmcphail@partners.net::d9640ad9-0be2-4377-a498-4127ac76f093" providerId="AD" clId="Web-{512EE613-C6E4-10A9-240A-EEF32F53440F}" dt="2020-02-18T15:23:30.078" v="10" actId="20577"/>
        <pc:sldMkLst>
          <pc:docMk/>
          <pc:sldMk cId="1013465337" sldId="340"/>
        </pc:sldMkLst>
        <pc:spChg chg="mod">
          <ac:chgData name="John McPhail" userId="S::jmcphail@partners.net::d9640ad9-0be2-4377-a498-4127ac76f093" providerId="AD" clId="Web-{512EE613-C6E4-10A9-240A-EEF32F53440F}" dt="2020-02-18T15:23:30.078" v="10" actId="20577"/>
          <ac:spMkLst>
            <pc:docMk/>
            <pc:sldMk cId="1013465337" sldId="340"/>
            <ac:spMk id="6" creationId="{00000000-0000-0000-0000-000000000000}"/>
          </ac:spMkLst>
        </pc:spChg>
      </pc:sldChg>
      <pc:sldChg chg="modSp">
        <pc:chgData name="John McPhail" userId="S::jmcphail@partners.net::d9640ad9-0be2-4377-a498-4127ac76f093" providerId="AD" clId="Web-{512EE613-C6E4-10A9-240A-EEF32F53440F}" dt="2020-02-18T15:23:30.421" v="12" actId="20577"/>
        <pc:sldMkLst>
          <pc:docMk/>
          <pc:sldMk cId="3123763760" sldId="341"/>
        </pc:sldMkLst>
        <pc:spChg chg="mod">
          <ac:chgData name="John McPhail" userId="S::jmcphail@partners.net::d9640ad9-0be2-4377-a498-4127ac76f093" providerId="AD" clId="Web-{512EE613-C6E4-10A9-240A-EEF32F53440F}" dt="2020-02-18T15:23:30.421" v="12" actId="20577"/>
          <ac:spMkLst>
            <pc:docMk/>
            <pc:sldMk cId="3123763760" sldId="341"/>
            <ac:spMk id="9" creationId="{559FB8B7-2F2D-4830-B7A2-07E35BA3D7BC}"/>
          </ac:spMkLst>
        </pc:spChg>
      </pc:sldChg>
    </pc:docChg>
  </pc:docChgLst>
  <pc:docChgLst>
    <pc:chgData name="John" userId="d9640ad9-0be2-4377-a498-4127ac76f093" providerId="ADAL" clId="{0C144A79-D97D-446A-B499-B7E9DC08ADD2}"/>
    <pc:docChg chg="custSel delSld modSld">
      <pc:chgData name="John" userId="d9640ad9-0be2-4377-a498-4127ac76f093" providerId="ADAL" clId="{0C144A79-D97D-446A-B499-B7E9DC08ADD2}" dt="2020-02-18T17:16:52.931" v="80" actId="13926"/>
      <pc:docMkLst>
        <pc:docMk/>
      </pc:docMkLst>
      <pc:sldChg chg="modSp">
        <pc:chgData name="John" userId="d9640ad9-0be2-4377-a498-4127ac76f093" providerId="ADAL" clId="{0C144A79-D97D-446A-B499-B7E9DC08ADD2}" dt="2020-02-18T16:47:19.830" v="12"/>
        <pc:sldMkLst>
          <pc:docMk/>
          <pc:sldMk cId="957542971" sldId="307"/>
        </pc:sldMkLst>
        <pc:spChg chg="mod">
          <ac:chgData name="John" userId="d9640ad9-0be2-4377-a498-4127ac76f093" providerId="ADAL" clId="{0C144A79-D97D-446A-B499-B7E9DC08ADD2}" dt="2020-02-18T16:42:36.081" v="0" actId="313"/>
          <ac:spMkLst>
            <pc:docMk/>
            <pc:sldMk cId="957542971" sldId="307"/>
            <ac:spMk id="9" creationId="{20494103-C849-4610-BCF3-544A52F23FDD}"/>
          </ac:spMkLst>
        </pc:spChg>
        <pc:spChg chg="mod">
          <ac:chgData name="John" userId="d9640ad9-0be2-4377-a498-4127ac76f093" providerId="ADAL" clId="{0C144A79-D97D-446A-B499-B7E9DC08ADD2}" dt="2020-02-18T16:47:19.830" v="12"/>
          <ac:spMkLst>
            <pc:docMk/>
            <pc:sldMk cId="957542971" sldId="307"/>
            <ac:spMk id="12" creationId="{1EEBCF16-6E01-4A72-8099-2F241CA0E137}"/>
          </ac:spMkLst>
        </pc:spChg>
      </pc:sldChg>
      <pc:sldChg chg="modSp">
        <pc:chgData name="John" userId="d9640ad9-0be2-4377-a498-4127ac76f093" providerId="ADAL" clId="{0C144A79-D97D-446A-B499-B7E9DC08ADD2}" dt="2020-02-18T16:53:16.154" v="17" actId="6549"/>
        <pc:sldMkLst>
          <pc:docMk/>
          <pc:sldMk cId="2908577941" sldId="311"/>
        </pc:sldMkLst>
        <pc:spChg chg="mod">
          <ac:chgData name="John" userId="d9640ad9-0be2-4377-a498-4127ac76f093" providerId="ADAL" clId="{0C144A79-D97D-446A-B499-B7E9DC08ADD2}" dt="2020-02-18T16:53:16.154" v="17" actId="6549"/>
          <ac:spMkLst>
            <pc:docMk/>
            <pc:sldMk cId="2908577941" sldId="311"/>
            <ac:spMk id="11" creationId="{60E32B3D-980E-46DF-89A6-6A2703FCBEEC}"/>
          </ac:spMkLst>
        </pc:spChg>
      </pc:sldChg>
      <pc:sldChg chg="modSp">
        <pc:chgData name="John" userId="d9640ad9-0be2-4377-a498-4127ac76f093" providerId="ADAL" clId="{0C144A79-D97D-446A-B499-B7E9DC08ADD2}" dt="2020-02-18T16:53:35.783" v="18" actId="313"/>
        <pc:sldMkLst>
          <pc:docMk/>
          <pc:sldMk cId="3512712766" sldId="313"/>
        </pc:sldMkLst>
        <pc:spChg chg="mod">
          <ac:chgData name="John" userId="d9640ad9-0be2-4377-a498-4127ac76f093" providerId="ADAL" clId="{0C144A79-D97D-446A-B499-B7E9DC08ADD2}" dt="2020-02-18T16:53:35.783" v="18" actId="313"/>
          <ac:spMkLst>
            <pc:docMk/>
            <pc:sldMk cId="3512712766" sldId="313"/>
            <ac:spMk id="12" creationId="{438BE5B8-CF95-4457-BDF5-0C29B8EE9A47}"/>
          </ac:spMkLst>
        </pc:spChg>
      </pc:sldChg>
      <pc:sldChg chg="modSp">
        <pc:chgData name="John" userId="d9640ad9-0be2-4377-a498-4127ac76f093" providerId="ADAL" clId="{0C144A79-D97D-446A-B499-B7E9DC08ADD2}" dt="2020-02-18T17:16:52.931" v="80" actId="13926"/>
        <pc:sldMkLst>
          <pc:docMk/>
          <pc:sldMk cId="3123763760" sldId="341"/>
        </pc:sldMkLst>
        <pc:spChg chg="mod">
          <ac:chgData name="John" userId="d9640ad9-0be2-4377-a498-4127ac76f093" providerId="ADAL" clId="{0C144A79-D97D-446A-B499-B7E9DC08ADD2}" dt="2020-02-18T17:16:52.931" v="80" actId="13926"/>
          <ac:spMkLst>
            <pc:docMk/>
            <pc:sldMk cId="3123763760" sldId="341"/>
            <ac:spMk id="9" creationId="{559FB8B7-2F2D-4830-B7A2-07E35BA3D7BC}"/>
          </ac:spMkLst>
        </pc:spChg>
        <pc:spChg chg="mod">
          <ac:chgData name="John" userId="d9640ad9-0be2-4377-a498-4127ac76f093" providerId="ADAL" clId="{0C144A79-D97D-446A-B499-B7E9DC08ADD2}" dt="2020-02-18T17:15:57.114" v="58" actId="20577"/>
          <ac:spMkLst>
            <pc:docMk/>
            <pc:sldMk cId="3123763760" sldId="341"/>
            <ac:spMk id="12" creationId="{B3B7EF30-3A73-4882-A4AC-D02557F2B535}"/>
          </ac:spMkLst>
        </pc:spChg>
      </pc:sldChg>
      <pc:sldChg chg="modSp">
        <pc:chgData name="John" userId="d9640ad9-0be2-4377-a498-4127ac76f093" providerId="ADAL" clId="{0C144A79-D97D-446A-B499-B7E9DC08ADD2}" dt="2020-02-18T17:16:21.920" v="65" actId="20577"/>
        <pc:sldMkLst>
          <pc:docMk/>
          <pc:sldMk cId="899801842" sldId="347"/>
        </pc:sldMkLst>
        <pc:spChg chg="mod">
          <ac:chgData name="John" userId="d9640ad9-0be2-4377-a498-4127ac76f093" providerId="ADAL" clId="{0C144A79-D97D-446A-B499-B7E9DC08ADD2}" dt="2020-02-18T17:16:21.920" v="65" actId="20577"/>
          <ac:spMkLst>
            <pc:docMk/>
            <pc:sldMk cId="899801842" sldId="347"/>
            <ac:spMk id="12" creationId="{B3B7EF30-3A73-4882-A4AC-D02557F2B535}"/>
          </ac:spMkLst>
        </pc:spChg>
      </pc:sldChg>
      <pc:sldChg chg="modSp del">
        <pc:chgData name="John" userId="d9640ad9-0be2-4377-a498-4127ac76f093" providerId="ADAL" clId="{0C144A79-D97D-446A-B499-B7E9DC08ADD2}" dt="2020-02-18T17:16:42.140" v="79" actId="47"/>
        <pc:sldMkLst>
          <pc:docMk/>
          <pc:sldMk cId="803136109" sldId="348"/>
        </pc:sldMkLst>
        <pc:spChg chg="mod">
          <ac:chgData name="John" userId="d9640ad9-0be2-4377-a498-4127ac76f093" providerId="ADAL" clId="{0C144A79-D97D-446A-B499-B7E9DC08ADD2}" dt="2020-02-18T17:16:14.314" v="60"/>
          <ac:spMkLst>
            <pc:docMk/>
            <pc:sldMk cId="803136109" sldId="348"/>
            <ac:spMk id="12" creationId="{B3B7EF30-3A73-4882-A4AC-D02557F2B535}"/>
          </ac:spMkLst>
        </pc:spChg>
      </pc:sldChg>
    </pc:docChg>
  </pc:docChgLst>
  <pc:docChgLst>
    <pc:chgData name="Michael Moscarelli" userId="S::mmoscarelli@partners.net::3c45dc76-26ad-4bf2-abee-57b769522a52" providerId="AD" clId="Web-{C8C4988B-0BEA-831C-2223-C131B6F739CD}"/>
    <pc:docChg chg="modSld">
      <pc:chgData name="Michael Moscarelli" userId="S::mmoscarelli@partners.net::3c45dc76-26ad-4bf2-abee-57b769522a52" providerId="AD" clId="Web-{C8C4988B-0BEA-831C-2223-C131B6F739CD}" dt="2019-12-09T19:53:51.076" v="4" actId="20577"/>
      <pc:docMkLst>
        <pc:docMk/>
      </pc:docMkLst>
      <pc:sldChg chg="modSp">
        <pc:chgData name="Michael Moscarelli" userId="S::mmoscarelli@partners.net::3c45dc76-26ad-4bf2-abee-57b769522a52" providerId="AD" clId="Web-{C8C4988B-0BEA-831C-2223-C131B6F739CD}" dt="2019-12-09T19:53:51.076" v="4" actId="20577"/>
        <pc:sldMkLst>
          <pc:docMk/>
          <pc:sldMk cId="957542971" sldId="307"/>
        </pc:sldMkLst>
        <pc:spChg chg="mod">
          <ac:chgData name="Michael Moscarelli" userId="S::mmoscarelli@partners.net::3c45dc76-26ad-4bf2-abee-57b769522a52" providerId="AD" clId="Web-{C8C4988B-0BEA-831C-2223-C131B6F739CD}" dt="2019-12-09T19:53:51.076" v="4" actId="20577"/>
          <ac:spMkLst>
            <pc:docMk/>
            <pc:sldMk cId="957542971" sldId="307"/>
            <ac:spMk id="12" creationId="{1EEBCF16-6E01-4A72-8099-2F241CA0E137}"/>
          </ac:spMkLst>
        </pc:spChg>
      </pc:sldChg>
    </pc:docChg>
  </pc:docChgLst>
  <pc:docChgLst>
    <pc:chgData name="Michael Moscarelli" userId="3c45dc76-26ad-4bf2-abee-57b769522a52" providerId="ADAL" clId="{C1E96A25-77C1-4A9B-9BEA-B973D38BA218}"/>
    <pc:docChg chg="undo custSel addSld delSld modSld sldOrd">
      <pc:chgData name="Michael Moscarelli" userId="3c45dc76-26ad-4bf2-abee-57b769522a52" providerId="ADAL" clId="{C1E96A25-77C1-4A9B-9BEA-B973D38BA218}" dt="2019-11-11T14:54:03.461" v="1170"/>
      <pc:docMkLst>
        <pc:docMk/>
      </pc:docMkLst>
      <pc:sldChg chg="addSp delSp modSp">
        <pc:chgData name="Michael Moscarelli" userId="3c45dc76-26ad-4bf2-abee-57b769522a52" providerId="ADAL" clId="{C1E96A25-77C1-4A9B-9BEA-B973D38BA218}" dt="2019-11-06T21:57:38.678" v="1145" actId="1076"/>
        <pc:sldMkLst>
          <pc:docMk/>
          <pc:sldMk cId="2950975700" sldId="267"/>
        </pc:sldMkLst>
        <pc:spChg chg="mod">
          <ac:chgData name="Michael Moscarelli" userId="3c45dc76-26ad-4bf2-abee-57b769522a52" providerId="ADAL" clId="{C1E96A25-77C1-4A9B-9BEA-B973D38BA218}" dt="2019-11-06T21:08:58.396" v="53" actId="1038"/>
          <ac:spMkLst>
            <pc:docMk/>
            <pc:sldMk cId="2950975700" sldId="267"/>
            <ac:spMk id="15" creationId="{00000000-0000-0000-0000-000000000000}"/>
          </ac:spMkLst>
        </pc:spChg>
        <pc:spChg chg="mod">
          <ac:chgData name="Michael Moscarelli" userId="3c45dc76-26ad-4bf2-abee-57b769522a52" providerId="ADAL" clId="{C1E96A25-77C1-4A9B-9BEA-B973D38BA218}" dt="2019-11-06T21:44:20.649" v="993" actId="20577"/>
          <ac:spMkLst>
            <pc:docMk/>
            <pc:sldMk cId="2950975700" sldId="267"/>
            <ac:spMk id="17" creationId="{00000000-0000-0000-0000-000000000000}"/>
          </ac:spMkLst>
        </pc:spChg>
        <pc:picChg chg="add mod">
          <ac:chgData name="Michael Moscarelli" userId="3c45dc76-26ad-4bf2-abee-57b769522a52" providerId="ADAL" clId="{C1E96A25-77C1-4A9B-9BEA-B973D38BA218}" dt="2019-11-06T21:57:38.678" v="1145" actId="1076"/>
          <ac:picMkLst>
            <pc:docMk/>
            <pc:sldMk cId="2950975700" sldId="267"/>
            <ac:picMk id="3" creationId="{FD08EB59-7208-4A06-872D-EF88468BEFBB}"/>
          </ac:picMkLst>
        </pc:picChg>
        <pc:picChg chg="del">
          <ac:chgData name="Michael Moscarelli" userId="3c45dc76-26ad-4bf2-abee-57b769522a52" providerId="ADAL" clId="{C1E96A25-77C1-4A9B-9BEA-B973D38BA218}" dt="2019-11-06T21:08:06.387" v="3" actId="478"/>
          <ac:picMkLst>
            <pc:docMk/>
            <pc:sldMk cId="2950975700" sldId="267"/>
            <ac:picMk id="16" creationId="{00000000-0000-0000-0000-000000000000}"/>
          </ac:picMkLst>
        </pc:picChg>
      </pc:sldChg>
      <pc:sldChg chg="delSp modSp">
        <pc:chgData name="Michael Moscarelli" userId="3c45dc76-26ad-4bf2-abee-57b769522a52" providerId="ADAL" clId="{C1E96A25-77C1-4A9B-9BEA-B973D38BA218}" dt="2019-11-06T21:58:44.079" v="1159" actId="478"/>
        <pc:sldMkLst>
          <pc:docMk/>
          <pc:sldMk cId="1721981660" sldId="268"/>
        </pc:sldMkLst>
        <pc:spChg chg="mod">
          <ac:chgData name="Michael Moscarelli" userId="3c45dc76-26ad-4bf2-abee-57b769522a52" providerId="ADAL" clId="{C1E96A25-77C1-4A9B-9BEA-B973D38BA218}" dt="2019-11-06T21:11:37.851" v="161" actId="1037"/>
          <ac:spMkLst>
            <pc:docMk/>
            <pc:sldMk cId="1721981660" sldId="268"/>
            <ac:spMk id="2" creationId="{00000000-0000-0000-0000-000000000000}"/>
          </ac:spMkLst>
        </pc:spChg>
        <pc:spChg chg="mod">
          <ac:chgData name="Michael Moscarelli" userId="3c45dc76-26ad-4bf2-abee-57b769522a52" providerId="ADAL" clId="{C1E96A25-77C1-4A9B-9BEA-B973D38BA218}" dt="2019-11-06T21:32:17.336" v="836" actId="27636"/>
          <ac:spMkLst>
            <pc:docMk/>
            <pc:sldMk cId="1721981660" sldId="268"/>
            <ac:spMk id="3" creationId="{00000000-0000-0000-0000-000000000000}"/>
          </ac:spMkLst>
        </pc:spChg>
        <pc:spChg chg="del">
          <ac:chgData name="Michael Moscarelli" userId="3c45dc76-26ad-4bf2-abee-57b769522a52" providerId="ADAL" clId="{C1E96A25-77C1-4A9B-9BEA-B973D38BA218}" dt="2019-11-06T21:58:44.079" v="1159" actId="478"/>
          <ac:spMkLst>
            <pc:docMk/>
            <pc:sldMk cId="1721981660" sldId="268"/>
            <ac:spMk id="8" creationId="{00000000-0000-0000-0000-000000000000}"/>
          </ac:spMkLst>
        </pc:spChg>
        <pc:spChg chg="del mod">
          <ac:chgData name="Michael Moscarelli" userId="3c45dc76-26ad-4bf2-abee-57b769522a52" providerId="ADAL" clId="{C1E96A25-77C1-4A9B-9BEA-B973D38BA218}" dt="2019-11-06T21:07:57.867" v="2" actId="478"/>
          <ac:spMkLst>
            <pc:docMk/>
            <pc:sldMk cId="1721981660" sldId="268"/>
            <ac:spMk id="11" creationId="{00000000-0000-0000-0000-000000000000}"/>
          </ac:spMkLst>
        </pc:spChg>
        <pc:picChg chg="del">
          <ac:chgData name="Michael Moscarelli" userId="3c45dc76-26ad-4bf2-abee-57b769522a52" providerId="ADAL" clId="{C1E96A25-77C1-4A9B-9BEA-B973D38BA218}" dt="2019-11-06T21:07:53.972" v="0" actId="478"/>
          <ac:picMkLst>
            <pc:docMk/>
            <pc:sldMk cId="1721981660" sldId="268"/>
            <ac:picMk id="7" creationId="{00000000-0000-0000-0000-000000000000}"/>
          </ac:picMkLst>
        </pc:picChg>
      </pc:sldChg>
      <pc:sldChg chg="delSp modSp">
        <pc:chgData name="Michael Moscarelli" userId="3c45dc76-26ad-4bf2-abee-57b769522a52" providerId="ADAL" clId="{C1E96A25-77C1-4A9B-9BEA-B973D38BA218}" dt="2019-11-06T22:09:48.991" v="1164" actId="14100"/>
        <pc:sldMkLst>
          <pc:docMk/>
          <pc:sldMk cId="1288698159" sldId="284"/>
        </pc:sldMkLst>
        <pc:spChg chg="mod">
          <ac:chgData name="Michael Moscarelli" userId="3c45dc76-26ad-4bf2-abee-57b769522a52" providerId="ADAL" clId="{C1E96A25-77C1-4A9B-9BEA-B973D38BA218}" dt="2019-11-06T21:56:58.527" v="1142" actId="1036"/>
          <ac:spMkLst>
            <pc:docMk/>
            <pc:sldMk cId="1288698159" sldId="284"/>
            <ac:spMk id="2" creationId="{00000000-0000-0000-0000-000000000000}"/>
          </ac:spMkLst>
        </pc:spChg>
        <pc:spChg chg="mod">
          <ac:chgData name="Michael Moscarelli" userId="3c45dc76-26ad-4bf2-abee-57b769522a52" providerId="ADAL" clId="{C1E96A25-77C1-4A9B-9BEA-B973D38BA218}" dt="2019-11-06T21:48:04.423" v="1055" actId="14100"/>
          <ac:spMkLst>
            <pc:docMk/>
            <pc:sldMk cId="1288698159" sldId="284"/>
            <ac:spMk id="3" creationId="{00000000-0000-0000-0000-000000000000}"/>
          </ac:spMkLst>
        </pc:spChg>
        <pc:spChg chg="mod">
          <ac:chgData name="Michael Moscarelli" userId="3c45dc76-26ad-4bf2-abee-57b769522a52" providerId="ADAL" clId="{C1E96A25-77C1-4A9B-9BEA-B973D38BA218}" dt="2019-11-06T21:47:52.552" v="1037" actId="6549"/>
          <ac:spMkLst>
            <pc:docMk/>
            <pc:sldMk cId="1288698159" sldId="284"/>
            <ac:spMk id="6" creationId="{00000000-0000-0000-0000-000000000000}"/>
          </ac:spMkLst>
        </pc:spChg>
        <pc:spChg chg="mod">
          <ac:chgData name="Michael Moscarelli" userId="3c45dc76-26ad-4bf2-abee-57b769522a52" providerId="ADAL" clId="{C1E96A25-77C1-4A9B-9BEA-B973D38BA218}" dt="2019-11-06T22:09:48.991" v="1164" actId="14100"/>
          <ac:spMkLst>
            <pc:docMk/>
            <pc:sldMk cId="1288698159" sldId="284"/>
            <ac:spMk id="9" creationId="{00000000-0000-0000-0000-000000000000}"/>
          </ac:spMkLst>
        </pc:spChg>
        <pc:cxnChg chg="del">
          <ac:chgData name="Michael Moscarelli" userId="3c45dc76-26ad-4bf2-abee-57b769522a52" providerId="ADAL" clId="{C1E96A25-77C1-4A9B-9BEA-B973D38BA218}" dt="2019-11-06T21:47:48.356" v="1036" actId="478"/>
          <ac:cxnSpMkLst>
            <pc:docMk/>
            <pc:sldMk cId="1288698159" sldId="284"/>
            <ac:cxnSpMk id="11" creationId="{00000000-0000-0000-0000-000000000000}"/>
          </ac:cxnSpMkLst>
        </pc:cxnChg>
      </pc:sldChg>
      <pc:sldChg chg="addSp delSp modSp del">
        <pc:chgData name="Michael Moscarelli" userId="3c45dc76-26ad-4bf2-abee-57b769522a52" providerId="ADAL" clId="{C1E96A25-77C1-4A9B-9BEA-B973D38BA218}" dt="2019-11-06T21:58:08.326" v="1152" actId="2696"/>
        <pc:sldMkLst>
          <pc:docMk/>
          <pc:sldMk cId="737734017" sldId="285"/>
        </pc:sldMkLst>
        <pc:spChg chg="add del mod">
          <ac:chgData name="Michael Moscarelli" userId="3c45dc76-26ad-4bf2-abee-57b769522a52" providerId="ADAL" clId="{C1E96A25-77C1-4A9B-9BEA-B973D38BA218}" dt="2019-11-06T21:57:47.240" v="1148" actId="478"/>
          <ac:spMkLst>
            <pc:docMk/>
            <pc:sldMk cId="737734017" sldId="285"/>
            <ac:spMk id="5" creationId="{33D12A3E-FC72-4214-BF74-D38C18FE3C6C}"/>
          </ac:spMkLst>
        </pc:spChg>
        <pc:spChg chg="add mod">
          <ac:chgData name="Michael Moscarelli" userId="3c45dc76-26ad-4bf2-abee-57b769522a52" providerId="ADAL" clId="{C1E96A25-77C1-4A9B-9BEA-B973D38BA218}" dt="2019-11-06T21:57:55.518" v="1150" actId="478"/>
          <ac:spMkLst>
            <pc:docMk/>
            <pc:sldMk cId="737734017" sldId="285"/>
            <ac:spMk id="7" creationId="{BCE948F4-ED5E-4075-8C50-680C31E53A41}"/>
          </ac:spMkLst>
        </pc:spChg>
        <pc:picChg chg="add del mod">
          <ac:chgData name="Michael Moscarelli" userId="3c45dc76-26ad-4bf2-abee-57b769522a52" providerId="ADAL" clId="{C1E96A25-77C1-4A9B-9BEA-B973D38BA218}" dt="2019-11-06T21:57:55.518" v="1150" actId="478"/>
          <ac:picMkLst>
            <pc:docMk/>
            <pc:sldMk cId="737734017" sldId="285"/>
            <ac:picMk id="4" creationId="{00000000-0000-0000-0000-000000000000}"/>
          </ac:picMkLst>
        </pc:picChg>
      </pc:sldChg>
      <pc:sldChg chg="modSp ord">
        <pc:chgData name="Michael Moscarelli" userId="3c45dc76-26ad-4bf2-abee-57b769522a52" providerId="ADAL" clId="{C1E96A25-77C1-4A9B-9BEA-B973D38BA218}" dt="2019-11-06T21:44:09.894" v="985" actId="20577"/>
        <pc:sldMkLst>
          <pc:docMk/>
          <pc:sldMk cId="3829017132" sldId="286"/>
        </pc:sldMkLst>
        <pc:spChg chg="mod">
          <ac:chgData name="Michael Moscarelli" userId="3c45dc76-26ad-4bf2-abee-57b769522a52" providerId="ADAL" clId="{C1E96A25-77C1-4A9B-9BEA-B973D38BA218}" dt="2019-11-06T21:38:39.218" v="873" actId="1076"/>
          <ac:spMkLst>
            <pc:docMk/>
            <pc:sldMk cId="3829017132" sldId="286"/>
            <ac:spMk id="2" creationId="{00000000-0000-0000-0000-000000000000}"/>
          </ac:spMkLst>
        </pc:spChg>
        <pc:spChg chg="mod">
          <ac:chgData name="Michael Moscarelli" userId="3c45dc76-26ad-4bf2-abee-57b769522a52" providerId="ADAL" clId="{C1E96A25-77C1-4A9B-9BEA-B973D38BA218}" dt="2019-11-06T21:44:09.894" v="985" actId="20577"/>
          <ac:spMkLst>
            <pc:docMk/>
            <pc:sldMk cId="3829017132" sldId="286"/>
            <ac:spMk id="5" creationId="{00000000-0000-0000-0000-000000000000}"/>
          </ac:spMkLst>
        </pc:spChg>
        <pc:spChg chg="mod">
          <ac:chgData name="Michael Moscarelli" userId="3c45dc76-26ad-4bf2-abee-57b769522a52" providerId="ADAL" clId="{C1E96A25-77C1-4A9B-9BEA-B973D38BA218}" dt="2019-11-06T21:43:59.355" v="937"/>
          <ac:spMkLst>
            <pc:docMk/>
            <pc:sldMk cId="3829017132" sldId="286"/>
            <ac:spMk id="6" creationId="{00000000-0000-0000-0000-000000000000}"/>
          </ac:spMkLst>
        </pc:spChg>
      </pc:sldChg>
      <pc:sldChg chg="del">
        <pc:chgData name="Michael Moscarelli" userId="3c45dc76-26ad-4bf2-abee-57b769522a52" providerId="ADAL" clId="{C1E96A25-77C1-4A9B-9BEA-B973D38BA218}" dt="2019-11-06T21:57:31.038" v="1143" actId="2696"/>
        <pc:sldMkLst>
          <pc:docMk/>
          <pc:sldMk cId="2243746304" sldId="291"/>
        </pc:sldMkLst>
      </pc:sldChg>
      <pc:sldChg chg="addSp delSp modSp">
        <pc:chgData name="Michael Moscarelli" userId="3c45dc76-26ad-4bf2-abee-57b769522a52" providerId="ADAL" clId="{C1E96A25-77C1-4A9B-9BEA-B973D38BA218}" dt="2019-11-06T21:50:13.574" v="1079" actId="20577"/>
        <pc:sldMkLst>
          <pc:docMk/>
          <pc:sldMk cId="3623014428" sldId="292"/>
        </pc:sldMkLst>
        <pc:spChg chg="mod">
          <ac:chgData name="Michael Moscarelli" userId="3c45dc76-26ad-4bf2-abee-57b769522a52" providerId="ADAL" clId="{C1E96A25-77C1-4A9B-9BEA-B973D38BA218}" dt="2019-11-06T21:49:05.310" v="1067" actId="1076"/>
          <ac:spMkLst>
            <pc:docMk/>
            <pc:sldMk cId="3623014428" sldId="292"/>
            <ac:spMk id="2" creationId="{00000000-0000-0000-0000-000000000000}"/>
          </ac:spMkLst>
        </pc:spChg>
        <pc:spChg chg="add del mod">
          <ac:chgData name="Michael Moscarelli" userId="3c45dc76-26ad-4bf2-abee-57b769522a52" providerId="ADAL" clId="{C1E96A25-77C1-4A9B-9BEA-B973D38BA218}" dt="2019-11-06T21:49:19.226" v="1071"/>
          <ac:spMkLst>
            <pc:docMk/>
            <pc:sldMk cId="3623014428" sldId="292"/>
            <ac:spMk id="5" creationId="{00000000-0000-0000-0000-000000000000}"/>
          </ac:spMkLst>
        </pc:spChg>
        <pc:spChg chg="mod">
          <ac:chgData name="Michael Moscarelli" userId="3c45dc76-26ad-4bf2-abee-57b769522a52" providerId="ADAL" clId="{C1E96A25-77C1-4A9B-9BEA-B973D38BA218}" dt="2019-11-06T21:50:13.574" v="1079" actId="20577"/>
          <ac:spMkLst>
            <pc:docMk/>
            <pc:sldMk cId="3623014428" sldId="292"/>
            <ac:spMk id="6" creationId="{00000000-0000-0000-0000-000000000000}"/>
          </ac:spMkLst>
        </pc:spChg>
      </pc:sldChg>
      <pc:sldChg chg="modSp">
        <pc:chgData name="Michael Moscarelli" userId="3c45dc76-26ad-4bf2-abee-57b769522a52" providerId="ADAL" clId="{C1E96A25-77C1-4A9B-9BEA-B973D38BA218}" dt="2019-11-06T21:47:38.431" v="1035" actId="20577"/>
        <pc:sldMkLst>
          <pc:docMk/>
          <pc:sldMk cId="2814128187" sldId="293"/>
        </pc:sldMkLst>
        <pc:spChg chg="mod">
          <ac:chgData name="Michael Moscarelli" userId="3c45dc76-26ad-4bf2-abee-57b769522a52" providerId="ADAL" clId="{C1E96A25-77C1-4A9B-9BEA-B973D38BA218}" dt="2019-11-06T21:45:41.999" v="994"/>
          <ac:spMkLst>
            <pc:docMk/>
            <pc:sldMk cId="2814128187" sldId="293"/>
            <ac:spMk id="5" creationId="{00000000-0000-0000-0000-000000000000}"/>
          </ac:spMkLst>
        </pc:spChg>
        <pc:spChg chg="mod">
          <ac:chgData name="Michael Moscarelli" userId="3c45dc76-26ad-4bf2-abee-57b769522a52" providerId="ADAL" clId="{C1E96A25-77C1-4A9B-9BEA-B973D38BA218}" dt="2019-11-06T21:47:38.431" v="1035" actId="20577"/>
          <ac:spMkLst>
            <pc:docMk/>
            <pc:sldMk cId="2814128187" sldId="293"/>
            <ac:spMk id="6" creationId="{00000000-0000-0000-0000-000000000000}"/>
          </ac:spMkLst>
        </pc:spChg>
      </pc:sldChg>
      <pc:sldChg chg="addSp delSp modSp">
        <pc:chgData name="Michael Moscarelli" userId="3c45dc76-26ad-4bf2-abee-57b769522a52" providerId="ADAL" clId="{C1E96A25-77C1-4A9B-9BEA-B973D38BA218}" dt="2019-11-06T22:09:26.358" v="1161" actId="478"/>
        <pc:sldMkLst>
          <pc:docMk/>
          <pc:sldMk cId="1218429673" sldId="295"/>
        </pc:sldMkLst>
        <pc:spChg chg="mod">
          <ac:chgData name="Michael Moscarelli" userId="3c45dc76-26ad-4bf2-abee-57b769522a52" providerId="ADAL" clId="{C1E96A25-77C1-4A9B-9BEA-B973D38BA218}" dt="2019-11-06T21:42:52.270" v="916" actId="20577"/>
          <ac:spMkLst>
            <pc:docMk/>
            <pc:sldMk cId="1218429673" sldId="295"/>
            <ac:spMk id="2" creationId="{00000000-0000-0000-0000-000000000000}"/>
          </ac:spMkLst>
        </pc:spChg>
        <pc:spChg chg="add del mod">
          <ac:chgData name="Michael Moscarelli" userId="3c45dc76-26ad-4bf2-abee-57b769522a52" providerId="ADAL" clId="{C1E96A25-77C1-4A9B-9BEA-B973D38BA218}" dt="2019-11-06T21:43:26.951" v="919" actId="478"/>
          <ac:spMkLst>
            <pc:docMk/>
            <pc:sldMk cId="1218429673" sldId="295"/>
            <ac:spMk id="4" creationId="{B2C5A1C3-9343-4FE7-B928-823E3D934F4F}"/>
          </ac:spMkLst>
        </pc:spChg>
        <pc:spChg chg="del">
          <ac:chgData name="Michael Moscarelli" userId="3c45dc76-26ad-4bf2-abee-57b769522a52" providerId="ADAL" clId="{C1E96A25-77C1-4A9B-9BEA-B973D38BA218}" dt="2019-11-06T21:42:59.879" v="917" actId="478"/>
          <ac:spMkLst>
            <pc:docMk/>
            <pc:sldMk cId="1218429673" sldId="295"/>
            <ac:spMk id="6" creationId="{00000000-0000-0000-0000-000000000000}"/>
          </ac:spMkLst>
        </pc:spChg>
        <pc:spChg chg="add del">
          <ac:chgData name="Michael Moscarelli" userId="3c45dc76-26ad-4bf2-abee-57b769522a52" providerId="ADAL" clId="{C1E96A25-77C1-4A9B-9BEA-B973D38BA218}" dt="2019-11-06T22:09:26.358" v="1161" actId="478"/>
          <ac:spMkLst>
            <pc:docMk/>
            <pc:sldMk cId="1218429673" sldId="295"/>
            <ac:spMk id="10" creationId="{60C80F38-9420-4BDF-A616-279783A4E61D}"/>
          </ac:spMkLst>
        </pc:spChg>
        <pc:spChg chg="add mod">
          <ac:chgData name="Michael Moscarelli" userId="3c45dc76-26ad-4bf2-abee-57b769522a52" providerId="ADAL" clId="{C1E96A25-77C1-4A9B-9BEA-B973D38BA218}" dt="2019-11-06T22:09:26.358" v="1161" actId="478"/>
          <ac:spMkLst>
            <pc:docMk/>
            <pc:sldMk cId="1218429673" sldId="295"/>
            <ac:spMk id="11" creationId="{B97E8CC9-2524-43E9-9591-8467906CEDED}"/>
          </ac:spMkLst>
        </pc:spChg>
        <pc:graphicFrameChg chg="del mod">
          <ac:chgData name="Michael Moscarelli" userId="3c45dc76-26ad-4bf2-abee-57b769522a52" providerId="ADAL" clId="{C1E96A25-77C1-4A9B-9BEA-B973D38BA218}" dt="2019-11-06T21:42:35.507" v="905" actId="478"/>
          <ac:graphicFrameMkLst>
            <pc:docMk/>
            <pc:sldMk cId="1218429673" sldId="295"/>
            <ac:graphicFrameMk id="9" creationId="{00000000-0000-0000-0000-000000000000}"/>
          </ac:graphicFrameMkLst>
        </pc:graphicFrameChg>
      </pc:sldChg>
      <pc:sldChg chg="del">
        <pc:chgData name="Michael Moscarelli" userId="3c45dc76-26ad-4bf2-abee-57b769522a52" providerId="ADAL" clId="{C1E96A25-77C1-4A9B-9BEA-B973D38BA218}" dt="2019-11-06T21:43:40.226" v="921" actId="2696"/>
        <pc:sldMkLst>
          <pc:docMk/>
          <pc:sldMk cId="4170598223" sldId="296"/>
        </pc:sldMkLst>
      </pc:sldChg>
      <pc:sldChg chg="modSp">
        <pc:chgData name="Michael Moscarelli" userId="3c45dc76-26ad-4bf2-abee-57b769522a52" providerId="ADAL" clId="{C1E96A25-77C1-4A9B-9BEA-B973D38BA218}" dt="2019-11-06T21:51:45.364" v="1092" actId="20577"/>
        <pc:sldMkLst>
          <pc:docMk/>
          <pc:sldMk cId="1747450159" sldId="298"/>
        </pc:sldMkLst>
        <pc:spChg chg="mod">
          <ac:chgData name="Michael Moscarelli" userId="3c45dc76-26ad-4bf2-abee-57b769522a52" providerId="ADAL" clId="{C1E96A25-77C1-4A9B-9BEA-B973D38BA218}" dt="2019-11-06T21:51:10.049" v="1080"/>
          <ac:spMkLst>
            <pc:docMk/>
            <pc:sldMk cId="1747450159" sldId="298"/>
            <ac:spMk id="5" creationId="{00000000-0000-0000-0000-000000000000}"/>
          </ac:spMkLst>
        </pc:spChg>
        <pc:spChg chg="mod">
          <ac:chgData name="Michael Moscarelli" userId="3c45dc76-26ad-4bf2-abee-57b769522a52" providerId="ADAL" clId="{C1E96A25-77C1-4A9B-9BEA-B973D38BA218}" dt="2019-11-06T21:51:45.364" v="1092" actId="20577"/>
          <ac:spMkLst>
            <pc:docMk/>
            <pc:sldMk cId="1747450159" sldId="298"/>
            <ac:spMk id="6" creationId="{00000000-0000-0000-0000-000000000000}"/>
          </ac:spMkLst>
        </pc:spChg>
      </pc:sldChg>
      <pc:sldChg chg="delSp modSp">
        <pc:chgData name="Michael Moscarelli" userId="3c45dc76-26ad-4bf2-abee-57b769522a52" providerId="ADAL" clId="{C1E96A25-77C1-4A9B-9BEA-B973D38BA218}" dt="2019-11-06T21:56:44.094" v="1138" actId="1036"/>
        <pc:sldMkLst>
          <pc:docMk/>
          <pc:sldMk cId="495803001" sldId="299"/>
        </pc:sldMkLst>
        <pc:spChg chg="mod">
          <ac:chgData name="Michael Moscarelli" userId="3c45dc76-26ad-4bf2-abee-57b769522a52" providerId="ADAL" clId="{C1E96A25-77C1-4A9B-9BEA-B973D38BA218}" dt="2019-11-06T21:56:44.094" v="1138" actId="1036"/>
          <ac:spMkLst>
            <pc:docMk/>
            <pc:sldMk cId="495803001" sldId="299"/>
            <ac:spMk id="2" creationId="{00000000-0000-0000-0000-000000000000}"/>
          </ac:spMkLst>
        </pc:spChg>
        <pc:spChg chg="mod">
          <ac:chgData name="Michael Moscarelli" userId="3c45dc76-26ad-4bf2-abee-57b769522a52" providerId="ADAL" clId="{C1E96A25-77C1-4A9B-9BEA-B973D38BA218}" dt="2019-11-06T21:56:41.278" v="1135" actId="14100"/>
          <ac:spMkLst>
            <pc:docMk/>
            <pc:sldMk cId="495803001" sldId="299"/>
            <ac:spMk id="3" creationId="{00000000-0000-0000-0000-000000000000}"/>
          </ac:spMkLst>
        </pc:spChg>
        <pc:cxnChg chg="del">
          <ac:chgData name="Michael Moscarelli" userId="3c45dc76-26ad-4bf2-abee-57b769522a52" providerId="ADAL" clId="{C1E96A25-77C1-4A9B-9BEA-B973D38BA218}" dt="2019-11-06T21:56:34.111" v="1133" actId="478"/>
          <ac:cxnSpMkLst>
            <pc:docMk/>
            <pc:sldMk cId="495803001" sldId="299"/>
            <ac:cxnSpMk id="11" creationId="{00000000-0000-0000-0000-000000000000}"/>
          </ac:cxnSpMkLst>
        </pc:cxnChg>
      </pc:sldChg>
      <pc:sldChg chg="delSp modSp">
        <pc:chgData name="Michael Moscarelli" userId="3c45dc76-26ad-4bf2-abee-57b769522a52" providerId="ADAL" clId="{C1E96A25-77C1-4A9B-9BEA-B973D38BA218}" dt="2019-11-06T21:56:49.983" v="1139" actId="14100"/>
        <pc:sldMkLst>
          <pc:docMk/>
          <pc:sldMk cId="1849308416" sldId="303"/>
        </pc:sldMkLst>
        <pc:spChg chg="mod">
          <ac:chgData name="Michael Moscarelli" userId="3c45dc76-26ad-4bf2-abee-57b769522a52" providerId="ADAL" clId="{C1E96A25-77C1-4A9B-9BEA-B973D38BA218}" dt="2019-11-06T21:53:04.326" v="1111" actId="122"/>
          <ac:spMkLst>
            <pc:docMk/>
            <pc:sldMk cId="1849308416" sldId="303"/>
            <ac:spMk id="2" creationId="{00000000-0000-0000-0000-000000000000}"/>
          </ac:spMkLst>
        </pc:spChg>
        <pc:spChg chg="mod">
          <ac:chgData name="Michael Moscarelli" userId="3c45dc76-26ad-4bf2-abee-57b769522a52" providerId="ADAL" clId="{C1E96A25-77C1-4A9B-9BEA-B973D38BA218}" dt="2019-11-06T21:56:49.983" v="1139" actId="14100"/>
          <ac:spMkLst>
            <pc:docMk/>
            <pc:sldMk cId="1849308416" sldId="303"/>
            <ac:spMk id="3" creationId="{00000000-0000-0000-0000-000000000000}"/>
          </ac:spMkLst>
        </pc:spChg>
        <pc:cxnChg chg="del">
          <ac:chgData name="Michael Moscarelli" userId="3c45dc76-26ad-4bf2-abee-57b769522a52" providerId="ADAL" clId="{C1E96A25-77C1-4A9B-9BEA-B973D38BA218}" dt="2019-11-06T21:55:47.775" v="1112" actId="478"/>
          <ac:cxnSpMkLst>
            <pc:docMk/>
            <pc:sldMk cId="1849308416" sldId="303"/>
            <ac:cxnSpMk id="11" creationId="{00000000-0000-0000-0000-000000000000}"/>
          </ac:cxnSpMkLst>
        </pc:cxnChg>
      </pc:sldChg>
      <pc:sldChg chg="delSp modSp add">
        <pc:chgData name="Michael Moscarelli" userId="3c45dc76-26ad-4bf2-abee-57b769522a52" providerId="ADAL" clId="{C1E96A25-77C1-4A9B-9BEA-B973D38BA218}" dt="2019-11-06T21:58:47.775" v="1160" actId="478"/>
        <pc:sldMkLst>
          <pc:docMk/>
          <pc:sldMk cId="1560235297" sldId="304"/>
        </pc:sldMkLst>
        <pc:spChg chg="mod">
          <ac:chgData name="Michael Moscarelli" userId="3c45dc76-26ad-4bf2-abee-57b769522a52" providerId="ADAL" clId="{C1E96A25-77C1-4A9B-9BEA-B973D38BA218}" dt="2019-11-06T21:23:47.079" v="305" actId="20577"/>
          <ac:spMkLst>
            <pc:docMk/>
            <pc:sldMk cId="1560235297" sldId="304"/>
            <ac:spMk id="2" creationId="{00000000-0000-0000-0000-000000000000}"/>
          </ac:spMkLst>
        </pc:spChg>
        <pc:spChg chg="mod">
          <ac:chgData name="Michael Moscarelli" userId="3c45dc76-26ad-4bf2-abee-57b769522a52" providerId="ADAL" clId="{C1E96A25-77C1-4A9B-9BEA-B973D38BA218}" dt="2019-11-06T21:32:59.794" v="841" actId="1036"/>
          <ac:spMkLst>
            <pc:docMk/>
            <pc:sldMk cId="1560235297" sldId="304"/>
            <ac:spMk id="3" creationId="{00000000-0000-0000-0000-000000000000}"/>
          </ac:spMkLst>
        </pc:spChg>
        <pc:spChg chg="del">
          <ac:chgData name="Michael Moscarelli" userId="3c45dc76-26ad-4bf2-abee-57b769522a52" providerId="ADAL" clId="{C1E96A25-77C1-4A9B-9BEA-B973D38BA218}" dt="2019-11-06T21:58:47.775" v="1160" actId="478"/>
          <ac:spMkLst>
            <pc:docMk/>
            <pc:sldMk cId="1560235297" sldId="304"/>
            <ac:spMk id="8" creationId="{00000000-0000-0000-0000-000000000000}"/>
          </ac:spMkLst>
        </pc:spChg>
      </pc:sldChg>
      <pc:sldChg chg="delSp modSp add">
        <pc:chgData name="Michael Moscarelli" userId="3c45dc76-26ad-4bf2-abee-57b769522a52" providerId="ADAL" clId="{C1E96A25-77C1-4A9B-9BEA-B973D38BA218}" dt="2019-11-06T21:58:29.169" v="1158" actId="1076"/>
        <pc:sldMkLst>
          <pc:docMk/>
          <pc:sldMk cId="961418184" sldId="305"/>
        </pc:sldMkLst>
        <pc:spChg chg="del">
          <ac:chgData name="Michael Moscarelli" userId="3c45dc76-26ad-4bf2-abee-57b769522a52" providerId="ADAL" clId="{C1E96A25-77C1-4A9B-9BEA-B973D38BA218}" dt="2019-11-06T21:58:11.074" v="1153" actId="478"/>
          <ac:spMkLst>
            <pc:docMk/>
            <pc:sldMk cId="961418184" sldId="305"/>
            <ac:spMk id="15" creationId="{00000000-0000-0000-0000-000000000000}"/>
          </ac:spMkLst>
        </pc:spChg>
        <pc:spChg chg="del">
          <ac:chgData name="Michael Moscarelli" userId="3c45dc76-26ad-4bf2-abee-57b769522a52" providerId="ADAL" clId="{C1E96A25-77C1-4A9B-9BEA-B973D38BA218}" dt="2019-11-06T21:58:14.981" v="1154" actId="478"/>
          <ac:spMkLst>
            <pc:docMk/>
            <pc:sldMk cId="961418184" sldId="305"/>
            <ac:spMk id="17" creationId="{00000000-0000-0000-0000-000000000000}"/>
          </ac:spMkLst>
        </pc:spChg>
        <pc:picChg chg="mod">
          <ac:chgData name="Michael Moscarelli" userId="3c45dc76-26ad-4bf2-abee-57b769522a52" providerId="ADAL" clId="{C1E96A25-77C1-4A9B-9BEA-B973D38BA218}" dt="2019-11-06T21:58:29.169" v="1158" actId="1076"/>
          <ac:picMkLst>
            <pc:docMk/>
            <pc:sldMk cId="961418184" sldId="305"/>
            <ac:picMk id="3" creationId="{FD08EB59-7208-4A06-872D-EF88468BEFBB}"/>
          </ac:picMkLst>
        </pc:picChg>
        <pc:cxnChg chg="del">
          <ac:chgData name="Michael Moscarelli" userId="3c45dc76-26ad-4bf2-abee-57b769522a52" providerId="ADAL" clId="{C1E96A25-77C1-4A9B-9BEA-B973D38BA218}" dt="2019-11-06T21:58:18.447" v="1155" actId="478"/>
          <ac:cxnSpMkLst>
            <pc:docMk/>
            <pc:sldMk cId="961418184" sldId="305"/>
            <ac:cxnSpMk id="11" creationId="{00000000-0000-0000-0000-000000000000}"/>
          </ac:cxnSpMkLst>
        </pc:cxnChg>
      </pc:sldChg>
      <pc:sldChg chg="add del ord">
        <pc:chgData name="Michael Moscarelli" userId="3c45dc76-26ad-4bf2-abee-57b769522a52" providerId="ADAL" clId="{C1E96A25-77C1-4A9B-9BEA-B973D38BA218}" dt="2019-11-06T21:33:18.070" v="844" actId="2696"/>
        <pc:sldMkLst>
          <pc:docMk/>
          <pc:sldMk cId="2900186226" sldId="305"/>
        </pc:sldMkLst>
      </pc:sldChg>
      <pc:sldChg chg="add del">
        <pc:chgData name="Michael Moscarelli" userId="3c45dc76-26ad-4bf2-abee-57b769522a52" providerId="ADAL" clId="{C1E96A25-77C1-4A9B-9BEA-B973D38BA218}" dt="2019-11-11T14:54:03.461" v="1170"/>
        <pc:sldMkLst>
          <pc:docMk/>
          <pc:sldMk cId="397781551" sldId="306"/>
        </pc:sldMkLst>
      </pc:sldChg>
      <pc:sldChg chg="add del">
        <pc:chgData name="Michael Moscarelli" userId="3c45dc76-26ad-4bf2-abee-57b769522a52" providerId="ADAL" clId="{C1E96A25-77C1-4A9B-9BEA-B973D38BA218}" dt="2019-11-11T14:54:03.461" v="1170"/>
        <pc:sldMkLst>
          <pc:docMk/>
          <pc:sldMk cId="1297268518" sldId="307"/>
        </pc:sldMkLst>
      </pc:sldChg>
      <pc:sldChg chg="add del">
        <pc:chgData name="Michael Moscarelli" userId="3c45dc76-26ad-4bf2-abee-57b769522a52" providerId="ADAL" clId="{C1E96A25-77C1-4A9B-9BEA-B973D38BA218}" dt="2019-11-11T14:54:03.461" v="1170"/>
        <pc:sldMkLst>
          <pc:docMk/>
          <pc:sldMk cId="3087829649" sldId="308"/>
        </pc:sldMkLst>
      </pc:sldChg>
      <pc:sldChg chg="add del">
        <pc:chgData name="Michael Moscarelli" userId="3c45dc76-26ad-4bf2-abee-57b769522a52" providerId="ADAL" clId="{C1E96A25-77C1-4A9B-9BEA-B973D38BA218}" dt="2019-11-11T14:54:03.461" v="1170"/>
        <pc:sldMkLst>
          <pc:docMk/>
          <pc:sldMk cId="1133286241" sldId="309"/>
        </pc:sldMkLst>
      </pc:sldChg>
      <pc:sldChg chg="add del">
        <pc:chgData name="Michael Moscarelli" userId="3c45dc76-26ad-4bf2-abee-57b769522a52" providerId="ADAL" clId="{C1E96A25-77C1-4A9B-9BEA-B973D38BA218}" dt="2019-11-11T14:54:03.461" v="1170"/>
        <pc:sldMkLst>
          <pc:docMk/>
          <pc:sldMk cId="2190202516" sldId="310"/>
        </pc:sldMkLst>
      </pc:sldChg>
      <pc:sldChg chg="add del">
        <pc:chgData name="Michael Moscarelli" userId="3c45dc76-26ad-4bf2-abee-57b769522a52" providerId="ADAL" clId="{C1E96A25-77C1-4A9B-9BEA-B973D38BA218}" dt="2019-11-11T14:54:03.461" v="1170"/>
        <pc:sldMkLst>
          <pc:docMk/>
          <pc:sldMk cId="675082609" sldId="311"/>
        </pc:sldMkLst>
      </pc:sldChg>
      <pc:sldChg chg="add del">
        <pc:chgData name="Michael Moscarelli" userId="3c45dc76-26ad-4bf2-abee-57b769522a52" providerId="ADAL" clId="{C1E96A25-77C1-4A9B-9BEA-B973D38BA218}" dt="2019-11-11T14:54:03.461" v="1170"/>
        <pc:sldMkLst>
          <pc:docMk/>
          <pc:sldMk cId="2721255322" sldId="312"/>
        </pc:sldMkLst>
      </pc:sldChg>
      <pc:sldChg chg="add del">
        <pc:chgData name="Michael Moscarelli" userId="3c45dc76-26ad-4bf2-abee-57b769522a52" providerId="ADAL" clId="{C1E96A25-77C1-4A9B-9BEA-B973D38BA218}" dt="2019-11-11T14:54:03.461" v="1170"/>
        <pc:sldMkLst>
          <pc:docMk/>
          <pc:sldMk cId="2184538210" sldId="313"/>
        </pc:sldMkLst>
      </pc:sldChg>
      <pc:sldChg chg="add del">
        <pc:chgData name="Michael Moscarelli" userId="3c45dc76-26ad-4bf2-abee-57b769522a52" providerId="ADAL" clId="{C1E96A25-77C1-4A9B-9BEA-B973D38BA218}" dt="2019-11-11T14:54:02.894" v="1169"/>
        <pc:sldMkLst>
          <pc:docMk/>
          <pc:sldMk cId="3633599086" sldId="314"/>
        </pc:sldMkLst>
      </pc:sldChg>
      <pc:sldChg chg="add del">
        <pc:chgData name="Michael Moscarelli" userId="3c45dc76-26ad-4bf2-abee-57b769522a52" providerId="ADAL" clId="{C1E96A25-77C1-4A9B-9BEA-B973D38BA218}" dt="2019-11-11T14:54:02.894" v="1169"/>
        <pc:sldMkLst>
          <pc:docMk/>
          <pc:sldMk cId="1786660877" sldId="315"/>
        </pc:sldMkLst>
      </pc:sldChg>
      <pc:sldChg chg="add del">
        <pc:chgData name="Michael Moscarelli" userId="3c45dc76-26ad-4bf2-abee-57b769522a52" providerId="ADAL" clId="{C1E96A25-77C1-4A9B-9BEA-B973D38BA218}" dt="2019-11-11T14:54:02.894" v="1169"/>
        <pc:sldMkLst>
          <pc:docMk/>
          <pc:sldMk cId="4285582209" sldId="316"/>
        </pc:sldMkLst>
      </pc:sldChg>
      <pc:sldChg chg="add del">
        <pc:chgData name="Michael Moscarelli" userId="3c45dc76-26ad-4bf2-abee-57b769522a52" providerId="ADAL" clId="{C1E96A25-77C1-4A9B-9BEA-B973D38BA218}" dt="2019-11-11T14:54:02.894" v="1169"/>
        <pc:sldMkLst>
          <pc:docMk/>
          <pc:sldMk cId="3821679887" sldId="317"/>
        </pc:sldMkLst>
      </pc:sldChg>
      <pc:sldChg chg="add del">
        <pc:chgData name="Michael Moscarelli" userId="3c45dc76-26ad-4bf2-abee-57b769522a52" providerId="ADAL" clId="{C1E96A25-77C1-4A9B-9BEA-B973D38BA218}" dt="2019-11-11T14:54:02.894" v="1169"/>
        <pc:sldMkLst>
          <pc:docMk/>
          <pc:sldMk cId="1661447353" sldId="318"/>
        </pc:sldMkLst>
      </pc:sldChg>
      <pc:sldChg chg="add del">
        <pc:chgData name="Michael Moscarelli" userId="3c45dc76-26ad-4bf2-abee-57b769522a52" providerId="ADAL" clId="{C1E96A25-77C1-4A9B-9BEA-B973D38BA218}" dt="2019-11-11T14:54:02.894" v="1169"/>
        <pc:sldMkLst>
          <pc:docMk/>
          <pc:sldMk cId="73834651" sldId="319"/>
        </pc:sldMkLst>
      </pc:sldChg>
      <pc:sldChg chg="add del">
        <pc:chgData name="Michael Moscarelli" userId="3c45dc76-26ad-4bf2-abee-57b769522a52" providerId="ADAL" clId="{C1E96A25-77C1-4A9B-9BEA-B973D38BA218}" dt="2019-11-11T14:54:02.894" v="1169"/>
        <pc:sldMkLst>
          <pc:docMk/>
          <pc:sldMk cId="2838324465" sldId="320"/>
        </pc:sldMkLst>
      </pc:sldChg>
      <pc:sldChg chg="add del">
        <pc:chgData name="Michael Moscarelli" userId="3c45dc76-26ad-4bf2-abee-57b769522a52" providerId="ADAL" clId="{C1E96A25-77C1-4A9B-9BEA-B973D38BA218}" dt="2019-11-11T14:54:02.894" v="1169"/>
        <pc:sldMkLst>
          <pc:docMk/>
          <pc:sldMk cId="130629626" sldId="321"/>
        </pc:sldMkLst>
      </pc:sldChg>
      <pc:sldChg chg="add del">
        <pc:chgData name="Michael Moscarelli" userId="3c45dc76-26ad-4bf2-abee-57b769522a52" providerId="ADAL" clId="{C1E96A25-77C1-4A9B-9BEA-B973D38BA218}" dt="2019-11-11T14:54:02.527" v="1168"/>
        <pc:sldMkLst>
          <pc:docMk/>
          <pc:sldMk cId="995703458" sldId="322"/>
        </pc:sldMkLst>
      </pc:sldChg>
      <pc:sldChg chg="add del">
        <pc:chgData name="Michael Moscarelli" userId="3c45dc76-26ad-4bf2-abee-57b769522a52" providerId="ADAL" clId="{C1E96A25-77C1-4A9B-9BEA-B973D38BA218}" dt="2019-11-11T14:54:02.527" v="1168"/>
        <pc:sldMkLst>
          <pc:docMk/>
          <pc:sldMk cId="1185078617" sldId="323"/>
        </pc:sldMkLst>
      </pc:sldChg>
      <pc:sldChg chg="add del">
        <pc:chgData name="Michael Moscarelli" userId="3c45dc76-26ad-4bf2-abee-57b769522a52" providerId="ADAL" clId="{C1E96A25-77C1-4A9B-9BEA-B973D38BA218}" dt="2019-11-11T14:54:02.527" v="1168"/>
        <pc:sldMkLst>
          <pc:docMk/>
          <pc:sldMk cId="624885062" sldId="324"/>
        </pc:sldMkLst>
      </pc:sldChg>
      <pc:sldChg chg="add del">
        <pc:chgData name="Michael Moscarelli" userId="3c45dc76-26ad-4bf2-abee-57b769522a52" providerId="ADAL" clId="{C1E96A25-77C1-4A9B-9BEA-B973D38BA218}" dt="2019-11-11T14:54:02.527" v="1168"/>
        <pc:sldMkLst>
          <pc:docMk/>
          <pc:sldMk cId="4193946021" sldId="325"/>
        </pc:sldMkLst>
      </pc:sldChg>
      <pc:sldChg chg="add del">
        <pc:chgData name="Michael Moscarelli" userId="3c45dc76-26ad-4bf2-abee-57b769522a52" providerId="ADAL" clId="{C1E96A25-77C1-4A9B-9BEA-B973D38BA218}" dt="2019-11-11T14:54:02.527" v="1168"/>
        <pc:sldMkLst>
          <pc:docMk/>
          <pc:sldMk cId="2748984514" sldId="326"/>
        </pc:sldMkLst>
      </pc:sldChg>
      <pc:sldChg chg="add del">
        <pc:chgData name="Michael Moscarelli" userId="3c45dc76-26ad-4bf2-abee-57b769522a52" providerId="ADAL" clId="{C1E96A25-77C1-4A9B-9BEA-B973D38BA218}" dt="2019-11-11T14:54:02.527" v="1168"/>
        <pc:sldMkLst>
          <pc:docMk/>
          <pc:sldMk cId="3883486056" sldId="327"/>
        </pc:sldMkLst>
      </pc:sldChg>
      <pc:sldChg chg="add del">
        <pc:chgData name="Michael Moscarelli" userId="3c45dc76-26ad-4bf2-abee-57b769522a52" providerId="ADAL" clId="{C1E96A25-77C1-4A9B-9BEA-B973D38BA218}" dt="2019-11-11T14:54:02.527" v="1168"/>
        <pc:sldMkLst>
          <pc:docMk/>
          <pc:sldMk cId="3799703047" sldId="328"/>
        </pc:sldMkLst>
      </pc:sldChg>
      <pc:sldChg chg="add del">
        <pc:chgData name="Michael Moscarelli" userId="3c45dc76-26ad-4bf2-abee-57b769522a52" providerId="ADAL" clId="{C1E96A25-77C1-4A9B-9BEA-B973D38BA218}" dt="2019-11-11T14:54:02.527" v="1168"/>
        <pc:sldMkLst>
          <pc:docMk/>
          <pc:sldMk cId="2583504315" sldId="329"/>
        </pc:sldMkLst>
      </pc:sldChg>
    </pc:docChg>
  </pc:docChgLst>
  <pc:docChgLst>
    <pc:chgData name="Renata Torres" userId="38f726d5-af6e-4656-82df-69175ed13244" providerId="ADAL" clId="{8D796942-9284-44F3-81F2-561931D84ACA}"/>
    <pc:docChg chg="custSel modSld">
      <pc:chgData name="Renata Torres" userId="38f726d5-af6e-4656-82df-69175ed13244" providerId="ADAL" clId="{8D796942-9284-44F3-81F2-561931D84ACA}" dt="2020-02-18T19:57:49.669" v="27" actId="20577"/>
      <pc:docMkLst>
        <pc:docMk/>
      </pc:docMkLst>
      <pc:sldChg chg="addSp delSp modSp mod">
        <pc:chgData name="Renata Torres" userId="38f726d5-af6e-4656-82df-69175ed13244" providerId="ADAL" clId="{8D796942-9284-44F3-81F2-561931D84ACA}" dt="2020-02-18T19:53:23.309" v="4" actId="478"/>
        <pc:sldMkLst>
          <pc:docMk/>
          <pc:sldMk cId="957542971" sldId="307"/>
        </pc:sldMkLst>
        <pc:spChg chg="del">
          <ac:chgData name="Renata Torres" userId="38f726d5-af6e-4656-82df-69175ed13244" providerId="ADAL" clId="{8D796942-9284-44F3-81F2-561931D84ACA}" dt="2020-02-18T19:53:23.309" v="4" actId="478"/>
          <ac:spMkLst>
            <pc:docMk/>
            <pc:sldMk cId="957542971" sldId="307"/>
            <ac:spMk id="12" creationId="{1EEBCF16-6E01-4A72-8099-2F241CA0E137}"/>
          </ac:spMkLst>
        </pc:spChg>
        <pc:graphicFrameChg chg="add del mod">
          <ac:chgData name="Renata Torres" userId="38f726d5-af6e-4656-82df-69175ed13244" providerId="ADAL" clId="{8D796942-9284-44F3-81F2-561931D84ACA}" dt="2020-02-18T19:53:14.281" v="3" actId="478"/>
          <ac:graphicFrameMkLst>
            <pc:docMk/>
            <pc:sldMk cId="957542971" sldId="307"/>
            <ac:graphicFrameMk id="6" creationId="{3B74E99A-9C61-431D-BC2F-6AADB8720AC4}"/>
          </ac:graphicFrameMkLst>
        </pc:graphicFrameChg>
      </pc:sldChg>
      <pc:sldChg chg="modSp">
        <pc:chgData name="Renata Torres" userId="38f726d5-af6e-4656-82df-69175ed13244" providerId="ADAL" clId="{8D796942-9284-44F3-81F2-561931D84ACA}" dt="2020-02-18T19:57:49.669" v="27" actId="20577"/>
        <pc:sldMkLst>
          <pc:docMk/>
          <pc:sldMk cId="3123763760" sldId="341"/>
        </pc:sldMkLst>
        <pc:spChg chg="mod">
          <ac:chgData name="Renata Torres" userId="38f726d5-af6e-4656-82df-69175ed13244" providerId="ADAL" clId="{8D796942-9284-44F3-81F2-561931D84ACA}" dt="2020-02-18T19:57:49.669" v="27" actId="20577"/>
          <ac:spMkLst>
            <pc:docMk/>
            <pc:sldMk cId="3123763760" sldId="341"/>
            <ac:spMk id="9" creationId="{559FB8B7-2F2D-4830-B7A2-07E35BA3D7B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1.xml"/><Relationship Id="rId1" Type="http://schemas.microsoft.com/office/2011/relationships/chartStyle" Target="style2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a:t>
            </a:r>
            <a:r>
              <a:rPr lang="en-US" baseline="0"/>
              <a:t> Pay Scale is Competitive</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5B17-4E4E-BC87-C361A51B03BE}"/>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5B17-4E4E-BC87-C361A51B03BE}"/>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5B17-4E4E-BC87-C361A51B03BE}"/>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5B17-4E4E-BC87-C361A51B03BE}"/>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5B17-4E4E-BC87-C361A51B03BE}"/>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5B17-4E4E-BC87-C361A51B03B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Sheet1!$A$18:$A$23</c:f>
              <c:strCache>
                <c:ptCount val="6"/>
                <c:pt idx="0">
                  <c:v>Strongly Disagree</c:v>
                </c:pt>
                <c:pt idx="1">
                  <c:v>Disagree</c:v>
                </c:pt>
                <c:pt idx="2">
                  <c:v>Neutral</c:v>
                </c:pt>
                <c:pt idx="3">
                  <c:v>Agree</c:v>
                </c:pt>
                <c:pt idx="4">
                  <c:v>Strongly Agree</c:v>
                </c:pt>
                <c:pt idx="5">
                  <c:v>Don't Know</c:v>
                </c:pt>
              </c:strCache>
            </c:strRef>
          </c:cat>
          <c:val>
            <c:numRef>
              <c:f>Sheet1!$B$18:$B$23</c:f>
              <c:numCache>
                <c:formatCode>General</c:formatCode>
                <c:ptCount val="6"/>
                <c:pt idx="0">
                  <c:v>1</c:v>
                </c:pt>
                <c:pt idx="1">
                  <c:v>6</c:v>
                </c:pt>
                <c:pt idx="2">
                  <c:v>8</c:v>
                </c:pt>
                <c:pt idx="3">
                  <c:v>5</c:v>
                </c:pt>
                <c:pt idx="4">
                  <c:v>1</c:v>
                </c:pt>
                <c:pt idx="5">
                  <c:v>6</c:v>
                </c:pt>
              </c:numCache>
            </c:numRef>
          </c:val>
          <c:extLst>
            <c:ext xmlns:c16="http://schemas.microsoft.com/office/drawing/2014/chart" uri="{C3380CC4-5D6E-409C-BE32-E72D297353CC}">
              <c16:uniqueId val="{0000000C-5B17-4E4E-BC87-C361A51B03B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 Health Insurance</a:t>
            </a:r>
            <a:r>
              <a:rPr lang="en-US" baseline="0"/>
              <a:t> is Competitive</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38CB-4306-9577-41ADCEAC1D21}"/>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38CB-4306-9577-41ADCEAC1D21}"/>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38CB-4306-9577-41ADCEAC1D21}"/>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38CB-4306-9577-41ADCEAC1D21}"/>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38CB-4306-9577-41ADCEAC1D2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Sheet1!$A$34:$A$38</c:f>
              <c:strCache>
                <c:ptCount val="5"/>
                <c:pt idx="0">
                  <c:v>Neutral</c:v>
                </c:pt>
                <c:pt idx="1">
                  <c:v>Agree</c:v>
                </c:pt>
                <c:pt idx="2">
                  <c:v>Strongly Agree</c:v>
                </c:pt>
                <c:pt idx="3">
                  <c:v>N/A</c:v>
                </c:pt>
                <c:pt idx="4">
                  <c:v>Don't Know</c:v>
                </c:pt>
              </c:strCache>
            </c:strRef>
          </c:cat>
          <c:val>
            <c:numRef>
              <c:f>Sheet1!$B$34:$B$38</c:f>
              <c:numCache>
                <c:formatCode>General</c:formatCode>
                <c:ptCount val="5"/>
                <c:pt idx="0">
                  <c:v>2</c:v>
                </c:pt>
                <c:pt idx="1">
                  <c:v>6</c:v>
                </c:pt>
                <c:pt idx="2">
                  <c:v>9</c:v>
                </c:pt>
                <c:pt idx="3">
                  <c:v>2</c:v>
                </c:pt>
                <c:pt idx="4">
                  <c:v>8</c:v>
                </c:pt>
              </c:numCache>
            </c:numRef>
          </c:val>
          <c:extLst>
            <c:ext xmlns:c16="http://schemas.microsoft.com/office/drawing/2014/chart" uri="{C3380CC4-5D6E-409C-BE32-E72D297353CC}">
              <c16:uniqueId val="{0000000A-38CB-4306-9577-41ADCEAC1D21}"/>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 Vision Insurance is Important</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DD70-456E-97A5-618E4B2FFD30}"/>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DD70-456E-97A5-618E4B2FFD30}"/>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DD70-456E-97A5-618E4B2FFD30}"/>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DD70-456E-97A5-618E4B2FFD30}"/>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DD70-456E-97A5-618E4B2FFD30}"/>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DD70-456E-97A5-618E4B2FFD3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Sheet1!$A$43:$A$48</c:f>
              <c:strCache>
                <c:ptCount val="6"/>
                <c:pt idx="0">
                  <c:v>Strongly Disagree</c:v>
                </c:pt>
                <c:pt idx="1">
                  <c:v>Disagree</c:v>
                </c:pt>
                <c:pt idx="2">
                  <c:v>Neutral</c:v>
                </c:pt>
                <c:pt idx="3">
                  <c:v>Agree</c:v>
                </c:pt>
                <c:pt idx="4">
                  <c:v>Strongly Agree</c:v>
                </c:pt>
                <c:pt idx="5">
                  <c:v>N/A</c:v>
                </c:pt>
              </c:strCache>
            </c:strRef>
          </c:cat>
          <c:val>
            <c:numRef>
              <c:f>Sheet1!$B$43:$B$48</c:f>
              <c:numCache>
                <c:formatCode>General</c:formatCode>
                <c:ptCount val="6"/>
                <c:pt idx="0">
                  <c:v>4</c:v>
                </c:pt>
                <c:pt idx="1">
                  <c:v>3</c:v>
                </c:pt>
                <c:pt idx="2">
                  <c:v>5</c:v>
                </c:pt>
                <c:pt idx="3">
                  <c:v>7</c:v>
                </c:pt>
                <c:pt idx="4">
                  <c:v>3</c:v>
                </c:pt>
                <c:pt idx="5">
                  <c:v>5</c:v>
                </c:pt>
              </c:numCache>
            </c:numRef>
          </c:val>
          <c:extLst>
            <c:ext xmlns:c16="http://schemas.microsoft.com/office/drawing/2014/chart" uri="{C3380CC4-5D6E-409C-BE32-E72D297353CC}">
              <c16:uniqueId val="{0000000C-DD70-456E-97A5-618E4B2FFD30}"/>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 Dental Insurance is Important</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997E-4216-99C2-FFC9B752149C}"/>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997E-4216-99C2-FFC9B752149C}"/>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997E-4216-99C2-FFC9B752149C}"/>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997E-4216-99C2-FFC9B752149C}"/>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997E-4216-99C2-FFC9B752149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Sheet1!$A$52:$A$56</c:f>
              <c:strCache>
                <c:ptCount val="5"/>
                <c:pt idx="0">
                  <c:v>Strongly Disagree</c:v>
                </c:pt>
                <c:pt idx="1">
                  <c:v>Neutral</c:v>
                </c:pt>
                <c:pt idx="2">
                  <c:v>Agree</c:v>
                </c:pt>
                <c:pt idx="3">
                  <c:v>Strongly Agree</c:v>
                </c:pt>
                <c:pt idx="4">
                  <c:v>N/A</c:v>
                </c:pt>
              </c:strCache>
            </c:strRef>
          </c:cat>
          <c:val>
            <c:numRef>
              <c:f>Sheet1!$B$52:$B$56</c:f>
              <c:numCache>
                <c:formatCode>General</c:formatCode>
                <c:ptCount val="5"/>
                <c:pt idx="0">
                  <c:v>1</c:v>
                </c:pt>
                <c:pt idx="1">
                  <c:v>6</c:v>
                </c:pt>
                <c:pt idx="2">
                  <c:v>10</c:v>
                </c:pt>
                <c:pt idx="3">
                  <c:v>8</c:v>
                </c:pt>
                <c:pt idx="4">
                  <c:v>2</c:v>
                </c:pt>
              </c:numCache>
            </c:numRef>
          </c:val>
          <c:extLst>
            <c:ext xmlns:c16="http://schemas.microsoft.com/office/drawing/2014/chart" uri="{C3380CC4-5D6E-409C-BE32-E72D297353CC}">
              <c16:uniqueId val="{0000000A-997E-4216-99C2-FFC9B752149C}"/>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POA-Provide</a:t>
            </a:r>
            <a:r>
              <a:rPr lang="en-US" baseline="0"/>
              <a:t> Life Insurance is Important</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C5FC-4A51-AD13-B83BDB4EAB56}"/>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C5FC-4A51-AD13-B83BDB4EAB56}"/>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C5FC-4A51-AD13-B83BDB4EAB56}"/>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C5FC-4A51-AD13-B83BDB4EAB56}"/>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C5FC-4A51-AD13-B83BDB4EAB56}"/>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Sheet1!$A$60:$A$64</c:f>
              <c:strCache>
                <c:ptCount val="5"/>
                <c:pt idx="0">
                  <c:v>Disagree</c:v>
                </c:pt>
                <c:pt idx="1">
                  <c:v>Neutral</c:v>
                </c:pt>
                <c:pt idx="2">
                  <c:v>Agree</c:v>
                </c:pt>
                <c:pt idx="3">
                  <c:v>Strongly Agree</c:v>
                </c:pt>
                <c:pt idx="4">
                  <c:v>N/A</c:v>
                </c:pt>
              </c:strCache>
            </c:strRef>
          </c:cat>
          <c:val>
            <c:numRef>
              <c:f>Sheet1!$B$60:$B$64</c:f>
              <c:numCache>
                <c:formatCode>General</c:formatCode>
                <c:ptCount val="5"/>
                <c:pt idx="0">
                  <c:v>3</c:v>
                </c:pt>
                <c:pt idx="1">
                  <c:v>9</c:v>
                </c:pt>
                <c:pt idx="2">
                  <c:v>8</c:v>
                </c:pt>
                <c:pt idx="3">
                  <c:v>5</c:v>
                </c:pt>
                <c:pt idx="4">
                  <c:v>2</c:v>
                </c:pt>
              </c:numCache>
            </c:numRef>
          </c:val>
          <c:extLst>
            <c:ext xmlns:c16="http://schemas.microsoft.com/office/drawing/2014/chart" uri="{C3380CC4-5D6E-409C-BE32-E72D297353CC}">
              <c16:uniqueId val="{0000000A-C5FC-4A51-AD13-B83BDB4EAB56}"/>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dirty="0"/>
              <a:t>POA-Provided LTD Insurance is Important</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D6F1-4388-8DEF-D2B48B4FFB24}"/>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D6F1-4388-8DEF-D2B48B4FFB24}"/>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D6F1-4388-8DEF-D2B48B4FFB24}"/>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D6F1-4388-8DEF-D2B48B4FFB24}"/>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D6F1-4388-8DEF-D2B48B4FFB24}"/>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D6F1-4388-8DEF-D2B48B4FFB24}"/>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D6F1-4388-8DEF-D2B48B4FFB2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Sheet1!$A$72:$A$78</c:f>
              <c:strCache>
                <c:ptCount val="7"/>
                <c:pt idx="0">
                  <c:v>Strongly Disagree</c:v>
                </c:pt>
                <c:pt idx="1">
                  <c:v>Disagree</c:v>
                </c:pt>
                <c:pt idx="2">
                  <c:v>Neutral</c:v>
                </c:pt>
                <c:pt idx="3">
                  <c:v>Agree</c:v>
                </c:pt>
                <c:pt idx="4">
                  <c:v>Strongly Agree</c:v>
                </c:pt>
                <c:pt idx="5">
                  <c:v>N/A</c:v>
                </c:pt>
                <c:pt idx="6">
                  <c:v>Don't Know</c:v>
                </c:pt>
              </c:strCache>
            </c:strRef>
          </c:cat>
          <c:val>
            <c:numRef>
              <c:f>Sheet1!$B$72:$B$78</c:f>
              <c:numCache>
                <c:formatCode>General</c:formatCode>
                <c:ptCount val="7"/>
                <c:pt idx="0">
                  <c:v>1</c:v>
                </c:pt>
                <c:pt idx="1">
                  <c:v>1</c:v>
                </c:pt>
                <c:pt idx="2">
                  <c:v>6</c:v>
                </c:pt>
                <c:pt idx="3">
                  <c:v>10</c:v>
                </c:pt>
                <c:pt idx="4">
                  <c:v>5</c:v>
                </c:pt>
                <c:pt idx="5">
                  <c:v>2</c:v>
                </c:pt>
                <c:pt idx="6">
                  <c:v>2</c:v>
                </c:pt>
              </c:numCache>
            </c:numRef>
          </c:val>
          <c:extLst>
            <c:ext xmlns:c16="http://schemas.microsoft.com/office/drawing/2014/chart" uri="{C3380CC4-5D6E-409C-BE32-E72D297353CC}">
              <c16:uniqueId val="{0000000E-D6F1-4388-8DEF-D2B48B4FFB24}"/>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 403B Contribution is Competitive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6E8C-406D-BB09-0361FD36EAF3}"/>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6E8C-406D-BB09-0361FD36EAF3}"/>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6E8C-406D-BB09-0361FD36EAF3}"/>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6E8C-406D-BB09-0361FD36EAF3}"/>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6E8C-406D-BB09-0361FD36EAF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Sheet1!$A$83:$A$87</c:f>
              <c:strCache>
                <c:ptCount val="5"/>
                <c:pt idx="0">
                  <c:v>Disagree</c:v>
                </c:pt>
                <c:pt idx="1">
                  <c:v>Neutral</c:v>
                </c:pt>
                <c:pt idx="2">
                  <c:v>Agree</c:v>
                </c:pt>
                <c:pt idx="3">
                  <c:v>Strongly Agree</c:v>
                </c:pt>
                <c:pt idx="4">
                  <c:v>Don't Know</c:v>
                </c:pt>
              </c:strCache>
            </c:strRef>
          </c:cat>
          <c:val>
            <c:numRef>
              <c:f>Sheet1!$B$83:$B$87</c:f>
              <c:numCache>
                <c:formatCode>General</c:formatCode>
                <c:ptCount val="5"/>
                <c:pt idx="0">
                  <c:v>4</c:v>
                </c:pt>
                <c:pt idx="1">
                  <c:v>4</c:v>
                </c:pt>
                <c:pt idx="2">
                  <c:v>3</c:v>
                </c:pt>
                <c:pt idx="3">
                  <c:v>8</c:v>
                </c:pt>
                <c:pt idx="4">
                  <c:v>8</c:v>
                </c:pt>
              </c:numCache>
            </c:numRef>
          </c:val>
          <c:extLst>
            <c:ext xmlns:c16="http://schemas.microsoft.com/office/drawing/2014/chart" uri="{C3380CC4-5D6E-409C-BE32-E72D297353CC}">
              <c16:uniqueId val="{0000000A-6E8C-406D-BB09-0361FD36EAF3}"/>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AL</a:t>
            </a:r>
            <a:r>
              <a:rPr lang="en-US" baseline="0"/>
              <a:t> is the Most Important Part of the TCP</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8F41-4D3C-ABA5-237A5DDAB2DB}"/>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8F41-4D3C-ABA5-237A5DDAB2DB}"/>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8F41-4D3C-ABA5-237A5DDAB2DB}"/>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8F41-4D3C-ABA5-237A5DDAB2D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Sheet1!$A$93:$A$96</c:f>
              <c:strCache>
                <c:ptCount val="4"/>
                <c:pt idx="0">
                  <c:v>Disagree</c:v>
                </c:pt>
                <c:pt idx="1">
                  <c:v>Neutral</c:v>
                </c:pt>
                <c:pt idx="2">
                  <c:v>Agree</c:v>
                </c:pt>
                <c:pt idx="3">
                  <c:v>Strongly Agree</c:v>
                </c:pt>
              </c:strCache>
            </c:strRef>
          </c:cat>
          <c:val>
            <c:numRef>
              <c:f>Sheet1!$B$93:$B$96</c:f>
              <c:numCache>
                <c:formatCode>General</c:formatCode>
                <c:ptCount val="4"/>
                <c:pt idx="0">
                  <c:v>3</c:v>
                </c:pt>
                <c:pt idx="1">
                  <c:v>5</c:v>
                </c:pt>
                <c:pt idx="2">
                  <c:v>12</c:v>
                </c:pt>
                <c:pt idx="3">
                  <c:v>7</c:v>
                </c:pt>
              </c:numCache>
            </c:numRef>
          </c:val>
          <c:extLst>
            <c:ext xmlns:c16="http://schemas.microsoft.com/office/drawing/2014/chart" uri="{C3380CC4-5D6E-409C-BE32-E72D297353CC}">
              <c16:uniqueId val="{00000008-8F41-4D3C-ABA5-237A5DDAB2DB}"/>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 Sick Leave is Competitive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B0BD-4161-A643-6FE7FF187B76}"/>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B0BD-4161-A643-6FE7FF187B76}"/>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B0BD-4161-A643-6FE7FF187B76}"/>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B0BD-4161-A643-6FE7FF187B76}"/>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B0BD-4161-A643-6FE7FF187B76}"/>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Sheet1!$A$103:$A$107</c:f>
              <c:strCache>
                <c:ptCount val="5"/>
                <c:pt idx="0">
                  <c:v>Disagree</c:v>
                </c:pt>
                <c:pt idx="1">
                  <c:v>Neutral</c:v>
                </c:pt>
                <c:pt idx="2">
                  <c:v>Agree</c:v>
                </c:pt>
                <c:pt idx="3">
                  <c:v>Strongly Agree</c:v>
                </c:pt>
                <c:pt idx="4">
                  <c:v>Don't Know</c:v>
                </c:pt>
              </c:strCache>
            </c:strRef>
          </c:cat>
          <c:val>
            <c:numRef>
              <c:f>Sheet1!$B$103:$B$107</c:f>
              <c:numCache>
                <c:formatCode>General</c:formatCode>
                <c:ptCount val="5"/>
                <c:pt idx="0">
                  <c:v>1</c:v>
                </c:pt>
                <c:pt idx="1">
                  <c:v>2</c:v>
                </c:pt>
                <c:pt idx="2">
                  <c:v>7</c:v>
                </c:pt>
                <c:pt idx="3">
                  <c:v>6</c:v>
                </c:pt>
                <c:pt idx="4">
                  <c:v>10</c:v>
                </c:pt>
              </c:numCache>
            </c:numRef>
          </c:val>
          <c:extLst>
            <c:ext xmlns:c16="http://schemas.microsoft.com/office/drawing/2014/chart" uri="{C3380CC4-5D6E-409C-BE32-E72D297353CC}">
              <c16:uniqueId val="{0000000A-B0BD-4161-A643-6FE7FF187B76}"/>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SL Banks are Common at Similar</a:t>
            </a:r>
            <a:r>
              <a:rPr lang="en-US" baseline="0"/>
              <a:t> Orgs</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0F9A-448B-87AC-2C290C63C23B}"/>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0F9A-448B-87AC-2C290C63C23B}"/>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0F9A-448B-87AC-2C290C63C23B}"/>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0F9A-448B-87AC-2C290C63C23B}"/>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0F9A-448B-87AC-2C290C63C23B}"/>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0F9A-448B-87AC-2C290C63C23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Sheet1!$A$109:$A$114</c:f>
              <c:strCache>
                <c:ptCount val="6"/>
                <c:pt idx="0">
                  <c:v>Strongly Disagree</c:v>
                </c:pt>
                <c:pt idx="1">
                  <c:v>Disagree</c:v>
                </c:pt>
                <c:pt idx="2">
                  <c:v>Neutral</c:v>
                </c:pt>
                <c:pt idx="3">
                  <c:v>Agree</c:v>
                </c:pt>
                <c:pt idx="4">
                  <c:v>Strongly Agree</c:v>
                </c:pt>
                <c:pt idx="5">
                  <c:v>Don't Know</c:v>
                </c:pt>
              </c:strCache>
            </c:strRef>
          </c:cat>
          <c:val>
            <c:numRef>
              <c:f>Sheet1!$B$109:$B$114</c:f>
              <c:numCache>
                <c:formatCode>General</c:formatCode>
                <c:ptCount val="6"/>
                <c:pt idx="0">
                  <c:v>2</c:v>
                </c:pt>
                <c:pt idx="1">
                  <c:v>2</c:v>
                </c:pt>
                <c:pt idx="2">
                  <c:v>2</c:v>
                </c:pt>
                <c:pt idx="3">
                  <c:v>1</c:v>
                </c:pt>
                <c:pt idx="4">
                  <c:v>2</c:v>
                </c:pt>
                <c:pt idx="5">
                  <c:v>18</c:v>
                </c:pt>
              </c:numCache>
            </c:numRef>
          </c:val>
          <c:extLst>
            <c:ext xmlns:c16="http://schemas.microsoft.com/office/drawing/2014/chart" uri="{C3380CC4-5D6E-409C-BE32-E72D297353CC}">
              <c16:uniqueId val="{0000000C-0F9A-448B-87AC-2C290C63C23B}"/>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SL</a:t>
            </a:r>
            <a:r>
              <a:rPr lang="en-US" baseline="0"/>
              <a:t> Donation is Common at Similar Orgs</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675A-49EF-BF86-011811A4E6DE}"/>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675A-49EF-BF86-011811A4E6DE}"/>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675A-49EF-BF86-011811A4E6DE}"/>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675A-49EF-BF86-011811A4E6DE}"/>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675A-49EF-BF86-011811A4E6DE}"/>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675A-49EF-BF86-011811A4E6DE}"/>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675A-49EF-BF86-011811A4E6D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Sheet1!$A$116:$A$122</c:f>
              <c:strCache>
                <c:ptCount val="7"/>
                <c:pt idx="0">
                  <c:v>Strongly Disagree</c:v>
                </c:pt>
                <c:pt idx="1">
                  <c:v>Disagree</c:v>
                </c:pt>
                <c:pt idx="2">
                  <c:v>Neutral</c:v>
                </c:pt>
                <c:pt idx="3">
                  <c:v>Agree</c:v>
                </c:pt>
                <c:pt idx="4">
                  <c:v>Strongly Agree</c:v>
                </c:pt>
                <c:pt idx="5">
                  <c:v>N/A</c:v>
                </c:pt>
                <c:pt idx="6">
                  <c:v>Don't Know</c:v>
                </c:pt>
              </c:strCache>
            </c:strRef>
          </c:cat>
          <c:val>
            <c:numRef>
              <c:f>Sheet1!$B$116:$B$122</c:f>
              <c:numCache>
                <c:formatCode>General</c:formatCode>
                <c:ptCount val="7"/>
                <c:pt idx="0">
                  <c:v>1</c:v>
                </c:pt>
                <c:pt idx="1">
                  <c:v>3</c:v>
                </c:pt>
                <c:pt idx="2">
                  <c:v>2</c:v>
                </c:pt>
                <c:pt idx="3">
                  <c:v>1</c:v>
                </c:pt>
                <c:pt idx="4">
                  <c:v>1</c:v>
                </c:pt>
                <c:pt idx="5">
                  <c:v>1</c:v>
                </c:pt>
                <c:pt idx="6">
                  <c:v>18</c:v>
                </c:pt>
              </c:numCache>
            </c:numRef>
          </c:val>
          <c:extLst>
            <c:ext xmlns:c16="http://schemas.microsoft.com/office/drawing/2014/chart" uri="{C3380CC4-5D6E-409C-BE32-E72D297353CC}">
              <c16:uniqueId val="{0000000E-675A-49EF-BF86-011811A4E6D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 Parental</a:t>
            </a:r>
            <a:r>
              <a:rPr lang="en-US" baseline="0"/>
              <a:t> Leave is Competitive</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EE1A-4931-9A4A-E6A5736C1DA1}"/>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EE1A-4931-9A4A-E6A5736C1DA1}"/>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EE1A-4931-9A4A-E6A5736C1DA1}"/>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EE1A-4931-9A4A-E6A5736C1DA1}"/>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EE1A-4931-9A4A-E6A5736C1DA1}"/>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EE1A-4931-9A4A-E6A5736C1DA1}"/>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EE1A-4931-9A4A-E6A5736C1DA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Sheet1!$A$126:$A$132</c:f>
              <c:strCache>
                <c:ptCount val="7"/>
                <c:pt idx="0">
                  <c:v>Strongly Disagree</c:v>
                </c:pt>
                <c:pt idx="1">
                  <c:v>Disagree</c:v>
                </c:pt>
                <c:pt idx="2">
                  <c:v>Neutral</c:v>
                </c:pt>
                <c:pt idx="3">
                  <c:v>Agree</c:v>
                </c:pt>
                <c:pt idx="4">
                  <c:v>Strongly Agree</c:v>
                </c:pt>
                <c:pt idx="5">
                  <c:v>N/A</c:v>
                </c:pt>
                <c:pt idx="6">
                  <c:v>Don't Know</c:v>
                </c:pt>
              </c:strCache>
            </c:strRef>
          </c:cat>
          <c:val>
            <c:numRef>
              <c:f>Sheet1!$B$126:$B$132</c:f>
              <c:numCache>
                <c:formatCode>General</c:formatCode>
                <c:ptCount val="7"/>
                <c:pt idx="0">
                  <c:v>2</c:v>
                </c:pt>
                <c:pt idx="1">
                  <c:v>2</c:v>
                </c:pt>
                <c:pt idx="2">
                  <c:v>4</c:v>
                </c:pt>
                <c:pt idx="3">
                  <c:v>1</c:v>
                </c:pt>
                <c:pt idx="4">
                  <c:v>1</c:v>
                </c:pt>
                <c:pt idx="5">
                  <c:v>4</c:v>
                </c:pt>
                <c:pt idx="6">
                  <c:v>13</c:v>
                </c:pt>
              </c:numCache>
            </c:numRef>
          </c:val>
          <c:extLst>
            <c:ext xmlns:c16="http://schemas.microsoft.com/office/drawing/2014/chart" uri="{C3380CC4-5D6E-409C-BE32-E72D297353CC}">
              <c16:uniqueId val="{0000000E-EE1A-4931-9A4A-E6A5736C1DA1}"/>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a:t>
            </a:r>
            <a:r>
              <a:rPr lang="en-US" baseline="0"/>
              <a:t> Definition of Family is Common</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1D8F-4EC2-9EB9-589E354EBFB5}"/>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1D8F-4EC2-9EB9-589E354EBFB5}"/>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1D8F-4EC2-9EB9-589E354EBFB5}"/>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1D8F-4EC2-9EB9-589E354EBFB5}"/>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1D8F-4EC2-9EB9-589E354EBFB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Sheet1!$A$136:$A$140</c:f>
              <c:strCache>
                <c:ptCount val="5"/>
                <c:pt idx="0">
                  <c:v>Strongly Disagree</c:v>
                </c:pt>
                <c:pt idx="1">
                  <c:v>Neutral</c:v>
                </c:pt>
                <c:pt idx="2">
                  <c:v>Agree</c:v>
                </c:pt>
                <c:pt idx="3">
                  <c:v>Strongly Agree</c:v>
                </c:pt>
                <c:pt idx="4">
                  <c:v>Don't Know</c:v>
                </c:pt>
              </c:strCache>
            </c:strRef>
          </c:cat>
          <c:val>
            <c:numRef>
              <c:f>Sheet1!$B$136:$B$140</c:f>
              <c:numCache>
                <c:formatCode>General</c:formatCode>
                <c:ptCount val="5"/>
                <c:pt idx="0">
                  <c:v>1</c:v>
                </c:pt>
                <c:pt idx="1">
                  <c:v>5</c:v>
                </c:pt>
                <c:pt idx="2">
                  <c:v>4</c:v>
                </c:pt>
                <c:pt idx="3">
                  <c:v>1</c:v>
                </c:pt>
                <c:pt idx="4">
                  <c:v>16</c:v>
                </c:pt>
              </c:numCache>
            </c:numRef>
          </c:val>
          <c:extLst>
            <c:ext xmlns:c16="http://schemas.microsoft.com/office/drawing/2014/chart" uri="{C3380CC4-5D6E-409C-BE32-E72D297353CC}">
              <c16:uniqueId val="{0000000A-1D8F-4EC2-9EB9-589E354EBFB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dirty="0"/>
              <a:t>Seek</a:t>
            </a:r>
            <a:r>
              <a:rPr lang="en-US" baseline="0" dirty="0"/>
              <a:t> New Job w/ Employer Contribution</a:t>
            </a:r>
            <a:endParaRPr lang="en-US" dirty="0"/>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B1AA-407D-B783-DCE67F883E77}"/>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B1AA-407D-B783-DCE67F883E77}"/>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B1AA-407D-B783-DCE67F883E77}"/>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B1AA-407D-B783-DCE67F883E77}"/>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B1AA-407D-B783-DCE67F883E77}"/>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B1AA-407D-B783-DCE67F883E7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Sheet1!$A$143:$A$148</c:f>
              <c:strCache>
                <c:ptCount val="6"/>
                <c:pt idx="0">
                  <c:v>Strongly Disagree</c:v>
                </c:pt>
                <c:pt idx="1">
                  <c:v>Disagree</c:v>
                </c:pt>
                <c:pt idx="2">
                  <c:v>Neutral</c:v>
                </c:pt>
                <c:pt idx="3">
                  <c:v>Agree</c:v>
                </c:pt>
                <c:pt idx="4">
                  <c:v>N/A</c:v>
                </c:pt>
                <c:pt idx="5">
                  <c:v>Don't Know</c:v>
                </c:pt>
              </c:strCache>
            </c:strRef>
          </c:cat>
          <c:val>
            <c:numRef>
              <c:f>Sheet1!$B$143:$B$148</c:f>
              <c:numCache>
                <c:formatCode>General</c:formatCode>
                <c:ptCount val="6"/>
                <c:pt idx="0">
                  <c:v>6</c:v>
                </c:pt>
                <c:pt idx="1">
                  <c:v>10</c:v>
                </c:pt>
                <c:pt idx="2">
                  <c:v>2</c:v>
                </c:pt>
                <c:pt idx="3">
                  <c:v>2</c:v>
                </c:pt>
                <c:pt idx="4">
                  <c:v>5</c:v>
                </c:pt>
                <c:pt idx="5">
                  <c:v>2</c:v>
                </c:pt>
              </c:numCache>
            </c:numRef>
          </c:val>
          <c:extLst>
            <c:ext xmlns:c16="http://schemas.microsoft.com/office/drawing/2014/chart" uri="{C3380CC4-5D6E-409C-BE32-E72D297353CC}">
              <c16:uniqueId val="{0000000C-B1AA-407D-B783-DCE67F883E77}"/>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 Smart Benefits are Competitive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7E82-4188-9258-3D100898C4CD}"/>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7E82-4188-9258-3D100898C4CD}"/>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7E82-4188-9258-3D100898C4CD}"/>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7E82-4188-9258-3D100898C4CD}"/>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7E82-4188-9258-3D100898C4CD}"/>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7E82-4188-9258-3D100898C4CD}"/>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7E82-4188-9258-3D100898C4C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Sheet1!$A$152:$A$158</c:f>
              <c:strCache>
                <c:ptCount val="7"/>
                <c:pt idx="0">
                  <c:v>Strongly Disagree</c:v>
                </c:pt>
                <c:pt idx="1">
                  <c:v>Disagree</c:v>
                </c:pt>
                <c:pt idx="2">
                  <c:v>Neutral</c:v>
                </c:pt>
                <c:pt idx="3">
                  <c:v>Agree</c:v>
                </c:pt>
                <c:pt idx="4">
                  <c:v>Strongly Agree</c:v>
                </c:pt>
                <c:pt idx="5">
                  <c:v>N/A</c:v>
                </c:pt>
                <c:pt idx="6">
                  <c:v>Don't Know</c:v>
                </c:pt>
              </c:strCache>
            </c:strRef>
          </c:cat>
          <c:val>
            <c:numRef>
              <c:f>Sheet1!$B$152:$B$158</c:f>
              <c:numCache>
                <c:formatCode>General</c:formatCode>
                <c:ptCount val="7"/>
                <c:pt idx="0">
                  <c:v>1</c:v>
                </c:pt>
                <c:pt idx="1">
                  <c:v>7</c:v>
                </c:pt>
                <c:pt idx="2">
                  <c:v>2</c:v>
                </c:pt>
                <c:pt idx="3">
                  <c:v>3</c:v>
                </c:pt>
                <c:pt idx="4">
                  <c:v>2</c:v>
                </c:pt>
                <c:pt idx="5">
                  <c:v>1</c:v>
                </c:pt>
                <c:pt idx="6">
                  <c:v>11</c:v>
                </c:pt>
              </c:numCache>
            </c:numRef>
          </c:val>
          <c:extLst>
            <c:ext xmlns:c16="http://schemas.microsoft.com/office/drawing/2014/chart" uri="{C3380CC4-5D6E-409C-BE32-E72D297353CC}">
              <c16:uniqueId val="{0000000E-7E82-4188-9258-3D100898C4CD}"/>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Satisfied</a:t>
            </a:r>
            <a:r>
              <a:rPr lang="en-US" baseline="0"/>
              <a:t> with FWA Policy</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7BC7-44A7-845C-8BF9240DA4A3}"/>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7BC7-44A7-845C-8BF9240DA4A3}"/>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7BC7-44A7-845C-8BF9240DA4A3}"/>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7BC7-44A7-845C-8BF9240DA4A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Sheet1!$A$161:$A$164</c:f>
              <c:strCache>
                <c:ptCount val="4"/>
                <c:pt idx="0">
                  <c:v>Disagree</c:v>
                </c:pt>
                <c:pt idx="1">
                  <c:v>Neutral</c:v>
                </c:pt>
                <c:pt idx="2">
                  <c:v>Agree</c:v>
                </c:pt>
                <c:pt idx="3">
                  <c:v>Strongly Agree</c:v>
                </c:pt>
              </c:strCache>
            </c:strRef>
          </c:cat>
          <c:val>
            <c:numRef>
              <c:f>Sheet1!$B$161:$B$164</c:f>
              <c:numCache>
                <c:formatCode>General</c:formatCode>
                <c:ptCount val="4"/>
                <c:pt idx="0">
                  <c:v>3</c:v>
                </c:pt>
                <c:pt idx="1">
                  <c:v>4</c:v>
                </c:pt>
                <c:pt idx="2">
                  <c:v>9</c:v>
                </c:pt>
                <c:pt idx="3">
                  <c:v>11</c:v>
                </c:pt>
              </c:numCache>
            </c:numRef>
          </c:val>
          <c:extLst>
            <c:ext xmlns:c16="http://schemas.microsoft.com/office/drawing/2014/chart" uri="{C3380CC4-5D6E-409C-BE32-E72D297353CC}">
              <c16:uniqueId val="{00000008-7BC7-44A7-845C-8BF9240DA4A3}"/>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 Comp</a:t>
            </a:r>
            <a:r>
              <a:rPr lang="en-US" baseline="0"/>
              <a:t> Time is Competitive</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FC53-4CB6-AE19-3E8E75FCA235}"/>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FC53-4CB6-AE19-3E8E75FCA235}"/>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FC53-4CB6-AE19-3E8E75FCA235}"/>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FC53-4CB6-AE19-3E8E75FCA235}"/>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FC53-4CB6-AE19-3E8E75FCA23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Sheet1!$A$168:$A$172</c:f>
              <c:strCache>
                <c:ptCount val="5"/>
                <c:pt idx="0">
                  <c:v>Strongly Disagree</c:v>
                </c:pt>
                <c:pt idx="1">
                  <c:v>Disagree</c:v>
                </c:pt>
                <c:pt idx="2">
                  <c:v>Agree</c:v>
                </c:pt>
                <c:pt idx="3">
                  <c:v>Strongly Agree</c:v>
                </c:pt>
                <c:pt idx="4">
                  <c:v>Don't Know</c:v>
                </c:pt>
              </c:strCache>
            </c:strRef>
          </c:cat>
          <c:val>
            <c:numRef>
              <c:f>Sheet1!$B$168:$B$172</c:f>
              <c:numCache>
                <c:formatCode>General</c:formatCode>
                <c:ptCount val="5"/>
                <c:pt idx="0">
                  <c:v>4</c:v>
                </c:pt>
                <c:pt idx="1">
                  <c:v>3</c:v>
                </c:pt>
                <c:pt idx="2">
                  <c:v>4</c:v>
                </c:pt>
                <c:pt idx="3">
                  <c:v>2</c:v>
                </c:pt>
                <c:pt idx="4">
                  <c:v>14</c:v>
                </c:pt>
              </c:numCache>
            </c:numRef>
          </c:val>
          <c:extLst>
            <c:ext xmlns:c16="http://schemas.microsoft.com/office/drawing/2014/chart" uri="{C3380CC4-5D6E-409C-BE32-E72D297353CC}">
              <c16:uniqueId val="{0000000A-FC53-4CB6-AE19-3E8E75FCA23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 PD is Competitive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063D-4EA3-BEBF-77F2A9DA89C8}"/>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063D-4EA3-BEBF-77F2A9DA89C8}"/>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063D-4EA3-BEBF-77F2A9DA89C8}"/>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063D-4EA3-BEBF-77F2A9DA89C8}"/>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063D-4EA3-BEBF-77F2A9DA89C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Sheet1!$A$177:$A$181</c:f>
              <c:strCache>
                <c:ptCount val="5"/>
                <c:pt idx="0">
                  <c:v>Strongly Disagree</c:v>
                </c:pt>
                <c:pt idx="1">
                  <c:v>Disagree</c:v>
                </c:pt>
                <c:pt idx="2">
                  <c:v>Neutral</c:v>
                </c:pt>
                <c:pt idx="3">
                  <c:v>Agree</c:v>
                </c:pt>
                <c:pt idx="4">
                  <c:v>Don't Know</c:v>
                </c:pt>
              </c:strCache>
            </c:strRef>
          </c:cat>
          <c:val>
            <c:numRef>
              <c:f>Sheet1!$B$177:$B$181</c:f>
              <c:numCache>
                <c:formatCode>General</c:formatCode>
                <c:ptCount val="5"/>
                <c:pt idx="0">
                  <c:v>2</c:v>
                </c:pt>
                <c:pt idx="1">
                  <c:v>5</c:v>
                </c:pt>
                <c:pt idx="2">
                  <c:v>4</c:v>
                </c:pt>
                <c:pt idx="3">
                  <c:v>2</c:v>
                </c:pt>
                <c:pt idx="4">
                  <c:v>14</c:v>
                </c:pt>
              </c:numCache>
            </c:numRef>
          </c:val>
          <c:extLst>
            <c:ext xmlns:c16="http://schemas.microsoft.com/office/drawing/2014/chart" uri="{C3380CC4-5D6E-409C-BE32-E72D297353CC}">
              <c16:uniqueId val="{0000000A-063D-4EA3-BEBF-77F2A9DA89C8}"/>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Satisfied</a:t>
            </a:r>
            <a:r>
              <a:rPr lang="en-US" baseline="0"/>
              <a:t> with 30-Minutes of Paid Lunch</a:t>
            </a:r>
            <a:endParaRPr lang="en-US"/>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F073-4EF6-AEFC-AEDDCB639182}"/>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F073-4EF6-AEFC-AEDDCB639182}"/>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F073-4EF6-AEFC-AEDDCB639182}"/>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F073-4EF6-AEFC-AEDDCB639182}"/>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F073-4EF6-AEFC-AEDDCB63918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Sheet1!$A$184:$A$188</c:f>
              <c:strCache>
                <c:ptCount val="5"/>
                <c:pt idx="0">
                  <c:v>Strongly Disagree</c:v>
                </c:pt>
                <c:pt idx="1">
                  <c:v>Disagree</c:v>
                </c:pt>
                <c:pt idx="2">
                  <c:v>Neutral</c:v>
                </c:pt>
                <c:pt idx="3">
                  <c:v>Agree</c:v>
                </c:pt>
                <c:pt idx="4">
                  <c:v>Strongly Agree</c:v>
                </c:pt>
              </c:strCache>
            </c:strRef>
          </c:cat>
          <c:val>
            <c:numRef>
              <c:f>Sheet1!$B$184:$B$188</c:f>
              <c:numCache>
                <c:formatCode>General</c:formatCode>
                <c:ptCount val="5"/>
                <c:pt idx="0">
                  <c:v>2</c:v>
                </c:pt>
                <c:pt idx="1">
                  <c:v>3</c:v>
                </c:pt>
                <c:pt idx="2">
                  <c:v>8</c:v>
                </c:pt>
                <c:pt idx="3">
                  <c:v>7</c:v>
                </c:pt>
                <c:pt idx="4">
                  <c:v>6</c:v>
                </c:pt>
              </c:numCache>
            </c:numRef>
          </c:val>
          <c:extLst>
            <c:ext xmlns:c16="http://schemas.microsoft.com/office/drawing/2014/chart" uri="{C3380CC4-5D6E-409C-BE32-E72D297353CC}">
              <c16:uniqueId val="{0000000A-F073-4EF6-AEFC-AEDDCB639182}"/>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POA's TCP is Competitive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A66F-4C46-AEE3-3A0F5268F1AE}"/>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A66F-4C46-AEE3-3A0F5268F1AE}"/>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A66F-4C46-AEE3-3A0F5268F1AE}"/>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A66F-4C46-AEE3-3A0F5268F1AE}"/>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A66F-4C46-AEE3-3A0F5268F1AE}"/>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A66F-4C46-AEE3-3A0F5268F1A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Sheet1!$A$193:$A$198</c:f>
              <c:strCache>
                <c:ptCount val="6"/>
                <c:pt idx="0">
                  <c:v>Strongly Disagree</c:v>
                </c:pt>
                <c:pt idx="1">
                  <c:v>Disagree</c:v>
                </c:pt>
                <c:pt idx="2">
                  <c:v>Neutral</c:v>
                </c:pt>
                <c:pt idx="3">
                  <c:v>Agree</c:v>
                </c:pt>
                <c:pt idx="4">
                  <c:v>Strongly Agree</c:v>
                </c:pt>
                <c:pt idx="5">
                  <c:v>Don't Know</c:v>
                </c:pt>
              </c:strCache>
            </c:strRef>
          </c:cat>
          <c:val>
            <c:numRef>
              <c:f>Sheet1!$B$193:$B$198</c:f>
              <c:numCache>
                <c:formatCode>General</c:formatCode>
                <c:ptCount val="6"/>
                <c:pt idx="0">
                  <c:v>1</c:v>
                </c:pt>
                <c:pt idx="1">
                  <c:v>4</c:v>
                </c:pt>
                <c:pt idx="2">
                  <c:v>6</c:v>
                </c:pt>
                <c:pt idx="3">
                  <c:v>6</c:v>
                </c:pt>
                <c:pt idx="4">
                  <c:v>3</c:v>
                </c:pt>
                <c:pt idx="5">
                  <c:v>7</c:v>
                </c:pt>
              </c:numCache>
            </c:numRef>
          </c:val>
          <c:extLst>
            <c:ext xmlns:c16="http://schemas.microsoft.com/office/drawing/2014/chart" uri="{C3380CC4-5D6E-409C-BE32-E72D297353CC}">
              <c16:uniqueId val="{0000000C-A66F-4C46-AEE3-3A0F5268F1A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Satisfied with the TCP</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2136-44BA-871C-FFCFB60546D9}"/>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2136-44BA-871C-FFCFB60546D9}"/>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2136-44BA-871C-FFCFB60546D9}"/>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2136-44BA-871C-FFCFB60546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Sheet1!$A$203:$A$206</c:f>
              <c:strCache>
                <c:ptCount val="4"/>
                <c:pt idx="0">
                  <c:v>Disagree</c:v>
                </c:pt>
                <c:pt idx="1">
                  <c:v>Neutral</c:v>
                </c:pt>
                <c:pt idx="2">
                  <c:v>Agree</c:v>
                </c:pt>
                <c:pt idx="3">
                  <c:v>Strongly Agree</c:v>
                </c:pt>
              </c:strCache>
            </c:strRef>
          </c:cat>
          <c:val>
            <c:numRef>
              <c:f>Sheet1!$B$203:$B$206</c:f>
              <c:numCache>
                <c:formatCode>General</c:formatCode>
                <c:ptCount val="4"/>
                <c:pt idx="0">
                  <c:v>8</c:v>
                </c:pt>
                <c:pt idx="1">
                  <c:v>6</c:v>
                </c:pt>
                <c:pt idx="2">
                  <c:v>9</c:v>
                </c:pt>
                <c:pt idx="3">
                  <c:v>4</c:v>
                </c:pt>
              </c:numCache>
            </c:numRef>
          </c:val>
          <c:extLst>
            <c:ext xmlns:c16="http://schemas.microsoft.com/office/drawing/2014/chart" uri="{C3380CC4-5D6E-409C-BE32-E72D297353CC}">
              <c16:uniqueId val="{00000008-2136-44BA-871C-FFCFB60546D9}"/>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0.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F6976C-55E9-477D-9930-BF43D028A94E}" type="datetimeFigureOut">
              <a:rPr lang="en-US" smtClean="0"/>
              <a:t>2/18/2020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C8CDDC-CBDB-4294-98C4-98A2F202DD61}" type="slidenum">
              <a:rPr lang="en-US" smtClean="0"/>
              <a:t>‹#›</a:t>
            </a:fld>
            <a:endParaRPr lang="en-US"/>
          </a:p>
        </p:txBody>
      </p:sp>
    </p:spTree>
    <p:extLst>
      <p:ext uri="{BB962C8B-B14F-4D97-AF65-F5344CB8AC3E}">
        <p14:creationId xmlns:p14="http://schemas.microsoft.com/office/powerpoint/2010/main" val="2038790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4</a:t>
            </a:fld>
            <a:endParaRPr lang="en-US"/>
          </a:p>
        </p:txBody>
      </p:sp>
    </p:spTree>
    <p:extLst>
      <p:ext uri="{BB962C8B-B14F-4D97-AF65-F5344CB8AC3E}">
        <p14:creationId xmlns:p14="http://schemas.microsoft.com/office/powerpoint/2010/main" val="1775274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6</a:t>
            </a:fld>
            <a:endParaRPr lang="en-US"/>
          </a:p>
        </p:txBody>
      </p:sp>
    </p:spTree>
    <p:extLst>
      <p:ext uri="{BB962C8B-B14F-4D97-AF65-F5344CB8AC3E}">
        <p14:creationId xmlns:p14="http://schemas.microsoft.com/office/powerpoint/2010/main" val="1775274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8</a:t>
            </a:fld>
            <a:endParaRPr lang="en-US"/>
          </a:p>
        </p:txBody>
      </p:sp>
    </p:spTree>
    <p:extLst>
      <p:ext uri="{BB962C8B-B14F-4D97-AF65-F5344CB8AC3E}">
        <p14:creationId xmlns:p14="http://schemas.microsoft.com/office/powerpoint/2010/main" val="1775274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10</a:t>
            </a:fld>
            <a:endParaRPr lang="en-US"/>
          </a:p>
        </p:txBody>
      </p:sp>
    </p:spTree>
    <p:extLst>
      <p:ext uri="{BB962C8B-B14F-4D97-AF65-F5344CB8AC3E}">
        <p14:creationId xmlns:p14="http://schemas.microsoft.com/office/powerpoint/2010/main" val="1775274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12</a:t>
            </a:fld>
            <a:endParaRPr lang="en-US"/>
          </a:p>
        </p:txBody>
      </p:sp>
    </p:spTree>
    <p:extLst>
      <p:ext uri="{BB962C8B-B14F-4D97-AF65-F5344CB8AC3E}">
        <p14:creationId xmlns:p14="http://schemas.microsoft.com/office/powerpoint/2010/main" val="305541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8CDDC-CBDB-4294-98C4-98A2F202DD61}" type="slidenum">
              <a:rPr lang="en-US" smtClean="0"/>
              <a:t>13</a:t>
            </a:fld>
            <a:endParaRPr lang="en-US"/>
          </a:p>
        </p:txBody>
      </p:sp>
    </p:spTree>
    <p:extLst>
      <p:ext uri="{BB962C8B-B14F-4D97-AF65-F5344CB8AC3E}">
        <p14:creationId xmlns:p14="http://schemas.microsoft.com/office/powerpoint/2010/main" val="339683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14</a:t>
            </a:fld>
            <a:endParaRPr lang="en-US"/>
          </a:p>
        </p:txBody>
      </p:sp>
    </p:spTree>
    <p:extLst>
      <p:ext uri="{BB962C8B-B14F-4D97-AF65-F5344CB8AC3E}">
        <p14:creationId xmlns:p14="http://schemas.microsoft.com/office/powerpoint/2010/main" val="1534082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16</a:t>
            </a:fld>
            <a:endParaRPr lang="en-US"/>
          </a:p>
        </p:txBody>
      </p:sp>
    </p:spTree>
    <p:extLst>
      <p:ext uri="{BB962C8B-B14F-4D97-AF65-F5344CB8AC3E}">
        <p14:creationId xmlns:p14="http://schemas.microsoft.com/office/powerpoint/2010/main" val="3042195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18</a:t>
            </a:fld>
            <a:endParaRPr lang="en-US"/>
          </a:p>
        </p:txBody>
      </p:sp>
    </p:spTree>
    <p:extLst>
      <p:ext uri="{BB962C8B-B14F-4D97-AF65-F5344CB8AC3E}">
        <p14:creationId xmlns:p14="http://schemas.microsoft.com/office/powerpoint/2010/main" val="1066671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21</a:t>
            </a:fld>
            <a:endParaRPr lang="en-US"/>
          </a:p>
        </p:txBody>
      </p:sp>
    </p:spTree>
    <p:extLst>
      <p:ext uri="{BB962C8B-B14F-4D97-AF65-F5344CB8AC3E}">
        <p14:creationId xmlns:p14="http://schemas.microsoft.com/office/powerpoint/2010/main" val="3069209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23</a:t>
            </a:fld>
            <a:endParaRPr lang="en-US"/>
          </a:p>
        </p:txBody>
      </p:sp>
    </p:spTree>
    <p:extLst>
      <p:ext uri="{BB962C8B-B14F-4D97-AF65-F5344CB8AC3E}">
        <p14:creationId xmlns:p14="http://schemas.microsoft.com/office/powerpoint/2010/main" val="3033238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25</a:t>
            </a:fld>
            <a:endParaRPr lang="en-US"/>
          </a:p>
        </p:txBody>
      </p:sp>
    </p:spTree>
    <p:extLst>
      <p:ext uri="{BB962C8B-B14F-4D97-AF65-F5344CB8AC3E}">
        <p14:creationId xmlns:p14="http://schemas.microsoft.com/office/powerpoint/2010/main" val="3642923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27</a:t>
            </a:fld>
            <a:endParaRPr lang="en-US"/>
          </a:p>
        </p:txBody>
      </p:sp>
    </p:spTree>
    <p:extLst>
      <p:ext uri="{BB962C8B-B14F-4D97-AF65-F5344CB8AC3E}">
        <p14:creationId xmlns:p14="http://schemas.microsoft.com/office/powerpoint/2010/main" val="2702078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29</a:t>
            </a:fld>
            <a:endParaRPr lang="en-US"/>
          </a:p>
        </p:txBody>
      </p:sp>
    </p:spTree>
    <p:extLst>
      <p:ext uri="{BB962C8B-B14F-4D97-AF65-F5344CB8AC3E}">
        <p14:creationId xmlns:p14="http://schemas.microsoft.com/office/powerpoint/2010/main" val="16503883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31</a:t>
            </a:fld>
            <a:endParaRPr lang="en-US"/>
          </a:p>
        </p:txBody>
      </p:sp>
    </p:spTree>
    <p:extLst>
      <p:ext uri="{BB962C8B-B14F-4D97-AF65-F5344CB8AC3E}">
        <p14:creationId xmlns:p14="http://schemas.microsoft.com/office/powerpoint/2010/main" val="2280114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33</a:t>
            </a:fld>
            <a:endParaRPr lang="en-US"/>
          </a:p>
        </p:txBody>
      </p:sp>
    </p:spTree>
    <p:extLst>
      <p:ext uri="{BB962C8B-B14F-4D97-AF65-F5344CB8AC3E}">
        <p14:creationId xmlns:p14="http://schemas.microsoft.com/office/powerpoint/2010/main" val="896339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35</a:t>
            </a:fld>
            <a:endParaRPr lang="en-US"/>
          </a:p>
        </p:txBody>
      </p:sp>
    </p:spTree>
    <p:extLst>
      <p:ext uri="{BB962C8B-B14F-4D97-AF65-F5344CB8AC3E}">
        <p14:creationId xmlns:p14="http://schemas.microsoft.com/office/powerpoint/2010/main" val="443564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8CDDC-CBDB-4294-98C4-98A2F202DD61}" type="slidenum">
              <a:rPr lang="en-US" smtClean="0"/>
              <a:t>36</a:t>
            </a:fld>
            <a:endParaRPr lang="en-US"/>
          </a:p>
        </p:txBody>
      </p:sp>
    </p:spTree>
    <p:extLst>
      <p:ext uri="{BB962C8B-B14F-4D97-AF65-F5344CB8AC3E}">
        <p14:creationId xmlns:p14="http://schemas.microsoft.com/office/powerpoint/2010/main" val="2219523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37</a:t>
            </a:fld>
            <a:endParaRPr lang="en-US"/>
          </a:p>
        </p:txBody>
      </p:sp>
    </p:spTree>
    <p:extLst>
      <p:ext uri="{BB962C8B-B14F-4D97-AF65-F5344CB8AC3E}">
        <p14:creationId xmlns:p14="http://schemas.microsoft.com/office/powerpoint/2010/main" val="2694586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39</a:t>
            </a:fld>
            <a:endParaRPr lang="en-US"/>
          </a:p>
        </p:txBody>
      </p:sp>
    </p:spTree>
    <p:extLst>
      <p:ext uri="{BB962C8B-B14F-4D97-AF65-F5344CB8AC3E}">
        <p14:creationId xmlns:p14="http://schemas.microsoft.com/office/powerpoint/2010/main" val="1886929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41</a:t>
            </a:fld>
            <a:endParaRPr lang="en-US"/>
          </a:p>
        </p:txBody>
      </p:sp>
    </p:spTree>
    <p:extLst>
      <p:ext uri="{BB962C8B-B14F-4D97-AF65-F5344CB8AC3E}">
        <p14:creationId xmlns:p14="http://schemas.microsoft.com/office/powerpoint/2010/main" val="3255835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43</a:t>
            </a:fld>
            <a:endParaRPr lang="en-US"/>
          </a:p>
        </p:txBody>
      </p:sp>
    </p:spTree>
    <p:extLst>
      <p:ext uri="{BB962C8B-B14F-4D97-AF65-F5344CB8AC3E}">
        <p14:creationId xmlns:p14="http://schemas.microsoft.com/office/powerpoint/2010/main" val="1795659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45</a:t>
            </a:fld>
            <a:endParaRPr lang="en-US"/>
          </a:p>
        </p:txBody>
      </p:sp>
    </p:spTree>
    <p:extLst>
      <p:ext uri="{BB962C8B-B14F-4D97-AF65-F5344CB8AC3E}">
        <p14:creationId xmlns:p14="http://schemas.microsoft.com/office/powerpoint/2010/main" val="34467397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C8CDDC-CBDB-4294-98C4-98A2F202DD61}" type="slidenum">
              <a:rPr lang="en-US" smtClean="0"/>
              <a:t>47</a:t>
            </a:fld>
            <a:endParaRPr lang="en-US"/>
          </a:p>
        </p:txBody>
      </p:sp>
    </p:spTree>
    <p:extLst>
      <p:ext uri="{BB962C8B-B14F-4D97-AF65-F5344CB8AC3E}">
        <p14:creationId xmlns:p14="http://schemas.microsoft.com/office/powerpoint/2010/main" val="1086593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E39EC4A-3862-4BFA-BE6E-F29D0FBF5C4D}" type="datetimeFigureOut">
              <a:rPr lang="en-US" smtClean="0"/>
              <a:t>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601457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9EC4A-3862-4BFA-BE6E-F29D0FBF5C4D}" type="datetimeFigureOut">
              <a:rPr lang="en-US" smtClean="0"/>
              <a:t>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291856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39EC4A-3862-4BFA-BE6E-F29D0FBF5C4D}" type="datetimeFigureOut">
              <a:rPr lang="en-US" smtClean="0"/>
              <a:t>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2196448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39EC4A-3862-4BFA-BE6E-F29D0FBF5C4D}" type="datetimeFigureOut">
              <a:rPr lang="en-US" smtClean="0"/>
              <a:t>2/18/2020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745268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39EC4A-3862-4BFA-BE6E-F29D0FBF5C4D}" type="datetimeFigureOut">
              <a:rPr lang="en-US" smtClean="0"/>
              <a:t>2/18/2020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520682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39EC4A-3862-4BFA-BE6E-F29D0FBF5C4D}" type="datetimeFigureOut">
              <a:rPr lang="en-US" smtClean="0"/>
              <a:t>2/18/2020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71063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39EC4A-3862-4BFA-BE6E-F29D0FBF5C4D}" type="datetimeFigureOut">
              <a:rPr lang="en-US" smtClean="0"/>
              <a:t>2/18/2020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232107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39EC4A-3862-4BFA-BE6E-F29D0FBF5C4D}" type="datetimeFigureOut">
              <a:rPr lang="en-US" smtClean="0"/>
              <a:t>2/18/2020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760946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39EC4A-3862-4BFA-BE6E-F29D0FBF5C4D}" type="datetimeFigureOut">
              <a:rPr lang="en-US" smtClean="0"/>
              <a:t>2/18/2020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128189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9EC4A-3862-4BFA-BE6E-F29D0FBF5C4D}" type="datetimeFigureOut">
              <a:rPr lang="en-US" smtClean="0"/>
              <a:t>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63265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9EC4A-3862-4BFA-BE6E-F29D0FBF5C4D}" type="datetimeFigureOut">
              <a:rPr lang="en-US" smtClean="0"/>
              <a:t>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370133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E39EC4A-3862-4BFA-BE6E-F29D0FBF5C4D}" type="datetimeFigureOut">
              <a:rPr lang="en-US" smtClean="0"/>
              <a:t>2/18/2020</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5198911-A112-4376-9709-510CD9276156}" type="slidenum">
              <a:rPr lang="en-US" smtClean="0"/>
              <a:t>‹#›</a:t>
            </a:fld>
            <a:endParaRPr lang="en-US"/>
          </a:p>
        </p:txBody>
      </p:sp>
    </p:spTree>
    <p:extLst>
      <p:ext uri="{BB962C8B-B14F-4D97-AF65-F5344CB8AC3E}">
        <p14:creationId xmlns:p14="http://schemas.microsoft.com/office/powerpoint/2010/main" val="1356237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0990"/>
            <a:ext cx="9220200" cy="5143500"/>
          </a:xfrm>
          <a:prstGeom prst="rect">
            <a:avLst/>
          </a:prstGeom>
          <a:solidFill>
            <a:srgbClr val="4478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57200" y="394335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172200" y="285750"/>
            <a:ext cx="28270200" cy="5257800"/>
          </a:xfrm>
          <a:prstGeom prst="rect">
            <a:avLst/>
          </a:prstGeom>
          <a:blipFill dpi="0" rotWithShape="1">
            <a:blip r:embed="rId2">
              <a:alphaModFix amt="28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33400" y="1657350"/>
            <a:ext cx="6705600" cy="954107"/>
          </a:xfrm>
          <a:prstGeom prst="rect">
            <a:avLst/>
          </a:prstGeom>
          <a:noFill/>
        </p:spPr>
        <p:txBody>
          <a:bodyPr wrap="square" rtlCol="0">
            <a:spAutoFit/>
          </a:bodyPr>
          <a:lstStyle/>
          <a:p>
            <a:r>
              <a:rPr lang="en-US" sz="3200" dirty="0">
                <a:solidFill>
                  <a:schemeClr val="bg1"/>
                </a:solidFill>
                <a:latin typeface="Segoe UI" pitchFamily="34" charset="0"/>
                <a:ea typeface="Segoe UI" pitchFamily="34" charset="0"/>
                <a:cs typeface="Segoe UI" pitchFamily="34" charset="0"/>
              </a:rPr>
              <a:t>Total Compensation Survey</a:t>
            </a:r>
          </a:p>
          <a:p>
            <a:r>
              <a:rPr lang="en-US" sz="2400" dirty="0">
                <a:solidFill>
                  <a:schemeClr val="bg1"/>
                </a:solidFill>
                <a:latin typeface="Segoe UI" pitchFamily="34" charset="0"/>
                <a:ea typeface="Segoe UI" pitchFamily="34" charset="0"/>
                <a:cs typeface="Segoe UI" pitchFamily="34" charset="0"/>
              </a:rPr>
              <a:t>2019 Results</a:t>
            </a:r>
          </a:p>
        </p:txBody>
      </p:sp>
      <p:pic>
        <p:nvPicPr>
          <p:cNvPr id="3" name="Picture 2" descr="A screenshot of a cell phone&#10;&#10;Description automatically generated">
            <a:extLst>
              <a:ext uri="{FF2B5EF4-FFF2-40B4-BE49-F238E27FC236}">
                <a16:creationId xmlns:a16="http://schemas.microsoft.com/office/drawing/2014/main" id="{FD08EB59-7208-4A06-872D-EF88468BEF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 y="4106168"/>
            <a:ext cx="2490033" cy="455676"/>
          </a:xfrm>
          <a:prstGeom prst="rect">
            <a:avLst/>
          </a:prstGeom>
        </p:spPr>
      </p:pic>
    </p:spTree>
    <p:extLst>
      <p:ext uri="{BB962C8B-B14F-4D97-AF65-F5344CB8AC3E}">
        <p14:creationId xmlns:p14="http://schemas.microsoft.com/office/powerpoint/2010/main" val="2950975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4419600" y="-3137"/>
            <a:ext cx="4316627" cy="5143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170772" y="-3136"/>
            <a:ext cx="4139732" cy="5143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581150"/>
            <a:ext cx="8229600" cy="3276600"/>
          </a:xfrm>
        </p:spPr>
        <p:txBody>
          <a:bodyPr>
            <a:normAutofit lnSpcReduction="10000"/>
          </a:bodyPr>
          <a:lstStyle/>
          <a:p>
            <a:r>
              <a:rPr lang="en-US" sz="2400" dirty="0">
                <a:solidFill>
                  <a:srgbClr val="696969"/>
                </a:solidFill>
                <a:latin typeface="Gill Sans MT" pitchFamily="34" charset="0"/>
                <a:cs typeface="Lao UI" pitchFamily="34" charset="0"/>
              </a:rPr>
              <a:t>Goal</a:t>
            </a:r>
          </a:p>
          <a:p>
            <a:pPr lvl="1"/>
            <a:r>
              <a:rPr lang="en-US" sz="1800" dirty="0">
                <a:solidFill>
                  <a:srgbClr val="696969"/>
                </a:solidFill>
                <a:latin typeface="Gill Sans MT" pitchFamily="34" charset="0"/>
                <a:cs typeface="Lao UI" pitchFamily="34" charset="0"/>
              </a:rPr>
              <a:t>To understand POA employee perception of the current compensation package and which benefit(s) employees value the most.</a:t>
            </a:r>
          </a:p>
          <a:p>
            <a:pPr lvl="1"/>
            <a:endParaRPr lang="en-US" sz="2000" dirty="0">
              <a:solidFill>
                <a:srgbClr val="696969"/>
              </a:solidFill>
              <a:latin typeface="Gill Sans MT" pitchFamily="34" charset="0"/>
              <a:cs typeface="Lao UI" pitchFamily="34" charset="0"/>
            </a:endParaRPr>
          </a:p>
          <a:p>
            <a:r>
              <a:rPr lang="en-US" sz="2400" dirty="0">
                <a:solidFill>
                  <a:srgbClr val="696969"/>
                </a:solidFill>
                <a:latin typeface="Gill Sans MT" pitchFamily="34" charset="0"/>
                <a:cs typeface="Lao UI" pitchFamily="34" charset="0"/>
              </a:rPr>
              <a:t>Total Compensation Package</a:t>
            </a:r>
          </a:p>
          <a:p>
            <a:pPr lvl="1"/>
            <a:r>
              <a:rPr lang="en-US" sz="1800" dirty="0">
                <a:solidFill>
                  <a:srgbClr val="696969"/>
                </a:solidFill>
                <a:latin typeface="Gill Sans MT" pitchFamily="34" charset="0"/>
                <a:cs typeface="Lao UI" pitchFamily="34" charset="0"/>
              </a:rPr>
              <a:t>All of the benefits that full-time POA employees receive: Salary, Healthcare, Vision, Dental, Short-Term Disability, Life Insurance, Retirement Plan, Annual Leave, Sick Leave, Sick Bank, Sick Leave Donation, Parental Leave, Compassionate Leave, Compensatory Time, Professional Development, 10 Paid Holidays, Flex Work Arrangement, Flex Spending Account, Smart Benefits, 30-Minute Paid Lunch.</a:t>
            </a:r>
          </a:p>
        </p:txBody>
      </p:sp>
      <p:sp>
        <p:nvSpPr>
          <p:cNvPr id="4" name="Rectangle 3"/>
          <p:cNvSpPr/>
          <p:nvPr/>
        </p:nvSpPr>
        <p:spPr>
          <a:xfrm>
            <a:off x="0" y="285750"/>
            <a:ext cx="9065525" cy="609600"/>
          </a:xfrm>
          <a:prstGeom prst="rect">
            <a:avLst/>
          </a:prstGeom>
          <a:solidFill>
            <a:srgbClr val="3E6C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2400" y="152400"/>
            <a:ext cx="7467600" cy="857250"/>
          </a:xfrm>
        </p:spPr>
        <p:txBody>
          <a:bodyPr/>
          <a:lstStyle/>
          <a:p>
            <a:r>
              <a:rPr lang="en-US" dirty="0">
                <a:solidFill>
                  <a:schemeClr val="bg1"/>
                </a:solidFill>
                <a:latin typeface="Segoe UI" pitchFamily="34" charset="0"/>
                <a:ea typeface="Segoe UI" pitchFamily="34" charset="0"/>
                <a:cs typeface="Segoe UI" pitchFamily="34" charset="0"/>
              </a:rPr>
              <a:t>Total Compensation Survey</a:t>
            </a:r>
          </a:p>
        </p:txBody>
      </p:sp>
    </p:spTree>
    <p:extLst>
      <p:ext uri="{BB962C8B-B14F-4D97-AF65-F5344CB8AC3E}">
        <p14:creationId xmlns:p14="http://schemas.microsoft.com/office/powerpoint/2010/main" val="172198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4419600" y="-3137"/>
            <a:ext cx="4316627" cy="5143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170772" y="-3136"/>
            <a:ext cx="4139732" cy="5143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539478"/>
            <a:ext cx="8229600" cy="3242072"/>
          </a:xfrm>
        </p:spPr>
        <p:txBody>
          <a:bodyPr>
            <a:normAutofit/>
          </a:bodyPr>
          <a:lstStyle/>
          <a:p>
            <a:r>
              <a:rPr lang="en-US" sz="2400" dirty="0">
                <a:solidFill>
                  <a:srgbClr val="696969"/>
                </a:solidFill>
                <a:latin typeface="Gill Sans MT" pitchFamily="34" charset="0"/>
                <a:cs typeface="Lao UI" pitchFamily="34" charset="0"/>
              </a:rPr>
              <a:t>Data Collection</a:t>
            </a:r>
          </a:p>
          <a:p>
            <a:pPr lvl="1"/>
            <a:r>
              <a:rPr lang="en-US" sz="1800" dirty="0">
                <a:solidFill>
                  <a:srgbClr val="696969"/>
                </a:solidFill>
                <a:latin typeface="Gill Sans MT" pitchFamily="34" charset="0"/>
                <a:cs typeface="Lao UI" pitchFamily="34" charset="0"/>
              </a:rPr>
              <a:t>Completely anonymous</a:t>
            </a:r>
          </a:p>
          <a:p>
            <a:pPr lvl="1"/>
            <a:r>
              <a:rPr lang="en-US" sz="1800" dirty="0">
                <a:solidFill>
                  <a:srgbClr val="696969"/>
                </a:solidFill>
                <a:latin typeface="Gill Sans MT" pitchFamily="34" charset="0"/>
                <a:cs typeface="Lao UI" pitchFamily="34" charset="0"/>
              </a:rPr>
              <a:t>Qualitative and quantitative data collected</a:t>
            </a:r>
          </a:p>
          <a:p>
            <a:pPr lvl="1"/>
            <a:r>
              <a:rPr lang="en-US" sz="1800" dirty="0">
                <a:solidFill>
                  <a:srgbClr val="696969"/>
                </a:solidFill>
                <a:latin typeface="Gill Sans MT" pitchFamily="34" charset="0"/>
                <a:cs typeface="Lao UI" pitchFamily="34" charset="0"/>
              </a:rPr>
              <a:t>27 participants</a:t>
            </a:r>
          </a:p>
          <a:p>
            <a:pPr lvl="1"/>
            <a:endParaRPr lang="en-US" sz="1800" dirty="0">
              <a:solidFill>
                <a:srgbClr val="696969"/>
              </a:solidFill>
              <a:latin typeface="Gill Sans MT" pitchFamily="34" charset="0"/>
              <a:cs typeface="Lao UI" pitchFamily="34" charset="0"/>
            </a:endParaRPr>
          </a:p>
          <a:p>
            <a:r>
              <a:rPr lang="en-US" sz="2400" dirty="0">
                <a:solidFill>
                  <a:srgbClr val="696969"/>
                </a:solidFill>
                <a:latin typeface="Gill Sans MT" pitchFamily="34" charset="0"/>
                <a:cs typeface="Lao UI" pitchFamily="34" charset="0"/>
              </a:rPr>
              <a:t>Data Entry</a:t>
            </a:r>
          </a:p>
          <a:p>
            <a:pPr lvl="1"/>
            <a:r>
              <a:rPr lang="en-US" sz="1800" dirty="0">
                <a:solidFill>
                  <a:srgbClr val="696969"/>
                </a:solidFill>
                <a:latin typeface="Gill Sans MT" pitchFamily="34" charset="0"/>
                <a:cs typeface="Lao UI" pitchFamily="34" charset="0"/>
              </a:rPr>
              <a:t>Data entry conducted by non-biased coders</a:t>
            </a:r>
          </a:p>
          <a:p>
            <a:pPr lvl="1"/>
            <a:r>
              <a:rPr lang="en-US" sz="1800" dirty="0">
                <a:solidFill>
                  <a:srgbClr val="696969"/>
                </a:solidFill>
                <a:latin typeface="Gill Sans MT" pitchFamily="34" charset="0"/>
                <a:cs typeface="Lao UI" pitchFamily="34" charset="0"/>
              </a:rPr>
              <a:t>Qualitative data aggregated into digital form by intern</a:t>
            </a:r>
          </a:p>
          <a:p>
            <a:pPr lvl="1"/>
            <a:r>
              <a:rPr lang="en-US" sz="1800" dirty="0">
                <a:solidFill>
                  <a:srgbClr val="696969"/>
                </a:solidFill>
                <a:latin typeface="Gill Sans MT" pitchFamily="34" charset="0"/>
                <a:cs typeface="Lao UI" pitchFamily="34" charset="0"/>
              </a:rPr>
              <a:t>Quantitative data entered into excel by two interns</a:t>
            </a:r>
          </a:p>
          <a:p>
            <a:pPr lvl="1"/>
            <a:endParaRPr lang="en-US" sz="1600" dirty="0">
              <a:solidFill>
                <a:srgbClr val="696969"/>
              </a:solidFill>
              <a:latin typeface="Gill Sans MT" pitchFamily="34" charset="0"/>
              <a:cs typeface="Lao UI" pitchFamily="34" charset="0"/>
            </a:endParaRPr>
          </a:p>
        </p:txBody>
      </p:sp>
      <p:sp>
        <p:nvSpPr>
          <p:cNvPr id="4" name="Rectangle 3"/>
          <p:cNvSpPr/>
          <p:nvPr/>
        </p:nvSpPr>
        <p:spPr>
          <a:xfrm>
            <a:off x="0" y="285750"/>
            <a:ext cx="9065525" cy="609600"/>
          </a:xfrm>
          <a:prstGeom prst="rect">
            <a:avLst/>
          </a:prstGeom>
          <a:solidFill>
            <a:srgbClr val="3E6C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4800" y="129339"/>
            <a:ext cx="7467600" cy="857250"/>
          </a:xfrm>
        </p:spPr>
        <p:txBody>
          <a:bodyPr/>
          <a:lstStyle/>
          <a:p>
            <a:pPr algn="l"/>
            <a:r>
              <a:rPr lang="en-US" dirty="0">
                <a:solidFill>
                  <a:schemeClr val="bg1"/>
                </a:solidFill>
                <a:latin typeface="Segoe UI" pitchFamily="34" charset="0"/>
                <a:ea typeface="Segoe UI" pitchFamily="34" charset="0"/>
                <a:cs typeface="Segoe UI" pitchFamily="34" charset="0"/>
              </a:rPr>
              <a:t>Methods</a:t>
            </a:r>
          </a:p>
        </p:txBody>
      </p:sp>
    </p:spTree>
    <p:extLst>
      <p:ext uri="{BB962C8B-B14F-4D97-AF65-F5344CB8AC3E}">
        <p14:creationId xmlns:p14="http://schemas.microsoft.com/office/powerpoint/2010/main" val="1560235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
            <a:ext cx="9372600" cy="53149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203835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a:solidFill>
                  <a:schemeClr val="bg1"/>
                </a:solidFill>
                <a:latin typeface="Lato" pitchFamily="34" charset="0"/>
                <a:ea typeface="Lato" pitchFamily="34" charset="0"/>
                <a:cs typeface="Lato" pitchFamily="34" charset="0"/>
              </a:rPr>
              <a:t>Perception of POA’s Pay Scale</a:t>
            </a:r>
            <a:endParaRPr lang="en-US" sz="2000" i="1" dirty="0">
              <a:solidFill>
                <a:schemeClr val="bg1"/>
              </a:solidFill>
              <a:latin typeface="Lato" pitchFamily="34" charset="0"/>
              <a:ea typeface="Lato" pitchFamily="34" charset="0"/>
              <a:cs typeface="Lato" pitchFamily="34" charset="0"/>
            </a:endParaRP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9017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5"/>
            <a:ext cx="2393552" cy="15430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499" y="386402"/>
            <a:ext cx="2232482" cy="857250"/>
          </a:xfrm>
        </p:spPr>
        <p:txBody>
          <a:bodyPr>
            <a:normAutofit/>
          </a:bodyPr>
          <a:lstStyle/>
          <a:p>
            <a:pPr algn="l"/>
            <a:r>
              <a:rPr lang="en-US" sz="3600" dirty="0">
                <a:solidFill>
                  <a:schemeClr val="bg1"/>
                </a:solidFill>
                <a:latin typeface="Segoe UI" pitchFamily="34" charset="0"/>
                <a:ea typeface="Segoe UI" pitchFamily="34" charset="0"/>
                <a:cs typeface="Segoe UI" pitchFamily="34" charset="0"/>
              </a:rPr>
              <a:t>Pay Scale</a:t>
            </a:r>
          </a:p>
        </p:txBody>
      </p:sp>
      <p:sp>
        <p:nvSpPr>
          <p:cNvPr id="8" name="Right Triangle 7"/>
          <p:cNvSpPr/>
          <p:nvPr/>
        </p:nvSpPr>
        <p:spPr>
          <a:xfrm rot="10800000" flipH="1" flipV="1">
            <a:off x="2133599" y="209549"/>
            <a:ext cx="259952" cy="152400"/>
          </a:xfrm>
          <a:prstGeom prst="rtTriangle">
            <a:avLst/>
          </a:prstGeom>
          <a:solidFill>
            <a:srgbClr val="214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B97E8CC9-2524-43E9-9591-8467906CEDED}"/>
              </a:ext>
            </a:extLst>
          </p:cNvPr>
          <p:cNvSpPr>
            <a:spLocks noGrp="1"/>
          </p:cNvSpPr>
          <p:nvPr>
            <p:ph idx="1"/>
          </p:nvPr>
        </p:nvSpPr>
        <p:spPr>
          <a:xfrm>
            <a:off x="0" y="2038350"/>
            <a:ext cx="2393552" cy="3242765"/>
          </a:xfrm>
        </p:spPr>
        <p:txBody>
          <a:bodyPr>
            <a:noAutofit/>
          </a:bodyPr>
          <a:lstStyle/>
          <a:p>
            <a:r>
              <a:rPr lang="en-US" sz="1400" dirty="0"/>
              <a:t>89% of staff feel that salary is the most important part of their compensation package</a:t>
            </a:r>
          </a:p>
          <a:p>
            <a:endParaRPr lang="en-US" sz="1400" dirty="0"/>
          </a:p>
          <a:p>
            <a:r>
              <a:rPr lang="en-US" sz="1400" dirty="0"/>
              <a:t>33% of staff are satisfied,  33% dissatisfied, and 33% neutral regarding POA’s Pay Scale</a:t>
            </a:r>
          </a:p>
          <a:p>
            <a:endParaRPr lang="en-US" sz="1400" dirty="0"/>
          </a:p>
          <a:p>
            <a:r>
              <a:rPr lang="en-US" sz="1400" dirty="0"/>
              <a:t>63% of staff would consider looking for a new job for better pay</a:t>
            </a:r>
          </a:p>
        </p:txBody>
      </p:sp>
      <p:graphicFrame>
        <p:nvGraphicFramePr>
          <p:cNvPr id="7" name="Chart 6">
            <a:extLst>
              <a:ext uri="{FF2B5EF4-FFF2-40B4-BE49-F238E27FC236}">
                <a16:creationId xmlns:a16="http://schemas.microsoft.com/office/drawing/2014/main" id="{A611DF18-1501-429D-94DC-189F4D8BA2B7}"/>
              </a:ext>
            </a:extLst>
          </p:cNvPr>
          <p:cNvGraphicFramePr>
            <a:graphicFrameLocks/>
          </p:cNvGraphicFramePr>
          <p:nvPr>
            <p:extLst>
              <p:ext uri="{D42A27DB-BD31-4B8C-83A1-F6EECF244321}">
                <p14:modId xmlns:p14="http://schemas.microsoft.com/office/powerpoint/2010/main" val="3116376511"/>
              </p:ext>
            </p:extLst>
          </p:nvPr>
        </p:nvGraphicFramePr>
        <p:xfrm>
          <a:off x="2971800" y="357685"/>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Content Placeholder 10">
            <a:extLst>
              <a:ext uri="{FF2B5EF4-FFF2-40B4-BE49-F238E27FC236}">
                <a16:creationId xmlns:a16="http://schemas.microsoft.com/office/drawing/2014/main" id="{65146575-8CF9-4677-B1B4-6FBF6C776F4F}"/>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am mostly happy with my salary, but it would be great to have more communication on the opportunities for promotions/bonuses”</a:t>
            </a:r>
          </a:p>
          <a:p>
            <a:pPr marL="0" indent="0">
              <a:buNone/>
            </a:pPr>
            <a:endParaRPr lang="en-US" sz="1400" dirty="0"/>
          </a:p>
          <a:p>
            <a:pPr marL="0" indent="0">
              <a:buNone/>
            </a:pPr>
            <a:r>
              <a:rPr lang="en-US" sz="1400" dirty="0"/>
              <a:t>“I haven’t worked at any other NGOs in the DC area, so it’s hard to know how our pay scale compares to others, but my general impression is that Partners is middle of the stream for NGOs and low when compared to the private sector”</a:t>
            </a:r>
          </a:p>
        </p:txBody>
      </p:sp>
    </p:spTree>
    <p:extLst>
      <p:ext uri="{BB962C8B-B14F-4D97-AF65-F5344CB8AC3E}">
        <p14:creationId xmlns:p14="http://schemas.microsoft.com/office/powerpoint/2010/main" val="121842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Health Insurance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128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Health Insurance</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12" name="Content Placeholder 10">
            <a:extLst>
              <a:ext uri="{FF2B5EF4-FFF2-40B4-BE49-F238E27FC236}">
                <a16:creationId xmlns:a16="http://schemas.microsoft.com/office/drawing/2014/main" id="{F1DF1025-746D-42F0-B423-AD495E23D33D}"/>
              </a:ext>
            </a:extLst>
          </p:cNvPr>
          <p:cNvSpPr txBox="1">
            <a:spLocks/>
          </p:cNvSpPr>
          <p:nvPr/>
        </p:nvSpPr>
        <p:spPr>
          <a:xfrm>
            <a:off x="0" y="2038350"/>
            <a:ext cx="2393552" cy="324276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89% of staff responded that POA-provided health insurance is important</a:t>
            </a:r>
          </a:p>
          <a:p>
            <a:endParaRPr lang="en-US" sz="1400" dirty="0"/>
          </a:p>
          <a:p>
            <a:r>
              <a:rPr lang="en-US" sz="1400" dirty="0"/>
              <a:t>75% of staff are happy with their health insurance (20% N/A)</a:t>
            </a:r>
          </a:p>
          <a:p>
            <a:endParaRPr lang="en-US" sz="1400" dirty="0"/>
          </a:p>
          <a:p>
            <a:r>
              <a:rPr lang="en-US" sz="1400" dirty="0"/>
              <a:t>No staff would consider looking for a new job for better health insurance</a:t>
            </a:r>
          </a:p>
        </p:txBody>
      </p:sp>
      <p:graphicFrame>
        <p:nvGraphicFramePr>
          <p:cNvPr id="13" name="Chart 12">
            <a:extLst>
              <a:ext uri="{FF2B5EF4-FFF2-40B4-BE49-F238E27FC236}">
                <a16:creationId xmlns:a16="http://schemas.microsoft.com/office/drawing/2014/main" id="{CBE034D7-234E-4AF2-B02C-7632A117301D}"/>
              </a:ext>
            </a:extLst>
          </p:cNvPr>
          <p:cNvGraphicFramePr>
            <a:graphicFrameLocks/>
          </p:cNvGraphicFramePr>
          <p:nvPr>
            <p:extLst>
              <p:ext uri="{D42A27DB-BD31-4B8C-83A1-F6EECF244321}">
                <p14:modId xmlns:p14="http://schemas.microsoft.com/office/powerpoint/2010/main" val="1891413068"/>
              </p:ext>
            </p:extLst>
          </p:nvPr>
        </p:nvGraphicFramePr>
        <p:xfrm>
          <a:off x="2971800"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14" name="Content Placeholder 10">
            <a:extLst>
              <a:ext uri="{FF2B5EF4-FFF2-40B4-BE49-F238E27FC236}">
                <a16:creationId xmlns:a16="http://schemas.microsoft.com/office/drawing/2014/main" id="{7FC016C2-245E-43B8-8117-D92FCE278A31}"/>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do not use the POA health insurance because I am fully covered under my spouse’s plan at zero cost. I would like to suggest though, that POA consider offering a cash stipend in place of the health insurance benefit for people in my position. The cash stipend could be fixed amount per month or a percentage of what coverage would have cost. I have not heard of a number of other companies and organizations offering this type of compensation in place of the health insurance benefit.”</a:t>
            </a:r>
          </a:p>
        </p:txBody>
      </p:sp>
    </p:spTree>
    <p:extLst>
      <p:ext uri="{BB962C8B-B14F-4D97-AF65-F5344CB8AC3E}">
        <p14:creationId xmlns:p14="http://schemas.microsoft.com/office/powerpoint/2010/main" val="1288698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Vision Insurance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014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61950"/>
            <a:ext cx="2393552" cy="160020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470" y="666750"/>
            <a:ext cx="2415654" cy="857250"/>
          </a:xfrm>
        </p:spPr>
        <p:txBody>
          <a:bodyPr>
            <a:noAutofit/>
          </a:bodyPr>
          <a:lstStyle/>
          <a:p>
            <a:r>
              <a:rPr lang="en-US" sz="2400" dirty="0">
                <a:solidFill>
                  <a:schemeClr val="bg1"/>
                </a:solidFill>
                <a:latin typeface="Segoe UI" pitchFamily="34" charset="0"/>
                <a:ea typeface="Segoe UI" pitchFamily="34" charset="0"/>
                <a:cs typeface="Segoe UI" pitchFamily="34" charset="0"/>
              </a:rPr>
              <a:t>Optional Vision Insurance</a:t>
            </a:r>
          </a:p>
        </p:txBody>
      </p:sp>
      <p:sp>
        <p:nvSpPr>
          <p:cNvPr id="6" name="Title 1"/>
          <p:cNvSpPr txBox="1">
            <a:spLocks/>
          </p:cNvSpPr>
          <p:nvPr/>
        </p:nvSpPr>
        <p:spPr>
          <a:xfrm>
            <a:off x="75706" y="2112417"/>
            <a:ext cx="2384303"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AB6D51DD-DDA4-41D7-899B-0DC623EABB3A}"/>
              </a:ext>
            </a:extLst>
          </p:cNvPr>
          <p:cNvSpPr txBox="1">
            <a:spLocks/>
          </p:cNvSpPr>
          <p:nvPr/>
        </p:nvSpPr>
        <p:spPr>
          <a:xfrm>
            <a:off x="0" y="2038350"/>
            <a:ext cx="2393552" cy="324276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40% of staff don’t know if POA vision insurance is competitive (20% N/A)</a:t>
            </a:r>
          </a:p>
          <a:p>
            <a:endParaRPr lang="en-US" sz="1400" dirty="0"/>
          </a:p>
          <a:p>
            <a:r>
              <a:rPr lang="en-US" sz="1400" dirty="0"/>
              <a:t>67% of staff are happy with POA vision insurance</a:t>
            </a:r>
          </a:p>
          <a:p>
            <a:endParaRPr lang="en-US" sz="1400" dirty="0"/>
          </a:p>
          <a:p>
            <a:r>
              <a:rPr lang="en-US" sz="1400" dirty="0"/>
              <a:t>Only one staff member would consider looking for a new job for better vision insurance</a:t>
            </a:r>
          </a:p>
        </p:txBody>
      </p:sp>
      <p:sp>
        <p:nvSpPr>
          <p:cNvPr id="12" name="Content Placeholder 10">
            <a:extLst>
              <a:ext uri="{FF2B5EF4-FFF2-40B4-BE49-F238E27FC236}">
                <a16:creationId xmlns:a16="http://schemas.microsoft.com/office/drawing/2014/main" id="{E3F9131A-B0F3-45F1-ACA5-6F87151FF002}"/>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“Vision benefit is okay, but really hard to find providers who accept it”</a:t>
            </a:r>
          </a:p>
          <a:p>
            <a:pPr marL="0" indent="0">
              <a:buNone/>
            </a:pPr>
            <a:endParaRPr lang="en-US" sz="1400" dirty="0"/>
          </a:p>
          <a:p>
            <a:pPr marL="0" indent="0">
              <a:buNone/>
            </a:pPr>
            <a:r>
              <a:rPr lang="en-US" sz="1400" dirty="0"/>
              <a:t>“It’s very hard to get a reimbursement when you don’t use their providers”</a:t>
            </a:r>
          </a:p>
        </p:txBody>
      </p:sp>
      <p:graphicFrame>
        <p:nvGraphicFramePr>
          <p:cNvPr id="13" name="Chart 12">
            <a:extLst>
              <a:ext uri="{FF2B5EF4-FFF2-40B4-BE49-F238E27FC236}">
                <a16:creationId xmlns:a16="http://schemas.microsoft.com/office/drawing/2014/main" id="{394D0B3F-88E9-42F3-83C6-ADC2839936BE}"/>
              </a:ext>
            </a:extLst>
          </p:cNvPr>
          <p:cNvGraphicFramePr>
            <a:graphicFrameLocks/>
          </p:cNvGraphicFramePr>
          <p:nvPr>
            <p:extLst>
              <p:ext uri="{D42A27DB-BD31-4B8C-83A1-F6EECF244321}">
                <p14:modId xmlns:p14="http://schemas.microsoft.com/office/powerpoint/2010/main" val="1970776920"/>
              </p:ext>
            </p:extLst>
          </p:nvPr>
        </p:nvGraphicFramePr>
        <p:xfrm>
          <a:off x="2971800" y="36195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49308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Dental Insurance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450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Autofit/>
          </a:bodyPr>
          <a:lstStyle/>
          <a:p>
            <a:r>
              <a:rPr lang="en-US" sz="2400" dirty="0">
                <a:solidFill>
                  <a:schemeClr val="bg1"/>
                </a:solidFill>
                <a:latin typeface="Segoe UI" pitchFamily="34" charset="0"/>
                <a:ea typeface="Segoe UI" pitchFamily="34" charset="0"/>
                <a:cs typeface="Segoe UI" pitchFamily="34" charset="0"/>
              </a:rPr>
              <a:t>Optional Dental Insurance</a:t>
            </a:r>
          </a:p>
        </p:txBody>
      </p:sp>
      <p:sp>
        <p:nvSpPr>
          <p:cNvPr id="8" name="Right Triangle 7"/>
          <p:cNvSpPr/>
          <p:nvPr/>
        </p:nvSpPr>
        <p:spPr>
          <a:xfrm rot="10800000" flipH="1" flipV="1">
            <a:off x="2133599" y="209549"/>
            <a:ext cx="259952" cy="152400"/>
          </a:xfrm>
          <a:prstGeom prst="rtTriangle">
            <a:avLst/>
          </a:prstGeom>
          <a:solidFill>
            <a:srgbClr val="C86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12" name="Content Placeholder 10">
            <a:extLst>
              <a:ext uri="{FF2B5EF4-FFF2-40B4-BE49-F238E27FC236}">
                <a16:creationId xmlns:a16="http://schemas.microsoft.com/office/drawing/2014/main" id="{5FCD3951-8D61-4939-ACD1-EBF4C137C370}"/>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“This is something I use once a year and while it’s a good plan (I pay nothing, practically), the nearest dentist is quite far from where I live. That is to say not many options to choose from within the city.”</a:t>
            </a:r>
          </a:p>
          <a:p>
            <a:pPr marL="0" indent="0">
              <a:buNone/>
            </a:pPr>
            <a:endParaRPr lang="en-US" sz="1400" dirty="0"/>
          </a:p>
          <a:p>
            <a:pPr marL="0" indent="0">
              <a:buNone/>
            </a:pPr>
            <a:r>
              <a:rPr lang="en-US" sz="1400" dirty="0"/>
              <a:t>“Would like to be back on the previous plan so that my current dentist can accept it. I’m using a secondary insurance to stay with my current dentist.”</a:t>
            </a:r>
          </a:p>
          <a:p>
            <a:endParaRPr lang="en-US" sz="1400" dirty="0"/>
          </a:p>
        </p:txBody>
      </p:sp>
      <p:sp>
        <p:nvSpPr>
          <p:cNvPr id="13" name="Content Placeholder 10">
            <a:extLst>
              <a:ext uri="{FF2B5EF4-FFF2-40B4-BE49-F238E27FC236}">
                <a16:creationId xmlns:a16="http://schemas.microsoft.com/office/drawing/2014/main" id="{77ED228E-1A07-445F-A35F-309AB790F3B7}"/>
              </a:ext>
            </a:extLst>
          </p:cNvPr>
          <p:cNvSpPr txBox="1">
            <a:spLocks/>
          </p:cNvSpPr>
          <p:nvPr/>
        </p:nvSpPr>
        <p:spPr>
          <a:xfrm>
            <a:off x="0" y="2038350"/>
            <a:ext cx="2393552" cy="324276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67% of staff value dental insurance</a:t>
            </a:r>
          </a:p>
          <a:p>
            <a:endParaRPr lang="en-US" sz="1400" dirty="0"/>
          </a:p>
          <a:p>
            <a:r>
              <a:rPr lang="en-US" sz="1400" dirty="0"/>
              <a:t>45% don’t know if competitive, 33% think its competitive</a:t>
            </a:r>
          </a:p>
          <a:p>
            <a:pPr marL="0" indent="0">
              <a:buNone/>
            </a:pPr>
            <a:endParaRPr lang="en-US" sz="1400" dirty="0"/>
          </a:p>
          <a:p>
            <a:r>
              <a:rPr lang="en-US" sz="1400" dirty="0"/>
              <a:t>Nearly 50% of respondents are satisfied with dental insurance; only 11% dissatisfied</a:t>
            </a:r>
          </a:p>
        </p:txBody>
      </p:sp>
      <p:graphicFrame>
        <p:nvGraphicFramePr>
          <p:cNvPr id="14" name="Chart 13">
            <a:extLst>
              <a:ext uri="{FF2B5EF4-FFF2-40B4-BE49-F238E27FC236}">
                <a16:creationId xmlns:a16="http://schemas.microsoft.com/office/drawing/2014/main" id="{947C5BFD-6B06-434B-A32A-2D824A7D625E}"/>
              </a:ext>
            </a:extLst>
          </p:cNvPr>
          <p:cNvGraphicFramePr>
            <a:graphicFrameLocks/>
          </p:cNvGraphicFramePr>
          <p:nvPr>
            <p:extLst>
              <p:ext uri="{D42A27DB-BD31-4B8C-83A1-F6EECF244321}">
                <p14:modId xmlns:p14="http://schemas.microsoft.com/office/powerpoint/2010/main" val="450926718"/>
              </p:ext>
            </p:extLst>
          </p:nvPr>
        </p:nvGraphicFramePr>
        <p:xfrm>
          <a:off x="2971800"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95803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
            <a:ext cx="9372600" cy="53149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203835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Optional Short Term Disability &amp; Life Insurance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396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5"/>
            <a:ext cx="2393552" cy="15430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499" y="571500"/>
            <a:ext cx="2232482"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Optional STD/LI</a:t>
            </a:r>
          </a:p>
        </p:txBody>
      </p:sp>
      <p:sp>
        <p:nvSpPr>
          <p:cNvPr id="8" name="Right Triangle 7"/>
          <p:cNvSpPr/>
          <p:nvPr/>
        </p:nvSpPr>
        <p:spPr>
          <a:xfrm rot="10800000" flipH="1" flipV="1">
            <a:off x="2133599" y="209549"/>
            <a:ext cx="259952" cy="152400"/>
          </a:xfrm>
          <a:prstGeom prst="rtTriangle">
            <a:avLst/>
          </a:prstGeom>
          <a:solidFill>
            <a:srgbClr val="214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10">
            <a:extLst>
              <a:ext uri="{FF2B5EF4-FFF2-40B4-BE49-F238E27FC236}">
                <a16:creationId xmlns:a16="http://schemas.microsoft.com/office/drawing/2014/main" id="{B55470E2-4A3F-4EC2-8954-76EF72E85F1A}"/>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don’t have it, but I still value that I have the option to select it should I want it in the future.”</a:t>
            </a:r>
          </a:p>
          <a:p>
            <a:pPr marL="0" indent="0">
              <a:buNone/>
            </a:pPr>
            <a:endParaRPr lang="en-US" sz="1400" dirty="0"/>
          </a:p>
          <a:p>
            <a:pPr marL="0" indent="0">
              <a:buNone/>
            </a:pPr>
            <a:r>
              <a:rPr lang="en-US" sz="1400" dirty="0"/>
              <a:t>“I don’t believe I have one of these policies. If 100% of the cost is covered by the employee, I don’t really see how this is a benefit at all.”</a:t>
            </a:r>
          </a:p>
        </p:txBody>
      </p:sp>
      <p:sp>
        <p:nvSpPr>
          <p:cNvPr id="9" name="Content Placeholder 10">
            <a:extLst>
              <a:ext uri="{FF2B5EF4-FFF2-40B4-BE49-F238E27FC236}">
                <a16:creationId xmlns:a16="http://schemas.microsoft.com/office/drawing/2014/main" id="{20494103-C849-4610-BCF3-544A52F23FDD}"/>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Of people that opt in, roughly half are satisfied and half are neutral or dissatisfied</a:t>
            </a:r>
          </a:p>
          <a:p>
            <a:endParaRPr lang="en-US" sz="1400" dirty="0"/>
          </a:p>
          <a:p>
            <a:r>
              <a:rPr lang="en-US" sz="1400" dirty="0"/>
              <a:t>33% of people don’t value short term disability (22% N/A, 15% neutral)</a:t>
            </a:r>
          </a:p>
          <a:p>
            <a:endParaRPr lang="en-US" sz="1400" dirty="0"/>
          </a:p>
          <a:p>
            <a:r>
              <a:rPr lang="en-US" sz="1400" dirty="0"/>
              <a:t>52% of people don’t know if it’s competitive, 15% n/a</a:t>
            </a:r>
          </a:p>
          <a:p>
            <a:endParaRPr lang="en-US" sz="1400" dirty="0"/>
          </a:p>
        </p:txBody>
      </p:sp>
    </p:spTree>
    <p:extLst>
      <p:ext uri="{BB962C8B-B14F-4D97-AF65-F5344CB8AC3E}">
        <p14:creationId xmlns:p14="http://schemas.microsoft.com/office/powerpoint/2010/main" val="957542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Life Insurance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739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Life Insurance</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6E588B6C-CF9F-4FAE-B918-B3E75ECD5575}"/>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Almost 50% agree and 33% are neutral as to Life Insurance importance</a:t>
            </a:r>
          </a:p>
          <a:p>
            <a:endParaRPr lang="en-US" sz="1400" dirty="0"/>
          </a:p>
          <a:p>
            <a:r>
              <a:rPr lang="en-US" sz="1400" dirty="0"/>
              <a:t>56% of staff don’t know if this is competitive</a:t>
            </a:r>
          </a:p>
        </p:txBody>
      </p:sp>
      <p:sp>
        <p:nvSpPr>
          <p:cNvPr id="12" name="Content Placeholder 10">
            <a:extLst>
              <a:ext uri="{FF2B5EF4-FFF2-40B4-BE49-F238E27FC236}">
                <a16:creationId xmlns:a16="http://schemas.microsoft.com/office/drawing/2014/main" id="{634F51EB-7FD0-4252-BD84-CEFB9F1DEC7B}"/>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400" dirty="0"/>
          </a:p>
          <a:p>
            <a:pPr marL="0" indent="0">
              <a:buNone/>
            </a:pPr>
            <a:endParaRPr lang="en-US" sz="1400" dirty="0"/>
          </a:p>
          <a:p>
            <a:pPr marL="0" indent="0">
              <a:buNone/>
            </a:pPr>
            <a:r>
              <a:rPr lang="en-US" sz="1400" dirty="0"/>
              <a:t>“I don’t think I have this insurance.”</a:t>
            </a:r>
          </a:p>
        </p:txBody>
      </p:sp>
      <p:graphicFrame>
        <p:nvGraphicFramePr>
          <p:cNvPr id="14" name="Chart 13">
            <a:extLst>
              <a:ext uri="{FF2B5EF4-FFF2-40B4-BE49-F238E27FC236}">
                <a16:creationId xmlns:a16="http://schemas.microsoft.com/office/drawing/2014/main" id="{35C8BC71-82C9-48CC-A5F5-D5FC398F036A}"/>
              </a:ext>
            </a:extLst>
          </p:cNvPr>
          <p:cNvGraphicFramePr>
            <a:graphicFrameLocks/>
          </p:cNvGraphicFramePr>
          <p:nvPr>
            <p:extLst>
              <p:ext uri="{D42A27DB-BD31-4B8C-83A1-F6EECF244321}">
                <p14:modId xmlns:p14="http://schemas.microsoft.com/office/powerpoint/2010/main" val="1571096025"/>
              </p:ext>
            </p:extLst>
          </p:nvPr>
        </p:nvGraphicFramePr>
        <p:xfrm>
          <a:off x="2917825"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17097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Long Term Disability Insurance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11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61950"/>
            <a:ext cx="2393552" cy="160020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470" y="666750"/>
            <a:ext cx="2415654" cy="857250"/>
          </a:xfrm>
        </p:spPr>
        <p:txBody>
          <a:bodyPr>
            <a:noAutofit/>
          </a:bodyPr>
          <a:lstStyle/>
          <a:p>
            <a:r>
              <a:rPr lang="en-US" sz="2800" dirty="0">
                <a:solidFill>
                  <a:schemeClr val="bg1"/>
                </a:solidFill>
                <a:latin typeface="Segoe UI" pitchFamily="34" charset="0"/>
                <a:ea typeface="Segoe UI" pitchFamily="34" charset="0"/>
                <a:cs typeface="Segoe UI" pitchFamily="34" charset="0"/>
              </a:rPr>
              <a:t>LTD Insurance</a:t>
            </a:r>
          </a:p>
        </p:txBody>
      </p:sp>
      <p:sp>
        <p:nvSpPr>
          <p:cNvPr id="6" name="Title 1"/>
          <p:cNvSpPr txBox="1">
            <a:spLocks/>
          </p:cNvSpPr>
          <p:nvPr/>
        </p:nvSpPr>
        <p:spPr>
          <a:xfrm>
            <a:off x="75706" y="2112417"/>
            <a:ext cx="2384303"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10">
            <a:extLst>
              <a:ext uri="{FF2B5EF4-FFF2-40B4-BE49-F238E27FC236}">
                <a16:creationId xmlns:a16="http://schemas.microsoft.com/office/drawing/2014/main" id="{B332E9E8-8EAC-45F3-803D-B2D4C0ECB4F4}"/>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56% feel this is important</a:t>
            </a:r>
          </a:p>
          <a:p>
            <a:endParaRPr lang="en-US" sz="1400" dirty="0"/>
          </a:p>
          <a:p>
            <a:r>
              <a:rPr lang="en-US" sz="1400" dirty="0"/>
              <a:t>60% don’t know if it’s competitive</a:t>
            </a:r>
          </a:p>
        </p:txBody>
      </p:sp>
      <p:sp>
        <p:nvSpPr>
          <p:cNvPr id="11" name="Content Placeholder 10">
            <a:extLst>
              <a:ext uri="{FF2B5EF4-FFF2-40B4-BE49-F238E27FC236}">
                <a16:creationId xmlns:a16="http://schemas.microsoft.com/office/drawing/2014/main" id="{60E32B3D-980E-46DF-89A6-6A2703FCBEEC}"/>
              </a:ext>
            </a:extLst>
          </p:cNvPr>
          <p:cNvSpPr txBox="1">
            <a:spLocks/>
          </p:cNvSpPr>
          <p:nvPr/>
        </p:nvSpPr>
        <p:spPr>
          <a:xfrm>
            <a:off x="2971800" y="3257550"/>
            <a:ext cx="5486400" cy="1752600"/>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400" dirty="0"/>
          </a:p>
          <a:p>
            <a:pPr marL="0" indent="0">
              <a:buNone/>
            </a:pPr>
            <a:r>
              <a:rPr lang="en-US" sz="1400" dirty="0"/>
              <a:t>“While I appreciate this, I would prefer a benefit more conducive to my age bracket, perhaps better benefits for fitness and wellness centers. I’d prefer the health benefits were more preventative at my age.”</a:t>
            </a:r>
          </a:p>
        </p:txBody>
      </p:sp>
      <p:graphicFrame>
        <p:nvGraphicFramePr>
          <p:cNvPr id="12" name="Chart 11">
            <a:extLst>
              <a:ext uri="{FF2B5EF4-FFF2-40B4-BE49-F238E27FC236}">
                <a16:creationId xmlns:a16="http://schemas.microsoft.com/office/drawing/2014/main" id="{76BC792B-238C-4E50-BF70-4D2EC444689C}"/>
              </a:ext>
            </a:extLst>
          </p:cNvPr>
          <p:cNvGraphicFramePr>
            <a:graphicFrameLocks/>
          </p:cNvGraphicFramePr>
          <p:nvPr>
            <p:extLst>
              <p:ext uri="{D42A27DB-BD31-4B8C-83A1-F6EECF244321}">
                <p14:modId xmlns:p14="http://schemas.microsoft.com/office/powerpoint/2010/main" val="2611441100"/>
              </p:ext>
            </p:extLst>
          </p:nvPr>
        </p:nvGraphicFramePr>
        <p:xfrm>
          <a:off x="2971800" y="3429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08577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403B</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694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a:bodyPr>
          <a:lstStyle/>
          <a:p>
            <a:r>
              <a:rPr lang="en-US" sz="3600" dirty="0">
                <a:solidFill>
                  <a:schemeClr val="bg1"/>
                </a:solidFill>
                <a:latin typeface="Segoe UI" pitchFamily="34" charset="0"/>
                <a:ea typeface="Segoe UI" pitchFamily="34" charset="0"/>
                <a:cs typeface="Segoe UI" pitchFamily="34" charset="0"/>
              </a:rPr>
              <a:t>403B</a:t>
            </a:r>
          </a:p>
        </p:txBody>
      </p:sp>
      <p:sp>
        <p:nvSpPr>
          <p:cNvPr id="8" name="Right Triangle 7"/>
          <p:cNvSpPr/>
          <p:nvPr/>
        </p:nvSpPr>
        <p:spPr>
          <a:xfrm rot="10800000" flipH="1" flipV="1">
            <a:off x="2133599" y="209549"/>
            <a:ext cx="259952" cy="152400"/>
          </a:xfrm>
          <a:prstGeom prst="rtTriangle">
            <a:avLst/>
          </a:prstGeom>
          <a:solidFill>
            <a:srgbClr val="C86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12" name="Content Placeholder 10">
            <a:extLst>
              <a:ext uri="{FF2B5EF4-FFF2-40B4-BE49-F238E27FC236}">
                <a16:creationId xmlns:a16="http://schemas.microsoft.com/office/drawing/2014/main" id="{438BE5B8-CF95-4457-BDF5-0C29B8EE9A47}"/>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55% the most important part of the entire package; 92% agree it’s important</a:t>
            </a:r>
          </a:p>
          <a:p>
            <a:endParaRPr lang="en-US" sz="1400" dirty="0"/>
          </a:p>
          <a:p>
            <a:r>
              <a:rPr lang="en-US" sz="1400" dirty="0"/>
              <a:t>52% satisfied and 7% dissatisfied</a:t>
            </a:r>
          </a:p>
          <a:p>
            <a:endParaRPr lang="en-US" sz="1400" dirty="0"/>
          </a:p>
          <a:p>
            <a:r>
              <a:rPr lang="en-US" sz="1400" dirty="0"/>
              <a:t>22% would look for a new job with a better match</a:t>
            </a:r>
          </a:p>
        </p:txBody>
      </p:sp>
      <p:sp>
        <p:nvSpPr>
          <p:cNvPr id="14" name="Content Placeholder 10">
            <a:extLst>
              <a:ext uri="{FF2B5EF4-FFF2-40B4-BE49-F238E27FC236}">
                <a16:creationId xmlns:a16="http://schemas.microsoft.com/office/drawing/2014/main" id="{1230563A-8090-4CFE-B572-314967768B14}"/>
              </a:ext>
            </a:extLst>
          </p:cNvPr>
          <p:cNvSpPr txBox="1">
            <a:spLocks/>
          </p:cNvSpPr>
          <p:nvPr/>
        </p:nvSpPr>
        <p:spPr>
          <a:xfrm>
            <a:off x="2971800" y="3257550"/>
            <a:ext cx="5486400" cy="1752600"/>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400" dirty="0"/>
          </a:p>
          <a:p>
            <a:pPr marL="0" indent="0">
              <a:buNone/>
            </a:pPr>
            <a:endParaRPr lang="en-US" sz="1400" dirty="0"/>
          </a:p>
          <a:p>
            <a:pPr marL="0" indent="0">
              <a:buNone/>
            </a:pPr>
            <a:r>
              <a:rPr lang="en-US" sz="1400" dirty="0"/>
              <a:t>“The plan and match should commence when employee commences work, without the one-year waiting period.”</a:t>
            </a:r>
          </a:p>
        </p:txBody>
      </p:sp>
      <p:graphicFrame>
        <p:nvGraphicFramePr>
          <p:cNvPr id="15" name="Chart 14">
            <a:extLst>
              <a:ext uri="{FF2B5EF4-FFF2-40B4-BE49-F238E27FC236}">
                <a16:creationId xmlns:a16="http://schemas.microsoft.com/office/drawing/2014/main" id="{832B09B9-6917-4DF4-B84C-F7EFE814409D}"/>
              </a:ext>
            </a:extLst>
          </p:cNvPr>
          <p:cNvGraphicFramePr>
            <a:graphicFrameLocks/>
          </p:cNvGraphicFramePr>
          <p:nvPr>
            <p:extLst>
              <p:ext uri="{D42A27DB-BD31-4B8C-83A1-F6EECF244321}">
                <p14:modId xmlns:p14="http://schemas.microsoft.com/office/powerpoint/2010/main" val="615485577"/>
              </p:ext>
            </p:extLst>
          </p:nvPr>
        </p:nvGraphicFramePr>
        <p:xfrm>
          <a:off x="2917824"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12712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a:bodyPr>
          <a:lstStyle/>
          <a:p>
            <a:r>
              <a:rPr lang="en-US" sz="3600" dirty="0">
                <a:solidFill>
                  <a:schemeClr val="bg1"/>
                </a:solidFill>
                <a:latin typeface="Segoe UI" pitchFamily="34" charset="0"/>
                <a:ea typeface="Segoe UI" pitchFamily="34" charset="0"/>
                <a:cs typeface="Segoe UI" pitchFamily="34" charset="0"/>
              </a:rPr>
              <a:t>403B</a:t>
            </a:r>
          </a:p>
        </p:txBody>
      </p:sp>
      <p:sp>
        <p:nvSpPr>
          <p:cNvPr id="8" name="Right Triangle 7"/>
          <p:cNvSpPr/>
          <p:nvPr/>
        </p:nvSpPr>
        <p:spPr>
          <a:xfrm rot="10800000" flipH="1" flipV="1">
            <a:off x="2133599" y="209549"/>
            <a:ext cx="259952" cy="152400"/>
          </a:xfrm>
          <a:prstGeom prst="rtTriangle">
            <a:avLst/>
          </a:prstGeom>
          <a:solidFill>
            <a:srgbClr val="C86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10">
            <a:extLst>
              <a:ext uri="{FF2B5EF4-FFF2-40B4-BE49-F238E27FC236}">
                <a16:creationId xmlns:a16="http://schemas.microsoft.com/office/drawing/2014/main" id="{27792471-FC29-4784-9A94-D2A17FD50912}"/>
              </a:ext>
            </a:extLst>
          </p:cNvPr>
          <p:cNvSpPr txBox="1">
            <a:spLocks/>
          </p:cNvSpPr>
          <p:nvPr/>
        </p:nvSpPr>
        <p:spPr>
          <a:xfrm>
            <a:off x="2917825" y="800103"/>
            <a:ext cx="5901183" cy="38290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Example: An employee has a salary of $45,000 and POA contributes $4,500 to that employee’s 403B. Compounded annually at 6%, 8%, and 10% (historical stock market returns are 12% on average), how much is that worth in 30 years? How much is the total contribution worth in 30 years (Employee + POA)?</a:t>
            </a:r>
          </a:p>
          <a:p>
            <a:pPr marL="0" indent="0">
              <a:buNone/>
            </a:pPr>
            <a:endParaRPr lang="en-US" sz="1400" dirty="0"/>
          </a:p>
          <a:p>
            <a:pPr marL="0" indent="0">
              <a:buNone/>
            </a:pPr>
            <a:r>
              <a:rPr lang="en-US" sz="1800" b="1" dirty="0"/>
              <a:t>			A = 4500 (1 + 0.06)</a:t>
            </a:r>
            <a:r>
              <a:rPr lang="en-US" sz="1800" b="1" baseline="30000" dirty="0"/>
              <a:t>30</a:t>
            </a:r>
          </a:p>
          <a:p>
            <a:pPr marL="0" indent="0">
              <a:buNone/>
            </a:pPr>
            <a:r>
              <a:rPr lang="en-US" sz="1800" b="1" dirty="0"/>
              <a:t>			A = $25,845</a:t>
            </a:r>
          </a:p>
          <a:p>
            <a:pPr marL="0" indent="0">
              <a:buNone/>
            </a:pPr>
            <a:endParaRPr lang="en-US" sz="1800" b="1" baseline="30000" dirty="0"/>
          </a:p>
          <a:p>
            <a:pPr marL="0" indent="0">
              <a:buNone/>
            </a:pPr>
            <a:r>
              <a:rPr lang="en-US" sz="1800" b="1" dirty="0"/>
              <a:t>			A = 4500 (1 + 0.08)</a:t>
            </a:r>
            <a:r>
              <a:rPr lang="en-US" sz="1800" b="1" baseline="30000" dirty="0"/>
              <a:t>30</a:t>
            </a:r>
          </a:p>
          <a:p>
            <a:pPr marL="0" indent="0">
              <a:buNone/>
            </a:pPr>
            <a:r>
              <a:rPr lang="en-US" sz="1800" b="1" dirty="0"/>
              <a:t>			A = $45,281</a:t>
            </a:r>
          </a:p>
          <a:p>
            <a:pPr marL="0" indent="0">
              <a:buNone/>
            </a:pPr>
            <a:endParaRPr lang="en-US" sz="1800" b="1" dirty="0"/>
          </a:p>
          <a:p>
            <a:pPr marL="0" indent="0">
              <a:buNone/>
            </a:pPr>
            <a:r>
              <a:rPr lang="en-US" sz="1800" b="1" dirty="0"/>
              <a:t>			A = 4500 (1 + 0.1)</a:t>
            </a:r>
            <a:r>
              <a:rPr lang="en-US" sz="1800" b="1" baseline="30000" dirty="0"/>
              <a:t>30</a:t>
            </a:r>
          </a:p>
          <a:p>
            <a:pPr marL="0" indent="0">
              <a:buNone/>
            </a:pPr>
            <a:r>
              <a:rPr lang="en-US" sz="1800" b="1" dirty="0"/>
              <a:t>			A = $78,522</a:t>
            </a:r>
          </a:p>
          <a:p>
            <a:pPr marL="0" indent="0">
              <a:buNone/>
            </a:pPr>
            <a:endParaRPr lang="en-US" sz="1800" b="1" dirty="0"/>
          </a:p>
          <a:p>
            <a:pPr marL="0" indent="0">
              <a:buNone/>
            </a:pPr>
            <a:endParaRPr lang="en-US" sz="1800" b="1" baseline="30000" dirty="0"/>
          </a:p>
          <a:p>
            <a:pPr marL="0" indent="0">
              <a:buNone/>
            </a:pPr>
            <a:endParaRPr lang="en-US" sz="1800" b="1" baseline="30000" dirty="0"/>
          </a:p>
          <a:p>
            <a:pPr marL="0" indent="0">
              <a:buNone/>
            </a:pPr>
            <a:endParaRPr lang="en-US" sz="1400" dirty="0"/>
          </a:p>
        </p:txBody>
      </p:sp>
      <p:pic>
        <p:nvPicPr>
          <p:cNvPr id="6" name="Picture 5" descr="A screenshot of a cell phone&#10;&#10;Description automatically generated">
            <a:extLst>
              <a:ext uri="{FF2B5EF4-FFF2-40B4-BE49-F238E27FC236}">
                <a16:creationId xmlns:a16="http://schemas.microsoft.com/office/drawing/2014/main" id="{6CCFC681-0057-45BD-AFF4-DBEF0742AFA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89" t="2827" r="2833" b="8725"/>
          <a:stretch/>
        </p:blipFill>
        <p:spPr>
          <a:xfrm>
            <a:off x="324992" y="2181804"/>
            <a:ext cx="3617214" cy="1828779"/>
          </a:xfrm>
          <a:prstGeom prst="rect">
            <a:avLst/>
          </a:prstGeom>
        </p:spPr>
      </p:pic>
      <p:sp>
        <p:nvSpPr>
          <p:cNvPr id="4" name="Rectangle 3">
            <a:extLst>
              <a:ext uri="{FF2B5EF4-FFF2-40B4-BE49-F238E27FC236}">
                <a16:creationId xmlns:a16="http://schemas.microsoft.com/office/drawing/2014/main" id="{FB3E0D84-A562-4CCD-9410-FA32A0C9494B}"/>
              </a:ext>
            </a:extLst>
          </p:cNvPr>
          <p:cNvSpPr/>
          <p:nvPr/>
        </p:nvSpPr>
        <p:spPr>
          <a:xfrm>
            <a:off x="2514600" y="173017"/>
            <a:ext cx="6553200" cy="369332"/>
          </a:xfrm>
          <a:prstGeom prst="rect">
            <a:avLst/>
          </a:prstGeom>
        </p:spPr>
        <p:txBody>
          <a:bodyPr wrap="square">
            <a:spAutoFit/>
          </a:bodyPr>
          <a:lstStyle/>
          <a:p>
            <a:r>
              <a:rPr lang="en-US" b="1" dirty="0"/>
              <a:t>“Compound interest is the most powerful force in the universe.”</a:t>
            </a:r>
          </a:p>
        </p:txBody>
      </p:sp>
      <p:sp>
        <p:nvSpPr>
          <p:cNvPr id="5" name="TextBox 4">
            <a:extLst>
              <a:ext uri="{FF2B5EF4-FFF2-40B4-BE49-F238E27FC236}">
                <a16:creationId xmlns:a16="http://schemas.microsoft.com/office/drawing/2014/main" id="{6407232B-19E9-4851-AF08-1032BDFCFBB7}"/>
              </a:ext>
            </a:extLst>
          </p:cNvPr>
          <p:cNvSpPr txBox="1"/>
          <p:nvPr/>
        </p:nvSpPr>
        <p:spPr>
          <a:xfrm>
            <a:off x="4336526" y="2181804"/>
            <a:ext cx="1456882" cy="2123658"/>
          </a:xfrm>
          <a:prstGeom prst="rect">
            <a:avLst/>
          </a:prstGeom>
          <a:noFill/>
        </p:spPr>
        <p:txBody>
          <a:bodyPr wrap="square" rtlCol="0">
            <a:spAutoFit/>
          </a:bodyPr>
          <a:lstStyle/>
          <a:p>
            <a:r>
              <a:rPr lang="en-US" sz="1200" dirty="0"/>
              <a:t>6% average return</a:t>
            </a:r>
          </a:p>
          <a:p>
            <a:endParaRPr lang="en-US" sz="1200" dirty="0"/>
          </a:p>
          <a:p>
            <a:endParaRPr lang="en-US" sz="1200" dirty="0"/>
          </a:p>
          <a:p>
            <a:endParaRPr lang="en-US" sz="1200" dirty="0"/>
          </a:p>
          <a:p>
            <a:endParaRPr lang="en-US" sz="1200" dirty="0"/>
          </a:p>
          <a:p>
            <a:r>
              <a:rPr lang="en-US" sz="1200" dirty="0"/>
              <a:t>8% average return</a:t>
            </a:r>
          </a:p>
          <a:p>
            <a:endParaRPr lang="en-US" sz="1200" dirty="0"/>
          </a:p>
          <a:p>
            <a:endParaRPr lang="en-US" sz="1200" dirty="0"/>
          </a:p>
          <a:p>
            <a:endParaRPr lang="en-US" sz="1200" dirty="0"/>
          </a:p>
          <a:p>
            <a:endParaRPr lang="en-US" sz="1200" dirty="0"/>
          </a:p>
          <a:p>
            <a:r>
              <a:rPr lang="en-US" sz="1200" dirty="0"/>
              <a:t>10% average return</a:t>
            </a:r>
          </a:p>
        </p:txBody>
      </p:sp>
    </p:spTree>
    <p:extLst>
      <p:ext uri="{BB962C8B-B14F-4D97-AF65-F5344CB8AC3E}">
        <p14:creationId xmlns:p14="http://schemas.microsoft.com/office/powerpoint/2010/main" val="3217637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
            <a:ext cx="9372600" cy="53149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203835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Annual Leave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479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5"/>
            <a:ext cx="2393552" cy="15430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499" y="571500"/>
            <a:ext cx="2232482"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Annual Leave</a:t>
            </a:r>
          </a:p>
        </p:txBody>
      </p:sp>
      <p:sp>
        <p:nvSpPr>
          <p:cNvPr id="8" name="Right Triangle 7"/>
          <p:cNvSpPr/>
          <p:nvPr/>
        </p:nvSpPr>
        <p:spPr>
          <a:xfrm rot="10800000" flipH="1" flipV="1">
            <a:off x="2133599" y="209549"/>
            <a:ext cx="259952" cy="152400"/>
          </a:xfrm>
          <a:prstGeom prst="rtTriangle">
            <a:avLst/>
          </a:prstGeom>
          <a:solidFill>
            <a:srgbClr val="214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10">
            <a:extLst>
              <a:ext uri="{FF2B5EF4-FFF2-40B4-BE49-F238E27FC236}">
                <a16:creationId xmlns:a16="http://schemas.microsoft.com/office/drawing/2014/main" id="{CA397A54-A026-493C-9D95-F8077738D689}"/>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“15 days of AL is not competitive. In addition, POA staff work so hard until they get overwhelmed. If POA offers 3-5 days upfront of AL, without the need of accruals, then POA staff may be less dissatisfied with that.”</a:t>
            </a:r>
          </a:p>
          <a:p>
            <a:pPr marL="0" indent="0">
              <a:buNone/>
            </a:pPr>
            <a:endParaRPr lang="en-US" sz="1400" dirty="0"/>
          </a:p>
          <a:p>
            <a:pPr marL="0" indent="0">
              <a:buNone/>
            </a:pPr>
            <a:r>
              <a:rPr lang="en-US" sz="1400" dirty="0"/>
              <a:t>“There should be more AL days provided to employees with longer tenure at Partners. It should not stop at 3 years.”</a:t>
            </a:r>
          </a:p>
        </p:txBody>
      </p:sp>
      <p:sp>
        <p:nvSpPr>
          <p:cNvPr id="9" name="Content Placeholder 10">
            <a:extLst>
              <a:ext uri="{FF2B5EF4-FFF2-40B4-BE49-F238E27FC236}">
                <a16:creationId xmlns:a16="http://schemas.microsoft.com/office/drawing/2014/main" id="{AF264A45-8F65-4237-8E63-DA10CFF6236B}"/>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55% don’t believe it’s competitive</a:t>
            </a:r>
          </a:p>
          <a:p>
            <a:endParaRPr lang="en-US" sz="1400" dirty="0"/>
          </a:p>
          <a:p>
            <a:r>
              <a:rPr lang="en-US" sz="1400" dirty="0"/>
              <a:t>About 50% are satisfied and 50% dissatisfied</a:t>
            </a:r>
          </a:p>
          <a:p>
            <a:endParaRPr lang="en-US" sz="1400" dirty="0"/>
          </a:p>
          <a:p>
            <a:r>
              <a:rPr lang="en-US" sz="1400" dirty="0"/>
              <a:t>33% would look for a new job for better AL</a:t>
            </a:r>
          </a:p>
        </p:txBody>
      </p:sp>
      <p:graphicFrame>
        <p:nvGraphicFramePr>
          <p:cNvPr id="10" name="Chart 9">
            <a:extLst>
              <a:ext uri="{FF2B5EF4-FFF2-40B4-BE49-F238E27FC236}">
                <a16:creationId xmlns:a16="http://schemas.microsoft.com/office/drawing/2014/main" id="{D42ED84B-6CD1-4B23-BF47-F8E4FAEDB0BD}"/>
              </a:ext>
            </a:extLst>
          </p:cNvPr>
          <p:cNvGraphicFramePr>
            <a:graphicFrameLocks/>
          </p:cNvGraphicFramePr>
          <p:nvPr>
            <p:extLst>
              <p:ext uri="{D42A27DB-BD31-4B8C-83A1-F6EECF244321}">
                <p14:modId xmlns:p14="http://schemas.microsoft.com/office/powerpoint/2010/main" val="3939940148"/>
              </p:ext>
            </p:extLst>
          </p:nvPr>
        </p:nvGraphicFramePr>
        <p:xfrm>
          <a:off x="2971800" y="35768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49213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Sick Leave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213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a:bodyPr>
          <a:lstStyle/>
          <a:p>
            <a:r>
              <a:rPr lang="en-US" sz="3600" dirty="0">
                <a:solidFill>
                  <a:schemeClr val="bg1"/>
                </a:solidFill>
                <a:latin typeface="Segoe UI" pitchFamily="34" charset="0"/>
                <a:ea typeface="Segoe UI" pitchFamily="34" charset="0"/>
                <a:cs typeface="Segoe UI" pitchFamily="34" charset="0"/>
              </a:rPr>
              <a:t>Sick Leave</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B40F7EB3-E88B-4CA3-8F60-49712BD42B2E}"/>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400" dirty="0"/>
          </a:p>
          <a:p>
            <a:pPr marL="0" indent="0">
              <a:buNone/>
            </a:pPr>
            <a:endParaRPr lang="en-US" sz="1400" dirty="0"/>
          </a:p>
          <a:p>
            <a:pPr marL="0" indent="0">
              <a:buNone/>
            </a:pPr>
            <a:r>
              <a:rPr lang="en-US" sz="1400" dirty="0"/>
              <a:t>“I suggest looking into a policy that offers no SL and higher days of AL, that way employees can use AL if they are sick, but if not, they can use it for vacation.”</a:t>
            </a:r>
          </a:p>
        </p:txBody>
      </p:sp>
      <p:sp>
        <p:nvSpPr>
          <p:cNvPr id="12" name="Content Placeholder 10">
            <a:extLst>
              <a:ext uri="{FF2B5EF4-FFF2-40B4-BE49-F238E27FC236}">
                <a16:creationId xmlns:a16="http://schemas.microsoft.com/office/drawing/2014/main" id="{6FE81DAC-6B4E-48DF-AE06-51160DB09132}"/>
              </a:ext>
            </a:extLst>
          </p:cNvPr>
          <p:cNvSpPr txBox="1">
            <a:spLocks/>
          </p:cNvSpPr>
          <p:nvPr/>
        </p:nvSpPr>
        <p:spPr>
          <a:xfrm>
            <a:off x="0" y="2038350"/>
            <a:ext cx="2393552" cy="3429000"/>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85% of people believe it's important</a:t>
            </a:r>
          </a:p>
          <a:p>
            <a:endParaRPr lang="en-US" sz="1400" dirty="0"/>
          </a:p>
          <a:p>
            <a:r>
              <a:rPr lang="en-US" sz="1400" dirty="0"/>
              <a:t>75% are happy with Sick Leave Policy</a:t>
            </a:r>
          </a:p>
          <a:p>
            <a:endParaRPr lang="en-US" sz="1400" dirty="0"/>
          </a:p>
          <a:p>
            <a:r>
              <a:rPr lang="en-US" sz="1400" dirty="0"/>
              <a:t>Most would not look for another job for better Sick Leave</a:t>
            </a:r>
          </a:p>
        </p:txBody>
      </p:sp>
      <p:graphicFrame>
        <p:nvGraphicFramePr>
          <p:cNvPr id="13" name="Chart 12">
            <a:extLst>
              <a:ext uri="{FF2B5EF4-FFF2-40B4-BE49-F238E27FC236}">
                <a16:creationId xmlns:a16="http://schemas.microsoft.com/office/drawing/2014/main" id="{5B47F117-D32A-4028-B2A8-3C1EC472A09B}"/>
              </a:ext>
            </a:extLst>
          </p:cNvPr>
          <p:cNvGraphicFramePr>
            <a:graphicFrameLocks/>
          </p:cNvGraphicFramePr>
          <p:nvPr>
            <p:extLst>
              <p:ext uri="{D42A27DB-BD31-4B8C-83A1-F6EECF244321}">
                <p14:modId xmlns:p14="http://schemas.microsoft.com/office/powerpoint/2010/main" val="971406157"/>
              </p:ext>
            </p:extLst>
          </p:nvPr>
        </p:nvGraphicFramePr>
        <p:xfrm>
          <a:off x="2971800"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87359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Sick Leave Bank</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974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61950"/>
            <a:ext cx="2393552" cy="160020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470" y="666750"/>
            <a:ext cx="2415654" cy="857250"/>
          </a:xfrm>
        </p:spPr>
        <p:txBody>
          <a:bodyPr>
            <a:noAutofit/>
          </a:bodyPr>
          <a:lstStyle/>
          <a:p>
            <a:r>
              <a:rPr lang="en-US" sz="2800" dirty="0">
                <a:solidFill>
                  <a:schemeClr val="bg1"/>
                </a:solidFill>
                <a:latin typeface="Segoe UI" pitchFamily="34" charset="0"/>
                <a:ea typeface="Segoe UI" pitchFamily="34" charset="0"/>
                <a:cs typeface="Segoe UI" pitchFamily="34" charset="0"/>
              </a:rPr>
              <a:t>Sick Leave Bank</a:t>
            </a:r>
          </a:p>
        </p:txBody>
      </p:sp>
      <p:sp>
        <p:nvSpPr>
          <p:cNvPr id="6" name="Title 1"/>
          <p:cNvSpPr txBox="1">
            <a:spLocks/>
          </p:cNvSpPr>
          <p:nvPr/>
        </p:nvSpPr>
        <p:spPr>
          <a:xfrm>
            <a:off x="75706" y="2112417"/>
            <a:ext cx="2384303"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10">
            <a:extLst>
              <a:ext uri="{FF2B5EF4-FFF2-40B4-BE49-F238E27FC236}">
                <a16:creationId xmlns:a16="http://schemas.microsoft.com/office/drawing/2014/main" id="{8C76D17E-ED6D-4E6D-988F-92E2E4C5D87E}"/>
              </a:ext>
            </a:extLst>
          </p:cNvPr>
          <p:cNvSpPr txBox="1">
            <a:spLocks/>
          </p:cNvSpPr>
          <p:nvPr/>
        </p:nvSpPr>
        <p:spPr>
          <a:xfrm>
            <a:off x="2971800" y="31813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“SL bank is not clear in the EM. Employees want to use SL they receive from others without a reasonable leave, at this moment we don’t know if we can use what is donated or not. Very fuzzy policy that could help many of us without hurting the organization.”</a:t>
            </a:r>
          </a:p>
          <a:p>
            <a:pPr marL="0" indent="0">
              <a:buNone/>
            </a:pPr>
            <a:endParaRPr lang="en-US" sz="1400" dirty="0"/>
          </a:p>
          <a:p>
            <a:pPr marL="0" indent="0">
              <a:buNone/>
            </a:pPr>
            <a:r>
              <a:rPr lang="en-US" sz="1400" dirty="0"/>
              <a:t>“The sick leave bank compensates for tangible benefits. This is very important because if something happens and you need to be out of the office for medical reasons, you are provided with stability.”</a:t>
            </a:r>
          </a:p>
        </p:txBody>
      </p:sp>
      <p:sp>
        <p:nvSpPr>
          <p:cNvPr id="11" name="Content Placeholder 10">
            <a:extLst>
              <a:ext uri="{FF2B5EF4-FFF2-40B4-BE49-F238E27FC236}">
                <a16:creationId xmlns:a16="http://schemas.microsoft.com/office/drawing/2014/main" id="{FD2F0A75-D5D6-49D3-9761-60B383321CCB}"/>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75% of people value having a sick leave bank</a:t>
            </a:r>
          </a:p>
          <a:p>
            <a:endParaRPr lang="en-US" sz="1400" dirty="0"/>
          </a:p>
          <a:p>
            <a:r>
              <a:rPr lang="en-US" sz="1400" dirty="0"/>
              <a:t>67% don’t know if a sick leave bank is common at similar organizations</a:t>
            </a:r>
          </a:p>
          <a:p>
            <a:endParaRPr lang="en-US" sz="1400" dirty="0"/>
          </a:p>
          <a:p>
            <a:r>
              <a:rPr lang="en-US" sz="1400" dirty="0"/>
              <a:t>80% are happy that POA has a sick leave bank</a:t>
            </a:r>
          </a:p>
        </p:txBody>
      </p:sp>
      <p:graphicFrame>
        <p:nvGraphicFramePr>
          <p:cNvPr id="12" name="Chart 11">
            <a:extLst>
              <a:ext uri="{FF2B5EF4-FFF2-40B4-BE49-F238E27FC236}">
                <a16:creationId xmlns:a16="http://schemas.microsoft.com/office/drawing/2014/main" id="{19FE5013-6C92-4492-B1BA-E45CFDD002FD}"/>
              </a:ext>
            </a:extLst>
          </p:cNvPr>
          <p:cNvGraphicFramePr>
            <a:graphicFrameLocks/>
          </p:cNvGraphicFramePr>
          <p:nvPr>
            <p:extLst>
              <p:ext uri="{D42A27DB-BD31-4B8C-83A1-F6EECF244321}">
                <p14:modId xmlns:p14="http://schemas.microsoft.com/office/powerpoint/2010/main" val="2936672037"/>
              </p:ext>
            </p:extLst>
          </p:nvPr>
        </p:nvGraphicFramePr>
        <p:xfrm>
          <a:off x="2971800" y="36195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32825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Sick Leave Donation Policy</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003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Sick Leave Donation</a:t>
            </a:r>
          </a:p>
        </p:txBody>
      </p:sp>
      <p:sp>
        <p:nvSpPr>
          <p:cNvPr id="8" name="Right Triangle 7"/>
          <p:cNvSpPr/>
          <p:nvPr/>
        </p:nvSpPr>
        <p:spPr>
          <a:xfrm rot="10800000" flipH="1" flipV="1">
            <a:off x="2133599" y="209549"/>
            <a:ext cx="259952" cy="152400"/>
          </a:xfrm>
          <a:prstGeom prst="rtTriangle">
            <a:avLst/>
          </a:prstGeom>
          <a:solidFill>
            <a:srgbClr val="C86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51ED6B9B-4DFA-4D91-8D9A-FEF4A66DF1E6}"/>
              </a:ext>
            </a:extLst>
          </p:cNvPr>
          <p:cNvSpPr txBox="1">
            <a:spLocks/>
          </p:cNvSpPr>
          <p:nvPr/>
        </p:nvSpPr>
        <p:spPr>
          <a:xfrm>
            <a:off x="2915904" y="2952749"/>
            <a:ext cx="5542296" cy="2133597"/>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“The sick leave donation policy is wonderful; however it shouldn’t be considered a substitute for other types of leave policies (i.e. employees shouldn’t have to depend on the goodwill of their colleagues in order to take a reasonable period of paid parental leave).”</a:t>
            </a:r>
          </a:p>
          <a:p>
            <a:pPr marL="0" indent="0">
              <a:buNone/>
            </a:pPr>
            <a:endParaRPr lang="en-US" sz="1400" dirty="0"/>
          </a:p>
          <a:p>
            <a:pPr marL="0" indent="0">
              <a:buNone/>
            </a:pPr>
            <a:r>
              <a:rPr lang="en-US" sz="1400" dirty="0"/>
              <a:t>“I think this is a very human policy that is good for individuals who benefit and for the group culture. It encourages, or at least gives people the option, to help out their colleagues in a time of need. I think this is a very important benefit, even if it is not used very often.”</a:t>
            </a:r>
          </a:p>
        </p:txBody>
      </p:sp>
      <p:sp>
        <p:nvSpPr>
          <p:cNvPr id="12" name="Content Placeholder 10">
            <a:extLst>
              <a:ext uri="{FF2B5EF4-FFF2-40B4-BE49-F238E27FC236}">
                <a16:creationId xmlns:a16="http://schemas.microsoft.com/office/drawing/2014/main" id="{A3E7850E-35CF-446F-A25C-49091C0680A7}"/>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60% value the SL donation policy</a:t>
            </a:r>
          </a:p>
          <a:p>
            <a:endParaRPr lang="en-US" sz="1400" dirty="0"/>
          </a:p>
          <a:p>
            <a:r>
              <a:rPr lang="en-US" sz="1400" dirty="0"/>
              <a:t>66% don’t know if its common at similar orgs</a:t>
            </a:r>
          </a:p>
          <a:p>
            <a:endParaRPr lang="en-US" sz="1400" dirty="0"/>
          </a:p>
          <a:p>
            <a:r>
              <a:rPr lang="en-US" sz="1400" dirty="0"/>
              <a:t>75% are satisfied with the SL donation policy</a:t>
            </a:r>
          </a:p>
        </p:txBody>
      </p:sp>
      <p:graphicFrame>
        <p:nvGraphicFramePr>
          <p:cNvPr id="13" name="Chart 12">
            <a:extLst>
              <a:ext uri="{FF2B5EF4-FFF2-40B4-BE49-F238E27FC236}">
                <a16:creationId xmlns:a16="http://schemas.microsoft.com/office/drawing/2014/main" id="{6796D6F8-1441-48A0-B87A-00D98205D8D8}"/>
              </a:ext>
            </a:extLst>
          </p:cNvPr>
          <p:cNvGraphicFramePr>
            <a:graphicFrameLocks/>
          </p:cNvGraphicFramePr>
          <p:nvPr>
            <p:extLst>
              <p:ext uri="{D42A27DB-BD31-4B8C-83A1-F6EECF244321}">
                <p14:modId xmlns:p14="http://schemas.microsoft.com/office/powerpoint/2010/main" val="2234965818"/>
              </p:ext>
            </p:extLst>
          </p:nvPr>
        </p:nvGraphicFramePr>
        <p:xfrm>
          <a:off x="2971800" y="20955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4365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
            <a:ext cx="9372600" cy="53149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203835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Parental Leave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3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5"/>
            <a:ext cx="2393552" cy="15430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499" y="495300"/>
            <a:ext cx="2232482"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Parental Leave</a:t>
            </a:r>
          </a:p>
        </p:txBody>
      </p:sp>
      <p:sp>
        <p:nvSpPr>
          <p:cNvPr id="8" name="Right Triangle 7"/>
          <p:cNvSpPr/>
          <p:nvPr/>
        </p:nvSpPr>
        <p:spPr>
          <a:xfrm rot="10800000" flipH="1" flipV="1">
            <a:off x="2133599" y="209549"/>
            <a:ext cx="259952" cy="152400"/>
          </a:xfrm>
          <a:prstGeom prst="rtTriangle">
            <a:avLst/>
          </a:prstGeom>
          <a:solidFill>
            <a:srgbClr val="214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10">
            <a:extLst>
              <a:ext uri="{FF2B5EF4-FFF2-40B4-BE49-F238E27FC236}">
                <a16:creationId xmlns:a16="http://schemas.microsoft.com/office/drawing/2014/main" id="{4DE8159D-A56A-49AC-BB61-D2DEB8A729A5}"/>
              </a:ext>
            </a:extLst>
          </p:cNvPr>
          <p:cNvSpPr txBox="1">
            <a:spLocks/>
          </p:cNvSpPr>
          <p:nvPr/>
        </p:nvSpPr>
        <p:spPr>
          <a:xfrm>
            <a:off x="2971800" y="3181350"/>
            <a:ext cx="5486400" cy="1828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“Yes for paternity leave, not enough for maternity leave.”</a:t>
            </a:r>
          </a:p>
          <a:p>
            <a:pPr marL="0" indent="0">
              <a:buNone/>
            </a:pPr>
            <a:endParaRPr lang="en-US" sz="1400" dirty="0"/>
          </a:p>
          <a:p>
            <a:pPr marL="0" indent="0">
              <a:buNone/>
            </a:pPr>
            <a:r>
              <a:rPr lang="en-US" sz="1400" dirty="0"/>
              <a:t>“I think it’s important to note that POA is indeed exceptional when compared with other US employers in that it provides any parental leave at all, but I believe strongly that employers in general should be providing more parental leave, including POA. So I rank POA highly on this score when compared with their peers, but I also don’t think it would be inappropriate to offer 2-4 months of parental leave.”</a:t>
            </a:r>
          </a:p>
        </p:txBody>
      </p:sp>
      <p:sp>
        <p:nvSpPr>
          <p:cNvPr id="9" name="Content Placeholder 10">
            <a:extLst>
              <a:ext uri="{FF2B5EF4-FFF2-40B4-BE49-F238E27FC236}">
                <a16:creationId xmlns:a16="http://schemas.microsoft.com/office/drawing/2014/main" id="{680223AF-7FB5-4BED-84BA-0CCDCB8E8FD5}"/>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55% value Parental Leave; 25% N/A</a:t>
            </a:r>
          </a:p>
          <a:p>
            <a:endParaRPr lang="en-US" sz="1400" dirty="0"/>
          </a:p>
          <a:p>
            <a:r>
              <a:rPr lang="en-US" sz="1400" dirty="0"/>
              <a:t>20% would consider looking for a new job for better Parental Leave</a:t>
            </a:r>
          </a:p>
        </p:txBody>
      </p:sp>
      <p:graphicFrame>
        <p:nvGraphicFramePr>
          <p:cNvPr id="10" name="Chart 9">
            <a:extLst>
              <a:ext uri="{FF2B5EF4-FFF2-40B4-BE49-F238E27FC236}">
                <a16:creationId xmlns:a16="http://schemas.microsoft.com/office/drawing/2014/main" id="{BDF0B81F-C3F5-42B3-B2AB-E44BC2FD83A9}"/>
              </a:ext>
            </a:extLst>
          </p:cNvPr>
          <p:cNvGraphicFramePr>
            <a:graphicFrameLocks/>
          </p:cNvGraphicFramePr>
          <p:nvPr>
            <p:extLst>
              <p:ext uri="{D42A27DB-BD31-4B8C-83A1-F6EECF244321}">
                <p14:modId xmlns:p14="http://schemas.microsoft.com/office/powerpoint/2010/main" val="859559895"/>
              </p:ext>
            </p:extLst>
          </p:nvPr>
        </p:nvGraphicFramePr>
        <p:xfrm>
          <a:off x="2971800" y="35768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718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Compassionate Leave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743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Autofit/>
          </a:bodyPr>
          <a:lstStyle/>
          <a:p>
            <a:r>
              <a:rPr lang="en-US" sz="2400" dirty="0">
                <a:solidFill>
                  <a:schemeClr val="bg1"/>
                </a:solidFill>
                <a:latin typeface="Segoe UI" pitchFamily="34" charset="0"/>
                <a:ea typeface="Segoe UI" pitchFamily="34" charset="0"/>
                <a:cs typeface="Segoe UI" pitchFamily="34" charset="0"/>
              </a:rPr>
              <a:t>Compassionate Leave</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8A25D22D-9FE2-4C2B-B7CD-F6F978D768FC}"/>
              </a:ext>
            </a:extLst>
          </p:cNvPr>
          <p:cNvSpPr txBox="1">
            <a:spLocks/>
          </p:cNvSpPr>
          <p:nvPr/>
        </p:nvSpPr>
        <p:spPr>
          <a:xfrm>
            <a:off x="2971800" y="3257550"/>
            <a:ext cx="5486400" cy="1752600"/>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“Would be great to provide more time for this leave considering travel days involved in attending a funeral and coming back to the office. 5 days could be more sufficient.”</a:t>
            </a:r>
          </a:p>
          <a:p>
            <a:pPr marL="0" indent="0">
              <a:buNone/>
            </a:pPr>
            <a:endParaRPr lang="en-US" sz="1400" dirty="0"/>
          </a:p>
          <a:p>
            <a:pPr marL="0" indent="0">
              <a:buNone/>
            </a:pPr>
            <a:r>
              <a:rPr lang="en-US" sz="1400" dirty="0"/>
              <a:t>“Perhaps there should be tiered system. Three days off for the death of a spouse or child seems too little.”</a:t>
            </a:r>
          </a:p>
        </p:txBody>
      </p:sp>
      <p:sp>
        <p:nvSpPr>
          <p:cNvPr id="12" name="Content Placeholder 10">
            <a:extLst>
              <a:ext uri="{FF2B5EF4-FFF2-40B4-BE49-F238E27FC236}">
                <a16:creationId xmlns:a16="http://schemas.microsoft.com/office/drawing/2014/main" id="{A3A0362E-2E7D-4A50-A329-11DAB1B3A619}"/>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85% value Compassionate Leave</a:t>
            </a:r>
          </a:p>
          <a:p>
            <a:endParaRPr lang="en-US" sz="1400" dirty="0"/>
          </a:p>
          <a:p>
            <a:r>
              <a:rPr lang="en-US" sz="1400" dirty="0"/>
              <a:t>67% don’t know if it’s competitive</a:t>
            </a:r>
          </a:p>
          <a:p>
            <a:endParaRPr lang="en-US" sz="1400" dirty="0"/>
          </a:p>
          <a:p>
            <a:r>
              <a:rPr lang="en-US" sz="1400" dirty="0"/>
              <a:t>48% happy and 33% neutral</a:t>
            </a:r>
          </a:p>
        </p:txBody>
      </p:sp>
      <p:graphicFrame>
        <p:nvGraphicFramePr>
          <p:cNvPr id="13" name="Chart 12">
            <a:extLst>
              <a:ext uri="{FF2B5EF4-FFF2-40B4-BE49-F238E27FC236}">
                <a16:creationId xmlns:a16="http://schemas.microsoft.com/office/drawing/2014/main" id="{56C81BA9-800B-4A81-B6DF-9FB996808CC2}"/>
              </a:ext>
            </a:extLst>
          </p:cNvPr>
          <p:cNvGraphicFramePr>
            <a:graphicFrameLocks/>
          </p:cNvGraphicFramePr>
          <p:nvPr>
            <p:extLst>
              <p:ext uri="{D42A27DB-BD31-4B8C-83A1-F6EECF244321}">
                <p14:modId xmlns:p14="http://schemas.microsoft.com/office/powerpoint/2010/main" val="1950543063"/>
              </p:ext>
            </p:extLst>
          </p:nvPr>
        </p:nvGraphicFramePr>
        <p:xfrm>
          <a:off x="2917824"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75424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Paid Holidays</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523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61950"/>
            <a:ext cx="2393552" cy="160020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470" y="666750"/>
            <a:ext cx="2415654" cy="857250"/>
          </a:xfrm>
        </p:spPr>
        <p:txBody>
          <a:bodyPr>
            <a:noAutofit/>
          </a:bodyPr>
          <a:lstStyle/>
          <a:p>
            <a:r>
              <a:rPr lang="en-US" sz="2800" dirty="0">
                <a:solidFill>
                  <a:schemeClr val="bg1"/>
                </a:solidFill>
                <a:latin typeface="Segoe UI" pitchFamily="34" charset="0"/>
                <a:ea typeface="Segoe UI" pitchFamily="34" charset="0"/>
                <a:cs typeface="Segoe UI" pitchFamily="34" charset="0"/>
              </a:rPr>
              <a:t>Paid Holidays</a:t>
            </a:r>
          </a:p>
        </p:txBody>
      </p:sp>
      <p:sp>
        <p:nvSpPr>
          <p:cNvPr id="6" name="Title 1"/>
          <p:cNvSpPr txBox="1">
            <a:spLocks/>
          </p:cNvSpPr>
          <p:nvPr/>
        </p:nvSpPr>
        <p:spPr>
          <a:xfrm>
            <a:off x="75706" y="2112417"/>
            <a:ext cx="2384303"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10">
            <a:extLst>
              <a:ext uri="{FF2B5EF4-FFF2-40B4-BE49-F238E27FC236}">
                <a16:creationId xmlns:a16="http://schemas.microsoft.com/office/drawing/2014/main" id="{9F4F221B-0941-4472-9BEF-CCC3A2300D1C}"/>
              </a:ext>
            </a:extLst>
          </p:cNvPr>
          <p:cNvSpPr txBox="1">
            <a:spLocks/>
          </p:cNvSpPr>
          <p:nvPr/>
        </p:nvSpPr>
        <p:spPr>
          <a:xfrm>
            <a:off x="2895600" y="359816"/>
            <a:ext cx="5486400" cy="472653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appreciate this benefit. However, it would be more effective if time off including holidays and weekends were respected by some supervisors. Sometimes the pressure is too much that we feel obligated to work over the clock until it surpasses our limits, causing so much mental stress.”</a:t>
            </a:r>
          </a:p>
          <a:p>
            <a:pPr marL="0" indent="0">
              <a:buNone/>
            </a:pPr>
            <a:endParaRPr lang="en-US" sz="1400" dirty="0"/>
          </a:p>
          <a:p>
            <a:pPr marL="0" indent="0">
              <a:buNone/>
            </a:pPr>
            <a:r>
              <a:rPr lang="en-US" sz="1400" dirty="0"/>
              <a:t>“Whenever a paid holiday is approaching and/or when we return from a holiday, would be great to consider how these holidays impact workload and deadlines. For example, holding meetings the day after returning from a holiday isn’t ideal. Also, setting deadlines and program activities in the days before or after are also not ideal. Often times, I find myself working on holidays to account for these demands.”</a:t>
            </a:r>
          </a:p>
          <a:p>
            <a:pPr marL="0" indent="0">
              <a:buNone/>
            </a:pPr>
            <a:endParaRPr lang="en-US" sz="1400" dirty="0"/>
          </a:p>
          <a:p>
            <a:pPr marL="0" indent="0">
              <a:buNone/>
            </a:pPr>
            <a:r>
              <a:rPr lang="en-US" sz="1400" dirty="0"/>
              <a:t>“In addition to the planned paid holidays, POA often gives a few additional days each year, such as the day after Christmas, especially when it helps the holiday bridge to a weekend…such closures be announced with a bit more notice than is currently typical. Several times it has happened that I have scheduled meeting on days that are then announced as holidays. I usually end up taking the meetings anyway. If the closure were announced a little more in advance (say one week at least), then that would help me avoid that situation or at least have more time to reschedule meetings.”</a:t>
            </a:r>
          </a:p>
        </p:txBody>
      </p:sp>
      <p:sp>
        <p:nvSpPr>
          <p:cNvPr id="11" name="Content Placeholder 10">
            <a:extLst>
              <a:ext uri="{FF2B5EF4-FFF2-40B4-BE49-F238E27FC236}">
                <a16:creationId xmlns:a16="http://schemas.microsoft.com/office/drawing/2014/main" id="{E52EC383-A91F-4C54-BF92-30E80CDE30FC}"/>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95% value paid holidays</a:t>
            </a:r>
          </a:p>
          <a:p>
            <a:endParaRPr lang="en-US" sz="1400" dirty="0"/>
          </a:p>
          <a:p>
            <a:r>
              <a:rPr lang="en-US" sz="1400" dirty="0"/>
              <a:t>48% think its competitive and 30% don’t know</a:t>
            </a:r>
          </a:p>
          <a:p>
            <a:endParaRPr lang="en-US" sz="1400" dirty="0"/>
          </a:p>
          <a:p>
            <a:r>
              <a:rPr lang="en-US" sz="1400" dirty="0"/>
              <a:t>77% happy with paid holidays</a:t>
            </a:r>
          </a:p>
        </p:txBody>
      </p:sp>
    </p:spTree>
    <p:extLst>
      <p:ext uri="{BB962C8B-B14F-4D97-AF65-F5344CB8AC3E}">
        <p14:creationId xmlns:p14="http://schemas.microsoft.com/office/powerpoint/2010/main" val="2910589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Flex Spending Account</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198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a:bodyPr>
          <a:lstStyle/>
          <a:p>
            <a:r>
              <a:rPr lang="en-US" sz="3600" dirty="0">
                <a:solidFill>
                  <a:schemeClr val="bg1"/>
                </a:solidFill>
                <a:latin typeface="Segoe UI" pitchFamily="34" charset="0"/>
                <a:ea typeface="Segoe UI" pitchFamily="34" charset="0"/>
                <a:cs typeface="Segoe UI" pitchFamily="34" charset="0"/>
              </a:rPr>
              <a:t>FSA</a:t>
            </a:r>
          </a:p>
        </p:txBody>
      </p:sp>
      <p:sp>
        <p:nvSpPr>
          <p:cNvPr id="8" name="Right Triangle 7"/>
          <p:cNvSpPr/>
          <p:nvPr/>
        </p:nvSpPr>
        <p:spPr>
          <a:xfrm rot="10800000" flipH="1" flipV="1">
            <a:off x="2133599" y="209549"/>
            <a:ext cx="259952" cy="152400"/>
          </a:xfrm>
          <a:prstGeom prst="rtTriangle">
            <a:avLst/>
          </a:prstGeom>
          <a:solidFill>
            <a:srgbClr val="C86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C15D66A7-A6CC-4726-9A0B-1DAE6F8B5F67}"/>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wish the FSA were more open to covering costs such as emergency birth control and allergy medication. This may be outside the scope of the FSA benefit and more of an issue related to FSA in general.”</a:t>
            </a:r>
          </a:p>
        </p:txBody>
      </p:sp>
      <p:sp>
        <p:nvSpPr>
          <p:cNvPr id="12" name="Content Placeholder 10">
            <a:extLst>
              <a:ext uri="{FF2B5EF4-FFF2-40B4-BE49-F238E27FC236}">
                <a16:creationId xmlns:a16="http://schemas.microsoft.com/office/drawing/2014/main" id="{069251CF-A732-4EFC-9082-3A69B4710141}"/>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40% values the FSA</a:t>
            </a:r>
          </a:p>
          <a:p>
            <a:endParaRPr lang="en-US" sz="1400" dirty="0"/>
          </a:p>
          <a:p>
            <a:r>
              <a:rPr lang="en-US" sz="1400" dirty="0"/>
              <a:t>60% don’t know if it’s competitive</a:t>
            </a:r>
          </a:p>
          <a:p>
            <a:endParaRPr lang="en-US" sz="1400" dirty="0"/>
          </a:p>
          <a:p>
            <a:r>
              <a:rPr lang="en-US" sz="1400" dirty="0"/>
              <a:t>Insert FSA5</a:t>
            </a:r>
          </a:p>
        </p:txBody>
      </p:sp>
      <p:graphicFrame>
        <p:nvGraphicFramePr>
          <p:cNvPr id="14" name="Chart 13">
            <a:extLst>
              <a:ext uri="{FF2B5EF4-FFF2-40B4-BE49-F238E27FC236}">
                <a16:creationId xmlns:a16="http://schemas.microsoft.com/office/drawing/2014/main" id="{EB127D49-C219-40B3-8EA1-527496E527BD}"/>
              </a:ext>
            </a:extLst>
          </p:cNvPr>
          <p:cNvGraphicFramePr>
            <a:graphicFrameLocks/>
          </p:cNvGraphicFramePr>
          <p:nvPr>
            <p:extLst>
              <p:ext uri="{D42A27DB-BD31-4B8C-83A1-F6EECF244321}">
                <p14:modId xmlns:p14="http://schemas.microsoft.com/office/powerpoint/2010/main" val="4094234294"/>
              </p:ext>
            </p:extLst>
          </p:nvPr>
        </p:nvGraphicFramePr>
        <p:xfrm>
          <a:off x="2971800" y="357684"/>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91619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
            <a:ext cx="9372600" cy="53149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203835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Smart Benefits</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154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5"/>
            <a:ext cx="2393552" cy="15430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499" y="571500"/>
            <a:ext cx="2232482" cy="857250"/>
          </a:xfrm>
        </p:spPr>
        <p:txBody>
          <a:bodyPr>
            <a:normAutofit fontScale="90000"/>
          </a:bodyPr>
          <a:lstStyle/>
          <a:p>
            <a:r>
              <a:rPr lang="en-US" sz="3600" dirty="0">
                <a:solidFill>
                  <a:schemeClr val="bg1"/>
                </a:solidFill>
                <a:latin typeface="Segoe UI" pitchFamily="34" charset="0"/>
                <a:ea typeface="Segoe UI" pitchFamily="34" charset="0"/>
                <a:cs typeface="Segoe UI" pitchFamily="34" charset="0"/>
              </a:rPr>
              <a:t>Smart Benefits</a:t>
            </a:r>
          </a:p>
        </p:txBody>
      </p:sp>
      <p:sp>
        <p:nvSpPr>
          <p:cNvPr id="8" name="Right Triangle 7"/>
          <p:cNvSpPr/>
          <p:nvPr/>
        </p:nvSpPr>
        <p:spPr>
          <a:xfrm rot="10800000" flipH="1" flipV="1">
            <a:off x="2133599" y="209549"/>
            <a:ext cx="259952" cy="152400"/>
          </a:xfrm>
          <a:prstGeom prst="rtTriangle">
            <a:avLst/>
          </a:prstGeom>
          <a:solidFill>
            <a:srgbClr val="214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10">
            <a:extLst>
              <a:ext uri="{FF2B5EF4-FFF2-40B4-BE49-F238E27FC236}">
                <a16:creationId xmlns:a16="http://schemas.microsoft.com/office/drawing/2014/main" id="{830E6937-1943-4202-AE72-9493939B4B09}"/>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believe POA could pay a % of transportation to staff (</a:t>
            </a:r>
            <a:r>
              <a:rPr lang="en-US" sz="1400" dirty="0" err="1"/>
              <a:t>eg.</a:t>
            </a:r>
            <a:r>
              <a:rPr lang="en-US" sz="1400" dirty="0"/>
              <a:t> 30% or 20%).”</a:t>
            </a:r>
          </a:p>
          <a:p>
            <a:pPr marL="0" indent="0">
              <a:buNone/>
            </a:pPr>
            <a:endParaRPr lang="en-US" sz="1400" dirty="0"/>
          </a:p>
          <a:p>
            <a:pPr marL="0" indent="0">
              <a:buNone/>
            </a:pPr>
            <a:r>
              <a:rPr lang="en-US" sz="1400" dirty="0"/>
              <a:t>“Can this extend to bicycle repair costs?”</a:t>
            </a:r>
          </a:p>
          <a:p>
            <a:pPr marL="0" indent="0">
              <a:buNone/>
            </a:pPr>
            <a:endParaRPr lang="en-US" sz="1400" dirty="0"/>
          </a:p>
          <a:p>
            <a:pPr marL="0" indent="0">
              <a:buNone/>
            </a:pPr>
            <a:r>
              <a:rPr lang="en-US" sz="1400" dirty="0"/>
              <a:t>“It would be great for Partners to cover more of the </a:t>
            </a:r>
            <a:r>
              <a:rPr lang="en-US" sz="1400" dirty="0" err="1"/>
              <a:t>SmartTrip</a:t>
            </a:r>
            <a:r>
              <a:rPr lang="en-US" sz="1400" dirty="0"/>
              <a:t> benefits especially for those who have longer commutes – it can get expensive.”</a:t>
            </a:r>
          </a:p>
        </p:txBody>
      </p:sp>
      <p:sp>
        <p:nvSpPr>
          <p:cNvPr id="9" name="Content Placeholder 10">
            <a:extLst>
              <a:ext uri="{FF2B5EF4-FFF2-40B4-BE49-F238E27FC236}">
                <a16:creationId xmlns:a16="http://schemas.microsoft.com/office/drawing/2014/main" id="{AF2F1FB1-CC95-4AC2-A711-BBBEE52D7075}"/>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70% value smart benefits</a:t>
            </a:r>
          </a:p>
          <a:p>
            <a:endParaRPr lang="en-US" sz="1400" dirty="0"/>
          </a:p>
          <a:p>
            <a:r>
              <a:rPr lang="en-US" sz="1400" dirty="0"/>
              <a:t>52% satisfied with current smart benefits</a:t>
            </a:r>
          </a:p>
        </p:txBody>
      </p:sp>
      <p:graphicFrame>
        <p:nvGraphicFramePr>
          <p:cNvPr id="10" name="Chart 9">
            <a:extLst>
              <a:ext uri="{FF2B5EF4-FFF2-40B4-BE49-F238E27FC236}">
                <a16:creationId xmlns:a16="http://schemas.microsoft.com/office/drawing/2014/main" id="{B9488621-6172-4E84-A6D1-A6308FDD6C2E}"/>
              </a:ext>
            </a:extLst>
          </p:cNvPr>
          <p:cNvGraphicFramePr>
            <a:graphicFrameLocks/>
          </p:cNvGraphicFramePr>
          <p:nvPr>
            <p:extLst>
              <p:ext uri="{D42A27DB-BD31-4B8C-83A1-F6EECF244321}">
                <p14:modId xmlns:p14="http://schemas.microsoft.com/office/powerpoint/2010/main" val="2659421913"/>
              </p:ext>
            </p:extLst>
          </p:nvPr>
        </p:nvGraphicFramePr>
        <p:xfrm>
          <a:off x="2971800" y="35768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17959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Flex Work Arrangement</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934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rmAutofit/>
          </a:bodyPr>
          <a:lstStyle/>
          <a:p>
            <a:r>
              <a:rPr lang="en-US" sz="3600" dirty="0">
                <a:solidFill>
                  <a:schemeClr val="bg1"/>
                </a:solidFill>
                <a:latin typeface="Segoe UI" pitchFamily="34" charset="0"/>
                <a:ea typeface="Segoe UI" pitchFamily="34" charset="0"/>
                <a:cs typeface="Segoe UI" pitchFamily="34" charset="0"/>
              </a:rPr>
              <a:t>FWA</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58752ABD-F269-4A4A-BFF3-B58D2C9FAE47}"/>
              </a:ext>
            </a:extLst>
          </p:cNvPr>
          <p:cNvSpPr txBox="1">
            <a:spLocks/>
          </p:cNvSpPr>
          <p:nvPr/>
        </p:nvSpPr>
        <p:spPr>
          <a:xfrm>
            <a:off x="2971800" y="3257550"/>
            <a:ext cx="55626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“Wish turnaround time to process requests were faster and that the FWA arrangement went beyond a couple of months before revisiting for adjustments.”</a:t>
            </a:r>
          </a:p>
          <a:p>
            <a:pPr marL="0" indent="0">
              <a:buNone/>
            </a:pPr>
            <a:endParaRPr lang="en-US" sz="1400" dirty="0"/>
          </a:p>
          <a:p>
            <a:pPr marL="0" indent="0">
              <a:buNone/>
            </a:pPr>
            <a:r>
              <a:rPr lang="en-US" sz="1400" dirty="0"/>
              <a:t>“I’m glad that we have this option!”</a:t>
            </a:r>
          </a:p>
          <a:p>
            <a:pPr marL="0" indent="0">
              <a:buNone/>
            </a:pPr>
            <a:endParaRPr lang="en-US" sz="1400" dirty="0"/>
          </a:p>
          <a:p>
            <a:pPr marL="0" indent="0">
              <a:buNone/>
            </a:pPr>
            <a:r>
              <a:rPr lang="en-US" sz="1400" dirty="0"/>
              <a:t>“I am very happy this was added and it would benefit everyone if it stays.”</a:t>
            </a:r>
          </a:p>
        </p:txBody>
      </p:sp>
      <p:sp>
        <p:nvSpPr>
          <p:cNvPr id="12" name="Content Placeholder 10">
            <a:extLst>
              <a:ext uri="{FF2B5EF4-FFF2-40B4-BE49-F238E27FC236}">
                <a16:creationId xmlns:a16="http://schemas.microsoft.com/office/drawing/2014/main" id="{4457F2BD-CEE4-4891-9674-83D938A1EC3C}"/>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90% value the Flex Work Arrangement Policy</a:t>
            </a:r>
          </a:p>
          <a:p>
            <a:endParaRPr lang="en-US" sz="1400" dirty="0"/>
          </a:p>
          <a:p>
            <a:r>
              <a:rPr lang="en-US" sz="1400" dirty="0"/>
              <a:t>37% don’t know if it’s common at similar orgs</a:t>
            </a:r>
          </a:p>
          <a:p>
            <a:endParaRPr lang="en-US" sz="1400" dirty="0"/>
          </a:p>
          <a:p>
            <a:r>
              <a:rPr lang="en-US" sz="1400" dirty="0"/>
              <a:t>44% believe its common at similar orgs</a:t>
            </a:r>
          </a:p>
          <a:p>
            <a:endParaRPr lang="en-US" sz="1400" dirty="0"/>
          </a:p>
        </p:txBody>
      </p:sp>
      <p:graphicFrame>
        <p:nvGraphicFramePr>
          <p:cNvPr id="13" name="Chart 12">
            <a:extLst>
              <a:ext uri="{FF2B5EF4-FFF2-40B4-BE49-F238E27FC236}">
                <a16:creationId xmlns:a16="http://schemas.microsoft.com/office/drawing/2014/main" id="{8F5D8A4E-CD2E-498C-8D29-E7AF6347D46C}"/>
              </a:ext>
            </a:extLst>
          </p:cNvPr>
          <p:cNvGraphicFramePr>
            <a:graphicFrameLocks/>
          </p:cNvGraphicFramePr>
          <p:nvPr>
            <p:extLst>
              <p:ext uri="{D42A27DB-BD31-4B8C-83A1-F6EECF244321}">
                <p14:modId xmlns:p14="http://schemas.microsoft.com/office/powerpoint/2010/main" val="1970612206"/>
              </p:ext>
            </p:extLst>
          </p:nvPr>
        </p:nvGraphicFramePr>
        <p:xfrm>
          <a:off x="2971800"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0651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Comp Time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4091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61950"/>
            <a:ext cx="2393552" cy="1600200"/>
          </a:xfrm>
          <a:prstGeom prst="rect">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470" y="666750"/>
            <a:ext cx="2415654" cy="857250"/>
          </a:xfrm>
        </p:spPr>
        <p:txBody>
          <a:bodyPr>
            <a:noAutofit/>
          </a:bodyPr>
          <a:lstStyle/>
          <a:p>
            <a:r>
              <a:rPr lang="en-US" sz="2800" dirty="0">
                <a:solidFill>
                  <a:schemeClr val="bg1"/>
                </a:solidFill>
                <a:latin typeface="Segoe UI" pitchFamily="34" charset="0"/>
                <a:ea typeface="Segoe UI" pitchFamily="34" charset="0"/>
                <a:cs typeface="Segoe UI" pitchFamily="34" charset="0"/>
              </a:rPr>
              <a:t>Comp Time</a:t>
            </a:r>
          </a:p>
        </p:txBody>
      </p:sp>
      <p:sp>
        <p:nvSpPr>
          <p:cNvPr id="6" name="Title 1"/>
          <p:cNvSpPr txBox="1">
            <a:spLocks/>
          </p:cNvSpPr>
          <p:nvPr/>
        </p:nvSpPr>
        <p:spPr>
          <a:xfrm>
            <a:off x="75706" y="2112417"/>
            <a:ext cx="2384303"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10">
            <a:extLst>
              <a:ext uri="{FF2B5EF4-FFF2-40B4-BE49-F238E27FC236}">
                <a16:creationId xmlns:a16="http://schemas.microsoft.com/office/drawing/2014/main" id="{575E0542-F8D0-40FA-834F-7ECA67C5F58C}"/>
              </a:ext>
            </a:extLst>
          </p:cNvPr>
          <p:cNvSpPr txBox="1">
            <a:spLocks/>
          </p:cNvSpPr>
          <p:nvPr/>
        </p:nvSpPr>
        <p:spPr>
          <a:xfrm>
            <a:off x="2971800" y="3028950"/>
            <a:ext cx="5486400" cy="1981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“Current policy doesn’t encourage working on a proposal that requires continuous late nights or work on weekends. Also, doesn’t take into account extra hours of work needed to catch up on regular work once proposal is submitted.”</a:t>
            </a:r>
          </a:p>
          <a:p>
            <a:pPr marL="0" indent="0">
              <a:buNone/>
            </a:pPr>
            <a:endParaRPr lang="en-US" sz="1400" dirty="0"/>
          </a:p>
          <a:p>
            <a:pPr marL="0" indent="0">
              <a:buNone/>
            </a:pPr>
            <a:r>
              <a:rPr lang="en-US" sz="1400" dirty="0"/>
              <a:t>“I think this policy has to be reviewed and elaborated/clarified further. For example, what if staff have to work over a holiday? Or travel is extensive (I.e. 2 weeks or more)? Do they still receive 1 comp day? In these cases, they should receive more.”</a:t>
            </a:r>
          </a:p>
          <a:p>
            <a:pPr marL="0" indent="0">
              <a:buNone/>
            </a:pPr>
            <a:endParaRPr lang="en-US" sz="1400" dirty="0"/>
          </a:p>
        </p:txBody>
      </p:sp>
      <p:sp>
        <p:nvSpPr>
          <p:cNvPr id="11" name="Content Placeholder 10">
            <a:extLst>
              <a:ext uri="{FF2B5EF4-FFF2-40B4-BE49-F238E27FC236}">
                <a16:creationId xmlns:a16="http://schemas.microsoft.com/office/drawing/2014/main" id="{C3A30762-FE41-4C6F-9540-57D4339D9927}"/>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95% value comp time</a:t>
            </a:r>
          </a:p>
          <a:p>
            <a:pPr marL="0" indent="0">
              <a:buNone/>
            </a:pPr>
            <a:endParaRPr lang="en-US" sz="1400" dirty="0"/>
          </a:p>
          <a:p>
            <a:r>
              <a:rPr lang="en-US" sz="1400" dirty="0"/>
              <a:t>52% unhappy with comp time policy</a:t>
            </a:r>
          </a:p>
          <a:p>
            <a:endParaRPr lang="en-US" sz="1400" dirty="0"/>
          </a:p>
          <a:p>
            <a:r>
              <a:rPr lang="en-US" sz="1400" dirty="0"/>
              <a:t>22% would look for a new job with better comp time</a:t>
            </a:r>
          </a:p>
          <a:p>
            <a:endParaRPr lang="en-US" sz="1400" dirty="0"/>
          </a:p>
          <a:p>
            <a:r>
              <a:rPr lang="en-US" sz="1400" dirty="0"/>
              <a:t>Most comments and suggestions out of any prompt</a:t>
            </a:r>
          </a:p>
        </p:txBody>
      </p:sp>
      <p:graphicFrame>
        <p:nvGraphicFramePr>
          <p:cNvPr id="12" name="Chart 11">
            <a:extLst>
              <a:ext uri="{FF2B5EF4-FFF2-40B4-BE49-F238E27FC236}">
                <a16:creationId xmlns:a16="http://schemas.microsoft.com/office/drawing/2014/main" id="{B3A9F7C7-9D23-440D-B989-DDACB2E18B5D}"/>
              </a:ext>
            </a:extLst>
          </p:cNvPr>
          <p:cNvGraphicFramePr>
            <a:graphicFrameLocks/>
          </p:cNvGraphicFramePr>
          <p:nvPr>
            <p:extLst>
              <p:ext uri="{D42A27DB-BD31-4B8C-83A1-F6EECF244321}">
                <p14:modId xmlns:p14="http://schemas.microsoft.com/office/powerpoint/2010/main" val="667669190"/>
              </p:ext>
            </p:extLst>
          </p:nvPr>
        </p:nvGraphicFramePr>
        <p:xfrm>
          <a:off x="2971800" y="28575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17211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Professional Development</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7267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Autofit/>
          </a:bodyPr>
          <a:lstStyle/>
          <a:p>
            <a:r>
              <a:rPr lang="en-US" sz="2800" dirty="0">
                <a:solidFill>
                  <a:schemeClr val="bg1"/>
                </a:solidFill>
                <a:latin typeface="Segoe UI" pitchFamily="34" charset="0"/>
                <a:ea typeface="Segoe UI" pitchFamily="34" charset="0"/>
                <a:cs typeface="Segoe UI" pitchFamily="34" charset="0"/>
              </a:rPr>
              <a:t>Professional Development</a:t>
            </a:r>
          </a:p>
        </p:txBody>
      </p:sp>
      <p:sp>
        <p:nvSpPr>
          <p:cNvPr id="8" name="Right Triangle 7"/>
          <p:cNvSpPr/>
          <p:nvPr/>
        </p:nvSpPr>
        <p:spPr>
          <a:xfrm rot="10800000" flipH="1" flipV="1">
            <a:off x="2133599" y="209549"/>
            <a:ext cx="259952" cy="152400"/>
          </a:xfrm>
          <a:prstGeom prst="rtTriangle">
            <a:avLst/>
          </a:prstGeom>
          <a:solidFill>
            <a:srgbClr val="C86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FC7677C7-50A4-472F-84EA-9E00C4C6E422}"/>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don’t think this benefit or process to request it is clearly articulated at an office-wide level”</a:t>
            </a:r>
          </a:p>
          <a:p>
            <a:pPr marL="0" indent="0">
              <a:buNone/>
            </a:pPr>
            <a:endParaRPr lang="en-US" sz="1400" dirty="0"/>
          </a:p>
          <a:p>
            <a:pPr marL="0" indent="0">
              <a:buNone/>
            </a:pPr>
            <a:r>
              <a:rPr lang="en-US" sz="1400" dirty="0"/>
              <a:t>“I have not received much professional development since working at Partners nor have I been encouraged by leadership to pursue them, much of it because of lack of funding. I would like it if Partners can look into this further.”</a:t>
            </a:r>
          </a:p>
        </p:txBody>
      </p:sp>
      <p:sp>
        <p:nvSpPr>
          <p:cNvPr id="12" name="Content Placeholder 10">
            <a:extLst>
              <a:ext uri="{FF2B5EF4-FFF2-40B4-BE49-F238E27FC236}">
                <a16:creationId xmlns:a16="http://schemas.microsoft.com/office/drawing/2014/main" id="{EC52A249-F0AE-49A0-B2D4-DB38742F79B2}"/>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93% think this is important</a:t>
            </a:r>
          </a:p>
          <a:p>
            <a:endParaRPr lang="en-US" sz="1400" dirty="0"/>
          </a:p>
          <a:p>
            <a:r>
              <a:rPr lang="en-US" sz="1400" dirty="0"/>
              <a:t>52% would go to another organization for better PD opportunities</a:t>
            </a:r>
          </a:p>
          <a:p>
            <a:endParaRPr lang="en-US" sz="1400" dirty="0"/>
          </a:p>
          <a:p>
            <a:r>
              <a:rPr lang="en-US" sz="1400" dirty="0"/>
              <a:t>56% would go to another organization if there were financial support for PD opportunities</a:t>
            </a:r>
          </a:p>
        </p:txBody>
      </p:sp>
      <p:graphicFrame>
        <p:nvGraphicFramePr>
          <p:cNvPr id="13" name="Chart 12">
            <a:extLst>
              <a:ext uri="{FF2B5EF4-FFF2-40B4-BE49-F238E27FC236}">
                <a16:creationId xmlns:a16="http://schemas.microsoft.com/office/drawing/2014/main" id="{E630827D-BCFF-45CF-AE5C-47C8158CBBDC}"/>
              </a:ext>
            </a:extLst>
          </p:cNvPr>
          <p:cNvGraphicFramePr>
            <a:graphicFrameLocks/>
          </p:cNvGraphicFramePr>
          <p:nvPr>
            <p:extLst>
              <p:ext uri="{D42A27DB-BD31-4B8C-83A1-F6EECF244321}">
                <p14:modId xmlns:p14="http://schemas.microsoft.com/office/powerpoint/2010/main" val="3921464492"/>
              </p:ext>
            </p:extLst>
          </p:nvPr>
        </p:nvGraphicFramePr>
        <p:xfrm>
          <a:off x="2743200"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461590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
            <a:ext cx="9372600" cy="53149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203835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spAutoFit/>
          </a:bodyPr>
          <a:lstStyle/>
          <a:p>
            <a:pPr algn="ctr"/>
            <a:r>
              <a:rPr lang="en-US" sz="2000" i="1" dirty="0">
                <a:solidFill>
                  <a:schemeClr val="bg1"/>
                </a:solidFill>
                <a:latin typeface="Lato" pitchFamily="34" charset="0"/>
                <a:ea typeface="Lato" pitchFamily="34" charset="0"/>
                <a:cs typeface="Lato" pitchFamily="34" charset="0"/>
              </a:rPr>
              <a:t>Perception of POA’s 30-Minute Paid Lunch</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254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5"/>
            <a:ext cx="2393552" cy="154305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499" y="386402"/>
            <a:ext cx="2232482" cy="857250"/>
          </a:xfrm>
        </p:spPr>
        <p:txBody>
          <a:bodyPr>
            <a:normAutofit fontScale="90000"/>
          </a:bodyPr>
          <a:lstStyle/>
          <a:p>
            <a:pPr algn="l"/>
            <a:r>
              <a:rPr lang="en-US" sz="3600" dirty="0">
                <a:solidFill>
                  <a:schemeClr val="bg1"/>
                </a:solidFill>
                <a:latin typeface="Segoe UI" pitchFamily="34" charset="0"/>
                <a:ea typeface="Segoe UI" pitchFamily="34" charset="0"/>
                <a:cs typeface="Segoe UI" pitchFamily="34" charset="0"/>
              </a:rPr>
              <a:t>Paid Lunch</a:t>
            </a:r>
          </a:p>
        </p:txBody>
      </p:sp>
      <p:sp>
        <p:nvSpPr>
          <p:cNvPr id="8" name="Right Triangle 7"/>
          <p:cNvSpPr/>
          <p:nvPr/>
        </p:nvSpPr>
        <p:spPr>
          <a:xfrm rot="10800000" flipH="1" flipV="1">
            <a:off x="2133599" y="209549"/>
            <a:ext cx="259952" cy="152400"/>
          </a:xfrm>
          <a:prstGeom prst="rtTriangle">
            <a:avLst/>
          </a:prstGeom>
          <a:solidFill>
            <a:srgbClr val="214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10">
            <a:extLst>
              <a:ext uri="{FF2B5EF4-FFF2-40B4-BE49-F238E27FC236}">
                <a16:creationId xmlns:a16="http://schemas.microsoft.com/office/drawing/2014/main" id="{E37E0563-537E-44E6-9022-568F9563D243}"/>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“I wish that if we come in at 9am and only take 30 min for lunch, we can leave at 5pm instead of still staying until 5:30pm.”</a:t>
            </a:r>
          </a:p>
          <a:p>
            <a:pPr marL="0" indent="0">
              <a:buNone/>
            </a:pPr>
            <a:endParaRPr lang="en-US" sz="1400" dirty="0"/>
          </a:p>
          <a:p>
            <a:pPr marL="0" indent="0">
              <a:buNone/>
            </a:pPr>
            <a:r>
              <a:rPr lang="en-US" sz="1400" dirty="0"/>
              <a:t>“Felt like this was not clarified enough in manual!”</a:t>
            </a:r>
          </a:p>
        </p:txBody>
      </p:sp>
      <p:sp>
        <p:nvSpPr>
          <p:cNvPr id="9" name="Content Placeholder 10">
            <a:extLst>
              <a:ext uri="{FF2B5EF4-FFF2-40B4-BE49-F238E27FC236}">
                <a16:creationId xmlns:a16="http://schemas.microsoft.com/office/drawing/2014/main" id="{A0F82197-6857-493C-8B56-3BFF15FB0F9B}"/>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74% value 30-minutes of Paid Lunch</a:t>
            </a:r>
          </a:p>
          <a:p>
            <a:endParaRPr lang="en-US" sz="1400" dirty="0"/>
          </a:p>
          <a:p>
            <a:r>
              <a:rPr lang="en-US" sz="1400" dirty="0"/>
              <a:t>60% don’t know if its competitive</a:t>
            </a:r>
          </a:p>
          <a:p>
            <a:endParaRPr lang="en-US" sz="1400" dirty="0"/>
          </a:p>
        </p:txBody>
      </p:sp>
      <p:graphicFrame>
        <p:nvGraphicFramePr>
          <p:cNvPr id="10" name="Chart 9">
            <a:extLst>
              <a:ext uri="{FF2B5EF4-FFF2-40B4-BE49-F238E27FC236}">
                <a16:creationId xmlns:a16="http://schemas.microsoft.com/office/drawing/2014/main" id="{7DCDC00A-F5E4-4D14-8E88-49ADAE3466DF}"/>
              </a:ext>
            </a:extLst>
          </p:cNvPr>
          <p:cNvGraphicFramePr>
            <a:graphicFrameLocks/>
          </p:cNvGraphicFramePr>
          <p:nvPr>
            <p:extLst>
              <p:ext uri="{D42A27DB-BD31-4B8C-83A1-F6EECF244321}">
                <p14:modId xmlns:p14="http://schemas.microsoft.com/office/powerpoint/2010/main" val="2133352814"/>
              </p:ext>
            </p:extLst>
          </p:nvPr>
        </p:nvGraphicFramePr>
        <p:xfrm>
          <a:off x="2971800" y="35768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444141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372600" cy="5314950"/>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1877020"/>
            <a:ext cx="9372600" cy="523220"/>
          </a:xfrm>
          <a:prstGeom prst="rect">
            <a:avLst/>
          </a:prstGeom>
          <a:noFill/>
        </p:spPr>
        <p:txBody>
          <a:bodyPr wrap="square" rtlCol="0">
            <a:spAutoFit/>
          </a:bodyPr>
          <a:lstStyle/>
          <a:p>
            <a:pPr algn="ctr"/>
            <a:r>
              <a:rPr lang="en-US" sz="2800" dirty="0">
                <a:solidFill>
                  <a:schemeClr val="bg1"/>
                </a:solidFill>
                <a:latin typeface="Segoe UI" pitchFamily="34" charset="0"/>
                <a:ea typeface="Segoe UI" pitchFamily="34" charset="0"/>
                <a:cs typeface="Segoe UI" pitchFamily="34" charset="0"/>
              </a:rPr>
              <a:t>2019 Total Compensation Survey Results</a:t>
            </a:r>
          </a:p>
        </p:txBody>
      </p:sp>
      <p:sp>
        <p:nvSpPr>
          <p:cNvPr id="6" name="TextBox 5"/>
          <p:cNvSpPr txBox="1"/>
          <p:nvPr/>
        </p:nvSpPr>
        <p:spPr>
          <a:xfrm>
            <a:off x="0" y="2724150"/>
            <a:ext cx="9372600" cy="400110"/>
          </a:xfrm>
          <a:prstGeom prst="rect">
            <a:avLst/>
          </a:prstGeom>
          <a:noFill/>
        </p:spPr>
        <p:txBody>
          <a:bodyPr wrap="square" rtlCol="0" anchor="t">
            <a:spAutoFit/>
          </a:bodyPr>
          <a:lstStyle/>
          <a:p>
            <a:pPr algn="ctr"/>
            <a:r>
              <a:rPr lang="en-US" sz="2000" i="1" dirty="0">
                <a:solidFill>
                  <a:schemeClr val="bg1"/>
                </a:solidFill>
                <a:latin typeface="Lato"/>
                <a:ea typeface="Lato" pitchFamily="34" charset="0"/>
                <a:cs typeface="Lato" pitchFamily="34" charset="0"/>
              </a:rPr>
              <a:t>Perception of POA’s Total Compensation Package</a:t>
            </a:r>
          </a:p>
        </p:txBody>
      </p:sp>
      <p:cxnSp>
        <p:nvCxnSpPr>
          <p:cNvPr id="9" name="Straight Connector 8"/>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3465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Autofit/>
          </a:bodyPr>
          <a:lstStyle/>
          <a:p>
            <a:r>
              <a:rPr lang="en-US" sz="2400" dirty="0">
                <a:solidFill>
                  <a:schemeClr val="bg1"/>
                </a:solidFill>
                <a:latin typeface="Segoe UI" pitchFamily="34" charset="0"/>
                <a:ea typeface="Segoe UI" pitchFamily="34" charset="0"/>
                <a:cs typeface="Segoe UI" pitchFamily="34" charset="0"/>
              </a:rPr>
              <a:t>Total Compensation Package</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559FB8B7-2F2D-4830-B7A2-07E35BA3D7BC}"/>
              </a:ext>
            </a:extLst>
          </p:cNvPr>
          <p:cNvSpPr txBox="1">
            <a:spLocks/>
          </p:cNvSpPr>
          <p:nvPr/>
        </p:nvSpPr>
        <p:spPr>
          <a:xfrm>
            <a:off x="2971800" y="3409950"/>
            <a:ext cx="6096000" cy="1600200"/>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“Some benefit could definitely benefit more staff without hurting the org. AL for example, and also the use of SL bank donation right away”</a:t>
            </a:r>
          </a:p>
          <a:p>
            <a:pPr marL="0" indent="0">
              <a:buNone/>
            </a:pPr>
            <a:r>
              <a:rPr lang="en-US" sz="1400" dirty="0"/>
              <a:t> </a:t>
            </a:r>
          </a:p>
          <a:p>
            <a:pPr marL="0" indent="0">
              <a:buNone/>
            </a:pPr>
            <a:r>
              <a:rPr lang="en-US" sz="1400" dirty="0"/>
              <a:t>“Parental leave, flex work, and professional development don’t factor in to my job”.</a:t>
            </a:r>
          </a:p>
          <a:p>
            <a:pPr marL="0" indent="0">
              <a:buNone/>
            </a:pPr>
            <a:endParaRPr lang="en-US" sz="1400" dirty="0"/>
          </a:p>
        </p:txBody>
      </p:sp>
      <p:sp>
        <p:nvSpPr>
          <p:cNvPr id="12" name="Content Placeholder 10">
            <a:extLst>
              <a:ext uri="{FF2B5EF4-FFF2-40B4-BE49-F238E27FC236}">
                <a16:creationId xmlns:a16="http://schemas.microsoft.com/office/drawing/2014/main" id="{B3B7EF30-3A73-4882-A4AC-D02557F2B535}"/>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97% feel it’s important, and 66% think it’s the most important reason of why they work at POA</a:t>
            </a:r>
          </a:p>
          <a:p>
            <a:endParaRPr lang="en-US" sz="1400" dirty="0"/>
          </a:p>
          <a:p>
            <a:r>
              <a:rPr lang="en-US" sz="1400" dirty="0"/>
              <a:t>33% believe the total compensation package is competitive; 19% believe it is not competitive</a:t>
            </a:r>
          </a:p>
          <a:p>
            <a:endParaRPr lang="en-US" sz="1400" dirty="0"/>
          </a:p>
        </p:txBody>
      </p:sp>
      <p:graphicFrame>
        <p:nvGraphicFramePr>
          <p:cNvPr id="13" name="Chart 12">
            <a:extLst>
              <a:ext uri="{FF2B5EF4-FFF2-40B4-BE49-F238E27FC236}">
                <a16:creationId xmlns:a16="http://schemas.microsoft.com/office/drawing/2014/main" id="{1B7DCA8A-3C7F-41B8-A45F-A333FF8FAD2C}"/>
              </a:ext>
            </a:extLst>
          </p:cNvPr>
          <p:cNvGraphicFramePr>
            <a:graphicFrameLocks/>
          </p:cNvGraphicFramePr>
          <p:nvPr>
            <p:extLst>
              <p:ext uri="{D42A27DB-BD31-4B8C-83A1-F6EECF244321}">
                <p14:modId xmlns:p14="http://schemas.microsoft.com/office/powerpoint/2010/main" val="1043548113"/>
              </p:ext>
            </p:extLst>
          </p:nvPr>
        </p:nvGraphicFramePr>
        <p:xfrm>
          <a:off x="2971800" y="20955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3763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57684"/>
            <a:ext cx="2393552" cy="1528266"/>
          </a:xfrm>
          <a:prstGeom prst="rect">
            <a:avLst/>
          </a:prstGeom>
          <a:solidFill>
            <a:srgbClr val="EA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672" y="571500"/>
            <a:ext cx="2415654" cy="857250"/>
          </a:xfrm>
        </p:spPr>
        <p:txBody>
          <a:bodyPr>
            <a:noAutofit/>
          </a:bodyPr>
          <a:lstStyle/>
          <a:p>
            <a:r>
              <a:rPr lang="en-US" sz="2400" dirty="0">
                <a:solidFill>
                  <a:schemeClr val="bg1"/>
                </a:solidFill>
                <a:latin typeface="Segoe UI" pitchFamily="34" charset="0"/>
                <a:ea typeface="Segoe UI" pitchFamily="34" charset="0"/>
                <a:cs typeface="Segoe UI" pitchFamily="34" charset="0"/>
              </a:rPr>
              <a:t>Total Compensation Package</a:t>
            </a:r>
          </a:p>
        </p:txBody>
      </p:sp>
      <p:sp>
        <p:nvSpPr>
          <p:cNvPr id="6" name="Title 1"/>
          <p:cNvSpPr txBox="1">
            <a:spLocks/>
          </p:cNvSpPr>
          <p:nvPr/>
        </p:nvSpPr>
        <p:spPr>
          <a:xfrm>
            <a:off x="107552" y="1352550"/>
            <a:ext cx="2286000" cy="1219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200" dirty="0">
              <a:solidFill>
                <a:schemeClr val="bg1"/>
              </a:solidFill>
              <a:latin typeface="Lao UI" pitchFamily="34" charset="0"/>
              <a:cs typeface="Lao UI" pitchFamily="34" charset="0"/>
            </a:endParaRPr>
          </a:p>
        </p:txBody>
      </p:sp>
      <p:sp>
        <p:nvSpPr>
          <p:cNvPr id="8" name="Right Triangle 7"/>
          <p:cNvSpPr/>
          <p:nvPr/>
        </p:nvSpPr>
        <p:spPr>
          <a:xfrm rot="10800000" flipH="1" flipV="1">
            <a:off x="2133599" y="209549"/>
            <a:ext cx="259952" cy="152400"/>
          </a:xfrm>
          <a:prstGeom prst="rtTriangle">
            <a:avLst/>
          </a:prstGeom>
          <a:solidFill>
            <a:srgbClr val="D2A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2917825" y="2683267"/>
            <a:ext cx="3536950" cy="0"/>
          </a:xfrm>
          <a:prstGeom prst="line">
            <a:avLst/>
          </a:prstGeom>
          <a:ln w="381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10">
            <a:extLst>
              <a:ext uri="{FF2B5EF4-FFF2-40B4-BE49-F238E27FC236}">
                <a16:creationId xmlns:a16="http://schemas.microsoft.com/office/drawing/2014/main" id="{559FB8B7-2F2D-4830-B7A2-07E35BA3D7BC}"/>
              </a:ext>
            </a:extLst>
          </p:cNvPr>
          <p:cNvSpPr txBox="1">
            <a:spLocks/>
          </p:cNvSpPr>
          <p:nvPr/>
        </p:nvSpPr>
        <p:spPr>
          <a:xfrm>
            <a:off x="2971800" y="3257550"/>
            <a:ext cx="5486400" cy="1752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“Some benefits could definitely be more beneficial to staff without hurting the org.”</a:t>
            </a:r>
          </a:p>
        </p:txBody>
      </p:sp>
      <p:sp>
        <p:nvSpPr>
          <p:cNvPr id="12" name="Content Placeholder 10">
            <a:extLst>
              <a:ext uri="{FF2B5EF4-FFF2-40B4-BE49-F238E27FC236}">
                <a16:creationId xmlns:a16="http://schemas.microsoft.com/office/drawing/2014/main" id="{B3B7EF30-3A73-4882-A4AC-D02557F2B535}"/>
              </a:ext>
            </a:extLst>
          </p:cNvPr>
          <p:cNvSpPr txBox="1">
            <a:spLocks/>
          </p:cNvSpPr>
          <p:nvPr/>
        </p:nvSpPr>
        <p:spPr>
          <a:xfrm>
            <a:off x="0" y="2038350"/>
            <a:ext cx="2393552" cy="3429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48% satisfied with their total compensation package</a:t>
            </a:r>
          </a:p>
          <a:p>
            <a:endParaRPr lang="en-US" sz="1400" dirty="0"/>
          </a:p>
          <a:p>
            <a:r>
              <a:rPr lang="en-US" sz="1400" dirty="0"/>
              <a:t>30% dissatisfied with their total compensation package</a:t>
            </a:r>
          </a:p>
          <a:p>
            <a:endParaRPr lang="en-US" sz="1400" dirty="0"/>
          </a:p>
          <a:p>
            <a:r>
              <a:rPr lang="en-US" sz="1400" dirty="0"/>
              <a:t>52% would seek a new job for a better total compensation package</a:t>
            </a:r>
          </a:p>
        </p:txBody>
      </p:sp>
      <p:graphicFrame>
        <p:nvGraphicFramePr>
          <p:cNvPr id="11" name="Chart 10">
            <a:extLst>
              <a:ext uri="{FF2B5EF4-FFF2-40B4-BE49-F238E27FC236}">
                <a16:creationId xmlns:a16="http://schemas.microsoft.com/office/drawing/2014/main" id="{31825DEC-F6B6-4BCF-AB4B-D18F1E38E0D6}"/>
              </a:ext>
            </a:extLst>
          </p:cNvPr>
          <p:cNvGraphicFramePr>
            <a:graphicFrameLocks/>
          </p:cNvGraphicFramePr>
          <p:nvPr>
            <p:extLst>
              <p:ext uri="{D42A27DB-BD31-4B8C-83A1-F6EECF244321}">
                <p14:modId xmlns:p14="http://schemas.microsoft.com/office/powerpoint/2010/main" val="2012708077"/>
              </p:ext>
            </p:extLst>
          </p:nvPr>
        </p:nvGraphicFramePr>
        <p:xfrm>
          <a:off x="2971800" y="35768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998018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220200" cy="5143500"/>
          </a:xfrm>
          <a:prstGeom prst="rect">
            <a:avLst/>
          </a:prstGeom>
          <a:solidFill>
            <a:srgbClr val="4478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ell phone&#10;&#10;Description automatically generated">
            <a:extLst>
              <a:ext uri="{FF2B5EF4-FFF2-40B4-BE49-F238E27FC236}">
                <a16:creationId xmlns:a16="http://schemas.microsoft.com/office/drawing/2014/main" id="{FD08EB59-7208-4A06-872D-EF88468BEF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2655" y="1809750"/>
            <a:ext cx="7078689" cy="1295400"/>
          </a:xfrm>
          <a:prstGeom prst="rect">
            <a:avLst/>
          </a:prstGeom>
        </p:spPr>
      </p:pic>
    </p:spTree>
    <p:extLst>
      <p:ext uri="{BB962C8B-B14F-4D97-AF65-F5344CB8AC3E}">
        <p14:creationId xmlns:p14="http://schemas.microsoft.com/office/powerpoint/2010/main" val="961418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7" ma:contentTypeDescription="Create a new document." ma:contentTypeScope="" ma:versionID="1f7404444a51804cfbd84530f701fda9">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021e1f4cfdfa1b29b3d85a3d7bb07201"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27DEBE-9357-46FB-80BA-095897B1453E}">
  <ds:schemaRefs>
    <ds:schemaRef ds:uri="http://schemas.microsoft.com/sharepoint/v3/contenttype/forms"/>
  </ds:schemaRefs>
</ds:datastoreItem>
</file>

<file path=customXml/itemProps2.xml><?xml version="1.0" encoding="utf-8"?>
<ds:datastoreItem xmlns:ds="http://schemas.openxmlformats.org/officeDocument/2006/customXml" ds:itemID="{AB11CCAA-4263-45E7-AEF1-C6E1840946EE}">
  <ds:schemaRefs>
    <ds:schemaRef ds:uri="http://www.w3.org/XML/1998/namespace"/>
    <ds:schemaRef ds:uri="http://schemas.microsoft.com/office/2006/documentManagement/types"/>
    <ds:schemaRef ds:uri="http://schemas.microsoft.com/office/infopath/2007/PartnerControls"/>
    <ds:schemaRef ds:uri="f2466082-b6bf-4153-98c3-3c41e85fda18"/>
    <ds:schemaRef ds:uri="http://purl.org/dc/terms/"/>
    <ds:schemaRef ds:uri="http://schemas.microsoft.com/office/2006/metadata/properties"/>
    <ds:schemaRef ds:uri="http://schemas.openxmlformats.org/package/2006/metadata/core-properties"/>
    <ds:schemaRef ds:uri="dc808d36-874f-4b27-aec2-2fd649817929"/>
    <ds:schemaRef ds:uri="http://purl.org/dc/dcmitype/"/>
    <ds:schemaRef ds:uri="http://purl.org/dc/elements/1.1/"/>
  </ds:schemaRefs>
</ds:datastoreItem>
</file>

<file path=customXml/itemProps3.xml><?xml version="1.0" encoding="utf-8"?>
<ds:datastoreItem xmlns:ds="http://schemas.openxmlformats.org/officeDocument/2006/customXml" ds:itemID="{354117AE-5D90-43CE-BA22-0B40E2C2542A}"/>
</file>

<file path=docProps/app.xml><?xml version="1.0" encoding="utf-8"?>
<Properties xmlns="http://schemas.openxmlformats.org/officeDocument/2006/extended-properties" xmlns:vt="http://schemas.openxmlformats.org/officeDocument/2006/docPropsVTypes">
  <TotalTime>2107</TotalTime>
  <Words>2836</Words>
  <Application>Microsoft Office PowerPoint</Application>
  <PresentationFormat>On-screen Show (16:9)</PresentationFormat>
  <Paragraphs>328</Paragraphs>
  <Slides>50</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Gill Sans MT</vt:lpstr>
      <vt:lpstr>Lao UI</vt:lpstr>
      <vt:lpstr>Lato</vt:lpstr>
      <vt:lpstr>Segoe UI</vt:lpstr>
      <vt:lpstr>Office Theme</vt:lpstr>
      <vt:lpstr>PowerPoint Presentation</vt:lpstr>
      <vt:lpstr>Total Compensation Survey</vt:lpstr>
      <vt:lpstr>Methods</vt:lpstr>
      <vt:lpstr>PowerPoint Presentation</vt:lpstr>
      <vt:lpstr>Pay Scale</vt:lpstr>
      <vt:lpstr>PowerPoint Presentation</vt:lpstr>
      <vt:lpstr>Health Insurance</vt:lpstr>
      <vt:lpstr>PowerPoint Presentation</vt:lpstr>
      <vt:lpstr>Optional Vision Insurance</vt:lpstr>
      <vt:lpstr>PowerPoint Presentation</vt:lpstr>
      <vt:lpstr>Optional Dental Insurance</vt:lpstr>
      <vt:lpstr>PowerPoint Presentation</vt:lpstr>
      <vt:lpstr>Optional STD/LI</vt:lpstr>
      <vt:lpstr>PowerPoint Presentation</vt:lpstr>
      <vt:lpstr>Life Insurance</vt:lpstr>
      <vt:lpstr>PowerPoint Presentation</vt:lpstr>
      <vt:lpstr>LTD Insurance</vt:lpstr>
      <vt:lpstr>PowerPoint Presentation</vt:lpstr>
      <vt:lpstr>403B</vt:lpstr>
      <vt:lpstr>403B</vt:lpstr>
      <vt:lpstr>PowerPoint Presentation</vt:lpstr>
      <vt:lpstr>Annual Leave</vt:lpstr>
      <vt:lpstr>PowerPoint Presentation</vt:lpstr>
      <vt:lpstr>Sick Leave</vt:lpstr>
      <vt:lpstr>PowerPoint Presentation</vt:lpstr>
      <vt:lpstr>Sick Leave Bank</vt:lpstr>
      <vt:lpstr>PowerPoint Presentation</vt:lpstr>
      <vt:lpstr>Sick Leave Donation</vt:lpstr>
      <vt:lpstr>PowerPoint Presentation</vt:lpstr>
      <vt:lpstr>Parental Leave</vt:lpstr>
      <vt:lpstr>PowerPoint Presentation</vt:lpstr>
      <vt:lpstr>Compassionate Leave</vt:lpstr>
      <vt:lpstr>PowerPoint Presentation</vt:lpstr>
      <vt:lpstr>Paid Holidays</vt:lpstr>
      <vt:lpstr>PowerPoint Presentation</vt:lpstr>
      <vt:lpstr>FSA</vt:lpstr>
      <vt:lpstr>PowerPoint Presentation</vt:lpstr>
      <vt:lpstr>Smart Benefits</vt:lpstr>
      <vt:lpstr>PowerPoint Presentation</vt:lpstr>
      <vt:lpstr>FWA</vt:lpstr>
      <vt:lpstr>PowerPoint Presentation</vt:lpstr>
      <vt:lpstr>Comp Time</vt:lpstr>
      <vt:lpstr>PowerPoint Presentation</vt:lpstr>
      <vt:lpstr>Professional Development</vt:lpstr>
      <vt:lpstr>PowerPoint Presentation</vt:lpstr>
      <vt:lpstr>Paid Lunch</vt:lpstr>
      <vt:lpstr>PowerPoint Presentation</vt:lpstr>
      <vt:lpstr>Total Compensation Package</vt:lpstr>
      <vt:lpstr>Total Compensation Package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Morgan Doggett</dc:creator>
  <cp:lastModifiedBy>Renata Torres</cp:lastModifiedBy>
  <cp:revision>120</cp:revision>
  <dcterms:created xsi:type="dcterms:W3CDTF">2018-08-14T13:26:39Z</dcterms:created>
  <dcterms:modified xsi:type="dcterms:W3CDTF">2020-02-18T19:57:55Z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6600</vt:r8>
  </property>
</Properties>
</file>