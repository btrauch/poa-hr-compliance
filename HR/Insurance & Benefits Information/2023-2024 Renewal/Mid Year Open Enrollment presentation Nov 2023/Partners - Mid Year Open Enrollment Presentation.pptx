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178" r:id="rId4"/>
  </p:sldMasterIdLst>
  <p:notesMasterIdLst>
    <p:notesMasterId r:id="rId14"/>
  </p:notesMasterIdLst>
  <p:handoutMasterIdLst>
    <p:handoutMasterId r:id="rId15"/>
  </p:handoutMasterIdLst>
  <p:sldIdLst>
    <p:sldId id="283" r:id="rId5"/>
    <p:sldId id="388" r:id="rId6"/>
    <p:sldId id="389" r:id="rId7"/>
    <p:sldId id="297" r:id="rId8"/>
    <p:sldId id="404" r:id="rId9"/>
    <p:sldId id="392" r:id="rId10"/>
    <p:sldId id="393" r:id="rId11"/>
    <p:sldId id="326" r:id="rId12"/>
    <p:sldId id="327" r:id="rId1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31" autoAdjust="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-3066" y="-7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11/1/2023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01EDE92-D01A-4A83-8C50-AF2E0978753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32CB6756-6366-4430-A3DE-A638C5EAB59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9" name="Freeform 5">
            <a:extLst>
              <a:ext uri="{FF2B5EF4-FFF2-40B4-BE49-F238E27FC236}">
                <a16:creationId xmlns:a16="http://schemas.microsoft.com/office/drawing/2014/main" id="{B9E99E9C-3291-468F-A31A-72481819E1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30" name="Freeform 5">
            <a:extLst>
              <a:ext uri="{FF2B5EF4-FFF2-40B4-BE49-F238E27FC236}">
                <a16:creationId xmlns:a16="http://schemas.microsoft.com/office/drawing/2014/main" id="{6B18DCD4-AA6C-4F86-A3B9-BED7EA7E2BC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6392A054-3E65-43E7-A143-6CA17C0783E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785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95235F8-871A-403B-BA18-BA9BE433646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4715E11A-CC64-4745-B804-44C9D3183C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0619C207-F2D3-4ED9-8BAD-F7E7738AB3E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58EF016-6EA7-4D09-8162-C67E8ED4064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8CB898D-5E13-4ABC-9D34-8046D499BCC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386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344475-523B-4888-9142-9D000E7DAB6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A8B689B8-BE1A-4E5D-B2EE-BBC6B2171C4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E14FB4B8-8ADD-438E-9C43-49CD9AC60AF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7ABE8DDE-BD01-416E-A029-11F868102DA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C836F12-01F5-4664-BFDD-2C9BD4AD1D2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4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16C804D-430A-44BA-9730-0EFA266BAEA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E71B28D-451E-41CC-B629-741ED05A0AC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A0EA7A16-CC0A-403F-B8AE-D69B77691C6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509FC0F5-F33E-4D19-B2D1-8D812D6837D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28DB39D-0E0C-44F5-8546-CFFDAAFAC80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779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CFC53410-D0F0-47AF-AEE0-2BE1293509E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D4561382-7B37-45DB-801D-14CA2DBB7BC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06E0820-2D05-4C33-9A24-4AC9948BE78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2B41A052-8A41-4313-9A92-041B77A4321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8BE15C0C-8313-4330-BFA0-6B10E1D9B31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3079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28FC42D-3F32-492D-A1A5-EE2F6E850A5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14F9F57B-D690-4CAA-8790-F57C1F104D1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E9CC6FC4-CFA5-4CC6-9D5D-46D0612610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00901A3-68B2-4013-8F65-7BF69DCF1EE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6224BE9-2C3F-46EC-B1F6-19D9155860D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772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2182F2D-3828-47FF-B7EE-7737072441E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56448C8-AAAE-490E-970F-755216EC3C3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26DB6B7-C95D-48D1-8DFE-23F1E83DBE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D5D1149-841A-434A-A4DF-27816FB4E34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111C1E0-89BB-49AE-BE53-1BBD8B87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204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FCB60FE1-3540-407E-94E7-C2ECFD7182B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0E54C0A-266B-4442-9145-092FF30352A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3EB5C55A-C35A-4B46-A18E-BE2260F9645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0DF04CA-28DB-46A8-A2C6-57278A81D25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BD0A5E-4549-4166-B852-E59C8DDF97F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421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4AA90F1-119E-44BE-B28D-A8CD6E6F70A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79F82390-6569-4E98-8937-802EDA581F9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2226A283-74FC-442E-93D2-A2D06969D3E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DD80445-5E5D-4171-AF5B-20D3FE710B6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6C41585-5613-48C5-B04E-D353D2CED7B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1261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2730099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06652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49750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050330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424608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190383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7603482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81149" y="1684742"/>
            <a:ext cx="4904790" cy="433376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3770850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7D77123-FDC4-48FD-9EFB-8A84F60690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12170" y="237629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5472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1" y="1008000"/>
            <a:ext cx="5472000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1566"/>
            <a:ext cx="5472000" cy="4680434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317B12-44C8-4227-9EB8-973D2226E6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812420" y="1176148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AD2255F-36DA-4BDE-B54D-F94F14B68B6C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812419" y="3552739"/>
            <a:ext cx="2405261" cy="2125239"/>
          </a:xfrm>
          <a:custGeom>
            <a:avLst/>
            <a:gdLst>
              <a:gd name="connsiteX0" fmla="*/ 1412122 w 4904790"/>
              <a:gd name="connsiteY0" fmla="*/ 0 h 4333769"/>
              <a:gd name="connsiteX1" fmla="*/ 3492669 w 4904790"/>
              <a:gd name="connsiteY1" fmla="*/ 0 h 4333769"/>
              <a:gd name="connsiteX2" fmla="*/ 3811717 w 4904790"/>
              <a:gd name="connsiteY2" fmla="*/ 188036 h 4333769"/>
              <a:gd name="connsiteX3" fmla="*/ 4854237 w 4904790"/>
              <a:gd name="connsiteY3" fmla="*/ 1983326 h 4333769"/>
              <a:gd name="connsiteX4" fmla="*/ 4854237 w 4904790"/>
              <a:gd name="connsiteY4" fmla="*/ 2350443 h 4333769"/>
              <a:gd name="connsiteX5" fmla="*/ 3811717 w 4904790"/>
              <a:gd name="connsiteY5" fmla="*/ 4145734 h 4333769"/>
              <a:gd name="connsiteX6" fmla="*/ 3492669 w 4904790"/>
              <a:gd name="connsiteY6" fmla="*/ 4333769 h 4333769"/>
              <a:gd name="connsiteX7" fmla="*/ 1412122 w 4904790"/>
              <a:gd name="connsiteY7" fmla="*/ 4333769 h 4333769"/>
              <a:gd name="connsiteX8" fmla="*/ 1088581 w 4904790"/>
              <a:gd name="connsiteY8" fmla="*/ 4145734 h 4333769"/>
              <a:gd name="connsiteX9" fmla="*/ 50554 w 4904790"/>
              <a:gd name="connsiteY9" fmla="*/ 2350443 h 4333769"/>
              <a:gd name="connsiteX10" fmla="*/ 50554 w 4904790"/>
              <a:gd name="connsiteY10" fmla="*/ 1983326 h 4333769"/>
              <a:gd name="connsiteX11" fmla="*/ 1088581 w 4904790"/>
              <a:gd name="connsiteY11" fmla="*/ 188036 h 4333769"/>
              <a:gd name="connsiteX12" fmla="*/ 1412122 w 4904790"/>
              <a:gd name="connsiteY12" fmla="*/ 0 h 4333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04790" h="4333769">
                <a:moveTo>
                  <a:pt x="1412122" y="0"/>
                </a:moveTo>
                <a:cubicBezTo>
                  <a:pt x="1412122" y="0"/>
                  <a:pt x="1412122" y="0"/>
                  <a:pt x="3492669" y="0"/>
                </a:cubicBezTo>
                <a:cubicBezTo>
                  <a:pt x="3622985" y="0"/>
                  <a:pt x="3748806" y="71633"/>
                  <a:pt x="3811717" y="188036"/>
                </a:cubicBezTo>
                <a:cubicBezTo>
                  <a:pt x="3811717" y="188036"/>
                  <a:pt x="3811717" y="188036"/>
                  <a:pt x="4854237" y="1983326"/>
                </a:cubicBezTo>
                <a:cubicBezTo>
                  <a:pt x="4921642" y="2095252"/>
                  <a:pt x="4921642" y="2238517"/>
                  <a:pt x="4854237" y="2350443"/>
                </a:cubicBezTo>
                <a:cubicBezTo>
                  <a:pt x="4854237" y="2350443"/>
                  <a:pt x="4854237" y="2350443"/>
                  <a:pt x="3811717" y="4145734"/>
                </a:cubicBezTo>
                <a:cubicBezTo>
                  <a:pt x="3748806" y="4262137"/>
                  <a:pt x="3622985" y="4333769"/>
                  <a:pt x="3492669" y="4333769"/>
                </a:cubicBezTo>
                <a:cubicBezTo>
                  <a:pt x="3492669" y="4333769"/>
                  <a:pt x="3492669" y="4333769"/>
                  <a:pt x="1412122" y="4333769"/>
                </a:cubicBezTo>
                <a:cubicBezTo>
                  <a:pt x="1277313" y="4333769"/>
                  <a:pt x="1155985" y="4262137"/>
                  <a:pt x="1088581" y="4145734"/>
                </a:cubicBezTo>
                <a:cubicBezTo>
                  <a:pt x="1088581" y="4145734"/>
                  <a:pt x="1088581" y="4145734"/>
                  <a:pt x="50554" y="2350443"/>
                </a:cubicBezTo>
                <a:cubicBezTo>
                  <a:pt x="-16851" y="2238517"/>
                  <a:pt x="-16851" y="2095252"/>
                  <a:pt x="50554" y="1983326"/>
                </a:cubicBezTo>
                <a:cubicBezTo>
                  <a:pt x="50554" y="1983326"/>
                  <a:pt x="50554" y="1983326"/>
                  <a:pt x="1088581" y="188036"/>
                </a:cubicBezTo>
                <a:cubicBezTo>
                  <a:pt x="1155985" y="71633"/>
                  <a:pt x="1277313" y="0"/>
                  <a:pt x="14121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</p:spTree>
    <p:extLst>
      <p:ext uri="{BB962C8B-B14F-4D97-AF65-F5344CB8AC3E}">
        <p14:creationId xmlns:p14="http://schemas.microsoft.com/office/powerpoint/2010/main" val="37572161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B7C90C9-77F3-4C3C-97F8-425EF81FB7A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1795125" cy="6858000"/>
          </a:xfrm>
          <a:custGeom>
            <a:avLst/>
            <a:gdLst>
              <a:gd name="connsiteX0" fmla="*/ 4729712 w 11795125"/>
              <a:gd name="connsiteY0" fmla="*/ 4417922 h 6858000"/>
              <a:gd name="connsiteX1" fmla="*/ 7234278 w 11795125"/>
              <a:gd name="connsiteY1" fmla="*/ 4419507 h 6858000"/>
              <a:gd name="connsiteX2" fmla="*/ 7626325 w 11795125"/>
              <a:gd name="connsiteY2" fmla="*/ 4644358 h 6858000"/>
              <a:gd name="connsiteX3" fmla="*/ 8882694 w 11795125"/>
              <a:gd name="connsiteY3" fmla="*/ 6820455 h 6858000"/>
              <a:gd name="connsiteX4" fmla="*/ 8898077 w 11795125"/>
              <a:gd name="connsiteY4" fmla="*/ 6858000 h 6858000"/>
              <a:gd name="connsiteX5" fmla="*/ 3070863 w 11795125"/>
              <a:gd name="connsiteY5" fmla="*/ 6858000 h 6858000"/>
              <a:gd name="connsiteX6" fmla="*/ 3094823 w 11795125"/>
              <a:gd name="connsiteY6" fmla="*/ 6809422 h 6858000"/>
              <a:gd name="connsiteX7" fmla="*/ 4345735 w 11795125"/>
              <a:gd name="connsiteY7" fmla="*/ 4639611 h 6858000"/>
              <a:gd name="connsiteX8" fmla="*/ 4729712 w 11795125"/>
              <a:gd name="connsiteY8" fmla="*/ 4417922 h 6858000"/>
              <a:gd name="connsiteX9" fmla="*/ 2031302 w 11795125"/>
              <a:gd name="connsiteY9" fmla="*/ 2039301 h 6858000"/>
              <a:gd name="connsiteX10" fmla="*/ 2747265 w 11795125"/>
              <a:gd name="connsiteY10" fmla="*/ 2039754 h 6858000"/>
              <a:gd name="connsiteX11" fmla="*/ 2859337 w 11795125"/>
              <a:gd name="connsiteY11" fmla="*/ 2104031 h 6858000"/>
              <a:gd name="connsiteX12" fmla="*/ 3218486 w 11795125"/>
              <a:gd name="connsiteY12" fmla="*/ 2726096 h 6858000"/>
              <a:gd name="connsiteX13" fmla="*/ 3217340 w 11795125"/>
              <a:gd name="connsiteY13" fmla="*/ 2853948 h 6858000"/>
              <a:gd name="connsiteX14" fmla="*/ 2860527 w 11795125"/>
              <a:gd name="connsiteY14" fmla="*/ 3475560 h 6858000"/>
              <a:gd name="connsiteX15" fmla="*/ 2750762 w 11795125"/>
              <a:gd name="connsiteY15" fmla="*/ 3538933 h 6858000"/>
              <a:gd name="connsiteX16" fmla="*/ 2034023 w 11795125"/>
              <a:gd name="connsiteY16" fmla="*/ 3537136 h 6858000"/>
              <a:gd name="connsiteX17" fmla="*/ 1922728 w 11795125"/>
              <a:gd name="connsiteY17" fmla="*/ 3474202 h 6858000"/>
              <a:gd name="connsiteX18" fmla="*/ 1563578 w 11795125"/>
              <a:gd name="connsiteY18" fmla="*/ 2852137 h 6858000"/>
              <a:gd name="connsiteX19" fmla="*/ 1563948 w 11795125"/>
              <a:gd name="connsiteY19" fmla="*/ 2722942 h 6858000"/>
              <a:gd name="connsiteX20" fmla="*/ 1921537 w 11795125"/>
              <a:gd name="connsiteY20" fmla="*/ 2102674 h 6858000"/>
              <a:gd name="connsiteX21" fmla="*/ 2031302 w 11795125"/>
              <a:gd name="connsiteY21" fmla="*/ 2039301 h 6858000"/>
              <a:gd name="connsiteX22" fmla="*/ 9343478 w 11795125"/>
              <a:gd name="connsiteY22" fmla="*/ 1795745 h 6858000"/>
              <a:gd name="connsiteX23" fmla="*/ 11620502 w 11795125"/>
              <a:gd name="connsiteY23" fmla="*/ 1797185 h 6858000"/>
              <a:gd name="connsiteX24" fmla="*/ 11795125 w 11795125"/>
              <a:gd name="connsiteY24" fmla="*/ 1797296 h 6858000"/>
              <a:gd name="connsiteX25" fmla="*/ 11795125 w 11795125"/>
              <a:gd name="connsiteY25" fmla="*/ 6858000 h 6858000"/>
              <a:gd name="connsiteX26" fmla="*/ 8996698 w 11795125"/>
              <a:gd name="connsiteY26" fmla="*/ 6858000 h 6858000"/>
              <a:gd name="connsiteX27" fmla="*/ 8963663 w 11795125"/>
              <a:gd name="connsiteY27" fmla="*/ 6815289 h 6858000"/>
              <a:gd name="connsiteX28" fmla="*/ 7707295 w 11795125"/>
              <a:gd name="connsiteY28" fmla="*/ 4639193 h 6858000"/>
              <a:gd name="connsiteX29" fmla="*/ 7708590 w 11795125"/>
              <a:gd name="connsiteY29" fmla="*/ 4187244 h 6858000"/>
              <a:gd name="connsiteX30" fmla="*/ 8959501 w 11795125"/>
              <a:gd name="connsiteY30" fmla="*/ 2017434 h 6858000"/>
              <a:gd name="connsiteX31" fmla="*/ 9343478 w 11795125"/>
              <a:gd name="connsiteY31" fmla="*/ 1795745 h 6858000"/>
              <a:gd name="connsiteX32" fmla="*/ 3102644 w 11795125"/>
              <a:gd name="connsiteY32" fmla="*/ 1739841 h 6858000"/>
              <a:gd name="connsiteX33" fmla="*/ 3385876 w 11795125"/>
              <a:gd name="connsiteY33" fmla="*/ 1740020 h 6858000"/>
              <a:gd name="connsiteX34" fmla="*/ 3430211 w 11795125"/>
              <a:gd name="connsiteY34" fmla="*/ 1765448 h 6858000"/>
              <a:gd name="connsiteX35" fmla="*/ 3572289 w 11795125"/>
              <a:gd name="connsiteY35" fmla="*/ 2011533 h 6858000"/>
              <a:gd name="connsiteX36" fmla="*/ 3571836 w 11795125"/>
              <a:gd name="connsiteY36" fmla="*/ 2062111 h 6858000"/>
              <a:gd name="connsiteX37" fmla="*/ 3430681 w 11795125"/>
              <a:gd name="connsiteY37" fmla="*/ 2308019 h 6858000"/>
              <a:gd name="connsiteX38" fmla="*/ 3387260 w 11795125"/>
              <a:gd name="connsiteY38" fmla="*/ 2333088 h 6858000"/>
              <a:gd name="connsiteX39" fmla="*/ 3103720 w 11795125"/>
              <a:gd name="connsiteY39" fmla="*/ 2332378 h 6858000"/>
              <a:gd name="connsiteX40" fmla="*/ 3059693 w 11795125"/>
              <a:gd name="connsiteY40" fmla="*/ 2307481 h 6858000"/>
              <a:gd name="connsiteX41" fmla="*/ 2917615 w 11795125"/>
              <a:gd name="connsiteY41" fmla="*/ 2061395 h 6858000"/>
              <a:gd name="connsiteX42" fmla="*/ 2917761 w 11795125"/>
              <a:gd name="connsiteY42" fmla="*/ 2010286 h 6858000"/>
              <a:gd name="connsiteX43" fmla="*/ 3059222 w 11795125"/>
              <a:gd name="connsiteY43" fmla="*/ 1764910 h 6858000"/>
              <a:gd name="connsiteX44" fmla="*/ 3102644 w 11795125"/>
              <a:gd name="connsiteY44" fmla="*/ 1739841 h 6858000"/>
              <a:gd name="connsiteX45" fmla="*/ 3522963 w 11795125"/>
              <a:gd name="connsiteY45" fmla="*/ 1598675 h 6858000"/>
              <a:gd name="connsiteX46" fmla="*/ 3625194 w 11795125"/>
              <a:gd name="connsiteY46" fmla="*/ 1598740 h 6858000"/>
              <a:gd name="connsiteX47" fmla="*/ 3641197 w 11795125"/>
              <a:gd name="connsiteY47" fmla="*/ 1607918 h 6858000"/>
              <a:gd name="connsiteX48" fmla="*/ 3692479 w 11795125"/>
              <a:gd name="connsiteY48" fmla="*/ 1696742 h 6858000"/>
              <a:gd name="connsiteX49" fmla="*/ 3692315 w 11795125"/>
              <a:gd name="connsiteY49" fmla="*/ 1714998 h 6858000"/>
              <a:gd name="connsiteX50" fmla="*/ 3641367 w 11795125"/>
              <a:gd name="connsiteY50" fmla="*/ 1803757 h 6858000"/>
              <a:gd name="connsiteX51" fmla="*/ 3625694 w 11795125"/>
              <a:gd name="connsiteY51" fmla="*/ 1812806 h 6858000"/>
              <a:gd name="connsiteX52" fmla="*/ 3523352 w 11795125"/>
              <a:gd name="connsiteY52" fmla="*/ 1812549 h 6858000"/>
              <a:gd name="connsiteX53" fmla="*/ 3507459 w 11795125"/>
              <a:gd name="connsiteY53" fmla="*/ 1803563 h 6858000"/>
              <a:gd name="connsiteX54" fmla="*/ 3456177 w 11795125"/>
              <a:gd name="connsiteY54" fmla="*/ 1714739 h 6858000"/>
              <a:gd name="connsiteX55" fmla="*/ 3456230 w 11795125"/>
              <a:gd name="connsiteY55" fmla="*/ 1696292 h 6858000"/>
              <a:gd name="connsiteX56" fmla="*/ 3507290 w 11795125"/>
              <a:gd name="connsiteY56" fmla="*/ 1607724 h 6858000"/>
              <a:gd name="connsiteX57" fmla="*/ 3522963 w 11795125"/>
              <a:gd name="connsiteY57" fmla="*/ 1598675 h 6858000"/>
              <a:gd name="connsiteX58" fmla="*/ 4199803 w 11795125"/>
              <a:gd name="connsiteY58" fmla="*/ 1370724 h 6858000"/>
              <a:gd name="connsiteX59" fmla="*/ 4537019 w 11795125"/>
              <a:gd name="connsiteY59" fmla="*/ 1370938 h 6858000"/>
              <a:gd name="connsiteX60" fmla="*/ 4589804 w 11795125"/>
              <a:gd name="connsiteY60" fmla="*/ 1401211 h 6858000"/>
              <a:gd name="connsiteX61" fmla="*/ 4758963 w 11795125"/>
              <a:gd name="connsiteY61" fmla="*/ 1694203 h 6858000"/>
              <a:gd name="connsiteX62" fmla="*/ 4758423 w 11795125"/>
              <a:gd name="connsiteY62" fmla="*/ 1754421 h 6858000"/>
              <a:gd name="connsiteX63" fmla="*/ 4590365 w 11795125"/>
              <a:gd name="connsiteY63" fmla="*/ 2047199 h 6858000"/>
              <a:gd name="connsiteX64" fmla="*/ 4538665 w 11795125"/>
              <a:gd name="connsiteY64" fmla="*/ 2077046 h 6858000"/>
              <a:gd name="connsiteX65" fmla="*/ 4201084 w 11795125"/>
              <a:gd name="connsiteY65" fmla="*/ 2076201 h 6858000"/>
              <a:gd name="connsiteX66" fmla="*/ 4148664 w 11795125"/>
              <a:gd name="connsiteY66" fmla="*/ 2046559 h 6858000"/>
              <a:gd name="connsiteX67" fmla="*/ 3979505 w 11795125"/>
              <a:gd name="connsiteY67" fmla="*/ 1753567 h 6858000"/>
              <a:gd name="connsiteX68" fmla="*/ 3979680 w 11795125"/>
              <a:gd name="connsiteY68" fmla="*/ 1692718 h 6858000"/>
              <a:gd name="connsiteX69" fmla="*/ 4148104 w 11795125"/>
              <a:gd name="connsiteY69" fmla="*/ 1400573 h 6858000"/>
              <a:gd name="connsiteX70" fmla="*/ 4199803 w 11795125"/>
              <a:gd name="connsiteY70" fmla="*/ 1370724 h 6858000"/>
              <a:gd name="connsiteX71" fmla="*/ 3525946 w 11795125"/>
              <a:gd name="connsiteY71" fmla="*/ 1141304 h 6858000"/>
              <a:gd name="connsiteX72" fmla="*/ 3719554 w 11795125"/>
              <a:gd name="connsiteY72" fmla="*/ 1141427 h 6858000"/>
              <a:gd name="connsiteX73" fmla="*/ 3749860 w 11795125"/>
              <a:gd name="connsiteY73" fmla="*/ 1158808 h 6858000"/>
              <a:gd name="connsiteX74" fmla="*/ 3846980 w 11795125"/>
              <a:gd name="connsiteY74" fmla="*/ 1327024 h 6858000"/>
              <a:gd name="connsiteX75" fmla="*/ 3846670 w 11795125"/>
              <a:gd name="connsiteY75" fmla="*/ 1361598 h 6858000"/>
              <a:gd name="connsiteX76" fmla="*/ 3750182 w 11795125"/>
              <a:gd name="connsiteY76" fmla="*/ 1529691 h 6858000"/>
              <a:gd name="connsiteX77" fmla="*/ 3720499 w 11795125"/>
              <a:gd name="connsiteY77" fmla="*/ 1546828 h 6858000"/>
              <a:gd name="connsiteX78" fmla="*/ 3526682 w 11795125"/>
              <a:gd name="connsiteY78" fmla="*/ 1546343 h 6858000"/>
              <a:gd name="connsiteX79" fmla="*/ 3496586 w 11795125"/>
              <a:gd name="connsiteY79" fmla="*/ 1529324 h 6858000"/>
              <a:gd name="connsiteX80" fmla="*/ 3399466 w 11795125"/>
              <a:gd name="connsiteY80" fmla="*/ 1361108 h 6858000"/>
              <a:gd name="connsiteX81" fmla="*/ 3399566 w 11795125"/>
              <a:gd name="connsiteY81" fmla="*/ 1326172 h 6858000"/>
              <a:gd name="connsiteX82" fmla="*/ 3496264 w 11795125"/>
              <a:gd name="connsiteY82" fmla="*/ 1158441 h 6858000"/>
              <a:gd name="connsiteX83" fmla="*/ 3525946 w 11795125"/>
              <a:gd name="connsiteY83" fmla="*/ 1141304 h 6858000"/>
              <a:gd name="connsiteX84" fmla="*/ 3955878 w 11795125"/>
              <a:gd name="connsiteY84" fmla="*/ 173494 h 6858000"/>
              <a:gd name="connsiteX85" fmla="*/ 4500068 w 11795125"/>
              <a:gd name="connsiteY85" fmla="*/ 173838 h 6858000"/>
              <a:gd name="connsiteX86" fmla="*/ 4585252 w 11795125"/>
              <a:gd name="connsiteY86" fmla="*/ 222694 h 6858000"/>
              <a:gd name="connsiteX87" fmla="*/ 4858234 w 11795125"/>
              <a:gd name="connsiteY87" fmla="*/ 695514 h 6858000"/>
              <a:gd name="connsiteX88" fmla="*/ 4857363 w 11795125"/>
              <a:gd name="connsiteY88" fmla="*/ 792690 h 6858000"/>
              <a:gd name="connsiteX89" fmla="*/ 4586156 w 11795125"/>
              <a:gd name="connsiteY89" fmla="*/ 1265167 h 6858000"/>
              <a:gd name="connsiteX90" fmla="*/ 4502727 w 11795125"/>
              <a:gd name="connsiteY90" fmla="*/ 1313334 h 6858000"/>
              <a:gd name="connsiteX91" fmla="*/ 3957947 w 11795125"/>
              <a:gd name="connsiteY91" fmla="*/ 1311968 h 6858000"/>
              <a:gd name="connsiteX92" fmla="*/ 3873354 w 11795125"/>
              <a:gd name="connsiteY92" fmla="*/ 1264134 h 6858000"/>
              <a:gd name="connsiteX93" fmla="*/ 3600372 w 11795125"/>
              <a:gd name="connsiteY93" fmla="*/ 791315 h 6858000"/>
              <a:gd name="connsiteX94" fmla="*/ 3600653 w 11795125"/>
              <a:gd name="connsiteY94" fmla="*/ 693116 h 6858000"/>
              <a:gd name="connsiteX95" fmla="*/ 3872449 w 11795125"/>
              <a:gd name="connsiteY95" fmla="*/ 221662 h 6858000"/>
              <a:gd name="connsiteX96" fmla="*/ 3955878 w 11795125"/>
              <a:gd name="connsiteY96" fmla="*/ 173494 h 6858000"/>
              <a:gd name="connsiteX97" fmla="*/ 3852283 w 11795125"/>
              <a:gd name="connsiteY97" fmla="*/ 0 h 6858000"/>
              <a:gd name="connsiteX98" fmla="*/ 6130031 w 11795125"/>
              <a:gd name="connsiteY98" fmla="*/ 0 h 6858000"/>
              <a:gd name="connsiteX99" fmla="*/ 6102465 w 11795125"/>
              <a:gd name="connsiteY99" fmla="*/ 36730 h 6858000"/>
              <a:gd name="connsiteX100" fmla="*/ 5879948 w 11795125"/>
              <a:gd name="connsiteY100" fmla="*/ 127724 h 6858000"/>
              <a:gd name="connsiteX101" fmla="*/ 4102884 w 11795125"/>
              <a:gd name="connsiteY101" fmla="*/ 123270 h 6858000"/>
              <a:gd name="connsiteX102" fmla="*/ 3877665 w 11795125"/>
              <a:gd name="connsiteY102" fmla="*/ 32818 h 6858000"/>
              <a:gd name="connsiteX103" fmla="*/ 0 w 11795125"/>
              <a:gd name="connsiteY103" fmla="*/ 0 h 6858000"/>
              <a:gd name="connsiteX104" fmla="*/ 3781476 w 11795125"/>
              <a:gd name="connsiteY104" fmla="*/ 0 h 6858000"/>
              <a:gd name="connsiteX105" fmla="*/ 3800985 w 11795125"/>
              <a:gd name="connsiteY105" fmla="*/ 47617 h 6858000"/>
              <a:gd name="connsiteX106" fmla="*/ 3766711 w 11795125"/>
              <a:gd name="connsiteY106" fmla="*/ 287889 h 6858000"/>
              <a:gd name="connsiteX107" fmla="*/ 2882037 w 11795125"/>
              <a:gd name="connsiteY107" fmla="*/ 1829098 h 6858000"/>
              <a:gd name="connsiteX108" fmla="*/ 2609888 w 11795125"/>
              <a:gd name="connsiteY108" fmla="*/ 1986223 h 6858000"/>
              <a:gd name="connsiteX109" fmla="*/ 832823 w 11795125"/>
              <a:gd name="connsiteY109" fmla="*/ 1981768 h 6858000"/>
              <a:gd name="connsiteX110" fmla="*/ 556879 w 11795125"/>
              <a:gd name="connsiteY110" fmla="*/ 1825733 h 6858000"/>
              <a:gd name="connsiteX111" fmla="*/ 79254 w 11795125"/>
              <a:gd name="connsiteY111" fmla="*/ 998462 h 6858000"/>
              <a:gd name="connsiteX112" fmla="*/ 0 w 11795125"/>
              <a:gd name="connsiteY112" fmla="*/ 8611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1795125" h="6858000">
                <a:moveTo>
                  <a:pt x="4729712" y="4417922"/>
                </a:moveTo>
                <a:cubicBezTo>
                  <a:pt x="4729712" y="4417922"/>
                  <a:pt x="4729712" y="4417922"/>
                  <a:pt x="7234278" y="4419507"/>
                </a:cubicBezTo>
                <a:cubicBezTo>
                  <a:pt x="7396730" y="4419716"/>
                  <a:pt x="7544918" y="4503359"/>
                  <a:pt x="7626325" y="4644358"/>
                </a:cubicBezTo>
                <a:cubicBezTo>
                  <a:pt x="7626325" y="4644358"/>
                  <a:pt x="7626325" y="4644358"/>
                  <a:pt x="8882694" y="6820455"/>
                </a:cubicBezTo>
                <a:lnTo>
                  <a:pt x="8898077" y="6858000"/>
                </a:lnTo>
                <a:lnTo>
                  <a:pt x="3070863" y="6858000"/>
                </a:lnTo>
                <a:lnTo>
                  <a:pt x="3094823" y="6809422"/>
                </a:lnTo>
                <a:cubicBezTo>
                  <a:pt x="3094823" y="6809422"/>
                  <a:pt x="3094823" y="6809422"/>
                  <a:pt x="4345735" y="4639611"/>
                </a:cubicBezTo>
                <a:cubicBezTo>
                  <a:pt x="4422097" y="4501523"/>
                  <a:pt x="4571941" y="4415010"/>
                  <a:pt x="4729712" y="4417922"/>
                </a:cubicBezTo>
                <a:close/>
                <a:moveTo>
                  <a:pt x="2031302" y="2039301"/>
                </a:moveTo>
                <a:cubicBezTo>
                  <a:pt x="2031302" y="2039301"/>
                  <a:pt x="2031302" y="2039301"/>
                  <a:pt x="2747265" y="2039754"/>
                </a:cubicBezTo>
                <a:cubicBezTo>
                  <a:pt x="2793703" y="2039814"/>
                  <a:pt x="2836066" y="2063724"/>
                  <a:pt x="2859337" y="2104031"/>
                </a:cubicBezTo>
                <a:cubicBezTo>
                  <a:pt x="2859337" y="2104031"/>
                  <a:pt x="2859337" y="2104031"/>
                  <a:pt x="3218486" y="2726096"/>
                </a:cubicBezTo>
                <a:cubicBezTo>
                  <a:pt x="3240981" y="2765058"/>
                  <a:pt x="3241283" y="2815045"/>
                  <a:pt x="3217340" y="2853948"/>
                </a:cubicBezTo>
                <a:cubicBezTo>
                  <a:pt x="3217340" y="2853948"/>
                  <a:pt x="3217340" y="2853948"/>
                  <a:pt x="2860527" y="3475560"/>
                </a:cubicBezTo>
                <a:cubicBezTo>
                  <a:pt x="2838697" y="3515034"/>
                  <a:pt x="2795862" y="3539765"/>
                  <a:pt x="2750762" y="3538933"/>
                </a:cubicBezTo>
                <a:cubicBezTo>
                  <a:pt x="2750762" y="3538933"/>
                  <a:pt x="2750762" y="3538933"/>
                  <a:pt x="2034023" y="3537136"/>
                </a:cubicBezTo>
                <a:cubicBezTo>
                  <a:pt x="1988359" y="3538420"/>
                  <a:pt x="1945223" y="3513165"/>
                  <a:pt x="1922728" y="3474202"/>
                </a:cubicBezTo>
                <a:cubicBezTo>
                  <a:pt x="1922728" y="3474202"/>
                  <a:pt x="1922728" y="3474202"/>
                  <a:pt x="1563578" y="2852137"/>
                </a:cubicBezTo>
                <a:cubicBezTo>
                  <a:pt x="1540307" y="2811831"/>
                  <a:pt x="1540780" y="2763190"/>
                  <a:pt x="1563948" y="2722942"/>
                </a:cubicBezTo>
                <a:cubicBezTo>
                  <a:pt x="1563948" y="2722942"/>
                  <a:pt x="1563948" y="2722942"/>
                  <a:pt x="1921537" y="2102674"/>
                </a:cubicBezTo>
                <a:cubicBezTo>
                  <a:pt x="1943366" y="2063199"/>
                  <a:pt x="1986202" y="2038468"/>
                  <a:pt x="2031302" y="2039301"/>
                </a:cubicBezTo>
                <a:close/>
                <a:moveTo>
                  <a:pt x="9343478" y="1795745"/>
                </a:moveTo>
                <a:cubicBezTo>
                  <a:pt x="9343478" y="1795745"/>
                  <a:pt x="9343478" y="1795745"/>
                  <a:pt x="11620502" y="1797185"/>
                </a:cubicBezTo>
                <a:lnTo>
                  <a:pt x="11795125" y="1797296"/>
                </a:lnTo>
                <a:lnTo>
                  <a:pt x="11795125" y="6858000"/>
                </a:lnTo>
                <a:lnTo>
                  <a:pt x="8996698" y="6858000"/>
                </a:lnTo>
                <a:lnTo>
                  <a:pt x="8963663" y="6815289"/>
                </a:lnTo>
                <a:cubicBezTo>
                  <a:pt x="8963663" y="6815289"/>
                  <a:pt x="8963663" y="6815289"/>
                  <a:pt x="7707295" y="4639193"/>
                </a:cubicBezTo>
                <a:cubicBezTo>
                  <a:pt x="7625888" y="4498193"/>
                  <a:pt x="7627546" y="4328036"/>
                  <a:pt x="7708590" y="4187244"/>
                </a:cubicBezTo>
                <a:cubicBezTo>
                  <a:pt x="7708590" y="4187244"/>
                  <a:pt x="7708590" y="4187244"/>
                  <a:pt x="8959501" y="2017434"/>
                </a:cubicBezTo>
                <a:cubicBezTo>
                  <a:pt x="9035863" y="1879345"/>
                  <a:pt x="9185707" y="1792833"/>
                  <a:pt x="9343478" y="1795745"/>
                </a:cubicBezTo>
                <a:close/>
                <a:moveTo>
                  <a:pt x="3102644" y="1739841"/>
                </a:moveTo>
                <a:cubicBezTo>
                  <a:pt x="3102644" y="1739841"/>
                  <a:pt x="3102644" y="1739841"/>
                  <a:pt x="3385876" y="1740020"/>
                </a:cubicBezTo>
                <a:cubicBezTo>
                  <a:pt x="3404247" y="1740043"/>
                  <a:pt x="3421005" y="1749503"/>
                  <a:pt x="3430211" y="1765448"/>
                </a:cubicBezTo>
                <a:cubicBezTo>
                  <a:pt x="3430211" y="1765448"/>
                  <a:pt x="3430211" y="1765448"/>
                  <a:pt x="3572289" y="2011533"/>
                </a:cubicBezTo>
                <a:cubicBezTo>
                  <a:pt x="3581188" y="2026948"/>
                  <a:pt x="3581308" y="2046721"/>
                  <a:pt x="3571836" y="2062111"/>
                </a:cubicBezTo>
                <a:cubicBezTo>
                  <a:pt x="3571836" y="2062111"/>
                  <a:pt x="3571836" y="2062111"/>
                  <a:pt x="3430681" y="2308019"/>
                </a:cubicBezTo>
                <a:cubicBezTo>
                  <a:pt x="3422046" y="2323634"/>
                  <a:pt x="3405101" y="2333418"/>
                  <a:pt x="3387260" y="2333088"/>
                </a:cubicBezTo>
                <a:cubicBezTo>
                  <a:pt x="3387260" y="2333088"/>
                  <a:pt x="3387260" y="2333088"/>
                  <a:pt x="3103720" y="2332378"/>
                </a:cubicBezTo>
                <a:cubicBezTo>
                  <a:pt x="3085656" y="2332886"/>
                  <a:pt x="3068592" y="2322895"/>
                  <a:pt x="3059693" y="2307481"/>
                </a:cubicBezTo>
                <a:cubicBezTo>
                  <a:pt x="3059693" y="2307481"/>
                  <a:pt x="3059693" y="2307481"/>
                  <a:pt x="2917615" y="2061395"/>
                </a:cubicBezTo>
                <a:cubicBezTo>
                  <a:pt x="2908409" y="2045450"/>
                  <a:pt x="2908596" y="2026208"/>
                  <a:pt x="2917761" y="2010286"/>
                </a:cubicBezTo>
                <a:cubicBezTo>
                  <a:pt x="2917761" y="2010286"/>
                  <a:pt x="2917761" y="2010286"/>
                  <a:pt x="3059222" y="1764910"/>
                </a:cubicBezTo>
                <a:cubicBezTo>
                  <a:pt x="3067857" y="1749295"/>
                  <a:pt x="3084803" y="1739511"/>
                  <a:pt x="3102644" y="1739841"/>
                </a:cubicBezTo>
                <a:close/>
                <a:moveTo>
                  <a:pt x="3522963" y="1598675"/>
                </a:moveTo>
                <a:cubicBezTo>
                  <a:pt x="3522963" y="1598675"/>
                  <a:pt x="3522963" y="1598675"/>
                  <a:pt x="3625194" y="1598740"/>
                </a:cubicBezTo>
                <a:cubicBezTo>
                  <a:pt x="3631826" y="1598748"/>
                  <a:pt x="3637874" y="1602162"/>
                  <a:pt x="3641197" y="1607918"/>
                </a:cubicBezTo>
                <a:cubicBezTo>
                  <a:pt x="3641197" y="1607918"/>
                  <a:pt x="3641197" y="1607918"/>
                  <a:pt x="3692479" y="1696742"/>
                </a:cubicBezTo>
                <a:cubicBezTo>
                  <a:pt x="3695691" y="1702305"/>
                  <a:pt x="3695735" y="1709443"/>
                  <a:pt x="3692315" y="1714998"/>
                </a:cubicBezTo>
                <a:cubicBezTo>
                  <a:pt x="3692315" y="1714998"/>
                  <a:pt x="3692315" y="1714998"/>
                  <a:pt x="3641367" y="1803757"/>
                </a:cubicBezTo>
                <a:cubicBezTo>
                  <a:pt x="3638250" y="1809393"/>
                  <a:pt x="3632134" y="1812924"/>
                  <a:pt x="3625694" y="1812806"/>
                </a:cubicBezTo>
                <a:cubicBezTo>
                  <a:pt x="3625694" y="1812806"/>
                  <a:pt x="3625694" y="1812806"/>
                  <a:pt x="3523352" y="1812549"/>
                </a:cubicBezTo>
                <a:cubicBezTo>
                  <a:pt x="3516832" y="1812733"/>
                  <a:pt x="3510671" y="1809127"/>
                  <a:pt x="3507459" y="1803563"/>
                </a:cubicBezTo>
                <a:cubicBezTo>
                  <a:pt x="3507459" y="1803563"/>
                  <a:pt x="3507459" y="1803563"/>
                  <a:pt x="3456177" y="1714739"/>
                </a:cubicBezTo>
                <a:cubicBezTo>
                  <a:pt x="3452854" y="1708984"/>
                  <a:pt x="3452922" y="1702038"/>
                  <a:pt x="3456230" y="1696292"/>
                </a:cubicBezTo>
                <a:cubicBezTo>
                  <a:pt x="3456230" y="1696292"/>
                  <a:pt x="3456230" y="1696292"/>
                  <a:pt x="3507290" y="1607724"/>
                </a:cubicBezTo>
                <a:cubicBezTo>
                  <a:pt x="3510406" y="1602087"/>
                  <a:pt x="3516523" y="1598556"/>
                  <a:pt x="3522963" y="1598675"/>
                </a:cubicBezTo>
                <a:close/>
                <a:moveTo>
                  <a:pt x="4199803" y="1370724"/>
                </a:moveTo>
                <a:cubicBezTo>
                  <a:pt x="4199803" y="1370724"/>
                  <a:pt x="4199803" y="1370724"/>
                  <a:pt x="4537019" y="1370938"/>
                </a:cubicBezTo>
                <a:cubicBezTo>
                  <a:pt x="4558892" y="1370965"/>
                  <a:pt x="4578843" y="1382227"/>
                  <a:pt x="4589804" y="1401211"/>
                </a:cubicBezTo>
                <a:cubicBezTo>
                  <a:pt x="4589804" y="1401211"/>
                  <a:pt x="4589804" y="1401211"/>
                  <a:pt x="4758963" y="1694203"/>
                </a:cubicBezTo>
                <a:cubicBezTo>
                  <a:pt x="4769558" y="1712554"/>
                  <a:pt x="4769700" y="1736097"/>
                  <a:pt x="4758423" y="1754421"/>
                </a:cubicBezTo>
                <a:cubicBezTo>
                  <a:pt x="4758423" y="1754421"/>
                  <a:pt x="4758423" y="1754421"/>
                  <a:pt x="4590365" y="2047199"/>
                </a:cubicBezTo>
                <a:cubicBezTo>
                  <a:pt x="4580083" y="2065790"/>
                  <a:pt x="4559908" y="2077438"/>
                  <a:pt x="4538665" y="2077046"/>
                </a:cubicBezTo>
                <a:cubicBezTo>
                  <a:pt x="4538665" y="2077046"/>
                  <a:pt x="4538665" y="2077046"/>
                  <a:pt x="4201084" y="2076201"/>
                </a:cubicBezTo>
                <a:cubicBezTo>
                  <a:pt x="4179577" y="2076805"/>
                  <a:pt x="4159259" y="2064910"/>
                  <a:pt x="4148664" y="2046559"/>
                </a:cubicBezTo>
                <a:cubicBezTo>
                  <a:pt x="4148664" y="2046559"/>
                  <a:pt x="4148664" y="2046559"/>
                  <a:pt x="3979505" y="1753567"/>
                </a:cubicBezTo>
                <a:cubicBezTo>
                  <a:pt x="3968545" y="1734583"/>
                  <a:pt x="3968768" y="1711673"/>
                  <a:pt x="3979680" y="1692718"/>
                </a:cubicBezTo>
                <a:cubicBezTo>
                  <a:pt x="3979680" y="1692718"/>
                  <a:pt x="3979680" y="1692718"/>
                  <a:pt x="4148104" y="1400573"/>
                </a:cubicBezTo>
                <a:cubicBezTo>
                  <a:pt x="4158385" y="1381980"/>
                  <a:pt x="4178560" y="1370332"/>
                  <a:pt x="4199803" y="1370724"/>
                </a:cubicBezTo>
                <a:close/>
                <a:moveTo>
                  <a:pt x="3525946" y="1141304"/>
                </a:moveTo>
                <a:cubicBezTo>
                  <a:pt x="3525946" y="1141304"/>
                  <a:pt x="3525946" y="1141304"/>
                  <a:pt x="3719554" y="1141427"/>
                </a:cubicBezTo>
                <a:cubicBezTo>
                  <a:pt x="3732112" y="1141443"/>
                  <a:pt x="3743567" y="1147909"/>
                  <a:pt x="3749860" y="1158808"/>
                </a:cubicBezTo>
                <a:cubicBezTo>
                  <a:pt x="3749860" y="1158808"/>
                  <a:pt x="3749860" y="1158808"/>
                  <a:pt x="3846980" y="1327024"/>
                </a:cubicBezTo>
                <a:cubicBezTo>
                  <a:pt x="3853063" y="1337561"/>
                  <a:pt x="3853144" y="1351077"/>
                  <a:pt x="3846670" y="1361598"/>
                </a:cubicBezTo>
                <a:cubicBezTo>
                  <a:pt x="3846670" y="1361598"/>
                  <a:pt x="3846670" y="1361598"/>
                  <a:pt x="3750182" y="1529691"/>
                </a:cubicBezTo>
                <a:cubicBezTo>
                  <a:pt x="3744279" y="1540366"/>
                  <a:pt x="3732695" y="1547054"/>
                  <a:pt x="3720499" y="1546828"/>
                </a:cubicBezTo>
                <a:cubicBezTo>
                  <a:pt x="3720499" y="1546828"/>
                  <a:pt x="3720499" y="1546828"/>
                  <a:pt x="3526682" y="1546343"/>
                </a:cubicBezTo>
                <a:cubicBezTo>
                  <a:pt x="3514334" y="1546689"/>
                  <a:pt x="3502669" y="1539861"/>
                  <a:pt x="3496586" y="1529324"/>
                </a:cubicBezTo>
                <a:cubicBezTo>
                  <a:pt x="3496586" y="1529324"/>
                  <a:pt x="3496586" y="1529324"/>
                  <a:pt x="3399466" y="1361108"/>
                </a:cubicBezTo>
                <a:cubicBezTo>
                  <a:pt x="3393173" y="1350208"/>
                  <a:pt x="3393302" y="1337055"/>
                  <a:pt x="3399566" y="1326172"/>
                </a:cubicBezTo>
                <a:cubicBezTo>
                  <a:pt x="3399566" y="1326172"/>
                  <a:pt x="3399566" y="1326172"/>
                  <a:pt x="3496264" y="1158441"/>
                </a:cubicBezTo>
                <a:cubicBezTo>
                  <a:pt x="3502167" y="1147767"/>
                  <a:pt x="3513750" y="1141079"/>
                  <a:pt x="3525946" y="1141304"/>
                </a:cubicBezTo>
                <a:close/>
                <a:moveTo>
                  <a:pt x="3955878" y="173494"/>
                </a:moveTo>
                <a:cubicBezTo>
                  <a:pt x="3955878" y="173494"/>
                  <a:pt x="3955878" y="173494"/>
                  <a:pt x="4500068" y="173838"/>
                </a:cubicBezTo>
                <a:cubicBezTo>
                  <a:pt x="4535365" y="173884"/>
                  <a:pt x="4567564" y="192057"/>
                  <a:pt x="4585252" y="222694"/>
                </a:cubicBezTo>
                <a:cubicBezTo>
                  <a:pt x="4585252" y="222694"/>
                  <a:pt x="4585252" y="222694"/>
                  <a:pt x="4858234" y="695514"/>
                </a:cubicBezTo>
                <a:cubicBezTo>
                  <a:pt x="4875332" y="725128"/>
                  <a:pt x="4875562" y="763121"/>
                  <a:pt x="4857363" y="792690"/>
                </a:cubicBezTo>
                <a:cubicBezTo>
                  <a:pt x="4857363" y="792690"/>
                  <a:pt x="4857363" y="792690"/>
                  <a:pt x="4586156" y="1265167"/>
                </a:cubicBezTo>
                <a:cubicBezTo>
                  <a:pt x="4569564" y="1295169"/>
                  <a:pt x="4537006" y="1313967"/>
                  <a:pt x="4502727" y="1313334"/>
                </a:cubicBezTo>
                <a:cubicBezTo>
                  <a:pt x="4502727" y="1313334"/>
                  <a:pt x="4502727" y="1313334"/>
                  <a:pt x="3957947" y="1311968"/>
                </a:cubicBezTo>
                <a:cubicBezTo>
                  <a:pt x="3923239" y="1312944"/>
                  <a:pt x="3890452" y="1293749"/>
                  <a:pt x="3873354" y="1264134"/>
                </a:cubicBezTo>
                <a:cubicBezTo>
                  <a:pt x="3873354" y="1264134"/>
                  <a:pt x="3873354" y="1264134"/>
                  <a:pt x="3600372" y="791315"/>
                </a:cubicBezTo>
                <a:cubicBezTo>
                  <a:pt x="3582684" y="760678"/>
                  <a:pt x="3583043" y="723707"/>
                  <a:pt x="3600653" y="693116"/>
                </a:cubicBezTo>
                <a:cubicBezTo>
                  <a:pt x="3600653" y="693116"/>
                  <a:pt x="3600653" y="693116"/>
                  <a:pt x="3872449" y="221662"/>
                </a:cubicBezTo>
                <a:cubicBezTo>
                  <a:pt x="3889041" y="191658"/>
                  <a:pt x="3921599" y="172861"/>
                  <a:pt x="3955878" y="173494"/>
                </a:cubicBezTo>
                <a:close/>
                <a:moveTo>
                  <a:pt x="3852283" y="0"/>
                </a:moveTo>
                <a:lnTo>
                  <a:pt x="6130031" y="0"/>
                </a:lnTo>
                <a:lnTo>
                  <a:pt x="6102465" y="36730"/>
                </a:lnTo>
                <a:cubicBezTo>
                  <a:pt x="6044520" y="95168"/>
                  <a:pt x="5963814" y="129272"/>
                  <a:pt x="5879948" y="127724"/>
                </a:cubicBezTo>
                <a:cubicBezTo>
                  <a:pt x="5879948" y="127724"/>
                  <a:pt x="5879948" y="127724"/>
                  <a:pt x="4102884" y="123270"/>
                </a:cubicBezTo>
                <a:cubicBezTo>
                  <a:pt x="4017972" y="125657"/>
                  <a:pt x="3936583" y="91034"/>
                  <a:pt x="3877665" y="32818"/>
                </a:cubicBezTo>
                <a:close/>
                <a:moveTo>
                  <a:pt x="0" y="0"/>
                </a:moveTo>
                <a:lnTo>
                  <a:pt x="3781476" y="0"/>
                </a:lnTo>
                <a:lnTo>
                  <a:pt x="3800985" y="47617"/>
                </a:lnTo>
                <a:cubicBezTo>
                  <a:pt x="3821943" y="127749"/>
                  <a:pt x="3811234" y="215546"/>
                  <a:pt x="3766711" y="287889"/>
                </a:cubicBezTo>
                <a:cubicBezTo>
                  <a:pt x="3766711" y="287889"/>
                  <a:pt x="3766711" y="287889"/>
                  <a:pt x="2882037" y="1829098"/>
                </a:cubicBezTo>
                <a:cubicBezTo>
                  <a:pt x="2827913" y="1926970"/>
                  <a:pt x="2721708" y="1988287"/>
                  <a:pt x="2609888" y="1986223"/>
                </a:cubicBezTo>
                <a:cubicBezTo>
                  <a:pt x="2609888" y="1986223"/>
                  <a:pt x="2609888" y="1986223"/>
                  <a:pt x="832823" y="1981768"/>
                </a:cubicBezTo>
                <a:cubicBezTo>
                  <a:pt x="719607" y="1984952"/>
                  <a:pt x="612654" y="1922338"/>
                  <a:pt x="556879" y="1825733"/>
                </a:cubicBezTo>
                <a:cubicBezTo>
                  <a:pt x="556879" y="1825733"/>
                  <a:pt x="556879" y="1825733"/>
                  <a:pt x="79254" y="998462"/>
                </a:cubicBezTo>
                <a:lnTo>
                  <a:pt x="0" y="86119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864000">
            <a:noAutofit/>
          </a:bodyPr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273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CD92D281-07CD-478F-9BF5-BA7D43439A3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B2C53265-8805-42B3-82B4-151EFBC4273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D0111EB4-98AF-4EB7-878B-31FD32A9514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3809002-30A9-49C0-BE36-B14DD1E4D87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FD5C582-B212-4ADA-AB1B-0481AA39C3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1771313" cy="61912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C3BEE7-44AC-45BC-B4E7-93E3454EB8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687" y="5066452"/>
            <a:ext cx="4459766" cy="539345"/>
          </a:xfrm>
          <a:prstGeom prst="roundRect">
            <a:avLst>
              <a:gd name="adj" fmla="val 10086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108000" rIns="180000" bIns="0" anchor="t"/>
          <a:lstStyle>
            <a:lvl1pPr algn="l">
              <a:lnSpc>
                <a:spcPct val="100000"/>
              </a:lnSpc>
              <a:defRPr sz="1800" b="0" spc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Enter your caption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FA90A43-BEC4-4B20-96E2-797B03FB82F2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A2C2023-6C37-4611-ACAF-5F2060202836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06C51E8-C5C0-4672-B456-F44C69B074D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DE9AE8C-7574-4D45-B521-6B18054DA7C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F240172-5930-4717-A0CD-A151075277D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B4A83CE-8643-4697-94A9-C9F587F46E2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0A765A5-BBCE-405E-A4B3-80A660118E8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93" y="3271757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300" y="5250494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3656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12B8F0DB-CC25-4CE9-A68E-CAA2FD986AF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A058973-2DC9-4087-9D57-F1D779F56CC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641062D-3CD4-49D1-A621-331E29333406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9F2C1E7C-A088-4772-84B3-15309BEADF7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CA52278A-6924-4F97-A196-AE30D3DACB7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66117" y="1816509"/>
            <a:ext cx="4459766" cy="3146839"/>
          </a:xfrm>
          <a:prstGeom prst="roundRect">
            <a:avLst>
              <a:gd name="adj" fmla="val 2139"/>
            </a:avLst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solidFill>
              <a:schemeClr val="bg1">
                <a:lumMod val="50000"/>
              </a:schemeClr>
            </a:solidFill>
          </a:ln>
        </p:spPr>
        <p:txBody>
          <a:bodyPr lIns="180000" tIns="288000" rIns="180000" bIns="180000" anchor="t"/>
          <a:lstStyle>
            <a:lvl1pPr algn="l">
              <a:lnSpc>
                <a:spcPts val="4000"/>
              </a:lnSpc>
              <a:defRPr sz="5000" b="1" spc="-3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divider 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24" y="3795246"/>
            <a:ext cx="4000500" cy="997905"/>
          </a:xfrm>
          <a:noFill/>
        </p:spPr>
        <p:txBody>
          <a:bodyPr lIns="0" tIns="0" rIns="0" bIns="0"/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B1E83-6080-4D35-A216-8E5C3990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5353-8EE1-49C9-ADAC-E76BD49D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31296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8663BD7B-5136-47ED-BE0A-C6C2F5622BD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ABA22C7-C35B-4EC0-B7CE-54F9EEFCB71D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6DAE4BC9-9CFF-4522-8216-651498F7A16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8E822AA0-FB3E-4051-AA1F-F51204BA02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3445288A-D169-4374-BCFD-917DD04B2B1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CD5709C-84DE-45F3-AE9B-8B6FD7134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988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BB18B1-3B7F-4B18-A1C5-BB7DA443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6816" y="1511250"/>
            <a:ext cx="5460114" cy="4665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419BDFB-8FC0-4B89-A29A-8EAC95E9A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511250"/>
            <a:ext cx="54849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E6C2CC0-9AB0-46E9-977A-EF923DCE7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9334" y="1518287"/>
            <a:ext cx="54206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8DF954C-A51E-4242-B83E-A826008F5C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9334" y="2486989"/>
            <a:ext cx="5432666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600E416E-6162-484A-BA4D-640FA830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2486989"/>
            <a:ext cx="5491215" cy="370267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16020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8B59DDF-F2BC-491E-92E0-9D2C1398E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1999"/>
            <a:ext cx="6544468" cy="551388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2294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>
            <a:extLst>
              <a:ext uri="{FF2B5EF4-FFF2-40B4-BE49-F238E27FC236}">
                <a16:creationId xmlns:a16="http://schemas.microsoft.com/office/drawing/2014/main" id="{B4B833F7-7F09-42C1-81DA-97CA9530D528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F4AA9899-9E92-41B5-AFEF-5F6EAB9782D5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8950958A-6460-4594-BEAB-C7444EC6129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A7E15F2A-61A0-4C11-8E47-4DF7051E91D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B5FF0CC8-80F5-42C4-80EF-E32459238B71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1999"/>
            <a:ext cx="3932237" cy="16001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ZA" dirty="0"/>
            </a:lvl1pPr>
          </a:lstStyle>
          <a:p>
            <a:pPr marL="0" lvl="0"/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49FB4A2-B750-422F-96D2-A7C26429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4062" y="21343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110E46C-B434-49FA-AA0E-D64E5786D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31999"/>
            <a:ext cx="6544468" cy="5513889"/>
          </a:xfrm>
          <a:prstGeom prst="roundRect">
            <a:avLst>
              <a:gd name="adj" fmla="val 5554"/>
            </a:avLst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184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913425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B0FE1C0F-474B-4310-A4A5-1EB4321DE50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431800" y="5530292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3FA99E-5E31-474E-8818-615B453CD89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537134" y="1312995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rgbClr val="0070C0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A0EE7FC-884E-43B5-B6D6-9156FBE9AB5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9683871" y="300388"/>
            <a:ext cx="1838651" cy="1613506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63500" cap="flat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858C6DC6-901F-4F3E-97A4-1B55324C068B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449746" y="5304339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1041B359-9F78-4782-9C50-0B1DED37AD2C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1007557" y="354617"/>
            <a:ext cx="514965" cy="45190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/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727656" y="6277243"/>
            <a:ext cx="464344" cy="400188"/>
          </a:xfrm>
        </p:spPr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90C5B8B-2AF3-42F3-B4F8-A806BB98A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3B1662-8902-44D0-A545-5008B483D1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8017" y="2169005"/>
            <a:ext cx="9035966" cy="2519990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875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/>
              <a:t>Add a 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9796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  <p:sldLayoutId id="2147484190" r:id="rId12"/>
    <p:sldLayoutId id="2147484191" r:id="rId13"/>
    <p:sldLayoutId id="2147484192" r:id="rId14"/>
    <p:sldLayoutId id="2147484193" r:id="rId15"/>
    <p:sldLayoutId id="2147484194" r:id="rId16"/>
    <p:sldLayoutId id="2147484195" r:id="rId17"/>
    <p:sldLayoutId id="2147484196" r:id="rId18"/>
    <p:sldLayoutId id="2147483663" r:id="rId19"/>
    <p:sldLayoutId id="2147483659" r:id="rId20"/>
    <p:sldLayoutId id="2147483660" r:id="rId21"/>
    <p:sldLayoutId id="2147483656" r:id="rId22"/>
    <p:sldLayoutId id="2147483657" r:id="rId23"/>
    <p:sldLayoutId id="2147483667" r:id="rId24"/>
    <p:sldLayoutId id="2147483668" r:id="rId25"/>
    <p:sldLayoutId id="2147483650" r:id="rId26"/>
    <p:sldLayoutId id="2147483652" r:id="rId27"/>
    <p:sldLayoutId id="2147483669" r:id="rId28"/>
    <p:sldLayoutId id="2147483671" r:id="rId29"/>
    <p:sldLayoutId id="2147483672" r:id="rId30"/>
    <p:sldLayoutId id="2147483670" r:id="rId31"/>
    <p:sldLayoutId id="2147483673" r:id="rId3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875718" y="2549894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294" y="2743164"/>
            <a:ext cx="9241971" cy="96870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Bell MT" panose="02020503060305020303" pitchFamily="18" charset="0"/>
              </a:rPr>
              <a:t>Welcome to Your Mid Year Open Enrollment!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B46A26-69DE-8535-DD9B-6A437E03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0058" y="688782"/>
            <a:ext cx="6064878" cy="1667842"/>
          </a:xfrm>
          <a:prstGeom prst="rect">
            <a:avLst/>
          </a:prstGeom>
        </p:spPr>
      </p:pic>
      <p:pic>
        <p:nvPicPr>
          <p:cNvPr id="4" name="Picture 4" descr="See the source image">
            <a:extLst>
              <a:ext uri="{FF2B5EF4-FFF2-40B4-BE49-F238E27FC236}">
                <a16:creationId xmlns:a16="http://schemas.microsoft.com/office/drawing/2014/main" id="{99CCAE94-8A23-958B-67F3-E5C9E5CAA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608" y="4017292"/>
            <a:ext cx="5985777" cy="272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">
            <a:extLst>
              <a:ext uri="{FF2B5EF4-FFF2-40B4-BE49-F238E27FC236}">
                <a16:creationId xmlns:a16="http://schemas.microsoft.com/office/drawing/2014/main" id="{F28CDBF8-0191-43F9-98FE-B98B08813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7875718" y="2549894"/>
            <a:ext cx="1103873" cy="968702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635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ln>
            <a:solidFill>
              <a:srgbClr val="0070C0"/>
            </a:solidFill>
          </a:ln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52FD3342-E198-5348-9EE9-579E8FFF9D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" r="1495"/>
          <a:stretch>
            <a:fillRect/>
          </a:stretch>
        </p:blipFill>
        <p:spPr>
          <a:xfrm>
            <a:off x="4369212" y="2308231"/>
            <a:ext cx="4904790" cy="433376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49" y="467329"/>
            <a:ext cx="8712000" cy="432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Bell MT" panose="02020503060305020303" pitchFamily="18" charset="0"/>
              </a:rPr>
              <a:t>It is that time of the year again..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649" y="1374560"/>
            <a:ext cx="8725649" cy="492908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i="1" dirty="0">
                <a:solidFill>
                  <a:srgbClr val="0070C0"/>
                </a:solidFill>
                <a:latin typeface="Bell MT" panose="02020503060305020303" pitchFamily="18" charset="0"/>
              </a:rPr>
              <a:t>Today we will be going over the following open enrollment topics </a:t>
            </a:r>
            <a:endParaRPr lang="en-US" sz="2000" dirty="0">
              <a:latin typeface="Bell MT" panose="02020503060305020303" pitchFamily="18" charset="0"/>
            </a:endParaRPr>
          </a:p>
          <a:p>
            <a:pPr marL="914400" indent="-450850">
              <a:lnSpc>
                <a:spcPct val="200000"/>
              </a:lnSpc>
              <a:buClr>
                <a:srgbClr val="FFC00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sz="2000" b="1" dirty="0">
                <a:latin typeface="Bell MT" panose="02020503060305020303" pitchFamily="18" charset="0"/>
              </a:rPr>
              <a:t>Your Open Enrollment To Do’s</a:t>
            </a:r>
          </a:p>
          <a:p>
            <a:pPr marL="914400" indent="-450850">
              <a:lnSpc>
                <a:spcPct val="200000"/>
              </a:lnSpc>
              <a:buClr>
                <a:srgbClr val="FFC00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sz="2000" b="1" dirty="0">
                <a:latin typeface="Bell MT" panose="02020503060305020303" pitchFamily="18" charset="0"/>
              </a:rPr>
              <a:t>New Benefits Enrollment Portal</a:t>
            </a:r>
          </a:p>
          <a:p>
            <a:pPr marL="914400" indent="-450850">
              <a:lnSpc>
                <a:spcPct val="200000"/>
              </a:lnSpc>
              <a:buClr>
                <a:srgbClr val="FFC00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sz="2000" b="1" dirty="0">
                <a:latin typeface="Bell MT" panose="02020503060305020303" pitchFamily="18" charset="0"/>
              </a:rPr>
              <a:t>The Partners’ Benefits Package -  </a:t>
            </a:r>
          </a:p>
          <a:p>
            <a:pPr marL="463550" indent="0">
              <a:lnSpc>
                <a:spcPct val="200000"/>
              </a:lnSpc>
              <a:buClr>
                <a:srgbClr val="FFC000"/>
              </a:buClr>
              <a:buSzPct val="150000"/>
              <a:buNone/>
            </a:pPr>
            <a:r>
              <a:rPr lang="en-US" sz="1800" dirty="0">
                <a:latin typeface="Bell MT" panose="02020503060305020303" pitchFamily="18" charset="0"/>
              </a:rPr>
              <a:t>	Voluntary Life</a:t>
            </a:r>
            <a:r>
              <a:rPr lang="en-US" dirty="0">
                <a:latin typeface="Bell MT" panose="02020503060305020303" pitchFamily="18" charset="0"/>
              </a:rPr>
              <a:t> &amp; </a:t>
            </a:r>
            <a:r>
              <a:rPr lang="en-US" sz="1800" dirty="0">
                <a:latin typeface="Bell MT" panose="02020503060305020303" pitchFamily="18" charset="0"/>
              </a:rPr>
              <a:t>AD&amp;D</a:t>
            </a:r>
          </a:p>
          <a:p>
            <a:pPr marL="463550" indent="0">
              <a:lnSpc>
                <a:spcPct val="200000"/>
              </a:lnSpc>
              <a:buClr>
                <a:srgbClr val="FFC000"/>
              </a:buClr>
              <a:buSzPct val="150000"/>
              <a:buNone/>
            </a:pPr>
            <a:r>
              <a:rPr lang="en-US" sz="1800" dirty="0">
                <a:latin typeface="Bell MT" panose="02020503060305020303" pitchFamily="18" charset="0"/>
              </a:rPr>
              <a:t>	</a:t>
            </a:r>
            <a:r>
              <a:rPr lang="en-US" dirty="0">
                <a:latin typeface="Bell MT" panose="02020503060305020303" pitchFamily="18" charset="0"/>
              </a:rPr>
              <a:t>FSA – 1/1/2024</a:t>
            </a:r>
          </a:p>
          <a:p>
            <a:pPr marL="914400" indent="-450850">
              <a:lnSpc>
                <a:spcPct val="200000"/>
              </a:lnSpc>
              <a:buClr>
                <a:srgbClr val="FFC000"/>
              </a:buClr>
              <a:buSzPct val="150000"/>
              <a:buFont typeface="Wingdings" panose="05000000000000000000" pitchFamily="2" charset="2"/>
              <a:buChar char="ü"/>
            </a:pPr>
            <a:r>
              <a:rPr lang="en-US" sz="2000" b="1" dirty="0">
                <a:latin typeface="Bell MT" panose="02020503060305020303" pitchFamily="18" charset="0"/>
              </a:rPr>
              <a:t>Wrap Up with Questions </a:t>
            </a:r>
          </a:p>
        </p:txBody>
      </p:sp>
    </p:spTree>
    <p:extLst>
      <p:ext uri="{BB962C8B-B14F-4D97-AF65-F5344CB8AC3E}">
        <p14:creationId xmlns:p14="http://schemas.microsoft.com/office/powerpoint/2010/main" val="2478226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9" b="5809"/>
          <a:stretch>
            <a:fillRect/>
          </a:stretch>
        </p:blipFill>
        <p:spPr>
          <a:xfrm>
            <a:off x="2810336" y="1351128"/>
            <a:ext cx="1451709" cy="1282700"/>
          </a:xfr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457167" y="654273"/>
            <a:ext cx="7200700" cy="432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Bodoni MT" panose="02070603080606020203" pitchFamily="18" charset="0"/>
              </a:rPr>
              <a:t>Your Open Enrollment To Do’s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half" idx="1"/>
          </p:nvPr>
        </p:nvSpPr>
        <p:spPr>
          <a:xfrm>
            <a:off x="309390" y="1992478"/>
            <a:ext cx="5472000" cy="5234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rgbClr val="0070C0"/>
                </a:solidFill>
                <a:latin typeface="Calibri" panose="020F0502020204030204" pitchFamily="34" charset="0"/>
              </a:rPr>
              <a:t>What Can I Do?</a:t>
            </a:r>
          </a:p>
          <a:p>
            <a:pPr marL="0" indent="0">
              <a:buClr>
                <a:srgbClr val="FFC000"/>
              </a:buClr>
              <a:buNone/>
            </a:pPr>
            <a:endParaRPr lang="en-US" b="1" i="1" dirty="0">
              <a:latin typeface="Calibri" panose="020F0502020204030204" pitchFamily="34" charset="0"/>
            </a:endParaRP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Enroll, or Waive Coverage.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Add Dependents.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Update Your Address, Beneficiary, or Dependent Information.</a:t>
            </a:r>
          </a:p>
          <a:p>
            <a:pPr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odoni MT" panose="02070603080606020203" pitchFamily="18" charset="0"/>
              </a:rPr>
              <a:t>You may not enroll or make a change outside of  open enrollment unless there is a qualifying life event, which must be done within 30 days of the event. (i.e., marriage, birth, divorce, loss of  other coverage)</a:t>
            </a:r>
          </a:p>
          <a:p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1" name="Content Placeholder 18"/>
          <p:cNvSpPr txBox="1">
            <a:spLocks/>
          </p:cNvSpPr>
          <p:nvPr/>
        </p:nvSpPr>
        <p:spPr>
          <a:xfrm>
            <a:off x="6219588" y="1455168"/>
            <a:ext cx="5079800" cy="50672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i="1" dirty="0">
                <a:solidFill>
                  <a:srgbClr val="0070C0"/>
                </a:solidFill>
                <a:latin typeface="Bell MT" panose="02020503060305020303" pitchFamily="18" charset="0"/>
              </a:rPr>
              <a:t>When Can I Enroll?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Bell MT" panose="02020503060305020303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Active Open Enrollment </a:t>
            </a:r>
          </a:p>
          <a:p>
            <a:pPr marL="266700" lvl="1" indent="0">
              <a:buClr>
                <a:srgbClr val="FFC000"/>
              </a:buClr>
              <a:buNone/>
            </a:pPr>
            <a:r>
              <a:rPr lang="en-US" sz="1800" dirty="0">
                <a:latin typeface="Bell MT" panose="02020503060305020303" pitchFamily="18" charset="0"/>
              </a:rPr>
              <a:t>Please log in to the employee navigator portal to enroll in any benefits for 2023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endParaRPr lang="en-US" sz="2000" dirty="0">
              <a:latin typeface="Bell MT" panose="02020503060305020303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ell MT" panose="02020503060305020303" pitchFamily="18" charset="0"/>
              </a:rPr>
              <a:t>Open Enrollment Starts:  </a:t>
            </a:r>
          </a:p>
          <a:p>
            <a:pPr marL="0" indent="0">
              <a:buClr>
                <a:srgbClr val="FFC000"/>
              </a:buClr>
              <a:buNone/>
            </a:pPr>
            <a:r>
              <a:rPr lang="en-US" sz="2000" dirty="0">
                <a:latin typeface="Bell MT" panose="02020503060305020303" pitchFamily="18" charset="0"/>
              </a:rPr>
              <a:t>	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Wednesday, Nov 1</a:t>
            </a:r>
            <a:r>
              <a:rPr lang="en-US" sz="2000" b="1" baseline="30000" dirty="0">
                <a:solidFill>
                  <a:srgbClr val="0070C0"/>
                </a:solidFill>
                <a:latin typeface="Bell MT" panose="02020503060305020303" pitchFamily="18" charset="0"/>
              </a:rPr>
              <a:t>st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, 2023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endParaRPr lang="en-US" sz="2000" dirty="0">
              <a:latin typeface="Bell MT" panose="02020503060305020303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ell MT" panose="02020503060305020303" pitchFamily="18" charset="0"/>
              </a:rPr>
              <a:t>Open Enrollment Ends:  </a:t>
            </a:r>
          </a:p>
          <a:p>
            <a:pPr marL="0" indent="0">
              <a:buClr>
                <a:srgbClr val="FFC000"/>
              </a:buClr>
              <a:buNone/>
            </a:pPr>
            <a:r>
              <a:rPr lang="en-US" sz="2000" dirty="0">
                <a:latin typeface="Bell MT" panose="02020503060305020303" pitchFamily="18" charset="0"/>
              </a:rPr>
              <a:t>	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Friday, Nov 10</a:t>
            </a:r>
            <a:r>
              <a:rPr lang="en-US" sz="2000" b="1" baseline="30000" dirty="0">
                <a:solidFill>
                  <a:srgbClr val="0070C0"/>
                </a:solidFill>
                <a:latin typeface="Bell MT" panose="02020503060305020303" pitchFamily="18" charset="0"/>
              </a:rPr>
              <a:t>th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, 2023</a:t>
            </a: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endParaRPr lang="en-US" sz="2000" dirty="0">
              <a:latin typeface="Bell MT" panose="02020503060305020303" pitchFamily="18" charset="0"/>
            </a:endParaRPr>
          </a:p>
          <a:p>
            <a:pPr>
              <a:buClr>
                <a:srgbClr val="FFC000"/>
              </a:buClr>
              <a:buFont typeface="Wingdings" panose="05000000000000000000" pitchFamily="2" charset="2"/>
              <a:buChar char="ü"/>
            </a:pPr>
            <a:r>
              <a:rPr lang="en-US" sz="2000" dirty="0">
                <a:latin typeface="Bell MT" panose="02020503060305020303" pitchFamily="18" charset="0"/>
              </a:rPr>
              <a:t>New Benefits Effective: 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January 1</a:t>
            </a:r>
            <a:r>
              <a:rPr lang="en-US" sz="2000" b="1" baseline="30000" dirty="0">
                <a:solidFill>
                  <a:srgbClr val="0070C0"/>
                </a:solidFill>
                <a:latin typeface="Bell MT" panose="02020503060305020303" pitchFamily="18" charset="0"/>
              </a:rPr>
              <a:t>st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, 2024</a:t>
            </a:r>
          </a:p>
          <a:p>
            <a:endParaRPr lang="en-US" dirty="0">
              <a:latin typeface="Calibri" panose="020F0502020204030204" pitchFamily="34" charset="0"/>
            </a:endParaRP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2580" y="1149378"/>
            <a:ext cx="1282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65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7" r="25227"/>
          <a:stretch>
            <a:fillRect/>
          </a:stretch>
        </p:blipFill>
        <p:spPr>
          <a:xfrm>
            <a:off x="182771" y="5172946"/>
            <a:ext cx="1803162" cy="1593237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06D93-65F2-4552-88CF-83318CBE2CF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22475" y="1774786"/>
            <a:ext cx="6937991" cy="360000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i="1" dirty="0">
                <a:solidFill>
                  <a:srgbClr val="266398"/>
                </a:solidFill>
                <a:latin typeface="Bell MT" panose="02020503060305020303" pitchFamily="18" charset="0"/>
              </a:rPr>
              <a:t>You must complete your enrollment through Employee Navigator.</a:t>
            </a:r>
            <a:endParaRPr lang="en-US" sz="2000" b="1" i="1" dirty="0">
              <a:latin typeface="Bell MT" panose="02020503060305020303" pitchFamily="18" charset="0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9424" y="3574213"/>
            <a:ext cx="4609900" cy="2382087"/>
          </a:xfrm>
        </p:spPr>
        <p:txBody>
          <a:bodyPr anchor="ctr">
            <a:normAutofit lnSpcReduction="10000"/>
          </a:bodyPr>
          <a:lstStyle/>
          <a:p>
            <a:pPr>
              <a:buClr>
                <a:srgbClr val="0070C0"/>
              </a:buClr>
            </a:pPr>
            <a:r>
              <a:rPr lang="en-US" sz="2000" dirty="0">
                <a:latin typeface="Bell MT" panose="02020503060305020303" pitchFamily="18" charset="0"/>
              </a:rPr>
              <a:t>Go to 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www.employeenavigator.com</a:t>
            </a:r>
            <a:r>
              <a:rPr lang="en-US" sz="2000" dirty="0">
                <a:latin typeface="Bell MT" panose="02020503060305020303" pitchFamily="18" charset="0"/>
              </a:rPr>
              <a:t> and Select 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Register </a:t>
            </a:r>
            <a:r>
              <a:rPr lang="en-US" sz="2000" dirty="0">
                <a:solidFill>
                  <a:schemeClr val="tx1"/>
                </a:solidFill>
                <a:latin typeface="Bell MT" panose="02020503060305020303" pitchFamily="18" charset="0"/>
              </a:rPr>
              <a:t>in the upper right-hand corner to access your account</a:t>
            </a:r>
          </a:p>
          <a:p>
            <a:pPr>
              <a:buClr>
                <a:srgbClr val="0070C0"/>
              </a:buClr>
            </a:pPr>
            <a:r>
              <a:rPr lang="en-US" sz="2000" dirty="0">
                <a:latin typeface="Bell MT" panose="02020503060305020303" pitchFamily="18" charset="0"/>
              </a:rPr>
              <a:t>The Company ID is: </a:t>
            </a:r>
            <a:r>
              <a:rPr lang="en-US" sz="2000" b="1" dirty="0" err="1">
                <a:solidFill>
                  <a:srgbClr val="0070C0"/>
                </a:solidFill>
                <a:latin typeface="Bell MT" panose="02020503060305020303" pitchFamily="18" charset="0"/>
              </a:rPr>
              <a:t>PartnersBenefits</a:t>
            </a:r>
            <a:endParaRPr lang="en-US" sz="2000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pPr>
              <a:buClr>
                <a:srgbClr val="0070C0"/>
              </a:buClr>
            </a:pPr>
            <a:r>
              <a:rPr lang="en-US" sz="2000" dirty="0">
                <a:latin typeface="Bell MT" panose="02020503060305020303" pitchFamily="18" charset="0"/>
              </a:rPr>
              <a:t>Enter your legal 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First </a:t>
            </a:r>
            <a:r>
              <a:rPr lang="en-US" sz="2000" dirty="0">
                <a:latin typeface="Bell MT" panose="02020503060305020303" pitchFamily="18" charset="0"/>
              </a:rPr>
              <a:t>and </a:t>
            </a:r>
            <a:r>
              <a:rPr lang="en-US" sz="2000" b="1" dirty="0">
                <a:solidFill>
                  <a:srgbClr val="0070C0"/>
                </a:solidFill>
                <a:latin typeface="Bell MT" panose="02020503060305020303" pitchFamily="18" charset="0"/>
              </a:rPr>
              <a:t>Last Name </a:t>
            </a:r>
            <a:r>
              <a:rPr lang="en-US" sz="2000" dirty="0">
                <a:latin typeface="Bell MT" panose="02020503060305020303" pitchFamily="18" charset="0"/>
              </a:rPr>
              <a:t>as it was provided to HR for payroll purposes.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51DA-5DAD-43A7-A238-51C63BA59FE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799" y="200629"/>
            <a:ext cx="5222002" cy="3148313"/>
          </a:xfrm>
          <a:prstGeom prst="rect">
            <a:avLst/>
          </a:prstGeom>
        </p:spPr>
      </p:pic>
      <p:sp>
        <p:nvSpPr>
          <p:cNvPr id="14" name="Content Placeholder 28">
            <a:extLst>
              <a:ext uri="{FF2B5EF4-FFF2-40B4-BE49-F238E27FC236}">
                <a16:creationId xmlns:a16="http://schemas.microsoft.com/office/drawing/2014/main" id="{07FF37F8-D747-444C-8664-2DF836965C77}"/>
              </a:ext>
            </a:extLst>
          </p:cNvPr>
          <p:cNvSpPr txBox="1">
            <a:spLocks/>
          </p:cNvSpPr>
          <p:nvPr/>
        </p:nvSpPr>
        <p:spPr>
          <a:xfrm>
            <a:off x="318399" y="2356300"/>
            <a:ext cx="6172000" cy="360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10000"/>
              <a:buNone/>
            </a:pPr>
            <a:r>
              <a:rPr lang="en-US" sz="1500" b="1" dirty="0">
                <a:latin typeface="Bell MT" panose="02020503060305020303" pitchFamily="18" charset="0"/>
              </a:rPr>
              <a:t>The enrollment process will be broken down into 4 primary steps:</a:t>
            </a:r>
          </a:p>
          <a:p>
            <a:pPr marL="342900" indent="-342900">
              <a:buClr>
                <a:srgbClr val="0070C0"/>
              </a:buClr>
              <a:buSzPct val="105000"/>
              <a:buFont typeface="+mj-lt"/>
              <a:buAutoNum type="arabicPeriod"/>
            </a:pPr>
            <a:r>
              <a:rPr lang="en-US" sz="1500" b="1" dirty="0">
                <a:latin typeface="Bell MT" panose="02020503060305020303" pitchFamily="18" charset="0"/>
              </a:rPr>
              <a:t>Your Information - </a:t>
            </a:r>
            <a:r>
              <a:rPr lang="en-US" sz="1500" dirty="0">
                <a:latin typeface="Bell MT" panose="02020503060305020303" pitchFamily="18" charset="0"/>
              </a:rPr>
              <a:t>Verify you and your dependent information is accurate and up to date. Please remember to include social security numbers for all dependents</a:t>
            </a:r>
          </a:p>
          <a:p>
            <a:pPr marL="342900" indent="-342900">
              <a:buClr>
                <a:srgbClr val="0070C0"/>
              </a:buClr>
              <a:buSzPct val="105000"/>
              <a:buFont typeface="+mj-lt"/>
              <a:buAutoNum type="arabicPeriod"/>
            </a:pPr>
            <a:r>
              <a:rPr lang="en-US" sz="1500" b="1" dirty="0">
                <a:latin typeface="Bell MT" panose="02020503060305020303" pitchFamily="18" charset="0"/>
              </a:rPr>
              <a:t>Your Benefits - </a:t>
            </a:r>
            <a:r>
              <a:rPr lang="en-US" sz="1500" dirty="0">
                <a:latin typeface="Bell MT" panose="02020503060305020303" pitchFamily="18" charset="0"/>
              </a:rPr>
              <a:t>You must opt to enroll or decline each benefit. These benefits will be checked off as completed.</a:t>
            </a:r>
          </a:p>
          <a:p>
            <a:pPr marL="342900" indent="-342900">
              <a:buClr>
                <a:srgbClr val="0070C0"/>
              </a:buClr>
              <a:buSzPct val="105000"/>
              <a:buFont typeface="+mj-lt"/>
              <a:buAutoNum type="arabicPeriod"/>
            </a:pPr>
            <a:r>
              <a:rPr lang="en-US" sz="1500" b="1" dirty="0">
                <a:latin typeface="Bell MT" panose="02020503060305020303" pitchFamily="18" charset="0"/>
              </a:rPr>
              <a:t>Your Beneficiaries - </a:t>
            </a:r>
            <a:r>
              <a:rPr lang="en-US" sz="1500" dirty="0">
                <a:latin typeface="Bell MT" panose="02020503060305020303" pitchFamily="18" charset="0"/>
              </a:rPr>
              <a:t>You will be asked to assign beneficiaries. Beneficiary designations must equal 100%.</a:t>
            </a:r>
          </a:p>
          <a:p>
            <a:pPr marL="342900" indent="-342900">
              <a:buClr>
                <a:srgbClr val="0070C0"/>
              </a:buClr>
              <a:buSzPct val="105000"/>
              <a:buFont typeface="+mj-lt"/>
              <a:buAutoNum type="arabicPeriod"/>
            </a:pPr>
            <a:r>
              <a:rPr lang="en-US" sz="1500" b="1" dirty="0">
                <a:latin typeface="Bell MT" panose="02020503060305020303" pitchFamily="18" charset="0"/>
              </a:rPr>
              <a:t>Complete -  </a:t>
            </a:r>
            <a:r>
              <a:rPr lang="en-US" sz="1500" dirty="0">
                <a:latin typeface="Bell MT" panose="02020503060305020303" pitchFamily="18" charset="0"/>
              </a:rPr>
              <a:t>After you have made your benefit elections and verified them for accuracy, click "Click to Sign.” You will want to print a copy of the Confirmation Statement for your records.</a:t>
            </a:r>
          </a:p>
          <a:p>
            <a:pPr marL="406400" indent="-406400">
              <a:buClr>
                <a:srgbClr val="0070C0"/>
              </a:buClr>
              <a:buSzPct val="105000"/>
              <a:buNone/>
            </a:pPr>
            <a:r>
              <a:rPr lang="en-US" sz="1500" dirty="0">
                <a:latin typeface="Bell MT" panose="02020503060305020303" pitchFamily="18" charset="0"/>
              </a:rPr>
              <a:t>         You can make changes to your selections prior to the enrollment  deadline by logging back into the system and clicking on “Adjust Coverage”</a:t>
            </a:r>
          </a:p>
        </p:txBody>
      </p:sp>
      <p:pic>
        <p:nvPicPr>
          <p:cNvPr id="3074" name="Picture 2" descr="Welcome">
            <a:extLst>
              <a:ext uri="{FF2B5EF4-FFF2-40B4-BE49-F238E27FC236}">
                <a16:creationId xmlns:a16="http://schemas.microsoft.com/office/drawing/2014/main" id="{9F6699C9-571D-482A-B35F-608DF117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702" y="414108"/>
            <a:ext cx="3990975" cy="1229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85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01EBE6-362D-424B-9F34-DD85DCCBA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331" y="759197"/>
            <a:ext cx="11328000" cy="47456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2060"/>
                </a:solidFill>
                <a:latin typeface="Bell MT" panose="02020503060305020303" pitchFamily="18" charset="0"/>
              </a:rPr>
              <a:t>Life Insurance &amp; AD&amp;D </a:t>
            </a:r>
            <a:endParaRPr lang="en-US" sz="2700" b="1" dirty="0">
              <a:solidFill>
                <a:srgbClr val="0070C0"/>
              </a:solidFill>
              <a:latin typeface="Bell MT" panose="02020503060305020303" pitchFamily="18" charset="0"/>
              <a:cs typeface="MV Boli" panose="0200050003020009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BCA80-A360-4310-B9EE-CC88A0183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60" y="1531044"/>
            <a:ext cx="7320080" cy="108858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Bell MT" panose="02020503060305020303" pitchFamily="18" charset="0"/>
                <a:cs typeface="Calibri" panose="020F0502020204030204" pitchFamily="34" charset="0"/>
              </a:rPr>
              <a:t>Life insurance provides financial protection for your family in the event of your death. Partners offers all employees life and accidental death and dismemberment insurance through Guardian.</a:t>
            </a:r>
          </a:p>
          <a:p>
            <a:pPr marL="0" indent="0">
              <a:buNone/>
            </a:pPr>
            <a:endParaRPr lang="en-US" b="1" dirty="0">
              <a:latin typeface="Bell MT" panose="02020503060305020303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D4CBB-3E31-443C-B96B-83DF3DF2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4BC70-2801-4DD6-A3B9-716181FB8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50" y="721677"/>
            <a:ext cx="3980681" cy="27073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1CE7EB-7481-4BF1-B059-C7B2AEA9BC2C}"/>
              </a:ext>
            </a:extLst>
          </p:cNvPr>
          <p:cNvSpPr txBox="1"/>
          <p:nvPr/>
        </p:nvSpPr>
        <p:spPr>
          <a:xfrm>
            <a:off x="381260" y="2579274"/>
            <a:ext cx="77415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  <a:cs typeface="Calibri" panose="020F0502020204030204" pitchFamily="34" charset="0"/>
              </a:rPr>
              <a:t>Basic Life and AD&amp;D Benefit Amount:</a:t>
            </a:r>
          </a:p>
          <a:p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100% Employer Paid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A cash benefit of $100,000 maximum to your loved ones in the event of your death, plus a matching cash benefit if you die in an accident.  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  <a:cs typeface="Calibri" panose="020F0502020204030204" pitchFamily="34" charset="0"/>
              </a:rPr>
              <a:t>Voluntary Life and AD&amp;D: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You can purchase insurance for yourself in increments of $10,000 to a $500,000 maximum, amounts over $100,000 will require approval (EOI).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You can purchase coverage for your spouse in increments of $5,000 up to $250,000, any amount over $25,000 requires EOI.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You can purchase coverage in increments of $2,000 up to $10,000 for your dependent children between 14 days and 26 years old.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ell MT" panose="02020503060305020303" pitchFamily="18" charset="0"/>
              </a:rPr>
              <a:t>All coverages are subject GI and Benefit reductions at the age of 65 or older. </a:t>
            </a:r>
          </a:p>
        </p:txBody>
      </p:sp>
      <p:pic>
        <p:nvPicPr>
          <p:cNvPr id="2" name="Picture 6" descr="For Dental Providers – Guardian Exchange">
            <a:extLst>
              <a:ext uri="{FF2B5EF4-FFF2-40B4-BE49-F238E27FC236}">
                <a16:creationId xmlns:a16="http://schemas.microsoft.com/office/drawing/2014/main" id="{87D44808-7C25-AE08-AF90-403F4D655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240" y="5332884"/>
            <a:ext cx="2857500" cy="52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new sign clipart 20 free Cliparts | Download images on Clipground 2023">
            <a:extLst>
              <a:ext uri="{FF2B5EF4-FFF2-40B4-BE49-F238E27FC236}">
                <a16:creationId xmlns:a16="http://schemas.microsoft.com/office/drawing/2014/main" id="{6CE2F4BD-0F70-6464-487A-74C7CC627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561" y="3889147"/>
            <a:ext cx="1569771" cy="983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29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2D70-7238-4A27-9CE7-58711F81D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503" y="50269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  <a:t>Health Care FSA – HCFSA</a:t>
            </a:r>
            <a:b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</a:br>
            <a:r>
              <a:rPr lang="en-US" sz="2200" dirty="0">
                <a:solidFill>
                  <a:srgbClr val="002060"/>
                </a:solidFill>
                <a:latin typeface="Bell MT" panose="02020503060305020303" pitchFamily="18" charset="0"/>
              </a:rPr>
              <a:t>Short Plan Year – 1/1/2024 – 7/31/2024</a:t>
            </a:r>
            <a:b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</a:br>
            <a: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5AB1-6D16-456E-BF68-FBE13082D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222" y="1488613"/>
            <a:ext cx="7222807" cy="4759787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59595B"/>
                </a:solidFill>
                <a:effectLst/>
                <a:latin typeface="Bell MT" panose="02020503060305020303" pitchFamily="18" charset="0"/>
              </a:rPr>
              <a:t>The Healthcare Flexible Spending Account (HFSA) provides significant savings to Employees. You can set aside funds on a pretax basis to spend on qualifying healthcare expenses throughout the plan year. </a:t>
            </a:r>
          </a:p>
          <a:p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You don’t pay taxes on this money. This means you’ll save an amount equal to the taxes you would have paid on the money you set aside.</a:t>
            </a:r>
            <a:endParaRPr lang="en-US" dirty="0">
              <a:solidFill>
                <a:srgbClr val="59595B"/>
              </a:solidFill>
              <a:latin typeface="Bell MT" panose="02020503060305020303" pitchFamily="18" charset="0"/>
            </a:endParaRPr>
          </a:p>
          <a:p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The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maximum amount</a:t>
            </a:r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 you can contribute for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2024</a:t>
            </a:r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 is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$</a:t>
            </a:r>
            <a:r>
              <a:rPr lang="en-US" b="1" dirty="0">
                <a:solidFill>
                  <a:srgbClr val="262626"/>
                </a:solidFill>
                <a:latin typeface="Bell MT" panose="02020503060305020303" pitchFamily="18" charset="0"/>
              </a:rPr>
              <a:t>1,866</a:t>
            </a:r>
            <a:endParaRPr lang="en-US" b="1" i="0" dirty="0">
              <a:solidFill>
                <a:srgbClr val="262626"/>
              </a:solidFill>
              <a:effectLst/>
              <a:latin typeface="Bell MT" panose="02020503060305020303" pitchFamily="18" charset="0"/>
            </a:endParaRPr>
          </a:p>
          <a:p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This is a use it or lose it benefit, you can only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carry over $610 </a:t>
            </a:r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into your FSA for next year, </a:t>
            </a:r>
            <a:r>
              <a:rPr lang="en-US" dirty="0">
                <a:solidFill>
                  <a:srgbClr val="262626"/>
                </a:solidFill>
                <a:latin typeface="Bell MT" panose="02020503060305020303" pitchFamily="18" charset="0"/>
              </a:rPr>
              <a:t>any remaining money you will lose, so we encourage you to only contribute the amount that you think you will use in medical expenses in a year.  </a:t>
            </a:r>
            <a:endParaRPr lang="en-US" b="0" i="0" dirty="0">
              <a:solidFill>
                <a:srgbClr val="262626"/>
              </a:solidFill>
              <a:effectLst/>
              <a:latin typeface="Bell MT" panose="02020503060305020303" pitchFamily="18" charset="0"/>
            </a:endParaRPr>
          </a:p>
          <a:p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You can use funds in your FSA to pay for, copays, deductibles, coinsurance, prescriptions and certain medical and dental expenses                                  for you, and the dependents under your plan. For a full list please see FSA eligible expenses. 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A13C3-EC0F-4D41-8A16-EE936CAD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22A5C-B663-4400-B8B7-13082AF1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41" y="452179"/>
            <a:ext cx="2881946" cy="1100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4E0C22-ADC4-480C-9B00-A0B0BF37A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029" y="3026231"/>
            <a:ext cx="4003006" cy="266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6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B2D70-7238-4A27-9CE7-58711F81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  <a:t>Dependent Care FSA – DCFSA</a:t>
            </a:r>
            <a:br>
              <a:rPr lang="en-US" dirty="0">
                <a:solidFill>
                  <a:srgbClr val="002060"/>
                </a:solidFill>
                <a:latin typeface="Bell MT" panose="02020503060305020303" pitchFamily="18" charset="0"/>
              </a:rPr>
            </a:br>
            <a:r>
              <a:rPr lang="en-US" sz="2200" dirty="0">
                <a:solidFill>
                  <a:srgbClr val="002060"/>
                </a:solidFill>
                <a:latin typeface="Bell MT" panose="02020503060305020303" pitchFamily="18" charset="0"/>
              </a:rPr>
              <a:t>Short Plan Year – 1/1/2024 – 7/31/2024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5AB1-6D16-456E-BF68-FBE13082D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60" y="1803634"/>
            <a:ext cx="7222807" cy="4901614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A Dependent Care FSA (DCFSA) is a pre-tax benefit account used to pay for</a:t>
            </a:r>
            <a:r>
              <a:rPr lang="en-US" b="0" i="0" dirty="0">
                <a:solidFill>
                  <a:schemeClr val="tx1"/>
                </a:solidFill>
                <a:effectLst/>
                <a:latin typeface="Bell MT" panose="02020503060305020303" pitchFamily="18" charset="0"/>
              </a:rPr>
              <a:t> eligible dependent care services</a:t>
            </a: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, such as preschool, summer day camp, before or after school programs, and child or adult daycare. It's a smart, simple way to save money while taking care of your loved ones so that you can continue to work.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 Save an average of 30 percent on dependent care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Reduce your overall tax burden - funds are withdrawn from your paycheck for deposit into your account before taxes are deducted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Take advantage of several convenient, no-hassle payment and reimbursement options</a:t>
            </a:r>
          </a:p>
          <a:p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The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maximum amount</a:t>
            </a:r>
            <a:r>
              <a:rPr lang="en-US" b="0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 you can contribute is </a:t>
            </a:r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$</a:t>
            </a:r>
            <a:r>
              <a:rPr lang="en-US" b="1" dirty="0">
                <a:solidFill>
                  <a:srgbClr val="262626"/>
                </a:solidFill>
                <a:latin typeface="Bell MT" panose="02020503060305020303" pitchFamily="18" charset="0"/>
              </a:rPr>
              <a:t>2,916 with no carryover amount. You will lose the funds remaining in your account at the end of the year</a:t>
            </a:r>
          </a:p>
          <a:p>
            <a:r>
              <a:rPr lang="en-US" b="1" i="0" dirty="0">
                <a:solidFill>
                  <a:srgbClr val="262626"/>
                </a:solidFill>
                <a:effectLst/>
                <a:latin typeface="Bell MT" panose="02020503060305020303" pitchFamily="18" charset="0"/>
              </a:rPr>
              <a:t>Eligible Expenses: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Care for your child who is under age 13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Before and after school care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Babysitting and nanny expenses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Daycare, nursery school, and preschool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Summer day camp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Bell MT" panose="02020503060305020303" pitchFamily="18" charset="0"/>
              </a:rPr>
              <a:t>Care for your spouse or a relative who is physically or mentally incapable of self-care and lives in your home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A13C3-EC0F-4D41-8A16-EE936CAD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22A5C-B663-4400-B8B7-13082AF1B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708" y="268572"/>
            <a:ext cx="2881946" cy="1100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309FC1-2BFD-49C4-BCAF-F1A7199D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15" y="2480884"/>
            <a:ext cx="36671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19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775948" y="761800"/>
            <a:ext cx="11328000" cy="432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Bell MT" panose="02020503060305020303" pitchFamily="18" charset="0"/>
              </a:rPr>
              <a:t>Employee Resources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68682"/>
              </p:ext>
            </p:extLst>
          </p:nvPr>
        </p:nvGraphicFramePr>
        <p:xfrm>
          <a:off x="775948" y="3695819"/>
          <a:ext cx="9974510" cy="28397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254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Resources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Group 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Web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Phone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baseline="0" dirty="0">
                          <a:latin typeface="Bell MT" panose="02020503060305020303" pitchFamily="18" charset="0"/>
                        </a:rPr>
                        <a:t> DCHL </a:t>
                      </a:r>
                    </a:p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</a:rPr>
                        <a:t>CareFirst </a:t>
                      </a:r>
                    </a:p>
                    <a:p>
                      <a:pPr algn="ctr"/>
                      <a:r>
                        <a:rPr lang="en-US" b="0" baseline="0" dirty="0">
                          <a:latin typeface="Bell MT" panose="02020503060305020303" pitchFamily="18" charset="0"/>
                        </a:rPr>
                        <a:t>Kaiser </a:t>
                      </a:r>
                    </a:p>
                    <a:p>
                      <a:pPr algn="ctr"/>
                      <a:r>
                        <a:rPr lang="en-US" b="0" baseline="0" dirty="0">
                          <a:latin typeface="Bell MT" panose="02020503060305020303" pitchFamily="18" charset="0"/>
                        </a:rPr>
                        <a:t>UHC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1051690</a:t>
                      </a:r>
                    </a:p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206J</a:t>
                      </a:r>
                    </a:p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50300</a:t>
                      </a:r>
                    </a:p>
                    <a:p>
                      <a:pPr algn="ctr"/>
                      <a:r>
                        <a:rPr lang="en-US" dirty="0">
                          <a:latin typeface="Bell MT" panose="02020503060305020303" pitchFamily="18" charset="0"/>
                        </a:rPr>
                        <a:t>04w7618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www.dchealthlink.com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www.carefirst.com 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www.kp.org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www.uhc.com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baseline="0" dirty="0">
                          <a:latin typeface="Bell MT" panose="02020503060305020303" pitchFamily="18" charset="0"/>
                          <a:cs typeface="Calibri" panose="020F0502020204030204" pitchFamily="34" charset="0"/>
                        </a:rPr>
                        <a:t>855-532-5465</a:t>
                      </a:r>
                    </a:p>
                    <a:p>
                      <a:pPr algn="ctr"/>
                      <a:r>
                        <a:rPr lang="en-US" b="0" baseline="0" dirty="0">
                          <a:latin typeface="Bell MT" panose="02020503060305020303" pitchFamily="18" charset="0"/>
                          <a:cs typeface="Calibri" panose="020F0502020204030204" pitchFamily="34" charset="0"/>
                        </a:rPr>
                        <a:t>888-567-9455</a:t>
                      </a:r>
                    </a:p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  <a:cs typeface="Calibri" panose="020F0502020204030204" pitchFamily="34" charset="0"/>
                        </a:rPr>
                        <a:t>866-973-4588</a:t>
                      </a:r>
                    </a:p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  <a:cs typeface="Calibri" panose="020F0502020204030204" pitchFamily="34" charset="0"/>
                        </a:rPr>
                        <a:t>877-844-4999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Bell MT" panose="02020503060305020303" pitchFamily="18" charset="0"/>
                        </a:rPr>
                        <a:t>Guardian</a:t>
                      </a:r>
                    </a:p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</a:rPr>
                        <a:t>Dental/Vision/Life/STD/LTD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</a:rPr>
                        <a:t>53280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www.guardian.com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Calibri" panose="020F0502020204030204" pitchFamily="34" charset="0"/>
                        </a:rPr>
                        <a:t>888-567-9455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Bell MT" panose="02020503060305020303" pitchFamily="18" charset="0"/>
                        </a:rPr>
                        <a:t>TASC</a:t>
                      </a:r>
                    </a:p>
                    <a:p>
                      <a:pPr algn="ctr"/>
                      <a:r>
                        <a:rPr lang="en-US" b="0" dirty="0">
                          <a:latin typeface="Bell MT" panose="02020503060305020303" pitchFamily="18" charset="0"/>
                        </a:rPr>
                        <a:t>HCFSA/ DCFSA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+mn-cs"/>
                        </a:rPr>
                        <a:t>4106-5834-9615</a:t>
                      </a:r>
                      <a:endParaRPr lang="en-US" b="0" dirty="0">
                        <a:latin typeface="Bell MT" panose="020205030603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  <a:latin typeface="Bell MT" panose="02020503060305020303" pitchFamily="18" charset="0"/>
                        </a:rPr>
                        <a:t>www.tasconline.com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Calibri" panose="020F0502020204030204" pitchFamily="34" charset="0"/>
                        </a:rPr>
                        <a:t>800-422-4661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390386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615891" y="1501754"/>
            <a:ext cx="90223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The Partners has partnered with AP Benefit Advisors as our benefits administrator for expert assistance with benefit related questions, plan procedures, life events and claim issues. </a:t>
            </a:r>
          </a:p>
          <a:p>
            <a:endParaRPr lang="en-US" dirty="0">
              <a:latin typeface="Bell MT" panose="02020503060305020303" pitchFamily="18" charset="0"/>
            </a:endParaRPr>
          </a:p>
          <a:p>
            <a:r>
              <a:rPr lang="en-US" dirty="0">
                <a:latin typeface="Bell MT" panose="02020503060305020303" pitchFamily="18" charset="0"/>
              </a:rPr>
              <a:t>If you require assistance, contact your dedicated</a:t>
            </a:r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</a:rPr>
              <a:t> </a:t>
            </a:r>
            <a:r>
              <a:rPr lang="en-US" dirty="0">
                <a:latin typeface="Bell MT" panose="02020503060305020303" pitchFamily="18" charset="0"/>
              </a:rPr>
              <a:t>Account Manager:</a:t>
            </a:r>
          </a:p>
          <a:p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</a:rPr>
              <a:t>Natalia Bravo</a:t>
            </a:r>
            <a:r>
              <a:rPr lang="en-US" dirty="0">
                <a:latin typeface="Bell MT" panose="02020503060305020303" pitchFamily="18" charset="0"/>
              </a:rPr>
              <a:t>.</a:t>
            </a:r>
          </a:p>
          <a:p>
            <a:r>
              <a:rPr lang="en-US" dirty="0">
                <a:latin typeface="Bell MT" panose="02020503060305020303" pitchFamily="18" charset="0"/>
                <a:sym typeface="Wingdings"/>
              </a:rPr>
              <a:t>Phone: </a:t>
            </a:r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  <a:sym typeface="Wingdings"/>
              </a:rPr>
              <a:t>240-618-3942</a:t>
            </a:r>
          </a:p>
          <a:p>
            <a:r>
              <a:rPr lang="en-US" dirty="0">
                <a:latin typeface="Bell MT" panose="02020503060305020303" pitchFamily="18" charset="0"/>
                <a:sym typeface="Wingdings"/>
              </a:rPr>
              <a:t>Email: </a:t>
            </a:r>
            <a:r>
              <a:rPr lang="en-US" b="1" dirty="0">
                <a:solidFill>
                  <a:srgbClr val="0070C0"/>
                </a:solidFill>
                <a:latin typeface="Bell MT" panose="02020503060305020303" pitchFamily="18" charset="0"/>
                <a:sym typeface="Wingdings"/>
              </a:rPr>
              <a:t>Natalia.Bravo@assuredpartners.com</a:t>
            </a:r>
            <a:endParaRPr lang="en-US" b="1" dirty="0">
              <a:solidFill>
                <a:srgbClr val="0070C0"/>
              </a:solidFill>
              <a:latin typeface="Bell MT" panose="02020503060305020303" pitchFamily="18" charset="0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6362E4-4B79-465F-93C8-F995EBB97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490" y="322461"/>
            <a:ext cx="3467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22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95449" y="695898"/>
            <a:ext cx="8596668" cy="1826581"/>
          </a:xfrm>
        </p:spPr>
        <p:txBody>
          <a:bodyPr anchor="ctr"/>
          <a:lstStyle/>
          <a:p>
            <a:pPr algn="ctr"/>
            <a:r>
              <a:rPr lang="en-US" sz="6600" dirty="0"/>
              <a:t>Questions?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B55ADD-04DF-4442-B04A-C04E7932A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162" y="2412067"/>
            <a:ext cx="5779509" cy="384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5430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2466082-b6bf-4153-98c3-3c41e85fda18" xsi:nil="true"/>
    <lcf76f155ced4ddcb4097134ff3c332f xmlns="f2466082-b6bf-4153-98c3-3c41e85fda18">
      <Terms xmlns="http://schemas.microsoft.com/office/infopath/2007/PartnerControls"/>
    </lcf76f155ced4ddcb4097134ff3c332f>
    <TaxCatchAll xmlns="dc808d36-874f-4b27-aec2-2fd64981792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8" ma:contentTypeDescription="Create a new document." ma:contentTypeScope="" ma:versionID="efd9b4af885478ed0a3e84c6362c6fb3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b6abc503e38a49174dd9e5072c65339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1e634b9-0c0d-402e-b683-49cec20119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796171e-60a5-48ad-9b94-11b7e9399efd}" ma:internalName="TaxCatchAll" ma:showField="CatchAllData" ma:web="dc808d36-874f-4b27-aec2-2fd6498179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61FE8A-8F15-409F-AF62-619C69C0D537}">
  <ds:schemaRefs>
    <ds:schemaRef ds:uri="http://schemas.microsoft.com/office/2006/metadata/properties"/>
    <ds:schemaRef ds:uri="http://schemas.microsoft.com/office/2006/documentManagement/types"/>
    <ds:schemaRef ds:uri="71af3243-3dd4-4a8d-8c0d-dd76da1f02a5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16c05727-aa75-4e4a-9b5f-8a80a1165891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A930687-51F2-44C8-9CE6-D1B3D6E175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BF940-FCD3-4908-A3AA-3B9FD64F212A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1074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Bell MT</vt:lpstr>
      <vt:lpstr>Bodoni MT</vt:lpstr>
      <vt:lpstr>Calibri</vt:lpstr>
      <vt:lpstr>Times New Roman</vt:lpstr>
      <vt:lpstr>Trebuchet MS</vt:lpstr>
      <vt:lpstr>Wingdings</vt:lpstr>
      <vt:lpstr>Wingdings 3</vt:lpstr>
      <vt:lpstr>Facet</vt:lpstr>
      <vt:lpstr>Welcome to Your Mid Year Open Enrollment!</vt:lpstr>
      <vt:lpstr>It is that time of the year again.. </vt:lpstr>
      <vt:lpstr>Your Open Enrollment To Do’s</vt:lpstr>
      <vt:lpstr>PowerPoint Presentation</vt:lpstr>
      <vt:lpstr>Life Insurance &amp; AD&amp;D </vt:lpstr>
      <vt:lpstr>Health Care FSA – HCFSA Short Plan Year – 1/1/2024 – 7/31/2024  </vt:lpstr>
      <vt:lpstr>Dependent Care FSA – DCFSA Short Plan Year – 1/1/2024 – 7/31/2024 </vt:lpstr>
      <vt:lpstr>Employee Resources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 Open Enrollment</dc:title>
  <dc:creator/>
  <cp:lastModifiedBy/>
  <cp:revision>2</cp:revision>
  <dcterms:created xsi:type="dcterms:W3CDTF">2019-05-09T19:26:30Z</dcterms:created>
  <dcterms:modified xsi:type="dcterms:W3CDTF">2023-11-01T13:34:14Z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</Properties>
</file>