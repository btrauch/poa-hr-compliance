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9" r:id="rId4"/>
  </p:sldMasterIdLst>
  <p:notesMasterIdLst>
    <p:notesMasterId r:id="rId18"/>
  </p:notesMasterIdLst>
  <p:handoutMasterIdLst>
    <p:handoutMasterId r:id="rId19"/>
  </p:handoutMasterIdLst>
  <p:sldIdLst>
    <p:sldId id="440" r:id="rId5"/>
    <p:sldId id="277" r:id="rId6"/>
    <p:sldId id="439" r:id="rId7"/>
    <p:sldId id="876" r:id="rId8"/>
    <p:sldId id="877" r:id="rId9"/>
    <p:sldId id="881" r:id="rId10"/>
    <p:sldId id="878" r:id="rId11"/>
    <p:sldId id="882" r:id="rId12"/>
    <p:sldId id="507" r:id="rId13"/>
    <p:sldId id="879" r:id="rId14"/>
    <p:sldId id="883" r:id="rId15"/>
    <p:sldId id="880" r:id="rId16"/>
    <p:sldId id="260" r:id="rId1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2857"/>
    <a:srgbClr val="E47722"/>
    <a:srgbClr val="2A7050"/>
    <a:srgbClr val="377A5C"/>
    <a:srgbClr val="FFFFFF"/>
    <a:srgbClr val="0A1F62"/>
    <a:srgbClr val="0320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3C6F4-9CCF-4B73-B068-3FD98E6AF494}" v="3" dt="2023-06-08T13:30:52.5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cPhail" userId="d9640ad9-0be2-4377-a498-4127ac76f093" providerId="ADAL" clId="{2763C6F4-9CCF-4B73-B068-3FD98E6AF494}"/>
    <pc:docChg chg="modSld">
      <pc:chgData name="John McPhail" userId="d9640ad9-0be2-4377-a498-4127ac76f093" providerId="ADAL" clId="{2763C6F4-9CCF-4B73-B068-3FD98E6AF494}" dt="2023-06-08T13:30:52.519" v="2" actId="20577"/>
      <pc:docMkLst>
        <pc:docMk/>
      </pc:docMkLst>
      <pc:sldChg chg="modSp mod">
        <pc:chgData name="John McPhail" userId="d9640ad9-0be2-4377-a498-4127ac76f093" providerId="ADAL" clId="{2763C6F4-9CCF-4B73-B068-3FD98E6AF494}" dt="2023-06-08T13:30:52.519" v="2" actId="20577"/>
        <pc:sldMkLst>
          <pc:docMk/>
          <pc:sldMk cId="2039517528" sldId="878"/>
        </pc:sldMkLst>
        <pc:spChg chg="mod">
          <ac:chgData name="John McPhail" userId="d9640ad9-0be2-4377-a498-4127ac76f093" providerId="ADAL" clId="{2763C6F4-9CCF-4B73-B068-3FD98E6AF494}" dt="2023-06-08T13:30:52.519" v="2" actId="20577"/>
          <ac:spMkLst>
            <pc:docMk/>
            <pc:sldMk cId="2039517528" sldId="878"/>
            <ac:spMk id="2" creationId="{AADE3AAE-428D-7A32-B6A4-ADC9C8FA81F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62F172C-E8B9-450C-95BD-606F2A3F98F9}"/>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a:extLst>
              <a:ext uri="{FF2B5EF4-FFF2-40B4-BE49-F238E27FC236}">
                <a16:creationId xmlns:a16="http://schemas.microsoft.com/office/drawing/2014/main" id="{EF28B806-5C52-447E-B393-08E479845B86}"/>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C10BE23A-8167-4A2E-B6AD-F91B6588A45B}" type="datetimeFigureOut">
              <a:rPr lang="en-US" smtClean="0"/>
              <a:t>6/8/2023</a:t>
            </a:fld>
            <a:endParaRPr lang="en-US"/>
          </a:p>
        </p:txBody>
      </p:sp>
      <p:sp>
        <p:nvSpPr>
          <p:cNvPr id="4" name="Footer Placeholder 3">
            <a:extLst>
              <a:ext uri="{FF2B5EF4-FFF2-40B4-BE49-F238E27FC236}">
                <a16:creationId xmlns:a16="http://schemas.microsoft.com/office/drawing/2014/main" id="{50251E14-87DC-403E-8886-3D6A2DECF2FC}"/>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182E66C-B85C-4E18-9FAE-392E62F71A0C}"/>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D9FEED19-9991-4935-9967-CFF742C49D8C}" type="slidenum">
              <a:rPr lang="en-US" smtClean="0"/>
              <a:t>‹#›</a:t>
            </a:fld>
            <a:endParaRPr lang="en-US"/>
          </a:p>
        </p:txBody>
      </p:sp>
    </p:spTree>
    <p:extLst>
      <p:ext uri="{BB962C8B-B14F-4D97-AF65-F5344CB8AC3E}">
        <p14:creationId xmlns:p14="http://schemas.microsoft.com/office/powerpoint/2010/main" val="1776538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A4A948AF-BF31-4038-8715-F746C23277BF}" type="datetimeFigureOut">
              <a:rPr lang="en-US" smtClean="0"/>
              <a:t>6/8/2023</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425F0AF-4CE0-457C-A639-7E774BFC644F}" type="slidenum">
              <a:rPr lang="en-US" smtClean="0"/>
              <a:t>‹#›</a:t>
            </a:fld>
            <a:endParaRPr lang="en-US"/>
          </a:p>
        </p:txBody>
      </p:sp>
    </p:spTree>
    <p:extLst>
      <p:ext uri="{BB962C8B-B14F-4D97-AF65-F5344CB8AC3E}">
        <p14:creationId xmlns:p14="http://schemas.microsoft.com/office/powerpoint/2010/main" val="406277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You know AssuredPartners as an insurance broker, but because insurance brokers and retirement practices must be separated – AssuredPartners clears through Pensionmark</a:t>
            </a:r>
          </a:p>
          <a:p>
            <a:pPr marL="171450" indent="-171450">
              <a:buFont typeface="Arial" panose="020B0604020202020204" pitchFamily="34" charset="0"/>
              <a:buChar char="•"/>
            </a:pPr>
            <a:r>
              <a:rPr lang="en-US"/>
              <a:t>Pensionmark focuses on Corporate Retirement Planning, that means we’ve built out our tools to focus on employers and employees – which is different than individual planning – where most advisors focus</a:t>
            </a:r>
          </a:p>
          <a:p>
            <a:pPr marL="171450" indent="-171450">
              <a:buFont typeface="Arial" panose="020B0604020202020204" pitchFamily="34" charset="0"/>
              <a:buChar char="•"/>
            </a:pPr>
            <a:r>
              <a:rPr lang="en-US"/>
              <a:t>This meeting is about YOU though</a:t>
            </a:r>
          </a:p>
          <a:p>
            <a:endParaRPr lang="en-US"/>
          </a:p>
        </p:txBody>
      </p:sp>
      <p:sp>
        <p:nvSpPr>
          <p:cNvPr id="4" name="Slide Number Placeholder 3"/>
          <p:cNvSpPr>
            <a:spLocks noGrp="1"/>
          </p:cNvSpPr>
          <p:nvPr>
            <p:ph type="sldNum" sz="quarter" idx="5"/>
          </p:nvPr>
        </p:nvSpPr>
        <p:spPr/>
        <p:txBody>
          <a:bodyPr/>
          <a:lstStyle/>
          <a:p>
            <a:fld id="{E3101ED4-38A2-49F6-B74D-BA6371400AE9}" type="slidenum">
              <a:rPr lang="en-US" smtClean="0"/>
              <a:t>4</a:t>
            </a:fld>
            <a:endParaRPr lang="en-US"/>
          </a:p>
        </p:txBody>
      </p:sp>
    </p:spTree>
    <p:extLst>
      <p:ext uri="{BB962C8B-B14F-4D97-AF65-F5344CB8AC3E}">
        <p14:creationId xmlns:p14="http://schemas.microsoft.com/office/powerpoint/2010/main" val="35399121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r (L) - 1 Text Box">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6"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2" name="Picture 11">
            <a:extLst>
              <a:ext uri="{FF2B5EF4-FFF2-40B4-BE49-F238E27FC236}">
                <a16:creationId xmlns:a16="http://schemas.microsoft.com/office/drawing/2014/main" id="{22FDAD61-9415-4CBB-8A96-C666299F2AB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472400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r (L) - 1 Text Box / Objec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6051699"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200" y="1262359"/>
            <a:ext cx="6051698"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1" name="Content Placeholder 3">
            <a:extLst>
              <a:ext uri="{FF2B5EF4-FFF2-40B4-BE49-F238E27FC236}">
                <a16:creationId xmlns:a16="http://schemas.microsoft.com/office/drawing/2014/main" id="{BCD612D2-AEDC-4956-A6D9-C94BFCB971EC}"/>
              </a:ext>
            </a:extLst>
          </p:cNvPr>
          <p:cNvSpPr>
            <a:spLocks noGrp="1"/>
          </p:cNvSpPr>
          <p:nvPr>
            <p:ph sz="quarter" idx="16"/>
          </p:nvPr>
        </p:nvSpPr>
        <p:spPr>
          <a:xfrm>
            <a:off x="7171870" y="1262360"/>
            <a:ext cx="5020130" cy="4599556"/>
          </a:xfrm>
        </p:spPr>
        <p:txBody>
          <a:bodyPr/>
          <a:lstStyle>
            <a:lvl1pPr marL="0" indent="0">
              <a:buNone/>
              <a:defRPr/>
            </a:lvl1pPr>
          </a:lstStyle>
          <a:p>
            <a:pPr lvl="0"/>
            <a:endParaRPr lang="en-US"/>
          </a:p>
        </p:txBody>
      </p:sp>
      <p:pic>
        <p:nvPicPr>
          <p:cNvPr id="13" name="Picture 12">
            <a:extLst>
              <a:ext uri="{FF2B5EF4-FFF2-40B4-BE49-F238E27FC236}">
                <a16:creationId xmlns:a16="http://schemas.microsoft.com/office/drawing/2014/main" id="{7A49920F-F020-4F5C-BC1B-572510BC01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416422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r (L) - 2 Text Box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1" name="Text Placeholder 2">
            <a:extLst>
              <a:ext uri="{FF2B5EF4-FFF2-40B4-BE49-F238E27FC236}">
                <a16:creationId xmlns:a16="http://schemas.microsoft.com/office/drawing/2014/main" id="{3C7A73E1-F24F-45F0-B687-032B0E0C89A9}"/>
              </a:ext>
            </a:extLst>
          </p:cNvPr>
          <p:cNvSpPr>
            <a:spLocks noGrp="1"/>
          </p:cNvSpPr>
          <p:nvPr>
            <p:ph type="body" idx="16"/>
          </p:nvPr>
        </p:nvSpPr>
        <p:spPr>
          <a:xfrm>
            <a:off x="838198" y="4270752"/>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CE9840FD-397F-4F93-B1D6-CBAFE145EF5B}"/>
              </a:ext>
            </a:extLst>
          </p:cNvPr>
          <p:cNvSpPr>
            <a:spLocks noGrp="1"/>
          </p:cNvSpPr>
          <p:nvPr>
            <p:ph type="body" idx="17" hasCustomPrompt="1"/>
          </p:nvPr>
        </p:nvSpPr>
        <p:spPr>
          <a:xfrm>
            <a:off x="838197" y="3809354"/>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pic>
        <p:nvPicPr>
          <p:cNvPr id="14" name="Picture 13">
            <a:extLst>
              <a:ext uri="{FF2B5EF4-FFF2-40B4-BE49-F238E27FC236}">
                <a16:creationId xmlns:a16="http://schemas.microsoft.com/office/drawing/2014/main" id="{3E151D72-A6FC-48B9-B07B-542FDA7FB5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2571451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r (L) - 2 Text Box / Objec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200" y="1262359"/>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1" name="Text Placeholder 2">
            <a:extLst>
              <a:ext uri="{FF2B5EF4-FFF2-40B4-BE49-F238E27FC236}">
                <a16:creationId xmlns:a16="http://schemas.microsoft.com/office/drawing/2014/main" id="{3C7A73E1-F24F-45F0-B687-032B0E0C89A9}"/>
              </a:ext>
            </a:extLst>
          </p:cNvPr>
          <p:cNvSpPr>
            <a:spLocks noGrp="1"/>
          </p:cNvSpPr>
          <p:nvPr>
            <p:ph type="body" idx="16"/>
          </p:nvPr>
        </p:nvSpPr>
        <p:spPr>
          <a:xfrm>
            <a:off x="838198" y="4270752"/>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CE9840FD-397F-4F93-B1D6-CBAFE145EF5B}"/>
              </a:ext>
            </a:extLst>
          </p:cNvPr>
          <p:cNvSpPr>
            <a:spLocks noGrp="1"/>
          </p:cNvSpPr>
          <p:nvPr>
            <p:ph type="body" idx="17" hasCustomPrompt="1"/>
          </p:nvPr>
        </p:nvSpPr>
        <p:spPr>
          <a:xfrm>
            <a:off x="838198" y="3809354"/>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3" name="Content Placeholder 3">
            <a:extLst>
              <a:ext uri="{FF2B5EF4-FFF2-40B4-BE49-F238E27FC236}">
                <a16:creationId xmlns:a16="http://schemas.microsoft.com/office/drawing/2014/main" id="{D1AAD977-00C3-426E-A3AA-9DF9DF5D9FDE}"/>
              </a:ext>
            </a:extLst>
          </p:cNvPr>
          <p:cNvSpPr>
            <a:spLocks noGrp="1"/>
          </p:cNvSpPr>
          <p:nvPr>
            <p:ph sz="quarter" idx="18"/>
          </p:nvPr>
        </p:nvSpPr>
        <p:spPr>
          <a:xfrm>
            <a:off x="7171870" y="1262359"/>
            <a:ext cx="5020130" cy="4684091"/>
          </a:xfrm>
        </p:spPr>
        <p:txBody>
          <a:bodyPr/>
          <a:lstStyle>
            <a:lvl1pPr marL="0" indent="0">
              <a:buNone/>
              <a:defRPr/>
            </a:lvl1pPr>
          </a:lstStyle>
          <a:p>
            <a:pPr lvl="0"/>
            <a:endParaRPr lang="en-US"/>
          </a:p>
        </p:txBody>
      </p:sp>
      <p:pic>
        <p:nvPicPr>
          <p:cNvPr id="15" name="Picture 14">
            <a:extLst>
              <a:ext uri="{FF2B5EF4-FFF2-40B4-BE49-F238E27FC236}">
                <a16:creationId xmlns:a16="http://schemas.microsoft.com/office/drawing/2014/main" id="{867E279A-5497-46D2-A4DB-0EFFBB33AB9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2130343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r (L) - 1 Text Box / Object (Bottom)">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3" name="Content Placeholder 3">
            <a:extLst>
              <a:ext uri="{FF2B5EF4-FFF2-40B4-BE49-F238E27FC236}">
                <a16:creationId xmlns:a16="http://schemas.microsoft.com/office/drawing/2014/main" id="{A0CF675F-0BE4-4244-ACEA-6357F2399F9E}"/>
              </a:ext>
            </a:extLst>
          </p:cNvPr>
          <p:cNvSpPr>
            <a:spLocks noGrp="1"/>
          </p:cNvSpPr>
          <p:nvPr>
            <p:ph sz="quarter" idx="18"/>
          </p:nvPr>
        </p:nvSpPr>
        <p:spPr>
          <a:xfrm>
            <a:off x="838199" y="3809354"/>
            <a:ext cx="10957397" cy="2137096"/>
          </a:xfrm>
        </p:spPr>
        <p:txBody>
          <a:bodyPr/>
          <a:lstStyle>
            <a:lvl1pPr marL="0" indent="0">
              <a:buNone/>
              <a:defRPr/>
            </a:lvl1pPr>
          </a:lstStyle>
          <a:p>
            <a:pPr lvl="0"/>
            <a:endParaRPr lang="en-US"/>
          </a:p>
        </p:txBody>
      </p:sp>
      <p:pic>
        <p:nvPicPr>
          <p:cNvPr id="14" name="Picture 13">
            <a:extLst>
              <a:ext uri="{FF2B5EF4-FFF2-40B4-BE49-F238E27FC236}">
                <a16:creationId xmlns:a16="http://schemas.microsoft.com/office/drawing/2014/main" id="{145F960A-C8DB-4F39-9348-E53A328E9C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96004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 - 1 Text Box">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329AB463-7ABD-4A71-92CD-75D69A76D00F}"/>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D8206587-BD8A-4BB5-9ED5-B27DFC782F5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8BF1CC78-F2BD-4E37-A548-E8FDC43C5197}"/>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4" name="Text Placeholder 2">
            <a:extLst>
              <a:ext uri="{FF2B5EF4-FFF2-40B4-BE49-F238E27FC236}">
                <a16:creationId xmlns:a16="http://schemas.microsoft.com/office/drawing/2014/main" id="{18C8E1E0-4F99-4382-A3B6-819CD5C43F1E}"/>
              </a:ext>
            </a:extLst>
          </p:cNvPr>
          <p:cNvSpPr>
            <a:spLocks noGrp="1"/>
          </p:cNvSpPr>
          <p:nvPr>
            <p:ph type="body" idx="13"/>
          </p:nvPr>
        </p:nvSpPr>
        <p:spPr>
          <a:xfrm>
            <a:off x="838200" y="1723756"/>
            <a:ext cx="10957396"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9EDAA61E-3B5C-4FC1-B5F7-E29E2B4EFF96}"/>
              </a:ext>
            </a:extLst>
          </p:cNvPr>
          <p:cNvSpPr>
            <a:spLocks noGrp="1"/>
          </p:cNvSpPr>
          <p:nvPr>
            <p:ph type="body" idx="14" hasCustomPrompt="1"/>
          </p:nvPr>
        </p:nvSpPr>
        <p:spPr>
          <a:xfrm>
            <a:off x="838199" y="1262359"/>
            <a:ext cx="109573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6" name="Text Placeholder 2">
            <a:extLst>
              <a:ext uri="{FF2B5EF4-FFF2-40B4-BE49-F238E27FC236}">
                <a16:creationId xmlns:a16="http://schemas.microsoft.com/office/drawing/2014/main" id="{9317BF68-0DE3-420F-B80F-50C768DDA5C2}"/>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2" name="Picture 11">
            <a:extLst>
              <a:ext uri="{FF2B5EF4-FFF2-40B4-BE49-F238E27FC236}">
                <a16:creationId xmlns:a16="http://schemas.microsoft.com/office/drawing/2014/main" id="{3904D752-17A2-4AB8-B3CE-627DDD64C6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
        <p:nvSpPr>
          <p:cNvPr id="2" name="Rectangle 1">
            <a:extLst>
              <a:ext uri="{FF2B5EF4-FFF2-40B4-BE49-F238E27FC236}">
                <a16:creationId xmlns:a16="http://schemas.microsoft.com/office/drawing/2014/main" id="{A7F81857-1DEB-1230-8593-628D04072DEE}"/>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E44D4BD-FC99-E88D-4085-8F2CB1B15F75}"/>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Tree>
    <p:extLst>
      <p:ext uri="{BB962C8B-B14F-4D97-AF65-F5344CB8AC3E}">
        <p14:creationId xmlns:p14="http://schemas.microsoft.com/office/powerpoint/2010/main" val="1867464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ogo - 1 Text Box / Objec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329AB463-7ABD-4A71-92CD-75D69A76D00F}"/>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D8206587-BD8A-4BB5-9ED5-B27DFC782F5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8BF1CC78-F2BD-4E37-A548-E8FDC43C5197}"/>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7" name="Text Placeholder 2">
            <a:extLst>
              <a:ext uri="{FF2B5EF4-FFF2-40B4-BE49-F238E27FC236}">
                <a16:creationId xmlns:a16="http://schemas.microsoft.com/office/drawing/2014/main" id="{48BB8531-3790-4BCA-86CF-7551DAD41987}"/>
              </a:ext>
            </a:extLst>
          </p:cNvPr>
          <p:cNvSpPr>
            <a:spLocks noGrp="1"/>
          </p:cNvSpPr>
          <p:nvPr>
            <p:ph type="body" idx="13"/>
          </p:nvPr>
        </p:nvSpPr>
        <p:spPr>
          <a:xfrm>
            <a:off x="838200" y="1723756"/>
            <a:ext cx="6051699"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DA24D105-CAE7-4962-A658-C2BDC6307396}"/>
              </a:ext>
            </a:extLst>
          </p:cNvPr>
          <p:cNvSpPr>
            <a:spLocks noGrp="1"/>
          </p:cNvSpPr>
          <p:nvPr>
            <p:ph type="body" idx="14" hasCustomPrompt="1"/>
          </p:nvPr>
        </p:nvSpPr>
        <p:spPr>
          <a:xfrm>
            <a:off x="838200" y="1262359"/>
            <a:ext cx="6051698"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2" name="Text Placeholder 2">
            <a:extLst>
              <a:ext uri="{FF2B5EF4-FFF2-40B4-BE49-F238E27FC236}">
                <a16:creationId xmlns:a16="http://schemas.microsoft.com/office/drawing/2014/main" id="{14AC5A62-9DF9-4EFB-8015-46DF4F7F6189}"/>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3" name="Content Placeholder 3">
            <a:extLst>
              <a:ext uri="{FF2B5EF4-FFF2-40B4-BE49-F238E27FC236}">
                <a16:creationId xmlns:a16="http://schemas.microsoft.com/office/drawing/2014/main" id="{E4DCA53E-12D0-473F-B62F-CAF3CE081C5D}"/>
              </a:ext>
            </a:extLst>
          </p:cNvPr>
          <p:cNvSpPr>
            <a:spLocks noGrp="1"/>
          </p:cNvSpPr>
          <p:nvPr>
            <p:ph sz="quarter" idx="16"/>
          </p:nvPr>
        </p:nvSpPr>
        <p:spPr>
          <a:xfrm>
            <a:off x="7171870" y="1262360"/>
            <a:ext cx="5020130" cy="4599556"/>
          </a:xfrm>
        </p:spPr>
        <p:txBody>
          <a:bodyPr/>
          <a:lstStyle>
            <a:lvl1pPr marL="0" indent="0">
              <a:buNone/>
              <a:defRPr/>
            </a:lvl1pPr>
          </a:lstStyle>
          <a:p>
            <a:pPr lvl="0"/>
            <a:endParaRPr lang="en-US"/>
          </a:p>
        </p:txBody>
      </p:sp>
      <p:pic>
        <p:nvPicPr>
          <p:cNvPr id="15" name="Picture 14">
            <a:extLst>
              <a:ext uri="{FF2B5EF4-FFF2-40B4-BE49-F238E27FC236}">
                <a16:creationId xmlns:a16="http://schemas.microsoft.com/office/drawing/2014/main" id="{ADF55FC6-C0FC-4CDB-AF36-E2A071D1A6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93894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ogo - 2 Text Boxes">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329AB463-7ABD-4A71-92CD-75D69A76D00F}"/>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D8206587-BD8A-4BB5-9ED5-B27DFC782F5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8BF1CC78-F2BD-4E37-A548-E8FDC43C5197}"/>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7" name="Text Placeholder 2">
            <a:extLst>
              <a:ext uri="{FF2B5EF4-FFF2-40B4-BE49-F238E27FC236}">
                <a16:creationId xmlns:a16="http://schemas.microsoft.com/office/drawing/2014/main" id="{8EE41DAB-B3E5-41D2-973C-AAB9C0D7FB48}"/>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3C50FE94-C13C-4515-A6B1-37D19F993C0C}"/>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2" name="Text Placeholder 2">
            <a:extLst>
              <a:ext uri="{FF2B5EF4-FFF2-40B4-BE49-F238E27FC236}">
                <a16:creationId xmlns:a16="http://schemas.microsoft.com/office/drawing/2014/main" id="{D928821B-35AC-4A2B-A97E-FCBBA126572D}"/>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3" name="Text Placeholder 2">
            <a:extLst>
              <a:ext uri="{FF2B5EF4-FFF2-40B4-BE49-F238E27FC236}">
                <a16:creationId xmlns:a16="http://schemas.microsoft.com/office/drawing/2014/main" id="{C0E06AB6-35DF-4B03-8F29-60B9AF8BE788}"/>
              </a:ext>
            </a:extLst>
          </p:cNvPr>
          <p:cNvSpPr>
            <a:spLocks noGrp="1"/>
          </p:cNvSpPr>
          <p:nvPr>
            <p:ph type="body" idx="16"/>
          </p:nvPr>
        </p:nvSpPr>
        <p:spPr>
          <a:xfrm>
            <a:off x="838198" y="4270752"/>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1BF62496-FE47-4F24-B2DE-4277AE6D7854}"/>
              </a:ext>
            </a:extLst>
          </p:cNvPr>
          <p:cNvSpPr>
            <a:spLocks noGrp="1"/>
          </p:cNvSpPr>
          <p:nvPr>
            <p:ph type="body" idx="17" hasCustomPrompt="1"/>
          </p:nvPr>
        </p:nvSpPr>
        <p:spPr>
          <a:xfrm>
            <a:off x="838197" y="3809354"/>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pic>
        <p:nvPicPr>
          <p:cNvPr id="16" name="Picture 15">
            <a:extLst>
              <a:ext uri="{FF2B5EF4-FFF2-40B4-BE49-F238E27FC236}">
                <a16:creationId xmlns:a16="http://schemas.microsoft.com/office/drawing/2014/main" id="{65528495-FA28-40D0-B5E0-168ED8740A5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140212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ogo - 2 Text Box / Objec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329AB463-7ABD-4A71-92CD-75D69A76D00F}"/>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D8206587-BD8A-4BB5-9ED5-B27DFC782F5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8BF1CC78-F2BD-4E37-A548-E8FDC43C5197}"/>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7" name="Text Placeholder 2">
            <a:extLst>
              <a:ext uri="{FF2B5EF4-FFF2-40B4-BE49-F238E27FC236}">
                <a16:creationId xmlns:a16="http://schemas.microsoft.com/office/drawing/2014/main" id="{B3DAE2B3-60DD-4B9B-B314-539F321F9320}"/>
              </a:ext>
            </a:extLst>
          </p:cNvPr>
          <p:cNvSpPr>
            <a:spLocks noGrp="1"/>
          </p:cNvSpPr>
          <p:nvPr>
            <p:ph type="body" idx="13"/>
          </p:nvPr>
        </p:nvSpPr>
        <p:spPr>
          <a:xfrm>
            <a:off x="838200" y="1723756"/>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25594A80-7B67-40C3-8DB1-88509E2F6593}"/>
              </a:ext>
            </a:extLst>
          </p:cNvPr>
          <p:cNvSpPr>
            <a:spLocks noGrp="1"/>
          </p:cNvSpPr>
          <p:nvPr>
            <p:ph type="body" idx="14" hasCustomPrompt="1"/>
          </p:nvPr>
        </p:nvSpPr>
        <p:spPr>
          <a:xfrm>
            <a:off x="838200" y="1262359"/>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2" name="Text Placeholder 2">
            <a:extLst>
              <a:ext uri="{FF2B5EF4-FFF2-40B4-BE49-F238E27FC236}">
                <a16:creationId xmlns:a16="http://schemas.microsoft.com/office/drawing/2014/main" id="{098A7811-90FD-4ACF-B7DC-4F8E1C670FB6}"/>
              </a:ext>
            </a:extLst>
          </p:cNvPr>
          <p:cNvSpPr>
            <a:spLocks noGrp="1"/>
          </p:cNvSpPr>
          <p:nvPr>
            <p:ph type="body" idx="16"/>
          </p:nvPr>
        </p:nvSpPr>
        <p:spPr>
          <a:xfrm>
            <a:off x="838198" y="4270752"/>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DCB472BC-FADD-422F-B4F9-1D89641F4E73}"/>
              </a:ext>
            </a:extLst>
          </p:cNvPr>
          <p:cNvSpPr>
            <a:spLocks noGrp="1"/>
          </p:cNvSpPr>
          <p:nvPr>
            <p:ph type="body" idx="17" hasCustomPrompt="1"/>
          </p:nvPr>
        </p:nvSpPr>
        <p:spPr>
          <a:xfrm>
            <a:off x="838198" y="3809354"/>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4" name="Content Placeholder 3">
            <a:extLst>
              <a:ext uri="{FF2B5EF4-FFF2-40B4-BE49-F238E27FC236}">
                <a16:creationId xmlns:a16="http://schemas.microsoft.com/office/drawing/2014/main" id="{7E33582E-90DF-41CA-8A46-B0EAD023A5B5}"/>
              </a:ext>
            </a:extLst>
          </p:cNvPr>
          <p:cNvSpPr>
            <a:spLocks noGrp="1"/>
          </p:cNvSpPr>
          <p:nvPr>
            <p:ph sz="quarter" idx="18"/>
          </p:nvPr>
        </p:nvSpPr>
        <p:spPr>
          <a:xfrm>
            <a:off x="7171870" y="1262359"/>
            <a:ext cx="5020130" cy="4684091"/>
          </a:xfrm>
        </p:spPr>
        <p:txBody>
          <a:bodyPr/>
          <a:lstStyle>
            <a:lvl1pPr marL="0" indent="0">
              <a:buNone/>
              <a:defRPr/>
            </a:lvl1pPr>
          </a:lstStyle>
          <a:p>
            <a:pPr lvl="0"/>
            <a:endParaRPr lang="en-US"/>
          </a:p>
        </p:txBody>
      </p:sp>
      <p:sp>
        <p:nvSpPr>
          <p:cNvPr id="15" name="Text Placeholder 2">
            <a:extLst>
              <a:ext uri="{FF2B5EF4-FFF2-40B4-BE49-F238E27FC236}">
                <a16:creationId xmlns:a16="http://schemas.microsoft.com/office/drawing/2014/main" id="{AB491B38-AD19-418A-AE44-8BD515BBE29D}"/>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7" name="Picture 16">
            <a:extLst>
              <a:ext uri="{FF2B5EF4-FFF2-40B4-BE49-F238E27FC236}">
                <a16:creationId xmlns:a16="http://schemas.microsoft.com/office/drawing/2014/main" id="{D1C47109-5639-4C51-9F0D-7DE6F8FAE4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67275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ogo - 1 Text Box / Object (Bottom)">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329AB463-7ABD-4A71-92CD-75D69A76D00F}"/>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D8206587-BD8A-4BB5-9ED5-B27DFC782F5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8BF1CC78-F2BD-4E37-A548-E8FDC43C5197}"/>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7" name="Text Placeholder 2">
            <a:extLst>
              <a:ext uri="{FF2B5EF4-FFF2-40B4-BE49-F238E27FC236}">
                <a16:creationId xmlns:a16="http://schemas.microsoft.com/office/drawing/2014/main" id="{8DFED017-38CE-46D7-9453-5FA07D1C8C3B}"/>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BCAD3C69-F6C6-4D5B-AA75-C4706E29CAF9}"/>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2" name="Text Placeholder 2">
            <a:extLst>
              <a:ext uri="{FF2B5EF4-FFF2-40B4-BE49-F238E27FC236}">
                <a16:creationId xmlns:a16="http://schemas.microsoft.com/office/drawing/2014/main" id="{05B4B72F-C73B-42F9-A20E-B10C792AD414}"/>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3" name="Content Placeholder 3">
            <a:extLst>
              <a:ext uri="{FF2B5EF4-FFF2-40B4-BE49-F238E27FC236}">
                <a16:creationId xmlns:a16="http://schemas.microsoft.com/office/drawing/2014/main" id="{5A804AA2-C650-427A-8305-FB1F9284D4F8}"/>
              </a:ext>
            </a:extLst>
          </p:cNvPr>
          <p:cNvSpPr>
            <a:spLocks noGrp="1"/>
          </p:cNvSpPr>
          <p:nvPr>
            <p:ph sz="quarter" idx="18"/>
          </p:nvPr>
        </p:nvSpPr>
        <p:spPr>
          <a:xfrm>
            <a:off x="838199" y="3809354"/>
            <a:ext cx="10957397" cy="2137096"/>
          </a:xfrm>
        </p:spPr>
        <p:txBody>
          <a:bodyPr/>
          <a:lstStyle>
            <a:lvl1pPr marL="0" indent="0">
              <a:buNone/>
              <a:defRPr/>
            </a:lvl1pPr>
          </a:lstStyle>
          <a:p>
            <a:pPr lvl="0"/>
            <a:endParaRPr lang="en-US"/>
          </a:p>
        </p:txBody>
      </p:sp>
      <p:pic>
        <p:nvPicPr>
          <p:cNvPr id="15" name="Picture 14">
            <a:extLst>
              <a:ext uri="{FF2B5EF4-FFF2-40B4-BE49-F238E27FC236}">
                <a16:creationId xmlns:a16="http://schemas.microsoft.com/office/drawing/2014/main" id="{CBDFC9B0-E6EE-4654-B1AA-6046B4D4E5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586217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r - 1 Text Box">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D92344-CF05-47A4-A1E3-62C1D0F9FA32}"/>
              </a:ext>
            </a:extLst>
          </p:cNvPr>
          <p:cNvSpPr/>
          <p:nvPr userDrawn="1"/>
        </p:nvSpPr>
        <p:spPr>
          <a:xfrm rot="5400000">
            <a:off x="-1930950" y="2962432"/>
            <a:ext cx="6501016" cy="1290119"/>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 name="Rectangle 8">
            <a:extLst>
              <a:ext uri="{FF2B5EF4-FFF2-40B4-BE49-F238E27FC236}">
                <a16:creationId xmlns:a16="http://schemas.microsoft.com/office/drawing/2014/main" id="{D4E7FB3B-A7A0-4CCB-8A03-8E99236BC8FE}"/>
              </a:ext>
            </a:extLst>
          </p:cNvPr>
          <p:cNvSpPr/>
          <p:nvPr userDrawn="1"/>
        </p:nvSpPr>
        <p:spPr>
          <a:xfrm rot="5400000">
            <a:off x="1099586" y="227193"/>
            <a:ext cx="439947" cy="1290119"/>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 name="Date Placeholder 3">
            <a:extLst>
              <a:ext uri="{FF2B5EF4-FFF2-40B4-BE49-F238E27FC236}">
                <a16:creationId xmlns:a16="http://schemas.microsoft.com/office/drawing/2014/main" id="{D7FD2011-17B7-4067-ABD9-F2A818942128}"/>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8" name="Footer Placeholder 4">
            <a:extLst>
              <a:ext uri="{FF2B5EF4-FFF2-40B4-BE49-F238E27FC236}">
                <a16:creationId xmlns:a16="http://schemas.microsoft.com/office/drawing/2014/main" id="{B10E0E74-DBBD-4A49-AE0A-009AD3D57C2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A5DFA442-C568-479B-AEAE-FFB83940524C}"/>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2" name="Text Placeholder 2">
            <a:extLst>
              <a:ext uri="{FF2B5EF4-FFF2-40B4-BE49-F238E27FC236}">
                <a16:creationId xmlns:a16="http://schemas.microsoft.com/office/drawing/2014/main" id="{55BF9443-2AC4-4A55-86CA-E2E83D33C36F}"/>
              </a:ext>
            </a:extLst>
          </p:cNvPr>
          <p:cNvSpPr>
            <a:spLocks noGrp="1"/>
          </p:cNvSpPr>
          <p:nvPr>
            <p:ph type="body" idx="13"/>
          </p:nvPr>
        </p:nvSpPr>
        <p:spPr>
          <a:xfrm>
            <a:off x="2184400" y="1723756"/>
            <a:ext cx="9611196"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98F12BE3-EB72-4CE8-B096-82BC81D83DE0}"/>
              </a:ext>
            </a:extLst>
          </p:cNvPr>
          <p:cNvSpPr>
            <a:spLocks noGrp="1"/>
          </p:cNvSpPr>
          <p:nvPr>
            <p:ph type="body" idx="14" hasCustomPrompt="1"/>
          </p:nvPr>
        </p:nvSpPr>
        <p:spPr>
          <a:xfrm>
            <a:off x="2184399" y="1262359"/>
            <a:ext cx="96111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4" name="Text Placeholder 2">
            <a:extLst>
              <a:ext uri="{FF2B5EF4-FFF2-40B4-BE49-F238E27FC236}">
                <a16:creationId xmlns:a16="http://schemas.microsoft.com/office/drawing/2014/main" id="{FC6F9EA5-CB0E-4BA7-BB79-16DE1454E6EA}"/>
              </a:ext>
            </a:extLst>
          </p:cNvPr>
          <p:cNvSpPr>
            <a:spLocks noGrp="1"/>
          </p:cNvSpPr>
          <p:nvPr>
            <p:ph type="body" idx="15" hasCustomPrompt="1"/>
          </p:nvPr>
        </p:nvSpPr>
        <p:spPr>
          <a:xfrm>
            <a:off x="2184400" y="619094"/>
            <a:ext cx="64262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5" name="Picture 14">
            <a:extLst>
              <a:ext uri="{FF2B5EF4-FFF2-40B4-BE49-F238E27FC236}">
                <a16:creationId xmlns:a16="http://schemas.microsoft.com/office/drawing/2014/main" id="{20B637A0-AD1B-40A6-B63B-DAD53902957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693393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ar - 1 Text Box / Objec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D92344-CF05-47A4-A1E3-62C1D0F9FA32}"/>
              </a:ext>
            </a:extLst>
          </p:cNvPr>
          <p:cNvSpPr/>
          <p:nvPr userDrawn="1"/>
        </p:nvSpPr>
        <p:spPr>
          <a:xfrm rot="5400000">
            <a:off x="-1930950" y="2962432"/>
            <a:ext cx="6501016" cy="1290119"/>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 name="Rectangle 8">
            <a:extLst>
              <a:ext uri="{FF2B5EF4-FFF2-40B4-BE49-F238E27FC236}">
                <a16:creationId xmlns:a16="http://schemas.microsoft.com/office/drawing/2014/main" id="{D4E7FB3B-A7A0-4CCB-8A03-8E99236BC8FE}"/>
              </a:ext>
            </a:extLst>
          </p:cNvPr>
          <p:cNvSpPr/>
          <p:nvPr userDrawn="1"/>
        </p:nvSpPr>
        <p:spPr>
          <a:xfrm rot="5400000">
            <a:off x="1099586" y="227193"/>
            <a:ext cx="439947" cy="1290119"/>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 name="Date Placeholder 3">
            <a:extLst>
              <a:ext uri="{FF2B5EF4-FFF2-40B4-BE49-F238E27FC236}">
                <a16:creationId xmlns:a16="http://schemas.microsoft.com/office/drawing/2014/main" id="{D7FD2011-17B7-4067-ABD9-F2A818942128}"/>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8" name="Footer Placeholder 4">
            <a:extLst>
              <a:ext uri="{FF2B5EF4-FFF2-40B4-BE49-F238E27FC236}">
                <a16:creationId xmlns:a16="http://schemas.microsoft.com/office/drawing/2014/main" id="{B10E0E74-DBBD-4A49-AE0A-009AD3D57C2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A5DFA442-C568-479B-AEAE-FFB83940524C}"/>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1" name="Content Placeholder 3">
            <a:extLst>
              <a:ext uri="{FF2B5EF4-FFF2-40B4-BE49-F238E27FC236}">
                <a16:creationId xmlns:a16="http://schemas.microsoft.com/office/drawing/2014/main" id="{166D78B5-7D80-42F7-9905-BEDF5E9E74DB}"/>
              </a:ext>
            </a:extLst>
          </p:cNvPr>
          <p:cNvSpPr>
            <a:spLocks noGrp="1"/>
          </p:cNvSpPr>
          <p:nvPr>
            <p:ph sz="quarter" idx="16"/>
          </p:nvPr>
        </p:nvSpPr>
        <p:spPr>
          <a:xfrm>
            <a:off x="7171870" y="1262360"/>
            <a:ext cx="5020130" cy="4599556"/>
          </a:xfrm>
        </p:spPr>
        <p:txBody>
          <a:bodyPr/>
          <a:lstStyle>
            <a:lvl1pPr marL="0" indent="0">
              <a:buNone/>
              <a:defRPr/>
            </a:lvl1pPr>
          </a:lstStyle>
          <a:p>
            <a:pPr lvl="0"/>
            <a:endParaRPr lang="en-US"/>
          </a:p>
        </p:txBody>
      </p:sp>
      <p:sp>
        <p:nvSpPr>
          <p:cNvPr id="12" name="Text Placeholder 2">
            <a:extLst>
              <a:ext uri="{FF2B5EF4-FFF2-40B4-BE49-F238E27FC236}">
                <a16:creationId xmlns:a16="http://schemas.microsoft.com/office/drawing/2014/main" id="{25CD1AE8-733D-4E62-84CF-9239B3423F37}"/>
              </a:ext>
            </a:extLst>
          </p:cNvPr>
          <p:cNvSpPr>
            <a:spLocks noGrp="1"/>
          </p:cNvSpPr>
          <p:nvPr>
            <p:ph type="body" idx="13"/>
          </p:nvPr>
        </p:nvSpPr>
        <p:spPr>
          <a:xfrm>
            <a:off x="2184400" y="1723756"/>
            <a:ext cx="4724400"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08B1D7E2-1EED-421D-8FC4-716DEEE50DA6}"/>
              </a:ext>
            </a:extLst>
          </p:cNvPr>
          <p:cNvSpPr>
            <a:spLocks noGrp="1"/>
          </p:cNvSpPr>
          <p:nvPr>
            <p:ph type="body" idx="14" hasCustomPrompt="1"/>
          </p:nvPr>
        </p:nvSpPr>
        <p:spPr>
          <a:xfrm>
            <a:off x="2184400" y="1262359"/>
            <a:ext cx="4724400"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4" name="Text Placeholder 2">
            <a:extLst>
              <a:ext uri="{FF2B5EF4-FFF2-40B4-BE49-F238E27FC236}">
                <a16:creationId xmlns:a16="http://schemas.microsoft.com/office/drawing/2014/main" id="{708A657D-67A3-462B-82E7-2EC7544FC13D}"/>
              </a:ext>
            </a:extLst>
          </p:cNvPr>
          <p:cNvSpPr>
            <a:spLocks noGrp="1"/>
          </p:cNvSpPr>
          <p:nvPr>
            <p:ph type="body" idx="15" hasCustomPrompt="1"/>
          </p:nvPr>
        </p:nvSpPr>
        <p:spPr>
          <a:xfrm>
            <a:off x="2184400" y="619094"/>
            <a:ext cx="64262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6" name="Picture 15">
            <a:extLst>
              <a:ext uri="{FF2B5EF4-FFF2-40B4-BE49-F238E27FC236}">
                <a16:creationId xmlns:a16="http://schemas.microsoft.com/office/drawing/2014/main" id="{F998C74E-B286-4768-8A27-799A2E649F9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1295205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r - 2 Text Box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D92344-CF05-47A4-A1E3-62C1D0F9FA32}"/>
              </a:ext>
            </a:extLst>
          </p:cNvPr>
          <p:cNvSpPr/>
          <p:nvPr userDrawn="1"/>
        </p:nvSpPr>
        <p:spPr>
          <a:xfrm rot="5400000">
            <a:off x="-1930950" y="2962432"/>
            <a:ext cx="6501016" cy="1290119"/>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 name="Rectangle 8">
            <a:extLst>
              <a:ext uri="{FF2B5EF4-FFF2-40B4-BE49-F238E27FC236}">
                <a16:creationId xmlns:a16="http://schemas.microsoft.com/office/drawing/2014/main" id="{D4E7FB3B-A7A0-4CCB-8A03-8E99236BC8FE}"/>
              </a:ext>
            </a:extLst>
          </p:cNvPr>
          <p:cNvSpPr/>
          <p:nvPr userDrawn="1"/>
        </p:nvSpPr>
        <p:spPr>
          <a:xfrm rot="5400000">
            <a:off x="1099586" y="227193"/>
            <a:ext cx="439947" cy="1290119"/>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 name="Date Placeholder 3">
            <a:extLst>
              <a:ext uri="{FF2B5EF4-FFF2-40B4-BE49-F238E27FC236}">
                <a16:creationId xmlns:a16="http://schemas.microsoft.com/office/drawing/2014/main" id="{D7FD2011-17B7-4067-ABD9-F2A818942128}"/>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8" name="Footer Placeholder 4">
            <a:extLst>
              <a:ext uri="{FF2B5EF4-FFF2-40B4-BE49-F238E27FC236}">
                <a16:creationId xmlns:a16="http://schemas.microsoft.com/office/drawing/2014/main" id="{B10E0E74-DBBD-4A49-AE0A-009AD3D57C2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A5DFA442-C568-479B-AEAE-FFB83940524C}"/>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4" name="Text Placeholder 2">
            <a:extLst>
              <a:ext uri="{FF2B5EF4-FFF2-40B4-BE49-F238E27FC236}">
                <a16:creationId xmlns:a16="http://schemas.microsoft.com/office/drawing/2014/main" id="{FCC89427-1E5B-4670-864E-343F50D64C60}"/>
              </a:ext>
            </a:extLst>
          </p:cNvPr>
          <p:cNvSpPr>
            <a:spLocks noGrp="1"/>
          </p:cNvSpPr>
          <p:nvPr>
            <p:ph type="body" idx="16"/>
          </p:nvPr>
        </p:nvSpPr>
        <p:spPr>
          <a:xfrm>
            <a:off x="2184398" y="4270752"/>
            <a:ext cx="961119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BA651372-871D-4A67-9AA0-7D2AB2A0F823}"/>
              </a:ext>
            </a:extLst>
          </p:cNvPr>
          <p:cNvSpPr>
            <a:spLocks noGrp="1"/>
          </p:cNvSpPr>
          <p:nvPr>
            <p:ph type="body" idx="17" hasCustomPrompt="1"/>
          </p:nvPr>
        </p:nvSpPr>
        <p:spPr>
          <a:xfrm>
            <a:off x="2184398" y="3809354"/>
            <a:ext cx="961119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6" name="Text Placeholder 2">
            <a:extLst>
              <a:ext uri="{FF2B5EF4-FFF2-40B4-BE49-F238E27FC236}">
                <a16:creationId xmlns:a16="http://schemas.microsoft.com/office/drawing/2014/main" id="{9C16397E-499D-4168-9499-C1BF456039FD}"/>
              </a:ext>
            </a:extLst>
          </p:cNvPr>
          <p:cNvSpPr>
            <a:spLocks noGrp="1"/>
          </p:cNvSpPr>
          <p:nvPr>
            <p:ph type="body" idx="18"/>
          </p:nvPr>
        </p:nvSpPr>
        <p:spPr>
          <a:xfrm>
            <a:off x="2184400" y="1723756"/>
            <a:ext cx="9611196" cy="1770817"/>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AD8BB72D-4937-439A-A105-022719D06C4C}"/>
              </a:ext>
            </a:extLst>
          </p:cNvPr>
          <p:cNvSpPr>
            <a:spLocks noGrp="1"/>
          </p:cNvSpPr>
          <p:nvPr>
            <p:ph type="body" idx="19" hasCustomPrompt="1"/>
          </p:nvPr>
        </p:nvSpPr>
        <p:spPr>
          <a:xfrm>
            <a:off x="2184399" y="1262359"/>
            <a:ext cx="96111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04FD9785-2A2B-46F1-89CC-5DB45F06EFA5}"/>
              </a:ext>
            </a:extLst>
          </p:cNvPr>
          <p:cNvSpPr>
            <a:spLocks noGrp="1"/>
          </p:cNvSpPr>
          <p:nvPr>
            <p:ph type="body" idx="20" hasCustomPrompt="1"/>
          </p:nvPr>
        </p:nvSpPr>
        <p:spPr>
          <a:xfrm>
            <a:off x="2184400" y="619094"/>
            <a:ext cx="64262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9" name="Picture 18">
            <a:extLst>
              <a:ext uri="{FF2B5EF4-FFF2-40B4-BE49-F238E27FC236}">
                <a16:creationId xmlns:a16="http://schemas.microsoft.com/office/drawing/2014/main" id="{7D6A1794-D9AB-4F91-8508-CE161F5C3A9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24578151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r - 2 Text Box / Objec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D92344-CF05-47A4-A1E3-62C1D0F9FA32}"/>
              </a:ext>
            </a:extLst>
          </p:cNvPr>
          <p:cNvSpPr/>
          <p:nvPr userDrawn="1"/>
        </p:nvSpPr>
        <p:spPr>
          <a:xfrm rot="5400000">
            <a:off x="-1930950" y="2962432"/>
            <a:ext cx="6501016" cy="1290119"/>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 name="Rectangle 8">
            <a:extLst>
              <a:ext uri="{FF2B5EF4-FFF2-40B4-BE49-F238E27FC236}">
                <a16:creationId xmlns:a16="http://schemas.microsoft.com/office/drawing/2014/main" id="{D4E7FB3B-A7A0-4CCB-8A03-8E99236BC8FE}"/>
              </a:ext>
            </a:extLst>
          </p:cNvPr>
          <p:cNvSpPr/>
          <p:nvPr userDrawn="1"/>
        </p:nvSpPr>
        <p:spPr>
          <a:xfrm rot="5400000">
            <a:off x="1099586" y="227193"/>
            <a:ext cx="439947" cy="1290119"/>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 name="Date Placeholder 3">
            <a:extLst>
              <a:ext uri="{FF2B5EF4-FFF2-40B4-BE49-F238E27FC236}">
                <a16:creationId xmlns:a16="http://schemas.microsoft.com/office/drawing/2014/main" id="{D7FD2011-17B7-4067-ABD9-F2A818942128}"/>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8" name="Footer Placeholder 4">
            <a:extLst>
              <a:ext uri="{FF2B5EF4-FFF2-40B4-BE49-F238E27FC236}">
                <a16:creationId xmlns:a16="http://schemas.microsoft.com/office/drawing/2014/main" id="{B10E0E74-DBBD-4A49-AE0A-009AD3D57C2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A5DFA442-C568-479B-AEAE-FFB83940524C}"/>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1" name="Content Placeholder 3">
            <a:extLst>
              <a:ext uri="{FF2B5EF4-FFF2-40B4-BE49-F238E27FC236}">
                <a16:creationId xmlns:a16="http://schemas.microsoft.com/office/drawing/2014/main" id="{D7759E3E-98A1-4FBE-8515-4A49A7B5190D}"/>
              </a:ext>
            </a:extLst>
          </p:cNvPr>
          <p:cNvSpPr>
            <a:spLocks noGrp="1"/>
          </p:cNvSpPr>
          <p:nvPr>
            <p:ph sz="quarter" idx="18"/>
          </p:nvPr>
        </p:nvSpPr>
        <p:spPr>
          <a:xfrm>
            <a:off x="7171870" y="1262359"/>
            <a:ext cx="5020130" cy="4684091"/>
          </a:xfrm>
        </p:spPr>
        <p:txBody>
          <a:bodyPr/>
          <a:lstStyle>
            <a:lvl1pPr marL="0" indent="0">
              <a:buNone/>
              <a:defRPr/>
            </a:lvl1pPr>
          </a:lstStyle>
          <a:p>
            <a:pPr lvl="0"/>
            <a:endParaRPr lang="en-US"/>
          </a:p>
        </p:txBody>
      </p:sp>
      <p:sp>
        <p:nvSpPr>
          <p:cNvPr id="12" name="Text Placeholder 2">
            <a:extLst>
              <a:ext uri="{FF2B5EF4-FFF2-40B4-BE49-F238E27FC236}">
                <a16:creationId xmlns:a16="http://schemas.microsoft.com/office/drawing/2014/main" id="{B8678F12-D875-41F1-8E73-9793D34F1149}"/>
              </a:ext>
            </a:extLst>
          </p:cNvPr>
          <p:cNvSpPr>
            <a:spLocks noGrp="1"/>
          </p:cNvSpPr>
          <p:nvPr>
            <p:ph type="body" idx="16"/>
          </p:nvPr>
        </p:nvSpPr>
        <p:spPr>
          <a:xfrm>
            <a:off x="2184398" y="4270752"/>
            <a:ext cx="4715935"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AAB6D51F-96EF-413D-98B9-9AFF41956F59}"/>
              </a:ext>
            </a:extLst>
          </p:cNvPr>
          <p:cNvSpPr>
            <a:spLocks noGrp="1"/>
          </p:cNvSpPr>
          <p:nvPr>
            <p:ph type="body" idx="17" hasCustomPrompt="1"/>
          </p:nvPr>
        </p:nvSpPr>
        <p:spPr>
          <a:xfrm>
            <a:off x="2184398" y="3809354"/>
            <a:ext cx="471593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4" name="Text Placeholder 2">
            <a:extLst>
              <a:ext uri="{FF2B5EF4-FFF2-40B4-BE49-F238E27FC236}">
                <a16:creationId xmlns:a16="http://schemas.microsoft.com/office/drawing/2014/main" id="{00D9756D-3F55-470F-BC5F-C6F0E39F2ABA}"/>
              </a:ext>
            </a:extLst>
          </p:cNvPr>
          <p:cNvSpPr>
            <a:spLocks noGrp="1"/>
          </p:cNvSpPr>
          <p:nvPr>
            <p:ph type="body" idx="19"/>
          </p:nvPr>
        </p:nvSpPr>
        <p:spPr>
          <a:xfrm>
            <a:off x="2184400" y="1723756"/>
            <a:ext cx="4715935" cy="1770817"/>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C140C477-9EE6-4BBA-B28C-841EEBD461C0}"/>
              </a:ext>
            </a:extLst>
          </p:cNvPr>
          <p:cNvSpPr>
            <a:spLocks noGrp="1"/>
          </p:cNvSpPr>
          <p:nvPr>
            <p:ph type="body" idx="20" hasCustomPrompt="1"/>
          </p:nvPr>
        </p:nvSpPr>
        <p:spPr>
          <a:xfrm>
            <a:off x="2184400" y="1262359"/>
            <a:ext cx="4715934"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6" name="Text Placeholder 2">
            <a:extLst>
              <a:ext uri="{FF2B5EF4-FFF2-40B4-BE49-F238E27FC236}">
                <a16:creationId xmlns:a16="http://schemas.microsoft.com/office/drawing/2014/main" id="{65A1BD26-BF4C-4CA6-93E9-90B365B65C31}"/>
              </a:ext>
            </a:extLst>
          </p:cNvPr>
          <p:cNvSpPr>
            <a:spLocks noGrp="1"/>
          </p:cNvSpPr>
          <p:nvPr>
            <p:ph type="body" idx="21" hasCustomPrompt="1"/>
          </p:nvPr>
        </p:nvSpPr>
        <p:spPr>
          <a:xfrm>
            <a:off x="2184400" y="619094"/>
            <a:ext cx="64262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8" name="Picture 17">
            <a:extLst>
              <a:ext uri="{FF2B5EF4-FFF2-40B4-BE49-F238E27FC236}">
                <a16:creationId xmlns:a16="http://schemas.microsoft.com/office/drawing/2014/main" id="{4E4414B1-223C-4D26-8457-72DF4465B82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559958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r - 1 Text Box / Object (Botto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D92344-CF05-47A4-A1E3-62C1D0F9FA32}"/>
              </a:ext>
            </a:extLst>
          </p:cNvPr>
          <p:cNvSpPr/>
          <p:nvPr userDrawn="1"/>
        </p:nvSpPr>
        <p:spPr>
          <a:xfrm rot="5400000">
            <a:off x="-1930950" y="2962432"/>
            <a:ext cx="6501016" cy="1290119"/>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 name="Rectangle 8">
            <a:extLst>
              <a:ext uri="{FF2B5EF4-FFF2-40B4-BE49-F238E27FC236}">
                <a16:creationId xmlns:a16="http://schemas.microsoft.com/office/drawing/2014/main" id="{D4E7FB3B-A7A0-4CCB-8A03-8E99236BC8FE}"/>
              </a:ext>
            </a:extLst>
          </p:cNvPr>
          <p:cNvSpPr/>
          <p:nvPr userDrawn="1"/>
        </p:nvSpPr>
        <p:spPr>
          <a:xfrm rot="5400000">
            <a:off x="1099586" y="227193"/>
            <a:ext cx="439947" cy="1290119"/>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 name="Date Placeholder 3">
            <a:extLst>
              <a:ext uri="{FF2B5EF4-FFF2-40B4-BE49-F238E27FC236}">
                <a16:creationId xmlns:a16="http://schemas.microsoft.com/office/drawing/2014/main" id="{D7FD2011-17B7-4067-ABD9-F2A818942128}"/>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8" name="Footer Placeholder 4">
            <a:extLst>
              <a:ext uri="{FF2B5EF4-FFF2-40B4-BE49-F238E27FC236}">
                <a16:creationId xmlns:a16="http://schemas.microsoft.com/office/drawing/2014/main" id="{B10E0E74-DBBD-4A49-AE0A-009AD3D57C2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A5DFA442-C568-479B-AEAE-FFB83940524C}"/>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1" name="Content Placeholder 3">
            <a:extLst>
              <a:ext uri="{FF2B5EF4-FFF2-40B4-BE49-F238E27FC236}">
                <a16:creationId xmlns:a16="http://schemas.microsoft.com/office/drawing/2014/main" id="{AEC43C2A-BC09-4629-8C30-815027449838}"/>
              </a:ext>
            </a:extLst>
          </p:cNvPr>
          <p:cNvSpPr>
            <a:spLocks noGrp="1"/>
          </p:cNvSpPr>
          <p:nvPr>
            <p:ph sz="quarter" idx="18"/>
          </p:nvPr>
        </p:nvSpPr>
        <p:spPr>
          <a:xfrm>
            <a:off x="2184399" y="3809354"/>
            <a:ext cx="9611197" cy="2137096"/>
          </a:xfrm>
        </p:spPr>
        <p:txBody>
          <a:bodyPr/>
          <a:lstStyle>
            <a:lvl1pPr marL="0" indent="0">
              <a:buNone/>
              <a:defRPr/>
            </a:lvl1pPr>
          </a:lstStyle>
          <a:p>
            <a:pPr lvl="0"/>
            <a:endParaRPr lang="en-US"/>
          </a:p>
        </p:txBody>
      </p:sp>
      <p:sp>
        <p:nvSpPr>
          <p:cNvPr id="12" name="Text Placeholder 2">
            <a:extLst>
              <a:ext uri="{FF2B5EF4-FFF2-40B4-BE49-F238E27FC236}">
                <a16:creationId xmlns:a16="http://schemas.microsoft.com/office/drawing/2014/main" id="{5CC68065-4BA5-4859-A988-F15E38786D16}"/>
              </a:ext>
            </a:extLst>
          </p:cNvPr>
          <p:cNvSpPr>
            <a:spLocks noGrp="1"/>
          </p:cNvSpPr>
          <p:nvPr>
            <p:ph type="body" idx="19"/>
          </p:nvPr>
        </p:nvSpPr>
        <p:spPr>
          <a:xfrm>
            <a:off x="2184400" y="1723756"/>
            <a:ext cx="9611196" cy="1770817"/>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9E637872-57BB-4498-B4E1-383155F306CF}"/>
              </a:ext>
            </a:extLst>
          </p:cNvPr>
          <p:cNvSpPr>
            <a:spLocks noGrp="1"/>
          </p:cNvSpPr>
          <p:nvPr>
            <p:ph type="body" idx="20" hasCustomPrompt="1"/>
          </p:nvPr>
        </p:nvSpPr>
        <p:spPr>
          <a:xfrm>
            <a:off x="2184399" y="1262359"/>
            <a:ext cx="96111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4" name="Text Placeholder 2">
            <a:extLst>
              <a:ext uri="{FF2B5EF4-FFF2-40B4-BE49-F238E27FC236}">
                <a16:creationId xmlns:a16="http://schemas.microsoft.com/office/drawing/2014/main" id="{D09DB4A6-A9DF-4DCB-93F1-A85A21866086}"/>
              </a:ext>
            </a:extLst>
          </p:cNvPr>
          <p:cNvSpPr>
            <a:spLocks noGrp="1"/>
          </p:cNvSpPr>
          <p:nvPr>
            <p:ph type="body" idx="21" hasCustomPrompt="1"/>
          </p:nvPr>
        </p:nvSpPr>
        <p:spPr>
          <a:xfrm>
            <a:off x="2184400" y="619094"/>
            <a:ext cx="64262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5" name="Picture 14">
            <a:extLst>
              <a:ext uri="{FF2B5EF4-FFF2-40B4-BE49-F238E27FC236}">
                <a16:creationId xmlns:a16="http://schemas.microsoft.com/office/drawing/2014/main" id="{5932C2FE-47C9-4AF4-BA17-642822BC492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1452532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r - Image Overlay">
    <p:spTree>
      <p:nvGrpSpPr>
        <p:cNvPr id="1" name=""/>
        <p:cNvGrpSpPr/>
        <p:nvPr/>
      </p:nvGrpSpPr>
      <p:grpSpPr>
        <a:xfrm>
          <a:off x="0" y="0"/>
          <a:ext cx="0" cy="0"/>
          <a:chOff x="0" y="0"/>
          <a:chExt cx="0" cy="0"/>
        </a:xfrm>
      </p:grpSpPr>
      <p:sp>
        <p:nvSpPr>
          <p:cNvPr id="19" name="Content Placeholder 3">
            <a:extLst>
              <a:ext uri="{FF2B5EF4-FFF2-40B4-BE49-F238E27FC236}">
                <a16:creationId xmlns:a16="http://schemas.microsoft.com/office/drawing/2014/main" id="{A4875D84-BE6D-436D-BAED-B51217908B81}"/>
              </a:ext>
            </a:extLst>
          </p:cNvPr>
          <p:cNvSpPr>
            <a:spLocks noGrp="1"/>
          </p:cNvSpPr>
          <p:nvPr>
            <p:ph sz="quarter" idx="18"/>
          </p:nvPr>
        </p:nvSpPr>
        <p:spPr>
          <a:xfrm>
            <a:off x="0" y="1100133"/>
            <a:ext cx="12192000" cy="2678238"/>
          </a:xfrm>
        </p:spPr>
        <p:txBody>
          <a:bodyPr/>
          <a:lstStyle>
            <a:lvl1pPr marL="0" indent="0">
              <a:buNone/>
              <a:defRPr/>
            </a:lvl1pPr>
          </a:lstStyle>
          <a:p>
            <a:pPr lvl="0"/>
            <a:endParaRPr lang="en-US"/>
          </a:p>
        </p:txBody>
      </p:sp>
      <p:sp>
        <p:nvSpPr>
          <p:cNvPr id="8" name="Date Placeholder 3">
            <a:extLst>
              <a:ext uri="{FF2B5EF4-FFF2-40B4-BE49-F238E27FC236}">
                <a16:creationId xmlns:a16="http://schemas.microsoft.com/office/drawing/2014/main" id="{329AB463-7ABD-4A71-92CD-75D69A76D00F}"/>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D8206587-BD8A-4BB5-9ED5-B27DFC782F5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8BF1CC78-F2BD-4E37-A548-E8FDC43C5197}"/>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2" name="Rectangle 11">
            <a:extLst>
              <a:ext uri="{FF2B5EF4-FFF2-40B4-BE49-F238E27FC236}">
                <a16:creationId xmlns:a16="http://schemas.microsoft.com/office/drawing/2014/main" id="{772D80E7-C0CD-4FEA-9653-8BCF502A38E1}"/>
              </a:ext>
            </a:extLst>
          </p:cNvPr>
          <p:cNvSpPr/>
          <p:nvPr userDrawn="1"/>
        </p:nvSpPr>
        <p:spPr>
          <a:xfrm rot="5400000">
            <a:off x="-1930949" y="2962432"/>
            <a:ext cx="6501016" cy="1290119"/>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 name="Rectangle 12">
            <a:extLst>
              <a:ext uri="{FF2B5EF4-FFF2-40B4-BE49-F238E27FC236}">
                <a16:creationId xmlns:a16="http://schemas.microsoft.com/office/drawing/2014/main" id="{DE2E0135-5CEC-4646-9568-D0631D3D9BD5}"/>
              </a:ext>
            </a:extLst>
          </p:cNvPr>
          <p:cNvSpPr/>
          <p:nvPr userDrawn="1"/>
        </p:nvSpPr>
        <p:spPr>
          <a:xfrm rot="5400000">
            <a:off x="1099586" y="227193"/>
            <a:ext cx="439947" cy="1290119"/>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6" name="Text Placeholder 2">
            <a:extLst>
              <a:ext uri="{FF2B5EF4-FFF2-40B4-BE49-F238E27FC236}">
                <a16:creationId xmlns:a16="http://schemas.microsoft.com/office/drawing/2014/main" id="{4769A7C7-5A77-4F2E-86B0-50F286145E60}"/>
              </a:ext>
            </a:extLst>
          </p:cNvPr>
          <p:cNvSpPr>
            <a:spLocks noGrp="1"/>
          </p:cNvSpPr>
          <p:nvPr>
            <p:ph type="body" idx="13"/>
          </p:nvPr>
        </p:nvSpPr>
        <p:spPr>
          <a:xfrm>
            <a:off x="2161642" y="4863214"/>
            <a:ext cx="9633954" cy="1356612"/>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1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A327DE14-9839-4206-BF00-5F3EAD0D2258}"/>
              </a:ext>
            </a:extLst>
          </p:cNvPr>
          <p:cNvSpPr>
            <a:spLocks noGrp="1"/>
          </p:cNvSpPr>
          <p:nvPr>
            <p:ph type="body" idx="14" hasCustomPrompt="1"/>
          </p:nvPr>
        </p:nvSpPr>
        <p:spPr>
          <a:xfrm>
            <a:off x="2161643" y="4471960"/>
            <a:ext cx="9633953" cy="308725"/>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14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DF826949-9623-4A3C-891F-25D189BB3CC7}"/>
              </a:ext>
            </a:extLst>
          </p:cNvPr>
          <p:cNvSpPr>
            <a:spLocks noGrp="1"/>
          </p:cNvSpPr>
          <p:nvPr>
            <p:ph type="body" idx="15" hasCustomPrompt="1"/>
          </p:nvPr>
        </p:nvSpPr>
        <p:spPr>
          <a:xfrm>
            <a:off x="2161643" y="3936154"/>
            <a:ext cx="2658185"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4" name="Picture 13">
            <a:extLst>
              <a:ext uri="{FF2B5EF4-FFF2-40B4-BE49-F238E27FC236}">
                <a16:creationId xmlns:a16="http://schemas.microsoft.com/office/drawing/2014/main" id="{1D146931-74DE-4C2C-A400-72F7D4836FE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36758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Overlay">
    <p:spTree>
      <p:nvGrpSpPr>
        <p:cNvPr id="1" name=""/>
        <p:cNvGrpSpPr/>
        <p:nvPr/>
      </p:nvGrpSpPr>
      <p:grpSpPr>
        <a:xfrm>
          <a:off x="0" y="0"/>
          <a:ext cx="0" cy="0"/>
          <a:chOff x="0" y="0"/>
          <a:chExt cx="0" cy="0"/>
        </a:xfrm>
      </p:grpSpPr>
      <p:sp>
        <p:nvSpPr>
          <p:cNvPr id="19" name="Content Placeholder 3">
            <a:extLst>
              <a:ext uri="{FF2B5EF4-FFF2-40B4-BE49-F238E27FC236}">
                <a16:creationId xmlns:a16="http://schemas.microsoft.com/office/drawing/2014/main" id="{A4875D84-BE6D-436D-BAED-B51217908B81}"/>
              </a:ext>
            </a:extLst>
          </p:cNvPr>
          <p:cNvSpPr>
            <a:spLocks noGrp="1"/>
          </p:cNvSpPr>
          <p:nvPr>
            <p:ph sz="quarter" idx="18"/>
          </p:nvPr>
        </p:nvSpPr>
        <p:spPr>
          <a:xfrm>
            <a:off x="0" y="1100133"/>
            <a:ext cx="12192000" cy="2678238"/>
          </a:xfrm>
        </p:spPr>
        <p:txBody>
          <a:bodyPr/>
          <a:lstStyle>
            <a:lvl1pPr marL="0" indent="0">
              <a:buNone/>
              <a:defRPr/>
            </a:lvl1pPr>
          </a:lstStyle>
          <a:p>
            <a:pPr lvl="0"/>
            <a:endParaRPr lang="en-US"/>
          </a:p>
        </p:txBody>
      </p:sp>
      <p:sp>
        <p:nvSpPr>
          <p:cNvPr id="8" name="Date Placeholder 3">
            <a:extLst>
              <a:ext uri="{FF2B5EF4-FFF2-40B4-BE49-F238E27FC236}">
                <a16:creationId xmlns:a16="http://schemas.microsoft.com/office/drawing/2014/main" id="{329AB463-7ABD-4A71-92CD-75D69A76D00F}"/>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D8206587-BD8A-4BB5-9ED5-B27DFC782F5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8BF1CC78-F2BD-4E37-A548-E8FDC43C5197}"/>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4769A7C7-5A77-4F2E-86B0-50F286145E60}"/>
              </a:ext>
            </a:extLst>
          </p:cNvPr>
          <p:cNvSpPr>
            <a:spLocks noGrp="1"/>
          </p:cNvSpPr>
          <p:nvPr>
            <p:ph type="body" idx="13"/>
          </p:nvPr>
        </p:nvSpPr>
        <p:spPr>
          <a:xfrm>
            <a:off x="2161642" y="4863214"/>
            <a:ext cx="9633954" cy="1356612"/>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1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A327DE14-9839-4206-BF00-5F3EAD0D2258}"/>
              </a:ext>
            </a:extLst>
          </p:cNvPr>
          <p:cNvSpPr>
            <a:spLocks noGrp="1"/>
          </p:cNvSpPr>
          <p:nvPr>
            <p:ph type="body" idx="14" hasCustomPrompt="1"/>
          </p:nvPr>
        </p:nvSpPr>
        <p:spPr>
          <a:xfrm>
            <a:off x="2161643" y="4471960"/>
            <a:ext cx="9633953" cy="308725"/>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14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DF826949-9623-4A3C-891F-25D189BB3CC7}"/>
              </a:ext>
            </a:extLst>
          </p:cNvPr>
          <p:cNvSpPr>
            <a:spLocks noGrp="1"/>
          </p:cNvSpPr>
          <p:nvPr>
            <p:ph type="body" idx="15" hasCustomPrompt="1"/>
          </p:nvPr>
        </p:nvSpPr>
        <p:spPr>
          <a:xfrm>
            <a:off x="2161643" y="3936154"/>
            <a:ext cx="2658185"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1" name="Picture 10">
            <a:extLst>
              <a:ext uri="{FF2B5EF4-FFF2-40B4-BE49-F238E27FC236}">
                <a16:creationId xmlns:a16="http://schemas.microsoft.com/office/drawing/2014/main" id="{C5F95EDC-A6F4-4502-A320-CC5148AB85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5423275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ogo and Horizontal Bar">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AE4EC233-56FA-4A61-9A12-366BE3D54011}"/>
              </a:ext>
            </a:extLst>
          </p:cNvPr>
          <p:cNvSpPr>
            <a:spLocks noGrp="1"/>
          </p:cNvSpPr>
          <p:nvPr>
            <p:ph type="body" idx="13"/>
          </p:nvPr>
        </p:nvSpPr>
        <p:spPr>
          <a:xfrm>
            <a:off x="733980" y="2422346"/>
            <a:ext cx="6273402" cy="1006654"/>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600" b="1"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DDDADB9B-E798-4F12-9F0E-EFE21C772519}"/>
              </a:ext>
            </a:extLst>
          </p:cNvPr>
          <p:cNvSpPr/>
          <p:nvPr userDrawn="1"/>
        </p:nvSpPr>
        <p:spPr>
          <a:xfrm>
            <a:off x="0" y="356984"/>
            <a:ext cx="8602253" cy="1290119"/>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5" name="Rectangle 14">
            <a:extLst>
              <a:ext uri="{FF2B5EF4-FFF2-40B4-BE49-F238E27FC236}">
                <a16:creationId xmlns:a16="http://schemas.microsoft.com/office/drawing/2014/main" id="{B24D419D-4B51-4428-B970-10A9D0523433}"/>
              </a:ext>
            </a:extLst>
          </p:cNvPr>
          <p:cNvSpPr/>
          <p:nvPr userDrawn="1"/>
        </p:nvSpPr>
        <p:spPr>
          <a:xfrm>
            <a:off x="276045" y="356984"/>
            <a:ext cx="439947" cy="1290119"/>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 name="Date Placeholder 3">
            <a:extLst>
              <a:ext uri="{FF2B5EF4-FFF2-40B4-BE49-F238E27FC236}">
                <a16:creationId xmlns:a16="http://schemas.microsoft.com/office/drawing/2014/main" id="{0151FFAD-EE9A-453B-9521-55FDE54199B4}"/>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7" name="Footer Placeholder 4">
            <a:extLst>
              <a:ext uri="{FF2B5EF4-FFF2-40B4-BE49-F238E27FC236}">
                <a16:creationId xmlns:a16="http://schemas.microsoft.com/office/drawing/2014/main" id="{A7A35103-E00A-449C-A839-97DE47D2FE7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AC0B0D5B-16CA-42A4-91EA-724F1D3356A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1" name="Content Placeholder 3">
            <a:extLst>
              <a:ext uri="{FF2B5EF4-FFF2-40B4-BE49-F238E27FC236}">
                <a16:creationId xmlns:a16="http://schemas.microsoft.com/office/drawing/2014/main" id="{8C789358-8ACA-4F50-AF81-BBCAB3C66E7C}"/>
              </a:ext>
            </a:extLst>
          </p:cNvPr>
          <p:cNvSpPr>
            <a:spLocks noGrp="1"/>
          </p:cNvSpPr>
          <p:nvPr>
            <p:ph sz="quarter" idx="18"/>
          </p:nvPr>
        </p:nvSpPr>
        <p:spPr>
          <a:xfrm>
            <a:off x="7522732" y="1199071"/>
            <a:ext cx="4669268" cy="5032396"/>
          </a:xfrm>
        </p:spPr>
        <p:txBody>
          <a:bodyPr/>
          <a:lstStyle>
            <a:lvl1pPr marL="0" indent="0">
              <a:buNone/>
              <a:defRPr/>
            </a:lvl1pPr>
          </a:lstStyle>
          <a:p>
            <a:pPr lvl="0"/>
            <a:endParaRPr lang="en-US"/>
          </a:p>
        </p:txBody>
      </p:sp>
      <p:sp>
        <p:nvSpPr>
          <p:cNvPr id="14" name="Text Placeholder 2">
            <a:extLst>
              <a:ext uri="{FF2B5EF4-FFF2-40B4-BE49-F238E27FC236}">
                <a16:creationId xmlns:a16="http://schemas.microsoft.com/office/drawing/2014/main" id="{8CC1BB01-1A3D-47A1-A126-536E11A6CAEA}"/>
              </a:ext>
            </a:extLst>
          </p:cNvPr>
          <p:cNvSpPr>
            <a:spLocks noGrp="1"/>
          </p:cNvSpPr>
          <p:nvPr>
            <p:ph type="body" idx="19"/>
          </p:nvPr>
        </p:nvSpPr>
        <p:spPr>
          <a:xfrm>
            <a:off x="733980" y="3498399"/>
            <a:ext cx="6273402" cy="2733068"/>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600" b="1" kern="1200" dirty="0">
                <a:solidFill>
                  <a:schemeClr val="tx1"/>
                </a:solidFill>
                <a:latin typeface="+mn-lt"/>
                <a:ea typeface="+mn-ea"/>
                <a:cs typeface="+mn-cs"/>
              </a:defRPr>
            </a:lvl1pPr>
            <a:lvl2pPr marL="457200" indent="0">
              <a:buNone/>
              <a:defRPr lang="en-US" sz="1400" i="1" kern="1200" dirty="0">
                <a:solidFill>
                  <a:schemeClr val="tx1"/>
                </a:solidFill>
                <a:latin typeface="+mn-lt"/>
                <a:ea typeface="+mn-ea"/>
                <a:cs typeface="+mn-cs"/>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742950" lvl="1" indent="-285750" algn="l" defTabSz="914400" rtl="0" eaLnBrk="1" latinLnBrk="0" hangingPunct="1">
              <a:lnSpc>
                <a:spcPct val="110000"/>
              </a:lnSpc>
              <a:spcBef>
                <a:spcPct val="20000"/>
              </a:spcBef>
              <a:buFont typeface="Arial" panose="020B0604020202020204" pitchFamily="34" charset="0"/>
              <a:buChar char="•"/>
            </a:pPr>
            <a:r>
              <a:rPr lang="en-US"/>
              <a:t>Click to edit Master text styles</a:t>
            </a:r>
          </a:p>
        </p:txBody>
      </p:sp>
      <p:pic>
        <p:nvPicPr>
          <p:cNvPr id="16" name="Picture 15">
            <a:extLst>
              <a:ext uri="{FF2B5EF4-FFF2-40B4-BE49-F238E27FC236}">
                <a16:creationId xmlns:a16="http://schemas.microsoft.com/office/drawing/2014/main" id="{C1337337-FEFF-4635-ACB0-5C117523FE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2638568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Bar - 1 Text Box">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D32680-EE88-44E8-951B-C6D2155845AB}"/>
              </a:ext>
            </a:extLst>
          </p:cNvPr>
          <p:cNvSpPr/>
          <p:nvPr userDrawn="1"/>
        </p:nvSpPr>
        <p:spPr>
          <a:xfrm>
            <a:off x="-4395" y="385701"/>
            <a:ext cx="8587781" cy="738664"/>
          </a:xfrm>
          <a:prstGeom prst="rect">
            <a:avLst/>
          </a:prstGeom>
          <a:solidFill>
            <a:srgbClr val="E477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6"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684698"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chemeClr val="bg1"/>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2" name="Picture 11">
            <a:extLst>
              <a:ext uri="{FF2B5EF4-FFF2-40B4-BE49-F238E27FC236}">
                <a16:creationId xmlns:a16="http://schemas.microsoft.com/office/drawing/2014/main" id="{295B6314-95CE-48AA-BA88-A1E6072222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23240780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Bar - 1 Text Box / Objec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6051699"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200" y="1262359"/>
            <a:ext cx="6051698"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1" name="Content Placeholder 3">
            <a:extLst>
              <a:ext uri="{FF2B5EF4-FFF2-40B4-BE49-F238E27FC236}">
                <a16:creationId xmlns:a16="http://schemas.microsoft.com/office/drawing/2014/main" id="{BCD612D2-AEDC-4956-A6D9-C94BFCB971EC}"/>
              </a:ext>
            </a:extLst>
          </p:cNvPr>
          <p:cNvSpPr>
            <a:spLocks noGrp="1"/>
          </p:cNvSpPr>
          <p:nvPr>
            <p:ph sz="quarter" idx="16"/>
          </p:nvPr>
        </p:nvSpPr>
        <p:spPr>
          <a:xfrm>
            <a:off x="7171870" y="1262360"/>
            <a:ext cx="5020130" cy="4599556"/>
          </a:xfrm>
        </p:spPr>
        <p:txBody>
          <a:bodyPr/>
          <a:lstStyle>
            <a:lvl1pPr marL="0" indent="0">
              <a:buNone/>
              <a:defRPr/>
            </a:lvl1pPr>
          </a:lstStyle>
          <a:p>
            <a:pPr lvl="0"/>
            <a:endParaRPr lang="en-US"/>
          </a:p>
        </p:txBody>
      </p:sp>
      <p:sp>
        <p:nvSpPr>
          <p:cNvPr id="13" name="Rectangle 12">
            <a:extLst>
              <a:ext uri="{FF2B5EF4-FFF2-40B4-BE49-F238E27FC236}">
                <a16:creationId xmlns:a16="http://schemas.microsoft.com/office/drawing/2014/main" id="{D40823BA-BF54-49B3-9A9B-E69515E62A58}"/>
              </a:ext>
            </a:extLst>
          </p:cNvPr>
          <p:cNvSpPr/>
          <p:nvPr userDrawn="1"/>
        </p:nvSpPr>
        <p:spPr>
          <a:xfrm>
            <a:off x="-4395" y="385701"/>
            <a:ext cx="8587781" cy="738664"/>
          </a:xfrm>
          <a:prstGeom prst="rect">
            <a:avLst/>
          </a:prstGeom>
          <a:solidFill>
            <a:srgbClr val="E477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2">
            <a:extLst>
              <a:ext uri="{FF2B5EF4-FFF2-40B4-BE49-F238E27FC236}">
                <a16:creationId xmlns:a16="http://schemas.microsoft.com/office/drawing/2014/main" id="{FEC9F8DF-425A-4FB9-8C9F-B1887B342EFF}"/>
              </a:ext>
            </a:extLst>
          </p:cNvPr>
          <p:cNvSpPr>
            <a:spLocks noGrp="1"/>
          </p:cNvSpPr>
          <p:nvPr>
            <p:ph type="body" idx="15" hasCustomPrompt="1"/>
          </p:nvPr>
        </p:nvSpPr>
        <p:spPr>
          <a:xfrm>
            <a:off x="838200" y="455231"/>
            <a:ext cx="7684698"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chemeClr val="bg1"/>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5" name="Picture 14">
            <a:extLst>
              <a:ext uri="{FF2B5EF4-FFF2-40B4-BE49-F238E27FC236}">
                <a16:creationId xmlns:a16="http://schemas.microsoft.com/office/drawing/2014/main" id="{25DED708-6E6C-4174-A408-F32512A9C1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27703353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ar - 2 Text Boxe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0C83E32-8138-4081-BC44-6D1D116420A4}"/>
              </a:ext>
            </a:extLst>
          </p:cNvPr>
          <p:cNvSpPr/>
          <p:nvPr userDrawn="1"/>
        </p:nvSpPr>
        <p:spPr>
          <a:xfrm>
            <a:off x="-4395" y="385701"/>
            <a:ext cx="8587781" cy="738664"/>
          </a:xfrm>
          <a:prstGeom prst="rect">
            <a:avLst/>
          </a:prstGeom>
          <a:solidFill>
            <a:srgbClr val="E477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2">
            <a:extLst>
              <a:ext uri="{FF2B5EF4-FFF2-40B4-BE49-F238E27FC236}">
                <a16:creationId xmlns:a16="http://schemas.microsoft.com/office/drawing/2014/main" id="{C13D400D-764C-4CA8-9376-C93F4247F129}"/>
              </a:ext>
            </a:extLst>
          </p:cNvPr>
          <p:cNvSpPr>
            <a:spLocks noGrp="1"/>
          </p:cNvSpPr>
          <p:nvPr>
            <p:ph type="body" idx="18" hasCustomPrompt="1"/>
          </p:nvPr>
        </p:nvSpPr>
        <p:spPr>
          <a:xfrm>
            <a:off x="838200" y="455231"/>
            <a:ext cx="7684698"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chemeClr val="bg1"/>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1" name="Text Placeholder 2">
            <a:extLst>
              <a:ext uri="{FF2B5EF4-FFF2-40B4-BE49-F238E27FC236}">
                <a16:creationId xmlns:a16="http://schemas.microsoft.com/office/drawing/2014/main" id="{3C7A73E1-F24F-45F0-B687-032B0E0C89A9}"/>
              </a:ext>
            </a:extLst>
          </p:cNvPr>
          <p:cNvSpPr>
            <a:spLocks noGrp="1"/>
          </p:cNvSpPr>
          <p:nvPr>
            <p:ph type="body" idx="16"/>
          </p:nvPr>
        </p:nvSpPr>
        <p:spPr>
          <a:xfrm>
            <a:off x="838198" y="4270752"/>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CE9840FD-397F-4F93-B1D6-CBAFE145EF5B}"/>
              </a:ext>
            </a:extLst>
          </p:cNvPr>
          <p:cNvSpPr>
            <a:spLocks noGrp="1"/>
          </p:cNvSpPr>
          <p:nvPr>
            <p:ph type="body" idx="17" hasCustomPrompt="1"/>
          </p:nvPr>
        </p:nvSpPr>
        <p:spPr>
          <a:xfrm>
            <a:off x="838197" y="3809354"/>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pic>
        <p:nvPicPr>
          <p:cNvPr id="18" name="Picture 17">
            <a:extLst>
              <a:ext uri="{FF2B5EF4-FFF2-40B4-BE49-F238E27FC236}">
                <a16:creationId xmlns:a16="http://schemas.microsoft.com/office/drawing/2014/main" id="{D9CC9410-29B3-41D0-BA2B-C5163EE165B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7201165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Bar - 2 Text Box / Objec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200" y="1262359"/>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1" name="Text Placeholder 2">
            <a:extLst>
              <a:ext uri="{FF2B5EF4-FFF2-40B4-BE49-F238E27FC236}">
                <a16:creationId xmlns:a16="http://schemas.microsoft.com/office/drawing/2014/main" id="{3C7A73E1-F24F-45F0-B687-032B0E0C89A9}"/>
              </a:ext>
            </a:extLst>
          </p:cNvPr>
          <p:cNvSpPr>
            <a:spLocks noGrp="1"/>
          </p:cNvSpPr>
          <p:nvPr>
            <p:ph type="body" idx="16"/>
          </p:nvPr>
        </p:nvSpPr>
        <p:spPr>
          <a:xfrm>
            <a:off x="838198" y="4270752"/>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CE9840FD-397F-4F93-B1D6-CBAFE145EF5B}"/>
              </a:ext>
            </a:extLst>
          </p:cNvPr>
          <p:cNvSpPr>
            <a:spLocks noGrp="1"/>
          </p:cNvSpPr>
          <p:nvPr>
            <p:ph type="body" idx="17" hasCustomPrompt="1"/>
          </p:nvPr>
        </p:nvSpPr>
        <p:spPr>
          <a:xfrm>
            <a:off x="838198" y="3809354"/>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3" name="Content Placeholder 3">
            <a:extLst>
              <a:ext uri="{FF2B5EF4-FFF2-40B4-BE49-F238E27FC236}">
                <a16:creationId xmlns:a16="http://schemas.microsoft.com/office/drawing/2014/main" id="{D1AAD977-00C3-426E-A3AA-9DF9DF5D9FDE}"/>
              </a:ext>
            </a:extLst>
          </p:cNvPr>
          <p:cNvSpPr>
            <a:spLocks noGrp="1"/>
          </p:cNvSpPr>
          <p:nvPr>
            <p:ph sz="quarter" idx="18"/>
          </p:nvPr>
        </p:nvSpPr>
        <p:spPr>
          <a:xfrm>
            <a:off x="7171870" y="1262359"/>
            <a:ext cx="5020130" cy="4684091"/>
          </a:xfrm>
        </p:spPr>
        <p:txBody>
          <a:bodyPr/>
          <a:lstStyle>
            <a:lvl1pPr marL="0" indent="0">
              <a:buNone/>
              <a:defRPr/>
            </a:lvl1pPr>
          </a:lstStyle>
          <a:p>
            <a:pPr lvl="0"/>
            <a:endParaRPr lang="en-US"/>
          </a:p>
        </p:txBody>
      </p:sp>
      <p:sp>
        <p:nvSpPr>
          <p:cNvPr id="15" name="Rectangle 14">
            <a:extLst>
              <a:ext uri="{FF2B5EF4-FFF2-40B4-BE49-F238E27FC236}">
                <a16:creationId xmlns:a16="http://schemas.microsoft.com/office/drawing/2014/main" id="{8F867A5D-6ED9-4F96-B9F3-8AFF51324262}"/>
              </a:ext>
            </a:extLst>
          </p:cNvPr>
          <p:cNvSpPr/>
          <p:nvPr userDrawn="1"/>
        </p:nvSpPr>
        <p:spPr>
          <a:xfrm>
            <a:off x="-4395" y="385701"/>
            <a:ext cx="8587781" cy="738664"/>
          </a:xfrm>
          <a:prstGeom prst="rect">
            <a:avLst/>
          </a:prstGeom>
          <a:solidFill>
            <a:srgbClr val="E477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3CF70695-0763-4CE5-8E9E-600A334437F0}"/>
              </a:ext>
            </a:extLst>
          </p:cNvPr>
          <p:cNvSpPr>
            <a:spLocks noGrp="1"/>
          </p:cNvSpPr>
          <p:nvPr>
            <p:ph type="body" idx="19" hasCustomPrompt="1"/>
          </p:nvPr>
        </p:nvSpPr>
        <p:spPr>
          <a:xfrm>
            <a:off x="838200" y="455231"/>
            <a:ext cx="7684698"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chemeClr val="bg1"/>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8" name="Picture 17">
            <a:extLst>
              <a:ext uri="{FF2B5EF4-FFF2-40B4-BE49-F238E27FC236}">
                <a16:creationId xmlns:a16="http://schemas.microsoft.com/office/drawing/2014/main" id="{3E405AB5-4D38-40B3-82DB-9764A92E94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5575823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Bar - 1 Text Box / Object (Bottom)">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CB9344-FFC7-4A94-B066-68A9A7F10ABC}"/>
              </a:ext>
            </a:extLst>
          </p:cNvPr>
          <p:cNvSpPr/>
          <p:nvPr userDrawn="1"/>
        </p:nvSpPr>
        <p:spPr>
          <a:xfrm>
            <a:off x="0" y="0"/>
            <a:ext cx="381000" cy="6858000"/>
          </a:xfrm>
          <a:prstGeom prst="rect">
            <a:avLst/>
          </a:prstGeom>
          <a:solidFill>
            <a:srgbClr val="0A1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8ADF81-80F8-4AE5-AB28-82D79B73198B}"/>
              </a:ext>
            </a:extLst>
          </p:cNvPr>
          <p:cNvSpPr/>
          <p:nvPr userDrawn="1"/>
        </p:nvSpPr>
        <p:spPr>
          <a:xfrm>
            <a:off x="0" y="381000"/>
            <a:ext cx="390525" cy="741363"/>
          </a:xfrm>
          <a:prstGeom prst="rect">
            <a:avLst/>
          </a:prstGeom>
          <a:solidFill>
            <a:srgbClr val="E5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3" name="Content Placeholder 3">
            <a:extLst>
              <a:ext uri="{FF2B5EF4-FFF2-40B4-BE49-F238E27FC236}">
                <a16:creationId xmlns:a16="http://schemas.microsoft.com/office/drawing/2014/main" id="{A0CF675F-0BE4-4244-ACEA-6357F2399F9E}"/>
              </a:ext>
            </a:extLst>
          </p:cNvPr>
          <p:cNvSpPr>
            <a:spLocks noGrp="1"/>
          </p:cNvSpPr>
          <p:nvPr>
            <p:ph sz="quarter" idx="18"/>
          </p:nvPr>
        </p:nvSpPr>
        <p:spPr>
          <a:xfrm>
            <a:off x="838199" y="3809354"/>
            <a:ext cx="10957397" cy="2137096"/>
          </a:xfrm>
        </p:spPr>
        <p:txBody>
          <a:bodyPr/>
          <a:lstStyle>
            <a:lvl1pPr marL="0" indent="0">
              <a:buNone/>
              <a:defRPr/>
            </a:lvl1pPr>
          </a:lstStyle>
          <a:p>
            <a:pPr lvl="0"/>
            <a:endParaRPr lang="en-US"/>
          </a:p>
        </p:txBody>
      </p:sp>
      <p:sp>
        <p:nvSpPr>
          <p:cNvPr id="14" name="Rectangle 13">
            <a:extLst>
              <a:ext uri="{FF2B5EF4-FFF2-40B4-BE49-F238E27FC236}">
                <a16:creationId xmlns:a16="http://schemas.microsoft.com/office/drawing/2014/main" id="{77B2869E-56CE-479A-A57A-E5CE6FB452A6}"/>
              </a:ext>
            </a:extLst>
          </p:cNvPr>
          <p:cNvSpPr/>
          <p:nvPr userDrawn="1"/>
        </p:nvSpPr>
        <p:spPr>
          <a:xfrm>
            <a:off x="-4395" y="385701"/>
            <a:ext cx="8587781" cy="738664"/>
          </a:xfrm>
          <a:prstGeom prst="rect">
            <a:avLst/>
          </a:prstGeom>
          <a:solidFill>
            <a:srgbClr val="E477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2">
            <a:extLst>
              <a:ext uri="{FF2B5EF4-FFF2-40B4-BE49-F238E27FC236}">
                <a16:creationId xmlns:a16="http://schemas.microsoft.com/office/drawing/2014/main" id="{1ECFAE8F-7D1C-4414-A557-53AB49E6A1DF}"/>
              </a:ext>
            </a:extLst>
          </p:cNvPr>
          <p:cNvSpPr>
            <a:spLocks noGrp="1"/>
          </p:cNvSpPr>
          <p:nvPr>
            <p:ph type="body" idx="19" hasCustomPrompt="1"/>
          </p:nvPr>
        </p:nvSpPr>
        <p:spPr>
          <a:xfrm>
            <a:off x="838200" y="455231"/>
            <a:ext cx="7684698"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chemeClr val="bg1"/>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8" name="Picture 17">
            <a:extLst>
              <a:ext uri="{FF2B5EF4-FFF2-40B4-BE49-F238E27FC236}">
                <a16:creationId xmlns:a16="http://schemas.microsoft.com/office/drawing/2014/main" id="{3D2F03FE-AAB5-4F47-AD86-7AFEAB2E94E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9055436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ar (Bottom) - 1 Text 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3C12D2-1BF9-4F8E-9914-B8E6E9D2EA8C}"/>
              </a:ext>
            </a:extLst>
          </p:cNvPr>
          <p:cNvSpPr/>
          <p:nvPr userDrawn="1"/>
        </p:nvSpPr>
        <p:spPr>
          <a:xfrm>
            <a:off x="0" y="6286500"/>
            <a:ext cx="12192000" cy="571500"/>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66583DBE-69CB-4E3E-BC00-4C9095EA2BA9}" type="datetimeFigureOut">
              <a:rPr lang="en-US" smtClean="0"/>
              <a:pPr/>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6101A03D-A64C-460E-BF6F-73D197605F99}" type="slidenum">
              <a:rPr lang="en-US" smtClean="0"/>
              <a:pPr/>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6"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1" name="Picture 10">
            <a:extLst>
              <a:ext uri="{FF2B5EF4-FFF2-40B4-BE49-F238E27FC236}">
                <a16:creationId xmlns:a16="http://schemas.microsoft.com/office/drawing/2014/main" id="{36BCDA45-334A-42B2-B303-45C62EF608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22219917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ar (Bottom) - 1 Text Box / Object">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6051699"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200" y="1262359"/>
            <a:ext cx="6051698"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1" name="Content Placeholder 3">
            <a:extLst>
              <a:ext uri="{FF2B5EF4-FFF2-40B4-BE49-F238E27FC236}">
                <a16:creationId xmlns:a16="http://schemas.microsoft.com/office/drawing/2014/main" id="{BCD612D2-AEDC-4956-A6D9-C94BFCB971EC}"/>
              </a:ext>
            </a:extLst>
          </p:cNvPr>
          <p:cNvSpPr>
            <a:spLocks noGrp="1"/>
          </p:cNvSpPr>
          <p:nvPr>
            <p:ph sz="quarter" idx="16"/>
          </p:nvPr>
        </p:nvSpPr>
        <p:spPr>
          <a:xfrm>
            <a:off x="7171870" y="1262360"/>
            <a:ext cx="5020130" cy="4599556"/>
          </a:xfrm>
        </p:spPr>
        <p:txBody>
          <a:bodyPr/>
          <a:lstStyle>
            <a:lvl1pPr marL="0" indent="0">
              <a:buNone/>
              <a:defRPr/>
            </a:lvl1pPr>
          </a:lstStyle>
          <a:p>
            <a:pPr lvl="0"/>
            <a:endParaRPr lang="en-US"/>
          </a:p>
        </p:txBody>
      </p:sp>
      <p:sp>
        <p:nvSpPr>
          <p:cNvPr id="13" name="Rectangle 12">
            <a:extLst>
              <a:ext uri="{FF2B5EF4-FFF2-40B4-BE49-F238E27FC236}">
                <a16:creationId xmlns:a16="http://schemas.microsoft.com/office/drawing/2014/main" id="{58AA5E2E-6130-4711-A351-AAB69EC4FA6B}"/>
              </a:ext>
            </a:extLst>
          </p:cNvPr>
          <p:cNvSpPr/>
          <p:nvPr userDrawn="1"/>
        </p:nvSpPr>
        <p:spPr>
          <a:xfrm>
            <a:off x="0" y="6286500"/>
            <a:ext cx="12192000" cy="571500"/>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e Placeholder 3">
            <a:extLst>
              <a:ext uri="{FF2B5EF4-FFF2-40B4-BE49-F238E27FC236}">
                <a16:creationId xmlns:a16="http://schemas.microsoft.com/office/drawing/2014/main" id="{CD74906E-8600-459D-9705-D05DED516B3B}"/>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66583DBE-69CB-4E3E-BC00-4C9095EA2BA9}" type="datetimeFigureOut">
              <a:rPr lang="en-US" smtClean="0"/>
              <a:pPr/>
              <a:t>6/8/2023</a:t>
            </a:fld>
            <a:endParaRPr lang="en-US"/>
          </a:p>
        </p:txBody>
      </p:sp>
      <p:sp>
        <p:nvSpPr>
          <p:cNvPr id="15" name="Footer Placeholder 4">
            <a:extLst>
              <a:ext uri="{FF2B5EF4-FFF2-40B4-BE49-F238E27FC236}">
                <a16:creationId xmlns:a16="http://schemas.microsoft.com/office/drawing/2014/main" id="{DDAC6BA9-03AE-4B80-8972-F86A040A0A7B}"/>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19" name="Slide Number Placeholder 5">
            <a:extLst>
              <a:ext uri="{FF2B5EF4-FFF2-40B4-BE49-F238E27FC236}">
                <a16:creationId xmlns:a16="http://schemas.microsoft.com/office/drawing/2014/main" id="{33D0B6F5-E2F9-4576-B57A-97A3B561E78B}"/>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6101A03D-A64C-460E-BF6F-73D197605F99}" type="slidenum">
              <a:rPr lang="en-US" smtClean="0"/>
              <a:pPr/>
              <a:t>‹#›</a:t>
            </a:fld>
            <a:endParaRPr lang="en-US"/>
          </a:p>
        </p:txBody>
      </p:sp>
      <p:pic>
        <p:nvPicPr>
          <p:cNvPr id="12" name="Picture 11">
            <a:extLst>
              <a:ext uri="{FF2B5EF4-FFF2-40B4-BE49-F238E27FC236}">
                <a16:creationId xmlns:a16="http://schemas.microsoft.com/office/drawing/2014/main" id="{608C895D-F936-429E-8742-A832F354398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19410087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ar (Bottom) - 2 Text Boxes">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1" name="Text Placeholder 2">
            <a:extLst>
              <a:ext uri="{FF2B5EF4-FFF2-40B4-BE49-F238E27FC236}">
                <a16:creationId xmlns:a16="http://schemas.microsoft.com/office/drawing/2014/main" id="{3C7A73E1-F24F-45F0-B687-032B0E0C89A9}"/>
              </a:ext>
            </a:extLst>
          </p:cNvPr>
          <p:cNvSpPr>
            <a:spLocks noGrp="1"/>
          </p:cNvSpPr>
          <p:nvPr>
            <p:ph type="body" idx="16"/>
          </p:nvPr>
        </p:nvSpPr>
        <p:spPr>
          <a:xfrm>
            <a:off x="838198" y="4270752"/>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CE9840FD-397F-4F93-B1D6-CBAFE145EF5B}"/>
              </a:ext>
            </a:extLst>
          </p:cNvPr>
          <p:cNvSpPr>
            <a:spLocks noGrp="1"/>
          </p:cNvSpPr>
          <p:nvPr>
            <p:ph type="body" idx="17" hasCustomPrompt="1"/>
          </p:nvPr>
        </p:nvSpPr>
        <p:spPr>
          <a:xfrm>
            <a:off x="838197" y="3809354"/>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4" name="Rectangle 13">
            <a:extLst>
              <a:ext uri="{FF2B5EF4-FFF2-40B4-BE49-F238E27FC236}">
                <a16:creationId xmlns:a16="http://schemas.microsoft.com/office/drawing/2014/main" id="{BD5CA175-47E5-44C2-88D1-47042E29FA93}"/>
              </a:ext>
            </a:extLst>
          </p:cNvPr>
          <p:cNvSpPr/>
          <p:nvPr userDrawn="1"/>
        </p:nvSpPr>
        <p:spPr>
          <a:xfrm>
            <a:off x="0" y="6286500"/>
            <a:ext cx="12192000" cy="571500"/>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5B421924-0E01-4A84-AB53-1256E10DE0C6}"/>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66583DBE-69CB-4E3E-BC00-4C9095EA2BA9}" type="datetimeFigureOut">
              <a:rPr lang="en-US" smtClean="0"/>
              <a:pPr/>
              <a:t>6/8/2023</a:t>
            </a:fld>
            <a:endParaRPr lang="en-US"/>
          </a:p>
        </p:txBody>
      </p:sp>
      <p:sp>
        <p:nvSpPr>
          <p:cNvPr id="19" name="Footer Placeholder 4">
            <a:extLst>
              <a:ext uri="{FF2B5EF4-FFF2-40B4-BE49-F238E27FC236}">
                <a16:creationId xmlns:a16="http://schemas.microsoft.com/office/drawing/2014/main" id="{C9E074FE-C34C-4F7A-A006-10F936216A7A}"/>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20" name="Slide Number Placeholder 5">
            <a:extLst>
              <a:ext uri="{FF2B5EF4-FFF2-40B4-BE49-F238E27FC236}">
                <a16:creationId xmlns:a16="http://schemas.microsoft.com/office/drawing/2014/main" id="{E74529C3-3B1D-4F99-A291-A86E48C25BD4}"/>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6101A03D-A64C-460E-BF6F-73D197605F99}" type="slidenum">
              <a:rPr lang="en-US" smtClean="0"/>
              <a:pPr/>
              <a:t>‹#›</a:t>
            </a:fld>
            <a:endParaRPr lang="en-US"/>
          </a:p>
        </p:txBody>
      </p:sp>
      <p:pic>
        <p:nvPicPr>
          <p:cNvPr id="21" name="Picture 20">
            <a:extLst>
              <a:ext uri="{FF2B5EF4-FFF2-40B4-BE49-F238E27FC236}">
                <a16:creationId xmlns:a16="http://schemas.microsoft.com/office/drawing/2014/main" id="{29D1E25A-C4F4-4BE6-8A80-7CE36F3AFA0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8721239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r (Bottom) - 2 Text Box / Object">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200" y="1262359"/>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1" name="Text Placeholder 2">
            <a:extLst>
              <a:ext uri="{FF2B5EF4-FFF2-40B4-BE49-F238E27FC236}">
                <a16:creationId xmlns:a16="http://schemas.microsoft.com/office/drawing/2014/main" id="{3C7A73E1-F24F-45F0-B687-032B0E0C89A9}"/>
              </a:ext>
            </a:extLst>
          </p:cNvPr>
          <p:cNvSpPr>
            <a:spLocks noGrp="1"/>
          </p:cNvSpPr>
          <p:nvPr>
            <p:ph type="body" idx="16"/>
          </p:nvPr>
        </p:nvSpPr>
        <p:spPr>
          <a:xfrm>
            <a:off x="838198" y="4270752"/>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CE9840FD-397F-4F93-B1D6-CBAFE145EF5B}"/>
              </a:ext>
            </a:extLst>
          </p:cNvPr>
          <p:cNvSpPr>
            <a:spLocks noGrp="1"/>
          </p:cNvSpPr>
          <p:nvPr>
            <p:ph type="body" idx="17" hasCustomPrompt="1"/>
          </p:nvPr>
        </p:nvSpPr>
        <p:spPr>
          <a:xfrm>
            <a:off x="838198" y="3809354"/>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3" name="Content Placeholder 3">
            <a:extLst>
              <a:ext uri="{FF2B5EF4-FFF2-40B4-BE49-F238E27FC236}">
                <a16:creationId xmlns:a16="http://schemas.microsoft.com/office/drawing/2014/main" id="{D1AAD977-00C3-426E-A3AA-9DF9DF5D9FDE}"/>
              </a:ext>
            </a:extLst>
          </p:cNvPr>
          <p:cNvSpPr>
            <a:spLocks noGrp="1"/>
          </p:cNvSpPr>
          <p:nvPr>
            <p:ph sz="quarter" idx="18"/>
          </p:nvPr>
        </p:nvSpPr>
        <p:spPr>
          <a:xfrm>
            <a:off x="7171870" y="1262359"/>
            <a:ext cx="5020130" cy="4684091"/>
          </a:xfrm>
        </p:spPr>
        <p:txBody>
          <a:bodyPr/>
          <a:lstStyle>
            <a:lvl1pPr marL="0" indent="0">
              <a:buNone/>
              <a:defRPr/>
            </a:lvl1pPr>
          </a:lstStyle>
          <a:p>
            <a:pPr lvl="0"/>
            <a:endParaRPr lang="en-US"/>
          </a:p>
        </p:txBody>
      </p:sp>
      <p:sp>
        <p:nvSpPr>
          <p:cNvPr id="15" name="Rectangle 14">
            <a:extLst>
              <a:ext uri="{FF2B5EF4-FFF2-40B4-BE49-F238E27FC236}">
                <a16:creationId xmlns:a16="http://schemas.microsoft.com/office/drawing/2014/main" id="{0007574C-9D2B-49C8-8449-4A2D9BA320AC}"/>
              </a:ext>
            </a:extLst>
          </p:cNvPr>
          <p:cNvSpPr/>
          <p:nvPr userDrawn="1"/>
        </p:nvSpPr>
        <p:spPr>
          <a:xfrm>
            <a:off x="0" y="6286500"/>
            <a:ext cx="12192000" cy="571500"/>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3">
            <a:extLst>
              <a:ext uri="{FF2B5EF4-FFF2-40B4-BE49-F238E27FC236}">
                <a16:creationId xmlns:a16="http://schemas.microsoft.com/office/drawing/2014/main" id="{11B1EB2B-3CA8-43CF-BF0F-A01DAEC1F682}"/>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66583DBE-69CB-4E3E-BC00-4C9095EA2BA9}" type="datetimeFigureOut">
              <a:rPr lang="en-US" smtClean="0"/>
              <a:pPr/>
              <a:t>6/8/2023</a:t>
            </a:fld>
            <a:endParaRPr lang="en-US"/>
          </a:p>
        </p:txBody>
      </p:sp>
      <p:sp>
        <p:nvSpPr>
          <p:cNvPr id="20" name="Footer Placeholder 4">
            <a:extLst>
              <a:ext uri="{FF2B5EF4-FFF2-40B4-BE49-F238E27FC236}">
                <a16:creationId xmlns:a16="http://schemas.microsoft.com/office/drawing/2014/main" id="{6804D19B-2E3E-4E36-A8AF-5A572E170206}"/>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21" name="Slide Number Placeholder 5">
            <a:extLst>
              <a:ext uri="{FF2B5EF4-FFF2-40B4-BE49-F238E27FC236}">
                <a16:creationId xmlns:a16="http://schemas.microsoft.com/office/drawing/2014/main" id="{EF993837-B573-4C04-8CE3-DEABB7DD67D5}"/>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6101A03D-A64C-460E-BF6F-73D197605F99}" type="slidenum">
              <a:rPr lang="en-US" smtClean="0"/>
              <a:pPr/>
              <a:t>‹#›</a:t>
            </a:fld>
            <a:endParaRPr lang="en-US"/>
          </a:p>
        </p:txBody>
      </p:sp>
      <p:pic>
        <p:nvPicPr>
          <p:cNvPr id="22" name="Picture 21">
            <a:extLst>
              <a:ext uri="{FF2B5EF4-FFF2-40B4-BE49-F238E27FC236}">
                <a16:creationId xmlns:a16="http://schemas.microsoft.com/office/drawing/2014/main" id="{6F9F197F-0423-4489-A243-FA9B6B52E5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24268837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ar (Bottom) - 1 Text Box / Object (Bottom)">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3" name="Content Placeholder 3">
            <a:extLst>
              <a:ext uri="{FF2B5EF4-FFF2-40B4-BE49-F238E27FC236}">
                <a16:creationId xmlns:a16="http://schemas.microsoft.com/office/drawing/2014/main" id="{A0CF675F-0BE4-4244-ACEA-6357F2399F9E}"/>
              </a:ext>
            </a:extLst>
          </p:cNvPr>
          <p:cNvSpPr>
            <a:spLocks noGrp="1"/>
          </p:cNvSpPr>
          <p:nvPr>
            <p:ph sz="quarter" idx="18"/>
          </p:nvPr>
        </p:nvSpPr>
        <p:spPr>
          <a:xfrm>
            <a:off x="838199" y="3809354"/>
            <a:ext cx="10957397" cy="2137096"/>
          </a:xfrm>
        </p:spPr>
        <p:txBody>
          <a:bodyPr/>
          <a:lstStyle>
            <a:lvl1pPr marL="0" indent="0">
              <a:buNone/>
              <a:defRPr/>
            </a:lvl1pPr>
          </a:lstStyle>
          <a:p>
            <a:pPr lvl="0"/>
            <a:endParaRPr lang="en-US"/>
          </a:p>
        </p:txBody>
      </p:sp>
      <p:sp>
        <p:nvSpPr>
          <p:cNvPr id="14" name="Rectangle 13">
            <a:extLst>
              <a:ext uri="{FF2B5EF4-FFF2-40B4-BE49-F238E27FC236}">
                <a16:creationId xmlns:a16="http://schemas.microsoft.com/office/drawing/2014/main" id="{6271190F-3477-4EAE-A3D3-10CF2806E177}"/>
              </a:ext>
            </a:extLst>
          </p:cNvPr>
          <p:cNvSpPr/>
          <p:nvPr userDrawn="1"/>
        </p:nvSpPr>
        <p:spPr>
          <a:xfrm>
            <a:off x="0" y="6286500"/>
            <a:ext cx="12192000" cy="571500"/>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D8BD0EC4-F50C-46DA-B4B2-5E2BE207D870}"/>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66583DBE-69CB-4E3E-BC00-4C9095EA2BA9}" type="datetimeFigureOut">
              <a:rPr lang="en-US" smtClean="0"/>
              <a:pPr/>
              <a:t>6/8/2023</a:t>
            </a:fld>
            <a:endParaRPr lang="en-US"/>
          </a:p>
        </p:txBody>
      </p:sp>
      <p:sp>
        <p:nvSpPr>
          <p:cNvPr id="19" name="Footer Placeholder 4">
            <a:extLst>
              <a:ext uri="{FF2B5EF4-FFF2-40B4-BE49-F238E27FC236}">
                <a16:creationId xmlns:a16="http://schemas.microsoft.com/office/drawing/2014/main" id="{2BE190E7-62CB-4F4C-BF44-72B35F6AEF7A}"/>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20" name="Slide Number Placeholder 5">
            <a:extLst>
              <a:ext uri="{FF2B5EF4-FFF2-40B4-BE49-F238E27FC236}">
                <a16:creationId xmlns:a16="http://schemas.microsoft.com/office/drawing/2014/main" id="{5585F315-01D5-4825-99AD-2C38A1F815DB}"/>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6101A03D-A64C-460E-BF6F-73D197605F99}" type="slidenum">
              <a:rPr lang="en-US" smtClean="0"/>
              <a:pPr/>
              <a:t>‹#›</a:t>
            </a:fld>
            <a:endParaRPr lang="en-US"/>
          </a:p>
        </p:txBody>
      </p:sp>
      <p:pic>
        <p:nvPicPr>
          <p:cNvPr id="11" name="Picture 10">
            <a:extLst>
              <a:ext uri="{FF2B5EF4-FFF2-40B4-BE49-F238E27FC236}">
                <a16:creationId xmlns:a16="http://schemas.microsoft.com/office/drawing/2014/main" id="{FF05AAC6-252F-4ADB-823F-2770DEF1C2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74312" y="356182"/>
            <a:ext cx="3010741" cy="592198"/>
          </a:xfrm>
          <a:prstGeom prst="rect">
            <a:avLst/>
          </a:prstGeom>
        </p:spPr>
      </p:pic>
    </p:spTree>
    <p:extLst>
      <p:ext uri="{BB962C8B-B14F-4D97-AF65-F5344CB8AC3E}">
        <p14:creationId xmlns:p14="http://schemas.microsoft.com/office/powerpoint/2010/main" val="33288899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ar (Bottom) - Logo Lef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3C12D2-1BF9-4F8E-9914-B8E6E9D2EA8C}"/>
              </a:ext>
            </a:extLst>
          </p:cNvPr>
          <p:cNvSpPr/>
          <p:nvPr userDrawn="1"/>
        </p:nvSpPr>
        <p:spPr>
          <a:xfrm>
            <a:off x="0" y="6721474"/>
            <a:ext cx="12192000" cy="136525"/>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66583DBE-69CB-4E3E-BC00-4C9095EA2BA9}" type="datetimeFigureOut">
              <a:rPr lang="en-US" smtClean="0"/>
              <a:pPr/>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6101A03D-A64C-460E-BF6F-73D197605F99}" type="slidenum">
              <a:rPr lang="en-US" smtClean="0"/>
              <a:pPr/>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838200" y="2342881"/>
            <a:ext cx="10957396" cy="3519034"/>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5037B0F9-DAB2-4B17-B3F3-F533EDE66544}"/>
              </a:ext>
            </a:extLst>
          </p:cNvPr>
          <p:cNvSpPr>
            <a:spLocks noGrp="1"/>
          </p:cNvSpPr>
          <p:nvPr>
            <p:ph type="body" idx="14" hasCustomPrompt="1"/>
          </p:nvPr>
        </p:nvSpPr>
        <p:spPr>
          <a:xfrm>
            <a:off x="838199" y="1881484"/>
            <a:ext cx="109573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9B35B02E-69A8-4F93-A805-99D31DE4B306}"/>
              </a:ext>
            </a:extLst>
          </p:cNvPr>
          <p:cNvSpPr>
            <a:spLocks noGrp="1"/>
          </p:cNvSpPr>
          <p:nvPr>
            <p:ph type="body" idx="15" hasCustomPrompt="1"/>
          </p:nvPr>
        </p:nvSpPr>
        <p:spPr>
          <a:xfrm>
            <a:off x="838200" y="1121981"/>
            <a:ext cx="607695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3205B"/>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pic>
        <p:nvPicPr>
          <p:cNvPr id="11" name="Picture 10">
            <a:extLst>
              <a:ext uri="{FF2B5EF4-FFF2-40B4-BE49-F238E27FC236}">
                <a16:creationId xmlns:a16="http://schemas.microsoft.com/office/drawing/2014/main" id="{5C85FC52-EF92-4325-B72A-757FFC92BB89}"/>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643380" y="338146"/>
            <a:ext cx="3010741" cy="592199"/>
          </a:xfrm>
          <a:prstGeom prst="rect">
            <a:avLst/>
          </a:prstGeom>
        </p:spPr>
      </p:pic>
    </p:spTree>
    <p:extLst>
      <p:ext uri="{BB962C8B-B14F-4D97-AF65-F5344CB8AC3E}">
        <p14:creationId xmlns:p14="http://schemas.microsoft.com/office/powerpoint/2010/main" val="2158794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ar (Bottom) - Logo Lower Left">
    <p:spTree>
      <p:nvGrpSpPr>
        <p:cNvPr id="1" name=""/>
        <p:cNvGrpSpPr/>
        <p:nvPr/>
      </p:nvGrpSpPr>
      <p:grpSpPr>
        <a:xfrm>
          <a:off x="0" y="0"/>
          <a:ext cx="0" cy="0"/>
          <a:chOff x="0" y="0"/>
          <a:chExt cx="0" cy="0"/>
        </a:xfrm>
      </p:grpSpPr>
      <p:sp>
        <p:nvSpPr>
          <p:cNvPr id="24" name="Content Placeholder 3">
            <a:extLst>
              <a:ext uri="{FF2B5EF4-FFF2-40B4-BE49-F238E27FC236}">
                <a16:creationId xmlns:a16="http://schemas.microsoft.com/office/drawing/2014/main" id="{F8822175-969F-4A56-896D-E242AAA51DE7}"/>
              </a:ext>
            </a:extLst>
          </p:cNvPr>
          <p:cNvSpPr>
            <a:spLocks noGrp="1"/>
          </p:cNvSpPr>
          <p:nvPr>
            <p:ph sz="quarter" idx="18"/>
          </p:nvPr>
        </p:nvSpPr>
        <p:spPr>
          <a:xfrm>
            <a:off x="5943599" y="835"/>
            <a:ext cx="6236367" cy="6285665"/>
          </a:xfrm>
        </p:spPr>
        <p:txBody>
          <a:bodyPr/>
          <a:lstStyle>
            <a:lvl1pPr marL="0" indent="0">
              <a:buNone/>
              <a:defRPr/>
            </a:lvl1pPr>
          </a:lstStyle>
          <a:p>
            <a:pPr lvl="0"/>
            <a:endParaRPr lang="en-US"/>
          </a:p>
        </p:txBody>
      </p:sp>
      <p:sp>
        <p:nvSpPr>
          <p:cNvPr id="12" name="Rectangle 11">
            <a:extLst>
              <a:ext uri="{FF2B5EF4-FFF2-40B4-BE49-F238E27FC236}">
                <a16:creationId xmlns:a16="http://schemas.microsoft.com/office/drawing/2014/main" id="{523C12D2-1BF9-4F8E-9914-B8E6E9D2EA8C}"/>
              </a:ext>
            </a:extLst>
          </p:cNvPr>
          <p:cNvSpPr/>
          <p:nvPr userDrawn="1"/>
        </p:nvSpPr>
        <p:spPr>
          <a:xfrm>
            <a:off x="0" y="6286500"/>
            <a:ext cx="12192000" cy="571500"/>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66583DBE-69CB-4E3E-BC00-4C9095EA2BA9}" type="datetimeFigureOut">
              <a:rPr lang="en-US" smtClean="0"/>
              <a:pPr/>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6101A03D-A64C-460E-BF6F-73D197605F99}" type="slidenum">
              <a:rPr lang="en-US" smtClean="0"/>
              <a:pPr/>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533400" y="2342881"/>
            <a:ext cx="5257800" cy="2767581"/>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A642927A-8605-40F4-AC83-B3B9D179864B}"/>
              </a:ext>
            </a:extLst>
          </p:cNvPr>
          <p:cNvSpPr>
            <a:spLocks noGrp="1"/>
          </p:cNvSpPr>
          <p:nvPr>
            <p:ph type="body" idx="15" hasCustomPrompt="1"/>
          </p:nvPr>
        </p:nvSpPr>
        <p:spPr>
          <a:xfrm>
            <a:off x="533400" y="1121981"/>
            <a:ext cx="52578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3205B"/>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5" name="Text Placeholder 2">
            <a:extLst>
              <a:ext uri="{FF2B5EF4-FFF2-40B4-BE49-F238E27FC236}">
                <a16:creationId xmlns:a16="http://schemas.microsoft.com/office/drawing/2014/main" id="{D72B071E-BC74-4046-95BE-714CC9141F63}"/>
              </a:ext>
            </a:extLst>
          </p:cNvPr>
          <p:cNvSpPr>
            <a:spLocks noGrp="1"/>
          </p:cNvSpPr>
          <p:nvPr>
            <p:ph type="body" idx="14" hasCustomPrompt="1"/>
          </p:nvPr>
        </p:nvSpPr>
        <p:spPr>
          <a:xfrm>
            <a:off x="533400" y="1881484"/>
            <a:ext cx="5257800"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pic>
        <p:nvPicPr>
          <p:cNvPr id="11" name="Picture 10">
            <a:extLst>
              <a:ext uri="{FF2B5EF4-FFF2-40B4-BE49-F238E27FC236}">
                <a16:creationId xmlns:a16="http://schemas.microsoft.com/office/drawing/2014/main" id="{F81A9C91-5196-491B-972A-BF9E2A19154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556294" y="5364481"/>
            <a:ext cx="3396116" cy="668000"/>
          </a:xfrm>
          <a:prstGeom prst="rect">
            <a:avLst/>
          </a:prstGeom>
        </p:spPr>
      </p:pic>
    </p:spTree>
    <p:extLst>
      <p:ext uri="{BB962C8B-B14F-4D97-AF65-F5344CB8AC3E}">
        <p14:creationId xmlns:p14="http://schemas.microsoft.com/office/powerpoint/2010/main" val="24706617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ar (Bottom) - Logo Lower Right">
    <p:spTree>
      <p:nvGrpSpPr>
        <p:cNvPr id="1" name=""/>
        <p:cNvGrpSpPr/>
        <p:nvPr/>
      </p:nvGrpSpPr>
      <p:grpSpPr>
        <a:xfrm>
          <a:off x="0" y="0"/>
          <a:ext cx="0" cy="0"/>
          <a:chOff x="0" y="0"/>
          <a:chExt cx="0" cy="0"/>
        </a:xfrm>
      </p:grpSpPr>
      <p:sp>
        <p:nvSpPr>
          <p:cNvPr id="25" name="Content Placeholder 3">
            <a:extLst>
              <a:ext uri="{FF2B5EF4-FFF2-40B4-BE49-F238E27FC236}">
                <a16:creationId xmlns:a16="http://schemas.microsoft.com/office/drawing/2014/main" id="{6243C32A-1E0D-4787-9504-DEB48FD3D8FA}"/>
              </a:ext>
            </a:extLst>
          </p:cNvPr>
          <p:cNvSpPr>
            <a:spLocks noGrp="1"/>
          </p:cNvSpPr>
          <p:nvPr>
            <p:ph sz="quarter" idx="18"/>
          </p:nvPr>
        </p:nvSpPr>
        <p:spPr>
          <a:xfrm>
            <a:off x="-1" y="835"/>
            <a:ext cx="6236367" cy="6285665"/>
          </a:xfrm>
        </p:spPr>
        <p:txBody>
          <a:bodyPr/>
          <a:lstStyle>
            <a:lvl1pPr marL="0" indent="0">
              <a:buNone/>
              <a:defRPr/>
            </a:lvl1pPr>
          </a:lstStyle>
          <a:p>
            <a:pPr lvl="0"/>
            <a:endParaRPr lang="en-US"/>
          </a:p>
        </p:txBody>
      </p:sp>
      <p:sp>
        <p:nvSpPr>
          <p:cNvPr id="12" name="Rectangle 11">
            <a:extLst>
              <a:ext uri="{FF2B5EF4-FFF2-40B4-BE49-F238E27FC236}">
                <a16:creationId xmlns:a16="http://schemas.microsoft.com/office/drawing/2014/main" id="{523C12D2-1BF9-4F8E-9914-B8E6E9D2EA8C}"/>
              </a:ext>
            </a:extLst>
          </p:cNvPr>
          <p:cNvSpPr/>
          <p:nvPr userDrawn="1"/>
        </p:nvSpPr>
        <p:spPr>
          <a:xfrm>
            <a:off x="0" y="6286500"/>
            <a:ext cx="12192000" cy="571500"/>
          </a:xfrm>
          <a:prstGeom prst="rect">
            <a:avLst/>
          </a:prstGeom>
          <a:solidFill>
            <a:srgbClr val="0A1F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a:extLst>
              <a:ext uri="{FF2B5EF4-FFF2-40B4-BE49-F238E27FC236}">
                <a16:creationId xmlns:a16="http://schemas.microsoft.com/office/drawing/2014/main" id="{2D5FCE5A-E1D7-4C94-90C1-CB57D7BECA9E}"/>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66583DBE-69CB-4E3E-BC00-4C9095EA2BA9}" type="datetimeFigureOut">
              <a:rPr lang="en-US" smtClean="0"/>
              <a:pPr/>
              <a:t>6/8/2023</a:t>
            </a:fld>
            <a:endParaRPr lang="en-US"/>
          </a:p>
        </p:txBody>
      </p:sp>
      <p:sp>
        <p:nvSpPr>
          <p:cNvPr id="9" name="Footer Placeholder 4">
            <a:extLst>
              <a:ext uri="{FF2B5EF4-FFF2-40B4-BE49-F238E27FC236}">
                <a16:creationId xmlns:a16="http://schemas.microsoft.com/office/drawing/2014/main" id="{4FF5FA05-0FFC-471E-8C77-12450FD38C65}"/>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DD277234-B370-4465-9E1A-D3DB8887EDC2}"/>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6101A03D-A64C-460E-BF6F-73D197605F99}" type="slidenum">
              <a:rPr lang="en-US" smtClean="0"/>
              <a:pPr/>
              <a:t>‹#›</a:t>
            </a:fld>
            <a:endParaRPr lang="en-US"/>
          </a:p>
        </p:txBody>
      </p:sp>
      <p:sp>
        <p:nvSpPr>
          <p:cNvPr id="16" name="Text Placeholder 2">
            <a:extLst>
              <a:ext uri="{FF2B5EF4-FFF2-40B4-BE49-F238E27FC236}">
                <a16:creationId xmlns:a16="http://schemas.microsoft.com/office/drawing/2014/main" id="{1C47A015-7DEF-4D07-A3A8-4130273B2F1E}"/>
              </a:ext>
            </a:extLst>
          </p:cNvPr>
          <p:cNvSpPr>
            <a:spLocks noGrp="1"/>
          </p:cNvSpPr>
          <p:nvPr>
            <p:ph type="body" idx="13"/>
          </p:nvPr>
        </p:nvSpPr>
        <p:spPr>
          <a:xfrm>
            <a:off x="6457950" y="2342881"/>
            <a:ext cx="5257800" cy="2767581"/>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6DC569A8-697D-490B-A43F-7AD15101BE9C}"/>
              </a:ext>
            </a:extLst>
          </p:cNvPr>
          <p:cNvSpPr>
            <a:spLocks noGrp="1"/>
          </p:cNvSpPr>
          <p:nvPr>
            <p:ph type="body" idx="15" hasCustomPrompt="1"/>
          </p:nvPr>
        </p:nvSpPr>
        <p:spPr>
          <a:xfrm>
            <a:off x="6457950" y="1121981"/>
            <a:ext cx="52578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3205B"/>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15" name="Text Placeholder 2">
            <a:extLst>
              <a:ext uri="{FF2B5EF4-FFF2-40B4-BE49-F238E27FC236}">
                <a16:creationId xmlns:a16="http://schemas.microsoft.com/office/drawing/2014/main" id="{A5156D7B-8558-4074-B2EA-A80A6C7B2B75}"/>
              </a:ext>
            </a:extLst>
          </p:cNvPr>
          <p:cNvSpPr>
            <a:spLocks noGrp="1"/>
          </p:cNvSpPr>
          <p:nvPr>
            <p:ph type="body" idx="14" hasCustomPrompt="1"/>
          </p:nvPr>
        </p:nvSpPr>
        <p:spPr>
          <a:xfrm>
            <a:off x="6457950" y="1881484"/>
            <a:ext cx="5257800"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pic>
        <p:nvPicPr>
          <p:cNvPr id="11" name="Picture 10">
            <a:extLst>
              <a:ext uri="{FF2B5EF4-FFF2-40B4-BE49-F238E27FC236}">
                <a16:creationId xmlns:a16="http://schemas.microsoft.com/office/drawing/2014/main" id="{D8D12CE1-4550-445B-8F5E-C6CCBF2C263D}"/>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8328694" y="5364481"/>
            <a:ext cx="3396116" cy="668000"/>
          </a:xfrm>
          <a:prstGeom prst="rect">
            <a:avLst/>
          </a:prstGeom>
        </p:spPr>
      </p:pic>
    </p:spTree>
    <p:extLst>
      <p:ext uri="{BB962C8B-B14F-4D97-AF65-F5344CB8AC3E}">
        <p14:creationId xmlns:p14="http://schemas.microsoft.com/office/powerpoint/2010/main" val="15561723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 1 Text Box">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57BA3E20-8F1C-4362-A639-A692010BEDEB}"/>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4" name="Footer Placeholder 4">
            <a:extLst>
              <a:ext uri="{FF2B5EF4-FFF2-40B4-BE49-F238E27FC236}">
                <a16:creationId xmlns:a16="http://schemas.microsoft.com/office/drawing/2014/main" id="{13F81A08-F1C5-496E-B245-5DE4960FAA0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5">
            <a:extLst>
              <a:ext uri="{FF2B5EF4-FFF2-40B4-BE49-F238E27FC236}">
                <a16:creationId xmlns:a16="http://schemas.microsoft.com/office/drawing/2014/main" id="{AAA69769-3DAD-4E0C-BB66-BFB580492A2E}"/>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7" name="Text Placeholder 2">
            <a:extLst>
              <a:ext uri="{FF2B5EF4-FFF2-40B4-BE49-F238E27FC236}">
                <a16:creationId xmlns:a16="http://schemas.microsoft.com/office/drawing/2014/main" id="{FEE98EBF-09C6-4C80-9BF5-1037F71150D6}"/>
              </a:ext>
            </a:extLst>
          </p:cNvPr>
          <p:cNvSpPr>
            <a:spLocks noGrp="1"/>
          </p:cNvSpPr>
          <p:nvPr>
            <p:ph type="body" idx="13"/>
          </p:nvPr>
        </p:nvSpPr>
        <p:spPr>
          <a:xfrm>
            <a:off x="838200" y="1723756"/>
            <a:ext cx="10957396"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CF8705D6-F0DF-40B8-8B3E-CC5630B13C06}"/>
              </a:ext>
            </a:extLst>
          </p:cNvPr>
          <p:cNvSpPr>
            <a:spLocks noGrp="1"/>
          </p:cNvSpPr>
          <p:nvPr>
            <p:ph type="body" idx="14" hasCustomPrompt="1"/>
          </p:nvPr>
        </p:nvSpPr>
        <p:spPr>
          <a:xfrm>
            <a:off x="838199" y="1262359"/>
            <a:ext cx="10957395"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9" name="Text Placeholder 2">
            <a:extLst>
              <a:ext uri="{FF2B5EF4-FFF2-40B4-BE49-F238E27FC236}">
                <a16:creationId xmlns:a16="http://schemas.microsoft.com/office/drawing/2014/main" id="{F32F4841-1B1F-4D9B-8DDA-C90832F57ACA}"/>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Tree>
    <p:extLst>
      <p:ext uri="{BB962C8B-B14F-4D97-AF65-F5344CB8AC3E}">
        <p14:creationId xmlns:p14="http://schemas.microsoft.com/office/powerpoint/2010/main" val="21800664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1 Text Box / Object">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57BA3E20-8F1C-4362-A639-A692010BEDEB}"/>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4" name="Footer Placeholder 4">
            <a:extLst>
              <a:ext uri="{FF2B5EF4-FFF2-40B4-BE49-F238E27FC236}">
                <a16:creationId xmlns:a16="http://schemas.microsoft.com/office/drawing/2014/main" id="{13F81A08-F1C5-496E-B245-5DE4960FAA0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5">
            <a:extLst>
              <a:ext uri="{FF2B5EF4-FFF2-40B4-BE49-F238E27FC236}">
                <a16:creationId xmlns:a16="http://schemas.microsoft.com/office/drawing/2014/main" id="{AAA69769-3DAD-4E0C-BB66-BFB580492A2E}"/>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6" name="Text Placeholder 2">
            <a:extLst>
              <a:ext uri="{FF2B5EF4-FFF2-40B4-BE49-F238E27FC236}">
                <a16:creationId xmlns:a16="http://schemas.microsoft.com/office/drawing/2014/main" id="{FE2B3B58-2AE7-45D0-80ED-F0A5F7A1E670}"/>
              </a:ext>
            </a:extLst>
          </p:cNvPr>
          <p:cNvSpPr>
            <a:spLocks noGrp="1"/>
          </p:cNvSpPr>
          <p:nvPr>
            <p:ph type="body" idx="13"/>
          </p:nvPr>
        </p:nvSpPr>
        <p:spPr>
          <a:xfrm>
            <a:off x="838200" y="1723756"/>
            <a:ext cx="6051699" cy="413815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 Placeholder 2">
            <a:extLst>
              <a:ext uri="{FF2B5EF4-FFF2-40B4-BE49-F238E27FC236}">
                <a16:creationId xmlns:a16="http://schemas.microsoft.com/office/drawing/2014/main" id="{8EA21A6A-2152-4C97-84C2-5A26B6FDCE7D}"/>
              </a:ext>
            </a:extLst>
          </p:cNvPr>
          <p:cNvSpPr>
            <a:spLocks noGrp="1"/>
          </p:cNvSpPr>
          <p:nvPr>
            <p:ph type="body" idx="14" hasCustomPrompt="1"/>
          </p:nvPr>
        </p:nvSpPr>
        <p:spPr>
          <a:xfrm>
            <a:off x="838200" y="1262359"/>
            <a:ext cx="6051698"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8" name="Text Placeholder 2">
            <a:extLst>
              <a:ext uri="{FF2B5EF4-FFF2-40B4-BE49-F238E27FC236}">
                <a16:creationId xmlns:a16="http://schemas.microsoft.com/office/drawing/2014/main" id="{5B7EEFF2-D2D4-44F3-B4D9-67D972387089}"/>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9" name="Content Placeholder 3">
            <a:extLst>
              <a:ext uri="{FF2B5EF4-FFF2-40B4-BE49-F238E27FC236}">
                <a16:creationId xmlns:a16="http://schemas.microsoft.com/office/drawing/2014/main" id="{C02A792E-F781-4054-A0CD-BF8BDA52F022}"/>
              </a:ext>
            </a:extLst>
          </p:cNvPr>
          <p:cNvSpPr>
            <a:spLocks noGrp="1"/>
          </p:cNvSpPr>
          <p:nvPr>
            <p:ph sz="quarter" idx="16"/>
          </p:nvPr>
        </p:nvSpPr>
        <p:spPr>
          <a:xfrm>
            <a:off x="7171870" y="1262360"/>
            <a:ext cx="5020130" cy="4599556"/>
          </a:xfrm>
        </p:spPr>
        <p:txBody>
          <a:bodyPr/>
          <a:lstStyle>
            <a:lvl1pPr marL="0" indent="0">
              <a:buNone/>
              <a:defRPr/>
            </a:lvl1pPr>
          </a:lstStyle>
          <a:p>
            <a:pPr lvl="0"/>
            <a:endParaRPr lang="en-US"/>
          </a:p>
        </p:txBody>
      </p:sp>
    </p:spTree>
    <p:extLst>
      <p:ext uri="{BB962C8B-B14F-4D97-AF65-F5344CB8AC3E}">
        <p14:creationId xmlns:p14="http://schemas.microsoft.com/office/powerpoint/2010/main" val="33046315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2 Text Boxes">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57BA3E20-8F1C-4362-A639-A692010BEDEB}"/>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4" name="Footer Placeholder 4">
            <a:extLst>
              <a:ext uri="{FF2B5EF4-FFF2-40B4-BE49-F238E27FC236}">
                <a16:creationId xmlns:a16="http://schemas.microsoft.com/office/drawing/2014/main" id="{13F81A08-F1C5-496E-B245-5DE4960FAA0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5">
            <a:extLst>
              <a:ext uri="{FF2B5EF4-FFF2-40B4-BE49-F238E27FC236}">
                <a16:creationId xmlns:a16="http://schemas.microsoft.com/office/drawing/2014/main" id="{AAA69769-3DAD-4E0C-BB66-BFB580492A2E}"/>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6" name="Text Placeholder 2">
            <a:extLst>
              <a:ext uri="{FF2B5EF4-FFF2-40B4-BE49-F238E27FC236}">
                <a16:creationId xmlns:a16="http://schemas.microsoft.com/office/drawing/2014/main" id="{01D43804-03CF-4C21-B116-3896346CF026}"/>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 Placeholder 2">
            <a:extLst>
              <a:ext uri="{FF2B5EF4-FFF2-40B4-BE49-F238E27FC236}">
                <a16:creationId xmlns:a16="http://schemas.microsoft.com/office/drawing/2014/main" id="{22639829-714B-4B28-B381-A81EECE51482}"/>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8" name="Text Placeholder 2">
            <a:extLst>
              <a:ext uri="{FF2B5EF4-FFF2-40B4-BE49-F238E27FC236}">
                <a16:creationId xmlns:a16="http://schemas.microsoft.com/office/drawing/2014/main" id="{3BA09593-7F0B-4E04-8D38-9A5638D5C82C}"/>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9" name="Text Placeholder 2">
            <a:extLst>
              <a:ext uri="{FF2B5EF4-FFF2-40B4-BE49-F238E27FC236}">
                <a16:creationId xmlns:a16="http://schemas.microsoft.com/office/drawing/2014/main" id="{6F7B5231-022B-4811-92B6-A3177DE1BDA4}"/>
              </a:ext>
            </a:extLst>
          </p:cNvPr>
          <p:cNvSpPr>
            <a:spLocks noGrp="1"/>
          </p:cNvSpPr>
          <p:nvPr>
            <p:ph type="body" idx="16"/>
          </p:nvPr>
        </p:nvSpPr>
        <p:spPr>
          <a:xfrm>
            <a:off x="838198" y="4270752"/>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0F63F5A6-F1ED-47B4-9ED3-3EF65787EEDD}"/>
              </a:ext>
            </a:extLst>
          </p:cNvPr>
          <p:cNvSpPr>
            <a:spLocks noGrp="1"/>
          </p:cNvSpPr>
          <p:nvPr>
            <p:ph type="body" idx="17" hasCustomPrompt="1"/>
          </p:nvPr>
        </p:nvSpPr>
        <p:spPr>
          <a:xfrm>
            <a:off x="838197" y="3809354"/>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Tree>
    <p:extLst>
      <p:ext uri="{BB962C8B-B14F-4D97-AF65-F5344CB8AC3E}">
        <p14:creationId xmlns:p14="http://schemas.microsoft.com/office/powerpoint/2010/main" val="34551964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2 Text Box / Object">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57BA3E20-8F1C-4362-A639-A692010BEDEB}"/>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4" name="Footer Placeholder 4">
            <a:extLst>
              <a:ext uri="{FF2B5EF4-FFF2-40B4-BE49-F238E27FC236}">
                <a16:creationId xmlns:a16="http://schemas.microsoft.com/office/drawing/2014/main" id="{13F81A08-F1C5-496E-B245-5DE4960FAA0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5">
            <a:extLst>
              <a:ext uri="{FF2B5EF4-FFF2-40B4-BE49-F238E27FC236}">
                <a16:creationId xmlns:a16="http://schemas.microsoft.com/office/drawing/2014/main" id="{AAA69769-3DAD-4E0C-BB66-BFB580492A2E}"/>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6" name="Text Placeholder 2">
            <a:extLst>
              <a:ext uri="{FF2B5EF4-FFF2-40B4-BE49-F238E27FC236}">
                <a16:creationId xmlns:a16="http://schemas.microsoft.com/office/drawing/2014/main" id="{8C561F8B-2AC3-486E-B481-C72A9795688D}"/>
              </a:ext>
            </a:extLst>
          </p:cNvPr>
          <p:cNvSpPr>
            <a:spLocks noGrp="1"/>
          </p:cNvSpPr>
          <p:nvPr>
            <p:ph type="body" idx="13"/>
          </p:nvPr>
        </p:nvSpPr>
        <p:spPr>
          <a:xfrm>
            <a:off x="838200" y="1723756"/>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 Placeholder 2">
            <a:extLst>
              <a:ext uri="{FF2B5EF4-FFF2-40B4-BE49-F238E27FC236}">
                <a16:creationId xmlns:a16="http://schemas.microsoft.com/office/drawing/2014/main" id="{F0D55DA8-E097-4253-85D5-BA20606FE9F9}"/>
              </a:ext>
            </a:extLst>
          </p:cNvPr>
          <p:cNvSpPr>
            <a:spLocks noGrp="1"/>
          </p:cNvSpPr>
          <p:nvPr>
            <p:ph type="body" idx="14" hasCustomPrompt="1"/>
          </p:nvPr>
        </p:nvSpPr>
        <p:spPr>
          <a:xfrm>
            <a:off x="838200" y="1262359"/>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8" name="Text Placeholder 2">
            <a:extLst>
              <a:ext uri="{FF2B5EF4-FFF2-40B4-BE49-F238E27FC236}">
                <a16:creationId xmlns:a16="http://schemas.microsoft.com/office/drawing/2014/main" id="{782D5C8C-03A5-4429-8B53-154F4109CF95}"/>
              </a:ext>
            </a:extLst>
          </p:cNvPr>
          <p:cNvSpPr>
            <a:spLocks noGrp="1"/>
          </p:cNvSpPr>
          <p:nvPr>
            <p:ph type="body" idx="16"/>
          </p:nvPr>
        </p:nvSpPr>
        <p:spPr>
          <a:xfrm>
            <a:off x="838198" y="4270752"/>
            <a:ext cx="6041067"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B5141B46-BB9C-4D39-89D8-D708B22EA710}"/>
              </a:ext>
            </a:extLst>
          </p:cNvPr>
          <p:cNvSpPr>
            <a:spLocks noGrp="1"/>
          </p:cNvSpPr>
          <p:nvPr>
            <p:ph type="body" idx="17" hasCustomPrompt="1"/>
          </p:nvPr>
        </p:nvSpPr>
        <p:spPr>
          <a:xfrm>
            <a:off x="838198" y="3809354"/>
            <a:ext cx="6041066"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0" name="Content Placeholder 3">
            <a:extLst>
              <a:ext uri="{FF2B5EF4-FFF2-40B4-BE49-F238E27FC236}">
                <a16:creationId xmlns:a16="http://schemas.microsoft.com/office/drawing/2014/main" id="{DE9A9F9B-4054-4243-A490-978FACD37FF3}"/>
              </a:ext>
            </a:extLst>
          </p:cNvPr>
          <p:cNvSpPr>
            <a:spLocks noGrp="1"/>
          </p:cNvSpPr>
          <p:nvPr>
            <p:ph sz="quarter" idx="18"/>
          </p:nvPr>
        </p:nvSpPr>
        <p:spPr>
          <a:xfrm>
            <a:off x="7171870" y="1262359"/>
            <a:ext cx="5020130" cy="4684091"/>
          </a:xfrm>
        </p:spPr>
        <p:txBody>
          <a:bodyPr/>
          <a:lstStyle>
            <a:lvl1pPr marL="0" indent="0">
              <a:buNone/>
              <a:defRPr/>
            </a:lvl1pPr>
          </a:lstStyle>
          <a:p>
            <a:pPr lvl="0"/>
            <a:endParaRPr lang="en-US"/>
          </a:p>
        </p:txBody>
      </p:sp>
      <p:sp>
        <p:nvSpPr>
          <p:cNvPr id="11" name="Text Placeholder 2">
            <a:extLst>
              <a:ext uri="{FF2B5EF4-FFF2-40B4-BE49-F238E27FC236}">
                <a16:creationId xmlns:a16="http://schemas.microsoft.com/office/drawing/2014/main" id="{3794834E-22CB-454E-9E72-D7CD4FCEC8C5}"/>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Tree>
    <p:extLst>
      <p:ext uri="{BB962C8B-B14F-4D97-AF65-F5344CB8AC3E}">
        <p14:creationId xmlns:p14="http://schemas.microsoft.com/office/powerpoint/2010/main" val="7744288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1 Text Box / Object (Bottom)">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57BA3E20-8F1C-4362-A639-A692010BEDEB}"/>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4" name="Footer Placeholder 4">
            <a:extLst>
              <a:ext uri="{FF2B5EF4-FFF2-40B4-BE49-F238E27FC236}">
                <a16:creationId xmlns:a16="http://schemas.microsoft.com/office/drawing/2014/main" id="{13F81A08-F1C5-496E-B245-5DE4960FAA0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5">
            <a:extLst>
              <a:ext uri="{FF2B5EF4-FFF2-40B4-BE49-F238E27FC236}">
                <a16:creationId xmlns:a16="http://schemas.microsoft.com/office/drawing/2014/main" id="{AAA69769-3DAD-4E0C-BB66-BFB580492A2E}"/>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
        <p:nvSpPr>
          <p:cNvPr id="6" name="Text Placeholder 2">
            <a:extLst>
              <a:ext uri="{FF2B5EF4-FFF2-40B4-BE49-F238E27FC236}">
                <a16:creationId xmlns:a16="http://schemas.microsoft.com/office/drawing/2014/main" id="{5256C4D0-085D-42A5-BC39-639C3A2AE455}"/>
              </a:ext>
            </a:extLst>
          </p:cNvPr>
          <p:cNvSpPr>
            <a:spLocks noGrp="1"/>
          </p:cNvSpPr>
          <p:nvPr>
            <p:ph type="body" idx="13"/>
          </p:nvPr>
        </p:nvSpPr>
        <p:spPr>
          <a:xfrm>
            <a:off x="838200" y="1723756"/>
            <a:ext cx="10957398" cy="1675699"/>
          </a:xfrm>
        </p:spPr>
        <p:txBody>
          <a:bodyPr>
            <a:normAutofit/>
          </a:bodyPr>
          <a:lstStyle>
            <a:lvl1pPr marL="0" indent="0" algn="l" defTabSz="914400" rtl="0" eaLnBrk="1" latinLnBrk="0" hangingPunct="1">
              <a:lnSpc>
                <a:spcPct val="110000"/>
              </a:lnSpc>
              <a:spcBef>
                <a:spcPct val="20000"/>
              </a:spcBef>
              <a:buFont typeface="Arial" panose="020B0604020202020204" pitchFamily="34" charset="0"/>
              <a:buNone/>
              <a:defRPr lang="en-US" sz="1400" kern="1200" dirty="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 Placeholder 2">
            <a:extLst>
              <a:ext uri="{FF2B5EF4-FFF2-40B4-BE49-F238E27FC236}">
                <a16:creationId xmlns:a16="http://schemas.microsoft.com/office/drawing/2014/main" id="{92964677-418A-42C5-B677-544983BABCAD}"/>
              </a:ext>
            </a:extLst>
          </p:cNvPr>
          <p:cNvSpPr>
            <a:spLocks noGrp="1"/>
          </p:cNvSpPr>
          <p:nvPr>
            <p:ph type="body" idx="14" hasCustomPrompt="1"/>
          </p:nvPr>
        </p:nvSpPr>
        <p:spPr>
          <a:xfrm>
            <a:off x="838199" y="1262359"/>
            <a:ext cx="10957397" cy="461397"/>
          </a:xfrm>
        </p:spPr>
        <p:txBody>
          <a:bodyPr>
            <a:noAutofit/>
          </a:bodyPr>
          <a:lstStyle>
            <a:lvl1pPr marL="0" indent="0" algn="l" defTabSz="914400" rtl="0" eaLnBrk="1" latinLnBrk="0" hangingPunct="1">
              <a:lnSpc>
                <a:spcPct val="110000"/>
              </a:lnSpc>
              <a:spcBef>
                <a:spcPct val="20000"/>
              </a:spcBef>
              <a:buFont typeface="Arial" panose="020B0604020202020204" pitchFamily="34" charset="0"/>
              <a:buNone/>
              <a:defRPr lang="en-US" sz="2000" b="1" kern="1200" dirty="0">
                <a:solidFill>
                  <a:schemeClr val="bg1">
                    <a:lumMod val="50000"/>
                  </a:schemeClr>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8" name="Text Placeholder 2">
            <a:extLst>
              <a:ext uri="{FF2B5EF4-FFF2-40B4-BE49-F238E27FC236}">
                <a16:creationId xmlns:a16="http://schemas.microsoft.com/office/drawing/2014/main" id="{01D5AF90-3029-4736-A3A6-951704CF5345}"/>
              </a:ext>
            </a:extLst>
          </p:cNvPr>
          <p:cNvSpPr>
            <a:spLocks noGrp="1"/>
          </p:cNvSpPr>
          <p:nvPr>
            <p:ph type="body" idx="15" hasCustomPrompt="1"/>
          </p:nvPr>
        </p:nvSpPr>
        <p:spPr>
          <a:xfrm>
            <a:off x="838200" y="455231"/>
            <a:ext cx="7772400" cy="523219"/>
          </a:xfrm>
        </p:spPr>
        <p:txBody>
          <a:bodyPr>
            <a:noAutofit/>
          </a:bodyPr>
          <a:lstStyle>
            <a:lvl1pPr marL="0" indent="0" algn="l" defTabSz="914400" rtl="0" eaLnBrk="1" latinLnBrk="0" hangingPunct="1">
              <a:lnSpc>
                <a:spcPct val="90000"/>
              </a:lnSpc>
              <a:spcBef>
                <a:spcPct val="0"/>
              </a:spcBef>
              <a:buFont typeface="Arial" panose="020B0604020202020204" pitchFamily="34" charset="0"/>
              <a:buNone/>
              <a:defRPr lang="en-US" sz="2800" b="1" kern="1200" dirty="0">
                <a:solidFill>
                  <a:srgbClr val="0A1F62"/>
                </a:solidFill>
                <a:latin typeface="+mj-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lnSpc>
                <a:spcPct val="90000"/>
              </a:lnSpc>
              <a:spcBef>
                <a:spcPct val="0"/>
              </a:spcBef>
              <a:buFont typeface="Arial" panose="020B0604020202020204" pitchFamily="34" charset="0"/>
              <a:buNone/>
            </a:pPr>
            <a:r>
              <a:rPr lang="en-US"/>
              <a:t>Click to Add title</a:t>
            </a:r>
          </a:p>
        </p:txBody>
      </p:sp>
      <p:sp>
        <p:nvSpPr>
          <p:cNvPr id="9" name="Content Placeholder 3">
            <a:extLst>
              <a:ext uri="{FF2B5EF4-FFF2-40B4-BE49-F238E27FC236}">
                <a16:creationId xmlns:a16="http://schemas.microsoft.com/office/drawing/2014/main" id="{2D864DCF-ED9F-4378-9AFF-BF1DD83DFAF6}"/>
              </a:ext>
            </a:extLst>
          </p:cNvPr>
          <p:cNvSpPr>
            <a:spLocks noGrp="1"/>
          </p:cNvSpPr>
          <p:nvPr>
            <p:ph sz="quarter" idx="18"/>
          </p:nvPr>
        </p:nvSpPr>
        <p:spPr>
          <a:xfrm>
            <a:off x="838199" y="3809354"/>
            <a:ext cx="10957397" cy="2137096"/>
          </a:xfrm>
        </p:spPr>
        <p:txBody>
          <a:bodyPr/>
          <a:lstStyle>
            <a:lvl1pPr marL="0" indent="0">
              <a:buNone/>
              <a:defRPr/>
            </a:lvl1pPr>
          </a:lstStyle>
          <a:p>
            <a:pPr lvl="0"/>
            <a:endParaRPr lang="en-US"/>
          </a:p>
        </p:txBody>
      </p:sp>
    </p:spTree>
    <p:extLst>
      <p:ext uri="{BB962C8B-B14F-4D97-AF65-F5344CB8AC3E}">
        <p14:creationId xmlns:p14="http://schemas.microsoft.com/office/powerpoint/2010/main" val="28576375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57BA3E20-8F1C-4362-A639-A692010BEDEB}"/>
              </a:ext>
            </a:extLst>
          </p:cNvPr>
          <p:cNvSpPr>
            <a:spLocks noGrp="1"/>
          </p:cNvSpPr>
          <p:nvPr>
            <p:ph type="dt" sz="half" idx="10"/>
          </p:nvPr>
        </p:nvSpPr>
        <p:spPr>
          <a:xfrm>
            <a:off x="838200" y="6356350"/>
            <a:ext cx="2743200" cy="365125"/>
          </a:xfrm>
          <a:prstGeom prst="rect">
            <a:avLst/>
          </a:prstGeom>
        </p:spPr>
        <p:txBody>
          <a:bodyPr/>
          <a:lstStyle/>
          <a:p>
            <a:fld id="{66583DBE-69CB-4E3E-BC00-4C9095EA2BA9}" type="datetimeFigureOut">
              <a:rPr lang="en-US" smtClean="0"/>
              <a:t>6/8/2023</a:t>
            </a:fld>
            <a:endParaRPr lang="en-US"/>
          </a:p>
        </p:txBody>
      </p:sp>
      <p:sp>
        <p:nvSpPr>
          <p:cNvPr id="4" name="Footer Placeholder 4">
            <a:extLst>
              <a:ext uri="{FF2B5EF4-FFF2-40B4-BE49-F238E27FC236}">
                <a16:creationId xmlns:a16="http://schemas.microsoft.com/office/drawing/2014/main" id="{13F81A08-F1C5-496E-B245-5DE4960FAA0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5">
            <a:extLst>
              <a:ext uri="{FF2B5EF4-FFF2-40B4-BE49-F238E27FC236}">
                <a16:creationId xmlns:a16="http://schemas.microsoft.com/office/drawing/2014/main" id="{AAA69769-3DAD-4E0C-BB66-BFB580492A2E}"/>
              </a:ext>
            </a:extLst>
          </p:cNvPr>
          <p:cNvSpPr>
            <a:spLocks noGrp="1"/>
          </p:cNvSpPr>
          <p:nvPr>
            <p:ph type="sldNum" sz="quarter" idx="12"/>
          </p:nvPr>
        </p:nvSpPr>
        <p:spPr>
          <a:xfrm>
            <a:off x="8610600" y="6356350"/>
            <a:ext cx="2743200" cy="365125"/>
          </a:xfrm>
          <a:prstGeom prst="rect">
            <a:avLst/>
          </a:prstGeom>
        </p:spPr>
        <p:txBody>
          <a:bodyPr/>
          <a:lstStyle/>
          <a:p>
            <a:fld id="{6101A03D-A64C-460E-BF6F-73D197605F99}" type="slidenum">
              <a:rPr lang="en-US" smtClean="0"/>
              <a:t>‹#›</a:t>
            </a:fld>
            <a:endParaRPr lang="en-US"/>
          </a:p>
        </p:txBody>
      </p:sp>
    </p:spTree>
    <p:extLst>
      <p:ext uri="{BB962C8B-B14F-4D97-AF65-F5344CB8AC3E}">
        <p14:creationId xmlns:p14="http://schemas.microsoft.com/office/powerpoint/2010/main" val="12036329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rter Slide 1">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A1FB1972-6236-4EDF-83C3-11B4F8566902}"/>
              </a:ext>
            </a:extLst>
          </p:cNvPr>
          <p:cNvSpPr>
            <a:spLocks noGrp="1"/>
          </p:cNvSpPr>
          <p:nvPr>
            <p:ph type="body" idx="12" hasCustomPrompt="1"/>
          </p:nvPr>
        </p:nvSpPr>
        <p:spPr>
          <a:xfrm>
            <a:off x="2360391" y="464081"/>
            <a:ext cx="4718304" cy="310896"/>
          </a:xfrm>
        </p:spPr>
        <p:txBody>
          <a:bodyPr>
            <a:noAutofit/>
          </a:bodyPr>
          <a:lstStyle>
            <a:lvl1pPr marL="0" indent="0" algn="l" defTabSz="685800" rtl="0" eaLnBrk="1" latinLnBrk="0" hangingPunct="1">
              <a:lnSpc>
                <a:spcPct val="90000"/>
              </a:lnSpc>
              <a:spcBef>
                <a:spcPct val="0"/>
              </a:spcBef>
              <a:buFont typeface="Arial" panose="020B0604020202020204" pitchFamily="34" charset="0"/>
              <a:buNone/>
              <a:defRPr lang="en-US" sz="1600" b="1" kern="1200" dirty="0">
                <a:solidFill>
                  <a:srgbClr val="0A1F62"/>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pic>
        <p:nvPicPr>
          <p:cNvPr id="4" name="Picture 3">
            <a:extLst>
              <a:ext uri="{FF2B5EF4-FFF2-40B4-BE49-F238E27FC236}">
                <a16:creationId xmlns:a16="http://schemas.microsoft.com/office/drawing/2014/main" id="{04C48F24-36D3-4411-B659-AE447CDFB45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91609" y="427428"/>
            <a:ext cx="4589860" cy="902803"/>
          </a:xfrm>
          <a:prstGeom prst="rect">
            <a:avLst/>
          </a:prstGeom>
        </p:spPr>
      </p:pic>
    </p:spTree>
    <p:extLst>
      <p:ext uri="{BB962C8B-B14F-4D97-AF65-F5344CB8AC3E}">
        <p14:creationId xmlns:p14="http://schemas.microsoft.com/office/powerpoint/2010/main" val="36348385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rter Slide 2">
    <p:spTree>
      <p:nvGrpSpPr>
        <p:cNvPr id="1" name=""/>
        <p:cNvGrpSpPr/>
        <p:nvPr/>
      </p:nvGrpSpPr>
      <p:grpSpPr>
        <a:xfrm>
          <a:off x="0" y="0"/>
          <a:ext cx="0" cy="0"/>
          <a:chOff x="0" y="0"/>
          <a:chExt cx="0" cy="0"/>
        </a:xfrm>
      </p:grpSpPr>
      <p:pic>
        <p:nvPicPr>
          <p:cNvPr id="3" name="Picture 2" descr="A picture containing drawing&#10;&#10;Description automatically generated">
            <a:extLst>
              <a:ext uri="{FF2B5EF4-FFF2-40B4-BE49-F238E27FC236}">
                <a16:creationId xmlns:a16="http://schemas.microsoft.com/office/drawing/2014/main" id="{8A9A1A16-8B6E-47ED-9EAF-436D3207AD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94548" y="234264"/>
            <a:ext cx="3601212" cy="1170864"/>
          </a:xfrm>
          <a:prstGeom prst="rect">
            <a:avLst/>
          </a:prstGeom>
        </p:spPr>
      </p:pic>
      <p:sp>
        <p:nvSpPr>
          <p:cNvPr id="5" name="Text Placeholder 2">
            <a:extLst>
              <a:ext uri="{FF2B5EF4-FFF2-40B4-BE49-F238E27FC236}">
                <a16:creationId xmlns:a16="http://schemas.microsoft.com/office/drawing/2014/main" id="{9DBF1F32-9580-42C1-9BDD-4C72BE2354C4}"/>
              </a:ext>
            </a:extLst>
          </p:cNvPr>
          <p:cNvSpPr>
            <a:spLocks noGrp="1"/>
          </p:cNvSpPr>
          <p:nvPr>
            <p:ph type="body" idx="12" hasCustomPrompt="1"/>
          </p:nvPr>
        </p:nvSpPr>
        <p:spPr>
          <a:xfrm>
            <a:off x="2360391" y="464081"/>
            <a:ext cx="4718304" cy="310896"/>
          </a:xfrm>
        </p:spPr>
        <p:txBody>
          <a:bodyPr>
            <a:noAutofit/>
          </a:bodyPr>
          <a:lstStyle>
            <a:lvl1pPr marL="0" indent="0" algn="l" defTabSz="685800" rtl="0" eaLnBrk="1" latinLnBrk="0" hangingPunct="1">
              <a:lnSpc>
                <a:spcPct val="90000"/>
              </a:lnSpc>
              <a:spcBef>
                <a:spcPct val="0"/>
              </a:spcBef>
              <a:buFont typeface="Arial" panose="020B0604020202020204" pitchFamily="34" charset="0"/>
              <a:buNone/>
              <a:defRPr lang="en-US" sz="1600" b="1" kern="1200" dirty="0">
                <a:solidFill>
                  <a:srgbClr val="0A1F62"/>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Tree>
    <p:extLst>
      <p:ext uri="{BB962C8B-B14F-4D97-AF65-F5344CB8AC3E}">
        <p14:creationId xmlns:p14="http://schemas.microsoft.com/office/powerpoint/2010/main" val="41632071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rter Slide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2ED135E7-3DFF-4C77-B166-733C7A81E2AC}"/>
              </a:ext>
            </a:extLst>
          </p:cNvPr>
          <p:cNvSpPr>
            <a:spLocks noGrp="1"/>
          </p:cNvSpPr>
          <p:nvPr>
            <p:ph type="body" idx="12" hasCustomPrompt="1"/>
          </p:nvPr>
        </p:nvSpPr>
        <p:spPr>
          <a:xfrm>
            <a:off x="5305245" y="3290386"/>
            <a:ext cx="6100458" cy="996942"/>
          </a:xfrm>
        </p:spPr>
        <p:txBody>
          <a:bodyPr>
            <a:noAutofit/>
          </a:bodyPr>
          <a:lstStyle>
            <a:lvl1pPr marL="0" indent="0" algn="ctr" defTabSz="685800" rtl="0" eaLnBrk="1" latinLnBrk="0" hangingPunct="1">
              <a:lnSpc>
                <a:spcPct val="90000"/>
              </a:lnSpc>
              <a:spcBef>
                <a:spcPct val="0"/>
              </a:spcBef>
              <a:buFont typeface="Arial" panose="020B0604020202020204" pitchFamily="34" charset="0"/>
              <a:buNone/>
              <a:defRPr lang="en-US" sz="6400" b="1" kern="1200" dirty="0">
                <a:solidFill>
                  <a:schemeClr val="bg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text</a:t>
            </a:r>
          </a:p>
        </p:txBody>
      </p:sp>
      <p:pic>
        <p:nvPicPr>
          <p:cNvPr id="5" name="Picture 4">
            <a:extLst>
              <a:ext uri="{FF2B5EF4-FFF2-40B4-BE49-F238E27FC236}">
                <a16:creationId xmlns:a16="http://schemas.microsoft.com/office/drawing/2014/main" id="{A7B8D75D-D219-4927-A8EB-6FC27052571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84735" y="427428"/>
            <a:ext cx="4589860" cy="902803"/>
          </a:xfrm>
          <a:prstGeom prst="rect">
            <a:avLst/>
          </a:prstGeom>
        </p:spPr>
      </p:pic>
    </p:spTree>
    <p:extLst>
      <p:ext uri="{BB962C8B-B14F-4D97-AF65-F5344CB8AC3E}">
        <p14:creationId xmlns:p14="http://schemas.microsoft.com/office/powerpoint/2010/main" val="11679784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rter Slide 4">
    <p:spTree>
      <p:nvGrpSpPr>
        <p:cNvPr id="1" name=""/>
        <p:cNvGrpSpPr/>
        <p:nvPr/>
      </p:nvGrpSpPr>
      <p:grpSpPr>
        <a:xfrm>
          <a:off x="0" y="0"/>
          <a:ext cx="0" cy="0"/>
          <a:chOff x="0" y="0"/>
          <a:chExt cx="0" cy="0"/>
        </a:xfrm>
      </p:grpSpPr>
      <p:pic>
        <p:nvPicPr>
          <p:cNvPr id="3" name="Picture 2" descr="A picture containing drawing&#10;&#10;Description automatically generated">
            <a:extLst>
              <a:ext uri="{FF2B5EF4-FFF2-40B4-BE49-F238E27FC236}">
                <a16:creationId xmlns:a16="http://schemas.microsoft.com/office/drawing/2014/main" id="{654AB879-B0FB-4610-8810-E1DDA1CEDC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7657" y="173879"/>
            <a:ext cx="3601212" cy="1170864"/>
          </a:xfrm>
          <a:prstGeom prst="rect">
            <a:avLst/>
          </a:prstGeom>
        </p:spPr>
      </p:pic>
      <p:sp>
        <p:nvSpPr>
          <p:cNvPr id="4" name="Text Placeholder 2">
            <a:extLst>
              <a:ext uri="{FF2B5EF4-FFF2-40B4-BE49-F238E27FC236}">
                <a16:creationId xmlns:a16="http://schemas.microsoft.com/office/drawing/2014/main" id="{D3FE7135-EB24-4777-B2DA-4FF64722D12B}"/>
              </a:ext>
            </a:extLst>
          </p:cNvPr>
          <p:cNvSpPr>
            <a:spLocks noGrp="1"/>
          </p:cNvSpPr>
          <p:nvPr>
            <p:ph type="body" idx="12" hasCustomPrompt="1"/>
          </p:nvPr>
        </p:nvSpPr>
        <p:spPr>
          <a:xfrm>
            <a:off x="5305245" y="3290386"/>
            <a:ext cx="6100458" cy="996942"/>
          </a:xfrm>
        </p:spPr>
        <p:txBody>
          <a:bodyPr>
            <a:noAutofit/>
          </a:bodyPr>
          <a:lstStyle>
            <a:lvl1pPr marL="0" indent="0" algn="ctr" defTabSz="685800" rtl="0" eaLnBrk="1" latinLnBrk="0" hangingPunct="1">
              <a:lnSpc>
                <a:spcPct val="90000"/>
              </a:lnSpc>
              <a:spcBef>
                <a:spcPct val="0"/>
              </a:spcBef>
              <a:buFont typeface="Arial" panose="020B0604020202020204" pitchFamily="34" charset="0"/>
              <a:buNone/>
              <a:defRPr lang="en-US" sz="6400" b="1" kern="1200" dirty="0">
                <a:solidFill>
                  <a:schemeClr val="bg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text</a:t>
            </a:r>
          </a:p>
        </p:txBody>
      </p:sp>
    </p:spTree>
    <p:extLst>
      <p:ext uri="{BB962C8B-B14F-4D97-AF65-F5344CB8AC3E}">
        <p14:creationId xmlns:p14="http://schemas.microsoft.com/office/powerpoint/2010/main" val="24257237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051F5C"/>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rgbClr val="3B3B3B"/>
                </a:solidFill>
                <a:latin typeface="Calibri Light"/>
                <a:cs typeface="Calibri Ligh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6/8/2023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661028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051F5C"/>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6/8/2023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6219385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8BA127-DBE4-420E-8C58-A526916455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0EB820-E543-4884-B025-5B115199AD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57769D-7B9B-4038-B06F-9D2A4CE73D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583DBE-69CB-4E3E-BC00-4C9095EA2BA9}" type="datetimeFigureOut">
              <a:rPr lang="en-US" smtClean="0"/>
              <a:t>6/8/2023</a:t>
            </a:fld>
            <a:endParaRPr lang="en-US"/>
          </a:p>
        </p:txBody>
      </p:sp>
      <p:sp>
        <p:nvSpPr>
          <p:cNvPr id="5" name="Footer Placeholder 4">
            <a:extLst>
              <a:ext uri="{FF2B5EF4-FFF2-40B4-BE49-F238E27FC236}">
                <a16:creationId xmlns:a16="http://schemas.microsoft.com/office/drawing/2014/main" id="{29A7C504-771A-4BEE-81E1-E90EB3EA7D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6DEF193-F03F-4C29-B2FA-45AC90CC70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01A03D-A64C-460E-BF6F-73D197605F99}" type="slidenum">
              <a:rPr lang="en-US" smtClean="0"/>
              <a:t>‹#›</a:t>
            </a:fld>
            <a:endParaRPr lang="en-US"/>
          </a:p>
        </p:txBody>
      </p:sp>
    </p:spTree>
    <p:extLst>
      <p:ext uri="{BB962C8B-B14F-4D97-AF65-F5344CB8AC3E}">
        <p14:creationId xmlns:p14="http://schemas.microsoft.com/office/powerpoint/2010/main" val="341453233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706" r:id="rId20"/>
    <p:sldLayoutId id="2147483707" r:id="rId21"/>
    <p:sldLayoutId id="2147483708" r:id="rId22"/>
    <p:sldLayoutId id="2147483709" r:id="rId23"/>
    <p:sldLayoutId id="2147483699" r:id="rId24"/>
    <p:sldLayoutId id="2147483710" r:id="rId25"/>
    <p:sldLayoutId id="2147483711" r:id="rId26"/>
    <p:sldLayoutId id="2147483712" r:id="rId27"/>
    <p:sldLayoutId id="2147483713" r:id="rId28"/>
    <p:sldLayoutId id="2147483702" r:id="rId29"/>
    <p:sldLayoutId id="2147483704" r:id="rId30"/>
    <p:sldLayoutId id="2147483705"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715" r:id="rId42"/>
    <p:sldLayoutId id="2147483716" r:id="rId4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jpeg"/><Relationship Id="rId5" Type="http://schemas.openxmlformats.org/officeDocument/2006/relationships/hyperlink" Target="mailto:Paul.Phelan@assuredpartners.com" TargetMode="Externa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18" Type="http://schemas.openxmlformats.org/officeDocument/2006/relationships/image" Target="../media/image2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17" Type="http://schemas.openxmlformats.org/officeDocument/2006/relationships/image" Target="../media/image19.png"/><Relationship Id="rId2" Type="http://schemas.openxmlformats.org/officeDocument/2006/relationships/slideLayout" Target="../slideLayouts/slideLayout29.xml"/><Relationship Id="rId16" Type="http://schemas.openxmlformats.org/officeDocument/2006/relationships/image" Target="../media/image18.svg"/><Relationship Id="rId1" Type="http://schemas.openxmlformats.org/officeDocument/2006/relationships/tags" Target="../tags/tag3.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9.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4">
            <a:extLst>
              <a:ext uri="{FF2B5EF4-FFF2-40B4-BE49-F238E27FC236}">
                <a16:creationId xmlns:a16="http://schemas.microsoft.com/office/drawing/2014/main" id="{70523A8D-2AB4-4E48-BACE-B161B321B055}"/>
              </a:ext>
            </a:extLst>
          </p:cNvPr>
          <p:cNvPicPr>
            <a:picLocks noChangeAspect="1"/>
          </p:cNvPicPr>
          <p:nvPr>
            <p:custDataLst>
              <p:tags r:id="rId2"/>
            </p:custDataLst>
          </p:nvPr>
        </p:nvPicPr>
        <p:blipFill rotWithShape="1">
          <a:blip r:embed="rId4">
            <a:extLst>
              <a:ext uri="{28A0092B-C50C-407E-A947-70E740481C1C}">
                <a14:useLocalDpi xmlns:a14="http://schemas.microsoft.com/office/drawing/2010/main" val="0"/>
              </a:ext>
            </a:extLst>
          </a:blip>
          <a:srcRect t="7802" b="7802"/>
          <a:stretch/>
        </p:blipFill>
        <p:spPr>
          <a:xfrm>
            <a:off x="0" y="0"/>
            <a:ext cx="12192001" cy="6858001"/>
          </a:xfrm>
          <a:prstGeom prst="rect">
            <a:avLst/>
          </a:prstGeom>
        </p:spPr>
      </p:pic>
      <p:sp>
        <p:nvSpPr>
          <p:cNvPr id="7" name="Oval 6">
            <a:extLst>
              <a:ext uri="{FF2B5EF4-FFF2-40B4-BE49-F238E27FC236}">
                <a16:creationId xmlns:a16="http://schemas.microsoft.com/office/drawing/2014/main" id="{76D40A6E-0DE6-4D33-B9DE-AD325AA68974}"/>
              </a:ext>
            </a:extLst>
          </p:cNvPr>
          <p:cNvSpPr/>
          <p:nvPr/>
        </p:nvSpPr>
        <p:spPr>
          <a:xfrm>
            <a:off x="-2059120" y="4991315"/>
            <a:ext cx="8730342" cy="87303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14DC140-3902-46F7-BCE1-EDF17A725E57}"/>
              </a:ext>
            </a:extLst>
          </p:cNvPr>
          <p:cNvSpPr/>
          <p:nvPr/>
        </p:nvSpPr>
        <p:spPr>
          <a:xfrm>
            <a:off x="-3988469" y="1808819"/>
            <a:ext cx="4680857" cy="4680857"/>
          </a:xfrm>
          <a:prstGeom prst="ellipse">
            <a:avLst/>
          </a:prstGeom>
          <a:solidFill>
            <a:srgbClr val="172857">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A81A977-CAEC-4CB5-94D2-CFAB8D501F5A}"/>
              </a:ext>
            </a:extLst>
          </p:cNvPr>
          <p:cNvSpPr/>
          <p:nvPr/>
        </p:nvSpPr>
        <p:spPr>
          <a:xfrm>
            <a:off x="-4264119" y="-190711"/>
            <a:ext cx="4680857" cy="4680857"/>
          </a:xfrm>
          <a:prstGeom prst="ellipse">
            <a:avLst/>
          </a:prstGeom>
          <a:solidFill>
            <a:srgbClr val="377A5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64DB9E5-36D6-492B-BA29-3040FE8529DE}"/>
              </a:ext>
            </a:extLst>
          </p:cNvPr>
          <p:cNvSpPr/>
          <p:nvPr/>
        </p:nvSpPr>
        <p:spPr>
          <a:xfrm>
            <a:off x="5446365" y="5878289"/>
            <a:ext cx="4680857" cy="4680857"/>
          </a:xfrm>
          <a:prstGeom prst="ellipse">
            <a:avLst/>
          </a:prstGeom>
          <a:solidFill>
            <a:srgbClr val="172857">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7D77422-3241-4F51-822D-D6359AC26641}"/>
              </a:ext>
            </a:extLst>
          </p:cNvPr>
          <p:cNvSpPr/>
          <p:nvPr/>
        </p:nvSpPr>
        <p:spPr>
          <a:xfrm>
            <a:off x="7426036" y="3401574"/>
            <a:ext cx="6584306" cy="6298023"/>
          </a:xfrm>
          <a:prstGeom prst="ellipse">
            <a:avLst/>
          </a:prstGeom>
          <a:solidFill>
            <a:srgbClr val="377A5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043FDB5-28EA-4BCD-A211-BEBF0DB5017C}"/>
              </a:ext>
            </a:extLst>
          </p:cNvPr>
          <p:cNvSpPr/>
          <p:nvPr/>
        </p:nvSpPr>
        <p:spPr>
          <a:xfrm>
            <a:off x="10127222" y="-2166257"/>
            <a:ext cx="4680857" cy="4680857"/>
          </a:xfrm>
          <a:prstGeom prst="ellipse">
            <a:avLst/>
          </a:prstGeom>
          <a:solidFill>
            <a:srgbClr val="172857">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5CE2E55-D3BF-4BF1-9B3F-D93E126B2484}"/>
              </a:ext>
            </a:extLst>
          </p:cNvPr>
          <p:cNvSpPr/>
          <p:nvPr/>
        </p:nvSpPr>
        <p:spPr>
          <a:xfrm>
            <a:off x="8004507" y="-3826543"/>
            <a:ext cx="4463143" cy="4463143"/>
          </a:xfrm>
          <a:prstGeom prst="ellipse">
            <a:avLst/>
          </a:prstGeom>
          <a:solidFill>
            <a:srgbClr val="377A5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FF6E0F3-43A3-4DD2-98C9-881E0CFE9B6E}"/>
              </a:ext>
            </a:extLst>
          </p:cNvPr>
          <p:cNvSpPr txBox="1"/>
          <p:nvPr/>
        </p:nvSpPr>
        <p:spPr>
          <a:xfrm>
            <a:off x="8045558" y="5494517"/>
            <a:ext cx="4102598" cy="1231106"/>
          </a:xfrm>
          <a:prstGeom prst="rect">
            <a:avLst/>
          </a:prstGeom>
          <a:noFill/>
        </p:spPr>
        <p:txBody>
          <a:bodyPr wrap="none" rtlCol="0">
            <a:spAutoFit/>
          </a:bodyPr>
          <a:lstStyle/>
          <a:p>
            <a:r>
              <a:rPr lang="en-US" sz="1600">
                <a:solidFill>
                  <a:schemeClr val="bg1"/>
                </a:solidFill>
              </a:rPr>
              <a:t>Paul J Phelan, CFP©  |  Senior Vice President</a:t>
            </a:r>
          </a:p>
          <a:p>
            <a:r>
              <a:rPr lang="en-US" sz="1400">
                <a:solidFill>
                  <a:schemeClr val="bg1"/>
                </a:solidFill>
              </a:rPr>
              <a:t>(240) 864-9117| </a:t>
            </a:r>
            <a:r>
              <a:rPr lang="en-US" sz="1400">
                <a:solidFill>
                  <a:schemeClr val="bg1"/>
                </a:solidFill>
                <a:hlinkClick r:id="rId5"/>
              </a:rPr>
              <a:t>Paul.Phelan@assuredpartners.com</a:t>
            </a:r>
            <a:endParaRPr lang="en-US" sz="1400">
              <a:solidFill>
                <a:schemeClr val="bg1"/>
              </a:solidFill>
            </a:endParaRPr>
          </a:p>
          <a:p>
            <a:endParaRPr lang="en-US" sz="1400">
              <a:solidFill>
                <a:schemeClr val="bg1"/>
              </a:solidFill>
            </a:endParaRPr>
          </a:p>
          <a:p>
            <a:r>
              <a:rPr lang="en-US" sz="1600">
                <a:solidFill>
                  <a:schemeClr val="bg1"/>
                </a:solidFill>
              </a:rPr>
              <a:t>Natalia Bravo  |  Account Executive</a:t>
            </a:r>
          </a:p>
          <a:p>
            <a:r>
              <a:rPr lang="en-US" sz="1400">
                <a:solidFill>
                  <a:schemeClr val="bg1"/>
                </a:solidFill>
              </a:rPr>
              <a:t>(301) 948-5800| Natalia.Bravo@assuredpartners.com</a:t>
            </a:r>
          </a:p>
        </p:txBody>
      </p:sp>
      <p:pic>
        <p:nvPicPr>
          <p:cNvPr id="15" name="Picture 14">
            <a:extLst>
              <a:ext uri="{FF2B5EF4-FFF2-40B4-BE49-F238E27FC236}">
                <a16:creationId xmlns:a16="http://schemas.microsoft.com/office/drawing/2014/main" id="{5109693B-769A-418F-BA67-DE948F98360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83288" y="5771516"/>
            <a:ext cx="3960797" cy="779069"/>
          </a:xfrm>
          <a:prstGeom prst="rect">
            <a:avLst/>
          </a:prstGeom>
        </p:spPr>
      </p:pic>
    </p:spTree>
    <p:custDataLst>
      <p:tags r:id="rId1"/>
    </p:custDataLst>
    <p:extLst>
      <p:ext uri="{BB962C8B-B14F-4D97-AF65-F5344CB8AC3E}">
        <p14:creationId xmlns:p14="http://schemas.microsoft.com/office/powerpoint/2010/main" val="248392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476935F3-08AD-43F2-8567-C0C4FE65E23A}"/>
              </a:ext>
            </a:extLst>
          </p:cNvPr>
          <p:cNvSpPr/>
          <p:nvPr/>
        </p:nvSpPr>
        <p:spPr>
          <a:xfrm>
            <a:off x="9515061" y="-1083809"/>
            <a:ext cx="3332713" cy="3130322"/>
          </a:xfrm>
          <a:prstGeom prst="ellipse">
            <a:avLst/>
          </a:prstGeom>
          <a:solidFill>
            <a:srgbClr val="377A5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E289187-A4D5-4FEC-B66A-7CCB5F566CCC}"/>
              </a:ext>
            </a:extLst>
          </p:cNvPr>
          <p:cNvSpPr/>
          <p:nvPr/>
        </p:nvSpPr>
        <p:spPr>
          <a:xfrm>
            <a:off x="1" y="1043689"/>
            <a:ext cx="10628242" cy="668000"/>
          </a:xfrm>
          <a:prstGeom prst="rect">
            <a:avLst/>
          </a:prstGeom>
          <a:solidFill>
            <a:srgbClr val="E477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E3C3118-9F70-48E9-9725-B72307EC8A00}"/>
              </a:ext>
            </a:extLst>
          </p:cNvPr>
          <p:cNvSpPr txBox="1"/>
          <p:nvPr/>
        </p:nvSpPr>
        <p:spPr>
          <a:xfrm>
            <a:off x="556294" y="1040748"/>
            <a:ext cx="5799889" cy="646331"/>
          </a:xfrm>
          <a:prstGeom prst="rect">
            <a:avLst/>
          </a:prstGeom>
          <a:noFill/>
        </p:spPr>
        <p:txBody>
          <a:bodyPr wrap="square" rtlCol="0">
            <a:spAutoFit/>
          </a:bodyPr>
          <a:lstStyle/>
          <a:p>
            <a:r>
              <a:rPr lang="en-US" sz="3600">
                <a:solidFill>
                  <a:schemeClr val="bg1"/>
                </a:solidFill>
                <a:latin typeface="+mj-lt"/>
              </a:rPr>
              <a:t>About Us</a:t>
            </a:r>
          </a:p>
        </p:txBody>
      </p:sp>
      <p:grpSp>
        <p:nvGrpSpPr>
          <p:cNvPr id="100" name="Group 99">
            <a:extLst>
              <a:ext uri="{FF2B5EF4-FFF2-40B4-BE49-F238E27FC236}">
                <a16:creationId xmlns:a16="http://schemas.microsoft.com/office/drawing/2014/main" id="{A7FCE1FD-596E-4309-AE5F-6F220C12A51A}"/>
              </a:ext>
            </a:extLst>
          </p:cNvPr>
          <p:cNvGrpSpPr/>
          <p:nvPr/>
        </p:nvGrpSpPr>
        <p:grpSpPr>
          <a:xfrm>
            <a:off x="1066800" y="2046513"/>
            <a:ext cx="9154881" cy="3907359"/>
            <a:chOff x="5258007" y="2142280"/>
            <a:chExt cx="8219764" cy="3432943"/>
          </a:xfrm>
        </p:grpSpPr>
        <p:grpSp>
          <p:nvGrpSpPr>
            <p:cNvPr id="101" name="Group 100">
              <a:extLst>
                <a:ext uri="{FF2B5EF4-FFF2-40B4-BE49-F238E27FC236}">
                  <a16:creationId xmlns:a16="http://schemas.microsoft.com/office/drawing/2014/main" id="{D3AEBACB-E504-4276-9BFF-A7FA157091EE}"/>
                </a:ext>
              </a:extLst>
            </p:cNvPr>
            <p:cNvGrpSpPr/>
            <p:nvPr/>
          </p:nvGrpSpPr>
          <p:grpSpPr>
            <a:xfrm>
              <a:off x="10055454" y="2142280"/>
              <a:ext cx="738203" cy="738203"/>
              <a:chOff x="10206424" y="2193494"/>
              <a:chExt cx="954048" cy="954048"/>
            </a:xfrm>
          </p:grpSpPr>
          <p:sp>
            <p:nvSpPr>
              <p:cNvPr id="139" name="Oval 138">
                <a:extLst>
                  <a:ext uri="{FF2B5EF4-FFF2-40B4-BE49-F238E27FC236}">
                    <a16:creationId xmlns:a16="http://schemas.microsoft.com/office/drawing/2014/main" id="{527F101B-8FDD-4699-B5C7-D1946B3DC2A6}"/>
                  </a:ext>
                </a:extLst>
              </p:cNvPr>
              <p:cNvSpPr/>
              <p:nvPr/>
            </p:nvSpPr>
            <p:spPr>
              <a:xfrm>
                <a:off x="10206424" y="2193494"/>
                <a:ext cx="954048" cy="954048"/>
              </a:xfrm>
              <a:prstGeom prst="ellipse">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40" name="Graphic 139" descr="Earth globe Africa and Europe">
                <a:extLst>
                  <a:ext uri="{FF2B5EF4-FFF2-40B4-BE49-F238E27FC236}">
                    <a16:creationId xmlns:a16="http://schemas.microsoft.com/office/drawing/2014/main" id="{A58B6A89-5193-46E6-9266-F58602A75DF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75077" y="2346098"/>
                <a:ext cx="612798" cy="612798"/>
              </a:xfrm>
              <a:prstGeom prst="rect">
                <a:avLst/>
              </a:prstGeom>
            </p:spPr>
          </p:pic>
        </p:grpSp>
        <p:grpSp>
          <p:nvGrpSpPr>
            <p:cNvPr id="102" name="Group 101">
              <a:extLst>
                <a:ext uri="{FF2B5EF4-FFF2-40B4-BE49-F238E27FC236}">
                  <a16:creationId xmlns:a16="http://schemas.microsoft.com/office/drawing/2014/main" id="{5E868134-324B-4B52-A043-3717374963FE}"/>
                </a:ext>
              </a:extLst>
            </p:cNvPr>
            <p:cNvGrpSpPr/>
            <p:nvPr/>
          </p:nvGrpSpPr>
          <p:grpSpPr>
            <a:xfrm>
              <a:off x="12482239" y="2142280"/>
              <a:ext cx="738203" cy="738203"/>
              <a:chOff x="12947178" y="2193494"/>
              <a:chExt cx="954048" cy="954048"/>
            </a:xfrm>
          </p:grpSpPr>
          <p:sp>
            <p:nvSpPr>
              <p:cNvPr id="137" name="Oval 136">
                <a:extLst>
                  <a:ext uri="{FF2B5EF4-FFF2-40B4-BE49-F238E27FC236}">
                    <a16:creationId xmlns:a16="http://schemas.microsoft.com/office/drawing/2014/main" id="{B7D461ED-1094-4BCB-B434-00752713DC64}"/>
                  </a:ext>
                </a:extLst>
              </p:cNvPr>
              <p:cNvSpPr/>
              <p:nvPr/>
            </p:nvSpPr>
            <p:spPr>
              <a:xfrm>
                <a:off x="12947178" y="2193494"/>
                <a:ext cx="954048" cy="954048"/>
              </a:xfrm>
              <a:prstGeom prst="ellipse">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8" name="Graphic 137" descr="Marker">
                <a:extLst>
                  <a:ext uri="{FF2B5EF4-FFF2-40B4-BE49-F238E27FC236}">
                    <a16:creationId xmlns:a16="http://schemas.microsoft.com/office/drawing/2014/main" id="{CB6C8EC9-DB70-4043-B016-90D142B060A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3122262" y="2341587"/>
                <a:ext cx="612798" cy="612798"/>
              </a:xfrm>
              <a:prstGeom prst="rect">
                <a:avLst/>
              </a:prstGeom>
            </p:spPr>
          </p:pic>
        </p:grpSp>
        <p:grpSp>
          <p:nvGrpSpPr>
            <p:cNvPr id="103" name="Group 102">
              <a:extLst>
                <a:ext uri="{FF2B5EF4-FFF2-40B4-BE49-F238E27FC236}">
                  <a16:creationId xmlns:a16="http://schemas.microsoft.com/office/drawing/2014/main" id="{109ECB59-AC86-4DBC-BDE2-3264EB37F286}"/>
                </a:ext>
              </a:extLst>
            </p:cNvPr>
            <p:cNvGrpSpPr/>
            <p:nvPr/>
          </p:nvGrpSpPr>
          <p:grpSpPr>
            <a:xfrm>
              <a:off x="10053228" y="3991707"/>
              <a:ext cx="738203" cy="738203"/>
              <a:chOff x="10206424" y="4148802"/>
              <a:chExt cx="954048" cy="954048"/>
            </a:xfrm>
          </p:grpSpPr>
          <p:sp>
            <p:nvSpPr>
              <p:cNvPr id="135" name="Oval 134">
                <a:extLst>
                  <a:ext uri="{FF2B5EF4-FFF2-40B4-BE49-F238E27FC236}">
                    <a16:creationId xmlns:a16="http://schemas.microsoft.com/office/drawing/2014/main" id="{61CC2A40-965D-48FF-B405-F7914D5E70EA}"/>
                  </a:ext>
                </a:extLst>
              </p:cNvPr>
              <p:cNvSpPr/>
              <p:nvPr/>
            </p:nvSpPr>
            <p:spPr>
              <a:xfrm>
                <a:off x="10206424" y="4148802"/>
                <a:ext cx="954048" cy="954048"/>
              </a:xfrm>
              <a:prstGeom prst="ellipse">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6" name="Graphic 135" descr="Handshake">
                <a:extLst>
                  <a:ext uri="{FF2B5EF4-FFF2-40B4-BE49-F238E27FC236}">
                    <a16:creationId xmlns:a16="http://schemas.microsoft.com/office/drawing/2014/main" id="{EAA00268-97B6-4894-BD6D-43862D93501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377050" y="4313432"/>
                <a:ext cx="612798" cy="612798"/>
              </a:xfrm>
              <a:prstGeom prst="rect">
                <a:avLst/>
              </a:prstGeom>
            </p:spPr>
          </p:pic>
        </p:grpSp>
        <p:grpSp>
          <p:nvGrpSpPr>
            <p:cNvPr id="104" name="Group 103">
              <a:extLst>
                <a:ext uri="{FF2B5EF4-FFF2-40B4-BE49-F238E27FC236}">
                  <a16:creationId xmlns:a16="http://schemas.microsoft.com/office/drawing/2014/main" id="{396F3372-516C-4D38-9A27-ABDA407C2BC8}"/>
                </a:ext>
              </a:extLst>
            </p:cNvPr>
            <p:cNvGrpSpPr/>
            <p:nvPr/>
          </p:nvGrpSpPr>
          <p:grpSpPr>
            <a:xfrm>
              <a:off x="7742029" y="3991707"/>
              <a:ext cx="738203" cy="738203"/>
              <a:chOff x="7616372" y="4148802"/>
              <a:chExt cx="954048" cy="954048"/>
            </a:xfrm>
          </p:grpSpPr>
          <p:sp>
            <p:nvSpPr>
              <p:cNvPr id="133" name="Oval 132">
                <a:extLst>
                  <a:ext uri="{FF2B5EF4-FFF2-40B4-BE49-F238E27FC236}">
                    <a16:creationId xmlns:a16="http://schemas.microsoft.com/office/drawing/2014/main" id="{1BA4B511-EAC0-4176-BB05-E7338080752D}"/>
                  </a:ext>
                </a:extLst>
              </p:cNvPr>
              <p:cNvSpPr/>
              <p:nvPr/>
            </p:nvSpPr>
            <p:spPr>
              <a:xfrm>
                <a:off x="7616372" y="4148802"/>
                <a:ext cx="954048" cy="954048"/>
              </a:xfrm>
              <a:prstGeom prst="ellipse">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4" name="Graphic 133" descr="Employee badge">
                <a:extLst>
                  <a:ext uri="{FF2B5EF4-FFF2-40B4-BE49-F238E27FC236}">
                    <a16:creationId xmlns:a16="http://schemas.microsoft.com/office/drawing/2014/main" id="{FABFBC87-FF4F-4072-B819-35F25A7B7FD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783067" y="4319427"/>
                <a:ext cx="612798" cy="612798"/>
              </a:xfrm>
              <a:prstGeom prst="rect">
                <a:avLst/>
              </a:prstGeom>
            </p:spPr>
          </p:pic>
        </p:grpSp>
        <p:grpSp>
          <p:nvGrpSpPr>
            <p:cNvPr id="105" name="Group 104">
              <a:extLst>
                <a:ext uri="{FF2B5EF4-FFF2-40B4-BE49-F238E27FC236}">
                  <a16:creationId xmlns:a16="http://schemas.microsoft.com/office/drawing/2014/main" id="{BCF0128B-8C36-4A34-A504-D2491667943F}"/>
                </a:ext>
              </a:extLst>
            </p:cNvPr>
            <p:cNvGrpSpPr/>
            <p:nvPr/>
          </p:nvGrpSpPr>
          <p:grpSpPr>
            <a:xfrm>
              <a:off x="5455748" y="3991707"/>
              <a:ext cx="738203" cy="738203"/>
              <a:chOff x="5056420" y="4148802"/>
              <a:chExt cx="954048" cy="954048"/>
            </a:xfrm>
          </p:grpSpPr>
          <p:sp>
            <p:nvSpPr>
              <p:cNvPr id="131" name="Oval 130">
                <a:extLst>
                  <a:ext uri="{FF2B5EF4-FFF2-40B4-BE49-F238E27FC236}">
                    <a16:creationId xmlns:a16="http://schemas.microsoft.com/office/drawing/2014/main" id="{9C540885-70CA-424F-BA32-4E85CE129FCB}"/>
                  </a:ext>
                </a:extLst>
              </p:cNvPr>
              <p:cNvSpPr/>
              <p:nvPr/>
            </p:nvSpPr>
            <p:spPr>
              <a:xfrm>
                <a:off x="5056420" y="4148802"/>
                <a:ext cx="954048" cy="954048"/>
              </a:xfrm>
              <a:prstGeom prst="ellipse">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2" name="Graphic 131" descr="Checklist RTL">
                <a:extLst>
                  <a:ext uri="{FF2B5EF4-FFF2-40B4-BE49-F238E27FC236}">
                    <a16:creationId xmlns:a16="http://schemas.microsoft.com/office/drawing/2014/main" id="{7045B40C-54D2-4728-861F-5DDD93C47181}"/>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232957" y="4328591"/>
                <a:ext cx="612798" cy="612798"/>
              </a:xfrm>
              <a:prstGeom prst="rect">
                <a:avLst/>
              </a:prstGeom>
            </p:spPr>
          </p:pic>
        </p:grpSp>
        <p:grpSp>
          <p:nvGrpSpPr>
            <p:cNvPr id="106" name="Group 105">
              <a:extLst>
                <a:ext uri="{FF2B5EF4-FFF2-40B4-BE49-F238E27FC236}">
                  <a16:creationId xmlns:a16="http://schemas.microsoft.com/office/drawing/2014/main" id="{B499F401-0FF2-4C71-B348-B1CDDE94AAE3}"/>
                </a:ext>
              </a:extLst>
            </p:cNvPr>
            <p:cNvGrpSpPr/>
            <p:nvPr/>
          </p:nvGrpSpPr>
          <p:grpSpPr>
            <a:xfrm>
              <a:off x="5457973" y="2142280"/>
              <a:ext cx="738203" cy="738203"/>
              <a:chOff x="5056420" y="2193494"/>
              <a:chExt cx="954048" cy="954048"/>
            </a:xfrm>
          </p:grpSpPr>
          <p:sp>
            <p:nvSpPr>
              <p:cNvPr id="129" name="Oval 128">
                <a:extLst>
                  <a:ext uri="{FF2B5EF4-FFF2-40B4-BE49-F238E27FC236}">
                    <a16:creationId xmlns:a16="http://schemas.microsoft.com/office/drawing/2014/main" id="{CF5FE28B-1BDC-4F8B-A8A3-69BB5B969D0C}"/>
                  </a:ext>
                </a:extLst>
              </p:cNvPr>
              <p:cNvSpPr/>
              <p:nvPr/>
            </p:nvSpPr>
            <p:spPr>
              <a:xfrm>
                <a:off x="5056420" y="2193494"/>
                <a:ext cx="954048" cy="954048"/>
              </a:xfrm>
              <a:prstGeom prst="ellipse">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0" name="Graphic 129" descr="Ribbon">
                <a:extLst>
                  <a:ext uri="{FF2B5EF4-FFF2-40B4-BE49-F238E27FC236}">
                    <a16:creationId xmlns:a16="http://schemas.microsoft.com/office/drawing/2014/main" id="{DFFCA1F0-55BF-4A20-BFDB-2D7B4BA6790B}"/>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226571" y="2358237"/>
                <a:ext cx="612798" cy="612798"/>
              </a:xfrm>
              <a:prstGeom prst="rect">
                <a:avLst/>
              </a:prstGeom>
            </p:spPr>
          </p:pic>
        </p:grpSp>
        <p:grpSp>
          <p:nvGrpSpPr>
            <p:cNvPr id="107" name="Group 106">
              <a:extLst>
                <a:ext uri="{FF2B5EF4-FFF2-40B4-BE49-F238E27FC236}">
                  <a16:creationId xmlns:a16="http://schemas.microsoft.com/office/drawing/2014/main" id="{B0BE31AF-DCFC-474D-911B-63712A2C64C5}"/>
                </a:ext>
              </a:extLst>
            </p:cNvPr>
            <p:cNvGrpSpPr/>
            <p:nvPr/>
          </p:nvGrpSpPr>
          <p:grpSpPr>
            <a:xfrm>
              <a:off x="7748766" y="2142280"/>
              <a:ext cx="738203" cy="738203"/>
              <a:chOff x="7620884" y="2193494"/>
              <a:chExt cx="954048" cy="954048"/>
            </a:xfrm>
          </p:grpSpPr>
          <p:sp>
            <p:nvSpPr>
              <p:cNvPr id="127" name="Oval 126">
                <a:extLst>
                  <a:ext uri="{FF2B5EF4-FFF2-40B4-BE49-F238E27FC236}">
                    <a16:creationId xmlns:a16="http://schemas.microsoft.com/office/drawing/2014/main" id="{4CDA8489-6C2C-4C60-8463-457374FF2B84}"/>
                  </a:ext>
                </a:extLst>
              </p:cNvPr>
              <p:cNvSpPr/>
              <p:nvPr/>
            </p:nvSpPr>
            <p:spPr>
              <a:xfrm>
                <a:off x="7620884" y="2193494"/>
                <a:ext cx="954048" cy="954048"/>
              </a:xfrm>
              <a:prstGeom prst="ellipse">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28" name="Graphic 127" descr="Trophy">
                <a:extLst>
                  <a:ext uri="{FF2B5EF4-FFF2-40B4-BE49-F238E27FC236}">
                    <a16:creationId xmlns:a16="http://schemas.microsoft.com/office/drawing/2014/main" id="{1FBA807D-7C64-4526-B70C-FF7409E5C027}"/>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7785361" y="2378060"/>
                <a:ext cx="612798" cy="612798"/>
              </a:xfrm>
              <a:prstGeom prst="rect">
                <a:avLst/>
              </a:prstGeom>
            </p:spPr>
          </p:pic>
        </p:grpSp>
        <p:grpSp>
          <p:nvGrpSpPr>
            <p:cNvPr id="108" name="Group 107">
              <a:extLst>
                <a:ext uri="{FF2B5EF4-FFF2-40B4-BE49-F238E27FC236}">
                  <a16:creationId xmlns:a16="http://schemas.microsoft.com/office/drawing/2014/main" id="{5FC17FE7-226F-4318-9469-1665FDA3EB14}"/>
                </a:ext>
              </a:extLst>
            </p:cNvPr>
            <p:cNvGrpSpPr/>
            <p:nvPr/>
          </p:nvGrpSpPr>
          <p:grpSpPr>
            <a:xfrm>
              <a:off x="12482241" y="3991707"/>
              <a:ext cx="738203" cy="738203"/>
              <a:chOff x="12949405" y="4148802"/>
              <a:chExt cx="954048" cy="954048"/>
            </a:xfrm>
          </p:grpSpPr>
          <p:sp>
            <p:nvSpPr>
              <p:cNvPr id="125" name="Oval 124">
                <a:extLst>
                  <a:ext uri="{FF2B5EF4-FFF2-40B4-BE49-F238E27FC236}">
                    <a16:creationId xmlns:a16="http://schemas.microsoft.com/office/drawing/2014/main" id="{F5ABBAC5-A824-47EA-BA70-820504C622E1}"/>
                  </a:ext>
                </a:extLst>
              </p:cNvPr>
              <p:cNvSpPr/>
              <p:nvPr/>
            </p:nvSpPr>
            <p:spPr>
              <a:xfrm>
                <a:off x="12949405" y="4148802"/>
                <a:ext cx="954048" cy="954048"/>
              </a:xfrm>
              <a:prstGeom prst="ellipse">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26" name="Graphic 125" descr="Statistics">
                <a:extLst>
                  <a:ext uri="{FF2B5EF4-FFF2-40B4-BE49-F238E27FC236}">
                    <a16:creationId xmlns:a16="http://schemas.microsoft.com/office/drawing/2014/main" id="{E1749AFF-D5C3-4351-9B29-CC09FC3F5299}"/>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3118052" y="4297877"/>
                <a:ext cx="612798" cy="612798"/>
              </a:xfrm>
              <a:prstGeom prst="rect">
                <a:avLst/>
              </a:prstGeom>
            </p:spPr>
          </p:pic>
        </p:grpSp>
        <p:sp>
          <p:nvSpPr>
            <p:cNvPr id="109" name="TextBox 108">
              <a:extLst>
                <a:ext uri="{FF2B5EF4-FFF2-40B4-BE49-F238E27FC236}">
                  <a16:creationId xmlns:a16="http://schemas.microsoft.com/office/drawing/2014/main" id="{12D1DF5B-EB0E-49F1-B014-6C0BC16F4519}"/>
                </a:ext>
              </a:extLst>
            </p:cNvPr>
            <p:cNvSpPr txBox="1"/>
            <p:nvPr/>
          </p:nvSpPr>
          <p:spPr>
            <a:xfrm>
              <a:off x="5275760" y="3345307"/>
              <a:ext cx="1111668" cy="365050"/>
            </a:xfrm>
            <a:prstGeom prst="rect">
              <a:avLst/>
            </a:prstGeom>
            <a:noFill/>
          </p:spPr>
          <p:txBody>
            <a:bodyPr wrap="square" rtlCol="0">
              <a:spAutoFit/>
            </a:bodyPr>
            <a:lstStyle/>
            <a:p>
              <a:pPr algn="ctr" defTabSz="427545" fontAlgn="auto">
                <a:spcBef>
                  <a:spcPts val="0"/>
                </a:spcBef>
                <a:spcAft>
                  <a:spcPts val="0"/>
                </a:spcAft>
              </a:pPr>
              <a:r>
                <a:rPr lang="en-US" sz="1050" b="1">
                  <a:solidFill>
                    <a:srgbClr val="E7E6E6">
                      <a:lumMod val="50000"/>
                    </a:srgbClr>
                  </a:solidFill>
                  <a:latin typeface="Calibri"/>
                  <a:cs typeface="+mn-cs"/>
                </a:rPr>
                <a:t>LARGEST P&amp;C BROKER IN THE US</a:t>
              </a:r>
            </a:p>
          </p:txBody>
        </p:sp>
        <p:sp>
          <p:nvSpPr>
            <p:cNvPr id="110" name="TextBox 109">
              <a:extLst>
                <a:ext uri="{FF2B5EF4-FFF2-40B4-BE49-F238E27FC236}">
                  <a16:creationId xmlns:a16="http://schemas.microsoft.com/office/drawing/2014/main" id="{61185DB4-5E85-494E-B0E1-9A195DF2AA74}"/>
                </a:ext>
              </a:extLst>
            </p:cNvPr>
            <p:cNvSpPr txBox="1"/>
            <p:nvPr/>
          </p:nvSpPr>
          <p:spPr>
            <a:xfrm>
              <a:off x="5382295" y="2862244"/>
              <a:ext cx="895216" cy="621937"/>
            </a:xfrm>
            <a:prstGeom prst="rect">
              <a:avLst/>
            </a:prstGeom>
            <a:noFill/>
          </p:spPr>
          <p:txBody>
            <a:bodyPr wrap="square" rtlCol="0">
              <a:spAutoFit/>
            </a:bodyPr>
            <a:lstStyle/>
            <a:p>
              <a:pPr algn="ctr" defTabSz="427545" fontAlgn="auto">
                <a:spcBef>
                  <a:spcPts val="0"/>
                </a:spcBef>
                <a:spcAft>
                  <a:spcPts val="0"/>
                </a:spcAft>
              </a:pPr>
              <a:r>
                <a:rPr lang="en-US" sz="4000">
                  <a:solidFill>
                    <a:srgbClr val="002060"/>
                  </a:solidFill>
                  <a:latin typeface="Calibri"/>
                  <a:cs typeface="+mn-cs"/>
                </a:rPr>
                <a:t>5</a:t>
              </a:r>
              <a:r>
                <a:rPr lang="en-US" sz="2400">
                  <a:solidFill>
                    <a:srgbClr val="002060"/>
                  </a:solidFill>
                  <a:latin typeface="Calibri"/>
                  <a:cs typeface="+mn-cs"/>
                </a:rPr>
                <a:t>th</a:t>
              </a:r>
            </a:p>
          </p:txBody>
        </p:sp>
        <p:sp>
          <p:nvSpPr>
            <p:cNvPr id="111" name="TextBox 110">
              <a:extLst>
                <a:ext uri="{FF2B5EF4-FFF2-40B4-BE49-F238E27FC236}">
                  <a16:creationId xmlns:a16="http://schemas.microsoft.com/office/drawing/2014/main" id="{4EEC9105-CD95-4232-A3D2-01F890A54830}"/>
                </a:ext>
              </a:extLst>
            </p:cNvPr>
            <p:cNvSpPr txBox="1"/>
            <p:nvPr/>
          </p:nvSpPr>
          <p:spPr>
            <a:xfrm>
              <a:off x="7653689" y="2862244"/>
              <a:ext cx="950628" cy="621938"/>
            </a:xfrm>
            <a:prstGeom prst="rect">
              <a:avLst/>
            </a:prstGeom>
            <a:noFill/>
          </p:spPr>
          <p:txBody>
            <a:bodyPr wrap="square" rtlCol="0">
              <a:spAutoFit/>
            </a:bodyPr>
            <a:lstStyle/>
            <a:p>
              <a:pPr algn="ctr" defTabSz="427545" fontAlgn="auto">
                <a:spcBef>
                  <a:spcPts val="0"/>
                </a:spcBef>
                <a:spcAft>
                  <a:spcPts val="0"/>
                </a:spcAft>
              </a:pPr>
              <a:r>
                <a:rPr lang="en-US" sz="4000">
                  <a:solidFill>
                    <a:srgbClr val="002060"/>
                  </a:solidFill>
                  <a:latin typeface="Calibri"/>
                </a:rPr>
                <a:t>11</a:t>
              </a:r>
              <a:r>
                <a:rPr lang="en-US" sz="2400">
                  <a:solidFill>
                    <a:srgbClr val="002060"/>
                  </a:solidFill>
                  <a:latin typeface="Calibri"/>
                  <a:cs typeface="+mn-cs"/>
                </a:rPr>
                <a:t>th</a:t>
              </a:r>
            </a:p>
          </p:txBody>
        </p:sp>
        <p:sp>
          <p:nvSpPr>
            <p:cNvPr id="112" name="TextBox 111">
              <a:extLst>
                <a:ext uri="{FF2B5EF4-FFF2-40B4-BE49-F238E27FC236}">
                  <a16:creationId xmlns:a16="http://schemas.microsoft.com/office/drawing/2014/main" id="{2AF025D7-6536-403F-824E-F79C4956E9A1}"/>
                </a:ext>
              </a:extLst>
            </p:cNvPr>
            <p:cNvSpPr txBox="1"/>
            <p:nvPr/>
          </p:nvSpPr>
          <p:spPr>
            <a:xfrm>
              <a:off x="7572261" y="3353533"/>
              <a:ext cx="1111668" cy="365050"/>
            </a:xfrm>
            <a:prstGeom prst="rect">
              <a:avLst/>
            </a:prstGeom>
            <a:noFill/>
          </p:spPr>
          <p:txBody>
            <a:bodyPr wrap="square" rtlCol="0">
              <a:spAutoFit/>
            </a:bodyPr>
            <a:lstStyle/>
            <a:p>
              <a:pPr algn="ctr" defTabSz="427545" fontAlgn="auto">
                <a:spcBef>
                  <a:spcPts val="0"/>
                </a:spcBef>
                <a:spcAft>
                  <a:spcPts val="0"/>
                </a:spcAft>
              </a:pPr>
              <a:r>
                <a:rPr lang="en-US" sz="1050" b="1">
                  <a:solidFill>
                    <a:srgbClr val="E7E6E6">
                      <a:lumMod val="50000"/>
                    </a:srgbClr>
                  </a:solidFill>
                  <a:latin typeface="Calibri"/>
                  <a:cs typeface="+mn-cs"/>
                </a:rPr>
                <a:t>LARGEST BROKER IN THE US</a:t>
              </a:r>
            </a:p>
          </p:txBody>
        </p:sp>
        <p:sp>
          <p:nvSpPr>
            <p:cNvPr id="113" name="TextBox 112">
              <a:extLst>
                <a:ext uri="{FF2B5EF4-FFF2-40B4-BE49-F238E27FC236}">
                  <a16:creationId xmlns:a16="http://schemas.microsoft.com/office/drawing/2014/main" id="{02130B6F-1816-47DB-A052-5139C6DED137}"/>
                </a:ext>
              </a:extLst>
            </p:cNvPr>
            <p:cNvSpPr txBox="1"/>
            <p:nvPr/>
          </p:nvSpPr>
          <p:spPr>
            <a:xfrm>
              <a:off x="9944415" y="2862244"/>
              <a:ext cx="950628" cy="621938"/>
            </a:xfrm>
            <a:prstGeom prst="rect">
              <a:avLst/>
            </a:prstGeom>
            <a:noFill/>
          </p:spPr>
          <p:txBody>
            <a:bodyPr wrap="square" rtlCol="0">
              <a:spAutoFit/>
            </a:bodyPr>
            <a:lstStyle/>
            <a:p>
              <a:pPr algn="ctr" defTabSz="427545" fontAlgn="auto">
                <a:spcBef>
                  <a:spcPts val="0"/>
                </a:spcBef>
                <a:spcAft>
                  <a:spcPts val="0"/>
                </a:spcAft>
              </a:pPr>
              <a:r>
                <a:rPr lang="en-US" sz="4000">
                  <a:solidFill>
                    <a:srgbClr val="002060"/>
                  </a:solidFill>
                  <a:latin typeface="Calibri"/>
                </a:rPr>
                <a:t>35</a:t>
              </a:r>
              <a:endParaRPr lang="en-US" sz="2400">
                <a:solidFill>
                  <a:srgbClr val="002060"/>
                </a:solidFill>
                <a:latin typeface="Calibri"/>
                <a:cs typeface="+mn-cs"/>
              </a:endParaRPr>
            </a:p>
          </p:txBody>
        </p:sp>
        <p:sp>
          <p:nvSpPr>
            <p:cNvPr id="114" name="TextBox 113">
              <a:extLst>
                <a:ext uri="{FF2B5EF4-FFF2-40B4-BE49-F238E27FC236}">
                  <a16:creationId xmlns:a16="http://schemas.microsoft.com/office/drawing/2014/main" id="{F10D6EA4-8550-4045-B881-54DEB75FC3F4}"/>
                </a:ext>
              </a:extLst>
            </p:cNvPr>
            <p:cNvSpPr txBox="1"/>
            <p:nvPr/>
          </p:nvSpPr>
          <p:spPr>
            <a:xfrm>
              <a:off x="9889219" y="3352948"/>
              <a:ext cx="1147174" cy="365050"/>
            </a:xfrm>
            <a:prstGeom prst="rect">
              <a:avLst/>
            </a:prstGeom>
            <a:noFill/>
          </p:spPr>
          <p:txBody>
            <a:bodyPr wrap="square" rtlCol="0">
              <a:spAutoFit/>
            </a:bodyPr>
            <a:lstStyle/>
            <a:p>
              <a:pPr algn="ctr" defTabSz="427545" fontAlgn="auto">
                <a:spcBef>
                  <a:spcPts val="0"/>
                </a:spcBef>
                <a:spcAft>
                  <a:spcPts val="0"/>
                </a:spcAft>
              </a:pPr>
              <a:r>
                <a:rPr lang="en-US" sz="1050" b="1">
                  <a:solidFill>
                    <a:srgbClr val="E7E6E6">
                      <a:lumMod val="50000"/>
                    </a:srgbClr>
                  </a:solidFill>
                  <a:latin typeface="Calibri"/>
                  <a:cs typeface="+mn-cs"/>
                </a:rPr>
                <a:t>STATES, 250 CITIES, 4 COUNTRIES</a:t>
              </a:r>
            </a:p>
          </p:txBody>
        </p:sp>
        <p:sp>
          <p:nvSpPr>
            <p:cNvPr id="115" name="TextBox 114">
              <a:extLst>
                <a:ext uri="{FF2B5EF4-FFF2-40B4-BE49-F238E27FC236}">
                  <a16:creationId xmlns:a16="http://schemas.microsoft.com/office/drawing/2014/main" id="{505A6480-34A7-4567-9EDE-C302B5C6D0CB}"/>
                </a:ext>
              </a:extLst>
            </p:cNvPr>
            <p:cNvSpPr txBox="1"/>
            <p:nvPr/>
          </p:nvSpPr>
          <p:spPr>
            <a:xfrm>
              <a:off x="5275760" y="4714257"/>
              <a:ext cx="1111912" cy="621938"/>
            </a:xfrm>
            <a:prstGeom prst="rect">
              <a:avLst/>
            </a:prstGeom>
            <a:noFill/>
          </p:spPr>
          <p:txBody>
            <a:bodyPr wrap="square" rtlCol="0">
              <a:spAutoFit/>
            </a:bodyPr>
            <a:lstStyle/>
            <a:p>
              <a:pPr algn="ctr" defTabSz="427545" fontAlgn="auto">
                <a:spcBef>
                  <a:spcPts val="0"/>
                </a:spcBef>
                <a:spcAft>
                  <a:spcPts val="0"/>
                </a:spcAft>
              </a:pPr>
              <a:r>
                <a:rPr lang="en-US" sz="4000">
                  <a:solidFill>
                    <a:srgbClr val="002060"/>
                  </a:solidFill>
                  <a:latin typeface="Calibri"/>
                  <a:cs typeface="+mn-cs"/>
                </a:rPr>
                <a:t>250+</a:t>
              </a:r>
            </a:p>
          </p:txBody>
        </p:sp>
        <p:sp>
          <p:nvSpPr>
            <p:cNvPr id="116" name="TextBox 115">
              <a:extLst>
                <a:ext uri="{FF2B5EF4-FFF2-40B4-BE49-F238E27FC236}">
                  <a16:creationId xmlns:a16="http://schemas.microsoft.com/office/drawing/2014/main" id="{58991260-72D5-405A-A50B-6AA7C891253C}"/>
                </a:ext>
              </a:extLst>
            </p:cNvPr>
            <p:cNvSpPr txBox="1"/>
            <p:nvPr/>
          </p:nvSpPr>
          <p:spPr>
            <a:xfrm>
              <a:off x="5258007" y="5210173"/>
              <a:ext cx="1147174" cy="365050"/>
            </a:xfrm>
            <a:prstGeom prst="rect">
              <a:avLst/>
            </a:prstGeom>
            <a:noFill/>
          </p:spPr>
          <p:txBody>
            <a:bodyPr wrap="square" rtlCol="0">
              <a:spAutoFit/>
            </a:bodyPr>
            <a:lstStyle/>
            <a:p>
              <a:pPr algn="ctr" defTabSz="427545" fontAlgn="auto">
                <a:spcBef>
                  <a:spcPts val="0"/>
                </a:spcBef>
                <a:spcAft>
                  <a:spcPts val="0"/>
                </a:spcAft>
              </a:pPr>
              <a:r>
                <a:rPr lang="en-US" sz="1050" b="1">
                  <a:solidFill>
                    <a:srgbClr val="E7E6E6">
                      <a:lumMod val="50000"/>
                    </a:srgbClr>
                  </a:solidFill>
                  <a:latin typeface="Calibri"/>
                  <a:cs typeface="+mn-cs"/>
                </a:rPr>
                <a:t>PRODUCTS &amp; SERVICES</a:t>
              </a:r>
            </a:p>
          </p:txBody>
        </p:sp>
        <p:sp>
          <p:nvSpPr>
            <p:cNvPr id="117" name="TextBox 116">
              <a:extLst>
                <a:ext uri="{FF2B5EF4-FFF2-40B4-BE49-F238E27FC236}">
                  <a16:creationId xmlns:a16="http://schemas.microsoft.com/office/drawing/2014/main" id="{728DF52C-8D56-44AD-A710-7245AC5CDF9A}"/>
                </a:ext>
              </a:extLst>
            </p:cNvPr>
            <p:cNvSpPr txBox="1"/>
            <p:nvPr/>
          </p:nvSpPr>
          <p:spPr>
            <a:xfrm>
              <a:off x="7489863" y="4714257"/>
              <a:ext cx="1231885" cy="621938"/>
            </a:xfrm>
            <a:prstGeom prst="rect">
              <a:avLst/>
            </a:prstGeom>
            <a:noFill/>
          </p:spPr>
          <p:txBody>
            <a:bodyPr wrap="square" rtlCol="0">
              <a:spAutoFit/>
            </a:bodyPr>
            <a:lstStyle/>
            <a:p>
              <a:pPr algn="ctr" defTabSz="427545" fontAlgn="auto">
                <a:spcBef>
                  <a:spcPts val="0"/>
                </a:spcBef>
                <a:spcAft>
                  <a:spcPts val="0"/>
                </a:spcAft>
              </a:pPr>
              <a:r>
                <a:rPr lang="en-US" sz="4000">
                  <a:solidFill>
                    <a:srgbClr val="002060"/>
                  </a:solidFill>
                  <a:latin typeface="Calibri"/>
                  <a:cs typeface="+mn-cs"/>
                </a:rPr>
                <a:t>9,200</a:t>
              </a:r>
            </a:p>
          </p:txBody>
        </p:sp>
        <p:sp>
          <p:nvSpPr>
            <p:cNvPr id="118" name="TextBox 117">
              <a:extLst>
                <a:ext uri="{FF2B5EF4-FFF2-40B4-BE49-F238E27FC236}">
                  <a16:creationId xmlns:a16="http://schemas.microsoft.com/office/drawing/2014/main" id="{5180592C-3431-4934-939F-A9D662E77BEE}"/>
                </a:ext>
              </a:extLst>
            </p:cNvPr>
            <p:cNvSpPr txBox="1"/>
            <p:nvPr/>
          </p:nvSpPr>
          <p:spPr>
            <a:xfrm>
              <a:off x="9553812" y="4714257"/>
              <a:ext cx="1734627" cy="621938"/>
            </a:xfrm>
            <a:prstGeom prst="rect">
              <a:avLst/>
            </a:prstGeom>
            <a:noFill/>
          </p:spPr>
          <p:txBody>
            <a:bodyPr wrap="square" rtlCol="0">
              <a:spAutoFit/>
            </a:bodyPr>
            <a:lstStyle/>
            <a:p>
              <a:pPr algn="ctr" defTabSz="427545" fontAlgn="auto">
                <a:spcBef>
                  <a:spcPts val="0"/>
                </a:spcBef>
                <a:spcAft>
                  <a:spcPts val="0"/>
                </a:spcAft>
              </a:pPr>
              <a:r>
                <a:rPr lang="en-US" sz="4000">
                  <a:solidFill>
                    <a:srgbClr val="002060"/>
                  </a:solidFill>
                  <a:latin typeface="Calibri"/>
                  <a:cs typeface="+mn-cs"/>
                </a:rPr>
                <a:t>900K</a:t>
              </a:r>
            </a:p>
          </p:txBody>
        </p:sp>
        <p:sp>
          <p:nvSpPr>
            <p:cNvPr id="119" name="TextBox 118">
              <a:extLst>
                <a:ext uri="{FF2B5EF4-FFF2-40B4-BE49-F238E27FC236}">
                  <a16:creationId xmlns:a16="http://schemas.microsoft.com/office/drawing/2014/main" id="{074CC209-8E9A-4281-B329-9BD2EE294D4F}"/>
                </a:ext>
              </a:extLst>
            </p:cNvPr>
            <p:cNvSpPr txBox="1"/>
            <p:nvPr/>
          </p:nvSpPr>
          <p:spPr>
            <a:xfrm>
              <a:off x="7299367" y="5210173"/>
              <a:ext cx="1650698" cy="223087"/>
            </a:xfrm>
            <a:prstGeom prst="rect">
              <a:avLst/>
            </a:prstGeom>
            <a:noFill/>
          </p:spPr>
          <p:txBody>
            <a:bodyPr wrap="square" rtlCol="0">
              <a:spAutoFit/>
            </a:bodyPr>
            <a:lstStyle/>
            <a:p>
              <a:pPr algn="ctr" defTabSz="427545" fontAlgn="auto">
                <a:spcBef>
                  <a:spcPts val="0"/>
                </a:spcBef>
                <a:spcAft>
                  <a:spcPts val="0"/>
                </a:spcAft>
              </a:pPr>
              <a:r>
                <a:rPr lang="en-US" sz="1050" b="1">
                  <a:solidFill>
                    <a:srgbClr val="E7E6E6">
                      <a:lumMod val="50000"/>
                    </a:srgbClr>
                  </a:solidFill>
                  <a:latin typeface="Calibri"/>
                  <a:cs typeface="+mn-cs"/>
                </a:rPr>
                <a:t>TEAM MEMBERS</a:t>
              </a:r>
            </a:p>
          </p:txBody>
        </p:sp>
        <p:sp>
          <p:nvSpPr>
            <p:cNvPr id="120" name="TextBox 119">
              <a:extLst>
                <a:ext uri="{FF2B5EF4-FFF2-40B4-BE49-F238E27FC236}">
                  <a16:creationId xmlns:a16="http://schemas.microsoft.com/office/drawing/2014/main" id="{4102BC77-CA11-40A3-A8F2-3D034FF11CCB}"/>
                </a:ext>
              </a:extLst>
            </p:cNvPr>
            <p:cNvSpPr txBox="1"/>
            <p:nvPr/>
          </p:nvSpPr>
          <p:spPr>
            <a:xfrm>
              <a:off x="9840349" y="5210173"/>
              <a:ext cx="1147174" cy="365050"/>
            </a:xfrm>
            <a:prstGeom prst="rect">
              <a:avLst/>
            </a:prstGeom>
            <a:noFill/>
          </p:spPr>
          <p:txBody>
            <a:bodyPr wrap="square" rtlCol="0">
              <a:spAutoFit/>
            </a:bodyPr>
            <a:lstStyle/>
            <a:p>
              <a:pPr algn="ctr" defTabSz="427545" fontAlgn="auto">
                <a:spcBef>
                  <a:spcPts val="0"/>
                </a:spcBef>
                <a:spcAft>
                  <a:spcPts val="0"/>
                </a:spcAft>
              </a:pPr>
              <a:r>
                <a:rPr lang="en-US" sz="1050" b="1">
                  <a:solidFill>
                    <a:srgbClr val="E7E6E6">
                      <a:lumMod val="50000"/>
                    </a:srgbClr>
                  </a:solidFill>
                  <a:latin typeface="Calibri"/>
                  <a:cs typeface="+mn-cs"/>
                </a:rPr>
                <a:t>HAPPY CLIENTS AND COUNTING!</a:t>
              </a:r>
            </a:p>
          </p:txBody>
        </p:sp>
        <p:sp>
          <p:nvSpPr>
            <p:cNvPr id="121" name="TextBox 120">
              <a:extLst>
                <a:ext uri="{FF2B5EF4-FFF2-40B4-BE49-F238E27FC236}">
                  <a16:creationId xmlns:a16="http://schemas.microsoft.com/office/drawing/2014/main" id="{F3F2DE2D-04B1-44BE-B83F-372A4C8ACED0}"/>
                </a:ext>
              </a:extLst>
            </p:cNvPr>
            <p:cNvSpPr txBox="1"/>
            <p:nvPr/>
          </p:nvSpPr>
          <p:spPr>
            <a:xfrm>
              <a:off x="12276230" y="2862244"/>
              <a:ext cx="1147174" cy="621938"/>
            </a:xfrm>
            <a:prstGeom prst="rect">
              <a:avLst/>
            </a:prstGeom>
            <a:noFill/>
          </p:spPr>
          <p:txBody>
            <a:bodyPr wrap="square" rtlCol="0">
              <a:spAutoFit/>
            </a:bodyPr>
            <a:lstStyle/>
            <a:p>
              <a:pPr algn="ctr" defTabSz="427545" fontAlgn="auto">
                <a:spcBef>
                  <a:spcPts val="0"/>
                </a:spcBef>
                <a:spcAft>
                  <a:spcPts val="0"/>
                </a:spcAft>
              </a:pPr>
              <a:r>
                <a:rPr lang="en-US" sz="4000">
                  <a:solidFill>
                    <a:srgbClr val="002060"/>
                  </a:solidFill>
                  <a:latin typeface="Calibri"/>
                  <a:cs typeface="+mn-cs"/>
                </a:rPr>
                <a:t>250</a:t>
              </a:r>
              <a:endParaRPr lang="en-US" sz="2400">
                <a:solidFill>
                  <a:srgbClr val="002060"/>
                </a:solidFill>
                <a:latin typeface="Calibri"/>
                <a:cs typeface="+mn-cs"/>
              </a:endParaRPr>
            </a:p>
          </p:txBody>
        </p:sp>
        <p:sp>
          <p:nvSpPr>
            <p:cNvPr id="122" name="TextBox 121">
              <a:extLst>
                <a:ext uri="{FF2B5EF4-FFF2-40B4-BE49-F238E27FC236}">
                  <a16:creationId xmlns:a16="http://schemas.microsoft.com/office/drawing/2014/main" id="{A970EDE1-9693-489D-87A2-BCA6F6ED1284}"/>
                </a:ext>
              </a:extLst>
            </p:cNvPr>
            <p:cNvSpPr txBox="1"/>
            <p:nvPr/>
          </p:nvSpPr>
          <p:spPr>
            <a:xfrm>
              <a:off x="12282511" y="3345307"/>
              <a:ext cx="1147174" cy="365050"/>
            </a:xfrm>
            <a:prstGeom prst="rect">
              <a:avLst/>
            </a:prstGeom>
            <a:noFill/>
          </p:spPr>
          <p:txBody>
            <a:bodyPr wrap="square" rtlCol="0">
              <a:spAutoFit/>
            </a:bodyPr>
            <a:lstStyle/>
            <a:p>
              <a:pPr algn="ctr" defTabSz="427545" fontAlgn="auto">
                <a:spcBef>
                  <a:spcPts val="0"/>
                </a:spcBef>
                <a:spcAft>
                  <a:spcPts val="0"/>
                </a:spcAft>
              </a:pPr>
              <a:r>
                <a:rPr lang="en-US" sz="1050" b="1">
                  <a:solidFill>
                    <a:srgbClr val="E7E6E6">
                      <a:lumMod val="50000"/>
                    </a:srgbClr>
                  </a:solidFill>
                  <a:latin typeface="Calibri"/>
                  <a:cs typeface="+mn-cs"/>
                </a:rPr>
                <a:t>PHYSICAL OFFICE LOCATIONS</a:t>
              </a:r>
            </a:p>
          </p:txBody>
        </p:sp>
        <p:sp>
          <p:nvSpPr>
            <p:cNvPr id="123" name="TextBox 122">
              <a:extLst>
                <a:ext uri="{FF2B5EF4-FFF2-40B4-BE49-F238E27FC236}">
                  <a16:creationId xmlns:a16="http://schemas.microsoft.com/office/drawing/2014/main" id="{832A5E22-FBA0-425A-80AA-B0DCF0FC43D8}"/>
                </a:ext>
              </a:extLst>
            </p:cNvPr>
            <p:cNvSpPr txBox="1"/>
            <p:nvPr/>
          </p:nvSpPr>
          <p:spPr>
            <a:xfrm>
              <a:off x="12013050" y="4714257"/>
              <a:ext cx="1464721" cy="621937"/>
            </a:xfrm>
            <a:prstGeom prst="rect">
              <a:avLst/>
            </a:prstGeom>
            <a:noFill/>
          </p:spPr>
          <p:txBody>
            <a:bodyPr wrap="square" rtlCol="0">
              <a:spAutoFit/>
            </a:bodyPr>
            <a:lstStyle/>
            <a:p>
              <a:pPr algn="ctr" defTabSz="427545" fontAlgn="auto">
                <a:spcBef>
                  <a:spcPts val="0"/>
                </a:spcBef>
                <a:spcAft>
                  <a:spcPts val="0"/>
                </a:spcAft>
              </a:pPr>
              <a:r>
                <a:rPr lang="en-US" sz="4000">
                  <a:solidFill>
                    <a:srgbClr val="002060"/>
                  </a:solidFill>
                  <a:latin typeface="Calibri"/>
                  <a:cs typeface="+mn-cs"/>
                </a:rPr>
                <a:t>$</a:t>
              </a:r>
              <a:r>
                <a:rPr lang="en-US" sz="4000">
                  <a:solidFill>
                    <a:srgbClr val="002060"/>
                  </a:solidFill>
                  <a:latin typeface="Calibri"/>
                </a:rPr>
                <a:t>2.25B</a:t>
              </a:r>
              <a:endParaRPr lang="en-US" sz="4000">
                <a:solidFill>
                  <a:srgbClr val="002060"/>
                </a:solidFill>
                <a:latin typeface="Calibri"/>
                <a:cs typeface="+mn-cs"/>
              </a:endParaRPr>
            </a:p>
          </p:txBody>
        </p:sp>
        <p:sp>
          <p:nvSpPr>
            <p:cNvPr id="124" name="TextBox 123">
              <a:extLst>
                <a:ext uri="{FF2B5EF4-FFF2-40B4-BE49-F238E27FC236}">
                  <a16:creationId xmlns:a16="http://schemas.microsoft.com/office/drawing/2014/main" id="{39B09B6F-F39A-4DFD-AC03-EE3FB3C62E2D}"/>
                </a:ext>
              </a:extLst>
            </p:cNvPr>
            <p:cNvSpPr txBox="1"/>
            <p:nvPr/>
          </p:nvSpPr>
          <p:spPr>
            <a:xfrm>
              <a:off x="12277806" y="5210173"/>
              <a:ext cx="1147174" cy="365050"/>
            </a:xfrm>
            <a:prstGeom prst="rect">
              <a:avLst/>
            </a:prstGeom>
            <a:noFill/>
          </p:spPr>
          <p:txBody>
            <a:bodyPr wrap="square" rtlCol="0">
              <a:spAutoFit/>
            </a:bodyPr>
            <a:lstStyle/>
            <a:p>
              <a:pPr algn="ctr" defTabSz="427545" fontAlgn="auto">
                <a:spcBef>
                  <a:spcPts val="0"/>
                </a:spcBef>
                <a:spcAft>
                  <a:spcPts val="0"/>
                </a:spcAft>
              </a:pPr>
              <a:r>
                <a:rPr lang="en-US" sz="1050" b="1">
                  <a:solidFill>
                    <a:srgbClr val="E7E6E6">
                      <a:lumMod val="50000"/>
                    </a:srgbClr>
                  </a:solidFill>
                  <a:latin typeface="Calibri"/>
                  <a:cs typeface="+mn-cs"/>
                </a:rPr>
                <a:t>IN ANNUALIZED REVENUE</a:t>
              </a:r>
            </a:p>
          </p:txBody>
        </p:sp>
      </p:grpSp>
      <p:sp>
        <p:nvSpPr>
          <p:cNvPr id="58" name="Rectangle 57">
            <a:extLst>
              <a:ext uri="{FF2B5EF4-FFF2-40B4-BE49-F238E27FC236}">
                <a16:creationId xmlns:a16="http://schemas.microsoft.com/office/drawing/2014/main" id="{3EFE338B-FF2F-414E-B46C-A4D69D310AB3}"/>
              </a:ext>
            </a:extLst>
          </p:cNvPr>
          <p:cNvSpPr/>
          <p:nvPr/>
        </p:nvSpPr>
        <p:spPr>
          <a:xfrm>
            <a:off x="0" y="6286500"/>
            <a:ext cx="12192000" cy="571500"/>
          </a:xfrm>
          <a:prstGeom prst="rect">
            <a:avLst/>
          </a:prstGeom>
          <a:solidFill>
            <a:srgbClr val="172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Slide Number Placeholder 3">
            <a:extLst>
              <a:ext uri="{FF2B5EF4-FFF2-40B4-BE49-F238E27FC236}">
                <a16:creationId xmlns:a16="http://schemas.microsoft.com/office/drawing/2014/main" id="{0216B006-8796-4579-A292-FB50805A75A8}"/>
              </a:ext>
            </a:extLst>
          </p:cNvPr>
          <p:cNvSpPr>
            <a:spLocks noGrp="1"/>
          </p:cNvSpPr>
          <p:nvPr>
            <p:ph type="sldNum" sz="quarter" idx="12"/>
          </p:nvPr>
        </p:nvSpPr>
        <p:spPr>
          <a:xfrm>
            <a:off x="9241901" y="6423498"/>
            <a:ext cx="2743200" cy="365125"/>
          </a:xfrm>
        </p:spPr>
        <p:txBody>
          <a:bodyPr/>
          <a:lstStyle/>
          <a:p>
            <a:fld id="{9F83C71D-5188-47D0-A00C-1B5FA6F229A2}" type="slidenum">
              <a:rPr lang="en-US" smtClean="0"/>
              <a:t>2</a:t>
            </a:fld>
            <a:endParaRPr lang="en-US"/>
          </a:p>
        </p:txBody>
      </p:sp>
    </p:spTree>
    <p:custDataLst>
      <p:tags r:id="rId1"/>
    </p:custDataLst>
    <p:extLst>
      <p:ext uri="{BB962C8B-B14F-4D97-AF65-F5344CB8AC3E}">
        <p14:creationId xmlns:p14="http://schemas.microsoft.com/office/powerpoint/2010/main" val="175906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1D62124-060B-4C2E-89E6-E309316C0145}"/>
              </a:ext>
            </a:extLst>
          </p:cNvPr>
          <p:cNvSpPr>
            <a:spLocks/>
          </p:cNvSpPr>
          <p:nvPr/>
        </p:nvSpPr>
        <p:spPr>
          <a:xfrm>
            <a:off x="3461606" y="1414793"/>
            <a:ext cx="2762250" cy="545112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F35A76D-C94B-4913-B2D6-0A0B4C666998}"/>
              </a:ext>
            </a:extLst>
          </p:cNvPr>
          <p:cNvSpPr>
            <a:spLocks/>
          </p:cNvSpPr>
          <p:nvPr/>
        </p:nvSpPr>
        <p:spPr>
          <a:xfrm>
            <a:off x="6384088" y="1414788"/>
            <a:ext cx="2762250" cy="544321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A96917A-DDE6-4074-8510-2D36AF67DA52}"/>
              </a:ext>
            </a:extLst>
          </p:cNvPr>
          <p:cNvSpPr>
            <a:spLocks/>
          </p:cNvSpPr>
          <p:nvPr/>
        </p:nvSpPr>
        <p:spPr>
          <a:xfrm>
            <a:off x="533682" y="1414788"/>
            <a:ext cx="2762250" cy="545112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5C014F0-5540-49B5-BD7F-D82B496878A7}"/>
              </a:ext>
            </a:extLst>
          </p:cNvPr>
          <p:cNvSpPr txBox="1">
            <a:spLocks/>
          </p:cNvSpPr>
          <p:nvPr/>
        </p:nvSpPr>
        <p:spPr>
          <a:xfrm>
            <a:off x="579546" y="2326696"/>
            <a:ext cx="2665082" cy="3831818"/>
          </a:xfrm>
          <a:prstGeom prst="rect">
            <a:avLst/>
          </a:prstGeom>
          <a:noFill/>
        </p:spPr>
        <p:txBody>
          <a:bodyPr wrap="square" rtlCol="0">
            <a:spAutoFit/>
          </a:bodyPr>
          <a:lstStyle/>
          <a:p>
            <a:pPr algn="just"/>
            <a:r>
              <a:rPr lang="en-US" sz="1200"/>
              <a:t>AssuredPartners is one of the nation’s prominent insurance brokerage firms specializing in commercial property and casualty insurance and risk management services.  For more than three decades, our property and casualty professionals have ardently provided expert consultation and strategic solutions to meet the diverse insurance needs for our clientele.  We take pride in helping our clients remain financially strong.</a:t>
            </a:r>
          </a:p>
          <a:p>
            <a:endParaRPr lang="en-US" sz="1200"/>
          </a:p>
          <a:p>
            <a:pPr marL="288925" indent="-171450">
              <a:spcBef>
                <a:spcPts val="300"/>
              </a:spcBef>
              <a:buFont typeface="Arial" panose="020B0604020202020204" pitchFamily="34" charset="0"/>
              <a:buChar char="•"/>
            </a:pPr>
            <a:r>
              <a:rPr lang="en-US" sz="1200">
                <a:solidFill>
                  <a:schemeClr val="bg1">
                    <a:lumMod val="50000"/>
                  </a:schemeClr>
                </a:solidFill>
              </a:rPr>
              <a:t>Property</a:t>
            </a:r>
          </a:p>
          <a:p>
            <a:pPr marL="288925" indent="-171450">
              <a:spcBef>
                <a:spcPts val="300"/>
              </a:spcBef>
              <a:buFont typeface="Arial" panose="020B0604020202020204" pitchFamily="34" charset="0"/>
              <a:buChar char="•"/>
            </a:pPr>
            <a:r>
              <a:rPr lang="en-US" sz="1200">
                <a:solidFill>
                  <a:schemeClr val="bg1">
                    <a:lumMod val="50000"/>
                  </a:schemeClr>
                </a:solidFill>
              </a:rPr>
              <a:t>Casualty</a:t>
            </a:r>
          </a:p>
          <a:p>
            <a:pPr marL="288925" indent="-171450">
              <a:spcBef>
                <a:spcPts val="300"/>
              </a:spcBef>
              <a:buFont typeface="Arial" panose="020B0604020202020204" pitchFamily="34" charset="0"/>
              <a:buChar char="•"/>
            </a:pPr>
            <a:r>
              <a:rPr lang="en-US" sz="1200">
                <a:solidFill>
                  <a:schemeClr val="bg1">
                    <a:lumMod val="50000"/>
                  </a:schemeClr>
                </a:solidFill>
              </a:rPr>
              <a:t>Bonds &amp; Surety</a:t>
            </a:r>
          </a:p>
          <a:p>
            <a:pPr marL="288925" indent="-171450">
              <a:spcBef>
                <a:spcPts val="300"/>
              </a:spcBef>
              <a:buFont typeface="Arial" panose="020B0604020202020204" pitchFamily="34" charset="0"/>
              <a:buChar char="•"/>
            </a:pPr>
            <a:r>
              <a:rPr lang="en-US" sz="1200">
                <a:solidFill>
                  <a:schemeClr val="bg1">
                    <a:lumMod val="50000"/>
                  </a:schemeClr>
                </a:solidFill>
              </a:rPr>
              <a:t>International Programs</a:t>
            </a:r>
          </a:p>
          <a:p>
            <a:pPr marL="288925" indent="-171450">
              <a:spcBef>
                <a:spcPts val="300"/>
              </a:spcBef>
              <a:buFont typeface="Arial" panose="020B0604020202020204" pitchFamily="34" charset="0"/>
              <a:buChar char="•"/>
            </a:pPr>
            <a:r>
              <a:rPr lang="en-US" sz="1200">
                <a:solidFill>
                  <a:schemeClr val="bg1">
                    <a:lumMod val="50000"/>
                  </a:schemeClr>
                </a:solidFill>
              </a:rPr>
              <a:t>Management Liability</a:t>
            </a:r>
          </a:p>
          <a:p>
            <a:pPr marL="288925" indent="-171450">
              <a:spcBef>
                <a:spcPts val="300"/>
              </a:spcBef>
              <a:buFont typeface="Arial" panose="020B0604020202020204" pitchFamily="34" charset="0"/>
              <a:buChar char="•"/>
            </a:pPr>
            <a:r>
              <a:rPr lang="en-US" sz="1200">
                <a:solidFill>
                  <a:schemeClr val="bg1">
                    <a:lumMod val="50000"/>
                  </a:schemeClr>
                </a:solidFill>
              </a:rPr>
              <a:t>Mergers &amp; Acquisitions</a:t>
            </a:r>
          </a:p>
        </p:txBody>
      </p:sp>
      <p:sp>
        <p:nvSpPr>
          <p:cNvPr id="14" name="TextBox 13">
            <a:extLst>
              <a:ext uri="{FF2B5EF4-FFF2-40B4-BE49-F238E27FC236}">
                <a16:creationId xmlns:a16="http://schemas.microsoft.com/office/drawing/2014/main" id="{490A4F1B-1443-498C-B7C7-F941684A57AD}"/>
              </a:ext>
            </a:extLst>
          </p:cNvPr>
          <p:cNvSpPr txBox="1">
            <a:spLocks/>
          </p:cNvSpPr>
          <p:nvPr/>
        </p:nvSpPr>
        <p:spPr>
          <a:xfrm>
            <a:off x="3550642" y="2326696"/>
            <a:ext cx="2578735" cy="3724096"/>
          </a:xfrm>
          <a:prstGeom prst="rect">
            <a:avLst/>
          </a:prstGeom>
          <a:noFill/>
        </p:spPr>
        <p:txBody>
          <a:bodyPr wrap="square" rtlCol="0">
            <a:spAutoFit/>
          </a:bodyPr>
          <a:lstStyle/>
          <a:p>
            <a:pPr algn="just"/>
            <a:r>
              <a:rPr lang="en-US" sz="1200"/>
              <a:t>AssuredPartners has assembled a client-focused team structure that solely focuses on employee benefits.  Our practice maintains unsurpassed carrier relationships and offers a variety of solutions to maximize benefits plans, while also focusing on compliance and controlling costs for our clients.</a:t>
            </a:r>
          </a:p>
          <a:p>
            <a:endParaRPr lang="en-US" sz="1200"/>
          </a:p>
          <a:p>
            <a:pPr marL="288925" indent="-171450">
              <a:spcBef>
                <a:spcPts val="300"/>
              </a:spcBef>
              <a:buFont typeface="Arial" panose="020B0604020202020204" pitchFamily="34" charset="0"/>
              <a:buChar char="•"/>
            </a:pPr>
            <a:r>
              <a:rPr lang="en-US" sz="1200">
                <a:solidFill>
                  <a:schemeClr val="bg1">
                    <a:lumMod val="50000"/>
                  </a:schemeClr>
                </a:solidFill>
              </a:rPr>
              <a:t>Proprietary Health Exchange</a:t>
            </a:r>
          </a:p>
          <a:p>
            <a:pPr marL="288925" indent="-171450">
              <a:spcBef>
                <a:spcPts val="300"/>
              </a:spcBef>
              <a:buFont typeface="Arial" panose="020B0604020202020204" pitchFamily="34" charset="0"/>
              <a:buChar char="•"/>
            </a:pPr>
            <a:r>
              <a:rPr lang="en-US" sz="1200">
                <a:solidFill>
                  <a:schemeClr val="bg1">
                    <a:lumMod val="50000"/>
                  </a:schemeClr>
                </a:solidFill>
              </a:rPr>
              <a:t>Compliance Reporting Solution</a:t>
            </a:r>
          </a:p>
          <a:p>
            <a:pPr marL="288925" indent="-171450">
              <a:spcBef>
                <a:spcPts val="300"/>
              </a:spcBef>
              <a:buFont typeface="Arial" panose="020B0604020202020204" pitchFamily="34" charset="0"/>
              <a:buChar char="•"/>
            </a:pPr>
            <a:r>
              <a:rPr lang="en-US" sz="1200">
                <a:solidFill>
                  <a:schemeClr val="bg1">
                    <a:lumMod val="50000"/>
                  </a:schemeClr>
                </a:solidFill>
              </a:rPr>
              <a:t>Client Communication Portal</a:t>
            </a:r>
          </a:p>
          <a:p>
            <a:pPr marL="288925" indent="-171450">
              <a:spcBef>
                <a:spcPts val="300"/>
              </a:spcBef>
              <a:buFont typeface="Arial" panose="020B0604020202020204" pitchFamily="34" charset="0"/>
              <a:buChar char="•"/>
            </a:pPr>
            <a:r>
              <a:rPr lang="en-US" sz="1200">
                <a:solidFill>
                  <a:schemeClr val="bg1">
                    <a:lumMod val="50000"/>
                  </a:schemeClr>
                </a:solidFill>
              </a:rPr>
              <a:t>Certified HR Client Support</a:t>
            </a:r>
          </a:p>
          <a:p>
            <a:pPr marL="288925" indent="-171450">
              <a:spcBef>
                <a:spcPts val="300"/>
              </a:spcBef>
              <a:buFont typeface="Arial" panose="020B0604020202020204" pitchFamily="34" charset="0"/>
              <a:buChar char="•"/>
            </a:pPr>
            <a:r>
              <a:rPr lang="en-US" sz="1200">
                <a:solidFill>
                  <a:schemeClr val="bg1">
                    <a:lumMod val="50000"/>
                  </a:schemeClr>
                </a:solidFill>
              </a:rPr>
              <a:t>In-House ERISA Resources</a:t>
            </a:r>
          </a:p>
          <a:p>
            <a:pPr marL="288925" indent="-171450">
              <a:spcBef>
                <a:spcPts val="300"/>
              </a:spcBef>
              <a:buFont typeface="Arial" panose="020B0604020202020204" pitchFamily="34" charset="0"/>
              <a:buChar char="•"/>
            </a:pPr>
            <a:r>
              <a:rPr lang="en-US" sz="1200">
                <a:solidFill>
                  <a:schemeClr val="bg1">
                    <a:lumMod val="50000"/>
                  </a:schemeClr>
                </a:solidFill>
              </a:rPr>
              <a:t>Underwriting &amp; Data Analytics</a:t>
            </a:r>
          </a:p>
          <a:p>
            <a:pPr marL="288925" indent="-171450">
              <a:spcBef>
                <a:spcPts val="300"/>
              </a:spcBef>
              <a:buFont typeface="Arial" panose="020B0604020202020204" pitchFamily="34" charset="0"/>
              <a:buChar char="•"/>
            </a:pPr>
            <a:r>
              <a:rPr lang="en-US" sz="1200">
                <a:solidFill>
                  <a:schemeClr val="bg1">
                    <a:lumMod val="50000"/>
                  </a:schemeClr>
                </a:solidFill>
              </a:rPr>
              <a:t>Eligibility Management</a:t>
            </a:r>
          </a:p>
          <a:p>
            <a:pPr marL="288925" indent="-171450">
              <a:spcBef>
                <a:spcPts val="300"/>
              </a:spcBef>
              <a:buFont typeface="Arial" panose="020B0604020202020204" pitchFamily="34" charset="0"/>
              <a:buChar char="•"/>
            </a:pPr>
            <a:r>
              <a:rPr lang="en-US" sz="1200">
                <a:solidFill>
                  <a:schemeClr val="bg1">
                    <a:lumMod val="50000"/>
                  </a:schemeClr>
                </a:solidFill>
              </a:rPr>
              <a:t>Prescription Drug Management</a:t>
            </a:r>
          </a:p>
        </p:txBody>
      </p:sp>
      <p:sp>
        <p:nvSpPr>
          <p:cNvPr id="15" name="TextBox 14">
            <a:extLst>
              <a:ext uri="{FF2B5EF4-FFF2-40B4-BE49-F238E27FC236}">
                <a16:creationId xmlns:a16="http://schemas.microsoft.com/office/drawing/2014/main" id="{A3ED93E3-691C-464C-A614-20CA42D3CF0B}"/>
              </a:ext>
            </a:extLst>
          </p:cNvPr>
          <p:cNvSpPr txBox="1">
            <a:spLocks/>
          </p:cNvSpPr>
          <p:nvPr/>
        </p:nvSpPr>
        <p:spPr>
          <a:xfrm>
            <a:off x="6479963" y="2326696"/>
            <a:ext cx="2570500" cy="4462760"/>
          </a:xfrm>
          <a:prstGeom prst="rect">
            <a:avLst/>
          </a:prstGeom>
          <a:noFill/>
        </p:spPr>
        <p:txBody>
          <a:bodyPr wrap="square" rtlCol="0">
            <a:spAutoFit/>
          </a:bodyPr>
          <a:lstStyle/>
          <a:p>
            <a:pPr algn="just"/>
            <a:r>
              <a:rPr lang="en-US" sz="1200"/>
              <a:t>At AssuredPartners our client advocates take pride in recommending effective solutions with our client's best interests in mind, making sure coverage is not under-insured or paying more than necessary for coverage.  We represent the leading insurance companies and have the strength to protect our clients’ significant assets.  </a:t>
            </a:r>
          </a:p>
          <a:p>
            <a:endParaRPr lang="en-US" sz="1200"/>
          </a:p>
          <a:p>
            <a:pPr marL="288925" indent="-171450">
              <a:spcBef>
                <a:spcPts val="300"/>
              </a:spcBef>
              <a:buFont typeface="Arial" panose="020B0604020202020204" pitchFamily="34" charset="0"/>
              <a:buChar char="•"/>
            </a:pPr>
            <a:r>
              <a:rPr lang="en-US" sz="1200">
                <a:solidFill>
                  <a:schemeClr val="bg1">
                    <a:lumMod val="50000"/>
                  </a:schemeClr>
                </a:solidFill>
              </a:rPr>
              <a:t>Automobile and Recreation</a:t>
            </a:r>
          </a:p>
          <a:p>
            <a:pPr marL="288925" indent="-171450">
              <a:spcBef>
                <a:spcPts val="300"/>
              </a:spcBef>
              <a:buFont typeface="Arial" panose="020B0604020202020204" pitchFamily="34" charset="0"/>
              <a:buChar char="•"/>
            </a:pPr>
            <a:r>
              <a:rPr lang="en-US" sz="1200">
                <a:solidFill>
                  <a:schemeClr val="bg1">
                    <a:lumMod val="50000"/>
                  </a:schemeClr>
                </a:solidFill>
              </a:rPr>
              <a:t>Homeowner, Condo, Rental, 2</a:t>
            </a:r>
            <a:r>
              <a:rPr lang="en-US" sz="1200" baseline="30000">
                <a:solidFill>
                  <a:schemeClr val="bg1">
                    <a:lumMod val="50000"/>
                  </a:schemeClr>
                </a:solidFill>
              </a:rPr>
              <a:t>nd</a:t>
            </a:r>
            <a:r>
              <a:rPr lang="en-US" sz="1200">
                <a:solidFill>
                  <a:schemeClr val="bg1">
                    <a:lumMod val="50000"/>
                  </a:schemeClr>
                </a:solidFill>
              </a:rPr>
              <a:t> Home</a:t>
            </a:r>
          </a:p>
          <a:p>
            <a:pPr marL="288925" indent="-171450">
              <a:spcBef>
                <a:spcPts val="300"/>
              </a:spcBef>
              <a:buFont typeface="Arial" panose="020B0604020202020204" pitchFamily="34" charset="0"/>
              <a:buChar char="•"/>
            </a:pPr>
            <a:r>
              <a:rPr lang="en-US" sz="1200">
                <a:solidFill>
                  <a:schemeClr val="bg1">
                    <a:lumMod val="50000"/>
                  </a:schemeClr>
                </a:solidFill>
              </a:rPr>
              <a:t>Private Client for High Net Worth</a:t>
            </a:r>
          </a:p>
          <a:p>
            <a:pPr marL="288925" indent="-171450">
              <a:spcBef>
                <a:spcPts val="300"/>
              </a:spcBef>
              <a:buFont typeface="Arial" panose="020B0604020202020204" pitchFamily="34" charset="0"/>
              <a:buChar char="•"/>
            </a:pPr>
            <a:r>
              <a:rPr lang="en-US" sz="1200">
                <a:solidFill>
                  <a:schemeClr val="bg1">
                    <a:lumMod val="50000"/>
                  </a:schemeClr>
                </a:solidFill>
              </a:rPr>
              <a:t>Watercraft</a:t>
            </a:r>
          </a:p>
          <a:p>
            <a:pPr marL="288925" indent="-171450">
              <a:spcBef>
                <a:spcPts val="300"/>
              </a:spcBef>
              <a:buFont typeface="Arial" panose="020B0604020202020204" pitchFamily="34" charset="0"/>
              <a:buChar char="•"/>
            </a:pPr>
            <a:r>
              <a:rPr lang="en-US" sz="1200">
                <a:solidFill>
                  <a:schemeClr val="bg1">
                    <a:lumMod val="50000"/>
                  </a:schemeClr>
                </a:solidFill>
              </a:rPr>
              <a:t>Fine Art and Collectibles</a:t>
            </a:r>
          </a:p>
          <a:p>
            <a:pPr marL="288925" indent="-171450">
              <a:spcBef>
                <a:spcPts val="300"/>
              </a:spcBef>
              <a:buFont typeface="Arial" panose="020B0604020202020204" pitchFamily="34" charset="0"/>
              <a:buChar char="•"/>
            </a:pPr>
            <a:r>
              <a:rPr lang="en-US" sz="1200">
                <a:solidFill>
                  <a:schemeClr val="bg1">
                    <a:lumMod val="50000"/>
                  </a:schemeClr>
                </a:solidFill>
              </a:rPr>
              <a:t>Jewelry, Silver and Furs</a:t>
            </a:r>
          </a:p>
          <a:p>
            <a:pPr marL="288925" indent="-171450">
              <a:spcBef>
                <a:spcPts val="300"/>
              </a:spcBef>
              <a:buFont typeface="Arial" panose="020B0604020202020204" pitchFamily="34" charset="0"/>
              <a:buChar char="•"/>
            </a:pPr>
            <a:r>
              <a:rPr lang="en-US" sz="1200">
                <a:solidFill>
                  <a:schemeClr val="bg1">
                    <a:lumMod val="50000"/>
                  </a:schemeClr>
                </a:solidFill>
              </a:rPr>
              <a:t>Private Aircraft</a:t>
            </a:r>
          </a:p>
          <a:p>
            <a:pPr marL="288925" indent="-171450">
              <a:spcBef>
                <a:spcPts val="300"/>
              </a:spcBef>
              <a:buFont typeface="Arial" panose="020B0604020202020204" pitchFamily="34" charset="0"/>
              <a:buChar char="•"/>
            </a:pPr>
            <a:r>
              <a:rPr lang="en-US" sz="1200">
                <a:solidFill>
                  <a:schemeClr val="bg1">
                    <a:lumMod val="50000"/>
                  </a:schemeClr>
                </a:solidFill>
              </a:rPr>
              <a:t>Life Insurance and Personal Umbrella</a:t>
            </a:r>
          </a:p>
          <a:p>
            <a:endParaRPr lang="en-US" sz="1200">
              <a:solidFill>
                <a:schemeClr val="tx1">
                  <a:lumMod val="50000"/>
                  <a:lumOff val="50000"/>
                </a:schemeClr>
              </a:solidFill>
            </a:endParaRPr>
          </a:p>
        </p:txBody>
      </p:sp>
      <p:sp>
        <p:nvSpPr>
          <p:cNvPr id="16" name="TextBox 15">
            <a:extLst>
              <a:ext uri="{FF2B5EF4-FFF2-40B4-BE49-F238E27FC236}">
                <a16:creationId xmlns:a16="http://schemas.microsoft.com/office/drawing/2014/main" id="{55A6D123-096C-47D2-936C-69D57E752EFC}"/>
              </a:ext>
            </a:extLst>
          </p:cNvPr>
          <p:cNvSpPr txBox="1">
            <a:spLocks/>
          </p:cNvSpPr>
          <p:nvPr/>
        </p:nvSpPr>
        <p:spPr>
          <a:xfrm>
            <a:off x="530962" y="1730723"/>
            <a:ext cx="2762250" cy="369332"/>
          </a:xfrm>
          <a:prstGeom prst="rect">
            <a:avLst/>
          </a:prstGeom>
          <a:noFill/>
        </p:spPr>
        <p:txBody>
          <a:bodyPr wrap="square" rtlCol="0">
            <a:spAutoFit/>
          </a:bodyPr>
          <a:lstStyle/>
          <a:p>
            <a:r>
              <a:rPr lang="en-US">
                <a:solidFill>
                  <a:srgbClr val="0A1F62"/>
                </a:solidFill>
              </a:rPr>
              <a:t>PROPERTY &amp; CASUALTY</a:t>
            </a:r>
          </a:p>
        </p:txBody>
      </p:sp>
      <p:sp>
        <p:nvSpPr>
          <p:cNvPr id="17" name="TextBox 16">
            <a:extLst>
              <a:ext uri="{FF2B5EF4-FFF2-40B4-BE49-F238E27FC236}">
                <a16:creationId xmlns:a16="http://schemas.microsoft.com/office/drawing/2014/main" id="{D811F458-E726-403E-9BC5-314E6E7A3FF9}"/>
              </a:ext>
            </a:extLst>
          </p:cNvPr>
          <p:cNvSpPr txBox="1">
            <a:spLocks/>
          </p:cNvSpPr>
          <p:nvPr/>
        </p:nvSpPr>
        <p:spPr>
          <a:xfrm>
            <a:off x="3458885" y="1728142"/>
            <a:ext cx="2119876" cy="369332"/>
          </a:xfrm>
          <a:prstGeom prst="rect">
            <a:avLst/>
          </a:prstGeom>
          <a:noFill/>
        </p:spPr>
        <p:txBody>
          <a:bodyPr wrap="none" rtlCol="0">
            <a:spAutoFit/>
          </a:bodyPr>
          <a:lstStyle/>
          <a:p>
            <a:r>
              <a:rPr lang="en-US">
                <a:solidFill>
                  <a:srgbClr val="0A1F62"/>
                </a:solidFill>
              </a:rPr>
              <a:t>EMPLOYEE BENEFITS</a:t>
            </a:r>
          </a:p>
        </p:txBody>
      </p:sp>
      <p:sp>
        <p:nvSpPr>
          <p:cNvPr id="18" name="TextBox 17">
            <a:extLst>
              <a:ext uri="{FF2B5EF4-FFF2-40B4-BE49-F238E27FC236}">
                <a16:creationId xmlns:a16="http://schemas.microsoft.com/office/drawing/2014/main" id="{D383E38C-3415-4B78-9319-9C177C5501C4}"/>
              </a:ext>
            </a:extLst>
          </p:cNvPr>
          <p:cNvSpPr txBox="1">
            <a:spLocks/>
          </p:cNvSpPr>
          <p:nvPr/>
        </p:nvSpPr>
        <p:spPr>
          <a:xfrm>
            <a:off x="6381368" y="1728142"/>
            <a:ext cx="2331279" cy="369332"/>
          </a:xfrm>
          <a:prstGeom prst="rect">
            <a:avLst/>
          </a:prstGeom>
          <a:noFill/>
        </p:spPr>
        <p:txBody>
          <a:bodyPr wrap="none" rtlCol="0">
            <a:spAutoFit/>
          </a:bodyPr>
          <a:lstStyle/>
          <a:p>
            <a:r>
              <a:rPr lang="en-US">
                <a:solidFill>
                  <a:srgbClr val="0A1F62"/>
                </a:solidFill>
              </a:rPr>
              <a:t>PERSONAL INSURANCE</a:t>
            </a:r>
          </a:p>
        </p:txBody>
      </p:sp>
      <p:sp>
        <p:nvSpPr>
          <p:cNvPr id="19" name="Rectangle 18">
            <a:extLst>
              <a:ext uri="{FF2B5EF4-FFF2-40B4-BE49-F238E27FC236}">
                <a16:creationId xmlns:a16="http://schemas.microsoft.com/office/drawing/2014/main" id="{F8FB7C5D-6F0B-4402-91E0-144339B383D4}"/>
              </a:ext>
            </a:extLst>
          </p:cNvPr>
          <p:cNvSpPr>
            <a:spLocks/>
          </p:cNvSpPr>
          <p:nvPr/>
        </p:nvSpPr>
        <p:spPr>
          <a:xfrm>
            <a:off x="733980" y="899437"/>
            <a:ext cx="2196435" cy="338554"/>
          </a:xfrm>
          <a:prstGeom prst="rect">
            <a:avLst/>
          </a:prstGeom>
        </p:spPr>
        <p:txBody>
          <a:bodyPr wrap="none">
            <a:spAutoFit/>
          </a:bodyPr>
          <a:lstStyle/>
          <a:p>
            <a:r>
              <a:rPr lang="en-US" sz="1600">
                <a:solidFill>
                  <a:schemeClr val="bg1">
                    <a:lumMod val="50000"/>
                  </a:schemeClr>
                </a:solidFill>
                <a:cs typeface="Segoe UI Light" panose="020B0502040204020203" pitchFamily="34" charset="0"/>
              </a:rPr>
              <a:t>Our Business Segments</a:t>
            </a:r>
          </a:p>
        </p:txBody>
      </p:sp>
      <p:sp>
        <p:nvSpPr>
          <p:cNvPr id="22" name="TextBox 21">
            <a:extLst>
              <a:ext uri="{FF2B5EF4-FFF2-40B4-BE49-F238E27FC236}">
                <a16:creationId xmlns:a16="http://schemas.microsoft.com/office/drawing/2014/main" id="{BA81BC70-46CC-4B76-94C1-0720AC073773}"/>
              </a:ext>
            </a:extLst>
          </p:cNvPr>
          <p:cNvSpPr txBox="1">
            <a:spLocks/>
          </p:cNvSpPr>
          <p:nvPr/>
        </p:nvSpPr>
        <p:spPr>
          <a:xfrm>
            <a:off x="733980" y="458106"/>
            <a:ext cx="3857625" cy="523220"/>
          </a:xfrm>
          <a:prstGeom prst="rect">
            <a:avLst/>
          </a:prstGeom>
          <a:noFill/>
        </p:spPr>
        <p:txBody>
          <a:bodyPr wrap="square" rtlCol="0">
            <a:spAutoFit/>
          </a:bodyPr>
          <a:lstStyle/>
          <a:p>
            <a:r>
              <a:rPr lang="en-US" sz="2800" b="1">
                <a:solidFill>
                  <a:srgbClr val="0A1F62"/>
                </a:solidFill>
                <a:latin typeface="+mj-lt"/>
              </a:rPr>
              <a:t>Industry Expertise</a:t>
            </a:r>
          </a:p>
        </p:txBody>
      </p:sp>
      <p:cxnSp>
        <p:nvCxnSpPr>
          <p:cNvPr id="20" name="Straight Connector 19">
            <a:extLst>
              <a:ext uri="{FF2B5EF4-FFF2-40B4-BE49-F238E27FC236}">
                <a16:creationId xmlns:a16="http://schemas.microsoft.com/office/drawing/2014/main" id="{57F656F4-BD05-42D9-B3CA-A37B24DAD9B2}"/>
              </a:ext>
            </a:extLst>
          </p:cNvPr>
          <p:cNvCxnSpPr>
            <a:cxnSpLocks/>
          </p:cNvCxnSpPr>
          <p:nvPr/>
        </p:nvCxnSpPr>
        <p:spPr>
          <a:xfrm>
            <a:off x="530962" y="2131824"/>
            <a:ext cx="2560320" cy="0"/>
          </a:xfrm>
          <a:prstGeom prst="line">
            <a:avLst/>
          </a:prstGeom>
          <a:ln w="19050">
            <a:solidFill>
              <a:srgbClr val="0A1F62"/>
            </a:solidFill>
            <a:prstDash val="soli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491496C-F04E-4BD7-A12A-142089BB40CC}"/>
              </a:ext>
            </a:extLst>
          </p:cNvPr>
          <p:cNvCxnSpPr>
            <a:cxnSpLocks/>
          </p:cNvCxnSpPr>
          <p:nvPr/>
        </p:nvCxnSpPr>
        <p:spPr>
          <a:xfrm>
            <a:off x="3458885" y="2131824"/>
            <a:ext cx="2560320" cy="0"/>
          </a:xfrm>
          <a:prstGeom prst="line">
            <a:avLst/>
          </a:prstGeom>
          <a:ln w="19050">
            <a:solidFill>
              <a:srgbClr val="0A1F62"/>
            </a:solidFill>
            <a:prstDash val="soli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5A984BF-8172-41EA-80E0-67CE2541FFFE}"/>
              </a:ext>
            </a:extLst>
          </p:cNvPr>
          <p:cNvCxnSpPr>
            <a:cxnSpLocks/>
          </p:cNvCxnSpPr>
          <p:nvPr/>
        </p:nvCxnSpPr>
        <p:spPr>
          <a:xfrm>
            <a:off x="6384088" y="2131824"/>
            <a:ext cx="2560320" cy="0"/>
          </a:xfrm>
          <a:prstGeom prst="line">
            <a:avLst/>
          </a:prstGeom>
          <a:ln w="19050">
            <a:solidFill>
              <a:srgbClr val="0A1F62"/>
            </a:solidFill>
            <a:prstDash val="soli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C4E53658-89CA-460E-807D-D517B5E681E5}"/>
              </a:ext>
            </a:extLst>
          </p:cNvPr>
          <p:cNvSpPr>
            <a:spLocks/>
          </p:cNvSpPr>
          <p:nvPr/>
        </p:nvSpPr>
        <p:spPr>
          <a:xfrm>
            <a:off x="9306570" y="1414788"/>
            <a:ext cx="2762250" cy="544321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71D6158-1C20-4474-AFA0-717AC65482CC}"/>
              </a:ext>
            </a:extLst>
          </p:cNvPr>
          <p:cNvSpPr txBox="1">
            <a:spLocks/>
          </p:cNvSpPr>
          <p:nvPr/>
        </p:nvSpPr>
        <p:spPr>
          <a:xfrm>
            <a:off x="9402445" y="2326696"/>
            <a:ext cx="2570500" cy="4408899"/>
          </a:xfrm>
          <a:prstGeom prst="rect">
            <a:avLst/>
          </a:prstGeom>
          <a:noFill/>
        </p:spPr>
        <p:txBody>
          <a:bodyPr wrap="square" rtlCol="0">
            <a:spAutoFit/>
          </a:bodyPr>
          <a:lstStyle/>
          <a:p>
            <a:pPr algn="just"/>
            <a:r>
              <a:rPr lang="en-US" sz="1200"/>
              <a:t>At </a:t>
            </a:r>
            <a:r>
              <a:rPr lang="en-US" sz="1200" err="1"/>
              <a:t>AssuredPartners</a:t>
            </a:r>
            <a:r>
              <a:rPr lang="en-US" sz="1200"/>
              <a:t> we’ve built a Financial Services Team that focuses exclusively on Corporate Retirement Plans. We work the leading recordkeepers, investment providers, and other administrators and service providers to offer a complete solution with an advisor model that equally serves the Employer and Employee.</a:t>
            </a:r>
          </a:p>
          <a:p>
            <a:endParaRPr lang="en-US" sz="1200"/>
          </a:p>
          <a:p>
            <a:pPr marL="288925" indent="-171450">
              <a:spcBef>
                <a:spcPts val="300"/>
              </a:spcBef>
              <a:buFont typeface="Arial" panose="020B0604020202020204" pitchFamily="34" charset="0"/>
              <a:buChar char="•"/>
            </a:pPr>
            <a:r>
              <a:rPr lang="en-US" sz="1100">
                <a:solidFill>
                  <a:schemeClr val="bg1">
                    <a:lumMod val="50000"/>
                  </a:schemeClr>
                </a:solidFill>
              </a:rPr>
              <a:t>3(21) and 3(38) Investment Advisory Services</a:t>
            </a:r>
          </a:p>
          <a:p>
            <a:pPr marL="288925" indent="-171450">
              <a:spcBef>
                <a:spcPts val="300"/>
              </a:spcBef>
              <a:buFont typeface="Arial" panose="020B0604020202020204" pitchFamily="34" charset="0"/>
              <a:buChar char="•"/>
            </a:pPr>
            <a:r>
              <a:rPr lang="en-US" sz="1100">
                <a:solidFill>
                  <a:schemeClr val="bg1">
                    <a:lumMod val="50000"/>
                  </a:schemeClr>
                </a:solidFill>
              </a:rPr>
              <a:t>Financial Wellness &amp; Education for Employees to meet them where they are at in their financial journey</a:t>
            </a:r>
          </a:p>
          <a:p>
            <a:pPr marL="288925" indent="-171450">
              <a:spcBef>
                <a:spcPts val="300"/>
              </a:spcBef>
              <a:buFont typeface="Arial" panose="020B0604020202020204" pitchFamily="34" charset="0"/>
              <a:buChar char="•"/>
            </a:pPr>
            <a:r>
              <a:rPr lang="en-US" sz="1100">
                <a:solidFill>
                  <a:schemeClr val="bg1">
                    <a:lumMod val="50000"/>
                  </a:schemeClr>
                </a:solidFill>
              </a:rPr>
              <a:t>Access to full service 3(16) Administrators</a:t>
            </a:r>
          </a:p>
          <a:p>
            <a:pPr marL="288925" indent="-171450">
              <a:spcBef>
                <a:spcPts val="300"/>
              </a:spcBef>
              <a:buFont typeface="Arial" panose="020B0604020202020204" pitchFamily="34" charset="0"/>
              <a:buChar char="•"/>
            </a:pPr>
            <a:r>
              <a:rPr lang="en-US" sz="1100">
                <a:solidFill>
                  <a:schemeClr val="bg1">
                    <a:lumMod val="50000"/>
                  </a:schemeClr>
                </a:solidFill>
              </a:rPr>
              <a:t>Fiduciary Education &amp; Plan Governance Assistance</a:t>
            </a:r>
          </a:p>
          <a:p>
            <a:pPr marL="288925" indent="-171450">
              <a:spcBef>
                <a:spcPts val="300"/>
              </a:spcBef>
              <a:buFont typeface="Arial" panose="020B0604020202020204" pitchFamily="34" charset="0"/>
              <a:buChar char="•"/>
            </a:pPr>
            <a:r>
              <a:rPr lang="en-US" sz="1100">
                <a:solidFill>
                  <a:schemeClr val="bg1">
                    <a:lumMod val="50000"/>
                  </a:schemeClr>
                </a:solidFill>
              </a:rPr>
              <a:t>Investment Line Up Consulting &amp; Analytics </a:t>
            </a:r>
          </a:p>
          <a:p>
            <a:pPr marL="288925" indent="-171450">
              <a:spcBef>
                <a:spcPts val="300"/>
              </a:spcBef>
              <a:buFont typeface="Arial" panose="020B0604020202020204" pitchFamily="34" charset="0"/>
              <a:buChar char="•"/>
            </a:pPr>
            <a:r>
              <a:rPr lang="en-US" sz="1100">
                <a:solidFill>
                  <a:schemeClr val="bg1">
                    <a:lumMod val="50000"/>
                  </a:schemeClr>
                </a:solidFill>
              </a:rPr>
              <a:t>Compliance Assistance</a:t>
            </a:r>
          </a:p>
          <a:p>
            <a:pPr marL="288925" indent="-171450">
              <a:spcBef>
                <a:spcPts val="300"/>
              </a:spcBef>
              <a:buFont typeface="Arial" panose="020B0604020202020204" pitchFamily="34" charset="0"/>
              <a:buChar char="•"/>
            </a:pPr>
            <a:r>
              <a:rPr lang="en-US" sz="1100">
                <a:solidFill>
                  <a:schemeClr val="bg1">
                    <a:lumMod val="50000"/>
                  </a:schemeClr>
                </a:solidFill>
              </a:rPr>
              <a:t>Pooled Employer Plans</a:t>
            </a:r>
            <a:endParaRPr lang="en-US" sz="1100">
              <a:solidFill>
                <a:schemeClr val="tx1">
                  <a:lumMod val="50000"/>
                  <a:lumOff val="50000"/>
                </a:schemeClr>
              </a:solidFill>
            </a:endParaRPr>
          </a:p>
        </p:txBody>
      </p:sp>
      <p:cxnSp>
        <p:nvCxnSpPr>
          <p:cNvPr id="27" name="Straight Connector 26">
            <a:extLst>
              <a:ext uri="{FF2B5EF4-FFF2-40B4-BE49-F238E27FC236}">
                <a16:creationId xmlns:a16="http://schemas.microsoft.com/office/drawing/2014/main" id="{54FD4C44-FBD7-4E63-AE85-AF893CB60192}"/>
              </a:ext>
            </a:extLst>
          </p:cNvPr>
          <p:cNvCxnSpPr>
            <a:cxnSpLocks/>
          </p:cNvCxnSpPr>
          <p:nvPr/>
        </p:nvCxnSpPr>
        <p:spPr>
          <a:xfrm>
            <a:off x="9306570" y="2131824"/>
            <a:ext cx="2560320" cy="0"/>
          </a:xfrm>
          <a:prstGeom prst="line">
            <a:avLst/>
          </a:prstGeom>
          <a:ln w="19050">
            <a:solidFill>
              <a:srgbClr val="0A1F62"/>
            </a:solidFill>
            <a:prstDash val="soli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5AA895E-9B5F-4F3D-BE92-4E59B92064C3}"/>
              </a:ext>
            </a:extLst>
          </p:cNvPr>
          <p:cNvSpPr txBox="1">
            <a:spLocks/>
          </p:cNvSpPr>
          <p:nvPr/>
        </p:nvSpPr>
        <p:spPr>
          <a:xfrm>
            <a:off x="9306570" y="1728142"/>
            <a:ext cx="2056973" cy="369332"/>
          </a:xfrm>
          <a:prstGeom prst="rect">
            <a:avLst/>
          </a:prstGeom>
          <a:noFill/>
        </p:spPr>
        <p:txBody>
          <a:bodyPr wrap="none" rtlCol="0">
            <a:spAutoFit/>
          </a:bodyPr>
          <a:lstStyle/>
          <a:p>
            <a:r>
              <a:rPr lang="en-US">
                <a:solidFill>
                  <a:srgbClr val="0A1F62"/>
                </a:solidFill>
              </a:rPr>
              <a:t>RETIREMENT PLANS</a:t>
            </a:r>
          </a:p>
        </p:txBody>
      </p:sp>
    </p:spTree>
    <p:custDataLst>
      <p:tags r:id="rId1"/>
    </p:custDataLst>
    <p:extLst>
      <p:ext uri="{BB962C8B-B14F-4D97-AF65-F5344CB8AC3E}">
        <p14:creationId xmlns:p14="http://schemas.microsoft.com/office/powerpoint/2010/main" val="4189683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DD611C1F-C9C5-4F41-A3DC-8E8360E3CD4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01323" y="4742428"/>
            <a:ext cx="2331173" cy="757370"/>
          </a:xfrm>
          <a:prstGeom prst="rect">
            <a:avLst/>
          </a:prstGeom>
        </p:spPr>
      </p:pic>
      <p:cxnSp>
        <p:nvCxnSpPr>
          <p:cNvPr id="47" name="Straight Connector 46">
            <a:extLst>
              <a:ext uri="{FF2B5EF4-FFF2-40B4-BE49-F238E27FC236}">
                <a16:creationId xmlns:a16="http://schemas.microsoft.com/office/drawing/2014/main" id="{EAD27086-19AA-4C00-9945-02705B20B5BB}"/>
              </a:ext>
            </a:extLst>
          </p:cNvPr>
          <p:cNvCxnSpPr>
            <a:stCxn id="36" idx="4"/>
          </p:cNvCxnSpPr>
          <p:nvPr/>
        </p:nvCxnSpPr>
        <p:spPr>
          <a:xfrm>
            <a:off x="7186070" y="2322767"/>
            <a:ext cx="0" cy="3101834"/>
          </a:xfrm>
          <a:prstGeom prst="line">
            <a:avLst/>
          </a:prstGeom>
          <a:ln w="38100">
            <a:solidFill>
              <a:srgbClr val="808285"/>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3CF3B314-9B5A-4811-93EE-3221EFCE76C1}"/>
              </a:ext>
            </a:extLst>
          </p:cNvPr>
          <p:cNvSpPr txBox="1">
            <a:spLocks/>
          </p:cNvSpPr>
          <p:nvPr/>
        </p:nvSpPr>
        <p:spPr>
          <a:xfrm>
            <a:off x="701312" y="530325"/>
            <a:ext cx="5192854" cy="461664"/>
          </a:xfrm>
          <a:prstGeom prst="rect">
            <a:avLst/>
          </a:prstGeom>
        </p:spPr>
        <p:txBody>
          <a:bodyPr anchor="ctr"/>
          <a:lst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buNone/>
            </a:pPr>
            <a:r>
              <a:rPr lang="en-US" sz="3600">
                <a:solidFill>
                  <a:schemeClr val="bg1"/>
                </a:solidFill>
              </a:rPr>
              <a:t>Retirement Plan Specialists</a:t>
            </a:r>
          </a:p>
        </p:txBody>
      </p:sp>
      <p:sp>
        <p:nvSpPr>
          <p:cNvPr id="29" name="Content Placeholder 3">
            <a:extLst>
              <a:ext uri="{FF2B5EF4-FFF2-40B4-BE49-F238E27FC236}">
                <a16:creationId xmlns:a16="http://schemas.microsoft.com/office/drawing/2014/main" id="{9ABA4D1D-9918-4C67-B6D3-466B2E998B53}"/>
              </a:ext>
            </a:extLst>
          </p:cNvPr>
          <p:cNvSpPr txBox="1">
            <a:spLocks/>
          </p:cNvSpPr>
          <p:nvPr/>
        </p:nvSpPr>
        <p:spPr>
          <a:xfrm>
            <a:off x="2329467" y="1298949"/>
            <a:ext cx="3846773" cy="2995548"/>
          </a:xfrm>
          <a:prstGeom prst="rect">
            <a:avLst/>
          </a:prstGeom>
        </p:spPr>
        <p:txBody>
          <a:bodyPr vert="horz" lIns="88751" tIns="44375" rIns="88751" bIns="44375"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29"/>
              </a:spcAft>
            </a:pPr>
            <a:r>
              <a:rPr lang="en-US" sz="2118">
                <a:solidFill>
                  <a:schemeClr val="tx1">
                    <a:lumMod val="75000"/>
                    <a:lumOff val="25000"/>
                  </a:schemeClr>
                </a:solidFill>
                <a:latin typeface="Calibri" panose="020F0502020204030204" pitchFamily="34" charset="0"/>
                <a:cs typeface="Calibri" panose="020F0502020204030204" pitchFamily="34" charset="0"/>
              </a:rPr>
              <a:t>A boutique experience with the strength and resources of a national firm.</a:t>
            </a:r>
          </a:p>
          <a:p>
            <a:pPr>
              <a:spcBef>
                <a:spcPts val="529"/>
              </a:spcBef>
            </a:pPr>
            <a:r>
              <a:rPr lang="en-US" sz="2118">
                <a:solidFill>
                  <a:schemeClr val="tx1">
                    <a:lumMod val="75000"/>
                    <a:lumOff val="25000"/>
                  </a:schemeClr>
                </a:solidFill>
                <a:latin typeface="Calibri" panose="020F0502020204030204" pitchFamily="34" charset="0"/>
                <a:cs typeface="Calibri" panose="020F0502020204030204" pitchFamily="34" charset="0"/>
              </a:rPr>
              <a:t>With </a:t>
            </a:r>
            <a:r>
              <a:rPr lang="en-US" sz="2118" err="1">
                <a:solidFill>
                  <a:schemeClr val="tx1">
                    <a:lumMod val="75000"/>
                    <a:lumOff val="25000"/>
                  </a:schemeClr>
                </a:solidFill>
                <a:latin typeface="Calibri" panose="020F0502020204030204" pitchFamily="34" charset="0"/>
                <a:cs typeface="Calibri" panose="020F0502020204030204" pitchFamily="34" charset="0"/>
              </a:rPr>
              <a:t>Pensionmark</a:t>
            </a:r>
            <a:r>
              <a:rPr lang="en-US" sz="2118">
                <a:solidFill>
                  <a:schemeClr val="tx1">
                    <a:lumMod val="75000"/>
                    <a:lumOff val="25000"/>
                  </a:schemeClr>
                </a:solidFill>
                <a:latin typeface="Calibri" panose="020F0502020204030204" pitchFamily="34" charset="0"/>
                <a:cs typeface="Calibri" panose="020F0502020204030204" pitchFamily="34" charset="0"/>
              </a:rPr>
              <a:t> you get the best of both worlds, working with an experienced independent advisor backed by a network of support specialists.</a:t>
            </a:r>
          </a:p>
        </p:txBody>
      </p:sp>
      <p:grpSp>
        <p:nvGrpSpPr>
          <p:cNvPr id="5" name="Group 4">
            <a:extLst>
              <a:ext uri="{FF2B5EF4-FFF2-40B4-BE49-F238E27FC236}">
                <a16:creationId xmlns:a16="http://schemas.microsoft.com/office/drawing/2014/main" id="{16D78888-BE2D-4C6D-9104-7524E9BB985E}"/>
              </a:ext>
            </a:extLst>
          </p:cNvPr>
          <p:cNvGrpSpPr/>
          <p:nvPr/>
        </p:nvGrpSpPr>
        <p:grpSpPr>
          <a:xfrm>
            <a:off x="6677060" y="1304745"/>
            <a:ext cx="3521725" cy="1018022"/>
            <a:chOff x="5687734" y="1325879"/>
            <a:chExt cx="3991288" cy="1153758"/>
          </a:xfrm>
        </p:grpSpPr>
        <p:sp>
          <p:nvSpPr>
            <p:cNvPr id="36" name="Text Placeholder 33">
              <a:extLst>
                <a:ext uri="{FF2B5EF4-FFF2-40B4-BE49-F238E27FC236}">
                  <a16:creationId xmlns:a16="http://schemas.microsoft.com/office/drawing/2014/main" id="{C8388D9B-BCE4-4AAA-8D4E-88F236DC79B7}"/>
                </a:ext>
              </a:extLst>
            </p:cNvPr>
            <p:cNvSpPr txBox="1">
              <a:spLocks/>
            </p:cNvSpPr>
            <p:nvPr/>
          </p:nvSpPr>
          <p:spPr>
            <a:xfrm>
              <a:off x="5687734" y="1325879"/>
              <a:ext cx="1153758" cy="1153758"/>
            </a:xfrm>
            <a:prstGeom prst="ellipse">
              <a:avLst/>
            </a:prstGeom>
            <a:solidFill>
              <a:srgbClr val="2A7050"/>
            </a:solidFill>
            <a:ln w="28575">
              <a:solidFill>
                <a:schemeClr val="bg1"/>
              </a:solidFill>
            </a:ln>
          </p:spPr>
          <p:style>
            <a:lnRef idx="0">
              <a:schemeClr val="dk1"/>
            </a:lnRef>
            <a:fillRef idx="3">
              <a:schemeClr val="dk1"/>
            </a:fillRef>
            <a:effectRef idx="3">
              <a:schemeClr val="dk1"/>
            </a:effectRef>
            <a:fontRef idx="minor">
              <a:schemeClr val="lt1"/>
            </a:fontRef>
          </p:style>
          <p:txBody>
            <a:bodyPr wrap="none" lIns="0" tIns="0" rIns="0" bIns="0" anchor="ctr" anchorCtr="0">
              <a:norm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sz="2471" b="1">
                  <a:solidFill>
                    <a:srgbClr val="FFFFFF"/>
                  </a:solidFill>
                  <a:ea typeface="Lato" panose="020F0502020204030203" pitchFamily="34" charset="0"/>
                  <a:cs typeface="Lato" panose="020F0502020204030203" pitchFamily="34" charset="0"/>
                </a:rPr>
                <a:t>3,350</a:t>
              </a:r>
            </a:p>
          </p:txBody>
        </p:sp>
        <p:sp>
          <p:nvSpPr>
            <p:cNvPr id="38" name="Text Placeholder 35">
              <a:extLst>
                <a:ext uri="{FF2B5EF4-FFF2-40B4-BE49-F238E27FC236}">
                  <a16:creationId xmlns:a16="http://schemas.microsoft.com/office/drawing/2014/main" id="{84090639-C7E5-4DB3-9804-066846E94634}"/>
                </a:ext>
              </a:extLst>
            </p:cNvPr>
            <p:cNvSpPr txBox="1">
              <a:spLocks/>
            </p:cNvSpPr>
            <p:nvPr/>
          </p:nvSpPr>
          <p:spPr>
            <a:xfrm>
              <a:off x="7112053" y="1641148"/>
              <a:ext cx="2566969" cy="596980"/>
            </a:xfrm>
            <a:prstGeom prst="rect">
              <a:avLst/>
            </a:prstGeom>
          </p:spPr>
          <p:txBody>
            <a:bodyPr wrap="square">
              <a:sp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sz="1588" b="1">
                  <a:solidFill>
                    <a:schemeClr val="tx1">
                      <a:lumMod val="75000"/>
                      <a:lumOff val="25000"/>
                    </a:schemeClr>
                  </a:solidFill>
                  <a:ea typeface="Lato" panose="020F0502020204030203" pitchFamily="34" charset="0"/>
                  <a:cs typeface="Lato" panose="020F0502020204030203" pitchFamily="34" charset="0"/>
                </a:rPr>
                <a:t>Retirement Plan Clients</a:t>
              </a:r>
              <a:br>
                <a:rPr lang="en-US" sz="1412">
                  <a:solidFill>
                    <a:schemeClr val="tx1">
                      <a:lumMod val="75000"/>
                      <a:lumOff val="25000"/>
                    </a:schemeClr>
                  </a:solidFill>
                  <a:ea typeface="Lato" panose="020F0502020204030203" pitchFamily="34" charset="0"/>
                  <a:cs typeface="Lato" panose="020F0502020204030203" pitchFamily="34" charset="0"/>
                </a:rPr>
              </a:br>
              <a:r>
                <a:rPr lang="en-US" sz="1235">
                  <a:solidFill>
                    <a:srgbClr val="808285"/>
                  </a:solidFill>
                  <a:ea typeface="Lato" panose="020F0502020204030203" pitchFamily="34" charset="0"/>
                  <a:cs typeface="Lato" panose="020F0502020204030203" pitchFamily="34" charset="0"/>
                </a:rPr>
                <a:t>As of 6/1/2020</a:t>
              </a:r>
              <a:endParaRPr lang="en-US" sz="1412">
                <a:solidFill>
                  <a:srgbClr val="808285"/>
                </a:solidFill>
                <a:ea typeface="Lato" panose="020F0502020204030203" pitchFamily="34" charset="0"/>
                <a:cs typeface="Lato" panose="020F0502020204030203" pitchFamily="34" charset="0"/>
              </a:endParaRPr>
            </a:p>
          </p:txBody>
        </p:sp>
      </p:grpSp>
      <p:grpSp>
        <p:nvGrpSpPr>
          <p:cNvPr id="11" name="Group 10">
            <a:extLst>
              <a:ext uri="{FF2B5EF4-FFF2-40B4-BE49-F238E27FC236}">
                <a16:creationId xmlns:a16="http://schemas.microsoft.com/office/drawing/2014/main" id="{B5955C55-8550-4E6D-8F1F-7333BC7EC8D4}"/>
              </a:ext>
            </a:extLst>
          </p:cNvPr>
          <p:cNvGrpSpPr/>
          <p:nvPr/>
        </p:nvGrpSpPr>
        <p:grpSpPr>
          <a:xfrm>
            <a:off x="6677060" y="2640750"/>
            <a:ext cx="3521725" cy="1018022"/>
            <a:chOff x="5687734" y="2916434"/>
            <a:chExt cx="3991288" cy="1153758"/>
          </a:xfrm>
        </p:grpSpPr>
        <p:sp>
          <p:nvSpPr>
            <p:cNvPr id="37" name="Text Placeholder 39">
              <a:extLst>
                <a:ext uri="{FF2B5EF4-FFF2-40B4-BE49-F238E27FC236}">
                  <a16:creationId xmlns:a16="http://schemas.microsoft.com/office/drawing/2014/main" id="{98975743-533C-4328-A6B2-E4B8CE5C62E1}"/>
                </a:ext>
              </a:extLst>
            </p:cNvPr>
            <p:cNvSpPr txBox="1">
              <a:spLocks/>
            </p:cNvSpPr>
            <p:nvPr/>
          </p:nvSpPr>
          <p:spPr>
            <a:xfrm>
              <a:off x="5687734" y="2916434"/>
              <a:ext cx="1153758" cy="1153758"/>
            </a:xfrm>
            <a:prstGeom prst="ellipse">
              <a:avLst/>
            </a:prstGeom>
            <a:solidFill>
              <a:srgbClr val="2A7050"/>
            </a:solidFill>
            <a:ln w="28575">
              <a:solidFill>
                <a:schemeClr val="bg1"/>
              </a:solidFill>
            </a:ln>
          </p:spPr>
          <p:style>
            <a:lnRef idx="0">
              <a:schemeClr val="dk1"/>
            </a:lnRef>
            <a:fillRef idx="3">
              <a:schemeClr val="dk1"/>
            </a:fillRef>
            <a:effectRef idx="3">
              <a:schemeClr val="dk1"/>
            </a:effectRef>
            <a:fontRef idx="minor">
              <a:schemeClr val="lt1"/>
            </a:fontRef>
          </p:style>
          <p:txBody>
            <a:bodyPr wrap="none" lIns="0" tIns="0" rIns="0" bIns="0" anchor="ctr" anchorCtr="0">
              <a:normAutofit/>
            </a:bodyPr>
            <a:lstStyle>
              <a:defPPr>
                <a:defRPr lang="en-US"/>
              </a:defPPr>
              <a:lvl1pPr indent="0" algn="ctr" defTabSz="914324">
                <a:lnSpc>
                  <a:spcPct val="100000"/>
                </a:lnSpc>
                <a:spcBef>
                  <a:spcPts val="0"/>
                </a:spcBef>
                <a:buFont typeface="Arial" panose="020B0604020202020204" pitchFamily="34" charset="0"/>
                <a:buNone/>
                <a:defRPr kumimoji="1" sz="2523" baseline="0">
                  <a:solidFill>
                    <a:srgbClr val="FFFFFF"/>
                  </a:solidFill>
                  <a:latin typeface="Lato" panose="020F0502020204030203" pitchFamily="34" charset="0"/>
                  <a:ea typeface="Lato" panose="020F0502020204030203" pitchFamily="34" charset="0"/>
                  <a:cs typeface="Lato" panose="020F0502020204030203" pitchFamily="34" charset="0"/>
                </a:defRPr>
              </a:lvl1pPr>
              <a:lvl2pPr marL="685743" indent="-228581" defTabSz="914324">
                <a:lnSpc>
                  <a:spcPct val="90000"/>
                </a:lnSpc>
                <a:spcBef>
                  <a:spcPts val="500"/>
                </a:spcBef>
                <a:buFont typeface="Arial" panose="020B0604020202020204" pitchFamily="34" charset="0"/>
                <a:buChar char="•"/>
                <a:defRPr kumimoji="1" sz="2400"/>
              </a:lvl2pPr>
              <a:lvl3pPr marL="1142904" indent="-228581" defTabSz="914324">
                <a:lnSpc>
                  <a:spcPct val="90000"/>
                </a:lnSpc>
                <a:spcBef>
                  <a:spcPts val="500"/>
                </a:spcBef>
                <a:buFont typeface="Arial" panose="020B0604020202020204" pitchFamily="34" charset="0"/>
                <a:buChar char="•"/>
                <a:defRPr kumimoji="1" sz="2000"/>
              </a:lvl3pPr>
              <a:lvl4pPr marL="1600067" indent="-228581" defTabSz="914324">
                <a:lnSpc>
                  <a:spcPct val="90000"/>
                </a:lnSpc>
                <a:spcBef>
                  <a:spcPts val="500"/>
                </a:spcBef>
                <a:buFont typeface="Arial" panose="020B0604020202020204" pitchFamily="34" charset="0"/>
                <a:buChar char="•"/>
                <a:defRPr kumimoji="1"/>
              </a:lvl4pPr>
              <a:lvl5pPr marL="2057229" indent="-228581" defTabSz="914324">
                <a:lnSpc>
                  <a:spcPct val="90000"/>
                </a:lnSpc>
                <a:spcBef>
                  <a:spcPts val="500"/>
                </a:spcBef>
                <a:buFont typeface="Arial" panose="020B0604020202020204" pitchFamily="34" charset="0"/>
                <a:buChar char="•"/>
                <a:defRPr kumimoji="1"/>
              </a:lvl5pPr>
              <a:lvl6pPr marL="2514390" indent="-228581" defTabSz="914324">
                <a:lnSpc>
                  <a:spcPct val="90000"/>
                </a:lnSpc>
                <a:spcBef>
                  <a:spcPts val="500"/>
                </a:spcBef>
                <a:buFont typeface="Arial" panose="020B0604020202020204" pitchFamily="34" charset="0"/>
                <a:buChar char="•"/>
                <a:defRPr kumimoji="1"/>
              </a:lvl6pPr>
              <a:lvl7pPr marL="2971553" indent="-228581" defTabSz="914324">
                <a:lnSpc>
                  <a:spcPct val="90000"/>
                </a:lnSpc>
                <a:spcBef>
                  <a:spcPts val="500"/>
                </a:spcBef>
                <a:buFont typeface="Arial" panose="020B0604020202020204" pitchFamily="34" charset="0"/>
                <a:buChar char="•"/>
                <a:defRPr kumimoji="1"/>
              </a:lvl7pPr>
              <a:lvl8pPr marL="3428714" indent="-228581" defTabSz="914324">
                <a:lnSpc>
                  <a:spcPct val="90000"/>
                </a:lnSpc>
                <a:spcBef>
                  <a:spcPts val="500"/>
                </a:spcBef>
                <a:buFont typeface="Arial" panose="020B0604020202020204" pitchFamily="34" charset="0"/>
                <a:buChar char="•"/>
                <a:defRPr kumimoji="1"/>
              </a:lvl8pPr>
              <a:lvl9pPr marL="3885876" indent="-228581" defTabSz="914324">
                <a:lnSpc>
                  <a:spcPct val="90000"/>
                </a:lnSpc>
                <a:spcBef>
                  <a:spcPts val="500"/>
                </a:spcBef>
                <a:buFont typeface="Arial" panose="020B0604020202020204" pitchFamily="34" charset="0"/>
                <a:buChar char="•"/>
                <a:defRPr kumimoji="1"/>
              </a:lvl9pPr>
            </a:lstStyle>
            <a:p>
              <a:r>
                <a:rPr lang="en-US" sz="2471" b="1">
                  <a:latin typeface="+mn-lt"/>
                </a:rPr>
                <a:t>$48B</a:t>
              </a:r>
            </a:p>
          </p:txBody>
        </p:sp>
        <p:sp>
          <p:nvSpPr>
            <p:cNvPr id="39" name="TextBox 38">
              <a:extLst>
                <a:ext uri="{FF2B5EF4-FFF2-40B4-BE49-F238E27FC236}">
                  <a16:creationId xmlns:a16="http://schemas.microsoft.com/office/drawing/2014/main" id="{5351A0C7-0DD7-4483-9A00-F67B0009B9A0}"/>
                </a:ext>
              </a:extLst>
            </p:cNvPr>
            <p:cNvSpPr txBox="1"/>
            <p:nvPr/>
          </p:nvSpPr>
          <p:spPr>
            <a:xfrm>
              <a:off x="7112053" y="3093203"/>
              <a:ext cx="2566969" cy="849361"/>
            </a:xfrm>
            <a:prstGeom prst="rect">
              <a:avLst/>
            </a:prstGeom>
            <a:noFill/>
          </p:spPr>
          <p:txBody>
            <a:bodyPr wrap="square">
              <a:spAutoFit/>
            </a:bodyPr>
            <a:lstStyle/>
            <a:p>
              <a:pPr>
                <a:lnSpc>
                  <a:spcPct val="100000"/>
                </a:lnSpc>
              </a:pPr>
              <a:r>
                <a:rPr lang="en-US" b="1">
                  <a:solidFill>
                    <a:schemeClr val="tx1">
                      <a:lumMod val="75000"/>
                      <a:lumOff val="25000"/>
                    </a:schemeClr>
                  </a:solidFill>
                  <a:ea typeface="Lato" panose="020F0502020204030203" pitchFamily="34" charset="0"/>
                  <a:cs typeface="Lato" panose="020F0502020204030203" pitchFamily="34" charset="0"/>
                </a:rPr>
                <a:t>Assets Supported</a:t>
              </a:r>
              <a:r>
                <a:rPr lang="en-US" b="1" baseline="30000">
                  <a:solidFill>
                    <a:schemeClr val="tx1">
                      <a:lumMod val="75000"/>
                      <a:lumOff val="25000"/>
                    </a:schemeClr>
                  </a:solidFill>
                  <a:ea typeface="Lato" panose="020F0502020204030203" pitchFamily="34" charset="0"/>
                  <a:cs typeface="Lato" panose="020F0502020204030203" pitchFamily="34" charset="0"/>
                </a:rPr>
                <a:t>1</a:t>
              </a:r>
              <a:br>
                <a:rPr lang="en-US" sz="1412">
                  <a:solidFill>
                    <a:schemeClr val="tx1">
                      <a:lumMod val="75000"/>
                      <a:lumOff val="25000"/>
                    </a:schemeClr>
                  </a:solidFill>
                  <a:ea typeface="Lato" panose="020F0502020204030203" pitchFamily="34" charset="0"/>
                  <a:cs typeface="Lato" panose="020F0502020204030203" pitchFamily="34" charset="0"/>
                </a:rPr>
              </a:br>
              <a:r>
                <a:rPr lang="en-US" sz="1235">
                  <a:solidFill>
                    <a:srgbClr val="808285"/>
                  </a:solidFill>
                  <a:ea typeface="Lato" panose="020F0502020204030203" pitchFamily="34" charset="0"/>
                  <a:cs typeface="Lato" panose="020F0502020204030203" pitchFamily="34" charset="0"/>
                </a:rPr>
                <a:t>$19B in Discretionary Assets under Management</a:t>
              </a:r>
              <a:r>
                <a:rPr lang="en-US" sz="1235" baseline="30000">
                  <a:solidFill>
                    <a:srgbClr val="808285"/>
                  </a:solidFill>
                  <a:ea typeface="Lato" panose="020F0502020204030203" pitchFamily="34" charset="0"/>
                  <a:cs typeface="Lato" panose="020F0502020204030203" pitchFamily="34" charset="0"/>
                </a:rPr>
                <a:t>1</a:t>
              </a:r>
              <a:endParaRPr lang="en-US" sz="1412" baseline="30000">
                <a:solidFill>
                  <a:srgbClr val="808285"/>
                </a:solidFill>
                <a:ea typeface="Lato" panose="020F0502020204030203" pitchFamily="34" charset="0"/>
                <a:cs typeface="Lato" panose="020F0502020204030203" pitchFamily="34" charset="0"/>
              </a:endParaRPr>
            </a:p>
          </p:txBody>
        </p:sp>
      </p:grpSp>
      <p:grpSp>
        <p:nvGrpSpPr>
          <p:cNvPr id="17" name="Group 16">
            <a:extLst>
              <a:ext uri="{FF2B5EF4-FFF2-40B4-BE49-F238E27FC236}">
                <a16:creationId xmlns:a16="http://schemas.microsoft.com/office/drawing/2014/main" id="{3F210370-DED9-425C-819E-5A8E184FC672}"/>
              </a:ext>
            </a:extLst>
          </p:cNvPr>
          <p:cNvGrpSpPr/>
          <p:nvPr/>
        </p:nvGrpSpPr>
        <p:grpSpPr>
          <a:xfrm>
            <a:off x="6677060" y="3976755"/>
            <a:ext cx="3521725" cy="1018022"/>
            <a:chOff x="5687734" y="4506989"/>
            <a:chExt cx="3991288" cy="1153758"/>
          </a:xfrm>
        </p:grpSpPr>
        <p:sp>
          <p:nvSpPr>
            <p:cNvPr id="35" name="Text Placeholder 30">
              <a:extLst>
                <a:ext uri="{FF2B5EF4-FFF2-40B4-BE49-F238E27FC236}">
                  <a16:creationId xmlns:a16="http://schemas.microsoft.com/office/drawing/2014/main" id="{B6E476E0-28EA-41D4-AEB7-2666905FA69D}"/>
                </a:ext>
              </a:extLst>
            </p:cNvPr>
            <p:cNvSpPr txBox="1">
              <a:spLocks/>
            </p:cNvSpPr>
            <p:nvPr/>
          </p:nvSpPr>
          <p:spPr>
            <a:xfrm>
              <a:off x="5687734" y="4506989"/>
              <a:ext cx="1153758" cy="1153758"/>
            </a:xfrm>
            <a:prstGeom prst="ellipse">
              <a:avLst/>
            </a:prstGeom>
            <a:solidFill>
              <a:srgbClr val="2A7050"/>
            </a:solidFill>
            <a:ln w="28575">
              <a:solidFill>
                <a:schemeClr val="bg1"/>
              </a:solidFill>
            </a:ln>
          </p:spPr>
          <p:style>
            <a:lnRef idx="0">
              <a:schemeClr val="dk1"/>
            </a:lnRef>
            <a:fillRef idx="3">
              <a:schemeClr val="dk1"/>
            </a:fillRef>
            <a:effectRef idx="3">
              <a:schemeClr val="dk1"/>
            </a:effectRef>
            <a:fontRef idx="minor">
              <a:schemeClr val="lt1"/>
            </a:fontRef>
          </p:style>
          <p:txBody>
            <a:bodyPr wrap="none" lIns="0" tIns="0" rIns="0" bIns="0" anchor="ctr" anchorCtr="0">
              <a:normAutofit/>
            </a:bodyPr>
            <a:lstStyle>
              <a:defPPr>
                <a:defRPr lang="en-US"/>
              </a:defPPr>
              <a:lvl1pPr indent="0" algn="ctr" defTabSz="914324">
                <a:lnSpc>
                  <a:spcPct val="100000"/>
                </a:lnSpc>
                <a:spcBef>
                  <a:spcPts val="0"/>
                </a:spcBef>
                <a:buFont typeface="Arial" panose="020B0604020202020204" pitchFamily="34" charset="0"/>
                <a:buNone/>
                <a:defRPr kumimoji="1" sz="2523" baseline="0">
                  <a:solidFill>
                    <a:srgbClr val="FFFFFF"/>
                  </a:solidFill>
                  <a:latin typeface="Lato" panose="020F0502020204030203" pitchFamily="34" charset="0"/>
                  <a:ea typeface="Lato" panose="020F0502020204030203" pitchFamily="34" charset="0"/>
                  <a:cs typeface="Lato" panose="020F0502020204030203" pitchFamily="34" charset="0"/>
                </a:defRPr>
              </a:lvl1pPr>
              <a:lvl2pPr marL="685743" indent="-228581" defTabSz="914324">
                <a:lnSpc>
                  <a:spcPct val="90000"/>
                </a:lnSpc>
                <a:spcBef>
                  <a:spcPts val="500"/>
                </a:spcBef>
                <a:buFont typeface="Arial" panose="020B0604020202020204" pitchFamily="34" charset="0"/>
                <a:buChar char="•"/>
                <a:defRPr kumimoji="1" sz="2400"/>
              </a:lvl2pPr>
              <a:lvl3pPr marL="1142904" indent="-228581" defTabSz="914324">
                <a:lnSpc>
                  <a:spcPct val="90000"/>
                </a:lnSpc>
                <a:spcBef>
                  <a:spcPts val="500"/>
                </a:spcBef>
                <a:buFont typeface="Arial" panose="020B0604020202020204" pitchFamily="34" charset="0"/>
                <a:buChar char="•"/>
                <a:defRPr kumimoji="1" sz="2000"/>
              </a:lvl3pPr>
              <a:lvl4pPr marL="1600067" indent="-228581" defTabSz="914324">
                <a:lnSpc>
                  <a:spcPct val="90000"/>
                </a:lnSpc>
                <a:spcBef>
                  <a:spcPts val="500"/>
                </a:spcBef>
                <a:buFont typeface="Arial" panose="020B0604020202020204" pitchFamily="34" charset="0"/>
                <a:buChar char="•"/>
                <a:defRPr kumimoji="1"/>
              </a:lvl4pPr>
              <a:lvl5pPr marL="2057229" indent="-228581" defTabSz="914324">
                <a:lnSpc>
                  <a:spcPct val="90000"/>
                </a:lnSpc>
                <a:spcBef>
                  <a:spcPts val="500"/>
                </a:spcBef>
                <a:buFont typeface="Arial" panose="020B0604020202020204" pitchFamily="34" charset="0"/>
                <a:buChar char="•"/>
                <a:defRPr kumimoji="1"/>
              </a:lvl5pPr>
              <a:lvl6pPr marL="2514390" indent="-228581" defTabSz="914324">
                <a:lnSpc>
                  <a:spcPct val="90000"/>
                </a:lnSpc>
                <a:spcBef>
                  <a:spcPts val="500"/>
                </a:spcBef>
                <a:buFont typeface="Arial" panose="020B0604020202020204" pitchFamily="34" charset="0"/>
                <a:buChar char="•"/>
                <a:defRPr kumimoji="1"/>
              </a:lvl6pPr>
              <a:lvl7pPr marL="2971553" indent="-228581" defTabSz="914324">
                <a:lnSpc>
                  <a:spcPct val="90000"/>
                </a:lnSpc>
                <a:spcBef>
                  <a:spcPts val="500"/>
                </a:spcBef>
                <a:buFont typeface="Arial" panose="020B0604020202020204" pitchFamily="34" charset="0"/>
                <a:buChar char="•"/>
                <a:defRPr kumimoji="1"/>
              </a:lvl7pPr>
              <a:lvl8pPr marL="3428714" indent="-228581" defTabSz="914324">
                <a:lnSpc>
                  <a:spcPct val="90000"/>
                </a:lnSpc>
                <a:spcBef>
                  <a:spcPts val="500"/>
                </a:spcBef>
                <a:buFont typeface="Arial" panose="020B0604020202020204" pitchFamily="34" charset="0"/>
                <a:buChar char="•"/>
                <a:defRPr kumimoji="1"/>
              </a:lvl8pPr>
              <a:lvl9pPr marL="3885876" indent="-228581" defTabSz="914324">
                <a:lnSpc>
                  <a:spcPct val="90000"/>
                </a:lnSpc>
                <a:spcBef>
                  <a:spcPts val="500"/>
                </a:spcBef>
                <a:buFont typeface="Arial" panose="020B0604020202020204" pitchFamily="34" charset="0"/>
                <a:buChar char="•"/>
                <a:defRPr kumimoji="1"/>
              </a:lvl9pPr>
            </a:lstStyle>
            <a:p>
              <a:r>
                <a:rPr lang="en-US" sz="2471" b="1">
                  <a:latin typeface="+mn-lt"/>
                </a:rPr>
                <a:t>310</a:t>
              </a:r>
            </a:p>
          </p:txBody>
        </p:sp>
        <p:sp>
          <p:nvSpPr>
            <p:cNvPr id="41" name="Text Placeholder 32">
              <a:extLst>
                <a:ext uri="{FF2B5EF4-FFF2-40B4-BE49-F238E27FC236}">
                  <a16:creationId xmlns:a16="http://schemas.microsoft.com/office/drawing/2014/main" id="{2AB56A04-43D8-4401-A600-A6410A355EC8}"/>
                </a:ext>
              </a:extLst>
            </p:cNvPr>
            <p:cNvSpPr txBox="1">
              <a:spLocks/>
            </p:cNvSpPr>
            <p:nvPr/>
          </p:nvSpPr>
          <p:spPr>
            <a:xfrm>
              <a:off x="7112053" y="4791481"/>
              <a:ext cx="2566969" cy="596980"/>
            </a:xfrm>
            <a:prstGeom prst="rect">
              <a:avLst/>
            </a:prstGeom>
          </p:spPr>
          <p:txBody>
            <a:bodyPr wrap="square">
              <a:sp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sz="1588" b="1">
                  <a:solidFill>
                    <a:schemeClr val="tx1">
                      <a:lumMod val="75000"/>
                      <a:lumOff val="25000"/>
                    </a:schemeClr>
                  </a:solidFill>
                  <a:ea typeface="Lato" panose="020F0502020204030203" pitchFamily="34" charset="0"/>
                  <a:cs typeface="Lato" panose="020F0502020204030203" pitchFamily="34" charset="0"/>
                </a:rPr>
                <a:t>Team Members</a:t>
              </a:r>
              <a:br>
                <a:rPr lang="en-US" sz="1412">
                  <a:solidFill>
                    <a:schemeClr val="tx1">
                      <a:lumMod val="75000"/>
                      <a:lumOff val="25000"/>
                    </a:schemeClr>
                  </a:solidFill>
                  <a:ea typeface="Lato" panose="020F0502020204030203" pitchFamily="34" charset="0"/>
                  <a:cs typeface="Lato" panose="020F0502020204030203" pitchFamily="34" charset="0"/>
                </a:rPr>
              </a:br>
              <a:r>
                <a:rPr lang="en-US" sz="1235">
                  <a:solidFill>
                    <a:srgbClr val="808285"/>
                  </a:solidFill>
                  <a:ea typeface="Lato" panose="020F0502020204030203" pitchFamily="34" charset="0"/>
                  <a:cs typeface="Lato" panose="020F0502020204030203" pitchFamily="34" charset="0"/>
                </a:rPr>
                <a:t>As of 6/1/2020</a:t>
              </a:r>
              <a:endParaRPr lang="en-US" sz="1412">
                <a:solidFill>
                  <a:srgbClr val="808285"/>
                </a:solidFill>
                <a:ea typeface="Lato" panose="020F0502020204030203" pitchFamily="34" charset="0"/>
                <a:cs typeface="Lato" panose="020F0502020204030203" pitchFamily="34" charset="0"/>
              </a:endParaRPr>
            </a:p>
          </p:txBody>
        </p:sp>
      </p:grpSp>
      <p:grpSp>
        <p:nvGrpSpPr>
          <p:cNvPr id="18" name="Group 17">
            <a:extLst>
              <a:ext uri="{FF2B5EF4-FFF2-40B4-BE49-F238E27FC236}">
                <a16:creationId xmlns:a16="http://schemas.microsoft.com/office/drawing/2014/main" id="{32ABA72B-7D3A-4852-9AAD-50023C0F5160}"/>
              </a:ext>
            </a:extLst>
          </p:cNvPr>
          <p:cNvGrpSpPr/>
          <p:nvPr/>
        </p:nvGrpSpPr>
        <p:grpSpPr>
          <a:xfrm>
            <a:off x="6677061" y="5312760"/>
            <a:ext cx="3521724" cy="1018022"/>
            <a:chOff x="5687734" y="6097544"/>
            <a:chExt cx="3991287" cy="1153758"/>
          </a:xfrm>
        </p:grpSpPr>
        <p:sp>
          <p:nvSpPr>
            <p:cNvPr id="34" name="Text Placeholder 26">
              <a:extLst>
                <a:ext uri="{FF2B5EF4-FFF2-40B4-BE49-F238E27FC236}">
                  <a16:creationId xmlns:a16="http://schemas.microsoft.com/office/drawing/2014/main" id="{EDDBBC49-B179-40BD-93AC-B12E80249D16}"/>
                </a:ext>
              </a:extLst>
            </p:cNvPr>
            <p:cNvSpPr txBox="1">
              <a:spLocks/>
            </p:cNvSpPr>
            <p:nvPr/>
          </p:nvSpPr>
          <p:spPr>
            <a:xfrm>
              <a:off x="5687734" y="6097544"/>
              <a:ext cx="1153758" cy="1153758"/>
            </a:xfrm>
            <a:prstGeom prst="ellipse">
              <a:avLst/>
            </a:prstGeom>
            <a:solidFill>
              <a:srgbClr val="2A7050"/>
            </a:solidFill>
            <a:ln w="28575">
              <a:solidFill>
                <a:schemeClr val="bg1"/>
              </a:solidFill>
            </a:ln>
          </p:spPr>
          <p:style>
            <a:lnRef idx="0">
              <a:schemeClr val="dk1"/>
            </a:lnRef>
            <a:fillRef idx="3">
              <a:schemeClr val="dk1"/>
            </a:fillRef>
            <a:effectRef idx="3">
              <a:schemeClr val="dk1"/>
            </a:effectRef>
            <a:fontRef idx="minor">
              <a:schemeClr val="lt1"/>
            </a:fontRef>
          </p:style>
          <p:txBody>
            <a:bodyPr wrap="none" lIns="0" tIns="0" rIns="0" bIns="0" anchor="ctr" anchorCtr="0">
              <a:normAutofit/>
            </a:bodyPr>
            <a:lstStyle>
              <a:defPPr>
                <a:defRPr lang="en-US"/>
              </a:defPPr>
              <a:lvl1pPr indent="0" algn="ctr" defTabSz="914324">
                <a:lnSpc>
                  <a:spcPct val="100000"/>
                </a:lnSpc>
                <a:spcBef>
                  <a:spcPts val="0"/>
                </a:spcBef>
                <a:buFont typeface="Arial" panose="020B0604020202020204" pitchFamily="34" charset="0"/>
                <a:buNone/>
                <a:defRPr kumimoji="1" sz="2523" baseline="0">
                  <a:solidFill>
                    <a:srgbClr val="FFFFFF"/>
                  </a:solidFill>
                  <a:latin typeface="Lato" panose="020F0502020204030203" pitchFamily="34" charset="0"/>
                  <a:ea typeface="Lato" panose="020F0502020204030203" pitchFamily="34" charset="0"/>
                  <a:cs typeface="Lato" panose="020F0502020204030203" pitchFamily="34" charset="0"/>
                </a:defRPr>
              </a:lvl1pPr>
              <a:lvl2pPr marL="685743" indent="-228581" defTabSz="914324">
                <a:lnSpc>
                  <a:spcPct val="90000"/>
                </a:lnSpc>
                <a:spcBef>
                  <a:spcPts val="500"/>
                </a:spcBef>
                <a:buFont typeface="Arial" panose="020B0604020202020204" pitchFamily="34" charset="0"/>
                <a:buChar char="•"/>
                <a:defRPr kumimoji="1" sz="2400"/>
              </a:lvl2pPr>
              <a:lvl3pPr marL="1142904" indent="-228581" defTabSz="914324">
                <a:lnSpc>
                  <a:spcPct val="90000"/>
                </a:lnSpc>
                <a:spcBef>
                  <a:spcPts val="500"/>
                </a:spcBef>
                <a:buFont typeface="Arial" panose="020B0604020202020204" pitchFamily="34" charset="0"/>
                <a:buChar char="•"/>
                <a:defRPr kumimoji="1" sz="2000"/>
              </a:lvl3pPr>
              <a:lvl4pPr marL="1600067" indent="-228581" defTabSz="914324">
                <a:lnSpc>
                  <a:spcPct val="90000"/>
                </a:lnSpc>
                <a:spcBef>
                  <a:spcPts val="500"/>
                </a:spcBef>
                <a:buFont typeface="Arial" panose="020B0604020202020204" pitchFamily="34" charset="0"/>
                <a:buChar char="•"/>
                <a:defRPr kumimoji="1"/>
              </a:lvl4pPr>
              <a:lvl5pPr marL="2057229" indent="-228581" defTabSz="914324">
                <a:lnSpc>
                  <a:spcPct val="90000"/>
                </a:lnSpc>
                <a:spcBef>
                  <a:spcPts val="500"/>
                </a:spcBef>
                <a:buFont typeface="Arial" panose="020B0604020202020204" pitchFamily="34" charset="0"/>
                <a:buChar char="•"/>
                <a:defRPr kumimoji="1"/>
              </a:lvl5pPr>
              <a:lvl6pPr marL="2514390" indent="-228581" defTabSz="914324">
                <a:lnSpc>
                  <a:spcPct val="90000"/>
                </a:lnSpc>
                <a:spcBef>
                  <a:spcPts val="500"/>
                </a:spcBef>
                <a:buFont typeface="Arial" panose="020B0604020202020204" pitchFamily="34" charset="0"/>
                <a:buChar char="•"/>
                <a:defRPr kumimoji="1"/>
              </a:lvl6pPr>
              <a:lvl7pPr marL="2971553" indent="-228581" defTabSz="914324">
                <a:lnSpc>
                  <a:spcPct val="90000"/>
                </a:lnSpc>
                <a:spcBef>
                  <a:spcPts val="500"/>
                </a:spcBef>
                <a:buFont typeface="Arial" panose="020B0604020202020204" pitchFamily="34" charset="0"/>
                <a:buChar char="•"/>
                <a:defRPr kumimoji="1"/>
              </a:lvl7pPr>
              <a:lvl8pPr marL="3428714" indent="-228581" defTabSz="914324">
                <a:lnSpc>
                  <a:spcPct val="90000"/>
                </a:lnSpc>
                <a:spcBef>
                  <a:spcPts val="500"/>
                </a:spcBef>
                <a:buFont typeface="Arial" panose="020B0604020202020204" pitchFamily="34" charset="0"/>
                <a:buChar char="•"/>
                <a:defRPr kumimoji="1"/>
              </a:lvl8pPr>
              <a:lvl9pPr marL="3885876" indent="-228581" defTabSz="914324">
                <a:lnSpc>
                  <a:spcPct val="90000"/>
                </a:lnSpc>
                <a:spcBef>
                  <a:spcPts val="500"/>
                </a:spcBef>
                <a:buFont typeface="Arial" panose="020B0604020202020204" pitchFamily="34" charset="0"/>
                <a:buChar char="•"/>
                <a:defRPr kumimoji="1"/>
              </a:lvl9pPr>
            </a:lstStyle>
            <a:p>
              <a:r>
                <a:rPr lang="en-US" sz="2471" b="1">
                  <a:latin typeface="+mn-lt"/>
                </a:rPr>
                <a:t>60</a:t>
              </a:r>
              <a:endParaRPr lang="en-US" sz="2226" b="1">
                <a:latin typeface="+mn-lt"/>
              </a:endParaRPr>
            </a:p>
          </p:txBody>
        </p:sp>
        <p:sp>
          <p:nvSpPr>
            <p:cNvPr id="42" name="Text Placeholder 25">
              <a:extLst>
                <a:ext uri="{FF2B5EF4-FFF2-40B4-BE49-F238E27FC236}">
                  <a16:creationId xmlns:a16="http://schemas.microsoft.com/office/drawing/2014/main" id="{2296DC94-2D23-4458-A0A0-AAAC588F044A}"/>
                </a:ext>
              </a:extLst>
            </p:cNvPr>
            <p:cNvSpPr txBox="1">
              <a:spLocks/>
            </p:cNvSpPr>
            <p:nvPr/>
          </p:nvSpPr>
          <p:spPr>
            <a:xfrm>
              <a:off x="7112052" y="6382036"/>
              <a:ext cx="2566969" cy="596980"/>
            </a:xfrm>
            <a:prstGeom prst="rect">
              <a:avLst/>
            </a:prstGeom>
          </p:spPr>
          <p:txBody>
            <a:bodyPr wrap="square">
              <a:sp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sz="1588" b="1">
                  <a:solidFill>
                    <a:schemeClr val="tx1">
                      <a:lumMod val="75000"/>
                      <a:lumOff val="25000"/>
                    </a:schemeClr>
                  </a:solidFill>
                  <a:ea typeface="Lato" panose="020F0502020204030203" pitchFamily="34" charset="0"/>
                  <a:cs typeface="Lato" panose="020F0502020204030203" pitchFamily="34" charset="0"/>
                </a:rPr>
                <a:t>Locations</a:t>
              </a:r>
              <a:br>
                <a:rPr lang="en-US" sz="1412">
                  <a:solidFill>
                    <a:schemeClr val="tx1">
                      <a:lumMod val="75000"/>
                      <a:lumOff val="25000"/>
                    </a:schemeClr>
                  </a:solidFill>
                  <a:ea typeface="Lato" panose="020F0502020204030203" pitchFamily="34" charset="0"/>
                  <a:cs typeface="Lato" panose="020F0502020204030203" pitchFamily="34" charset="0"/>
                </a:rPr>
              </a:br>
              <a:r>
                <a:rPr lang="en-US" sz="1235">
                  <a:solidFill>
                    <a:srgbClr val="808285"/>
                  </a:solidFill>
                  <a:ea typeface="Lato" panose="020F0502020204030203" pitchFamily="34" charset="0"/>
                  <a:cs typeface="Lato" panose="020F0502020204030203" pitchFamily="34" charset="0"/>
                </a:rPr>
                <a:t>As of 6/11/2020</a:t>
              </a:r>
              <a:endParaRPr lang="en-US" sz="1412">
                <a:solidFill>
                  <a:srgbClr val="808285"/>
                </a:solidFill>
                <a:ea typeface="Lato" panose="020F0502020204030203" pitchFamily="34" charset="0"/>
                <a:cs typeface="Lato" panose="020F0502020204030203" pitchFamily="34" charset="0"/>
              </a:endParaRPr>
            </a:p>
          </p:txBody>
        </p:sp>
      </p:grpSp>
      <p:pic>
        <p:nvPicPr>
          <p:cNvPr id="43" name="Picture 42">
            <a:extLst>
              <a:ext uri="{FF2B5EF4-FFF2-40B4-BE49-F238E27FC236}">
                <a16:creationId xmlns:a16="http://schemas.microsoft.com/office/drawing/2014/main" id="{D3C6C704-DA75-447B-A378-64558FBEF21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69110" y="5696414"/>
            <a:ext cx="1993551" cy="257869"/>
          </a:xfrm>
          <a:prstGeom prst="rect">
            <a:avLst/>
          </a:prstGeom>
        </p:spPr>
      </p:pic>
      <p:sp>
        <p:nvSpPr>
          <p:cNvPr id="44" name="TextBox 43">
            <a:extLst>
              <a:ext uri="{FF2B5EF4-FFF2-40B4-BE49-F238E27FC236}">
                <a16:creationId xmlns:a16="http://schemas.microsoft.com/office/drawing/2014/main" id="{86F11F34-1C2A-47B9-A753-5BB57E2166EB}"/>
              </a:ext>
            </a:extLst>
          </p:cNvPr>
          <p:cNvSpPr txBox="1"/>
          <p:nvPr/>
        </p:nvSpPr>
        <p:spPr>
          <a:xfrm>
            <a:off x="3611194" y="5499799"/>
            <a:ext cx="1109382" cy="226857"/>
          </a:xfrm>
          <a:prstGeom prst="rect">
            <a:avLst/>
          </a:prstGeom>
          <a:noFill/>
        </p:spPr>
        <p:txBody>
          <a:bodyPr wrap="square" rtlCol="0">
            <a:spAutoFit/>
          </a:bodyPr>
          <a:lstStyle/>
          <a:p>
            <a:pPr algn="ctr"/>
            <a:r>
              <a:rPr lang="en-US" sz="874">
                <a:latin typeface="Californian FB" panose="0207040306080B030204" pitchFamily="18" charset="0"/>
              </a:rPr>
              <a:t>…powered by…</a:t>
            </a:r>
          </a:p>
        </p:txBody>
      </p:sp>
      <p:sp>
        <p:nvSpPr>
          <p:cNvPr id="28" name="Slide Number Placeholder 3">
            <a:extLst>
              <a:ext uri="{FF2B5EF4-FFF2-40B4-BE49-F238E27FC236}">
                <a16:creationId xmlns:a16="http://schemas.microsoft.com/office/drawing/2014/main" id="{3994D7CF-B8E8-4D16-981D-DBB8B1E8A569}"/>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457200" rtl="0" eaLnBrk="1" latinLnBrk="0" hangingPunct="1">
              <a:defRPr sz="132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A5CD9A-5F03-40D3-9EAC-D787AC292DC2}" type="slidenum">
              <a:rPr lang="en-US" smtClean="0"/>
              <a:pPr/>
              <a:t>4</a:t>
            </a:fld>
            <a:endParaRPr lang="en-US">
              <a:solidFill>
                <a:schemeClr val="bg1"/>
              </a:solidFill>
            </a:endParaRPr>
          </a:p>
        </p:txBody>
      </p:sp>
    </p:spTree>
    <p:extLst>
      <p:ext uri="{BB962C8B-B14F-4D97-AF65-F5344CB8AC3E}">
        <p14:creationId xmlns:p14="http://schemas.microsoft.com/office/powerpoint/2010/main" val="548003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DE3AAE-428D-7A32-B6A4-ADC9C8FA81FE}"/>
              </a:ext>
            </a:extLst>
          </p:cNvPr>
          <p:cNvSpPr>
            <a:spLocks noGrp="1"/>
          </p:cNvSpPr>
          <p:nvPr>
            <p:ph type="body" idx="13"/>
          </p:nvPr>
        </p:nvSpPr>
        <p:spPr/>
        <p:txBody>
          <a:bodyPr>
            <a:normAutofit/>
          </a:bodyPr>
          <a:lstStyle/>
          <a:p>
            <a:pPr marL="342900" indent="-342900">
              <a:buFont typeface="+mj-lt"/>
              <a:buAutoNum type="arabicPeriod"/>
            </a:pPr>
            <a:r>
              <a:rPr lang="en-US"/>
              <a:t>For the first time in 6 years Partners of the Americas is facing a double digit renewal increase – 16.08%</a:t>
            </a:r>
          </a:p>
          <a:p>
            <a:pPr marL="914400" lvl="1" indent="-457200">
              <a:buFont typeface="+mj-lt"/>
              <a:buAutoNum type="alphaLcParenR"/>
            </a:pPr>
            <a:r>
              <a:rPr lang="en-US" sz="1400"/>
              <a:t>Small Group Premiums are based on the ages of the individuals covered</a:t>
            </a:r>
          </a:p>
          <a:p>
            <a:pPr marL="914400" lvl="1" indent="-457200">
              <a:buFont typeface="+mj-lt"/>
              <a:buAutoNum type="alphaLcParenR"/>
            </a:pPr>
            <a:r>
              <a:rPr lang="en-US" sz="1400"/>
              <a:t>Small group Premiums are filed the year prior to the year that they are released – 2020 rates in 2019, 2021 rates in 2020, 2022 rates in 2021, and these 2023 rates in 2022.  This is important because 2022 is when CareFirst understood the impact COVID had on all of their Small Group Premiums.</a:t>
            </a:r>
          </a:p>
          <a:p>
            <a:pPr marL="914400" lvl="1" indent="-457200">
              <a:buFont typeface="+mj-lt"/>
              <a:buAutoNum type="alphaLcParenR"/>
            </a:pPr>
            <a:r>
              <a:rPr lang="en-US" sz="1400"/>
              <a:t>Partners since 2014 when Small Group Premiums based on age were introduced has not changed the reference plan or employer/employee split for Health Insurance</a:t>
            </a:r>
          </a:p>
          <a:p>
            <a:pPr marL="914400" lvl="1" indent="-457200">
              <a:buFont typeface="+mj-lt"/>
              <a:buAutoNum type="alphaLcParenR"/>
            </a:pPr>
            <a:r>
              <a:rPr lang="en-US" sz="1400"/>
              <a:t>Options were reviewed this year for changes to plan design and contribution strategy</a:t>
            </a:r>
          </a:p>
          <a:p>
            <a:pPr marL="342900" indent="-342900">
              <a:buFont typeface="+mj-lt"/>
              <a:buAutoNum type="arabicPeriod"/>
            </a:pPr>
            <a:r>
              <a:rPr lang="en-US"/>
              <a:t>2021 Partners changed the Vision and Dental coverage to The Standard in order to save premium over an increase in premium from MetLife</a:t>
            </a:r>
          </a:p>
          <a:p>
            <a:pPr marL="914400" lvl="1" indent="-457200">
              <a:buFont typeface="+mj-lt"/>
              <a:buAutoNum type="alphaLcParenR"/>
            </a:pPr>
            <a:r>
              <a:rPr lang="en-US" sz="1400"/>
              <a:t>The coverage with The Standard on paper was the same in terms of coinsurance for services</a:t>
            </a:r>
          </a:p>
          <a:p>
            <a:pPr marL="914400" lvl="1" indent="-457200">
              <a:buFont typeface="+mj-lt"/>
              <a:buAutoNum type="alphaLcParenR"/>
            </a:pPr>
            <a:r>
              <a:rPr lang="en-US" sz="1400"/>
              <a:t>Over the course of the last two years Partners Human Resources Team have received feedback that the reimbursements and coverage on the plan is not as robust as MetLife or other carriers have been</a:t>
            </a:r>
          </a:p>
          <a:p>
            <a:pPr marL="914400" lvl="1" indent="-457200">
              <a:buFont typeface="+mj-lt"/>
              <a:buAutoNum type="alphaLcParenR"/>
            </a:pPr>
            <a:r>
              <a:rPr lang="en-US" sz="1400"/>
              <a:t>Research was done this year on alternative carriers and increased maximums in the plan design</a:t>
            </a:r>
          </a:p>
          <a:p>
            <a:pPr marL="342900" indent="-342900">
              <a:buFont typeface="+mj-lt"/>
              <a:buAutoNum type="arabicPeriod"/>
            </a:pPr>
            <a:r>
              <a:rPr lang="en-US"/>
              <a:t>2022 Partners changed policies around Short-Term Disability and Leave Banks</a:t>
            </a:r>
          </a:p>
          <a:p>
            <a:pPr marL="800100" lvl="1" indent="-342900">
              <a:buFont typeface="+mj-lt"/>
              <a:buAutoNum type="alphaLcParenR"/>
            </a:pPr>
            <a:r>
              <a:rPr lang="en-US" sz="1400"/>
              <a:t>2023-24 Planning includes coverage for Short-Term Disability</a:t>
            </a:r>
          </a:p>
          <a:p>
            <a:pPr marL="800100" lvl="1" indent="-342900">
              <a:buFont typeface="+mj-lt"/>
              <a:buAutoNum type="alphaLcParenR"/>
            </a:pPr>
            <a:r>
              <a:rPr lang="en-US" sz="1400"/>
              <a:t>Options are included this year to move away from The Standard with the Dental/Vision coverage</a:t>
            </a:r>
          </a:p>
          <a:p>
            <a:pPr marL="914400" lvl="1" indent="-457200">
              <a:buFont typeface="+mj-lt"/>
              <a:buAutoNum type="alphaLcParenR"/>
            </a:pPr>
            <a:endParaRPr lang="en-US" sz="1400"/>
          </a:p>
          <a:p>
            <a:pPr marL="914400" lvl="1" indent="-457200">
              <a:buFont typeface="+mj-lt"/>
              <a:buAutoNum type="alphaLcParenR"/>
            </a:pPr>
            <a:endParaRPr lang="en-US" sz="1400"/>
          </a:p>
        </p:txBody>
      </p:sp>
      <p:sp>
        <p:nvSpPr>
          <p:cNvPr id="3" name="Text Placeholder 2">
            <a:extLst>
              <a:ext uri="{FF2B5EF4-FFF2-40B4-BE49-F238E27FC236}">
                <a16:creationId xmlns:a16="http://schemas.microsoft.com/office/drawing/2014/main" id="{F43ACB36-4173-D5F3-CD5B-97464304F08E}"/>
              </a:ext>
            </a:extLst>
          </p:cNvPr>
          <p:cNvSpPr>
            <a:spLocks noGrp="1"/>
          </p:cNvSpPr>
          <p:nvPr>
            <p:ph type="body" idx="14"/>
          </p:nvPr>
        </p:nvSpPr>
        <p:spPr/>
        <p:txBody>
          <a:bodyPr/>
          <a:lstStyle/>
          <a:p>
            <a:r>
              <a:rPr lang="en-US"/>
              <a:t>Strategy Discussion and Summary</a:t>
            </a:r>
          </a:p>
        </p:txBody>
      </p:sp>
      <p:sp>
        <p:nvSpPr>
          <p:cNvPr id="4" name="Text Placeholder 3">
            <a:extLst>
              <a:ext uri="{FF2B5EF4-FFF2-40B4-BE49-F238E27FC236}">
                <a16:creationId xmlns:a16="http://schemas.microsoft.com/office/drawing/2014/main" id="{15F072F1-6DEC-FA28-8699-2E2A89089E12}"/>
              </a:ext>
            </a:extLst>
          </p:cNvPr>
          <p:cNvSpPr>
            <a:spLocks noGrp="1"/>
          </p:cNvSpPr>
          <p:nvPr>
            <p:ph type="body" idx="15"/>
          </p:nvPr>
        </p:nvSpPr>
        <p:spPr/>
        <p:txBody>
          <a:bodyPr/>
          <a:lstStyle/>
          <a:p>
            <a:r>
              <a:rPr lang="en-US"/>
              <a:t>2023-2024 Partners of the Americas Benefit Renewal</a:t>
            </a:r>
          </a:p>
        </p:txBody>
      </p:sp>
    </p:spTree>
    <p:extLst>
      <p:ext uri="{BB962C8B-B14F-4D97-AF65-F5344CB8AC3E}">
        <p14:creationId xmlns:p14="http://schemas.microsoft.com/office/powerpoint/2010/main" val="4022382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3ACB36-4173-D5F3-CD5B-97464304F08E}"/>
              </a:ext>
            </a:extLst>
          </p:cNvPr>
          <p:cNvSpPr>
            <a:spLocks noGrp="1"/>
          </p:cNvSpPr>
          <p:nvPr>
            <p:ph type="body" idx="14"/>
          </p:nvPr>
        </p:nvSpPr>
        <p:spPr/>
        <p:txBody>
          <a:bodyPr/>
          <a:lstStyle/>
          <a:p>
            <a:r>
              <a:rPr lang="en-US"/>
              <a:t>6 Year Renewal History (2017-2023)</a:t>
            </a:r>
          </a:p>
        </p:txBody>
      </p:sp>
      <p:sp>
        <p:nvSpPr>
          <p:cNvPr id="4" name="Text Placeholder 3">
            <a:extLst>
              <a:ext uri="{FF2B5EF4-FFF2-40B4-BE49-F238E27FC236}">
                <a16:creationId xmlns:a16="http://schemas.microsoft.com/office/drawing/2014/main" id="{15F072F1-6DEC-FA28-8699-2E2A89089E12}"/>
              </a:ext>
            </a:extLst>
          </p:cNvPr>
          <p:cNvSpPr>
            <a:spLocks noGrp="1"/>
          </p:cNvSpPr>
          <p:nvPr>
            <p:ph type="body" idx="15"/>
          </p:nvPr>
        </p:nvSpPr>
        <p:spPr/>
        <p:txBody>
          <a:bodyPr/>
          <a:lstStyle/>
          <a:p>
            <a:r>
              <a:rPr lang="en-US"/>
              <a:t>2023-2024 Partners of the Americas Benefit Renewal</a:t>
            </a:r>
          </a:p>
        </p:txBody>
      </p:sp>
      <p:graphicFrame>
        <p:nvGraphicFramePr>
          <p:cNvPr id="7" name="Table 6">
            <a:extLst>
              <a:ext uri="{FF2B5EF4-FFF2-40B4-BE49-F238E27FC236}">
                <a16:creationId xmlns:a16="http://schemas.microsoft.com/office/drawing/2014/main" id="{BB181919-F25A-E88D-E405-EF1487C1877E}"/>
              </a:ext>
            </a:extLst>
          </p:cNvPr>
          <p:cNvGraphicFramePr>
            <a:graphicFrameLocks noGrp="1"/>
          </p:cNvGraphicFramePr>
          <p:nvPr>
            <p:extLst>
              <p:ext uri="{D42A27DB-BD31-4B8C-83A1-F6EECF244321}">
                <p14:modId xmlns:p14="http://schemas.microsoft.com/office/powerpoint/2010/main" val="2340102897"/>
              </p:ext>
            </p:extLst>
          </p:nvPr>
        </p:nvGraphicFramePr>
        <p:xfrm>
          <a:off x="894347" y="1723756"/>
          <a:ext cx="10515603" cy="1817951"/>
        </p:xfrm>
        <a:graphic>
          <a:graphicData uri="http://schemas.openxmlformats.org/drawingml/2006/table">
            <a:tbl>
              <a:tblPr/>
              <a:tblGrid>
                <a:gridCol w="481860">
                  <a:extLst>
                    <a:ext uri="{9D8B030D-6E8A-4147-A177-3AD203B41FA5}">
                      <a16:colId xmlns:a16="http://schemas.microsoft.com/office/drawing/2014/main" val="3028713876"/>
                    </a:ext>
                  </a:extLst>
                </a:gridCol>
                <a:gridCol w="481860">
                  <a:extLst>
                    <a:ext uri="{9D8B030D-6E8A-4147-A177-3AD203B41FA5}">
                      <a16:colId xmlns:a16="http://schemas.microsoft.com/office/drawing/2014/main" val="2085923258"/>
                    </a:ext>
                  </a:extLst>
                </a:gridCol>
                <a:gridCol w="481860">
                  <a:extLst>
                    <a:ext uri="{9D8B030D-6E8A-4147-A177-3AD203B41FA5}">
                      <a16:colId xmlns:a16="http://schemas.microsoft.com/office/drawing/2014/main" val="1120198943"/>
                    </a:ext>
                  </a:extLst>
                </a:gridCol>
                <a:gridCol w="888430">
                  <a:extLst>
                    <a:ext uri="{9D8B030D-6E8A-4147-A177-3AD203B41FA5}">
                      <a16:colId xmlns:a16="http://schemas.microsoft.com/office/drawing/2014/main" val="2979066473"/>
                    </a:ext>
                  </a:extLst>
                </a:gridCol>
                <a:gridCol w="602326">
                  <a:extLst>
                    <a:ext uri="{9D8B030D-6E8A-4147-A177-3AD203B41FA5}">
                      <a16:colId xmlns:a16="http://schemas.microsoft.com/office/drawing/2014/main" val="3704441709"/>
                    </a:ext>
                  </a:extLst>
                </a:gridCol>
                <a:gridCol w="464293">
                  <a:extLst>
                    <a:ext uri="{9D8B030D-6E8A-4147-A177-3AD203B41FA5}">
                      <a16:colId xmlns:a16="http://schemas.microsoft.com/office/drawing/2014/main" val="3403594848"/>
                    </a:ext>
                  </a:extLst>
                </a:gridCol>
                <a:gridCol w="514486">
                  <a:extLst>
                    <a:ext uri="{9D8B030D-6E8A-4147-A177-3AD203B41FA5}">
                      <a16:colId xmlns:a16="http://schemas.microsoft.com/office/drawing/2014/main" val="3693792822"/>
                    </a:ext>
                  </a:extLst>
                </a:gridCol>
                <a:gridCol w="577228">
                  <a:extLst>
                    <a:ext uri="{9D8B030D-6E8A-4147-A177-3AD203B41FA5}">
                      <a16:colId xmlns:a16="http://schemas.microsoft.com/office/drawing/2014/main" val="940027376"/>
                    </a:ext>
                  </a:extLst>
                </a:gridCol>
                <a:gridCol w="602326">
                  <a:extLst>
                    <a:ext uri="{9D8B030D-6E8A-4147-A177-3AD203B41FA5}">
                      <a16:colId xmlns:a16="http://schemas.microsoft.com/office/drawing/2014/main" val="211314933"/>
                    </a:ext>
                  </a:extLst>
                </a:gridCol>
                <a:gridCol w="602326">
                  <a:extLst>
                    <a:ext uri="{9D8B030D-6E8A-4147-A177-3AD203B41FA5}">
                      <a16:colId xmlns:a16="http://schemas.microsoft.com/office/drawing/2014/main" val="4070054887"/>
                    </a:ext>
                  </a:extLst>
                </a:gridCol>
                <a:gridCol w="602326">
                  <a:extLst>
                    <a:ext uri="{9D8B030D-6E8A-4147-A177-3AD203B41FA5}">
                      <a16:colId xmlns:a16="http://schemas.microsoft.com/office/drawing/2014/main" val="3755437044"/>
                    </a:ext>
                  </a:extLst>
                </a:gridCol>
                <a:gridCol w="602326">
                  <a:extLst>
                    <a:ext uri="{9D8B030D-6E8A-4147-A177-3AD203B41FA5}">
                      <a16:colId xmlns:a16="http://schemas.microsoft.com/office/drawing/2014/main" val="2768818417"/>
                    </a:ext>
                  </a:extLst>
                </a:gridCol>
                <a:gridCol w="602326">
                  <a:extLst>
                    <a:ext uri="{9D8B030D-6E8A-4147-A177-3AD203B41FA5}">
                      <a16:colId xmlns:a16="http://schemas.microsoft.com/office/drawing/2014/main" val="3618775387"/>
                    </a:ext>
                  </a:extLst>
                </a:gridCol>
                <a:gridCol w="602326">
                  <a:extLst>
                    <a:ext uri="{9D8B030D-6E8A-4147-A177-3AD203B41FA5}">
                      <a16:colId xmlns:a16="http://schemas.microsoft.com/office/drawing/2014/main" val="541457531"/>
                    </a:ext>
                  </a:extLst>
                </a:gridCol>
                <a:gridCol w="602326">
                  <a:extLst>
                    <a:ext uri="{9D8B030D-6E8A-4147-A177-3AD203B41FA5}">
                      <a16:colId xmlns:a16="http://schemas.microsoft.com/office/drawing/2014/main" val="2449977162"/>
                    </a:ext>
                  </a:extLst>
                </a:gridCol>
                <a:gridCol w="602326">
                  <a:extLst>
                    <a:ext uri="{9D8B030D-6E8A-4147-A177-3AD203B41FA5}">
                      <a16:colId xmlns:a16="http://schemas.microsoft.com/office/drawing/2014/main" val="2960541452"/>
                    </a:ext>
                  </a:extLst>
                </a:gridCol>
                <a:gridCol w="602326">
                  <a:extLst>
                    <a:ext uri="{9D8B030D-6E8A-4147-A177-3AD203B41FA5}">
                      <a16:colId xmlns:a16="http://schemas.microsoft.com/office/drawing/2014/main" val="2383352989"/>
                    </a:ext>
                  </a:extLst>
                </a:gridCol>
                <a:gridCol w="602326">
                  <a:extLst>
                    <a:ext uri="{9D8B030D-6E8A-4147-A177-3AD203B41FA5}">
                      <a16:colId xmlns:a16="http://schemas.microsoft.com/office/drawing/2014/main" val="2610188327"/>
                    </a:ext>
                  </a:extLst>
                </a:gridCol>
              </a:tblGrid>
              <a:tr h="178231">
                <a:tc gridSpan="4">
                  <a:txBody>
                    <a:bodyPr/>
                    <a:lstStyle/>
                    <a:p>
                      <a:pPr algn="l" fontAlgn="b"/>
                      <a:r>
                        <a:rPr lang="en-US" sz="1000" b="1" i="1" u="none" strike="noStrike">
                          <a:solidFill>
                            <a:srgbClr val="808080"/>
                          </a:solidFill>
                          <a:effectLst/>
                          <a:latin typeface="Verdana" panose="020B0604030504040204" pitchFamily="34" charset="0"/>
                        </a:rPr>
                        <a:t>Partners of the Americas</a:t>
                      </a:r>
                    </a:p>
                  </a:txBody>
                  <a:tcPr marL="7129" marR="7129" marT="7129"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7129" marR="7129" marT="7129" marB="0" anchor="b">
                    <a:lnL>
                      <a:noFill/>
                    </a:lnL>
                    <a:lnR>
                      <a:noFill/>
                    </a:lnR>
                    <a:lnT>
                      <a:noFill/>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598091647"/>
                  </a:ext>
                </a:extLst>
              </a:tr>
              <a:tr h="178231">
                <a:tc>
                  <a:txBody>
                    <a:bodyPr/>
                    <a:lstStyle/>
                    <a:p>
                      <a:pPr algn="ctr" fontAlgn="ctr"/>
                      <a:r>
                        <a:rPr lang="en-US" sz="800" b="1" i="0" u="none" strike="noStrike">
                          <a:solidFill>
                            <a:srgbClr val="FFFFFF"/>
                          </a:solidFill>
                          <a:effectLst/>
                          <a:latin typeface="Verdana" panose="020B0604030504040204" pitchFamily="34" charset="0"/>
                        </a:rPr>
                        <a:t> </a:t>
                      </a:r>
                    </a:p>
                  </a:txBody>
                  <a:tcPr marL="7129" marR="7129" marT="7129" marB="0" anchor="ctr">
                    <a:lnL>
                      <a:noFill/>
                    </a:lnL>
                    <a:lnR>
                      <a:noFill/>
                    </a:lnR>
                    <a:lnT>
                      <a:noFill/>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en-US" sz="800" b="1" i="0" u="none" strike="noStrike">
                          <a:solidFill>
                            <a:srgbClr val="FFFFFF"/>
                          </a:solidFill>
                          <a:effectLst/>
                          <a:latin typeface="Verdana" panose="020B0604030504040204" pitchFamily="34" charset="0"/>
                        </a:rPr>
                        <a:t> </a:t>
                      </a:r>
                    </a:p>
                  </a:txBody>
                  <a:tcPr marL="7129" marR="7129" marT="7129" marB="0" anchor="ctr">
                    <a:lnL>
                      <a:noFill/>
                    </a:lnL>
                    <a:lnR>
                      <a:noFill/>
                    </a:lnR>
                    <a:lnT>
                      <a:noFill/>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en-US" sz="800" b="1" i="0" u="none" strike="noStrike">
                          <a:solidFill>
                            <a:srgbClr val="FFFFFF"/>
                          </a:solidFill>
                          <a:effectLst/>
                          <a:latin typeface="Verdana" panose="020B0604030504040204" pitchFamily="34" charset="0"/>
                        </a:rPr>
                        <a:t> </a:t>
                      </a:r>
                    </a:p>
                  </a:txBody>
                  <a:tcPr marL="7129" marR="7129" marT="7129" marB="0" anchor="ctr">
                    <a:lnL>
                      <a:noFill/>
                    </a:lnL>
                    <a:lnR>
                      <a:noFill/>
                    </a:lnR>
                    <a:lnT>
                      <a:noFill/>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en-US" sz="800" b="1" i="0" u="none" strike="noStrike">
                          <a:solidFill>
                            <a:srgbClr val="FFFFFF"/>
                          </a:solidFill>
                          <a:effectLst/>
                          <a:latin typeface="Verdana" panose="020B0604030504040204" pitchFamily="34" charset="0"/>
                        </a:rPr>
                        <a:t> </a:t>
                      </a:r>
                    </a:p>
                  </a:txBody>
                  <a:tcPr marL="7129" marR="7129" marT="7129" marB="0" anchor="ctr">
                    <a:lnL>
                      <a:noFill/>
                    </a:lnL>
                    <a:lnR w="1270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F497D"/>
                    </a:solidFill>
                  </a:tcPr>
                </a:tc>
                <a:tc gridSpan="2">
                  <a:txBody>
                    <a:bodyPr/>
                    <a:lstStyle/>
                    <a:p>
                      <a:pPr algn="ctr" fontAlgn="ctr"/>
                      <a:r>
                        <a:rPr lang="en-US" sz="800" b="1" i="0" u="none" strike="noStrike">
                          <a:solidFill>
                            <a:srgbClr val="FFFFFF"/>
                          </a:solidFill>
                          <a:effectLst/>
                          <a:latin typeface="Verdana" panose="020B0604030504040204" pitchFamily="34" charset="0"/>
                        </a:rPr>
                        <a:t>2017</a:t>
                      </a:r>
                    </a:p>
                  </a:txBody>
                  <a:tcPr marL="7129" marR="7129" marT="712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tc gridSpan="2">
                  <a:txBody>
                    <a:bodyPr/>
                    <a:lstStyle/>
                    <a:p>
                      <a:pPr algn="ctr" fontAlgn="ctr"/>
                      <a:r>
                        <a:rPr lang="en-US" sz="800" b="1" i="0" u="none" strike="noStrike">
                          <a:solidFill>
                            <a:srgbClr val="FFFFFF"/>
                          </a:solidFill>
                          <a:effectLst/>
                          <a:latin typeface="Verdana" panose="020B0604030504040204" pitchFamily="34" charset="0"/>
                        </a:rPr>
                        <a:t>2018</a:t>
                      </a:r>
                    </a:p>
                  </a:txBody>
                  <a:tcPr marL="7129" marR="7129" marT="712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tc gridSpan="2">
                  <a:txBody>
                    <a:bodyPr/>
                    <a:lstStyle/>
                    <a:p>
                      <a:pPr algn="ctr" fontAlgn="ctr"/>
                      <a:r>
                        <a:rPr lang="en-US" sz="800" b="1" i="0" u="none" strike="noStrike">
                          <a:solidFill>
                            <a:srgbClr val="FFFFFF"/>
                          </a:solidFill>
                          <a:effectLst/>
                          <a:latin typeface="Verdana" panose="020B0604030504040204" pitchFamily="34" charset="0"/>
                        </a:rPr>
                        <a:t>2019</a:t>
                      </a:r>
                    </a:p>
                  </a:txBody>
                  <a:tcPr marL="7129" marR="7129" marT="712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tc gridSpan="2">
                  <a:txBody>
                    <a:bodyPr/>
                    <a:lstStyle/>
                    <a:p>
                      <a:pPr algn="ctr" fontAlgn="ctr"/>
                      <a:r>
                        <a:rPr lang="en-US" sz="800" b="1" i="0" u="none" strike="noStrike">
                          <a:solidFill>
                            <a:srgbClr val="FFFFFF"/>
                          </a:solidFill>
                          <a:effectLst/>
                          <a:latin typeface="Verdana" panose="020B0604030504040204" pitchFamily="34" charset="0"/>
                        </a:rPr>
                        <a:t>2020</a:t>
                      </a:r>
                    </a:p>
                  </a:txBody>
                  <a:tcPr marL="7129" marR="7129" marT="712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tc gridSpan="2">
                  <a:txBody>
                    <a:bodyPr/>
                    <a:lstStyle/>
                    <a:p>
                      <a:pPr algn="ctr" fontAlgn="ctr"/>
                      <a:r>
                        <a:rPr lang="en-US" sz="800" b="1" i="0" u="none" strike="noStrike">
                          <a:solidFill>
                            <a:srgbClr val="FFFFFF"/>
                          </a:solidFill>
                          <a:effectLst/>
                          <a:latin typeface="Verdana" panose="020B0604030504040204" pitchFamily="34" charset="0"/>
                        </a:rPr>
                        <a:t>2021</a:t>
                      </a:r>
                    </a:p>
                  </a:txBody>
                  <a:tcPr marL="7129" marR="7129" marT="712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tc gridSpan="2">
                  <a:txBody>
                    <a:bodyPr/>
                    <a:lstStyle/>
                    <a:p>
                      <a:pPr algn="ctr" fontAlgn="ctr"/>
                      <a:r>
                        <a:rPr lang="en-US" sz="800" b="1" i="0" u="none" strike="noStrike">
                          <a:solidFill>
                            <a:srgbClr val="FFFFFF"/>
                          </a:solidFill>
                          <a:effectLst/>
                          <a:latin typeface="Verdana" panose="020B0604030504040204" pitchFamily="34" charset="0"/>
                        </a:rPr>
                        <a:t>2022</a:t>
                      </a:r>
                    </a:p>
                  </a:txBody>
                  <a:tcPr marL="7129" marR="7129" marT="712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tc gridSpan="2">
                  <a:txBody>
                    <a:bodyPr/>
                    <a:lstStyle/>
                    <a:p>
                      <a:pPr algn="ctr" fontAlgn="ctr"/>
                      <a:r>
                        <a:rPr lang="en-US" sz="800" b="1" i="0" u="none" strike="noStrike">
                          <a:solidFill>
                            <a:srgbClr val="FFFFFF"/>
                          </a:solidFill>
                          <a:effectLst/>
                          <a:latin typeface="Verdana" panose="020B0604030504040204" pitchFamily="34" charset="0"/>
                        </a:rPr>
                        <a:t>2023</a:t>
                      </a:r>
                    </a:p>
                  </a:txBody>
                  <a:tcPr marL="7129" marR="7129" marT="712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extLst>
                  <a:ext uri="{0D108BD9-81ED-4DB2-BD59-A6C34878D82A}">
                    <a16:rowId xmlns:a16="http://schemas.microsoft.com/office/drawing/2014/main" val="1235456447"/>
                  </a:ext>
                </a:extLst>
              </a:tr>
              <a:tr h="171101">
                <a:tc gridSpan="4">
                  <a:txBody>
                    <a:bodyPr/>
                    <a:lstStyle/>
                    <a:p>
                      <a:pPr algn="l" fontAlgn="ctr"/>
                      <a:r>
                        <a:rPr lang="en-US" sz="800" b="0" i="0" u="none" strike="noStrike">
                          <a:solidFill>
                            <a:srgbClr val="000000"/>
                          </a:solidFill>
                          <a:effectLst/>
                          <a:latin typeface="Verdana" panose="020B0604030504040204" pitchFamily="34" charset="0"/>
                        </a:rPr>
                        <a:t>Partners Estimated Monthly Premium</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$9,822.01</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$10,080.74</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$12,149.07</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$15,991.23</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$28,401.84</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$21,338.82</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$33,947.25</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903715764"/>
                  </a:ext>
                </a:extLst>
              </a:tr>
              <a:tr h="427753">
                <a:tc gridSpan="4">
                  <a:txBody>
                    <a:bodyPr/>
                    <a:lstStyle/>
                    <a:p>
                      <a:pPr algn="l" fontAlgn="ctr"/>
                      <a:r>
                        <a:rPr lang="en-US" sz="800" b="0" i="0" u="none" strike="noStrike">
                          <a:solidFill>
                            <a:srgbClr val="000000"/>
                          </a:solidFill>
                          <a:effectLst/>
                          <a:latin typeface="Verdana" panose="020B0604030504040204" pitchFamily="34" charset="0"/>
                        </a:rPr>
                        <a:t>Renewal Change at 8/1 based on enrollment at that time</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 </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2.63%</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-6.44%</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2.64%</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3.67%</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-1.29%</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16.08%</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extLst>
                  <a:ext uri="{0D108BD9-81ED-4DB2-BD59-A6C34878D82A}">
                    <a16:rowId xmlns:a16="http://schemas.microsoft.com/office/drawing/2014/main" val="1688894847"/>
                  </a:ext>
                </a:extLst>
              </a:tr>
              <a:tr h="171101">
                <a:tc gridSpan="4">
                  <a:txBody>
                    <a:bodyPr/>
                    <a:lstStyle/>
                    <a:p>
                      <a:pPr algn="l" fontAlgn="ctr"/>
                      <a:r>
                        <a:rPr lang="en-US" sz="800" b="0" i="0" u="none" strike="noStrike">
                          <a:solidFill>
                            <a:srgbClr val="000000"/>
                          </a:solidFill>
                          <a:effectLst/>
                          <a:latin typeface="Verdana" panose="020B0604030504040204" pitchFamily="34" charset="0"/>
                        </a:rPr>
                        <a:t>Employees Covered</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15.00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15.00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18.00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22.00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27.00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36.00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30.00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extLst>
                  <a:ext uri="{0D108BD9-81ED-4DB2-BD59-A6C34878D82A}">
                    <a16:rowId xmlns:a16="http://schemas.microsoft.com/office/drawing/2014/main" val="3638922824"/>
                  </a:ext>
                </a:extLst>
              </a:tr>
              <a:tr h="171101">
                <a:tc gridSpan="4">
                  <a:txBody>
                    <a:bodyPr/>
                    <a:lstStyle/>
                    <a:p>
                      <a:pPr algn="l" fontAlgn="ctr"/>
                      <a:r>
                        <a:rPr lang="en-US" sz="800" b="0" i="0" u="none" strike="noStrike">
                          <a:solidFill>
                            <a:srgbClr val="000000"/>
                          </a:solidFill>
                          <a:effectLst/>
                          <a:latin typeface="Verdana" panose="020B0604030504040204" pitchFamily="34" charset="0"/>
                        </a:rPr>
                        <a:t>Percentage Change in Headcount</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 </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0.00%</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20.00%</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22.22%</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22.73%</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33.33%</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800" b="0" i="0" u="none" strike="noStrike">
                          <a:solidFill>
                            <a:srgbClr val="000000"/>
                          </a:solidFill>
                          <a:effectLst/>
                          <a:latin typeface="Verdana" panose="020B0604030504040204" pitchFamily="34" charset="0"/>
                        </a:rPr>
                        <a:t>-16.67%</a:t>
                      </a:r>
                    </a:p>
                  </a:txBody>
                  <a:tcPr marL="7129" marR="7129" marT="712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extLst>
                  <a:ext uri="{0D108BD9-81ED-4DB2-BD59-A6C34878D82A}">
                    <a16:rowId xmlns:a16="http://schemas.microsoft.com/office/drawing/2014/main" val="2997475366"/>
                  </a:ext>
                </a:extLst>
              </a:tr>
              <a:tr h="171101">
                <a:tc gridSpan="4">
                  <a:txBody>
                    <a:bodyPr/>
                    <a:lstStyle/>
                    <a:p>
                      <a:pPr algn="l" fontAlgn="b"/>
                      <a:r>
                        <a:rPr lang="en-US" sz="1000" b="0" i="0" u="none" strike="noStrike">
                          <a:solidFill>
                            <a:srgbClr val="000000"/>
                          </a:solidFill>
                          <a:effectLst/>
                          <a:latin typeface="Calibri" panose="020F0502020204030204" pitchFamily="34" charset="0"/>
                        </a:rPr>
                        <a:t>ER/EE Breakout</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80/20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80/20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80/20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80/20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80/20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80/20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80/20</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extLst>
                  <a:ext uri="{0D108BD9-81ED-4DB2-BD59-A6C34878D82A}">
                    <a16:rowId xmlns:a16="http://schemas.microsoft.com/office/drawing/2014/main" val="3888394974"/>
                  </a:ext>
                </a:extLst>
              </a:tr>
              <a:tr h="349332">
                <a:tc gridSpan="4">
                  <a:txBody>
                    <a:bodyPr/>
                    <a:lstStyle/>
                    <a:p>
                      <a:pPr algn="l" fontAlgn="b"/>
                      <a:r>
                        <a:rPr lang="en-US" sz="1000" b="0" i="0" u="none" strike="noStrike">
                          <a:solidFill>
                            <a:srgbClr val="000000"/>
                          </a:solidFill>
                          <a:effectLst/>
                          <a:latin typeface="Calibri" panose="020F0502020204030204" pitchFamily="34" charset="0"/>
                        </a:rPr>
                        <a:t>Reference Plan</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BlueChoice Plus Platinum</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BlueChoice Plus Platinum</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BlueChoice Plus Platinum</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BlueChoice Plus Platinum</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BlueChoice Plus Platinum</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a:solidFill>
                            <a:srgbClr val="000000"/>
                          </a:solidFill>
                          <a:effectLst/>
                          <a:latin typeface="Calibri" panose="020F0502020204030204" pitchFamily="34" charset="0"/>
                        </a:rPr>
                        <a:t>BlueChoice Plus Platinum</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1000" b="0" i="0" u="none" strike="noStrike" err="1">
                          <a:solidFill>
                            <a:srgbClr val="000000"/>
                          </a:solidFill>
                          <a:effectLst/>
                          <a:latin typeface="Calibri" panose="020F0502020204030204" pitchFamily="34" charset="0"/>
                        </a:rPr>
                        <a:t>BlueChoice</a:t>
                      </a:r>
                      <a:r>
                        <a:rPr lang="en-US" sz="1000" b="0" i="0" u="none" strike="noStrike">
                          <a:solidFill>
                            <a:srgbClr val="000000"/>
                          </a:solidFill>
                          <a:effectLst/>
                          <a:latin typeface="Calibri" panose="020F0502020204030204" pitchFamily="34" charset="0"/>
                        </a:rPr>
                        <a:t> Plus Platinum</a:t>
                      </a:r>
                    </a:p>
                  </a:txBody>
                  <a:tcPr marL="7129" marR="7129" marT="712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extLst>
                  <a:ext uri="{0D108BD9-81ED-4DB2-BD59-A6C34878D82A}">
                    <a16:rowId xmlns:a16="http://schemas.microsoft.com/office/drawing/2014/main" val="1423388967"/>
                  </a:ext>
                </a:extLst>
              </a:tr>
            </a:tbl>
          </a:graphicData>
        </a:graphic>
      </p:graphicFrame>
      <p:graphicFrame>
        <p:nvGraphicFramePr>
          <p:cNvPr id="8" name="Table 7">
            <a:extLst>
              <a:ext uri="{FF2B5EF4-FFF2-40B4-BE49-F238E27FC236}">
                <a16:creationId xmlns:a16="http://schemas.microsoft.com/office/drawing/2014/main" id="{E8E46C97-4252-C426-9A9F-C512BC441DDA}"/>
              </a:ext>
            </a:extLst>
          </p:cNvPr>
          <p:cNvGraphicFramePr>
            <a:graphicFrameLocks noGrp="1"/>
          </p:cNvGraphicFramePr>
          <p:nvPr>
            <p:extLst>
              <p:ext uri="{D42A27DB-BD31-4B8C-83A1-F6EECF244321}">
                <p14:modId xmlns:p14="http://schemas.microsoft.com/office/powerpoint/2010/main" val="1571459576"/>
              </p:ext>
            </p:extLst>
          </p:nvPr>
        </p:nvGraphicFramePr>
        <p:xfrm>
          <a:off x="1390647" y="3883183"/>
          <a:ext cx="9410705" cy="1073827"/>
        </p:xfrm>
        <a:graphic>
          <a:graphicData uri="http://schemas.openxmlformats.org/drawingml/2006/table">
            <a:tbl>
              <a:tblPr/>
              <a:tblGrid>
                <a:gridCol w="9410705">
                  <a:extLst>
                    <a:ext uri="{9D8B030D-6E8A-4147-A177-3AD203B41FA5}">
                      <a16:colId xmlns:a16="http://schemas.microsoft.com/office/drawing/2014/main" val="2601569682"/>
                    </a:ext>
                  </a:extLst>
                </a:gridCol>
              </a:tblGrid>
              <a:tr h="1073827">
                <a:tc>
                  <a:txBody>
                    <a:bodyPr/>
                    <a:lstStyle/>
                    <a:p>
                      <a:pPr algn="l" fontAlgn="t"/>
                      <a:r>
                        <a:rPr lang="en-US" sz="1100" b="0" i="0" u="none" strike="noStrike">
                          <a:solidFill>
                            <a:srgbClr val="000000"/>
                          </a:solidFill>
                          <a:effectLst/>
                          <a:latin typeface="Calibri" panose="020F0502020204030204" pitchFamily="34" charset="0"/>
                        </a:rPr>
                        <a:t>Paul Notes: there is some variance in the Partners Estimated Monthly Premium due to enrollment types, some years had more families or younger/older employees.  Bearing this in mind, I pulled the actual renewal change based on our review from the spreadsheets dating back to 2017.  Overall, Partners has had tremendous employee growth, and this is the first major increase since 2017.  As the next tabs lay out, a severe change in plan may not be needed at this time nor will it do much to relieve the premium increase based on the idea of funding a portion of a deductible for employees.  However, it may be the year to change the employer/employee split and encourage employees to look closely at their choices and how they are spending their portion of Partners premium contribution.  </a:t>
                      </a:r>
                    </a:p>
                  </a:txBody>
                  <a:tcPr marL="7620" marR="7620" marT="7620" marB="0">
                    <a:lnL>
                      <a:noFill/>
                    </a:lnL>
                    <a:lnR>
                      <a:noFill/>
                    </a:lnR>
                    <a:lnT>
                      <a:noFill/>
                    </a:lnT>
                    <a:lnB>
                      <a:noFill/>
                    </a:lnB>
                  </a:tcPr>
                </a:tc>
                <a:extLst>
                  <a:ext uri="{0D108BD9-81ED-4DB2-BD59-A6C34878D82A}">
                    <a16:rowId xmlns:a16="http://schemas.microsoft.com/office/drawing/2014/main" val="2776847655"/>
                  </a:ext>
                </a:extLst>
              </a:tr>
            </a:tbl>
          </a:graphicData>
        </a:graphic>
      </p:graphicFrame>
    </p:spTree>
    <p:extLst>
      <p:ext uri="{BB962C8B-B14F-4D97-AF65-F5344CB8AC3E}">
        <p14:creationId xmlns:p14="http://schemas.microsoft.com/office/powerpoint/2010/main" val="219598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DE3AAE-428D-7A32-B6A4-ADC9C8FA81FE}"/>
              </a:ext>
            </a:extLst>
          </p:cNvPr>
          <p:cNvSpPr>
            <a:spLocks noGrp="1"/>
          </p:cNvSpPr>
          <p:nvPr>
            <p:ph type="body" idx="13"/>
          </p:nvPr>
        </p:nvSpPr>
        <p:spPr>
          <a:xfrm>
            <a:off x="838200" y="1723756"/>
            <a:ext cx="10957396" cy="4679013"/>
          </a:xfrm>
        </p:spPr>
        <p:txBody>
          <a:bodyPr>
            <a:normAutofit/>
          </a:bodyPr>
          <a:lstStyle/>
          <a:p>
            <a:pPr marL="342900" indent="-342900">
              <a:buFont typeface="+mj-lt"/>
              <a:buAutoNum type="arabicPeriod"/>
            </a:pPr>
            <a:r>
              <a:rPr lang="en-US"/>
              <a:t>Four main ideas from all those discussed were profiled</a:t>
            </a:r>
          </a:p>
          <a:p>
            <a:pPr marL="914400" lvl="1" indent="-457200">
              <a:buFont typeface="+mj-lt"/>
              <a:buAutoNum type="alphaLcParenR"/>
            </a:pPr>
            <a:r>
              <a:rPr lang="en-US" sz="1400"/>
              <a:t>Renew as is at 16.08% or Change the Employer Contribution to 75% from 80% to reduce renewal to 10.23%</a:t>
            </a:r>
          </a:p>
          <a:p>
            <a:pPr marL="914400" lvl="1" indent="-457200">
              <a:buFont typeface="+mj-lt"/>
              <a:buAutoNum type="alphaLcParenR"/>
            </a:pPr>
            <a:r>
              <a:rPr lang="en-US" sz="1400"/>
              <a:t>Move to a Single Plan Option with a High Deductible Health Plan and supply all employees with an HRA to cover the $1500 or $1600 deductible – any savings realized in premium costs is eliminated by funding the HRA (a Gold and Silver Option were reviewed)</a:t>
            </a:r>
          </a:p>
          <a:p>
            <a:pPr marL="914400" lvl="1" indent="-457200">
              <a:buFont typeface="+mj-lt"/>
              <a:buAutoNum type="alphaLcParenR"/>
            </a:pPr>
            <a:r>
              <a:rPr lang="en-US" sz="1400"/>
              <a:t>A less dramatic plan change was considered to reduce the premium as well, but cost reduction was marginal compared to a contribution change</a:t>
            </a:r>
          </a:p>
          <a:p>
            <a:pPr marL="342900" indent="-342900">
              <a:buFont typeface="+mj-lt"/>
              <a:buAutoNum type="arabicPeriod"/>
            </a:pPr>
            <a:r>
              <a:rPr lang="en-US"/>
              <a:t>Partners being a DC Employer is required to the DC Health Link – this system has been confusing for many employees as they must choose from every available Platinum Option (approximately 32 plans), but it has also led to savings for many employees as well when they spend Partners premium contribution wisely.  We would like to limit employees’ direct interaction with the Health Link this year and limit choices to increase efficiency</a:t>
            </a:r>
          </a:p>
          <a:p>
            <a:pPr marL="914400" lvl="1" indent="-457200">
              <a:buFont typeface="+mj-lt"/>
              <a:buAutoNum type="alphaLcParenR"/>
            </a:pPr>
            <a:r>
              <a:rPr lang="en-US" sz="1400"/>
              <a:t>We can offer a Benefit Management System called Employee Navigator free of charge to streamline Partners enrollment processes</a:t>
            </a:r>
          </a:p>
          <a:p>
            <a:pPr marL="914400" lvl="1" indent="-457200">
              <a:buFont typeface="+mj-lt"/>
              <a:buAutoNum type="alphaLcParenR"/>
            </a:pPr>
            <a:r>
              <a:rPr lang="en-US" sz="1400"/>
              <a:t>We’d like to narrow the 13 different plans that Partners’ employees choose today down to 4 based on plan design and duplication to simplify the process and reduce possible compliance issues</a:t>
            </a:r>
          </a:p>
          <a:p>
            <a:pPr marL="914400" lvl="1" indent="-457200">
              <a:buFont typeface="+mj-lt"/>
              <a:buAutoNum type="alphaLcParenR"/>
            </a:pPr>
            <a:r>
              <a:rPr lang="en-US" sz="1400"/>
              <a:t>AssuredPartners would manage the DCHL on Partners behalf and feed data to ancillary lines carriers</a:t>
            </a:r>
          </a:p>
          <a:p>
            <a:pPr marL="342900" indent="-342900">
              <a:buFont typeface="+mj-lt"/>
              <a:buAutoNum type="arabicPeriod"/>
            </a:pPr>
            <a:r>
              <a:rPr lang="en-US"/>
              <a:t>Recommendation</a:t>
            </a:r>
          </a:p>
          <a:p>
            <a:pPr marL="800100" lvl="1" indent="-342900">
              <a:buFont typeface="+mj-lt"/>
              <a:buAutoNum type="alphaLcParenR"/>
            </a:pPr>
            <a:r>
              <a:rPr lang="en-US" sz="1400"/>
              <a:t>If it can be sustained in Partners budget – no change in plan should be made except to possibly change the contribution and add Navigator with narrowed choices</a:t>
            </a:r>
          </a:p>
          <a:p>
            <a:pPr marL="800100" lvl="1" indent="-342900">
              <a:buFont typeface="+mj-lt"/>
              <a:buAutoNum type="alphaLcParenR"/>
            </a:pPr>
            <a:r>
              <a:rPr lang="en-US" sz="1400"/>
              <a:t>This would keep Partners near the top of employee contributions (even among non-profits) and continue to make Partners an employer of choice through maintenance of a Platinum Plan option and a reference plan with no deductible</a:t>
            </a:r>
          </a:p>
          <a:p>
            <a:pPr marL="914400" lvl="1" indent="-457200">
              <a:buFont typeface="+mj-lt"/>
              <a:buAutoNum type="alphaLcParenR"/>
            </a:pPr>
            <a:endParaRPr lang="en-US" sz="1400"/>
          </a:p>
          <a:p>
            <a:pPr marL="914400" lvl="1" indent="-457200">
              <a:buFont typeface="+mj-lt"/>
              <a:buAutoNum type="alphaLcParenR"/>
            </a:pPr>
            <a:endParaRPr lang="en-US" sz="1400"/>
          </a:p>
        </p:txBody>
      </p:sp>
      <p:sp>
        <p:nvSpPr>
          <p:cNvPr id="3" name="Text Placeholder 2">
            <a:extLst>
              <a:ext uri="{FF2B5EF4-FFF2-40B4-BE49-F238E27FC236}">
                <a16:creationId xmlns:a16="http://schemas.microsoft.com/office/drawing/2014/main" id="{F43ACB36-4173-D5F3-CD5B-97464304F08E}"/>
              </a:ext>
            </a:extLst>
          </p:cNvPr>
          <p:cNvSpPr>
            <a:spLocks noGrp="1"/>
          </p:cNvSpPr>
          <p:nvPr>
            <p:ph type="body" idx="14"/>
          </p:nvPr>
        </p:nvSpPr>
        <p:spPr/>
        <p:txBody>
          <a:bodyPr/>
          <a:lstStyle/>
          <a:p>
            <a:r>
              <a:rPr lang="en-US"/>
              <a:t>Options, Discussion and Recommendations</a:t>
            </a:r>
          </a:p>
        </p:txBody>
      </p:sp>
      <p:sp>
        <p:nvSpPr>
          <p:cNvPr id="4" name="Text Placeholder 3">
            <a:extLst>
              <a:ext uri="{FF2B5EF4-FFF2-40B4-BE49-F238E27FC236}">
                <a16:creationId xmlns:a16="http://schemas.microsoft.com/office/drawing/2014/main" id="{15F072F1-6DEC-FA28-8699-2E2A89089E12}"/>
              </a:ext>
            </a:extLst>
          </p:cNvPr>
          <p:cNvSpPr>
            <a:spLocks noGrp="1"/>
          </p:cNvSpPr>
          <p:nvPr>
            <p:ph type="body" idx="15"/>
          </p:nvPr>
        </p:nvSpPr>
        <p:spPr>
          <a:xfrm>
            <a:off x="665747" y="455231"/>
            <a:ext cx="7857151" cy="523219"/>
          </a:xfrm>
        </p:spPr>
        <p:txBody>
          <a:bodyPr/>
          <a:lstStyle/>
          <a:p>
            <a:r>
              <a:rPr lang="en-US"/>
              <a:t>2023-2024 Partners of the Americas Medical Renewal</a:t>
            </a:r>
          </a:p>
        </p:txBody>
      </p:sp>
    </p:spTree>
    <p:extLst>
      <p:ext uri="{BB962C8B-B14F-4D97-AF65-F5344CB8AC3E}">
        <p14:creationId xmlns:p14="http://schemas.microsoft.com/office/powerpoint/2010/main" val="2039517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3ACB36-4173-D5F3-CD5B-97464304F08E}"/>
              </a:ext>
            </a:extLst>
          </p:cNvPr>
          <p:cNvSpPr>
            <a:spLocks noGrp="1"/>
          </p:cNvSpPr>
          <p:nvPr>
            <p:ph type="body" idx="14"/>
          </p:nvPr>
        </p:nvSpPr>
        <p:spPr/>
        <p:txBody>
          <a:bodyPr/>
          <a:lstStyle/>
          <a:p>
            <a:r>
              <a:rPr lang="en-US"/>
              <a:t>Options, Discussion and Recommendations</a:t>
            </a:r>
          </a:p>
        </p:txBody>
      </p:sp>
      <p:sp>
        <p:nvSpPr>
          <p:cNvPr id="4" name="Text Placeholder 3">
            <a:extLst>
              <a:ext uri="{FF2B5EF4-FFF2-40B4-BE49-F238E27FC236}">
                <a16:creationId xmlns:a16="http://schemas.microsoft.com/office/drawing/2014/main" id="{15F072F1-6DEC-FA28-8699-2E2A89089E12}"/>
              </a:ext>
            </a:extLst>
          </p:cNvPr>
          <p:cNvSpPr>
            <a:spLocks noGrp="1"/>
          </p:cNvSpPr>
          <p:nvPr>
            <p:ph type="body" idx="15"/>
          </p:nvPr>
        </p:nvSpPr>
        <p:spPr>
          <a:xfrm>
            <a:off x="665747" y="455231"/>
            <a:ext cx="7857151" cy="523219"/>
          </a:xfrm>
        </p:spPr>
        <p:txBody>
          <a:bodyPr/>
          <a:lstStyle/>
          <a:p>
            <a:r>
              <a:rPr lang="en-US"/>
              <a:t>2023-2024 Partners of the Americas Medical Renewal</a:t>
            </a:r>
          </a:p>
        </p:txBody>
      </p:sp>
      <p:graphicFrame>
        <p:nvGraphicFramePr>
          <p:cNvPr id="9" name="Table 8">
            <a:extLst>
              <a:ext uri="{FF2B5EF4-FFF2-40B4-BE49-F238E27FC236}">
                <a16:creationId xmlns:a16="http://schemas.microsoft.com/office/drawing/2014/main" id="{F9714B47-59DB-8551-6FBD-8DAC08F8316F}"/>
              </a:ext>
            </a:extLst>
          </p:cNvPr>
          <p:cNvGraphicFramePr>
            <a:graphicFrameLocks noGrp="1"/>
          </p:cNvGraphicFramePr>
          <p:nvPr>
            <p:extLst>
              <p:ext uri="{D42A27DB-BD31-4B8C-83A1-F6EECF244321}">
                <p14:modId xmlns:p14="http://schemas.microsoft.com/office/powerpoint/2010/main" val="3090921101"/>
              </p:ext>
            </p:extLst>
          </p:nvPr>
        </p:nvGraphicFramePr>
        <p:xfrm>
          <a:off x="1652337" y="1681322"/>
          <a:ext cx="8734924" cy="4936049"/>
        </p:xfrm>
        <a:graphic>
          <a:graphicData uri="http://schemas.openxmlformats.org/drawingml/2006/table">
            <a:tbl>
              <a:tblPr/>
              <a:tblGrid>
                <a:gridCol w="738814">
                  <a:extLst>
                    <a:ext uri="{9D8B030D-6E8A-4147-A177-3AD203B41FA5}">
                      <a16:colId xmlns:a16="http://schemas.microsoft.com/office/drawing/2014/main" val="3277975874"/>
                    </a:ext>
                  </a:extLst>
                </a:gridCol>
                <a:gridCol w="738814">
                  <a:extLst>
                    <a:ext uri="{9D8B030D-6E8A-4147-A177-3AD203B41FA5}">
                      <a16:colId xmlns:a16="http://schemas.microsoft.com/office/drawing/2014/main" val="2351336470"/>
                    </a:ext>
                  </a:extLst>
                </a:gridCol>
                <a:gridCol w="738814">
                  <a:extLst>
                    <a:ext uri="{9D8B030D-6E8A-4147-A177-3AD203B41FA5}">
                      <a16:colId xmlns:a16="http://schemas.microsoft.com/office/drawing/2014/main" val="2713808909"/>
                    </a:ext>
                  </a:extLst>
                </a:gridCol>
                <a:gridCol w="1362185">
                  <a:extLst>
                    <a:ext uri="{9D8B030D-6E8A-4147-A177-3AD203B41FA5}">
                      <a16:colId xmlns:a16="http://schemas.microsoft.com/office/drawing/2014/main" val="1144196605"/>
                    </a:ext>
                  </a:extLst>
                </a:gridCol>
                <a:gridCol w="923516">
                  <a:extLst>
                    <a:ext uri="{9D8B030D-6E8A-4147-A177-3AD203B41FA5}">
                      <a16:colId xmlns:a16="http://schemas.microsoft.com/office/drawing/2014/main" val="1812626192"/>
                    </a:ext>
                  </a:extLst>
                </a:gridCol>
                <a:gridCol w="711876">
                  <a:extLst>
                    <a:ext uri="{9D8B030D-6E8A-4147-A177-3AD203B41FA5}">
                      <a16:colId xmlns:a16="http://schemas.microsoft.com/office/drawing/2014/main" val="4021476019"/>
                    </a:ext>
                  </a:extLst>
                </a:gridCol>
                <a:gridCol w="788837">
                  <a:extLst>
                    <a:ext uri="{9D8B030D-6E8A-4147-A177-3AD203B41FA5}">
                      <a16:colId xmlns:a16="http://schemas.microsoft.com/office/drawing/2014/main" val="1218972538"/>
                    </a:ext>
                  </a:extLst>
                </a:gridCol>
                <a:gridCol w="885036">
                  <a:extLst>
                    <a:ext uri="{9D8B030D-6E8A-4147-A177-3AD203B41FA5}">
                      <a16:colId xmlns:a16="http://schemas.microsoft.com/office/drawing/2014/main" val="3550484330"/>
                    </a:ext>
                  </a:extLst>
                </a:gridCol>
                <a:gridCol w="923516">
                  <a:extLst>
                    <a:ext uri="{9D8B030D-6E8A-4147-A177-3AD203B41FA5}">
                      <a16:colId xmlns:a16="http://schemas.microsoft.com/office/drawing/2014/main" val="1998771329"/>
                    </a:ext>
                  </a:extLst>
                </a:gridCol>
                <a:gridCol w="923516">
                  <a:extLst>
                    <a:ext uri="{9D8B030D-6E8A-4147-A177-3AD203B41FA5}">
                      <a16:colId xmlns:a16="http://schemas.microsoft.com/office/drawing/2014/main" val="1312998672"/>
                    </a:ext>
                  </a:extLst>
                </a:gridCol>
              </a:tblGrid>
              <a:tr h="108474">
                <a:tc gridSpan="4">
                  <a:txBody>
                    <a:bodyPr/>
                    <a:lstStyle/>
                    <a:p>
                      <a:pPr algn="l" fontAlgn="b"/>
                      <a:r>
                        <a:rPr lang="en-US" sz="600" b="1" i="1" u="none" strike="noStrike">
                          <a:solidFill>
                            <a:srgbClr val="808080"/>
                          </a:solidFill>
                          <a:effectLst/>
                          <a:latin typeface="Verdana" panose="020B0604030504040204" pitchFamily="34" charset="0"/>
                        </a:rPr>
                        <a:t>Partners of the Americas</a:t>
                      </a:r>
                    </a:p>
                  </a:txBody>
                  <a:tcPr marL="3988" marR="3988" marT="3988"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2273143496"/>
                  </a:ext>
                </a:extLst>
              </a:tr>
              <a:tr h="90871">
                <a:tc>
                  <a:txBody>
                    <a:bodyPr/>
                    <a:lstStyle/>
                    <a:p>
                      <a:pPr algn="l"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tc>
                  <a:txBody>
                    <a:bodyPr/>
                    <a:lstStyle/>
                    <a:p>
                      <a:pPr algn="l"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tc>
                  <a:txBody>
                    <a:bodyPr/>
                    <a:lstStyle/>
                    <a:p>
                      <a:pPr algn="l"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tc>
                  <a:txBody>
                    <a:bodyPr/>
                    <a:lstStyle/>
                    <a:p>
                      <a:pPr algn="l"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tc gridSpan="2">
                  <a:txBody>
                    <a:bodyPr/>
                    <a:lstStyle/>
                    <a:p>
                      <a:pPr algn="ctr"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tc hMerge="1">
                  <a:txBody>
                    <a:bodyPr/>
                    <a:lstStyle/>
                    <a:p>
                      <a:endParaRPr lang="en-US"/>
                    </a:p>
                  </a:txBody>
                  <a:tcPr/>
                </a:tc>
                <a:tc>
                  <a:txBody>
                    <a:bodyPr/>
                    <a:lstStyle/>
                    <a:p>
                      <a:pPr algn="ctr"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tc>
                  <a:txBody>
                    <a:bodyPr/>
                    <a:lstStyle/>
                    <a:p>
                      <a:pPr algn="ctr"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tc>
                  <a:txBody>
                    <a:bodyPr/>
                    <a:lstStyle/>
                    <a:p>
                      <a:pPr algn="l"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tc>
                  <a:txBody>
                    <a:bodyPr/>
                    <a:lstStyle/>
                    <a:p>
                      <a:pPr algn="l" fontAlgn="b"/>
                      <a:endParaRPr lang="en-US" sz="500" b="0" i="0" u="none" strike="noStrike">
                        <a:solidFill>
                          <a:srgbClr val="000000"/>
                        </a:solidFill>
                        <a:effectLst/>
                        <a:latin typeface="Verdana" panose="020B060403050404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3567012611"/>
                  </a:ext>
                </a:extLst>
              </a:tr>
              <a:tr h="108474">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20505083"/>
                  </a:ext>
                </a:extLst>
              </a:tr>
              <a:tr h="574009">
                <a:tc>
                  <a:txBody>
                    <a:bodyPr/>
                    <a:lstStyle/>
                    <a:p>
                      <a:pPr algn="l" fontAlgn="ctr"/>
                      <a:r>
                        <a:rPr lang="en-US" sz="500" b="1" i="0" u="none" strike="noStrike">
                          <a:solidFill>
                            <a:srgbClr val="FF0000"/>
                          </a:solidFill>
                          <a:effectLst/>
                          <a:latin typeface="Verdana" panose="020B0604030504040204" pitchFamily="34" charset="0"/>
                        </a:rPr>
                        <a:t>Rates vary based on option selected </a:t>
                      </a:r>
                    </a:p>
                  </a:txBody>
                  <a:tcPr marL="3988" marR="3988" marT="3988"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1776532466"/>
                  </a:ext>
                </a:extLst>
              </a:tr>
              <a:tr h="108474">
                <a:tc gridSpan="9">
                  <a:txBody>
                    <a:bodyPr/>
                    <a:lstStyle/>
                    <a:p>
                      <a:pPr algn="ctr" fontAlgn="ctr"/>
                      <a:r>
                        <a:rPr lang="en-US" sz="500" b="1" i="0" u="none" strike="noStrike">
                          <a:solidFill>
                            <a:srgbClr val="1F497D"/>
                          </a:solidFill>
                          <a:effectLst/>
                          <a:latin typeface="Verdana" panose="020B0604030504040204" pitchFamily="34" charset="0"/>
                        </a:rPr>
                        <a:t>DC Health Link</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9D9D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650500109"/>
                  </a:ext>
                </a:extLst>
              </a:tr>
              <a:tr h="112994">
                <a:tc gridSpan="9">
                  <a:txBody>
                    <a:bodyPr/>
                    <a:lstStyle/>
                    <a:p>
                      <a:pPr algn="ctr" fontAlgn="ctr"/>
                      <a:r>
                        <a:rPr lang="en-US" sz="500" b="1" i="0" u="none" strike="noStrike">
                          <a:solidFill>
                            <a:srgbClr val="FFFFFF"/>
                          </a:solidFill>
                          <a:effectLst/>
                          <a:latin typeface="Verdana" panose="020B0604030504040204" pitchFamily="34" charset="0"/>
                        </a:rPr>
                        <a:t>Total Premium Monthly for DC Health Link*</a:t>
                      </a:r>
                    </a:p>
                  </a:txBody>
                  <a:tcPr marL="3988" marR="3988" marT="3988" marB="0" anchor="ctr">
                    <a:lnL>
                      <a:noFill/>
                    </a:lnL>
                    <a:lnR w="6350" cap="flat" cmpd="sng" algn="ctr">
                      <a:solidFill>
                        <a:srgbClr val="000000"/>
                      </a:solidFill>
                      <a:prstDash val="solid"/>
                      <a:round/>
                      <a:headEnd type="none" w="med" len="med"/>
                      <a:tailEnd type="none" w="med" len="med"/>
                    </a:lnR>
                    <a:lnT>
                      <a:noFill/>
                    </a:lnT>
                    <a:lnB>
                      <a:noFill/>
                    </a:lnB>
                    <a:solidFill>
                      <a:srgbClr val="1F497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514734461"/>
                  </a:ext>
                </a:extLst>
              </a:tr>
              <a:tr h="112994">
                <a:tc>
                  <a:txBody>
                    <a:bodyPr/>
                    <a:lstStyle/>
                    <a:p>
                      <a:pPr algn="ctr" fontAlgn="ctr"/>
                      <a:r>
                        <a:rPr lang="en-US" sz="500" b="1" i="0" u="none" strike="noStrike">
                          <a:solidFill>
                            <a:srgbClr val="FFFFFF"/>
                          </a:solidFill>
                          <a:effectLst/>
                          <a:latin typeface="Verdana" panose="020B0604030504040204" pitchFamily="34" charset="0"/>
                        </a:rPr>
                        <a:t> </a:t>
                      </a:r>
                    </a:p>
                  </a:txBody>
                  <a:tcPr marL="3988" marR="3988" marT="3988" marB="0" anchor="ctr">
                    <a:lnL>
                      <a:noFill/>
                    </a:lnL>
                    <a:lnR>
                      <a:noFill/>
                    </a:lnR>
                    <a:lnT>
                      <a:noFill/>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en-US" sz="500" b="1" i="0" u="none" strike="noStrike">
                          <a:solidFill>
                            <a:srgbClr val="FFFFFF"/>
                          </a:solidFill>
                          <a:effectLst/>
                          <a:latin typeface="Verdana" panose="020B0604030504040204" pitchFamily="34" charset="0"/>
                        </a:rPr>
                        <a:t> </a:t>
                      </a:r>
                    </a:p>
                  </a:txBody>
                  <a:tcPr marL="3988" marR="3988" marT="3988" marB="0" anchor="ctr">
                    <a:lnL>
                      <a:noFill/>
                    </a:lnL>
                    <a:lnR>
                      <a:noFill/>
                    </a:lnR>
                    <a:lnT>
                      <a:noFill/>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en-US" sz="500" b="1" i="0" u="none" strike="noStrike">
                          <a:solidFill>
                            <a:srgbClr val="FFFFFF"/>
                          </a:solidFill>
                          <a:effectLst/>
                          <a:latin typeface="Verdana" panose="020B0604030504040204" pitchFamily="34" charset="0"/>
                        </a:rPr>
                        <a:t> </a:t>
                      </a:r>
                    </a:p>
                  </a:txBody>
                  <a:tcPr marL="3988" marR="3988" marT="3988" marB="0" anchor="ctr">
                    <a:lnL>
                      <a:noFill/>
                    </a:lnL>
                    <a:lnR>
                      <a:noFill/>
                    </a:lnR>
                    <a:lnT>
                      <a:noFill/>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en-US" sz="500" b="1" i="0" u="none" strike="noStrike">
                          <a:solidFill>
                            <a:srgbClr val="FFFFFF"/>
                          </a:solidFill>
                          <a:effectLst/>
                          <a:latin typeface="Verdana" panose="020B0604030504040204" pitchFamily="34" charset="0"/>
                        </a:rPr>
                        <a:t> </a:t>
                      </a:r>
                    </a:p>
                  </a:txBody>
                  <a:tcPr marL="3988" marR="3988" marT="3988" marB="0" anchor="ctr">
                    <a:lnL>
                      <a:noFill/>
                    </a:lnL>
                    <a:lnR w="1270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F497D"/>
                    </a:solidFill>
                  </a:tcPr>
                </a:tc>
                <a:tc gridSpan="2">
                  <a:txBody>
                    <a:bodyPr/>
                    <a:lstStyle/>
                    <a:p>
                      <a:pPr algn="ctr" fontAlgn="ctr"/>
                      <a:r>
                        <a:rPr lang="en-US" sz="500" b="1" i="0" u="none" strike="noStrike">
                          <a:solidFill>
                            <a:srgbClr val="FFFFFF"/>
                          </a:solidFill>
                          <a:effectLst/>
                          <a:latin typeface="Verdana" panose="020B0604030504040204" pitchFamily="34" charset="0"/>
                        </a:rPr>
                        <a:t>Employer Costs</a:t>
                      </a:r>
                    </a:p>
                  </a:txBody>
                  <a:tcPr marL="3988" marR="3988" marT="39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tc gridSpan="2">
                  <a:txBody>
                    <a:bodyPr/>
                    <a:lstStyle/>
                    <a:p>
                      <a:pPr algn="ctr" fontAlgn="ctr"/>
                      <a:r>
                        <a:rPr lang="en-US" sz="500" b="1" i="0" u="none" strike="noStrike">
                          <a:solidFill>
                            <a:srgbClr val="FFFFFF"/>
                          </a:solidFill>
                          <a:effectLst/>
                          <a:latin typeface="Verdana" panose="020B0604030504040204" pitchFamily="34" charset="0"/>
                        </a:rPr>
                        <a:t>Employee Costs</a:t>
                      </a:r>
                    </a:p>
                  </a:txBody>
                  <a:tcPr marL="3988" marR="3988" marT="39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97D"/>
                    </a:solidFill>
                  </a:tcPr>
                </a:tc>
                <a:tc hMerge="1">
                  <a:txBody>
                    <a:bodyPr/>
                    <a:lstStyle/>
                    <a:p>
                      <a:endParaRPr lang="en-US"/>
                    </a:p>
                  </a:txBody>
                  <a:tcPr/>
                </a:tc>
                <a:tc>
                  <a:txBody>
                    <a:bodyPr/>
                    <a:lstStyle/>
                    <a:p>
                      <a:pPr algn="ctr" fontAlgn="ctr"/>
                      <a:r>
                        <a:rPr lang="en-US" sz="500" b="1" i="0" u="none" strike="noStrike">
                          <a:solidFill>
                            <a:srgbClr val="FFFFFF"/>
                          </a:solidFill>
                          <a:effectLst/>
                          <a:latin typeface="Verdana" panose="020B0604030504040204" pitchFamily="34" charset="0"/>
                        </a:rPr>
                        <a:t> </a:t>
                      </a:r>
                    </a:p>
                  </a:txBody>
                  <a:tcPr marL="3988" marR="3988" marT="3988"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F497D"/>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663399575"/>
                  </a:ext>
                </a:extLst>
              </a:tr>
              <a:tr h="108474">
                <a:tc gridSpan="4">
                  <a:txBody>
                    <a:bodyPr/>
                    <a:lstStyle/>
                    <a:p>
                      <a:pPr algn="l" fontAlgn="ctr"/>
                      <a:r>
                        <a:rPr lang="en-US" sz="500" b="0" i="0" u="none" strike="noStrike">
                          <a:solidFill>
                            <a:srgbClr val="000000"/>
                          </a:solidFill>
                          <a:effectLst/>
                          <a:latin typeface="Verdana" panose="020B0604030504040204" pitchFamily="34" charset="0"/>
                        </a:rPr>
                        <a:t>Current June 2023 DC Health Link Premium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$29,245.45</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$5,330.16</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325507179"/>
                  </a:ext>
                </a:extLst>
              </a:tr>
              <a:tr h="329943">
                <a:tc gridSpan="4">
                  <a:txBody>
                    <a:bodyPr/>
                    <a:lstStyle/>
                    <a:p>
                      <a:pPr algn="l" fontAlgn="ctr"/>
                      <a:r>
                        <a:rPr lang="en-US" sz="500" b="0" i="0" u="none" strike="noStrike">
                          <a:solidFill>
                            <a:srgbClr val="000000"/>
                          </a:solidFill>
                          <a:effectLst/>
                          <a:latin typeface="Verdana" panose="020B0604030504040204" pitchFamily="34" charset="0"/>
                        </a:rPr>
                        <a:t>Current Reference Plan POS BCCS Base 80/20 Split (80% of the cost of the base plan covered by employer, remaining 20% employee)</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$33,947.25</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$5,237.76</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Option 1</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l" fontAlgn="b"/>
                      <a:endParaRPr lang="en-US" sz="700" b="1" i="0" u="none" strike="noStrike">
                        <a:solidFill>
                          <a:srgbClr val="00B05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614472593"/>
                  </a:ext>
                </a:extLst>
              </a:tr>
              <a:tr h="108474">
                <a:tc gridSpan="4">
                  <a:txBody>
                    <a:bodyPr/>
                    <a:lstStyle/>
                    <a:p>
                      <a:pPr algn="l" fontAlgn="ctr"/>
                      <a:r>
                        <a:rPr lang="en-US" sz="500" b="0" i="0" u="none" strike="noStrike">
                          <a:solidFill>
                            <a:srgbClr val="000000"/>
                          </a:solidFill>
                          <a:effectLst/>
                          <a:latin typeface="Verdana" panose="020B0604030504040204" pitchFamily="34" charset="0"/>
                        </a:rPr>
                        <a:t>Percentage Change</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16.08%</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-0.32%</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645203710"/>
                  </a:ext>
                </a:extLst>
              </a:tr>
              <a:tr h="108474">
                <a:tc gridSpan="4">
                  <a:txBody>
                    <a:bodyPr/>
                    <a:lstStyle/>
                    <a:p>
                      <a:pPr algn="l" fontAlgn="b"/>
                      <a:r>
                        <a:rPr lang="en-US" sz="600" b="0" i="0" u="none" strike="noStrike">
                          <a:solidFill>
                            <a:srgbClr val="000000"/>
                          </a:solidFill>
                          <a:effectLst/>
                          <a:latin typeface="Calibri" panose="020F0502020204030204" pitchFamily="34" charset="0"/>
                        </a:rPr>
                        <a:t>Difference Total Dollar Monthly</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$4,701.80</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-$92.40</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944322656"/>
                  </a:ext>
                </a:extLst>
              </a:tr>
              <a:tr h="108474">
                <a:tc gridSpan="4">
                  <a:txBody>
                    <a:bodyPr/>
                    <a:lstStyle/>
                    <a:p>
                      <a:pPr algn="l" fontAlgn="b"/>
                      <a:r>
                        <a:rPr lang="en-US" sz="600" b="0" i="0" u="none" strike="noStrike">
                          <a:solidFill>
                            <a:srgbClr val="000000"/>
                          </a:solidFill>
                          <a:effectLst/>
                          <a:latin typeface="Calibri" panose="020F0502020204030204" pitchFamily="34" charset="0"/>
                        </a:rPr>
                        <a:t>Difference Total Dollar Annual</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$56,421.55</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-$1,108.75</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397966753"/>
                  </a:ext>
                </a:extLst>
              </a:tr>
              <a:tr h="329943">
                <a:tc gridSpan="4">
                  <a:txBody>
                    <a:bodyPr/>
                    <a:lstStyle/>
                    <a:p>
                      <a:pPr algn="l" fontAlgn="ctr"/>
                      <a:r>
                        <a:rPr lang="en-US" sz="500" b="0" i="0" u="none" strike="noStrike">
                          <a:solidFill>
                            <a:srgbClr val="000000"/>
                          </a:solidFill>
                          <a:effectLst/>
                          <a:latin typeface="Verdana" panose="020B0604030504040204" pitchFamily="34" charset="0"/>
                        </a:rPr>
                        <a:t>Current Reference Plan POS BCCS Base 75/25 Split (75% of the cost of the base plan covered by employer, remaining 25% employee)</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$32,236.46</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$7,496.84</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Option 2</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a:txBody>
                    <a:bodyPr/>
                    <a:lstStyle/>
                    <a:p>
                      <a:pPr algn="l" fontAlgn="b"/>
                      <a:r>
                        <a:rPr lang="en-US" sz="700" b="1" i="0" u="none" strike="noStrike">
                          <a:solidFill>
                            <a:srgbClr val="00B050"/>
                          </a:solidFill>
                          <a:effectLst/>
                          <a:latin typeface="Calibri" panose="020F0502020204030204" pitchFamily="34" charset="0"/>
                        </a:rPr>
                        <a:t>Recommended</a:t>
                      </a: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07497668"/>
                  </a:ext>
                </a:extLst>
              </a:tr>
              <a:tr h="108474">
                <a:tc gridSpan="4">
                  <a:txBody>
                    <a:bodyPr/>
                    <a:lstStyle/>
                    <a:p>
                      <a:pPr algn="l" fontAlgn="ctr"/>
                      <a:r>
                        <a:rPr lang="en-US" sz="500" b="0" i="0" u="none" strike="noStrike">
                          <a:solidFill>
                            <a:srgbClr val="000000"/>
                          </a:solidFill>
                          <a:effectLst/>
                          <a:latin typeface="Verdana" panose="020B0604030504040204" pitchFamily="34" charset="0"/>
                        </a:rPr>
                        <a:t>Percentage Change</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10.23%</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7.41%</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453585265"/>
                  </a:ext>
                </a:extLst>
              </a:tr>
              <a:tr h="108474">
                <a:tc gridSpan="4">
                  <a:txBody>
                    <a:bodyPr/>
                    <a:lstStyle/>
                    <a:p>
                      <a:pPr algn="l" fontAlgn="b"/>
                      <a:r>
                        <a:rPr lang="en-US" sz="600" b="0" i="0" u="none" strike="noStrike">
                          <a:solidFill>
                            <a:srgbClr val="000000"/>
                          </a:solidFill>
                          <a:effectLst/>
                          <a:latin typeface="Calibri" panose="020F0502020204030204" pitchFamily="34" charset="0"/>
                        </a:rPr>
                        <a:t>Difference Total Dollar Monthly</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$2,991.01</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$2,166.68</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951425792"/>
                  </a:ext>
                </a:extLst>
              </a:tr>
              <a:tr h="108474">
                <a:tc gridSpan="4">
                  <a:txBody>
                    <a:bodyPr/>
                    <a:lstStyle/>
                    <a:p>
                      <a:pPr algn="l" fontAlgn="b"/>
                      <a:r>
                        <a:rPr lang="en-US" sz="600" b="0" i="0" u="none" strike="noStrike">
                          <a:solidFill>
                            <a:srgbClr val="000000"/>
                          </a:solidFill>
                          <a:effectLst/>
                          <a:latin typeface="Calibri" panose="020F0502020204030204" pitchFamily="34" charset="0"/>
                        </a:rPr>
                        <a:t>Difference Total Dollar Annual</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$35,892.15</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$26,000.13</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220994310"/>
                  </a:ext>
                </a:extLst>
              </a:tr>
              <a:tr h="411298">
                <a:tc gridSpan="4">
                  <a:txBody>
                    <a:bodyPr/>
                    <a:lstStyle/>
                    <a:p>
                      <a:pPr algn="l" fontAlgn="ctr"/>
                      <a:r>
                        <a:rPr lang="en-US" sz="500" b="0" i="0" u="none" strike="noStrike">
                          <a:solidFill>
                            <a:srgbClr val="000000"/>
                          </a:solidFill>
                          <a:effectLst/>
                          <a:latin typeface="Verdana" panose="020B0604030504040204" pitchFamily="34" charset="0"/>
                        </a:rPr>
                        <a:t>Change Reference to BlueChoice Advantage Gold HRA 80/20 Split and 100% HRA Funding (80% of the cost of the base plan covered by employer, remaining 20% employee)</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$38,074.68</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$7,737.42</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Option 3</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473107119"/>
                  </a:ext>
                </a:extLst>
              </a:tr>
              <a:tr h="108474">
                <a:tc gridSpan="4">
                  <a:txBody>
                    <a:bodyPr/>
                    <a:lstStyle/>
                    <a:p>
                      <a:pPr algn="l" fontAlgn="ctr"/>
                      <a:r>
                        <a:rPr lang="en-US" sz="500" b="0" i="0" u="none" strike="noStrike">
                          <a:solidFill>
                            <a:srgbClr val="000000"/>
                          </a:solidFill>
                          <a:effectLst/>
                          <a:latin typeface="Verdana" panose="020B0604030504040204" pitchFamily="34" charset="0"/>
                        </a:rPr>
                        <a:t>Percentage Change</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30.19%</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8.23%</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65291314"/>
                  </a:ext>
                </a:extLst>
              </a:tr>
              <a:tr h="108474">
                <a:tc gridSpan="4">
                  <a:txBody>
                    <a:bodyPr/>
                    <a:lstStyle/>
                    <a:p>
                      <a:pPr algn="l" fontAlgn="b"/>
                      <a:r>
                        <a:rPr lang="en-US" sz="600" b="0" i="0" u="none" strike="noStrike">
                          <a:solidFill>
                            <a:srgbClr val="000000"/>
                          </a:solidFill>
                          <a:effectLst/>
                          <a:latin typeface="Calibri" panose="020F0502020204030204" pitchFamily="34" charset="0"/>
                        </a:rPr>
                        <a:t>Difference Total Dollar Monthly</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$8,829.23</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$2,407.26</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69865902"/>
                  </a:ext>
                </a:extLst>
              </a:tr>
              <a:tr h="108474">
                <a:tc gridSpan="4">
                  <a:txBody>
                    <a:bodyPr/>
                    <a:lstStyle/>
                    <a:p>
                      <a:pPr algn="l" fontAlgn="b"/>
                      <a:r>
                        <a:rPr lang="en-US" sz="600" b="0" i="0" u="none" strike="noStrike">
                          <a:solidFill>
                            <a:srgbClr val="000000"/>
                          </a:solidFill>
                          <a:effectLst/>
                          <a:latin typeface="Calibri" panose="020F0502020204030204" pitchFamily="34" charset="0"/>
                        </a:rPr>
                        <a:t>Difference Total Dollar Annual</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$105,950.76</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$28,887.12</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079387886"/>
                  </a:ext>
                </a:extLst>
              </a:tr>
              <a:tr h="411298">
                <a:tc gridSpan="4">
                  <a:txBody>
                    <a:bodyPr/>
                    <a:lstStyle/>
                    <a:p>
                      <a:pPr algn="l" fontAlgn="ctr"/>
                      <a:r>
                        <a:rPr lang="en-US" sz="500" b="0" i="0" u="none" strike="noStrike">
                          <a:solidFill>
                            <a:srgbClr val="000000"/>
                          </a:solidFill>
                          <a:effectLst/>
                          <a:latin typeface="Verdana" panose="020B0604030504040204" pitchFamily="34" charset="0"/>
                        </a:rPr>
                        <a:t>Change Reference to BlueChoice Advantage Silver HRA 80/20 Split and 100% HRA Funding (80% of the cost of the base plan covered by employer, remaining 20% employee)</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$34,915.89</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gridSpan="2">
                  <a:txBody>
                    <a:bodyPr/>
                    <a:lstStyle/>
                    <a:p>
                      <a:pPr algn="ctr" fontAlgn="ctr"/>
                      <a:r>
                        <a:rPr lang="en-US" sz="500" b="0" i="0" u="none" strike="noStrike">
                          <a:solidFill>
                            <a:srgbClr val="000000"/>
                          </a:solidFill>
                          <a:effectLst/>
                          <a:latin typeface="Verdana" panose="020B0604030504040204" pitchFamily="34" charset="0"/>
                        </a:rPr>
                        <a:t>$6,828.97</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Option 4</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601400155"/>
                  </a:ext>
                </a:extLst>
              </a:tr>
              <a:tr h="108474">
                <a:tc gridSpan="4">
                  <a:txBody>
                    <a:bodyPr/>
                    <a:lstStyle/>
                    <a:p>
                      <a:pPr algn="l" fontAlgn="ctr"/>
                      <a:r>
                        <a:rPr lang="en-US" sz="500" b="0" i="0" u="none" strike="noStrike">
                          <a:solidFill>
                            <a:srgbClr val="000000"/>
                          </a:solidFill>
                          <a:effectLst/>
                          <a:latin typeface="Verdana" panose="020B0604030504040204" pitchFamily="34" charset="0"/>
                        </a:rPr>
                        <a:t>Percentage Change</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19.39%</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5.12%</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749515047"/>
                  </a:ext>
                </a:extLst>
              </a:tr>
              <a:tr h="108474">
                <a:tc gridSpan="4">
                  <a:txBody>
                    <a:bodyPr/>
                    <a:lstStyle/>
                    <a:p>
                      <a:pPr algn="l" fontAlgn="b"/>
                      <a:r>
                        <a:rPr lang="en-US" sz="600" b="0" i="0" u="none" strike="noStrike">
                          <a:solidFill>
                            <a:srgbClr val="000000"/>
                          </a:solidFill>
                          <a:effectLst/>
                          <a:latin typeface="Calibri" panose="020F0502020204030204" pitchFamily="34" charset="0"/>
                        </a:rPr>
                        <a:t>Difference Total Dollar Monthly</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$5,670.44</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$1,498.81</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832502886"/>
                  </a:ext>
                </a:extLst>
              </a:tr>
              <a:tr h="108474">
                <a:tc gridSpan="4">
                  <a:txBody>
                    <a:bodyPr/>
                    <a:lstStyle/>
                    <a:p>
                      <a:pPr algn="l" fontAlgn="b"/>
                      <a:r>
                        <a:rPr lang="en-US" sz="600" b="0" i="0" u="none" strike="noStrike">
                          <a:solidFill>
                            <a:srgbClr val="000000"/>
                          </a:solidFill>
                          <a:effectLst/>
                          <a:latin typeface="Calibri" panose="020F0502020204030204" pitchFamily="34" charset="0"/>
                        </a:rPr>
                        <a:t>Difference Total Dollar Annual</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$68,045.26</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gridSpan="2">
                  <a:txBody>
                    <a:bodyPr/>
                    <a:lstStyle/>
                    <a:p>
                      <a:pPr algn="ctr" fontAlgn="b"/>
                      <a:r>
                        <a:rPr lang="en-US" sz="600" b="0" i="0" u="none" strike="noStrike">
                          <a:solidFill>
                            <a:srgbClr val="000000"/>
                          </a:solidFill>
                          <a:effectLst/>
                          <a:latin typeface="Calibri" panose="020F0502020204030204" pitchFamily="34" charset="0"/>
                        </a:rPr>
                        <a:t>$17,985.74</a:t>
                      </a:r>
                    </a:p>
                  </a:txBody>
                  <a:tcPr marL="3988" marR="3988" marT="3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hMerge="1">
                  <a:txBody>
                    <a:bodyPr/>
                    <a:lstStyle/>
                    <a:p>
                      <a:endParaRPr lang="en-US"/>
                    </a:p>
                  </a:txBody>
                  <a:tcPr/>
                </a:tc>
                <a:tc>
                  <a:txBody>
                    <a:bodyPr/>
                    <a:lstStyle/>
                    <a:p>
                      <a:pPr algn="ctr" fontAlgn="ctr"/>
                      <a:r>
                        <a:rPr lang="en-US" sz="500" b="0" i="0" u="none" strike="noStrike">
                          <a:solidFill>
                            <a:srgbClr val="000000"/>
                          </a:solidFill>
                          <a:effectLst/>
                          <a:latin typeface="Verdana" panose="020B0604030504040204" pitchFamily="34" charset="0"/>
                        </a:rPr>
                        <a:t> </a:t>
                      </a:r>
                    </a:p>
                  </a:txBody>
                  <a:tcPr marL="3988" marR="3988" marT="3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582506176"/>
                  </a:ext>
                </a:extLst>
              </a:tr>
              <a:tr h="203389">
                <a:tc gridSpan="4">
                  <a:txBody>
                    <a:bodyPr/>
                    <a:lstStyle/>
                    <a:p>
                      <a:pPr algn="l" fontAlgn="b"/>
                      <a:r>
                        <a:rPr lang="en-US" sz="600" b="0" i="0" u="none" strike="noStrike">
                          <a:solidFill>
                            <a:srgbClr val="000000"/>
                          </a:solidFill>
                          <a:effectLst/>
                          <a:latin typeface="Calibri" panose="020F0502020204030204" pitchFamily="34" charset="0"/>
                        </a:rPr>
                        <a:t>*Assumptions are based on current enrollment rates</a:t>
                      </a:r>
                    </a:p>
                  </a:txBody>
                  <a:tcPr marL="3988" marR="3988" marT="3988"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1501448085"/>
                  </a:ext>
                </a:extLst>
              </a:tr>
              <a:tr h="108474">
                <a:tc>
                  <a:txBody>
                    <a:bodyPr/>
                    <a:lstStyle/>
                    <a:p>
                      <a:pPr algn="l" fontAlgn="b"/>
                      <a:r>
                        <a:rPr lang="en-US" sz="600" b="0" i="1" u="none" strike="noStrike">
                          <a:solidFill>
                            <a:srgbClr val="000000"/>
                          </a:solidFill>
                          <a:effectLst/>
                          <a:latin typeface="Calibri" panose="020F0502020204030204" pitchFamily="34" charset="0"/>
                        </a:rPr>
                        <a:t>Notes:</a:t>
                      </a: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3128673355"/>
                  </a:ext>
                </a:extLst>
              </a:tr>
              <a:tr h="203389">
                <a:tc gridSpan="5">
                  <a:txBody>
                    <a:bodyPr/>
                    <a:lstStyle/>
                    <a:p>
                      <a:pPr algn="l" fontAlgn="b"/>
                      <a:r>
                        <a:rPr lang="en-US" sz="600" b="0" i="1" u="none" strike="noStrike">
                          <a:solidFill>
                            <a:srgbClr val="000000"/>
                          </a:solidFill>
                          <a:effectLst/>
                          <a:latin typeface="Calibri" panose="020F0502020204030204" pitchFamily="34" charset="0"/>
                        </a:rPr>
                        <a:t>PPO - preferred provider organization (usually most expensive)</a:t>
                      </a:r>
                    </a:p>
                  </a:txBody>
                  <a:tcPr marL="3988" marR="3988" marT="3988"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3367085864"/>
                  </a:ext>
                </a:extLst>
              </a:tr>
              <a:tr h="203389">
                <a:tc gridSpan="4">
                  <a:txBody>
                    <a:bodyPr/>
                    <a:lstStyle/>
                    <a:p>
                      <a:pPr algn="l" fontAlgn="b"/>
                      <a:r>
                        <a:rPr lang="en-US" sz="600" b="0" i="1" u="none" strike="noStrike">
                          <a:solidFill>
                            <a:srgbClr val="000000"/>
                          </a:solidFill>
                          <a:effectLst/>
                          <a:latin typeface="Calibri" panose="020F0502020204030204" pitchFamily="34" charset="0"/>
                        </a:rPr>
                        <a:t>POS - point-of-service plan (usually mid range costs)</a:t>
                      </a:r>
                    </a:p>
                  </a:txBody>
                  <a:tcPr marL="3988" marR="3988" marT="3988"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60760350"/>
                  </a:ext>
                </a:extLst>
              </a:tr>
              <a:tr h="108474">
                <a:tc gridSpan="6">
                  <a:txBody>
                    <a:bodyPr/>
                    <a:lstStyle/>
                    <a:p>
                      <a:pPr algn="l" fontAlgn="b"/>
                      <a:r>
                        <a:rPr lang="en-US" sz="600" b="0" i="1" u="none" strike="noStrike">
                          <a:solidFill>
                            <a:srgbClr val="000000"/>
                          </a:solidFill>
                          <a:effectLst/>
                          <a:latin typeface="Calibri" panose="020F0502020204030204" pitchFamily="34" charset="0"/>
                        </a:rPr>
                        <a:t>HMO - health maintenance organization (always cheapest option)</a:t>
                      </a:r>
                    </a:p>
                  </a:txBody>
                  <a:tcPr marL="3988" marR="3988" marT="3988"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tc>
                  <a:txBody>
                    <a:bodyPr/>
                    <a:lstStyle/>
                    <a:p>
                      <a:pPr algn="l" fontAlgn="b"/>
                      <a:endParaRPr lang="en-US" sz="600" b="0" i="0" u="none" strike="noStrike">
                        <a:solidFill>
                          <a:srgbClr val="000000"/>
                        </a:solidFill>
                        <a:effectLst/>
                        <a:latin typeface="Calibri" panose="020F0502020204030204" pitchFamily="34" charset="0"/>
                      </a:endParaRPr>
                    </a:p>
                  </a:txBody>
                  <a:tcPr marL="3988" marR="3988" marT="3988" marB="0" anchor="b">
                    <a:lnL>
                      <a:noFill/>
                    </a:lnL>
                    <a:lnR>
                      <a:noFill/>
                    </a:lnR>
                    <a:lnT>
                      <a:noFill/>
                    </a:lnT>
                    <a:lnB>
                      <a:noFill/>
                    </a:lnB>
                  </a:tcPr>
                </a:tc>
                <a:extLst>
                  <a:ext uri="{0D108BD9-81ED-4DB2-BD59-A6C34878D82A}">
                    <a16:rowId xmlns:a16="http://schemas.microsoft.com/office/drawing/2014/main" val="2207010157"/>
                  </a:ext>
                </a:extLst>
              </a:tr>
            </a:tbl>
          </a:graphicData>
        </a:graphic>
      </p:graphicFrame>
    </p:spTree>
    <p:extLst>
      <p:ext uri="{BB962C8B-B14F-4D97-AF65-F5344CB8AC3E}">
        <p14:creationId xmlns:p14="http://schemas.microsoft.com/office/powerpoint/2010/main" val="1967031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758D9A-6C48-4095-A67E-82E493217CAD}"/>
              </a:ext>
            </a:extLst>
          </p:cNvPr>
          <p:cNvSpPr txBox="1">
            <a:spLocks/>
          </p:cNvSpPr>
          <p:nvPr/>
        </p:nvSpPr>
        <p:spPr>
          <a:xfrm>
            <a:off x="835862" y="468291"/>
            <a:ext cx="6964678" cy="523220"/>
          </a:xfrm>
          <a:prstGeom prst="rect">
            <a:avLst/>
          </a:prstGeom>
          <a:noFill/>
        </p:spPr>
        <p:txBody>
          <a:bodyPr wrap="square" rtlCol="0">
            <a:spAutoFit/>
          </a:bodyPr>
          <a:lstStyle/>
          <a:p>
            <a:r>
              <a:rPr lang="en-US" sz="2800" b="1">
                <a:solidFill>
                  <a:srgbClr val="0A1F62"/>
                </a:solidFill>
                <a:latin typeface="+mj-lt"/>
              </a:rPr>
              <a:t>Employee Navigator</a:t>
            </a:r>
          </a:p>
        </p:txBody>
      </p:sp>
      <p:sp>
        <p:nvSpPr>
          <p:cNvPr id="9" name="TextBox 8">
            <a:extLst>
              <a:ext uri="{FF2B5EF4-FFF2-40B4-BE49-F238E27FC236}">
                <a16:creationId xmlns:a16="http://schemas.microsoft.com/office/drawing/2014/main" id="{1F795F92-28C9-45DD-823B-335BB2972583}"/>
              </a:ext>
            </a:extLst>
          </p:cNvPr>
          <p:cNvSpPr txBox="1"/>
          <p:nvPr/>
        </p:nvSpPr>
        <p:spPr>
          <a:xfrm>
            <a:off x="429756" y="1156464"/>
            <a:ext cx="3647574" cy="3791679"/>
          </a:xfrm>
          <a:prstGeom prst="rect">
            <a:avLst/>
          </a:prstGeom>
          <a:noFill/>
        </p:spPr>
        <p:txBody>
          <a:bodyPr wrap="square">
            <a:spAutoFit/>
          </a:bodyPr>
          <a:lstStyle/>
          <a:p>
            <a:pPr marL="457200" lvl="0" indent="-457200" rtl="0">
              <a:lnSpc>
                <a:spcPct val="115000"/>
              </a:lnSpc>
              <a:spcBef>
                <a:spcPts val="0"/>
              </a:spcBef>
              <a:spcAft>
                <a:spcPts val="0"/>
              </a:spcAft>
              <a:buFont typeface="Arial" panose="020B0604020202020204" pitchFamily="34" charset="0"/>
              <a:buChar char="•"/>
            </a:pPr>
            <a:r>
              <a:rPr lang="en-US" sz="1400">
                <a:latin typeface="Roboto Condensed"/>
                <a:ea typeface="Roboto Condensed"/>
                <a:cs typeface="Roboto Condensed"/>
                <a:sym typeface="Roboto Condensed"/>
              </a:rPr>
              <a:t>Employee Navigator should be better utilized:</a:t>
            </a:r>
          </a:p>
          <a:p>
            <a:pPr marL="914400" lvl="1" indent="-457200">
              <a:lnSpc>
                <a:spcPct val="115000"/>
              </a:lnSpc>
              <a:buFont typeface="Arial" panose="020B0604020202020204" pitchFamily="34" charset="0"/>
              <a:buChar char="•"/>
            </a:pPr>
            <a:r>
              <a:rPr lang="en-US" sz="1400">
                <a:latin typeface="Roboto Condensed"/>
                <a:ea typeface="Roboto Condensed"/>
                <a:cs typeface="Roboto Condensed"/>
                <a:sym typeface="Roboto Condensed"/>
              </a:rPr>
              <a:t>Eliminate DCHL cumbersome navigation</a:t>
            </a:r>
          </a:p>
          <a:p>
            <a:pPr marL="914400" lvl="1" indent="-457200">
              <a:lnSpc>
                <a:spcPct val="115000"/>
              </a:lnSpc>
              <a:buFont typeface="Arial" panose="020B0604020202020204" pitchFamily="34" charset="0"/>
              <a:buChar char="•"/>
            </a:pPr>
            <a:r>
              <a:rPr lang="en-US" sz="1400">
                <a:latin typeface="Roboto Condensed"/>
                <a:ea typeface="Roboto Condensed"/>
                <a:cs typeface="Roboto Condensed"/>
                <a:sym typeface="Roboto Condensed"/>
              </a:rPr>
              <a:t>Narrow choices to eliminate decision paralysis and possible compliance issues</a:t>
            </a:r>
          </a:p>
          <a:p>
            <a:pPr marL="914400" lvl="1" indent="-457200">
              <a:lnSpc>
                <a:spcPct val="115000"/>
              </a:lnSpc>
              <a:buFont typeface="Arial" panose="020B0604020202020204" pitchFamily="34" charset="0"/>
              <a:buChar char="•"/>
            </a:pPr>
            <a:r>
              <a:rPr lang="en-US" sz="1400">
                <a:latin typeface="Roboto Condensed"/>
                <a:ea typeface="Roboto Condensed"/>
                <a:cs typeface="Roboto Condensed"/>
                <a:sym typeface="Roboto Condensed"/>
              </a:rPr>
              <a:t>Off DCHL data can feed to carriers to increase accuracy</a:t>
            </a:r>
          </a:p>
          <a:p>
            <a:pPr marL="914400" lvl="1" indent="-457200">
              <a:lnSpc>
                <a:spcPct val="115000"/>
              </a:lnSpc>
              <a:buFont typeface="Arial" panose="020B0604020202020204" pitchFamily="34" charset="0"/>
              <a:buChar char="•"/>
            </a:pPr>
            <a:r>
              <a:rPr lang="en-US" sz="1400">
                <a:latin typeface="Roboto Condensed"/>
                <a:ea typeface="Roboto Condensed"/>
                <a:cs typeface="Roboto Condensed"/>
                <a:sym typeface="Roboto Condensed"/>
              </a:rPr>
              <a:t>Process can create Benefit “Report Cards” showing the value of benefits and the “hidden paycheck”</a:t>
            </a:r>
          </a:p>
          <a:p>
            <a:pPr marL="457200" indent="-457200">
              <a:lnSpc>
                <a:spcPct val="115000"/>
              </a:lnSpc>
              <a:buFont typeface="Arial" panose="020B0604020202020204" pitchFamily="34" charset="0"/>
              <a:buChar char="•"/>
            </a:pPr>
            <a:r>
              <a:rPr lang="en-US" sz="1400">
                <a:latin typeface="Roboto Condensed"/>
                <a:ea typeface="Roboto Condensed"/>
                <a:cs typeface="Roboto Condensed"/>
                <a:sym typeface="Roboto Condensed"/>
              </a:rPr>
              <a:t>Reporting can be reviewed by our team for deduction errors and standardized after O/E for payroll uploads</a:t>
            </a:r>
          </a:p>
        </p:txBody>
      </p:sp>
      <p:pic>
        <p:nvPicPr>
          <p:cNvPr id="10" name="Picture 9">
            <a:extLst>
              <a:ext uri="{FF2B5EF4-FFF2-40B4-BE49-F238E27FC236}">
                <a16:creationId xmlns:a16="http://schemas.microsoft.com/office/drawing/2014/main" id="{C33D585D-2320-493E-8FC7-308AC542FBE8}"/>
              </a:ext>
            </a:extLst>
          </p:cNvPr>
          <p:cNvPicPr>
            <a:picLocks noChangeAspect="1"/>
          </p:cNvPicPr>
          <p:nvPr/>
        </p:nvPicPr>
        <p:blipFill>
          <a:blip r:embed="rId3"/>
          <a:stretch>
            <a:fillRect/>
          </a:stretch>
        </p:blipFill>
        <p:spPr>
          <a:xfrm>
            <a:off x="6001877" y="1063684"/>
            <a:ext cx="4604410" cy="3553098"/>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A26AFBB4-AEE6-4E53-AD63-2D04518BB42E}"/>
              </a:ext>
            </a:extLst>
          </p:cNvPr>
          <p:cNvPicPr>
            <a:picLocks noChangeAspect="1"/>
          </p:cNvPicPr>
          <p:nvPr/>
        </p:nvPicPr>
        <p:blipFill>
          <a:blip r:embed="rId4"/>
          <a:stretch>
            <a:fillRect/>
          </a:stretch>
        </p:blipFill>
        <p:spPr>
          <a:xfrm>
            <a:off x="4315985" y="4688955"/>
            <a:ext cx="6799160" cy="2025162"/>
          </a:xfrm>
          <a:prstGeom prst="rect">
            <a:avLst/>
          </a:prstGeom>
          <a:ln>
            <a:noFill/>
          </a:ln>
          <a:effectLst>
            <a:outerShdw blurRad="292100" dist="139700" dir="2700000" algn="tl" rotWithShape="0">
              <a:srgbClr val="333333">
                <a:alpha val="65000"/>
              </a:srgbClr>
            </a:outerShdw>
          </a:effectLst>
        </p:spPr>
      </p:pic>
      <p:sp>
        <p:nvSpPr>
          <p:cNvPr id="3" name="Slide Number Placeholder 2">
            <a:extLst>
              <a:ext uri="{FF2B5EF4-FFF2-40B4-BE49-F238E27FC236}">
                <a16:creationId xmlns:a16="http://schemas.microsoft.com/office/drawing/2014/main" id="{9E5AA339-3939-4B76-BF30-523E4DB73A4A}"/>
              </a:ext>
            </a:extLst>
          </p:cNvPr>
          <p:cNvSpPr>
            <a:spLocks noGrp="1"/>
          </p:cNvSpPr>
          <p:nvPr>
            <p:ph type="sldNum" sz="quarter" idx="12"/>
          </p:nvPr>
        </p:nvSpPr>
        <p:spPr/>
        <p:txBody>
          <a:bodyPr/>
          <a:lstStyle/>
          <a:p>
            <a:fld id="{6101A03D-A64C-460E-BF6F-73D197605F99}" type="slidenum">
              <a:rPr lang="en-US" smtClean="0"/>
              <a:t>9</a:t>
            </a:fld>
            <a:endParaRPr lang="en-US"/>
          </a:p>
        </p:txBody>
      </p:sp>
    </p:spTree>
    <p:custDataLst>
      <p:tags r:id="rId1"/>
    </p:custDataLst>
    <p:extLst>
      <p:ext uri="{BB962C8B-B14F-4D97-AF65-F5344CB8AC3E}">
        <p14:creationId xmlns:p14="http://schemas.microsoft.com/office/powerpoint/2010/main" val="35359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DE3AAE-428D-7A32-B6A4-ADC9C8FA81FE}"/>
              </a:ext>
            </a:extLst>
          </p:cNvPr>
          <p:cNvSpPr>
            <a:spLocks noGrp="1"/>
          </p:cNvSpPr>
          <p:nvPr>
            <p:ph type="body" idx="13"/>
          </p:nvPr>
        </p:nvSpPr>
        <p:spPr/>
        <p:txBody>
          <a:bodyPr>
            <a:normAutofit/>
          </a:bodyPr>
          <a:lstStyle/>
          <a:p>
            <a:pPr marL="342900" indent="-342900">
              <a:buFont typeface="+mj-lt"/>
              <a:buAutoNum type="arabicPeriod"/>
            </a:pPr>
            <a:r>
              <a:rPr lang="en-US"/>
              <a:t>Dental and Vision Plans “strength” is based on 3 main factors</a:t>
            </a:r>
          </a:p>
          <a:p>
            <a:pPr marL="914400" lvl="1" indent="-457200">
              <a:buFont typeface="+mj-lt"/>
              <a:buAutoNum type="alphaLcParenR"/>
            </a:pPr>
            <a:r>
              <a:rPr lang="en-US" sz="1400"/>
              <a:t>Network – how widely is it accepted and behind the scenes how much of it owned by the carrier and how much is rented</a:t>
            </a:r>
          </a:p>
          <a:p>
            <a:pPr marL="914400" lvl="1" indent="-457200">
              <a:buFont typeface="+mj-lt"/>
              <a:buAutoNum type="alphaLcParenR"/>
            </a:pPr>
            <a:r>
              <a:rPr lang="en-US" sz="1400"/>
              <a:t>Coinsurance and reimbursement schedules – what percentage of a service is covered and is it covered according to a carrier’s contract or the Usual Customary &amp; Reasonable charges in a given area</a:t>
            </a:r>
          </a:p>
          <a:p>
            <a:pPr marL="914400" lvl="1" indent="-457200">
              <a:buFont typeface="+mj-lt"/>
              <a:buAutoNum type="alphaLcParenR"/>
            </a:pPr>
            <a:r>
              <a:rPr lang="en-US" sz="1400"/>
              <a:t>Plan Maximum – what is the most the plan will pay in total for a plan year</a:t>
            </a:r>
          </a:p>
          <a:p>
            <a:pPr marL="342900" indent="-342900">
              <a:buFont typeface="+mj-lt"/>
              <a:buAutoNum type="arabicPeriod"/>
            </a:pPr>
            <a:r>
              <a:rPr lang="en-US"/>
              <a:t>Three carriers we find with strong networks and wide acceptance are Principal, Guardian and MetLife</a:t>
            </a:r>
          </a:p>
          <a:p>
            <a:pPr marL="342900" indent="-342900">
              <a:buFont typeface="+mj-lt"/>
              <a:buAutoNum type="arabicPeriod"/>
            </a:pPr>
            <a:r>
              <a:rPr lang="en-US" sz="1400"/>
              <a:t>Currently our recommendation is Guardian</a:t>
            </a:r>
          </a:p>
          <a:p>
            <a:pPr marL="800100" lvl="1" indent="-342900">
              <a:buFont typeface="+mj-lt"/>
              <a:buAutoNum type="alphaLcParenR"/>
            </a:pPr>
            <a:r>
              <a:rPr lang="en-US" sz="1400"/>
              <a:t>Prior great experience with clients like Partners</a:t>
            </a:r>
          </a:p>
          <a:p>
            <a:pPr marL="800100" lvl="1" indent="-342900">
              <a:buFont typeface="+mj-lt"/>
              <a:buAutoNum type="alphaLcParenR"/>
            </a:pPr>
            <a:r>
              <a:rPr lang="en-US" sz="1400"/>
              <a:t>Plans with $15000 maximum matching all other benefits are 3.0% below the current rates with The Standard</a:t>
            </a:r>
          </a:p>
          <a:p>
            <a:pPr marL="800100" lvl="1" indent="-342900">
              <a:buFont typeface="+mj-lt"/>
              <a:buAutoNum type="alphaLcParenR"/>
            </a:pPr>
            <a:r>
              <a:rPr lang="en-US" sz="1400"/>
              <a:t>Guardian can use either VSP or Davis Vision Network for vision which are the two most widely accepted networks in the country</a:t>
            </a:r>
          </a:p>
          <a:p>
            <a:pPr marL="342900" indent="-342900">
              <a:buFont typeface="+mj-lt"/>
              <a:buAutoNum type="arabicPeriod"/>
            </a:pPr>
            <a:r>
              <a:rPr lang="en-US"/>
              <a:t>Principal. Met and Unum also </a:t>
            </a:r>
            <a:r>
              <a:rPr lang="en-US" err="1"/>
              <a:t>respnded</a:t>
            </a:r>
            <a:r>
              <a:rPr lang="en-US"/>
              <a:t> with alternatives</a:t>
            </a:r>
          </a:p>
          <a:p>
            <a:pPr marL="342900" indent="-342900">
              <a:buFont typeface="+mj-lt"/>
              <a:buAutoNum type="arabicPeriod"/>
            </a:pPr>
            <a:r>
              <a:rPr lang="en-US"/>
              <a:t>We also recommend moving Life/LTD/STD coverage to the carrier chosen for Dental and Vision for bundling discounts and continuity</a:t>
            </a:r>
          </a:p>
          <a:p>
            <a:pPr marL="914400" lvl="1" indent="-457200">
              <a:buFont typeface="+mj-lt"/>
              <a:buAutoNum type="alphaLcParenR"/>
            </a:pPr>
            <a:endParaRPr lang="en-US" sz="1400"/>
          </a:p>
          <a:p>
            <a:pPr marL="914400" lvl="1" indent="-457200">
              <a:buFont typeface="+mj-lt"/>
              <a:buAutoNum type="alphaLcParenR"/>
            </a:pPr>
            <a:endParaRPr lang="en-US" sz="1400"/>
          </a:p>
        </p:txBody>
      </p:sp>
      <p:sp>
        <p:nvSpPr>
          <p:cNvPr id="3" name="Text Placeholder 2">
            <a:extLst>
              <a:ext uri="{FF2B5EF4-FFF2-40B4-BE49-F238E27FC236}">
                <a16:creationId xmlns:a16="http://schemas.microsoft.com/office/drawing/2014/main" id="{F43ACB36-4173-D5F3-CD5B-97464304F08E}"/>
              </a:ext>
            </a:extLst>
          </p:cNvPr>
          <p:cNvSpPr>
            <a:spLocks noGrp="1"/>
          </p:cNvSpPr>
          <p:nvPr>
            <p:ph type="body" idx="14"/>
          </p:nvPr>
        </p:nvSpPr>
        <p:spPr/>
        <p:txBody>
          <a:bodyPr/>
          <a:lstStyle/>
          <a:p>
            <a:r>
              <a:rPr lang="en-US"/>
              <a:t>Education and Recommendation</a:t>
            </a:r>
          </a:p>
        </p:txBody>
      </p:sp>
      <p:sp>
        <p:nvSpPr>
          <p:cNvPr id="4" name="Text Placeholder 3">
            <a:extLst>
              <a:ext uri="{FF2B5EF4-FFF2-40B4-BE49-F238E27FC236}">
                <a16:creationId xmlns:a16="http://schemas.microsoft.com/office/drawing/2014/main" id="{15F072F1-6DEC-FA28-8699-2E2A89089E12}"/>
              </a:ext>
            </a:extLst>
          </p:cNvPr>
          <p:cNvSpPr>
            <a:spLocks noGrp="1"/>
          </p:cNvSpPr>
          <p:nvPr>
            <p:ph type="body" idx="15"/>
          </p:nvPr>
        </p:nvSpPr>
        <p:spPr>
          <a:xfrm>
            <a:off x="0" y="455231"/>
            <a:ext cx="8522899" cy="523219"/>
          </a:xfrm>
        </p:spPr>
        <p:txBody>
          <a:bodyPr/>
          <a:lstStyle/>
          <a:p>
            <a:r>
              <a:rPr lang="en-US"/>
              <a:t>2023-2024 Partners of the Americas Dental/Vision Renewal</a:t>
            </a:r>
          </a:p>
        </p:txBody>
      </p:sp>
    </p:spTree>
    <p:extLst>
      <p:ext uri="{BB962C8B-B14F-4D97-AF65-F5344CB8AC3E}">
        <p14:creationId xmlns:p14="http://schemas.microsoft.com/office/powerpoint/2010/main" val="1438509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3ACB36-4173-D5F3-CD5B-97464304F08E}"/>
              </a:ext>
            </a:extLst>
          </p:cNvPr>
          <p:cNvSpPr>
            <a:spLocks noGrp="1"/>
          </p:cNvSpPr>
          <p:nvPr>
            <p:ph type="body" idx="14"/>
          </p:nvPr>
        </p:nvSpPr>
        <p:spPr/>
        <p:txBody>
          <a:bodyPr/>
          <a:lstStyle/>
          <a:p>
            <a:r>
              <a:rPr lang="en-US"/>
              <a:t>Education and Recommendation</a:t>
            </a:r>
          </a:p>
        </p:txBody>
      </p:sp>
      <p:sp>
        <p:nvSpPr>
          <p:cNvPr id="4" name="Text Placeholder 3">
            <a:extLst>
              <a:ext uri="{FF2B5EF4-FFF2-40B4-BE49-F238E27FC236}">
                <a16:creationId xmlns:a16="http://schemas.microsoft.com/office/drawing/2014/main" id="{15F072F1-6DEC-FA28-8699-2E2A89089E12}"/>
              </a:ext>
            </a:extLst>
          </p:cNvPr>
          <p:cNvSpPr>
            <a:spLocks noGrp="1"/>
          </p:cNvSpPr>
          <p:nvPr>
            <p:ph type="body" idx="15"/>
          </p:nvPr>
        </p:nvSpPr>
        <p:spPr>
          <a:xfrm>
            <a:off x="0" y="455231"/>
            <a:ext cx="8522899" cy="523219"/>
          </a:xfrm>
        </p:spPr>
        <p:txBody>
          <a:bodyPr/>
          <a:lstStyle/>
          <a:p>
            <a:r>
              <a:rPr lang="en-US"/>
              <a:t>2023-2024 Partners of the Americas Dental/Vision Renewal</a:t>
            </a:r>
          </a:p>
        </p:txBody>
      </p:sp>
      <p:graphicFrame>
        <p:nvGraphicFramePr>
          <p:cNvPr id="7" name="Table 6">
            <a:extLst>
              <a:ext uri="{FF2B5EF4-FFF2-40B4-BE49-F238E27FC236}">
                <a16:creationId xmlns:a16="http://schemas.microsoft.com/office/drawing/2014/main" id="{AFEC5B5C-97EE-061C-5E33-3BDB7A715A47}"/>
              </a:ext>
            </a:extLst>
          </p:cNvPr>
          <p:cNvGraphicFramePr>
            <a:graphicFrameLocks noGrp="1"/>
          </p:cNvGraphicFramePr>
          <p:nvPr>
            <p:extLst>
              <p:ext uri="{D42A27DB-BD31-4B8C-83A1-F6EECF244321}">
                <p14:modId xmlns:p14="http://schemas.microsoft.com/office/powerpoint/2010/main" val="252559360"/>
              </p:ext>
            </p:extLst>
          </p:nvPr>
        </p:nvGraphicFramePr>
        <p:xfrm>
          <a:off x="1090863" y="1822525"/>
          <a:ext cx="9753750" cy="4810885"/>
        </p:xfrm>
        <a:graphic>
          <a:graphicData uri="http://schemas.openxmlformats.org/drawingml/2006/table">
            <a:tbl>
              <a:tblPr/>
              <a:tblGrid>
                <a:gridCol w="1231934">
                  <a:extLst>
                    <a:ext uri="{9D8B030D-6E8A-4147-A177-3AD203B41FA5}">
                      <a16:colId xmlns:a16="http://schemas.microsoft.com/office/drawing/2014/main" val="1075367322"/>
                    </a:ext>
                  </a:extLst>
                </a:gridCol>
                <a:gridCol w="892869">
                  <a:extLst>
                    <a:ext uri="{9D8B030D-6E8A-4147-A177-3AD203B41FA5}">
                      <a16:colId xmlns:a16="http://schemas.microsoft.com/office/drawing/2014/main" val="865356577"/>
                    </a:ext>
                  </a:extLst>
                </a:gridCol>
                <a:gridCol w="802452">
                  <a:extLst>
                    <a:ext uri="{9D8B030D-6E8A-4147-A177-3AD203B41FA5}">
                      <a16:colId xmlns:a16="http://schemas.microsoft.com/office/drawing/2014/main" val="4264601968"/>
                    </a:ext>
                  </a:extLst>
                </a:gridCol>
                <a:gridCol w="768546">
                  <a:extLst>
                    <a:ext uri="{9D8B030D-6E8A-4147-A177-3AD203B41FA5}">
                      <a16:colId xmlns:a16="http://schemas.microsoft.com/office/drawing/2014/main" val="1807550476"/>
                    </a:ext>
                  </a:extLst>
                </a:gridCol>
                <a:gridCol w="757243">
                  <a:extLst>
                    <a:ext uri="{9D8B030D-6E8A-4147-A177-3AD203B41FA5}">
                      <a16:colId xmlns:a16="http://schemas.microsoft.com/office/drawing/2014/main" val="1471484559"/>
                    </a:ext>
                  </a:extLst>
                </a:gridCol>
                <a:gridCol w="757243">
                  <a:extLst>
                    <a:ext uri="{9D8B030D-6E8A-4147-A177-3AD203B41FA5}">
                      <a16:colId xmlns:a16="http://schemas.microsoft.com/office/drawing/2014/main" val="3800089508"/>
                    </a:ext>
                  </a:extLst>
                </a:gridCol>
                <a:gridCol w="768546">
                  <a:extLst>
                    <a:ext uri="{9D8B030D-6E8A-4147-A177-3AD203B41FA5}">
                      <a16:colId xmlns:a16="http://schemas.microsoft.com/office/drawing/2014/main" val="316411513"/>
                    </a:ext>
                  </a:extLst>
                </a:gridCol>
                <a:gridCol w="700733">
                  <a:extLst>
                    <a:ext uri="{9D8B030D-6E8A-4147-A177-3AD203B41FA5}">
                      <a16:colId xmlns:a16="http://schemas.microsoft.com/office/drawing/2014/main" val="3891364643"/>
                    </a:ext>
                  </a:extLst>
                </a:gridCol>
                <a:gridCol w="802452">
                  <a:extLst>
                    <a:ext uri="{9D8B030D-6E8A-4147-A177-3AD203B41FA5}">
                      <a16:colId xmlns:a16="http://schemas.microsoft.com/office/drawing/2014/main" val="2636942621"/>
                    </a:ext>
                  </a:extLst>
                </a:gridCol>
                <a:gridCol w="734640">
                  <a:extLst>
                    <a:ext uri="{9D8B030D-6E8A-4147-A177-3AD203B41FA5}">
                      <a16:colId xmlns:a16="http://schemas.microsoft.com/office/drawing/2014/main" val="181505767"/>
                    </a:ext>
                  </a:extLst>
                </a:gridCol>
                <a:gridCol w="802452">
                  <a:extLst>
                    <a:ext uri="{9D8B030D-6E8A-4147-A177-3AD203B41FA5}">
                      <a16:colId xmlns:a16="http://schemas.microsoft.com/office/drawing/2014/main" val="3026359690"/>
                    </a:ext>
                  </a:extLst>
                </a:gridCol>
                <a:gridCol w="734640">
                  <a:extLst>
                    <a:ext uri="{9D8B030D-6E8A-4147-A177-3AD203B41FA5}">
                      <a16:colId xmlns:a16="http://schemas.microsoft.com/office/drawing/2014/main" val="3682144745"/>
                    </a:ext>
                  </a:extLst>
                </a:gridCol>
              </a:tblGrid>
              <a:tr h="713963">
                <a:tc gridSpan="12">
                  <a:txBody>
                    <a:bodyPr/>
                    <a:lstStyle/>
                    <a:p>
                      <a:pPr algn="ctr" fontAlgn="b"/>
                      <a:r>
                        <a:rPr lang="en-US" sz="1400" b="1" i="0" u="none" strike="noStrike">
                          <a:solidFill>
                            <a:srgbClr val="FFFFFF"/>
                          </a:solidFill>
                          <a:effectLst/>
                          <a:latin typeface="Calibri" panose="020F0502020204030204" pitchFamily="34" charset="0"/>
                        </a:rPr>
                        <a:t>Ancilliary Quote Comparison </a:t>
                      </a:r>
                      <a:br>
                        <a:rPr lang="en-US" sz="1400" b="1" i="0" u="none" strike="noStrike">
                          <a:solidFill>
                            <a:srgbClr val="FFFFFF"/>
                          </a:solidFill>
                          <a:effectLst/>
                          <a:latin typeface="Calibri" panose="020F0502020204030204" pitchFamily="34" charset="0"/>
                        </a:rPr>
                      </a:br>
                      <a:r>
                        <a:rPr lang="en-US" sz="1400" b="1" i="0" u="none" strike="noStrike">
                          <a:solidFill>
                            <a:srgbClr val="FFFFFF"/>
                          </a:solidFill>
                          <a:effectLst/>
                          <a:latin typeface="Calibri" panose="020F0502020204030204" pitchFamily="34" charset="0"/>
                        </a:rPr>
                        <a:t>Prepared for Partners of the Americas   </a:t>
                      </a:r>
                      <a:br>
                        <a:rPr lang="en-US" sz="1400" b="1" i="0" u="none" strike="noStrike">
                          <a:solidFill>
                            <a:srgbClr val="FFFFFF"/>
                          </a:solidFill>
                          <a:effectLst/>
                          <a:latin typeface="Calibri" panose="020F0502020204030204" pitchFamily="34" charset="0"/>
                        </a:rPr>
                      </a:br>
                      <a:r>
                        <a:rPr lang="en-US" sz="1400" b="1" i="0" u="none" strike="noStrike">
                          <a:solidFill>
                            <a:srgbClr val="FFFFFF"/>
                          </a:solidFill>
                          <a:effectLst/>
                          <a:latin typeface="Calibri" panose="020F0502020204030204" pitchFamily="34" charset="0"/>
                        </a:rPr>
                        <a:t>                                                                                                             Effective Date: 08/01/2023</a:t>
                      </a:r>
                    </a:p>
                  </a:txBody>
                  <a:tcPr marL="6603" marR="6603" marT="6603" marB="0" anchor="b">
                    <a:lnL>
                      <a:noFill/>
                    </a:lnL>
                    <a:lnR>
                      <a:noFill/>
                    </a:lnR>
                    <a:lnT>
                      <a:noFill/>
                    </a:lnT>
                    <a:lnB>
                      <a:noFill/>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0248422"/>
                  </a:ext>
                </a:extLst>
              </a:tr>
              <a:tr h="390009">
                <a:tc>
                  <a:txBody>
                    <a:bodyPr/>
                    <a:lstStyle/>
                    <a:p>
                      <a:pPr algn="ctr" fontAlgn="b"/>
                      <a:endParaRPr lang="en-US" sz="1400" b="1" i="0" u="none" strike="noStrike">
                        <a:solidFill>
                          <a:srgbClr val="FFFFFF"/>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ctr" fontAlgn="b"/>
                      <a:endParaRPr lang="en-US" sz="1400" b="1" i="0" u="none" strike="noStrike">
                        <a:solidFill>
                          <a:srgbClr val="FFFFFF"/>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ctr" fontAlgn="b"/>
                      <a:endParaRPr lang="en-US" sz="1400" b="1" i="0" u="none" strike="noStrike">
                        <a:solidFill>
                          <a:srgbClr val="FFFFFF"/>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ctr" fontAlgn="b"/>
                      <a:endParaRPr lang="en-US" sz="1400" b="1" i="0" u="none" strike="noStrike">
                        <a:solidFill>
                          <a:srgbClr val="FFFFFF"/>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ctr" fontAlgn="b"/>
                      <a:endParaRPr lang="en-US" sz="1400" b="1" i="0" u="none" strike="noStrike">
                        <a:solidFill>
                          <a:srgbClr val="FFFFFF"/>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ctr" fontAlgn="b"/>
                      <a:endParaRPr lang="en-US" sz="1400" b="1" i="0" u="none" strike="noStrike">
                        <a:solidFill>
                          <a:srgbClr val="FFFFFF"/>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ctr" fontAlgn="b"/>
                      <a:endParaRPr lang="en-US" sz="1400" b="1" i="0" u="none" strike="noStrike">
                        <a:solidFill>
                          <a:srgbClr val="FFFFFF"/>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6603" marR="6603" marT="6603" marB="0" anchor="b">
                    <a:lnL>
                      <a:noFill/>
                    </a:lnL>
                    <a:lnR>
                      <a:noFill/>
                    </a:lnR>
                    <a:lnT>
                      <a:noFill/>
                    </a:lnT>
                    <a:lnB>
                      <a:noFill/>
                    </a:lnB>
                  </a:tcPr>
                </a:tc>
                <a:tc>
                  <a:txBody>
                    <a:bodyPr/>
                    <a:lstStyle/>
                    <a:p>
                      <a:pPr algn="l" fontAlgn="b"/>
                      <a:endParaRPr lang="en-US" sz="1000" b="0" i="0" u="none" strike="noStrike">
                        <a:solidFill>
                          <a:srgbClr val="000000"/>
                        </a:solidFill>
                        <a:effectLst/>
                        <a:latin typeface="Calibri" panose="020F0502020204030204" pitchFamily="34" charset="0"/>
                      </a:endParaRPr>
                    </a:p>
                  </a:txBody>
                  <a:tcPr marL="6603" marR="6603" marT="6603" marB="0" anchor="b">
                    <a:lnL>
                      <a:noFill/>
                    </a:lnL>
                    <a:lnR>
                      <a:noFill/>
                    </a:lnR>
                    <a:lnT>
                      <a:noFill/>
                    </a:lnT>
                    <a:lnB>
                      <a:noFill/>
                    </a:lnB>
                  </a:tcPr>
                </a:tc>
                <a:extLst>
                  <a:ext uri="{0D108BD9-81ED-4DB2-BD59-A6C34878D82A}">
                    <a16:rowId xmlns:a16="http://schemas.microsoft.com/office/drawing/2014/main" val="2556877048"/>
                  </a:ext>
                </a:extLst>
              </a:tr>
              <a:tr h="262436">
                <a:tc>
                  <a:txBody>
                    <a:bodyPr/>
                    <a:lstStyle/>
                    <a:p>
                      <a:pPr algn="ctr" fontAlgn="ctr"/>
                      <a:endParaRPr lang="en-US" sz="1000" b="0" i="0" u="none" strike="noStrike">
                        <a:solidFill>
                          <a:srgbClr val="000000"/>
                        </a:solidFill>
                        <a:effectLst/>
                        <a:latin typeface="Calibri" panose="020F0502020204030204" pitchFamily="34" charset="0"/>
                      </a:endParaRPr>
                    </a:p>
                  </a:txBody>
                  <a:tcPr marL="6603" marR="6603" marT="6603"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Calibri" panose="020F0502020204030204" pitchFamily="34" charset="0"/>
                        </a:rPr>
                        <a:t>Current</a:t>
                      </a:r>
                    </a:p>
                  </a:txBody>
                  <a:tcPr marL="6603" marR="6603" marT="6603" marB="0" anchor="ctr">
                    <a:lnL>
                      <a:noFill/>
                    </a:lnL>
                    <a:lnR>
                      <a:noFill/>
                    </a:lnR>
                    <a:lnT>
                      <a:noFill/>
                    </a:lnT>
                    <a:lnB w="6350" cap="flat" cmpd="sng" algn="ctr">
                      <a:solidFill>
                        <a:srgbClr val="000000"/>
                      </a:solidFill>
                      <a:prstDash val="solid"/>
                      <a:round/>
                      <a:headEnd type="none" w="med" len="med"/>
                      <a:tailEnd type="none" w="med" len="med"/>
                    </a:lnB>
                  </a:tcPr>
                </a:tc>
                <a:tc gridSpan="2">
                  <a:txBody>
                    <a:bodyPr/>
                    <a:lstStyle/>
                    <a:p>
                      <a:pPr algn="ctr" fontAlgn="ctr"/>
                      <a:r>
                        <a:rPr lang="en-US" sz="1000" b="0" i="1" u="none" strike="noStrike">
                          <a:solidFill>
                            <a:srgbClr val="000000"/>
                          </a:solidFill>
                          <a:effectLst/>
                          <a:latin typeface="Calibri" panose="020F0502020204030204" pitchFamily="34" charset="0"/>
                        </a:rPr>
                        <a:t>Renewal</a:t>
                      </a:r>
                    </a:p>
                  </a:txBody>
                  <a:tcPr marL="6603" marR="6603" marT="6603"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1" u="none" strike="noStrike">
                          <a:solidFill>
                            <a:srgbClr val="000000"/>
                          </a:solidFill>
                          <a:effectLst/>
                          <a:latin typeface="Calibri" panose="020F0502020204030204" pitchFamily="34" charset="0"/>
                        </a:rPr>
                        <a:t>Alternate</a:t>
                      </a:r>
                    </a:p>
                  </a:txBody>
                  <a:tcPr marL="6603" marR="6603" marT="6603"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1" u="none" strike="noStrike">
                          <a:solidFill>
                            <a:srgbClr val="000000"/>
                          </a:solidFill>
                          <a:effectLst/>
                          <a:latin typeface="Calibri" panose="020F0502020204030204" pitchFamily="34" charset="0"/>
                        </a:rPr>
                        <a:t>Alternate</a:t>
                      </a:r>
                    </a:p>
                  </a:txBody>
                  <a:tcPr marL="6603" marR="6603" marT="6603"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1" u="none" strike="noStrike">
                          <a:solidFill>
                            <a:srgbClr val="000000"/>
                          </a:solidFill>
                          <a:effectLst/>
                          <a:latin typeface="Calibri" panose="020F0502020204030204" pitchFamily="34" charset="0"/>
                        </a:rPr>
                        <a:t>Alternate</a:t>
                      </a:r>
                    </a:p>
                  </a:txBody>
                  <a:tcPr marL="6603" marR="6603" marT="6603"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1" u="none" strike="noStrike">
                          <a:solidFill>
                            <a:srgbClr val="000000"/>
                          </a:solidFill>
                          <a:effectLst/>
                          <a:latin typeface="Calibri" panose="020F0502020204030204" pitchFamily="34" charset="0"/>
                        </a:rPr>
                        <a:t>Alternate</a:t>
                      </a:r>
                    </a:p>
                  </a:txBody>
                  <a:tcPr marL="6603" marR="6603" marT="6603"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779875289"/>
                  </a:ext>
                </a:extLst>
              </a:tr>
              <a:tr h="262436">
                <a:tc>
                  <a:txBody>
                    <a:bodyPr/>
                    <a:lstStyle/>
                    <a:p>
                      <a:pPr algn="ctr" fontAlgn="ctr"/>
                      <a:r>
                        <a:rPr lang="en-US" sz="1000" b="1" i="1" u="none" strike="noStrike">
                          <a:solidFill>
                            <a:srgbClr val="000000"/>
                          </a:solidFill>
                          <a:effectLst/>
                          <a:latin typeface="Calibri" panose="020F0502020204030204" pitchFamily="34" charset="0"/>
                        </a:rPr>
                        <a:t> </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sz="1000" b="1" i="1" u="none" strike="noStrike">
                          <a:solidFill>
                            <a:srgbClr val="000000"/>
                          </a:solidFill>
                          <a:effectLst/>
                          <a:latin typeface="Calibri" panose="020F0502020204030204" pitchFamily="34" charset="0"/>
                        </a:rPr>
                        <a:t>The Standard</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gridSpan="2">
                  <a:txBody>
                    <a:bodyPr/>
                    <a:lstStyle/>
                    <a:p>
                      <a:pPr algn="ctr" fontAlgn="ctr"/>
                      <a:r>
                        <a:rPr lang="en-US" sz="1000" b="1" i="1" u="none" strike="noStrike">
                          <a:solidFill>
                            <a:srgbClr val="000000"/>
                          </a:solidFill>
                          <a:effectLst/>
                          <a:latin typeface="Calibri" panose="020F0502020204030204" pitchFamily="34" charset="0"/>
                        </a:rPr>
                        <a:t>The Standard</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hMerge="1">
                  <a:txBody>
                    <a:bodyPr/>
                    <a:lstStyle/>
                    <a:p>
                      <a:endParaRPr lang="en-US"/>
                    </a:p>
                  </a:txBody>
                  <a:tcPr/>
                </a:tc>
                <a:tc gridSpan="2">
                  <a:txBody>
                    <a:bodyPr/>
                    <a:lstStyle/>
                    <a:p>
                      <a:pPr algn="ctr" fontAlgn="ctr"/>
                      <a:r>
                        <a:rPr lang="en-US" sz="1000" b="1" i="1" u="none" strike="noStrike">
                          <a:solidFill>
                            <a:srgbClr val="000000"/>
                          </a:solidFill>
                          <a:effectLst/>
                          <a:latin typeface="Calibri" panose="020F0502020204030204" pitchFamily="34" charset="0"/>
                        </a:rPr>
                        <a:t>Principal </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hMerge="1">
                  <a:txBody>
                    <a:bodyPr/>
                    <a:lstStyle/>
                    <a:p>
                      <a:endParaRPr lang="en-US"/>
                    </a:p>
                  </a:txBody>
                  <a:tcPr/>
                </a:tc>
                <a:tc gridSpan="2">
                  <a:txBody>
                    <a:bodyPr/>
                    <a:lstStyle/>
                    <a:p>
                      <a:pPr algn="ctr" fontAlgn="ctr"/>
                      <a:r>
                        <a:rPr lang="en-US" sz="1000" b="1" i="1" u="none" strike="noStrike">
                          <a:solidFill>
                            <a:srgbClr val="000000"/>
                          </a:solidFill>
                          <a:effectLst/>
                          <a:latin typeface="Calibri" panose="020F0502020204030204" pitchFamily="34" charset="0"/>
                        </a:rPr>
                        <a:t>Guardian </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hMerge="1">
                  <a:txBody>
                    <a:bodyPr/>
                    <a:lstStyle/>
                    <a:p>
                      <a:endParaRPr lang="en-US"/>
                    </a:p>
                  </a:txBody>
                  <a:tcPr/>
                </a:tc>
                <a:tc gridSpan="2">
                  <a:txBody>
                    <a:bodyPr/>
                    <a:lstStyle/>
                    <a:p>
                      <a:pPr algn="ctr" fontAlgn="ctr"/>
                      <a:r>
                        <a:rPr lang="en-US" sz="1000" b="1" i="1" u="none" strike="noStrike">
                          <a:solidFill>
                            <a:srgbClr val="000000"/>
                          </a:solidFill>
                          <a:effectLst/>
                          <a:latin typeface="Calibri" panose="020F0502020204030204" pitchFamily="34" charset="0"/>
                        </a:rPr>
                        <a:t>MetLife </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hMerge="1">
                  <a:txBody>
                    <a:bodyPr/>
                    <a:lstStyle/>
                    <a:p>
                      <a:endParaRPr lang="en-US"/>
                    </a:p>
                  </a:txBody>
                  <a:tcPr/>
                </a:tc>
                <a:tc gridSpan="2">
                  <a:txBody>
                    <a:bodyPr/>
                    <a:lstStyle/>
                    <a:p>
                      <a:pPr algn="ctr" fontAlgn="ctr"/>
                      <a:r>
                        <a:rPr lang="en-US" sz="1000" b="1" i="1" u="none" strike="noStrike">
                          <a:solidFill>
                            <a:srgbClr val="000000"/>
                          </a:solidFill>
                          <a:effectLst/>
                          <a:latin typeface="Calibri" panose="020F0502020204030204" pitchFamily="34" charset="0"/>
                        </a:rPr>
                        <a:t>Unum</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hMerge="1">
                  <a:txBody>
                    <a:bodyPr/>
                    <a:lstStyle/>
                    <a:p>
                      <a:endParaRPr lang="en-US"/>
                    </a:p>
                  </a:txBody>
                  <a:tcPr/>
                </a:tc>
                <a:extLst>
                  <a:ext uri="{0D108BD9-81ED-4DB2-BD59-A6C34878D82A}">
                    <a16:rowId xmlns:a16="http://schemas.microsoft.com/office/drawing/2014/main" val="1848020155"/>
                  </a:ext>
                </a:extLst>
              </a:tr>
              <a:tr h="320755">
                <a:tc>
                  <a:txBody>
                    <a:bodyPr/>
                    <a:lstStyle/>
                    <a:p>
                      <a:pPr algn="ctr" fontAlgn="ctr"/>
                      <a:r>
                        <a:rPr lang="en-US" sz="1000" b="1" i="0" u="none" strike="noStrike">
                          <a:solidFill>
                            <a:srgbClr val="000000"/>
                          </a:solidFill>
                          <a:effectLst/>
                          <a:latin typeface="Calibri" panose="020F0502020204030204" pitchFamily="34" charset="0"/>
                        </a:rPr>
                        <a:t>Dental </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$2,235.00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$2,435.96</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$2,934.64</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$2,206.47</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$2,438.33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$2,167.95</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$2,838.18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$2,024.50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$2,320.01</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$2,285.89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$2,708.30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9071814"/>
                  </a:ext>
                </a:extLst>
              </a:tr>
              <a:tr h="298886">
                <a:tc>
                  <a:txBody>
                    <a:bodyPr/>
                    <a:lstStyle/>
                    <a:p>
                      <a:pPr algn="ctr" fontAlgn="ctr"/>
                      <a:r>
                        <a:rPr lang="en-US" sz="1000" b="1" i="0" u="none" strike="noStrike">
                          <a:solidFill>
                            <a:srgbClr val="000000"/>
                          </a:solidFill>
                          <a:effectLst/>
                          <a:latin typeface="Calibri" panose="020F0502020204030204" pitchFamily="34" charset="0"/>
                        </a:rPr>
                        <a:t>Vision </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$316.60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000" b="0" i="0" u="none" strike="noStrike">
                          <a:solidFill>
                            <a:srgbClr val="000000"/>
                          </a:solidFill>
                          <a:effectLst/>
                          <a:latin typeface="Calibri" panose="020F0502020204030204" pitchFamily="34" charset="0"/>
                        </a:rPr>
                        <a:t>$339.28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$310.22</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$253.28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$314.48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$375.71</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301450835"/>
                  </a:ext>
                </a:extLst>
              </a:tr>
              <a:tr h="302531">
                <a:tc>
                  <a:txBody>
                    <a:bodyPr/>
                    <a:lstStyle/>
                    <a:p>
                      <a:pPr algn="ctr" fontAlgn="ctr"/>
                      <a:r>
                        <a:rPr lang="en-US" sz="1000" b="1" i="0" u="none" strike="noStrike">
                          <a:solidFill>
                            <a:srgbClr val="000000"/>
                          </a:solidFill>
                          <a:effectLst/>
                          <a:latin typeface="Calibri" panose="020F0502020204030204" pitchFamily="34" charset="0"/>
                        </a:rPr>
                        <a:t>Life </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$467.25</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000" b="0" i="0" u="none" strike="noStrike">
                          <a:solidFill>
                            <a:srgbClr val="000000"/>
                          </a:solidFill>
                          <a:effectLst/>
                          <a:latin typeface="Calibri" panose="020F0502020204030204" pitchFamily="34" charset="0"/>
                        </a:rPr>
                        <a:t>$443.89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$462.80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$445.00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$436.10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$480.60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275722234"/>
                  </a:ext>
                </a:extLst>
              </a:tr>
              <a:tr h="280661">
                <a:tc>
                  <a:txBody>
                    <a:bodyPr/>
                    <a:lstStyle/>
                    <a:p>
                      <a:pPr algn="ctr" fontAlgn="ctr"/>
                      <a:r>
                        <a:rPr lang="en-US" sz="1000" b="1" i="0" u="none" strike="noStrike">
                          <a:solidFill>
                            <a:srgbClr val="000000"/>
                          </a:solidFill>
                          <a:effectLst/>
                          <a:latin typeface="Calibri" panose="020F0502020204030204" pitchFamily="34" charset="0"/>
                        </a:rPr>
                        <a:t>LTD</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$463.55</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000" b="0" i="0" u="none" strike="noStrike">
                          <a:solidFill>
                            <a:srgbClr val="000000"/>
                          </a:solidFill>
                          <a:effectLst/>
                          <a:latin typeface="Calibri" panose="020F0502020204030204" pitchFamily="34" charset="0"/>
                        </a:rPr>
                        <a:t>$463.55</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$478.53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$478.53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$513.62</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$606.13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614821505"/>
                  </a:ext>
                </a:extLst>
              </a:tr>
              <a:tr h="302531">
                <a:tc>
                  <a:txBody>
                    <a:bodyPr/>
                    <a:lstStyle/>
                    <a:p>
                      <a:pPr algn="ctr" fontAlgn="ctr"/>
                      <a:r>
                        <a:rPr lang="en-US" sz="1000" b="1" i="0" u="none" strike="noStrike">
                          <a:solidFill>
                            <a:srgbClr val="000000"/>
                          </a:solidFill>
                          <a:effectLst/>
                          <a:latin typeface="Calibri" panose="020F0502020204030204" pitchFamily="34" charset="0"/>
                        </a:rPr>
                        <a:t>STD</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 </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000" b="0" i="0" u="none" strike="noStrike">
                          <a:solidFill>
                            <a:srgbClr val="000000"/>
                          </a:solidFill>
                          <a:effectLst/>
                          <a:latin typeface="Calibri" panose="020F0502020204030204" pitchFamily="34" charset="0"/>
                        </a:rPr>
                        <a:t>$1,325.53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$1,097.45</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$914.58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$1,211.77</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1000" b="0" i="0" u="none" strike="noStrike">
                          <a:solidFill>
                            <a:srgbClr val="000000"/>
                          </a:solidFill>
                          <a:effectLst/>
                          <a:latin typeface="Calibri" panose="020F0502020204030204" pitchFamily="34" charset="0"/>
                        </a:rPr>
                        <a:t>$1,326.08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827730141"/>
                  </a:ext>
                </a:extLst>
              </a:tr>
              <a:tr h="262436">
                <a:tc>
                  <a:txBody>
                    <a:bodyPr/>
                    <a:lstStyle/>
                    <a:p>
                      <a:pPr algn="ctr" fontAlgn="ctr"/>
                      <a:r>
                        <a:rPr lang="en-US" sz="1000" b="1" i="0" u="none" strike="noStrike">
                          <a:solidFill>
                            <a:srgbClr val="000000"/>
                          </a:solidFill>
                          <a:effectLst/>
                          <a:latin typeface="Calibri" panose="020F0502020204030204" pitchFamily="34" charset="0"/>
                        </a:rPr>
                        <a:t>Total Monthly</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$3,482.40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$5,008.21</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$5,506.89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$4,555.46</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$4,787.32</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$4,259.34</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$4,929.57</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$4,500.46</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$4,795.97</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$5,074.42</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$5,496.83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9547920"/>
                  </a:ext>
                </a:extLst>
              </a:tr>
              <a:tr h="247857">
                <a:tc>
                  <a:txBody>
                    <a:bodyPr/>
                    <a:lstStyle/>
                    <a:p>
                      <a:pPr algn="ctr" fontAlgn="ctr"/>
                      <a:r>
                        <a:rPr lang="en-US" sz="1000" b="1" i="0" u="none" strike="noStrike">
                          <a:solidFill>
                            <a:srgbClr val="000000"/>
                          </a:solidFill>
                          <a:effectLst/>
                          <a:latin typeface="Calibri" panose="020F0502020204030204" pitchFamily="34" charset="0"/>
                        </a:rPr>
                        <a:t>Total Annual</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$41,788.79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$60,098.53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$66,082.69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$54,665.56</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$57,447.88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$51,112.03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$59,154.79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$54,005.55</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$57,551.67</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$60,892.98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000" b="0" i="0" u="none" strike="noStrike">
                          <a:solidFill>
                            <a:srgbClr val="000000"/>
                          </a:solidFill>
                          <a:effectLst/>
                          <a:latin typeface="Calibri" panose="020F0502020204030204" pitchFamily="34" charset="0"/>
                        </a:rPr>
                        <a:t>$65,961.90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901737357"/>
                  </a:ext>
                </a:extLst>
              </a:tr>
              <a:tr h="280661">
                <a:tc>
                  <a:txBody>
                    <a:bodyPr/>
                    <a:lstStyle/>
                    <a:p>
                      <a:pPr algn="ctr" fontAlgn="ctr"/>
                      <a:r>
                        <a:rPr lang="en-US" sz="1000" b="1" i="0" u="none" strike="noStrike">
                          <a:solidFill>
                            <a:srgbClr val="000000"/>
                          </a:solidFill>
                          <a:effectLst/>
                          <a:latin typeface="Calibri" panose="020F0502020204030204" pitchFamily="34" charset="0"/>
                        </a:rPr>
                        <a:t>% Difference</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43.81%</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40.42%</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30.81%</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26.06%</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22.31%</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28.90%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22.35%</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27.44%</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37.38%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40.86%</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8245781"/>
                  </a:ext>
                </a:extLst>
              </a:tr>
              <a:tr h="284306">
                <a:tc>
                  <a:txBody>
                    <a:bodyPr/>
                    <a:lstStyle/>
                    <a:p>
                      <a:pPr algn="ctr" fontAlgn="ctr"/>
                      <a:r>
                        <a:rPr lang="en-US" sz="1000" b="1" i="0" u="none" strike="noStrike">
                          <a:solidFill>
                            <a:srgbClr val="000000"/>
                          </a:solidFill>
                          <a:effectLst/>
                          <a:latin typeface="Calibri" panose="020F0502020204030204" pitchFamily="34" charset="0"/>
                        </a:rPr>
                        <a:t>Annual $ Difference</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$18,309.74</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$24,293.90</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$12,876.77</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$15,659.09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$9,323.23</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$17,365.99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$12,216.76</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$15,762.88</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$19,104.19</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$24,173.11</a:t>
                      </a:r>
                    </a:p>
                  </a:txBody>
                  <a:tcPr marL="6603" marR="6603" marT="66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7205015"/>
                  </a:ext>
                </a:extLst>
              </a:tr>
              <a:tr h="601417">
                <a:tc>
                  <a:txBody>
                    <a:bodyPr/>
                    <a:lstStyle/>
                    <a:p>
                      <a:pPr algn="ctr" fontAlgn="ctr"/>
                      <a:r>
                        <a:rPr lang="en-US" sz="1000" b="1" i="0" u="none" strike="noStrike">
                          <a:solidFill>
                            <a:srgbClr val="000000"/>
                          </a:solidFill>
                          <a:effectLst/>
                          <a:latin typeface="Calibri" panose="020F0502020204030204" pitchFamily="34" charset="0"/>
                        </a:rPr>
                        <a:t>Notes </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If STD is added there</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 is a 5% discount for LTD. </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100/80/50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$1,500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100/90/60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$2,000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100/80/50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$1,500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100/90/60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100/80/50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$2,000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100/80/50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$1,500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100/100/60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$2,000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100/80/50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$1,500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100/90/60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$2,000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100/80/50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$1,000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Calibri" panose="020F0502020204030204" pitchFamily="34" charset="0"/>
                        </a:rPr>
                        <a:t>Dental : 100/80/50</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$1,500 max</a:t>
                      </a:r>
                    </a:p>
                  </a:txBody>
                  <a:tcPr marL="6603" marR="6603" marT="6603"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078552737"/>
                  </a:ext>
                </a:extLst>
              </a:tr>
            </a:tbl>
          </a:graphicData>
        </a:graphic>
      </p:graphicFrame>
    </p:spTree>
    <p:extLst>
      <p:ext uri="{BB962C8B-B14F-4D97-AF65-F5344CB8AC3E}">
        <p14:creationId xmlns:p14="http://schemas.microsoft.com/office/powerpoint/2010/main" val="28697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DE3AAE-428D-7A32-B6A4-ADC9C8FA81FE}"/>
              </a:ext>
            </a:extLst>
          </p:cNvPr>
          <p:cNvSpPr>
            <a:spLocks noGrp="1"/>
          </p:cNvSpPr>
          <p:nvPr>
            <p:ph type="body" idx="13"/>
          </p:nvPr>
        </p:nvSpPr>
        <p:spPr/>
        <p:txBody>
          <a:bodyPr>
            <a:normAutofit/>
          </a:bodyPr>
          <a:lstStyle/>
          <a:p>
            <a:pPr marL="914400" lvl="1" indent="-457200">
              <a:buFont typeface="+mj-lt"/>
              <a:buAutoNum type="alphaLcParenR"/>
            </a:pPr>
            <a:endParaRPr lang="en-US" sz="1400"/>
          </a:p>
          <a:p>
            <a:pPr marL="342900" indent="-342900">
              <a:buFont typeface="+mj-lt"/>
              <a:buAutoNum type="arabicPeriod"/>
            </a:pPr>
            <a:r>
              <a:rPr lang="en-US"/>
              <a:t>Open Enrollment to be conducted week of 6/19-6/30</a:t>
            </a:r>
          </a:p>
          <a:p>
            <a:pPr marL="914400" lvl="1" indent="-457200">
              <a:buFont typeface="+mj-lt"/>
              <a:buAutoNum type="alphaLcParenR"/>
            </a:pPr>
            <a:r>
              <a:rPr lang="en-US" sz="1400"/>
              <a:t>DCHL requires Open Enrollment completion by 7/13</a:t>
            </a:r>
          </a:p>
          <a:p>
            <a:pPr marL="914400" lvl="1" indent="-457200">
              <a:buFont typeface="+mj-lt"/>
              <a:buAutoNum type="alphaLcParenR"/>
            </a:pPr>
            <a:r>
              <a:rPr lang="en-US" sz="1400"/>
              <a:t>Running Open Enrollment early allows Partners’ Employees to avoid the 4</a:t>
            </a:r>
            <a:r>
              <a:rPr lang="en-US" sz="1400" baseline="30000"/>
              <a:t>th</a:t>
            </a:r>
            <a:r>
              <a:rPr lang="en-US" sz="1400"/>
              <a:t> of July as a Holiday and possible vacation week</a:t>
            </a:r>
          </a:p>
          <a:p>
            <a:pPr marL="342900" indent="-342900">
              <a:buFont typeface="+mj-lt"/>
              <a:buAutoNum type="arabicPeriod"/>
            </a:pPr>
            <a:r>
              <a:rPr lang="en-US"/>
              <a:t>Navigator will allow Partners and AssuredPartners to monitor and track employee completion of the process</a:t>
            </a:r>
          </a:p>
          <a:p>
            <a:pPr marL="342900" indent="-342900">
              <a:buFont typeface="+mj-lt"/>
              <a:buAutoNum type="arabicPeriod"/>
            </a:pPr>
            <a:r>
              <a:rPr lang="en-US"/>
              <a:t>New cards will be expected to be sent to employees prior to 8/1/23</a:t>
            </a:r>
          </a:p>
        </p:txBody>
      </p:sp>
      <p:sp>
        <p:nvSpPr>
          <p:cNvPr id="3" name="Text Placeholder 2">
            <a:extLst>
              <a:ext uri="{FF2B5EF4-FFF2-40B4-BE49-F238E27FC236}">
                <a16:creationId xmlns:a16="http://schemas.microsoft.com/office/drawing/2014/main" id="{F43ACB36-4173-D5F3-CD5B-97464304F08E}"/>
              </a:ext>
            </a:extLst>
          </p:cNvPr>
          <p:cNvSpPr>
            <a:spLocks noGrp="1"/>
          </p:cNvSpPr>
          <p:nvPr>
            <p:ph type="body" idx="14"/>
          </p:nvPr>
        </p:nvSpPr>
        <p:spPr/>
        <p:txBody>
          <a:bodyPr/>
          <a:lstStyle/>
          <a:p>
            <a:r>
              <a:rPr lang="en-US"/>
              <a:t>Timeline for Renewal 2023-24</a:t>
            </a:r>
          </a:p>
          <a:p>
            <a:endParaRPr lang="en-US"/>
          </a:p>
        </p:txBody>
      </p:sp>
      <p:sp>
        <p:nvSpPr>
          <p:cNvPr id="4" name="Text Placeholder 3">
            <a:extLst>
              <a:ext uri="{FF2B5EF4-FFF2-40B4-BE49-F238E27FC236}">
                <a16:creationId xmlns:a16="http://schemas.microsoft.com/office/drawing/2014/main" id="{15F072F1-6DEC-FA28-8699-2E2A89089E12}"/>
              </a:ext>
            </a:extLst>
          </p:cNvPr>
          <p:cNvSpPr>
            <a:spLocks noGrp="1"/>
          </p:cNvSpPr>
          <p:nvPr>
            <p:ph type="body" idx="15"/>
          </p:nvPr>
        </p:nvSpPr>
        <p:spPr/>
        <p:txBody>
          <a:bodyPr/>
          <a:lstStyle/>
          <a:p>
            <a:r>
              <a:rPr lang="en-US"/>
              <a:t>2023-2024 Partners of the Americas Benefit Renewal</a:t>
            </a:r>
          </a:p>
        </p:txBody>
      </p:sp>
    </p:spTree>
    <p:extLst>
      <p:ext uri="{BB962C8B-B14F-4D97-AF65-F5344CB8AC3E}">
        <p14:creationId xmlns:p14="http://schemas.microsoft.com/office/powerpoint/2010/main" val="800568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BA6162EC-4E10-494A-8E08-64DC2DCF295B}"/>
              </a:ext>
            </a:extLst>
          </p:cNvPr>
          <p:cNvSpPr/>
          <p:nvPr/>
        </p:nvSpPr>
        <p:spPr>
          <a:xfrm>
            <a:off x="10423638" y="-1083809"/>
            <a:ext cx="2424136" cy="2424136"/>
          </a:xfrm>
          <a:prstGeom prst="ellipse">
            <a:avLst/>
          </a:prstGeom>
          <a:solidFill>
            <a:srgbClr val="377A5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8FD150B-CE9D-4A28-9381-086B9BFC29FA}"/>
              </a:ext>
            </a:extLst>
          </p:cNvPr>
          <p:cNvSpPr txBox="1"/>
          <p:nvPr/>
        </p:nvSpPr>
        <p:spPr>
          <a:xfrm>
            <a:off x="558111" y="1099560"/>
            <a:ext cx="1859099" cy="307777"/>
          </a:xfrm>
          <a:prstGeom prst="rect">
            <a:avLst/>
          </a:prstGeom>
          <a:noFill/>
        </p:spPr>
        <p:txBody>
          <a:bodyPr wrap="none" rtlCol="0">
            <a:spAutoFit/>
          </a:bodyPr>
          <a:lstStyle/>
          <a:p>
            <a:r>
              <a:rPr lang="en-US" sz="1400" b="1"/>
              <a:t>Consulting &amp; Analytics</a:t>
            </a:r>
          </a:p>
        </p:txBody>
      </p:sp>
      <p:sp>
        <p:nvSpPr>
          <p:cNvPr id="23" name="TextBox 22">
            <a:extLst>
              <a:ext uri="{FF2B5EF4-FFF2-40B4-BE49-F238E27FC236}">
                <a16:creationId xmlns:a16="http://schemas.microsoft.com/office/drawing/2014/main" id="{75B7A79D-7102-42C7-A0CB-686C1CD87B8D}"/>
              </a:ext>
            </a:extLst>
          </p:cNvPr>
          <p:cNvSpPr txBox="1"/>
          <p:nvPr/>
        </p:nvSpPr>
        <p:spPr>
          <a:xfrm>
            <a:off x="558111" y="3136507"/>
            <a:ext cx="1809406" cy="307777"/>
          </a:xfrm>
          <a:prstGeom prst="rect">
            <a:avLst/>
          </a:prstGeom>
          <a:noFill/>
        </p:spPr>
        <p:txBody>
          <a:bodyPr wrap="none" rtlCol="0">
            <a:spAutoFit/>
          </a:bodyPr>
          <a:lstStyle/>
          <a:p>
            <a:r>
              <a:rPr lang="en-US" sz="1400" b="1"/>
              <a:t>Pharmacy &amp; Analytics</a:t>
            </a:r>
          </a:p>
        </p:txBody>
      </p:sp>
      <p:sp>
        <p:nvSpPr>
          <p:cNvPr id="11" name="TextBox 10">
            <a:extLst>
              <a:ext uri="{FF2B5EF4-FFF2-40B4-BE49-F238E27FC236}">
                <a16:creationId xmlns:a16="http://schemas.microsoft.com/office/drawing/2014/main" id="{4657CD38-A3B0-448C-BFFA-EDAB2FECFC1C}"/>
              </a:ext>
            </a:extLst>
          </p:cNvPr>
          <p:cNvSpPr txBox="1"/>
          <p:nvPr/>
        </p:nvSpPr>
        <p:spPr>
          <a:xfrm>
            <a:off x="568925" y="1429750"/>
            <a:ext cx="2743200" cy="1546577"/>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Population health management</a:t>
            </a:r>
          </a:p>
          <a:p>
            <a:pPr marL="171450" indent="-171450">
              <a:buFont typeface="Arial" panose="020B0604020202020204" pitchFamily="34" charset="0"/>
              <a:buChar char="•"/>
            </a:pPr>
            <a:r>
              <a:rPr lang="en-US" sz="1050">
                <a:solidFill>
                  <a:schemeClr val="bg1">
                    <a:lumMod val="50000"/>
                  </a:schemeClr>
                </a:solidFill>
              </a:rPr>
              <a:t>Medical &amp; Rx analytics </a:t>
            </a:r>
          </a:p>
          <a:p>
            <a:pPr marL="171450" indent="-171450">
              <a:buFont typeface="Arial" panose="020B0604020202020204" pitchFamily="34" charset="0"/>
              <a:buChar char="•"/>
            </a:pPr>
            <a:r>
              <a:rPr lang="en-US" sz="1050">
                <a:solidFill>
                  <a:schemeClr val="bg1">
                    <a:lumMod val="50000"/>
                  </a:schemeClr>
                </a:solidFill>
              </a:rPr>
              <a:t>Plan disruption analysis</a:t>
            </a:r>
          </a:p>
          <a:p>
            <a:pPr marL="171450" indent="-171450">
              <a:buFont typeface="Arial" panose="020B0604020202020204" pitchFamily="34" charset="0"/>
              <a:buChar char="•"/>
            </a:pPr>
            <a:r>
              <a:rPr lang="en-US" sz="1050">
                <a:solidFill>
                  <a:schemeClr val="bg1">
                    <a:lumMod val="50000"/>
                  </a:schemeClr>
                </a:solidFill>
              </a:rPr>
              <a:t>Employee retention strategies</a:t>
            </a:r>
          </a:p>
          <a:p>
            <a:pPr marL="171450" indent="-171450">
              <a:buFont typeface="Arial" panose="020B0604020202020204" pitchFamily="34" charset="0"/>
              <a:buChar char="•"/>
            </a:pPr>
            <a:r>
              <a:rPr lang="en-US" sz="1050">
                <a:solidFill>
                  <a:schemeClr val="bg1">
                    <a:lumMod val="50000"/>
                  </a:schemeClr>
                </a:solidFill>
              </a:rPr>
              <a:t>Predictive modeling</a:t>
            </a:r>
          </a:p>
          <a:p>
            <a:pPr marL="171450" indent="-171450">
              <a:buFont typeface="Arial" panose="020B0604020202020204" pitchFamily="34" charset="0"/>
              <a:buChar char="•"/>
            </a:pPr>
            <a:r>
              <a:rPr lang="en-US" sz="1050">
                <a:solidFill>
                  <a:schemeClr val="bg1">
                    <a:lumMod val="50000"/>
                  </a:schemeClr>
                </a:solidFill>
              </a:rPr>
              <a:t>Medical intelligence</a:t>
            </a:r>
          </a:p>
          <a:p>
            <a:pPr marL="171450" indent="-171450">
              <a:buFont typeface="Arial" panose="020B0604020202020204" pitchFamily="34" charset="0"/>
              <a:buChar char="•"/>
            </a:pPr>
            <a:r>
              <a:rPr lang="en-US" sz="1050">
                <a:solidFill>
                  <a:schemeClr val="bg1">
                    <a:lumMod val="50000"/>
                  </a:schemeClr>
                </a:solidFill>
              </a:rPr>
              <a:t>Data warehouse w/ 40M+ member lives</a:t>
            </a:r>
          </a:p>
        </p:txBody>
      </p:sp>
      <p:sp>
        <p:nvSpPr>
          <p:cNvPr id="30" name="TextBox 29">
            <a:extLst>
              <a:ext uri="{FF2B5EF4-FFF2-40B4-BE49-F238E27FC236}">
                <a16:creationId xmlns:a16="http://schemas.microsoft.com/office/drawing/2014/main" id="{ADF2C71B-556F-401C-B607-B6864570D124}"/>
              </a:ext>
            </a:extLst>
          </p:cNvPr>
          <p:cNvSpPr txBox="1"/>
          <p:nvPr/>
        </p:nvSpPr>
        <p:spPr>
          <a:xfrm>
            <a:off x="3277439" y="1099560"/>
            <a:ext cx="1563761" cy="307777"/>
          </a:xfrm>
          <a:prstGeom prst="rect">
            <a:avLst/>
          </a:prstGeom>
          <a:noFill/>
        </p:spPr>
        <p:txBody>
          <a:bodyPr wrap="none" rtlCol="0">
            <a:spAutoFit/>
          </a:bodyPr>
          <a:lstStyle/>
          <a:p>
            <a:r>
              <a:rPr lang="en-US" sz="1400" b="1"/>
              <a:t>Voluntary Benefits</a:t>
            </a:r>
          </a:p>
        </p:txBody>
      </p:sp>
      <p:sp>
        <p:nvSpPr>
          <p:cNvPr id="31" name="TextBox 30">
            <a:extLst>
              <a:ext uri="{FF2B5EF4-FFF2-40B4-BE49-F238E27FC236}">
                <a16:creationId xmlns:a16="http://schemas.microsoft.com/office/drawing/2014/main" id="{8CB85A7B-EA77-4BCC-B566-EB0BBB32D353}"/>
              </a:ext>
            </a:extLst>
          </p:cNvPr>
          <p:cNvSpPr txBox="1"/>
          <p:nvPr/>
        </p:nvSpPr>
        <p:spPr>
          <a:xfrm>
            <a:off x="3288253" y="1429750"/>
            <a:ext cx="2743200" cy="1384995"/>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Critical Illness, Accident, Hospital Indemnity</a:t>
            </a:r>
          </a:p>
          <a:p>
            <a:pPr marL="171450" indent="-171450">
              <a:buFont typeface="Arial" panose="020B0604020202020204" pitchFamily="34" charset="0"/>
              <a:buChar char="•"/>
            </a:pPr>
            <a:r>
              <a:rPr lang="en-US" sz="1050">
                <a:solidFill>
                  <a:schemeClr val="bg1">
                    <a:lumMod val="50000"/>
                  </a:schemeClr>
                </a:solidFill>
              </a:rPr>
              <a:t>Customized programs that compliment medical plan</a:t>
            </a:r>
          </a:p>
          <a:p>
            <a:pPr marL="171450" indent="-171450">
              <a:buFont typeface="Arial" panose="020B0604020202020204" pitchFamily="34" charset="0"/>
              <a:buChar char="•"/>
            </a:pPr>
            <a:r>
              <a:rPr lang="en-US" sz="1050">
                <a:solidFill>
                  <a:schemeClr val="bg1">
                    <a:lumMod val="50000"/>
                  </a:schemeClr>
                </a:solidFill>
              </a:rPr>
              <a:t>Integrated administration and billing</a:t>
            </a:r>
          </a:p>
          <a:p>
            <a:pPr marL="171450" indent="-171450">
              <a:buFont typeface="Arial" panose="020B0604020202020204" pitchFamily="34" charset="0"/>
              <a:buChar char="•"/>
            </a:pPr>
            <a:r>
              <a:rPr lang="en-US" sz="1050">
                <a:solidFill>
                  <a:schemeClr val="bg1">
                    <a:lumMod val="50000"/>
                  </a:schemeClr>
                </a:solidFill>
              </a:rPr>
              <a:t>Enrollment support</a:t>
            </a:r>
          </a:p>
          <a:p>
            <a:pPr marL="171450" indent="-171450">
              <a:buFont typeface="Arial" panose="020B0604020202020204" pitchFamily="34" charset="0"/>
              <a:buChar char="•"/>
            </a:pPr>
            <a:r>
              <a:rPr lang="en-US" sz="1050">
                <a:solidFill>
                  <a:schemeClr val="bg1">
                    <a:lumMod val="50000"/>
                  </a:schemeClr>
                </a:solidFill>
              </a:rPr>
              <a:t>Individual Disability Insurance (IDI)</a:t>
            </a:r>
          </a:p>
          <a:p>
            <a:pPr marL="171450" indent="-171450">
              <a:buFont typeface="Arial" panose="020B0604020202020204" pitchFamily="34" charset="0"/>
              <a:buChar char="•"/>
            </a:pPr>
            <a:r>
              <a:rPr lang="en-US" sz="1050">
                <a:solidFill>
                  <a:schemeClr val="bg1">
                    <a:lumMod val="50000"/>
                  </a:schemeClr>
                </a:solidFill>
              </a:rPr>
              <a:t>Whole &amp; Universal Life</a:t>
            </a:r>
          </a:p>
        </p:txBody>
      </p:sp>
      <p:sp>
        <p:nvSpPr>
          <p:cNvPr id="35" name="TextBox 34">
            <a:extLst>
              <a:ext uri="{FF2B5EF4-FFF2-40B4-BE49-F238E27FC236}">
                <a16:creationId xmlns:a16="http://schemas.microsoft.com/office/drawing/2014/main" id="{747A0350-1AED-440B-A509-FADF64E2E783}"/>
              </a:ext>
            </a:extLst>
          </p:cNvPr>
          <p:cNvSpPr txBox="1"/>
          <p:nvPr/>
        </p:nvSpPr>
        <p:spPr>
          <a:xfrm>
            <a:off x="6263106" y="1099560"/>
            <a:ext cx="1674882" cy="307777"/>
          </a:xfrm>
          <a:prstGeom prst="rect">
            <a:avLst/>
          </a:prstGeom>
          <a:noFill/>
        </p:spPr>
        <p:txBody>
          <a:bodyPr wrap="none" rtlCol="0">
            <a:spAutoFit/>
          </a:bodyPr>
          <a:lstStyle/>
          <a:p>
            <a:r>
              <a:rPr lang="en-US" sz="1400" b="1"/>
              <a:t>Property &amp; Casualty</a:t>
            </a:r>
          </a:p>
        </p:txBody>
      </p:sp>
      <p:sp>
        <p:nvSpPr>
          <p:cNvPr id="36" name="TextBox 35">
            <a:extLst>
              <a:ext uri="{FF2B5EF4-FFF2-40B4-BE49-F238E27FC236}">
                <a16:creationId xmlns:a16="http://schemas.microsoft.com/office/drawing/2014/main" id="{CC0E4F58-E630-415E-AD6B-AB43D01C8DCD}"/>
              </a:ext>
            </a:extLst>
          </p:cNvPr>
          <p:cNvSpPr txBox="1"/>
          <p:nvPr/>
        </p:nvSpPr>
        <p:spPr>
          <a:xfrm>
            <a:off x="6273919" y="1429750"/>
            <a:ext cx="2798341" cy="1384995"/>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Intangible/tangible assets</a:t>
            </a:r>
          </a:p>
          <a:p>
            <a:pPr marL="171450" indent="-171450">
              <a:buFont typeface="Arial" panose="020B0604020202020204" pitchFamily="34" charset="0"/>
              <a:buChar char="•"/>
            </a:pPr>
            <a:r>
              <a:rPr lang="en-US" sz="1050">
                <a:solidFill>
                  <a:schemeClr val="bg1">
                    <a:lumMod val="50000"/>
                  </a:schemeClr>
                </a:solidFill>
              </a:rPr>
              <a:t>Bonds &amp; surety</a:t>
            </a:r>
          </a:p>
          <a:p>
            <a:pPr marL="171450" indent="-171450">
              <a:buFont typeface="Arial" panose="020B0604020202020204" pitchFamily="34" charset="0"/>
              <a:buChar char="•"/>
            </a:pPr>
            <a:r>
              <a:rPr lang="en-US" sz="1050">
                <a:solidFill>
                  <a:schemeClr val="bg1">
                    <a:lumMod val="50000"/>
                  </a:schemeClr>
                </a:solidFill>
              </a:rPr>
              <a:t>Workers' compensation claims management</a:t>
            </a:r>
          </a:p>
          <a:p>
            <a:pPr marL="171450" indent="-171450">
              <a:buFont typeface="Arial" panose="020B0604020202020204" pitchFamily="34" charset="0"/>
              <a:buChar char="•"/>
            </a:pPr>
            <a:r>
              <a:rPr lang="en-US" sz="1050">
                <a:solidFill>
                  <a:schemeClr val="bg1">
                    <a:lumMod val="50000"/>
                  </a:schemeClr>
                </a:solidFill>
              </a:rPr>
              <a:t>Risk control</a:t>
            </a:r>
          </a:p>
          <a:p>
            <a:pPr marL="171450" indent="-171450">
              <a:buFont typeface="Arial" panose="020B0604020202020204" pitchFamily="34" charset="0"/>
              <a:buChar char="•"/>
            </a:pPr>
            <a:r>
              <a:rPr lang="en-US" sz="1050">
                <a:solidFill>
                  <a:schemeClr val="bg1">
                    <a:lumMod val="50000"/>
                  </a:schemeClr>
                </a:solidFill>
              </a:rPr>
              <a:t>Return to work</a:t>
            </a:r>
          </a:p>
          <a:p>
            <a:pPr marL="171450" indent="-171450">
              <a:buFont typeface="Arial" panose="020B0604020202020204" pitchFamily="34" charset="0"/>
              <a:buChar char="•"/>
            </a:pPr>
            <a:r>
              <a:rPr lang="en-US" sz="1050">
                <a:solidFill>
                  <a:schemeClr val="bg1">
                    <a:lumMod val="50000"/>
                  </a:schemeClr>
                </a:solidFill>
              </a:rPr>
              <a:t>Employment practices liability </a:t>
            </a:r>
          </a:p>
          <a:p>
            <a:pPr marL="171450" indent="-171450">
              <a:buFont typeface="Arial" panose="020B0604020202020204" pitchFamily="34" charset="0"/>
              <a:buChar char="•"/>
            </a:pPr>
            <a:r>
              <a:rPr lang="en-US" sz="1050">
                <a:solidFill>
                  <a:schemeClr val="bg1">
                    <a:lumMod val="50000"/>
                  </a:schemeClr>
                </a:solidFill>
              </a:rPr>
              <a:t>Experience Mod predictions</a:t>
            </a:r>
          </a:p>
          <a:p>
            <a:pPr marL="171450" indent="-171450">
              <a:buFont typeface="Arial" panose="020B0604020202020204" pitchFamily="34" charset="0"/>
              <a:buChar char="•"/>
            </a:pPr>
            <a:r>
              <a:rPr lang="en-US" sz="1050">
                <a:solidFill>
                  <a:schemeClr val="bg1">
                    <a:lumMod val="50000"/>
                  </a:schemeClr>
                </a:solidFill>
              </a:rPr>
              <a:t>Drug testing </a:t>
            </a:r>
          </a:p>
        </p:txBody>
      </p:sp>
      <p:sp>
        <p:nvSpPr>
          <p:cNvPr id="40" name="TextBox 39">
            <a:extLst>
              <a:ext uri="{FF2B5EF4-FFF2-40B4-BE49-F238E27FC236}">
                <a16:creationId xmlns:a16="http://schemas.microsoft.com/office/drawing/2014/main" id="{B7C9AE10-3F35-4BC4-AD59-996D75AFB616}"/>
              </a:ext>
            </a:extLst>
          </p:cNvPr>
          <p:cNvSpPr txBox="1"/>
          <p:nvPr/>
        </p:nvSpPr>
        <p:spPr>
          <a:xfrm>
            <a:off x="3277439" y="3136507"/>
            <a:ext cx="1056700" cy="307777"/>
          </a:xfrm>
          <a:prstGeom prst="rect">
            <a:avLst/>
          </a:prstGeom>
          <a:noFill/>
        </p:spPr>
        <p:txBody>
          <a:bodyPr wrap="none" rtlCol="0">
            <a:spAutoFit/>
          </a:bodyPr>
          <a:lstStyle/>
          <a:p>
            <a:r>
              <a:rPr lang="en-US" sz="1400" b="1"/>
              <a:t>Compliance</a:t>
            </a:r>
          </a:p>
        </p:txBody>
      </p:sp>
      <p:sp>
        <p:nvSpPr>
          <p:cNvPr id="41" name="TextBox 40">
            <a:extLst>
              <a:ext uri="{FF2B5EF4-FFF2-40B4-BE49-F238E27FC236}">
                <a16:creationId xmlns:a16="http://schemas.microsoft.com/office/drawing/2014/main" id="{48CCBFB2-F927-46E6-94D5-524063683827}"/>
              </a:ext>
            </a:extLst>
          </p:cNvPr>
          <p:cNvSpPr txBox="1"/>
          <p:nvPr/>
        </p:nvSpPr>
        <p:spPr>
          <a:xfrm>
            <a:off x="3288253" y="3437722"/>
            <a:ext cx="2743200" cy="1869743"/>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ERISA Attorney led compliance department</a:t>
            </a:r>
          </a:p>
          <a:p>
            <a:pPr marL="171450" indent="-171450">
              <a:buFont typeface="Arial" panose="020B0604020202020204" pitchFamily="34" charset="0"/>
              <a:buChar char="•"/>
            </a:pPr>
            <a:r>
              <a:rPr lang="en-US" sz="1050">
                <a:solidFill>
                  <a:schemeClr val="bg1">
                    <a:lumMod val="50000"/>
                  </a:schemeClr>
                </a:solidFill>
              </a:rPr>
              <a:t>ACA &amp; DOL compliance tools</a:t>
            </a:r>
          </a:p>
          <a:p>
            <a:pPr marL="171450" indent="-171450">
              <a:buFont typeface="Arial" panose="020B0604020202020204" pitchFamily="34" charset="0"/>
              <a:buChar char="•"/>
            </a:pPr>
            <a:r>
              <a:rPr lang="en-US" sz="1050">
                <a:solidFill>
                  <a:schemeClr val="bg1">
                    <a:lumMod val="50000"/>
                  </a:schemeClr>
                </a:solidFill>
              </a:rPr>
              <a:t>1094/1095 Filing</a:t>
            </a:r>
          </a:p>
          <a:p>
            <a:pPr marL="171450" indent="-171450">
              <a:buFont typeface="Arial" panose="020B0604020202020204" pitchFamily="34" charset="0"/>
              <a:buChar char="•"/>
            </a:pPr>
            <a:r>
              <a:rPr lang="en-US" sz="1050">
                <a:solidFill>
                  <a:schemeClr val="bg1">
                    <a:lumMod val="50000"/>
                  </a:schemeClr>
                </a:solidFill>
              </a:rPr>
              <a:t>5500’s, COBRA, HIPAA, FMLA, ERISA, </a:t>
            </a:r>
          </a:p>
          <a:p>
            <a:pPr marL="171450" indent="-171450">
              <a:buFont typeface="Arial" panose="020B0604020202020204" pitchFamily="34" charset="0"/>
              <a:buChar char="•"/>
            </a:pPr>
            <a:r>
              <a:rPr lang="en-US" sz="1050">
                <a:solidFill>
                  <a:schemeClr val="bg1">
                    <a:lumMod val="50000"/>
                  </a:schemeClr>
                </a:solidFill>
              </a:rPr>
              <a:t>TEFRA/DEFRA, Sect 125, 105(h), 79, 152 SMMs, SARs, SPDs, Compliance Calendar</a:t>
            </a:r>
          </a:p>
          <a:p>
            <a:pPr marL="171450" indent="-171450">
              <a:buFont typeface="Arial" panose="020B0604020202020204" pitchFamily="34" charset="0"/>
              <a:buChar char="•"/>
            </a:pPr>
            <a:r>
              <a:rPr lang="en-US" sz="1050">
                <a:solidFill>
                  <a:schemeClr val="bg1">
                    <a:lumMod val="50000"/>
                  </a:schemeClr>
                </a:solidFill>
              </a:rPr>
              <a:t>Employee handbook assistance or creation</a:t>
            </a:r>
          </a:p>
          <a:p>
            <a:endParaRPr lang="en-US" sz="1050">
              <a:solidFill>
                <a:schemeClr val="bg1">
                  <a:lumMod val="50000"/>
                </a:schemeClr>
              </a:solidFill>
            </a:endParaRPr>
          </a:p>
        </p:txBody>
      </p:sp>
      <p:sp>
        <p:nvSpPr>
          <p:cNvPr id="45" name="TextBox 44">
            <a:extLst>
              <a:ext uri="{FF2B5EF4-FFF2-40B4-BE49-F238E27FC236}">
                <a16:creationId xmlns:a16="http://schemas.microsoft.com/office/drawing/2014/main" id="{3EBFDABC-4529-4D04-97C8-E86924BC2765}"/>
              </a:ext>
            </a:extLst>
          </p:cNvPr>
          <p:cNvSpPr txBox="1"/>
          <p:nvPr/>
        </p:nvSpPr>
        <p:spPr>
          <a:xfrm>
            <a:off x="6263106" y="3136507"/>
            <a:ext cx="1405065" cy="307777"/>
          </a:xfrm>
          <a:prstGeom prst="rect">
            <a:avLst/>
          </a:prstGeom>
          <a:noFill/>
        </p:spPr>
        <p:txBody>
          <a:bodyPr wrap="none" rtlCol="0">
            <a:spAutoFit/>
          </a:bodyPr>
          <a:lstStyle/>
          <a:p>
            <a:r>
              <a:rPr lang="en-US" sz="1400" b="1"/>
              <a:t>Communication </a:t>
            </a:r>
          </a:p>
        </p:txBody>
      </p:sp>
      <p:sp>
        <p:nvSpPr>
          <p:cNvPr id="46" name="TextBox 45">
            <a:extLst>
              <a:ext uri="{FF2B5EF4-FFF2-40B4-BE49-F238E27FC236}">
                <a16:creationId xmlns:a16="http://schemas.microsoft.com/office/drawing/2014/main" id="{902A2FDF-174B-44EF-9BF6-C91129119357}"/>
              </a:ext>
            </a:extLst>
          </p:cNvPr>
          <p:cNvSpPr txBox="1"/>
          <p:nvPr/>
        </p:nvSpPr>
        <p:spPr>
          <a:xfrm>
            <a:off x="6273920" y="3437722"/>
            <a:ext cx="2743200" cy="1708160"/>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Custom branded communication strategy</a:t>
            </a:r>
          </a:p>
          <a:p>
            <a:pPr marL="171450" indent="-171450">
              <a:buFont typeface="Arial" panose="020B0604020202020204" pitchFamily="34" charset="0"/>
              <a:buChar char="•"/>
            </a:pPr>
            <a:r>
              <a:rPr lang="en-US" sz="1050">
                <a:solidFill>
                  <a:schemeClr val="bg1">
                    <a:lumMod val="50000"/>
                  </a:schemeClr>
                </a:solidFill>
              </a:rPr>
              <a:t>Fully-staffed communications department</a:t>
            </a:r>
          </a:p>
          <a:p>
            <a:pPr marL="171450" indent="-171450">
              <a:buFont typeface="Arial" panose="020B0604020202020204" pitchFamily="34" charset="0"/>
              <a:buChar char="•"/>
            </a:pPr>
            <a:r>
              <a:rPr lang="en-US" sz="1050">
                <a:solidFill>
                  <a:schemeClr val="bg1">
                    <a:lumMod val="50000"/>
                  </a:schemeClr>
                </a:solidFill>
              </a:rPr>
              <a:t>Total compensation statements</a:t>
            </a:r>
          </a:p>
          <a:p>
            <a:pPr marL="171450" indent="-171450">
              <a:buFont typeface="Arial" panose="020B0604020202020204" pitchFamily="34" charset="0"/>
              <a:buChar char="•"/>
            </a:pPr>
            <a:r>
              <a:rPr lang="en-US" sz="1050">
                <a:solidFill>
                  <a:schemeClr val="bg1">
                    <a:lumMod val="50000"/>
                  </a:schemeClr>
                </a:solidFill>
              </a:rPr>
              <a:t>Mailing &amp; fulfillment center</a:t>
            </a:r>
          </a:p>
          <a:p>
            <a:pPr marL="171450" indent="-171450">
              <a:buFont typeface="Arial" panose="020B0604020202020204" pitchFamily="34" charset="0"/>
              <a:buChar char="•"/>
            </a:pPr>
            <a:r>
              <a:rPr lang="en-US" sz="1050">
                <a:solidFill>
                  <a:schemeClr val="bg1">
                    <a:lumMod val="50000"/>
                  </a:schemeClr>
                </a:solidFill>
              </a:rPr>
              <a:t>Branded benefit guides, postcards, newsletters, videos, apps</a:t>
            </a:r>
          </a:p>
        </p:txBody>
      </p:sp>
      <p:sp>
        <p:nvSpPr>
          <p:cNvPr id="50" name="TextBox 49">
            <a:extLst>
              <a:ext uri="{FF2B5EF4-FFF2-40B4-BE49-F238E27FC236}">
                <a16:creationId xmlns:a16="http://schemas.microsoft.com/office/drawing/2014/main" id="{D1857D3E-20A9-4B8E-B6C5-675D0BC9DDF0}"/>
              </a:ext>
            </a:extLst>
          </p:cNvPr>
          <p:cNvSpPr txBox="1"/>
          <p:nvPr/>
        </p:nvSpPr>
        <p:spPr>
          <a:xfrm>
            <a:off x="568925" y="3437722"/>
            <a:ext cx="2743200" cy="1708160"/>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Custom PBM &amp; Clinical Programs</a:t>
            </a:r>
          </a:p>
          <a:p>
            <a:pPr marL="171450" indent="-171450">
              <a:buFont typeface="Arial" panose="020B0604020202020204" pitchFamily="34" charset="0"/>
              <a:buChar char="•"/>
            </a:pPr>
            <a:r>
              <a:rPr lang="en-US" sz="1050">
                <a:solidFill>
                  <a:schemeClr val="bg1">
                    <a:lumMod val="50000"/>
                  </a:schemeClr>
                </a:solidFill>
              </a:rPr>
              <a:t>Pharmacy Coalition Drug Purchasing Tool</a:t>
            </a:r>
          </a:p>
          <a:p>
            <a:pPr marL="171450" indent="-171450">
              <a:buFont typeface="Arial" panose="020B0604020202020204" pitchFamily="34" charset="0"/>
              <a:buChar char="•"/>
            </a:pPr>
            <a:r>
              <a:rPr lang="en-US" sz="1050">
                <a:solidFill>
                  <a:schemeClr val="bg1">
                    <a:lumMod val="50000"/>
                  </a:schemeClr>
                </a:solidFill>
              </a:rPr>
              <a:t>Clinical Care Management</a:t>
            </a:r>
          </a:p>
          <a:p>
            <a:pPr marL="171450" indent="-171450">
              <a:buFont typeface="Arial" panose="020B0604020202020204" pitchFamily="34" charset="0"/>
              <a:buChar char="•"/>
            </a:pPr>
            <a:r>
              <a:rPr lang="en-US" sz="1050">
                <a:solidFill>
                  <a:schemeClr val="bg1">
                    <a:lumMod val="50000"/>
                  </a:schemeClr>
                </a:solidFill>
              </a:rPr>
              <a:t>RFP / Vendor Selection</a:t>
            </a:r>
          </a:p>
          <a:p>
            <a:pPr marL="171450" indent="-171450">
              <a:buFont typeface="Arial" panose="020B0604020202020204" pitchFamily="34" charset="0"/>
              <a:buChar char="•"/>
            </a:pPr>
            <a:r>
              <a:rPr lang="en-US" sz="1050">
                <a:solidFill>
                  <a:schemeClr val="bg1">
                    <a:lumMod val="50000"/>
                  </a:schemeClr>
                </a:solidFill>
              </a:rPr>
              <a:t>Contract Review and Negotiation</a:t>
            </a:r>
          </a:p>
          <a:p>
            <a:pPr marL="171450" indent="-171450">
              <a:buFont typeface="Arial" panose="020B0604020202020204" pitchFamily="34" charset="0"/>
              <a:buChar char="•"/>
            </a:pPr>
            <a:r>
              <a:rPr lang="en-US" sz="1050">
                <a:solidFill>
                  <a:schemeClr val="bg1">
                    <a:lumMod val="50000"/>
                  </a:schemeClr>
                </a:solidFill>
              </a:rPr>
              <a:t>Market Check Analysis</a:t>
            </a:r>
          </a:p>
          <a:p>
            <a:pPr marL="171450" indent="-171450">
              <a:buFont typeface="Arial" panose="020B0604020202020204" pitchFamily="34" charset="0"/>
              <a:buChar char="•"/>
            </a:pPr>
            <a:r>
              <a:rPr lang="en-US" sz="1050">
                <a:solidFill>
                  <a:schemeClr val="bg1">
                    <a:lumMod val="50000"/>
                  </a:schemeClr>
                </a:solidFill>
              </a:rPr>
              <a:t>Auditing and Clinical Reviews</a:t>
            </a:r>
          </a:p>
        </p:txBody>
      </p:sp>
      <p:sp>
        <p:nvSpPr>
          <p:cNvPr id="39" name="TextBox 38">
            <a:extLst>
              <a:ext uri="{FF2B5EF4-FFF2-40B4-BE49-F238E27FC236}">
                <a16:creationId xmlns:a16="http://schemas.microsoft.com/office/drawing/2014/main" id="{94ED2830-2806-44DD-BEE6-044CFEBAE0CF}"/>
              </a:ext>
            </a:extLst>
          </p:cNvPr>
          <p:cNvSpPr txBox="1"/>
          <p:nvPr/>
        </p:nvSpPr>
        <p:spPr>
          <a:xfrm>
            <a:off x="558111" y="5041947"/>
            <a:ext cx="1917704" cy="307777"/>
          </a:xfrm>
          <a:prstGeom prst="rect">
            <a:avLst/>
          </a:prstGeom>
          <a:noFill/>
        </p:spPr>
        <p:txBody>
          <a:bodyPr wrap="none" rtlCol="0">
            <a:spAutoFit/>
          </a:bodyPr>
          <a:lstStyle/>
          <a:p>
            <a:r>
              <a:rPr lang="en-US" sz="1400" b="1"/>
              <a:t>Mergers &amp; Acquisitions</a:t>
            </a:r>
          </a:p>
        </p:txBody>
      </p:sp>
      <p:sp>
        <p:nvSpPr>
          <p:cNvPr id="44" name="TextBox 43">
            <a:extLst>
              <a:ext uri="{FF2B5EF4-FFF2-40B4-BE49-F238E27FC236}">
                <a16:creationId xmlns:a16="http://schemas.microsoft.com/office/drawing/2014/main" id="{E77C0172-8FAB-48A3-A7BF-68ACFF514282}"/>
              </a:ext>
            </a:extLst>
          </p:cNvPr>
          <p:cNvSpPr txBox="1"/>
          <p:nvPr/>
        </p:nvSpPr>
        <p:spPr>
          <a:xfrm>
            <a:off x="568925" y="5356882"/>
            <a:ext cx="2743200" cy="1223412"/>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Diagnostic review &amp; recommendation</a:t>
            </a:r>
          </a:p>
          <a:p>
            <a:pPr marL="171450" indent="-171450">
              <a:buFont typeface="Arial" panose="020B0604020202020204" pitchFamily="34" charset="0"/>
              <a:buChar char="•"/>
            </a:pPr>
            <a:r>
              <a:rPr lang="en-US" sz="1050">
                <a:solidFill>
                  <a:schemeClr val="bg1">
                    <a:lumMod val="50000"/>
                  </a:schemeClr>
                </a:solidFill>
              </a:rPr>
              <a:t>Administrative &amp; executive mediation</a:t>
            </a:r>
          </a:p>
          <a:p>
            <a:pPr marL="171450" indent="-171450">
              <a:buFont typeface="Arial" panose="020B0604020202020204" pitchFamily="34" charset="0"/>
              <a:buChar char="•"/>
            </a:pPr>
            <a:r>
              <a:rPr lang="en-US" sz="1050">
                <a:solidFill>
                  <a:schemeClr val="bg1">
                    <a:lumMod val="50000"/>
                  </a:schemeClr>
                </a:solidFill>
              </a:rPr>
              <a:t>Turn-key employee benefits operation</a:t>
            </a:r>
          </a:p>
          <a:p>
            <a:pPr marL="171450" indent="-171450">
              <a:buFont typeface="Arial" panose="020B0604020202020204" pitchFamily="34" charset="0"/>
              <a:buChar char="•"/>
            </a:pPr>
            <a:r>
              <a:rPr lang="en-US" sz="1050">
                <a:solidFill>
                  <a:schemeClr val="bg1">
                    <a:lumMod val="50000"/>
                  </a:schemeClr>
                </a:solidFill>
              </a:rPr>
              <a:t>Pre &amp; post-investment analysis </a:t>
            </a:r>
          </a:p>
        </p:txBody>
      </p:sp>
      <p:sp>
        <p:nvSpPr>
          <p:cNvPr id="53" name="TextBox 52">
            <a:extLst>
              <a:ext uri="{FF2B5EF4-FFF2-40B4-BE49-F238E27FC236}">
                <a16:creationId xmlns:a16="http://schemas.microsoft.com/office/drawing/2014/main" id="{1072716C-7641-48E8-91C5-D9871B018BF7}"/>
              </a:ext>
            </a:extLst>
          </p:cNvPr>
          <p:cNvSpPr txBox="1"/>
          <p:nvPr/>
        </p:nvSpPr>
        <p:spPr>
          <a:xfrm>
            <a:off x="3277439" y="5030175"/>
            <a:ext cx="1664943" cy="307777"/>
          </a:xfrm>
          <a:prstGeom prst="rect">
            <a:avLst/>
          </a:prstGeom>
          <a:noFill/>
        </p:spPr>
        <p:txBody>
          <a:bodyPr wrap="none" rtlCol="0">
            <a:spAutoFit/>
          </a:bodyPr>
          <a:lstStyle/>
          <a:p>
            <a:r>
              <a:rPr lang="en-US" sz="1400" b="1"/>
              <a:t>Employee Advocacy</a:t>
            </a:r>
          </a:p>
        </p:txBody>
      </p:sp>
      <p:sp>
        <p:nvSpPr>
          <p:cNvPr id="54" name="TextBox 53">
            <a:extLst>
              <a:ext uri="{FF2B5EF4-FFF2-40B4-BE49-F238E27FC236}">
                <a16:creationId xmlns:a16="http://schemas.microsoft.com/office/drawing/2014/main" id="{7035B7ED-98A3-4698-9C2A-9036A64BD99F}"/>
              </a:ext>
            </a:extLst>
          </p:cNvPr>
          <p:cNvSpPr txBox="1"/>
          <p:nvPr/>
        </p:nvSpPr>
        <p:spPr>
          <a:xfrm>
            <a:off x="3288253" y="5356882"/>
            <a:ext cx="2743200" cy="1061829"/>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Employee call center</a:t>
            </a:r>
          </a:p>
          <a:p>
            <a:pPr marL="171450" indent="-171450">
              <a:buFont typeface="Arial" panose="020B0604020202020204" pitchFamily="34" charset="0"/>
              <a:buChar char="•"/>
            </a:pPr>
            <a:r>
              <a:rPr lang="en-US" sz="1050">
                <a:solidFill>
                  <a:schemeClr val="bg1">
                    <a:lumMod val="50000"/>
                  </a:schemeClr>
                </a:solidFill>
              </a:rPr>
              <a:t>Escalated claims resolution</a:t>
            </a:r>
          </a:p>
          <a:p>
            <a:pPr marL="171450" indent="-171450">
              <a:buFont typeface="Arial" panose="020B0604020202020204" pitchFamily="34" charset="0"/>
              <a:buChar char="•"/>
            </a:pPr>
            <a:r>
              <a:rPr lang="en-US" sz="1050">
                <a:solidFill>
                  <a:schemeClr val="bg1">
                    <a:lumMod val="50000"/>
                  </a:schemeClr>
                </a:solidFill>
              </a:rPr>
              <a:t>Dedicated 800 number and email</a:t>
            </a:r>
          </a:p>
          <a:p>
            <a:pPr marL="171450" indent="-171450">
              <a:buFont typeface="Arial" panose="020B0604020202020204" pitchFamily="34" charset="0"/>
              <a:buChar char="•"/>
            </a:pPr>
            <a:r>
              <a:rPr lang="en-US" sz="1050">
                <a:solidFill>
                  <a:schemeClr val="bg1">
                    <a:lumMod val="50000"/>
                  </a:schemeClr>
                </a:solidFill>
              </a:rPr>
              <a:t>Liaison between employee and carrier</a:t>
            </a:r>
          </a:p>
          <a:p>
            <a:pPr marL="171450" indent="-171450">
              <a:buFont typeface="Arial" panose="020B0604020202020204" pitchFamily="34" charset="0"/>
              <a:buChar char="•"/>
            </a:pPr>
            <a:r>
              <a:rPr lang="en-US" sz="1050">
                <a:solidFill>
                  <a:schemeClr val="bg1">
                    <a:lumMod val="50000"/>
                  </a:schemeClr>
                </a:solidFill>
              </a:rPr>
              <a:t>Telephonic support for over 200 languages</a:t>
            </a:r>
          </a:p>
        </p:txBody>
      </p:sp>
      <p:sp>
        <p:nvSpPr>
          <p:cNvPr id="56" name="TextBox 55">
            <a:extLst>
              <a:ext uri="{FF2B5EF4-FFF2-40B4-BE49-F238E27FC236}">
                <a16:creationId xmlns:a16="http://schemas.microsoft.com/office/drawing/2014/main" id="{A02F5459-745B-47EF-BD43-ADE63E089A4C}"/>
              </a:ext>
            </a:extLst>
          </p:cNvPr>
          <p:cNvSpPr txBox="1"/>
          <p:nvPr/>
        </p:nvSpPr>
        <p:spPr>
          <a:xfrm>
            <a:off x="6263106" y="5040896"/>
            <a:ext cx="1589474" cy="307777"/>
          </a:xfrm>
          <a:prstGeom prst="rect">
            <a:avLst/>
          </a:prstGeom>
          <a:noFill/>
        </p:spPr>
        <p:txBody>
          <a:bodyPr wrap="none" rtlCol="0">
            <a:spAutoFit/>
          </a:bodyPr>
          <a:lstStyle/>
          <a:p>
            <a:r>
              <a:rPr lang="en-US" sz="1400" b="1"/>
              <a:t>Personal Insurance</a:t>
            </a:r>
          </a:p>
        </p:txBody>
      </p:sp>
      <p:sp>
        <p:nvSpPr>
          <p:cNvPr id="57" name="TextBox 56">
            <a:extLst>
              <a:ext uri="{FF2B5EF4-FFF2-40B4-BE49-F238E27FC236}">
                <a16:creationId xmlns:a16="http://schemas.microsoft.com/office/drawing/2014/main" id="{CD5EE6C4-6087-4EDE-BD0D-66E672EE743C}"/>
              </a:ext>
            </a:extLst>
          </p:cNvPr>
          <p:cNvSpPr txBox="1"/>
          <p:nvPr/>
        </p:nvSpPr>
        <p:spPr>
          <a:xfrm>
            <a:off x="6273920" y="5356882"/>
            <a:ext cx="2743200" cy="1384995"/>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Personalized risk management</a:t>
            </a:r>
          </a:p>
          <a:p>
            <a:pPr marL="171450" indent="-171450">
              <a:buFont typeface="Arial" panose="020B0604020202020204" pitchFamily="34" charset="0"/>
              <a:buChar char="•"/>
            </a:pPr>
            <a:r>
              <a:rPr lang="en-US" sz="1050">
                <a:solidFill>
                  <a:schemeClr val="bg1">
                    <a:lumMod val="50000"/>
                  </a:schemeClr>
                </a:solidFill>
              </a:rPr>
              <a:t>Coverage evaluation</a:t>
            </a:r>
          </a:p>
          <a:p>
            <a:pPr marL="171450" indent="-171450">
              <a:buFont typeface="Arial" panose="020B0604020202020204" pitchFamily="34" charset="0"/>
              <a:buChar char="•"/>
            </a:pPr>
            <a:r>
              <a:rPr lang="en-US" sz="1050">
                <a:solidFill>
                  <a:schemeClr val="bg1">
                    <a:lumMod val="50000"/>
                  </a:schemeClr>
                </a:solidFill>
              </a:rPr>
              <a:t>Personal auto/home/life, etc.</a:t>
            </a:r>
          </a:p>
          <a:p>
            <a:pPr marL="171450" indent="-171450">
              <a:buFont typeface="Arial" panose="020B0604020202020204" pitchFamily="34" charset="0"/>
              <a:buChar char="•"/>
            </a:pPr>
            <a:r>
              <a:rPr lang="en-US" sz="1050">
                <a:solidFill>
                  <a:schemeClr val="bg1">
                    <a:lumMod val="50000"/>
                  </a:schemeClr>
                </a:solidFill>
              </a:rPr>
              <a:t>HCE program placement</a:t>
            </a:r>
          </a:p>
          <a:p>
            <a:pPr marL="171450" indent="-171450">
              <a:buFont typeface="Arial" panose="020B0604020202020204" pitchFamily="34" charset="0"/>
              <a:buChar char="•"/>
            </a:pPr>
            <a:r>
              <a:rPr lang="en-US" sz="1050">
                <a:solidFill>
                  <a:schemeClr val="bg1">
                    <a:lumMod val="50000"/>
                  </a:schemeClr>
                </a:solidFill>
              </a:rPr>
              <a:t>Asset protection</a:t>
            </a:r>
          </a:p>
          <a:p>
            <a:pPr marL="171450" indent="-171450">
              <a:buFont typeface="Arial" panose="020B0604020202020204" pitchFamily="34" charset="0"/>
              <a:buChar char="•"/>
            </a:pPr>
            <a:r>
              <a:rPr lang="en-US" sz="1050">
                <a:solidFill>
                  <a:schemeClr val="bg1">
                    <a:lumMod val="50000"/>
                  </a:schemeClr>
                </a:solidFill>
              </a:rPr>
              <a:t>Future planning</a:t>
            </a:r>
          </a:p>
          <a:p>
            <a:pPr marL="171450" indent="-171450">
              <a:buFont typeface="Arial" panose="020B0604020202020204" pitchFamily="34" charset="0"/>
              <a:buChar char="•"/>
            </a:pPr>
            <a:endParaRPr lang="en-US" sz="1050">
              <a:solidFill>
                <a:schemeClr val="bg1">
                  <a:lumMod val="50000"/>
                </a:schemeClr>
              </a:solidFill>
            </a:endParaRPr>
          </a:p>
        </p:txBody>
      </p:sp>
      <p:sp>
        <p:nvSpPr>
          <p:cNvPr id="74" name="TextBox 73">
            <a:extLst>
              <a:ext uri="{FF2B5EF4-FFF2-40B4-BE49-F238E27FC236}">
                <a16:creationId xmlns:a16="http://schemas.microsoft.com/office/drawing/2014/main" id="{F7F7D4F1-ED17-431E-A9ED-9A5D94BB55D0}"/>
              </a:ext>
            </a:extLst>
          </p:cNvPr>
          <p:cNvSpPr txBox="1"/>
          <p:nvPr/>
        </p:nvSpPr>
        <p:spPr>
          <a:xfrm>
            <a:off x="9061447" y="1099560"/>
            <a:ext cx="1951816" cy="307777"/>
          </a:xfrm>
          <a:prstGeom prst="rect">
            <a:avLst/>
          </a:prstGeom>
          <a:noFill/>
        </p:spPr>
        <p:txBody>
          <a:bodyPr wrap="none" rtlCol="0">
            <a:spAutoFit/>
          </a:bodyPr>
          <a:lstStyle/>
          <a:p>
            <a:r>
              <a:rPr lang="en-US" sz="1400" b="1"/>
              <a:t>Benefits Administration</a:t>
            </a:r>
          </a:p>
        </p:txBody>
      </p:sp>
      <p:sp>
        <p:nvSpPr>
          <p:cNvPr id="75" name="TextBox 74">
            <a:extLst>
              <a:ext uri="{FF2B5EF4-FFF2-40B4-BE49-F238E27FC236}">
                <a16:creationId xmlns:a16="http://schemas.microsoft.com/office/drawing/2014/main" id="{AB6F80BA-9CEE-40A2-A7F5-98342A42C729}"/>
              </a:ext>
            </a:extLst>
          </p:cNvPr>
          <p:cNvSpPr txBox="1"/>
          <p:nvPr/>
        </p:nvSpPr>
        <p:spPr>
          <a:xfrm>
            <a:off x="9072261" y="1429750"/>
            <a:ext cx="2743200" cy="1384995"/>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Online enrollment platform</a:t>
            </a:r>
          </a:p>
          <a:p>
            <a:pPr marL="171450" indent="-171450">
              <a:buFont typeface="Arial" panose="020B0604020202020204" pitchFamily="34" charset="0"/>
              <a:buChar char="•"/>
            </a:pPr>
            <a:r>
              <a:rPr lang="en-US" sz="1050">
                <a:solidFill>
                  <a:schemeClr val="bg1">
                    <a:lumMod val="50000"/>
                  </a:schemeClr>
                </a:solidFill>
              </a:rPr>
              <a:t>Defined contribution options</a:t>
            </a:r>
          </a:p>
          <a:p>
            <a:pPr marL="171450" indent="-171450">
              <a:buFont typeface="Arial" panose="020B0604020202020204" pitchFamily="34" charset="0"/>
              <a:buChar char="•"/>
            </a:pPr>
            <a:r>
              <a:rPr lang="en-US" sz="1050">
                <a:solidFill>
                  <a:schemeClr val="bg1">
                    <a:lumMod val="50000"/>
                  </a:schemeClr>
                </a:solidFill>
              </a:rPr>
              <a:t>Eligibility &amp; billing administration</a:t>
            </a:r>
          </a:p>
          <a:p>
            <a:pPr marL="171450" indent="-171450">
              <a:buFont typeface="Arial" panose="020B0604020202020204" pitchFamily="34" charset="0"/>
              <a:buChar char="•"/>
            </a:pPr>
            <a:r>
              <a:rPr lang="en-US" sz="1050">
                <a:solidFill>
                  <a:schemeClr val="bg1">
                    <a:lumMod val="50000"/>
                  </a:schemeClr>
                </a:solidFill>
              </a:rPr>
              <a:t>Reconciled and consolidated billing</a:t>
            </a:r>
          </a:p>
          <a:p>
            <a:pPr marL="171450" indent="-171450">
              <a:buFont typeface="Arial" panose="020B0604020202020204" pitchFamily="34" charset="0"/>
              <a:buChar char="•"/>
            </a:pPr>
            <a:r>
              <a:rPr lang="en-US" sz="1050">
                <a:solidFill>
                  <a:schemeClr val="bg1">
                    <a:lumMod val="50000"/>
                  </a:schemeClr>
                </a:solidFill>
              </a:rPr>
              <a:t>FSA, COBRA, HRA administration</a:t>
            </a:r>
          </a:p>
          <a:p>
            <a:pPr marL="171450" indent="-171450">
              <a:buFont typeface="Arial" panose="020B0604020202020204" pitchFamily="34" charset="0"/>
              <a:buChar char="•"/>
            </a:pPr>
            <a:r>
              <a:rPr lang="en-US" sz="1050">
                <a:solidFill>
                  <a:schemeClr val="bg1">
                    <a:lumMod val="50000"/>
                  </a:schemeClr>
                </a:solidFill>
              </a:rPr>
              <a:t>Real-time Admin panel, Employee Portal</a:t>
            </a:r>
          </a:p>
          <a:p>
            <a:pPr marL="171450" indent="-171450">
              <a:buFont typeface="Arial" panose="020B0604020202020204" pitchFamily="34" charset="0"/>
              <a:buChar char="•"/>
            </a:pPr>
            <a:r>
              <a:rPr lang="en-US" sz="1050">
                <a:solidFill>
                  <a:schemeClr val="bg1">
                    <a:lumMod val="50000"/>
                  </a:schemeClr>
                </a:solidFill>
              </a:rPr>
              <a:t>Mobile apps</a:t>
            </a:r>
          </a:p>
          <a:p>
            <a:pPr marL="171450" indent="-171450">
              <a:buFont typeface="Arial" panose="020B0604020202020204" pitchFamily="34" charset="0"/>
              <a:buChar char="•"/>
            </a:pPr>
            <a:r>
              <a:rPr lang="en-US" sz="1050">
                <a:solidFill>
                  <a:schemeClr val="bg1">
                    <a:lumMod val="50000"/>
                  </a:schemeClr>
                </a:solidFill>
              </a:rPr>
              <a:t>Compliance management, ADA, FMLA</a:t>
            </a:r>
          </a:p>
        </p:txBody>
      </p:sp>
      <p:sp>
        <p:nvSpPr>
          <p:cNvPr id="77" name="TextBox 76">
            <a:extLst>
              <a:ext uri="{FF2B5EF4-FFF2-40B4-BE49-F238E27FC236}">
                <a16:creationId xmlns:a16="http://schemas.microsoft.com/office/drawing/2014/main" id="{8BDAFE71-5ACB-4716-9BF8-E527718F1D8C}"/>
              </a:ext>
            </a:extLst>
          </p:cNvPr>
          <p:cNvSpPr txBox="1"/>
          <p:nvPr/>
        </p:nvSpPr>
        <p:spPr>
          <a:xfrm>
            <a:off x="9061447" y="3136507"/>
            <a:ext cx="1543115" cy="307777"/>
          </a:xfrm>
          <a:prstGeom prst="rect">
            <a:avLst/>
          </a:prstGeom>
          <a:noFill/>
        </p:spPr>
        <p:txBody>
          <a:bodyPr wrap="none" rtlCol="0">
            <a:spAutoFit/>
          </a:bodyPr>
          <a:lstStyle/>
          <a:p>
            <a:r>
              <a:rPr lang="en-US" sz="1400" b="1"/>
              <a:t>Executive Benefits</a:t>
            </a:r>
          </a:p>
        </p:txBody>
      </p:sp>
      <p:sp>
        <p:nvSpPr>
          <p:cNvPr id="78" name="TextBox 77">
            <a:extLst>
              <a:ext uri="{FF2B5EF4-FFF2-40B4-BE49-F238E27FC236}">
                <a16:creationId xmlns:a16="http://schemas.microsoft.com/office/drawing/2014/main" id="{7E144863-D956-4976-933C-075FFD34B06A}"/>
              </a:ext>
            </a:extLst>
          </p:cNvPr>
          <p:cNvSpPr txBox="1"/>
          <p:nvPr/>
        </p:nvSpPr>
        <p:spPr>
          <a:xfrm>
            <a:off x="9072261" y="3437722"/>
            <a:ext cx="2743200" cy="1546577"/>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Executive benefit plans to attract top talent</a:t>
            </a:r>
          </a:p>
          <a:p>
            <a:pPr marL="171450" indent="-171450">
              <a:buFont typeface="Arial" panose="020B0604020202020204" pitchFamily="34" charset="0"/>
              <a:buChar char="•"/>
            </a:pPr>
            <a:r>
              <a:rPr lang="en-US" sz="1050">
                <a:solidFill>
                  <a:schemeClr val="bg1">
                    <a:lumMod val="50000"/>
                  </a:schemeClr>
                </a:solidFill>
              </a:rPr>
              <a:t>Retirement plans</a:t>
            </a:r>
          </a:p>
          <a:p>
            <a:pPr marL="171450" indent="-171450">
              <a:buFont typeface="Arial" panose="020B0604020202020204" pitchFamily="34" charset="0"/>
              <a:buChar char="•"/>
            </a:pPr>
            <a:r>
              <a:rPr lang="en-US" sz="1050">
                <a:solidFill>
                  <a:schemeClr val="bg1">
                    <a:lumMod val="50000"/>
                  </a:schemeClr>
                </a:solidFill>
              </a:rPr>
              <a:t>Business succession planning</a:t>
            </a:r>
          </a:p>
          <a:p>
            <a:pPr marL="171450" indent="-171450">
              <a:buFont typeface="Arial" panose="020B0604020202020204" pitchFamily="34" charset="0"/>
              <a:buChar char="•"/>
            </a:pPr>
            <a:r>
              <a:rPr lang="en-US" sz="1050">
                <a:solidFill>
                  <a:schemeClr val="bg1">
                    <a:lumMod val="50000"/>
                  </a:schemeClr>
                </a:solidFill>
              </a:rPr>
              <a:t>Wealth preservation</a:t>
            </a:r>
          </a:p>
          <a:p>
            <a:pPr marL="171450" indent="-171450">
              <a:buFont typeface="Arial" panose="020B0604020202020204" pitchFamily="34" charset="0"/>
              <a:buChar char="•"/>
            </a:pPr>
            <a:r>
              <a:rPr lang="en-US" sz="1050">
                <a:solidFill>
                  <a:schemeClr val="bg1">
                    <a:lumMod val="50000"/>
                  </a:schemeClr>
                </a:solidFill>
              </a:rPr>
              <a:t>Life and disability plans</a:t>
            </a:r>
          </a:p>
          <a:p>
            <a:pPr marL="171450" indent="-171450">
              <a:buFont typeface="Arial" panose="020B0604020202020204" pitchFamily="34" charset="0"/>
              <a:buChar char="•"/>
            </a:pPr>
            <a:r>
              <a:rPr lang="en-US" sz="1050">
                <a:solidFill>
                  <a:schemeClr val="bg1">
                    <a:lumMod val="50000"/>
                  </a:schemeClr>
                </a:solidFill>
              </a:rPr>
              <a:t>Individual Disability Insurance</a:t>
            </a:r>
          </a:p>
          <a:p>
            <a:pPr marL="171450" indent="-171450">
              <a:buFont typeface="Arial" panose="020B0604020202020204" pitchFamily="34" charset="0"/>
              <a:buChar char="•"/>
            </a:pPr>
            <a:r>
              <a:rPr lang="en-US" sz="1050">
                <a:solidFill>
                  <a:schemeClr val="bg1">
                    <a:lumMod val="50000"/>
                  </a:schemeClr>
                </a:solidFill>
              </a:rPr>
              <a:t>Executive long-term care</a:t>
            </a:r>
          </a:p>
        </p:txBody>
      </p:sp>
      <p:sp>
        <p:nvSpPr>
          <p:cNvPr id="80" name="TextBox 79">
            <a:extLst>
              <a:ext uri="{FF2B5EF4-FFF2-40B4-BE49-F238E27FC236}">
                <a16:creationId xmlns:a16="http://schemas.microsoft.com/office/drawing/2014/main" id="{6A18B768-1B19-478C-A37C-39C7E1E10446}"/>
              </a:ext>
            </a:extLst>
          </p:cNvPr>
          <p:cNvSpPr txBox="1"/>
          <p:nvPr/>
        </p:nvSpPr>
        <p:spPr>
          <a:xfrm>
            <a:off x="9061447" y="5041404"/>
            <a:ext cx="936282" cy="307777"/>
          </a:xfrm>
          <a:prstGeom prst="rect">
            <a:avLst/>
          </a:prstGeom>
          <a:noFill/>
        </p:spPr>
        <p:txBody>
          <a:bodyPr wrap="none" rtlCol="0">
            <a:spAutoFit/>
          </a:bodyPr>
          <a:lstStyle/>
          <a:p>
            <a:r>
              <a:rPr lang="en-US" sz="1400" b="1"/>
              <a:t>Brokerage</a:t>
            </a:r>
          </a:p>
        </p:txBody>
      </p:sp>
      <p:sp>
        <p:nvSpPr>
          <p:cNvPr id="81" name="TextBox 80">
            <a:extLst>
              <a:ext uri="{FF2B5EF4-FFF2-40B4-BE49-F238E27FC236}">
                <a16:creationId xmlns:a16="http://schemas.microsoft.com/office/drawing/2014/main" id="{0A4F521E-F606-48ED-94C0-847043E889E4}"/>
              </a:ext>
            </a:extLst>
          </p:cNvPr>
          <p:cNvSpPr txBox="1"/>
          <p:nvPr/>
        </p:nvSpPr>
        <p:spPr>
          <a:xfrm>
            <a:off x="9061447" y="5356882"/>
            <a:ext cx="2743200" cy="1061829"/>
          </a:xfrm>
          <a:prstGeom prst="rect">
            <a:avLst/>
          </a:prstGeom>
          <a:noFill/>
        </p:spPr>
        <p:txBody>
          <a:bodyPr wrap="square" rtlCol="0">
            <a:spAutoFit/>
          </a:bodyPr>
          <a:lstStyle/>
          <a:p>
            <a:pPr marL="171450" indent="-171450">
              <a:buFont typeface="Arial" panose="020B0604020202020204" pitchFamily="34" charset="0"/>
              <a:buChar char="•"/>
            </a:pPr>
            <a:r>
              <a:rPr lang="en-US" sz="1050">
                <a:solidFill>
                  <a:schemeClr val="bg1">
                    <a:lumMod val="50000"/>
                  </a:schemeClr>
                </a:solidFill>
              </a:rPr>
              <a:t>Full brokerage &amp; plan design</a:t>
            </a:r>
          </a:p>
          <a:p>
            <a:pPr marL="171450" indent="-171450">
              <a:buFont typeface="Arial" panose="020B0604020202020204" pitchFamily="34" charset="0"/>
              <a:buChar char="•"/>
            </a:pPr>
            <a:r>
              <a:rPr lang="en-US" sz="1050">
                <a:solidFill>
                  <a:schemeClr val="bg1">
                    <a:lumMod val="50000"/>
                  </a:schemeClr>
                </a:solidFill>
              </a:rPr>
              <a:t>Forecasting &amp; modeling</a:t>
            </a:r>
          </a:p>
          <a:p>
            <a:pPr marL="171450" indent="-171450">
              <a:buFont typeface="Arial" panose="020B0604020202020204" pitchFamily="34" charset="0"/>
              <a:buChar char="•"/>
            </a:pPr>
            <a:r>
              <a:rPr lang="en-US" sz="1050">
                <a:solidFill>
                  <a:schemeClr val="bg1">
                    <a:lumMod val="50000"/>
                  </a:schemeClr>
                </a:solidFill>
              </a:rPr>
              <a:t>Claims &amp; Billing Assistance </a:t>
            </a:r>
          </a:p>
          <a:p>
            <a:pPr marL="171450" indent="-171450">
              <a:buFont typeface="Arial" panose="020B0604020202020204" pitchFamily="34" charset="0"/>
              <a:buChar char="•"/>
            </a:pPr>
            <a:r>
              <a:rPr lang="en-US" sz="1050">
                <a:solidFill>
                  <a:schemeClr val="bg1">
                    <a:lumMod val="50000"/>
                  </a:schemeClr>
                </a:solidFill>
              </a:rPr>
              <a:t>Negotiation </a:t>
            </a:r>
          </a:p>
          <a:p>
            <a:pPr marL="171450" indent="-171450">
              <a:buFont typeface="Arial" panose="020B0604020202020204" pitchFamily="34" charset="0"/>
              <a:buChar char="•"/>
            </a:pPr>
            <a:r>
              <a:rPr lang="en-US" sz="1050">
                <a:solidFill>
                  <a:schemeClr val="bg1">
                    <a:lumMod val="50000"/>
                  </a:schemeClr>
                </a:solidFill>
              </a:rPr>
              <a:t>Contractual analysis</a:t>
            </a:r>
          </a:p>
          <a:p>
            <a:pPr marL="171450" indent="-171450">
              <a:buFont typeface="Arial" panose="020B0604020202020204" pitchFamily="34" charset="0"/>
              <a:buChar char="•"/>
            </a:pPr>
            <a:r>
              <a:rPr lang="en-US" sz="1050">
                <a:solidFill>
                  <a:schemeClr val="bg1">
                    <a:lumMod val="50000"/>
                  </a:schemeClr>
                </a:solidFill>
              </a:rPr>
              <a:t>Benchmarking</a:t>
            </a:r>
          </a:p>
        </p:txBody>
      </p:sp>
      <p:sp>
        <p:nvSpPr>
          <p:cNvPr id="68" name="Slide Number Placeholder 3">
            <a:extLst>
              <a:ext uri="{FF2B5EF4-FFF2-40B4-BE49-F238E27FC236}">
                <a16:creationId xmlns:a16="http://schemas.microsoft.com/office/drawing/2014/main" id="{20F7314A-9108-4E2F-8F4B-FE9927ECB4E1}"/>
              </a:ext>
            </a:extLst>
          </p:cNvPr>
          <p:cNvSpPr>
            <a:spLocks noGrp="1"/>
          </p:cNvSpPr>
          <p:nvPr>
            <p:ph type="sldNum" sz="quarter" idx="12"/>
          </p:nvPr>
        </p:nvSpPr>
        <p:spPr>
          <a:xfrm>
            <a:off x="9241901" y="6423498"/>
            <a:ext cx="2743200" cy="365125"/>
          </a:xfrm>
        </p:spPr>
        <p:txBody>
          <a:bodyPr/>
          <a:lstStyle/>
          <a:p>
            <a:fld id="{9F83C71D-5188-47D0-A00C-1B5FA6F229A2}" type="slidenum">
              <a:rPr lang="en-US" smtClean="0">
                <a:solidFill>
                  <a:schemeClr val="tx1"/>
                </a:solidFill>
              </a:rPr>
              <a:t>13</a:t>
            </a:fld>
            <a:endParaRPr lang="en-US">
              <a:solidFill>
                <a:schemeClr val="tx1"/>
              </a:solidFill>
            </a:endParaRPr>
          </a:p>
        </p:txBody>
      </p:sp>
      <p:grpSp>
        <p:nvGrpSpPr>
          <p:cNvPr id="60" name="Group 59">
            <a:extLst>
              <a:ext uri="{FF2B5EF4-FFF2-40B4-BE49-F238E27FC236}">
                <a16:creationId xmlns:a16="http://schemas.microsoft.com/office/drawing/2014/main" id="{DA21355E-FA4E-4EE6-B29C-DEF990C730FE}"/>
              </a:ext>
            </a:extLst>
          </p:cNvPr>
          <p:cNvGrpSpPr/>
          <p:nvPr/>
        </p:nvGrpSpPr>
        <p:grpSpPr>
          <a:xfrm>
            <a:off x="3805789" y="173758"/>
            <a:ext cx="3767411" cy="903389"/>
            <a:chOff x="3073228" y="182217"/>
            <a:chExt cx="3767411" cy="903389"/>
          </a:xfrm>
        </p:grpSpPr>
        <p:cxnSp>
          <p:nvCxnSpPr>
            <p:cNvPr id="16" name="Straight Connector 15">
              <a:extLst>
                <a:ext uri="{FF2B5EF4-FFF2-40B4-BE49-F238E27FC236}">
                  <a16:creationId xmlns:a16="http://schemas.microsoft.com/office/drawing/2014/main" id="{4A19CFF6-B21E-46A9-A310-57AAFF0D5B63}"/>
                </a:ext>
              </a:extLst>
            </p:cNvPr>
            <p:cNvCxnSpPr>
              <a:cxnSpLocks/>
            </p:cNvCxnSpPr>
            <p:nvPr/>
          </p:nvCxnSpPr>
          <p:spPr>
            <a:xfrm>
              <a:off x="3073228" y="278333"/>
              <a:ext cx="0" cy="581291"/>
            </a:xfrm>
            <a:prstGeom prst="line">
              <a:avLst/>
            </a:prstGeom>
            <a:ln w="38100">
              <a:solidFill>
                <a:srgbClr val="172857"/>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E47660D5-6804-4DD1-9463-D9C87F526992}"/>
                </a:ext>
              </a:extLst>
            </p:cNvPr>
            <p:cNvGrpSpPr/>
            <p:nvPr/>
          </p:nvGrpSpPr>
          <p:grpSpPr>
            <a:xfrm>
              <a:off x="3282692" y="182217"/>
              <a:ext cx="3557947" cy="903389"/>
              <a:chOff x="3071366" y="152585"/>
              <a:chExt cx="3012419" cy="764070"/>
            </a:xfrm>
          </p:grpSpPr>
          <p:pic>
            <p:nvPicPr>
              <p:cNvPr id="71" name="Picture 70" descr="Logo&#10;&#10;Description automatically generated">
                <a:extLst>
                  <a:ext uri="{FF2B5EF4-FFF2-40B4-BE49-F238E27FC236}">
                    <a16:creationId xmlns:a16="http://schemas.microsoft.com/office/drawing/2014/main" id="{724E705B-F419-4413-9866-19978F29EA95}"/>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t="53786"/>
              <a:stretch/>
            </p:blipFill>
            <p:spPr>
              <a:xfrm>
                <a:off x="4556944" y="328888"/>
                <a:ext cx="1433874" cy="396635"/>
              </a:xfrm>
              <a:prstGeom prst="rect">
                <a:avLst/>
              </a:prstGeom>
            </p:spPr>
          </p:pic>
          <p:grpSp>
            <p:nvGrpSpPr>
              <p:cNvPr id="10" name="Group 9">
                <a:extLst>
                  <a:ext uri="{FF2B5EF4-FFF2-40B4-BE49-F238E27FC236}">
                    <a16:creationId xmlns:a16="http://schemas.microsoft.com/office/drawing/2014/main" id="{FF18098D-0198-4EA0-A4C3-5B16AEBFDC40}"/>
                  </a:ext>
                </a:extLst>
              </p:cNvPr>
              <p:cNvGrpSpPr/>
              <p:nvPr/>
            </p:nvGrpSpPr>
            <p:grpSpPr>
              <a:xfrm>
                <a:off x="3071366" y="236679"/>
                <a:ext cx="1444760" cy="679976"/>
                <a:chOff x="3071366" y="236679"/>
                <a:chExt cx="1444760" cy="679976"/>
              </a:xfrm>
            </p:grpSpPr>
            <p:pic>
              <p:nvPicPr>
                <p:cNvPr id="7" name="Picture 6" descr="Logo&#10;&#10;Description automatically generated">
                  <a:extLst>
                    <a:ext uri="{FF2B5EF4-FFF2-40B4-BE49-F238E27FC236}">
                      <a16:creationId xmlns:a16="http://schemas.microsoft.com/office/drawing/2014/main" id="{DEA4A2EB-A036-4F5C-BEAC-99E6B43B8EC6}"/>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b="37372"/>
                <a:stretch/>
              </p:blipFill>
              <p:spPr>
                <a:xfrm>
                  <a:off x="3082252" y="236679"/>
                  <a:ext cx="1433874" cy="537509"/>
                </a:xfrm>
                <a:prstGeom prst="rect">
                  <a:avLst/>
                </a:prstGeom>
              </p:spPr>
            </p:pic>
            <p:sp>
              <p:nvSpPr>
                <p:cNvPr id="4" name="Rectangle 3">
                  <a:extLst>
                    <a:ext uri="{FF2B5EF4-FFF2-40B4-BE49-F238E27FC236}">
                      <a16:creationId xmlns:a16="http://schemas.microsoft.com/office/drawing/2014/main" id="{9050336C-1C44-4EBC-A471-EA53EA7D8A91}"/>
                    </a:ext>
                  </a:extLst>
                </p:cNvPr>
                <p:cNvSpPr/>
                <p:nvPr/>
              </p:nvSpPr>
              <p:spPr>
                <a:xfrm>
                  <a:off x="3071366" y="695131"/>
                  <a:ext cx="954044" cy="2215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Rectangle 41">
                <a:extLst>
                  <a:ext uri="{FF2B5EF4-FFF2-40B4-BE49-F238E27FC236}">
                    <a16:creationId xmlns:a16="http://schemas.microsoft.com/office/drawing/2014/main" id="{80EF083E-80C2-4DE6-BAED-9D6F25F36A46}"/>
                  </a:ext>
                </a:extLst>
              </p:cNvPr>
              <p:cNvSpPr/>
              <p:nvPr/>
            </p:nvSpPr>
            <p:spPr>
              <a:xfrm>
                <a:off x="5603959" y="152585"/>
                <a:ext cx="479826" cy="2657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ustDataLst>
      <p:tags r:id="rId1"/>
    </p:custDataLst>
    <p:extLst>
      <p:ext uri="{BB962C8B-B14F-4D97-AF65-F5344CB8AC3E}">
        <p14:creationId xmlns:p14="http://schemas.microsoft.com/office/powerpoint/2010/main" val="255747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5"/>
                                        </p:tgtEl>
                                        <p:attrNameLst>
                                          <p:attrName>style.visibility</p:attrName>
                                        </p:attrNameLst>
                                      </p:cBhvr>
                                      <p:to>
                                        <p:strVal val="visible"/>
                                      </p:to>
                                    </p:set>
                                    <p:animEffect transition="in" filter="fade">
                                      <p:cBhvr>
                                        <p:cTn id="16" dur="500"/>
                                        <p:tgtEl>
                                          <p:spTgt spid="75"/>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78"/>
                                        </p:tgtEl>
                                        <p:attrNameLst>
                                          <p:attrName>style.visibility</p:attrName>
                                        </p:attrNameLst>
                                      </p:cBhvr>
                                      <p:to>
                                        <p:strVal val="visible"/>
                                      </p:to>
                                    </p:set>
                                    <p:animEffect transition="in" filter="fade">
                                      <p:cBhvr>
                                        <p:cTn id="28" dur="500"/>
                                        <p:tgtEl>
                                          <p:spTgt spid="78"/>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500"/>
                                        <p:tgtEl>
                                          <p:spTgt spid="44"/>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81"/>
                                        </p:tgtEl>
                                        <p:attrNameLst>
                                          <p:attrName>style.visibility</p:attrName>
                                        </p:attrNameLst>
                                      </p:cBhvr>
                                      <p:to>
                                        <p:strVal val="visible"/>
                                      </p:to>
                                    </p:set>
                                    <p:animEffect transition="in" filter="fade">
                                      <p:cBhvr>
                                        <p:cTn id="40"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1" grpId="0"/>
      <p:bldP spid="36" grpId="0"/>
      <p:bldP spid="41" grpId="0"/>
      <p:bldP spid="46" grpId="0"/>
      <p:bldP spid="50" grpId="0"/>
      <p:bldP spid="44" grpId="0"/>
      <p:bldP spid="54" grpId="0"/>
      <p:bldP spid="57" grpId="0"/>
      <p:bldP spid="75" grpId="0"/>
      <p:bldP spid="78" grpId="0"/>
      <p:bldP spid="81" grpId="0"/>
    </p:bldLst>
  </p:timing>
</p:sld>
</file>

<file path=ppt/tags/tag1.xml><?xml version="1.0" encoding="utf-8"?>
<p:tagLst xmlns:a="http://schemas.openxmlformats.org/drawingml/2006/main" xmlns:r="http://schemas.openxmlformats.org/officeDocument/2006/relationships" xmlns:p="http://schemas.openxmlformats.org/presentationml/2006/main">
  <p:tag name="TEMPLAFYSLIDEID" val="637843431669278231"/>
</p:tagLst>
</file>

<file path=ppt/tags/tag2.xml><?xml version="1.0" encoding="utf-8"?>
<p:tagLst xmlns:a="http://schemas.openxmlformats.org/drawingml/2006/main" xmlns:r="http://schemas.openxmlformats.org/officeDocument/2006/relationships" xmlns:p="http://schemas.openxmlformats.org/presentationml/2006/main">
  <p:tag name="CONTAINEDIMAGEPATH" val="C:\Users\Billy.Grossmiller\AppData\Local\Temp\Templafy\PowerPointVsto\Assets\b2f8928d-0988-4215-8eb8-10b70d3f4c54.jpeg"/>
</p:tagLst>
</file>

<file path=ppt/tags/tag3.xml><?xml version="1.0" encoding="utf-8"?>
<p:tagLst xmlns:a="http://schemas.openxmlformats.org/drawingml/2006/main" xmlns:r="http://schemas.openxmlformats.org/officeDocument/2006/relationships" xmlns:p="http://schemas.openxmlformats.org/presentationml/2006/main">
  <p:tag name="TEMPLAFYSLIDEID" val="637843431669278232"/>
</p:tagLst>
</file>

<file path=ppt/tags/tag4.xml><?xml version="1.0" encoding="utf-8"?>
<p:tagLst xmlns:a="http://schemas.openxmlformats.org/drawingml/2006/main" xmlns:r="http://schemas.openxmlformats.org/officeDocument/2006/relationships" xmlns:p="http://schemas.openxmlformats.org/presentationml/2006/main">
  <p:tag name="TEMPLAFYSLIDEID" val="637843431669434834"/>
</p:tagLst>
</file>

<file path=ppt/tags/tag5.xml><?xml version="1.0" encoding="utf-8"?>
<p:tagLst xmlns:a="http://schemas.openxmlformats.org/drawingml/2006/main" xmlns:r="http://schemas.openxmlformats.org/officeDocument/2006/relationships" xmlns:p="http://schemas.openxmlformats.org/presentationml/2006/main">
  <p:tag name="TEMPLAFYSLIDEID" val="637538550844115010"/>
</p:tagLst>
</file>

<file path=ppt/tags/tag6.xml><?xml version="1.0" encoding="utf-8"?>
<p:tagLst xmlns:a="http://schemas.openxmlformats.org/drawingml/2006/main" xmlns:r="http://schemas.openxmlformats.org/officeDocument/2006/relationships" xmlns:p="http://schemas.openxmlformats.org/presentationml/2006/main">
  <p:tag name="TEMPLAFYSLIDEID" val="637843431669590664"/>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817D9D-C8CE-466F-9BE1-5DE271B4A771}">
  <ds:schemaRefs>
    <ds:schemaRef ds:uri="26a247e3-a558-4a25-a8df-6571d016c1db"/>
    <ds:schemaRef ds:uri="41b6ea9f-a3e8-403c-841e-02950e8e8bbc"/>
    <ds:schemaRef ds:uri="dc808d36-874f-4b27-aec2-2fd649817929"/>
    <ds:schemaRef ds:uri="f7e65dde-6fb1-49c2-875d-dbdc8ebd81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F615E08-7D42-4EB9-B150-B3439969BBF8}"/>
</file>

<file path=customXml/itemProps3.xml><?xml version="1.0" encoding="utf-8"?>
<ds:datastoreItem xmlns:ds="http://schemas.openxmlformats.org/officeDocument/2006/customXml" ds:itemID="{35F4B7A4-3F9F-434A-B139-0A74D43AB9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1</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Billy.Grossmiller@assuredpartners.com</dc:creator>
  <cp:revision>1</cp:revision>
  <cp:lastPrinted>2021-09-30T16:32:58Z</cp:lastPrinted>
  <dcterms:created xsi:type="dcterms:W3CDTF">2021-01-28T20:34:53Z</dcterms:created>
  <dcterms:modified xsi:type="dcterms:W3CDTF">2023-06-08T13:31:35Z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TemplafyTimeStamp">
    <vt:lpwstr>2022-03-31T17:06:06.5285773Z</vt:lpwstr>
  </property>
  <property fmtid="{D5CDD505-2E9C-101B-9397-08002B2CF9AE}" pid="4" name="CustomerId">
    <vt:lpwstr>assuredpartners</vt:lpwstr>
  </property>
  <property fmtid="{D5CDD505-2E9C-101B-9397-08002B2CF9AE}" pid="5" name="TemplateId">
    <vt:lpwstr>637834772399948365</vt:lpwstr>
  </property>
  <property fmtid="{D5CDD505-2E9C-101B-9397-08002B2CF9AE}" pid="6" name="UserProfileId">
    <vt:lpwstr>638047262856437187</vt:lpwstr>
  </property>
  <property fmtid="{D5CDD505-2E9C-101B-9397-08002B2CF9AE}" pid="7" name="MediaServiceImageTags">
    <vt:lpwstr/>
  </property>
</Properties>
</file>