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164" y="-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3999" cy="1885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539239" y="572325"/>
            <a:ext cx="3613912" cy="6613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80228" y="1782317"/>
            <a:ext cx="3511573" cy="398889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5731736"/>
            <a:ext cx="9143999" cy="1126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57200" y="6279127"/>
            <a:ext cx="2803271" cy="5130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7107681" y="6446177"/>
            <a:ext cx="221005" cy="221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5446648" y="6415011"/>
            <a:ext cx="314794" cy="3147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7305" y="487298"/>
            <a:ext cx="6549389" cy="67217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629917"/>
            <a:ext cx="7767319" cy="36841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746" y="6465417"/>
            <a:ext cx="1414779" cy="1939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3421" y="6465417"/>
            <a:ext cx="1225092" cy="1939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artners.ne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artners.net/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artners.net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5236" y="2571877"/>
            <a:ext cx="6114415" cy="5626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F82036"/>
                </a:solidFill>
                <a:latin typeface="Memphis Medium"/>
                <a:cs typeface="Memphis Medium"/>
              </a:rPr>
              <a:t>President</a:t>
            </a:r>
            <a:r>
              <a:rPr sz="3600" b="1" spc="-270" dirty="0" smtClean="0">
                <a:solidFill>
                  <a:srgbClr val="F82036"/>
                </a:solidFill>
                <a:latin typeface="Memphis Medium"/>
                <a:cs typeface="Memphis Medium"/>
              </a:rPr>
              <a:t>’</a:t>
            </a:r>
            <a:r>
              <a:rPr sz="3600" b="1" spc="0" dirty="0" smtClean="0">
                <a:solidFill>
                  <a:srgbClr val="F82036"/>
                </a:solidFill>
                <a:latin typeface="Memphis Medium"/>
                <a:cs typeface="Memphis Medium"/>
              </a:rPr>
              <a:t>s Council Me</a:t>
            </a:r>
            <a:r>
              <a:rPr sz="3600" b="1" spc="10" dirty="0" smtClean="0">
                <a:solidFill>
                  <a:srgbClr val="F82036"/>
                </a:solidFill>
                <a:latin typeface="Memphis Medium"/>
                <a:cs typeface="Memphis Medium"/>
              </a:rPr>
              <a:t>e</a:t>
            </a:r>
            <a:r>
              <a:rPr sz="3600" b="1" spc="0" dirty="0" smtClean="0">
                <a:solidFill>
                  <a:srgbClr val="F82036"/>
                </a:solidFill>
                <a:latin typeface="Memphis Medium"/>
                <a:cs typeface="Memphis Medium"/>
              </a:rPr>
              <a:t>ting</a:t>
            </a:r>
            <a:endParaRPr sz="3600">
              <a:latin typeface="Memphis Medium"/>
              <a:cs typeface="Memphis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68673" y="3925696"/>
            <a:ext cx="1254125" cy="3149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en-US" sz="2000" dirty="0">
                <a:latin typeface="TradeGothic"/>
                <a:cs typeface="TradeGothic"/>
              </a:rPr>
              <a:t>4</a:t>
            </a:r>
            <a:r>
              <a:rPr sz="2000" dirty="0" smtClean="0">
                <a:latin typeface="TradeGothic"/>
                <a:cs typeface="TradeGothic"/>
              </a:rPr>
              <a:t>/2</a:t>
            </a:r>
            <a:r>
              <a:rPr lang="en-US" sz="2000" spc="-10" dirty="0">
                <a:latin typeface="TradeGothic"/>
                <a:cs typeface="TradeGothic"/>
              </a:rPr>
              <a:t>5</a:t>
            </a:r>
            <a:r>
              <a:rPr sz="2000" spc="0" dirty="0" smtClean="0">
                <a:latin typeface="TradeGothic"/>
                <a:cs typeface="TradeGothic"/>
              </a:rPr>
              <a:t>/20</a:t>
            </a:r>
            <a:r>
              <a:rPr sz="2000" spc="-10" dirty="0" smtClean="0">
                <a:latin typeface="TradeGothic"/>
                <a:cs typeface="TradeGothic"/>
              </a:rPr>
              <a:t>1</a:t>
            </a:r>
            <a:r>
              <a:rPr sz="2000" spc="0" dirty="0" smtClean="0">
                <a:latin typeface="TradeGothic"/>
                <a:cs typeface="TradeGothic"/>
              </a:rPr>
              <a:t>6</a:t>
            </a:r>
            <a:endParaRPr sz="2000" dirty="0">
              <a:latin typeface="TradeGothic"/>
              <a:cs typeface="Trade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00025">
              <a:lnSpc>
                <a:spcPct val="100000"/>
              </a:lnSpc>
            </a:pPr>
            <a:r>
              <a:rPr sz="4400" b="1" dirty="0" smtClean="0">
                <a:solidFill>
                  <a:srgbClr val="F82036"/>
                </a:solidFill>
                <a:latin typeface="Memphis Medium"/>
                <a:cs typeface="Memphis Medium"/>
              </a:rPr>
              <a:t>Agenda</a:t>
            </a:r>
            <a:r>
              <a:rPr sz="4400" b="1" spc="-20" dirty="0" smtClean="0">
                <a:solidFill>
                  <a:srgbClr val="F82036"/>
                </a:solidFill>
                <a:latin typeface="Memphis Medium"/>
                <a:cs typeface="Memphis Medium"/>
              </a:rPr>
              <a:t> </a:t>
            </a:r>
            <a:r>
              <a:rPr sz="4400" b="1" spc="0" dirty="0" smtClean="0">
                <a:solidFill>
                  <a:srgbClr val="F82036"/>
                </a:solidFill>
                <a:latin typeface="Memphis Medium"/>
                <a:cs typeface="Memphis Medium"/>
              </a:rPr>
              <a:t>&amp; Deliverables</a:t>
            </a:r>
            <a:endParaRPr sz="4400" dirty="0">
              <a:latin typeface="Memphis Medium"/>
              <a:cs typeface="Memphis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0697" y="6465417"/>
            <a:ext cx="1338580" cy="194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290955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ww</a:t>
            </a:r>
            <a:r>
              <a:rPr sz="1200" spc="-6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n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et	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1817371"/>
            <a:ext cx="8566150" cy="412622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Font typeface="+mj-lt"/>
              <a:buAutoNum type="arabicParenR"/>
              <a:tabLst>
                <a:tab pos="354965" algn="l"/>
              </a:tabLst>
            </a:pPr>
            <a:r>
              <a:rPr lang="en-US" sz="1800" spc="10" dirty="0" smtClean="0">
                <a:latin typeface="TradeGothic"/>
                <a:cs typeface="TradeGothic"/>
              </a:rPr>
              <a:t>Recap: April Board Meeting</a:t>
            </a:r>
            <a:r>
              <a:rPr sz="1800" spc="-30" dirty="0" smtClean="0">
                <a:latin typeface="TradeGothic"/>
                <a:cs typeface="TradeGothic"/>
              </a:rPr>
              <a:t> </a:t>
            </a:r>
            <a:r>
              <a:rPr sz="1800" b="1" spc="10" dirty="0" smtClean="0">
                <a:latin typeface="TradeGothic"/>
                <a:cs typeface="TradeGothic"/>
              </a:rPr>
              <a:t>(</a:t>
            </a:r>
            <a:r>
              <a:rPr lang="en-US" b="1" spc="10" dirty="0" smtClean="0">
                <a:latin typeface="TradeGothic"/>
                <a:cs typeface="TradeGothic"/>
              </a:rPr>
              <a:t>5-10</a:t>
            </a:r>
            <a:r>
              <a:rPr sz="1800" b="1" spc="-5" dirty="0" smtClean="0">
                <a:latin typeface="TradeGothic"/>
                <a:cs typeface="TradeGothic"/>
              </a:rPr>
              <a:t> </a:t>
            </a:r>
            <a:r>
              <a:rPr sz="1800" b="1" spc="10" dirty="0" smtClean="0">
                <a:latin typeface="TradeGothic"/>
                <a:cs typeface="TradeGothic"/>
              </a:rPr>
              <a:t>mi</a:t>
            </a:r>
            <a:r>
              <a:rPr sz="1800" b="1" spc="5" dirty="0" smtClean="0">
                <a:latin typeface="TradeGothic"/>
                <a:cs typeface="TradeGothic"/>
              </a:rPr>
              <a:t>n</a:t>
            </a:r>
            <a:r>
              <a:rPr sz="1800" b="1" spc="0" dirty="0" smtClean="0">
                <a:latin typeface="TradeGothic"/>
                <a:cs typeface="TradeGothic"/>
              </a:rPr>
              <a:t>)</a:t>
            </a:r>
            <a:endParaRPr lang="en-US" sz="1800" b="1" spc="0" dirty="0" smtClean="0">
              <a:latin typeface="TradeGothic"/>
              <a:cs typeface="TradeGothic"/>
            </a:endParaRPr>
          </a:p>
          <a:p>
            <a:pPr marL="355600" indent="-342900">
              <a:lnSpc>
                <a:spcPct val="100000"/>
              </a:lnSpc>
              <a:buFont typeface="+mj-lt"/>
              <a:buAutoNum type="arabicParenR"/>
              <a:tabLst>
                <a:tab pos="354965" algn="l"/>
              </a:tabLst>
            </a:pPr>
            <a:endParaRPr lang="en-US" b="1" dirty="0">
              <a:latin typeface="TradeGothic"/>
              <a:cs typeface="TradeGothic"/>
            </a:endParaRPr>
          </a:p>
          <a:p>
            <a:pPr marL="355600" indent="-342900">
              <a:lnSpc>
                <a:spcPct val="100000"/>
              </a:lnSpc>
              <a:buFont typeface="+mj-lt"/>
              <a:buAutoNum type="arabicParenR"/>
              <a:tabLst>
                <a:tab pos="354965" algn="l"/>
              </a:tabLst>
            </a:pPr>
            <a:r>
              <a:rPr lang="en-US" spc="10" dirty="0" smtClean="0">
                <a:latin typeface="TradeGothic"/>
                <a:cs typeface="TradeGothic"/>
              </a:rPr>
              <a:t>Share </a:t>
            </a:r>
            <a:r>
              <a:rPr lang="en-US" spc="10" dirty="0">
                <a:latin typeface="TradeGothic"/>
                <a:cs typeface="TradeGothic"/>
              </a:rPr>
              <a:t>Program/Unit Updates &amp; Plans for Confirmed and/or Potential Travel </a:t>
            </a:r>
            <a:r>
              <a:rPr lang="en-US" spc="10" dirty="0" smtClean="0">
                <a:latin typeface="TradeGothic"/>
                <a:cs typeface="TradeGothic"/>
              </a:rPr>
              <a:t>from May </a:t>
            </a:r>
            <a:r>
              <a:rPr lang="en-US" spc="10" dirty="0">
                <a:latin typeface="TradeGothic"/>
                <a:cs typeface="TradeGothic"/>
              </a:rPr>
              <a:t>through </a:t>
            </a:r>
            <a:r>
              <a:rPr lang="en-US" spc="10" dirty="0" smtClean="0">
                <a:latin typeface="TradeGothic"/>
                <a:cs typeface="TradeGothic"/>
              </a:rPr>
              <a:t>August </a:t>
            </a:r>
            <a:r>
              <a:rPr lang="en-US" b="1" spc="10" dirty="0" smtClean="0">
                <a:latin typeface="TradeGothic"/>
                <a:cs typeface="TradeGothic"/>
              </a:rPr>
              <a:t>(25min)</a:t>
            </a:r>
          </a:p>
          <a:p>
            <a:pPr marL="355600" indent="-342900">
              <a:lnSpc>
                <a:spcPct val="100000"/>
              </a:lnSpc>
              <a:buFont typeface="+mj-lt"/>
              <a:buAutoNum type="arabicParenR"/>
              <a:tabLst>
                <a:tab pos="354965" algn="l"/>
              </a:tabLst>
            </a:pPr>
            <a:endParaRPr lang="en-US" spc="10" dirty="0" smtClean="0">
              <a:latin typeface="TradeGothic"/>
              <a:cs typeface="TradeGothic"/>
            </a:endParaRPr>
          </a:p>
          <a:p>
            <a:pPr marL="355600" lvl="0" indent="-342900">
              <a:buFont typeface="+mj-lt"/>
              <a:buAutoNum type="arabicParenR"/>
              <a:tabLst>
                <a:tab pos="354965" algn="l"/>
              </a:tabLst>
            </a:pPr>
            <a:r>
              <a:rPr lang="en-US" spc="10" dirty="0" smtClean="0">
                <a:latin typeface="TradeGothic"/>
                <a:cs typeface="TradeGothic"/>
              </a:rPr>
              <a:t>Discuss </a:t>
            </a:r>
            <a:r>
              <a:rPr lang="en-US" spc="10" dirty="0">
                <a:latin typeface="TradeGothic"/>
                <a:cs typeface="TradeGothic"/>
              </a:rPr>
              <a:t>How to Plan and Re-deploy to Win Restricted Opportunities </a:t>
            </a:r>
            <a:r>
              <a:rPr b="1" spc="10" dirty="0">
                <a:latin typeface="TradeGothic"/>
                <a:cs typeface="TradeGothic"/>
              </a:rPr>
              <a:t>(</a:t>
            </a:r>
            <a:r>
              <a:rPr b="1" spc="10" dirty="0" smtClean="0">
                <a:latin typeface="TradeGothic"/>
                <a:cs typeface="TradeGothic"/>
              </a:rPr>
              <a:t>1</a:t>
            </a:r>
            <a:r>
              <a:rPr lang="en-US" b="1" spc="10" dirty="0" smtClean="0">
                <a:latin typeface="TradeGothic"/>
                <a:cs typeface="TradeGothic"/>
              </a:rPr>
              <a:t>5</a:t>
            </a:r>
            <a:r>
              <a:rPr b="1" spc="10" dirty="0" smtClean="0">
                <a:latin typeface="TradeGothic"/>
                <a:cs typeface="TradeGothic"/>
              </a:rPr>
              <a:t> min)</a:t>
            </a:r>
            <a:endParaRPr lang="en-US" b="1" spc="10" dirty="0" smtClean="0">
              <a:latin typeface="TradeGothic"/>
              <a:cs typeface="TradeGothic"/>
            </a:endParaRPr>
          </a:p>
          <a:p>
            <a:pPr marL="355600" lvl="0" indent="-342900">
              <a:buFont typeface="+mj-lt"/>
              <a:buAutoNum type="arabicParenR"/>
              <a:tabLst>
                <a:tab pos="354965" algn="l"/>
              </a:tabLst>
            </a:pPr>
            <a:endParaRPr sz="1000" dirty="0"/>
          </a:p>
          <a:p>
            <a:pPr marL="355600" indent="-342900">
              <a:lnSpc>
                <a:spcPct val="100000"/>
              </a:lnSpc>
              <a:buFont typeface="+mj-lt"/>
              <a:buAutoNum type="arabicParenR"/>
              <a:tabLst>
                <a:tab pos="354965" algn="l"/>
                <a:tab pos="5042535" algn="l"/>
              </a:tabLst>
            </a:pPr>
            <a:r>
              <a:rPr lang="en-US" spc="10" dirty="0">
                <a:latin typeface="TradeGothic"/>
                <a:cs typeface="TradeGothic"/>
              </a:rPr>
              <a:t>Check-in re: Strategic Planning Process &amp; Expectations for Senior Staff </a:t>
            </a:r>
            <a:r>
              <a:rPr sz="1800" b="1" spc="10" dirty="0" smtClean="0">
                <a:latin typeface="TradeGothic"/>
                <a:cs typeface="TradeGothic"/>
              </a:rPr>
              <a:t>(</a:t>
            </a:r>
            <a:r>
              <a:rPr sz="1800" b="1" spc="10" dirty="0" smtClean="0">
                <a:latin typeface="TradeGothic"/>
                <a:cs typeface="TradeGothic"/>
              </a:rPr>
              <a:t>1</a:t>
            </a:r>
            <a:r>
              <a:rPr sz="1800" b="1" spc="0" dirty="0" smtClean="0">
                <a:latin typeface="TradeGothic"/>
                <a:cs typeface="TradeGothic"/>
              </a:rPr>
              <a:t>0</a:t>
            </a:r>
            <a:r>
              <a:rPr sz="1800" b="1" spc="-30" dirty="0" smtClean="0">
                <a:latin typeface="TradeGothic"/>
                <a:cs typeface="TradeGothic"/>
              </a:rPr>
              <a:t> </a:t>
            </a:r>
            <a:r>
              <a:rPr sz="1800" b="1" spc="5" dirty="0" smtClean="0">
                <a:latin typeface="TradeGothic"/>
                <a:cs typeface="TradeGothic"/>
              </a:rPr>
              <a:t>m</a:t>
            </a:r>
            <a:r>
              <a:rPr sz="1800" b="1" spc="10" dirty="0" smtClean="0">
                <a:latin typeface="TradeGothic"/>
                <a:cs typeface="TradeGothic"/>
              </a:rPr>
              <a:t>i</a:t>
            </a:r>
            <a:r>
              <a:rPr sz="1800" b="1" spc="0" dirty="0" smtClean="0">
                <a:latin typeface="TradeGothic"/>
                <a:cs typeface="TradeGothic"/>
              </a:rPr>
              <a:t>n</a:t>
            </a:r>
            <a:r>
              <a:rPr sz="1800" b="1" spc="-10" dirty="0" smtClean="0">
                <a:latin typeface="TradeGothic"/>
                <a:cs typeface="TradeGothic"/>
              </a:rPr>
              <a:t>u</a:t>
            </a:r>
            <a:r>
              <a:rPr sz="1800" b="1" spc="0" dirty="0" smtClean="0">
                <a:latin typeface="TradeGothic"/>
                <a:cs typeface="TradeGothic"/>
              </a:rPr>
              <a:t>te</a:t>
            </a:r>
            <a:r>
              <a:rPr sz="1800" b="1" spc="10" dirty="0" smtClean="0">
                <a:latin typeface="TradeGothic"/>
                <a:cs typeface="TradeGothic"/>
              </a:rPr>
              <a:t>s</a:t>
            </a:r>
            <a:r>
              <a:rPr sz="1800" b="1" spc="0" dirty="0" smtClean="0">
                <a:latin typeface="TradeGothic"/>
                <a:cs typeface="TradeGothic"/>
              </a:rPr>
              <a:t>)</a:t>
            </a:r>
            <a:endParaRPr lang="en-US" sz="1800" b="1" spc="0" dirty="0" smtClean="0">
              <a:latin typeface="TradeGothic"/>
              <a:cs typeface="TradeGothic"/>
            </a:endParaRPr>
          </a:p>
          <a:p>
            <a:pPr marL="355600" indent="-342900">
              <a:lnSpc>
                <a:spcPct val="100000"/>
              </a:lnSpc>
              <a:buFont typeface="+mj-lt"/>
              <a:buAutoNum type="arabicParenR"/>
              <a:tabLst>
                <a:tab pos="354965" algn="l"/>
                <a:tab pos="5042535" algn="l"/>
              </a:tabLst>
            </a:pPr>
            <a:endParaRPr lang="en-US" b="1" dirty="0">
              <a:latin typeface="TradeGothic"/>
              <a:cs typeface="TradeGothic"/>
            </a:endParaRPr>
          </a:p>
          <a:p>
            <a:pPr marL="355600" indent="-342900">
              <a:lnSpc>
                <a:spcPct val="100000"/>
              </a:lnSpc>
              <a:buFont typeface="+mj-lt"/>
              <a:buAutoNum type="arabicParenR"/>
              <a:tabLst>
                <a:tab pos="354965" algn="l"/>
                <a:tab pos="5042535" algn="l"/>
              </a:tabLst>
            </a:pPr>
            <a:r>
              <a:rPr lang="en-US" spc="10" dirty="0" smtClean="0">
                <a:latin typeface="TradeGothic"/>
                <a:cs typeface="TradeGothic"/>
              </a:rPr>
              <a:t>May </a:t>
            </a:r>
            <a:r>
              <a:rPr lang="en-US" spc="10" dirty="0">
                <a:latin typeface="TradeGothic"/>
                <a:cs typeface="TradeGothic"/>
              </a:rPr>
              <a:t>2</a:t>
            </a:r>
            <a:r>
              <a:rPr lang="en-US" spc="10" baseline="30000" dirty="0">
                <a:latin typeface="TradeGothic"/>
                <a:cs typeface="TradeGothic"/>
              </a:rPr>
              <a:t>nd</a:t>
            </a:r>
            <a:r>
              <a:rPr lang="en-US" spc="10" dirty="0">
                <a:latin typeface="TradeGothic"/>
                <a:cs typeface="TradeGothic"/>
              </a:rPr>
              <a:t> AS</a:t>
            </a:r>
            <a:r>
              <a:rPr lang="en-US" dirty="0">
                <a:latin typeface="TradeGothic"/>
                <a:cs typeface="TradeGothic"/>
              </a:rPr>
              <a:t>M</a:t>
            </a:r>
            <a:r>
              <a:rPr lang="en-US" spc="-35" dirty="0">
                <a:latin typeface="TradeGothic"/>
                <a:cs typeface="TradeGothic"/>
              </a:rPr>
              <a:t> </a:t>
            </a:r>
            <a:r>
              <a:rPr lang="en-US" spc="10" dirty="0" smtClean="0">
                <a:latin typeface="TradeGothic"/>
                <a:cs typeface="TradeGothic"/>
              </a:rPr>
              <a:t>Age</a:t>
            </a:r>
            <a:r>
              <a:rPr lang="en-US" dirty="0" smtClean="0">
                <a:latin typeface="TradeGothic"/>
                <a:cs typeface="TradeGothic"/>
              </a:rPr>
              <a:t>nda Announcement</a:t>
            </a:r>
            <a:endParaRPr sz="1800" dirty="0">
              <a:latin typeface="TradeGothic"/>
              <a:cs typeface="Trade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68935">
              <a:lnSpc>
                <a:spcPct val="100000"/>
              </a:lnSpc>
            </a:pPr>
            <a:r>
              <a:rPr sz="4400" b="1" dirty="0" smtClean="0">
                <a:solidFill>
                  <a:srgbClr val="F82036"/>
                </a:solidFill>
                <a:latin typeface="Memphis Medium"/>
                <a:cs typeface="Memphis Medium"/>
              </a:rPr>
              <a:t>What</a:t>
            </a:r>
            <a:r>
              <a:rPr sz="4400" b="1" spc="-335" dirty="0" smtClean="0">
                <a:solidFill>
                  <a:srgbClr val="F82036"/>
                </a:solidFill>
                <a:latin typeface="Memphis Medium"/>
                <a:cs typeface="Memphis Medium"/>
              </a:rPr>
              <a:t>’</a:t>
            </a:r>
            <a:r>
              <a:rPr sz="4400" b="1" spc="0" dirty="0" smtClean="0">
                <a:solidFill>
                  <a:srgbClr val="F82036"/>
                </a:solidFill>
                <a:latin typeface="Memphis Medium"/>
                <a:cs typeface="Memphis Medium"/>
              </a:rPr>
              <a:t>s</a:t>
            </a:r>
            <a:r>
              <a:rPr sz="4400" b="1" spc="-15" dirty="0" smtClean="0">
                <a:solidFill>
                  <a:srgbClr val="F82036"/>
                </a:solidFill>
                <a:latin typeface="Memphis Medium"/>
                <a:cs typeface="Memphis Medium"/>
              </a:rPr>
              <a:t> </a:t>
            </a:r>
            <a:r>
              <a:rPr sz="4400" b="1" spc="0" dirty="0" smtClean="0">
                <a:solidFill>
                  <a:srgbClr val="F82036"/>
                </a:solidFill>
                <a:latin typeface="Memphis Medium"/>
                <a:cs typeface="Memphis Medium"/>
              </a:rPr>
              <a:t>in the Pipe</a:t>
            </a:r>
            <a:r>
              <a:rPr sz="4400" b="1" spc="-15" dirty="0" smtClean="0">
                <a:solidFill>
                  <a:srgbClr val="F82036"/>
                </a:solidFill>
                <a:latin typeface="Memphis Medium"/>
                <a:cs typeface="Memphis Medium"/>
              </a:rPr>
              <a:t>l</a:t>
            </a:r>
            <a:r>
              <a:rPr sz="4400" b="1" spc="0" dirty="0" smtClean="0">
                <a:solidFill>
                  <a:srgbClr val="F82036"/>
                </a:solidFill>
                <a:latin typeface="Memphis Medium"/>
                <a:cs typeface="Memphis Medium"/>
              </a:rPr>
              <a:t>ine</a:t>
            </a:r>
            <a:endParaRPr sz="4400">
              <a:latin typeface="Memphis Medium"/>
              <a:cs typeface="Memphis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0697" y="6465417"/>
            <a:ext cx="1338580" cy="194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290955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ww</a:t>
            </a:r>
            <a:r>
              <a:rPr sz="1200" spc="-6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n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et	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605295"/>
              </p:ext>
            </p:extLst>
          </p:nvPr>
        </p:nvGraphicFramePr>
        <p:xfrm>
          <a:off x="454025" y="1390650"/>
          <a:ext cx="8074025" cy="23552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5375"/>
                <a:gridCol w="3505200"/>
                <a:gridCol w="2203450"/>
              </a:tblGrid>
              <a:tr h="392557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Travel</a:t>
                      </a:r>
                      <a:endParaRPr sz="1800" b="1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A617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 smtClean="0">
                          <a:latin typeface="Calibri"/>
                          <a:cs typeface="Calibri"/>
                        </a:rPr>
                        <a:t>F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0CC"/>
                    </a:solidFill>
                  </a:tcPr>
                </a:tc>
              </a:tr>
              <a:tr h="392557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spc="5" dirty="0" smtClean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anar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Calibri"/>
                          <a:cs typeface="Calibri"/>
                        </a:rPr>
                        <a:t>Comb</a:t>
                      </a:r>
                      <a:r>
                        <a:rPr sz="1800" spc="-10" dirty="0" smtClean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 smtClean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10" dirty="0" smtClean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ng</a:t>
                      </a:r>
                      <a:r>
                        <a:rPr sz="1800" spc="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Chi</a:t>
                      </a:r>
                      <a:r>
                        <a:rPr sz="1800" spc="-10" dirty="0" smtClean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spc="2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Labor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0CC"/>
                    </a:solidFill>
                  </a:tcPr>
                </a:tc>
              </a:tr>
              <a:tr h="392557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spc="-10" dirty="0" smtClean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LE/YE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</a:tr>
              <a:tr h="39242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spc="-10" dirty="0" smtClean="0">
                          <a:latin typeface="Calibri"/>
                          <a:cs typeface="Calibri"/>
                        </a:rPr>
                        <a:t>PP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P (</a:t>
                      </a:r>
                      <a:r>
                        <a:rPr sz="1800" spc="-10" dirty="0" smtClean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00k, CBG,</a:t>
                      </a:r>
                      <a:r>
                        <a:rPr sz="1800" spc="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SENA)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0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68935">
              <a:lnSpc>
                <a:spcPct val="100000"/>
              </a:lnSpc>
            </a:pPr>
            <a:r>
              <a:rPr sz="4400" b="1" dirty="0" smtClean="0">
                <a:solidFill>
                  <a:srgbClr val="F82036"/>
                </a:solidFill>
                <a:latin typeface="Memphis Medium"/>
                <a:cs typeface="Memphis Medium"/>
              </a:rPr>
              <a:t>What</a:t>
            </a:r>
            <a:r>
              <a:rPr sz="4400" b="1" spc="-335" dirty="0" smtClean="0">
                <a:solidFill>
                  <a:srgbClr val="F82036"/>
                </a:solidFill>
                <a:latin typeface="Memphis Medium"/>
                <a:cs typeface="Memphis Medium"/>
              </a:rPr>
              <a:t>’</a:t>
            </a:r>
            <a:r>
              <a:rPr sz="4400" b="1" spc="0" dirty="0" smtClean="0">
                <a:solidFill>
                  <a:srgbClr val="F82036"/>
                </a:solidFill>
                <a:latin typeface="Memphis Medium"/>
                <a:cs typeface="Memphis Medium"/>
              </a:rPr>
              <a:t>s</a:t>
            </a:r>
            <a:r>
              <a:rPr sz="4400" b="1" spc="-15" dirty="0" smtClean="0">
                <a:solidFill>
                  <a:srgbClr val="F82036"/>
                </a:solidFill>
                <a:latin typeface="Memphis Medium"/>
                <a:cs typeface="Memphis Medium"/>
              </a:rPr>
              <a:t> </a:t>
            </a:r>
            <a:r>
              <a:rPr sz="4400" b="1" spc="0" dirty="0" smtClean="0">
                <a:solidFill>
                  <a:srgbClr val="F82036"/>
                </a:solidFill>
                <a:latin typeface="Memphis Medium"/>
                <a:cs typeface="Memphis Medium"/>
              </a:rPr>
              <a:t>in the Pipe</a:t>
            </a:r>
            <a:r>
              <a:rPr sz="4400" b="1" spc="-15" dirty="0" smtClean="0">
                <a:solidFill>
                  <a:srgbClr val="F82036"/>
                </a:solidFill>
                <a:latin typeface="Memphis Medium"/>
                <a:cs typeface="Memphis Medium"/>
              </a:rPr>
              <a:t>l</a:t>
            </a:r>
            <a:r>
              <a:rPr sz="4400" b="1" spc="0" dirty="0" smtClean="0">
                <a:solidFill>
                  <a:srgbClr val="F82036"/>
                </a:solidFill>
                <a:latin typeface="Memphis Medium"/>
                <a:cs typeface="Memphis Medium"/>
              </a:rPr>
              <a:t>ine</a:t>
            </a:r>
            <a:endParaRPr sz="4400">
              <a:latin typeface="Memphis Medium"/>
              <a:cs typeface="Memphis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0697" y="6465417"/>
            <a:ext cx="1338580" cy="194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290955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ww</a:t>
            </a:r>
            <a:r>
              <a:rPr sz="1200" spc="-6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n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et	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358956"/>
              </p:ext>
            </p:extLst>
          </p:nvPr>
        </p:nvGraphicFramePr>
        <p:xfrm>
          <a:off x="454025" y="1390650"/>
          <a:ext cx="8074025" cy="23553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5375"/>
                <a:gridCol w="3505200"/>
                <a:gridCol w="2203450"/>
              </a:tblGrid>
              <a:tr h="392557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Travel</a:t>
                      </a:r>
                      <a:endParaRPr sz="1800" b="1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A617"/>
                    </a:solidFill>
                  </a:tcPr>
                </a:tc>
              </a:tr>
              <a:tr h="392557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Calibri"/>
                          <a:cs typeface="Calibri"/>
                        </a:rPr>
                        <a:t>Comp</a:t>
                      </a:r>
                      <a:r>
                        <a:rPr sz="1800" spc="-10" dirty="0" smtClean="0">
                          <a:latin typeface="Calibri"/>
                          <a:cs typeface="Calibri"/>
                        </a:rPr>
                        <a:t>li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ance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Calibri"/>
                          <a:cs typeface="Calibri"/>
                        </a:rPr>
                        <a:t>Comm</a:t>
                      </a:r>
                      <a:r>
                        <a:rPr sz="1800" spc="-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spc="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Memb</a:t>
                      </a:r>
                      <a:r>
                        <a:rPr sz="1800" spc="5" dirty="0" smtClean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40" dirty="0" smtClean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sh</a:t>
                      </a:r>
                      <a:r>
                        <a:rPr sz="1800" spc="-5" dirty="0" smtClean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0CC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spc="-10" dirty="0" smtClean="0">
                          <a:latin typeface="Calibri"/>
                          <a:cs typeface="Calibri"/>
                        </a:rPr>
                        <a:t>PD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Calibri"/>
                          <a:cs typeface="Calibri"/>
                        </a:rPr>
                        <a:t>Finance</a:t>
                      </a:r>
                      <a:r>
                        <a:rPr sz="1800" spc="1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spc="5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Ad</a:t>
                      </a:r>
                      <a:r>
                        <a:rPr sz="1800" spc="5" dirty="0" smtClean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spc="-5" dirty="0" smtClean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0CC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spc="-10" dirty="0" smtClean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spc="-30" dirty="0" smtClean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5" dirty="0" smtClean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10" dirty="0" smtClean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spc="5" dirty="0" smtClean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0" dirty="0" smtClean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55" dirty="0" smtClean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114" dirty="0" smtClean="0">
                          <a:latin typeface="Calibri"/>
                          <a:cs typeface="Calibri"/>
                        </a:rPr>
                        <a:t>’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s O</a:t>
                      </a:r>
                      <a:r>
                        <a:rPr sz="1800" spc="-15" dirty="0" smtClean="0">
                          <a:latin typeface="Calibri"/>
                          <a:cs typeface="Calibri"/>
                        </a:rPr>
                        <a:t>f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fi</a:t>
                      </a:r>
                      <a:r>
                        <a:rPr sz="1800" spc="-10" dirty="0" smtClean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0" dirty="0" smtClean="0">
                          <a:latin typeface="Calibri"/>
                          <a:cs typeface="Calibri"/>
                        </a:rPr>
                        <a:t>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694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1" ma:contentTypeDescription="Create a new document." ma:contentTypeScope="" ma:versionID="acd556ae07fa19f48e80b51b5070dad1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dc96546954f3f270c213e8ea1cb1272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BA2D2C-6B87-4DBF-A851-0DC614CB3BF3}"/>
</file>

<file path=customXml/itemProps2.xml><?xml version="1.0" encoding="utf-8"?>
<ds:datastoreItem xmlns:ds="http://schemas.openxmlformats.org/officeDocument/2006/customXml" ds:itemID="{7E028C35-AE98-4276-90DF-1310C738C4DA}"/>
</file>

<file path=customXml/itemProps3.xml><?xml version="1.0" encoding="utf-8"?>
<ds:datastoreItem xmlns:ds="http://schemas.openxmlformats.org/officeDocument/2006/customXml" ds:itemID="{CD1A8998-2081-49BB-8DE8-260E9533CC3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125</Words>
  <Application>Microsoft Office PowerPoint</Application>
  <PresentationFormat>On-screen Show (4:3)</PresentationFormat>
  <Paragraphs>39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Agenda &amp; Deliverables</vt:lpstr>
      <vt:lpstr>What’s in the Pipeline</vt:lpstr>
      <vt:lpstr>What’s in the Pipeline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Security and Agriculture</dc:title>
  <dc:creator>Michael Moscarelli</dc:creator>
  <cp:lastModifiedBy>Sherrita Wilkins</cp:lastModifiedBy>
  <cp:revision>2</cp:revision>
  <dcterms:created xsi:type="dcterms:W3CDTF">2016-04-25T13:45:48Z</dcterms:created>
  <dcterms:modified xsi:type="dcterms:W3CDTF">2016-04-25T17:57:20Z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2016-04-11T00:00:00Z</vt:filetime>
  </property>
  <property fmtid="{D5CDD505-2E9C-101B-9397-08002B2CF9AE}" pid="3" name="LastSaved">
    <vt:filetime>2016-04-25T00:00:00Z</vt:filetime>
  </property>
  <property fmtid="{D5CDD505-2E9C-101B-9397-08002B2CF9AE}" pid="4" name="ContentTypeId">
    <vt:lpwstr>0x0101003206C8355D678A459F2EF8957171B231</vt:lpwstr>
  </property>
  <property fmtid="{D5CDD505-2E9C-101B-9397-08002B2CF9AE}" pid="5" name="Order">
    <vt:r8>152200</vt:r8>
  </property>
</Properties>
</file>