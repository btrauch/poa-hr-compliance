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5" r:id="rId4"/>
    <p:sldId id="263" r:id="rId5"/>
    <p:sldId id="264" r:id="rId6"/>
    <p:sldId id="267" r:id="rId7"/>
  </p:sldIdLst>
  <p:sldSz cx="9144000" cy="6858000" type="screen4x3"/>
  <p:notesSz cx="9296400" cy="701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62" autoAdjust="0"/>
    <p:restoredTop sz="94660"/>
  </p:normalViewPr>
  <p:slideViewPr>
    <p:cSldViewPr>
      <p:cViewPr>
        <p:scale>
          <a:sx n="66" d="100"/>
          <a:sy n="66" d="100"/>
        </p:scale>
        <p:origin x="-828" y="-10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3999" cy="18854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1539239" y="572325"/>
            <a:ext cx="3613912" cy="6613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79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799" cy="17145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  <a:tabLst>
                <a:tab pos="1367790" algn="l"/>
              </a:tabLst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@Pa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	|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\Pa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icas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  <a:tabLst>
                <a:tab pos="1367790" algn="l"/>
              </a:tabLst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@Pa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	|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\Pa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icas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880228" y="1782317"/>
            <a:ext cx="3511573" cy="398889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  <a:tabLst>
                <a:tab pos="1367790" algn="l"/>
              </a:tabLst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@Pa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	|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\Pa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icas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  <a:tabLst>
                <a:tab pos="1367790" algn="l"/>
              </a:tabLst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@Pa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	|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\Pa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icas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  <a:tabLst>
                <a:tab pos="1367790" algn="l"/>
              </a:tabLst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@Pa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	|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\Pa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icas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5731736"/>
            <a:ext cx="9143999" cy="11262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457200" y="6279127"/>
            <a:ext cx="2803271" cy="5130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7107681" y="6446177"/>
            <a:ext cx="221005" cy="2210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5446648" y="6415011"/>
            <a:ext cx="314794" cy="31479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97305" y="487298"/>
            <a:ext cx="6549389" cy="67217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340" y="1629917"/>
            <a:ext cx="7767319" cy="368414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695746" y="6465417"/>
            <a:ext cx="1414779" cy="19393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12700">
              <a:lnSpc>
                <a:spcPct val="100000"/>
              </a:lnSpc>
              <a:tabLst>
                <a:tab pos="1367790" algn="l"/>
              </a:tabLst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@Pa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	|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3421" y="6465417"/>
            <a:ext cx="1225092" cy="19393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\Pa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icas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artners.net/" TargetMode="Externa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artners.net/" TargetMode="Externa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artners.net/" TargetMode="Externa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artners.net/" TargetMode="Externa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artners.net/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15236" y="2571877"/>
            <a:ext cx="6114415" cy="5626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>
              <a:lnSpc>
                <a:spcPct val="100000"/>
              </a:lnSpc>
            </a:pPr>
            <a:r>
              <a:rPr lang="en-US" sz="3600" b="1" dirty="0" smtClean="0">
                <a:solidFill>
                  <a:srgbClr val="F82036"/>
                </a:solidFill>
                <a:latin typeface="Memphis Medium"/>
                <a:cs typeface="Memphis Medium"/>
              </a:rPr>
              <a:t>What’s in the Pipeline?</a:t>
            </a:r>
            <a:endParaRPr sz="3600" dirty="0">
              <a:latin typeface="Memphis Medium"/>
              <a:cs typeface="Memphis Medium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73144" y="3925696"/>
            <a:ext cx="1998598" cy="3149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>
              <a:lnSpc>
                <a:spcPct val="100000"/>
              </a:lnSpc>
            </a:pPr>
            <a:r>
              <a:rPr lang="en-US" sz="2000" dirty="0" smtClean="0">
                <a:latin typeface="TradeGothic"/>
                <a:cs typeface="TradeGothic"/>
              </a:rPr>
              <a:t>May - August</a:t>
            </a:r>
            <a:endParaRPr sz="2000" dirty="0">
              <a:latin typeface="TradeGothic"/>
              <a:cs typeface="TradeGoth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4060697" y="6465417"/>
            <a:ext cx="1338580" cy="1943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1290955" algn="l"/>
              </a:tabLst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ww</a:t>
            </a:r>
            <a:r>
              <a:rPr sz="1200" spc="-6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w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.pa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.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n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et	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|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1367790" algn="l"/>
              </a:tabLst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@Pa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	|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\Pa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icas</a:t>
            </a:r>
            <a:endParaRPr sz="1200">
              <a:latin typeface="TradeGothic"/>
              <a:cs typeface="TradeGothic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4473806"/>
              </p:ext>
            </p:extLst>
          </p:nvPr>
        </p:nvGraphicFramePr>
        <p:xfrm>
          <a:off x="304800" y="838200"/>
          <a:ext cx="8382000" cy="42939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/>
                <a:gridCol w="3581400"/>
                <a:gridCol w="3657600"/>
              </a:tblGrid>
              <a:tr h="392557"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</a:pPr>
                      <a:r>
                        <a:rPr sz="1800" b="1" dirty="0" smtClean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Unit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FA617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>
                        <a:lnSpc>
                          <a:spcPct val="100000"/>
                        </a:lnSpc>
                      </a:pPr>
                      <a:r>
                        <a:rPr sz="1800" b="1" dirty="0" smtClean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Activity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FA617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>
                        <a:lnSpc>
                          <a:spcPct val="100000"/>
                        </a:lnSpc>
                      </a:pPr>
                      <a:r>
                        <a:rPr lang="en-US" sz="1800" b="1" dirty="0" smtClean="0">
                          <a:solidFill>
                            <a:srgbClr val="FFFFFF"/>
                          </a:solidFill>
                          <a:latin typeface="Calibri"/>
                          <a:ea typeface="+mn-ea"/>
                          <a:cs typeface="Calibri"/>
                        </a:rPr>
                        <a:t>Travel</a:t>
                      </a:r>
                      <a:endParaRPr sz="1800" b="1" dirty="0">
                        <a:solidFill>
                          <a:srgbClr val="FFFFFF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A617"/>
                    </a:solidFill>
                  </a:tcPr>
                </a:tc>
              </a:tr>
              <a:tr h="392556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600" b="1" dirty="0" smtClean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600" b="1" spc="-20" dirty="0" smtClean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F</a:t>
                      </a:r>
                      <a:r>
                        <a:rPr sz="1600" b="1" spc="0" dirty="0" smtClean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S</a:t>
                      </a:r>
                      <a:endParaRPr sz="1600" b="1">
                        <a:solidFill>
                          <a:srgbClr val="C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FE0CC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+mj-lt"/>
                        <a:buAutoNum type="arabicPeriod"/>
                      </a:pPr>
                      <a:r>
                        <a:rPr lang="en-US" sz="1600" dirty="0" smtClean="0">
                          <a:latin typeface="Calibri"/>
                          <a:cs typeface="Calibri"/>
                        </a:rPr>
                        <a:t>Midterm evaluation of F2F in the fall; The team will be prepping</a:t>
                      </a:r>
                      <a:r>
                        <a:rPr lang="en-US" sz="1600" baseline="0" dirty="0" smtClean="0">
                          <a:latin typeface="Calibri"/>
                          <a:cs typeface="Calibri"/>
                        </a:rPr>
                        <a:t> for this</a:t>
                      </a:r>
                      <a:r>
                        <a:rPr lang="en-US" sz="1600" dirty="0" smtClean="0">
                          <a:latin typeface="Calibri"/>
                          <a:cs typeface="Calibri"/>
                        </a:rPr>
                        <a:t> over</a:t>
                      </a:r>
                      <a:r>
                        <a:rPr lang="en-US" sz="1600" baseline="0" dirty="0" smtClean="0">
                          <a:latin typeface="Calibri"/>
                          <a:cs typeface="Calibri"/>
                        </a:rPr>
                        <a:t> the summer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FE0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latin typeface="Calibri"/>
                          <a:cs typeface="Calibri"/>
                        </a:rPr>
                        <a:t>Confirmed</a:t>
                      </a:r>
                    </a:p>
                    <a:p>
                      <a:pPr marL="285750" indent="-285750">
                        <a:buFont typeface="Wingdings" pitchFamily="2" charset="2"/>
                        <a:buChar char="q"/>
                      </a:pPr>
                      <a:r>
                        <a:rPr lang="en-US" sz="1600" dirty="0" smtClean="0">
                          <a:latin typeface="Calibri"/>
                          <a:cs typeface="Calibri"/>
                        </a:rPr>
                        <a:t>July – Field Staff Training Conference in DR (confirmed; need exact dates);</a:t>
                      </a:r>
                    </a:p>
                    <a:p>
                      <a:pPr marL="0" indent="0">
                        <a:buFont typeface="Wingdings" pitchFamily="2" charset="2"/>
                        <a:buNone/>
                      </a:pPr>
                      <a:endParaRPr lang="en-US" sz="1600" dirty="0" smtClean="0">
                        <a:latin typeface="Calibri"/>
                        <a:cs typeface="Calibri"/>
                      </a:endParaRPr>
                    </a:p>
                    <a:p>
                      <a:r>
                        <a:rPr lang="en-US" sz="1600" b="1" dirty="0" smtClean="0">
                          <a:latin typeface="Calibri"/>
                          <a:cs typeface="Calibri"/>
                        </a:rPr>
                        <a:t>Tentative</a:t>
                      </a:r>
                    </a:p>
                    <a:p>
                      <a:pPr marL="285750" indent="-285750">
                        <a:buFont typeface="Wingdings" pitchFamily="2" charset="2"/>
                        <a:buChar char="q"/>
                      </a:pPr>
                      <a:r>
                        <a:rPr lang="en-US" sz="1600" dirty="0" smtClean="0">
                          <a:latin typeface="Calibri"/>
                          <a:cs typeface="Calibri"/>
                        </a:rPr>
                        <a:t>June tentative</a:t>
                      </a:r>
                      <a:r>
                        <a:rPr lang="en-US" sz="1600" baseline="0" dirty="0" smtClean="0">
                          <a:latin typeface="Calibri"/>
                          <a:cs typeface="Calibri"/>
                        </a:rPr>
                        <a:t> trip to Guatemala for F2F + Potential trip to Haiti for NSP closeout</a:t>
                      </a:r>
                    </a:p>
                    <a:p>
                      <a:pPr marL="285750" indent="-285750">
                        <a:buFont typeface="Wingdings" pitchFamily="2" charset="2"/>
                        <a:buChar char="q"/>
                      </a:pP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0CC"/>
                    </a:solidFill>
                  </a:tcPr>
                </a:tc>
              </a:tr>
              <a:tr h="392557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600" b="1" dirty="0" smtClean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A </a:t>
                      </a:r>
                      <a:r>
                        <a:rPr sz="1600" b="1" spc="5" dirty="0" smtClean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G</a:t>
                      </a:r>
                      <a:r>
                        <a:rPr sz="1600" b="1" spc="0" dirty="0" smtClean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anar</a:t>
                      </a:r>
                      <a:endParaRPr sz="1600" b="1" dirty="0">
                        <a:solidFill>
                          <a:srgbClr val="C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FF0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baseline="0" dirty="0" smtClean="0">
                          <a:latin typeface="Calibri"/>
                          <a:cs typeface="Calibri"/>
                        </a:rPr>
                        <a:t>Proposals Under Developmen</a:t>
                      </a:r>
                      <a:r>
                        <a:rPr lang="en-US" sz="1600" baseline="0" dirty="0" smtClean="0">
                          <a:latin typeface="Calibri"/>
                          <a:cs typeface="Calibri"/>
                        </a:rPr>
                        <a:t>t</a:t>
                      </a:r>
                    </a:p>
                    <a:p>
                      <a:pPr marL="342900" indent="-342900" algn="l">
                        <a:buFont typeface="+mj-lt"/>
                        <a:buAutoNum type="arabicPeriod"/>
                      </a:pPr>
                      <a:r>
                        <a:rPr lang="en-US" sz="1600" baseline="0" dirty="0" smtClean="0">
                          <a:latin typeface="Calibri"/>
                          <a:cs typeface="Calibri"/>
                        </a:rPr>
                        <a:t>4/28 US Embassy Costa Rica due;  </a:t>
                      </a:r>
                    </a:p>
                    <a:p>
                      <a:pPr marL="342900" indent="-342900" algn="l">
                        <a:buFont typeface="+mj-lt"/>
                        <a:buAutoNum type="arabicPeriod"/>
                      </a:pPr>
                      <a:r>
                        <a:rPr lang="en-US" sz="1600" baseline="0" dirty="0" smtClean="0">
                          <a:latin typeface="Calibri"/>
                          <a:cs typeface="Calibri"/>
                        </a:rPr>
                        <a:t>5/6 US Embassy Belize due; </a:t>
                      </a:r>
                    </a:p>
                    <a:p>
                      <a:pPr marL="0" indent="0" algn="l">
                        <a:buNone/>
                      </a:pPr>
                      <a:endParaRPr lang="en-US" sz="1600" baseline="0" dirty="0" smtClean="0">
                        <a:latin typeface="Calibri"/>
                        <a:cs typeface="Calibri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600" b="1" baseline="0" dirty="0" smtClean="0">
                          <a:latin typeface="Calibri"/>
                          <a:cs typeface="Calibri"/>
                        </a:rPr>
                        <a:t>Other</a:t>
                      </a:r>
                    </a:p>
                    <a:p>
                      <a:pPr marL="342900" indent="-342900" algn="l">
                        <a:buFont typeface="+mj-lt"/>
                        <a:buAutoNum type="arabicPeriod"/>
                      </a:pPr>
                      <a:r>
                        <a:rPr lang="en-US" sz="1600" baseline="0" dirty="0" smtClean="0">
                          <a:latin typeface="Calibri"/>
                          <a:cs typeface="Calibri"/>
                        </a:rPr>
                        <a:t>5/15 intern from Duke Starts;</a:t>
                      </a:r>
                    </a:p>
                    <a:p>
                      <a:pPr marL="342900" indent="-342900" algn="l">
                        <a:buFont typeface="+mj-lt"/>
                        <a:buAutoNum type="arabicPeriod"/>
                      </a:pPr>
                      <a:r>
                        <a:rPr lang="en-US" sz="1600" baseline="0" dirty="0" smtClean="0">
                          <a:latin typeface="Calibri"/>
                          <a:cs typeface="Calibri"/>
                        </a:rPr>
                        <a:t>Bolivia Vencedoras Round II begins in June funded by US Embassy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FF0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latin typeface="Calibri"/>
                          <a:cs typeface="Calibri"/>
                        </a:rPr>
                        <a:t>Confirmed</a:t>
                      </a:r>
                      <a:r>
                        <a:rPr lang="en-US" sz="1600" dirty="0" smtClean="0">
                          <a:latin typeface="Calibri"/>
                          <a:cs typeface="Calibri"/>
                        </a:rPr>
                        <a:t> </a:t>
                      </a:r>
                    </a:p>
                    <a:p>
                      <a:pPr marL="285750" marR="0" indent="-2857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q"/>
                        <a:tabLst/>
                        <a:defRPr/>
                      </a:pPr>
                      <a:r>
                        <a:rPr lang="en-US" sz="1600" baseline="0" dirty="0" smtClean="0">
                          <a:latin typeface="+mn-lt"/>
                          <a:cs typeface="Calibri"/>
                        </a:rPr>
                        <a:t>April 30</a:t>
                      </a:r>
                      <a:r>
                        <a:rPr lang="en-US" sz="1600" baseline="30000" dirty="0" smtClean="0">
                          <a:latin typeface="+mn-lt"/>
                          <a:cs typeface="Calibri"/>
                        </a:rPr>
                        <a:t>th</a:t>
                      </a:r>
                      <a:r>
                        <a:rPr lang="en-US" sz="1600" baseline="0" dirty="0" smtClean="0">
                          <a:latin typeface="+mn-lt"/>
                          <a:cs typeface="Calibri"/>
                        </a:rPr>
                        <a:t> small launch event in Rio for ESPN grant; </a:t>
                      </a:r>
                    </a:p>
                    <a:p>
                      <a:pPr marL="285750" marR="0" indent="-2857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q"/>
                        <a:tabLst/>
                        <a:defRPr/>
                      </a:pPr>
                      <a:r>
                        <a:rPr lang="en-US" sz="1600" baseline="0" dirty="0" smtClean="0">
                          <a:latin typeface="+mn-lt"/>
                          <a:cs typeface="Calibri"/>
                        </a:rPr>
                        <a:t>May 29</a:t>
                      </a:r>
                      <a:r>
                        <a:rPr lang="en-US" sz="1600" baseline="30000" dirty="0" smtClean="0">
                          <a:latin typeface="+mn-lt"/>
                          <a:cs typeface="Calibri"/>
                        </a:rPr>
                        <a:t>th</a:t>
                      </a:r>
                      <a:r>
                        <a:rPr lang="en-US" sz="1600" baseline="0" dirty="0" smtClean="0">
                          <a:latin typeface="+mn-lt"/>
                          <a:cs typeface="Calibri"/>
                        </a:rPr>
                        <a:t> – Big launch event in Buenos Aires with ESPN reps – Nadia will attend  (Steve should prioritize a potential visit)</a:t>
                      </a:r>
                    </a:p>
                    <a:p>
                      <a:pPr marL="285750" marR="0" indent="-2857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q"/>
                        <a:tabLst/>
                        <a:defRPr/>
                      </a:pPr>
                      <a:r>
                        <a:rPr lang="en-US" sz="1600" dirty="0" smtClean="0">
                          <a:latin typeface="Calibri"/>
                          <a:cs typeface="Calibri"/>
                        </a:rPr>
                        <a:t>travel to</a:t>
                      </a:r>
                      <a:r>
                        <a:rPr lang="en-US" sz="1600" baseline="0" dirty="0" smtClean="0">
                          <a:latin typeface="Calibri"/>
                          <a:cs typeface="Calibri"/>
                        </a:rPr>
                        <a:t> Bolivia late June for Nadia (dates TBD); 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0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4060697" y="6465417"/>
            <a:ext cx="1338580" cy="1943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1290955" algn="l"/>
              </a:tabLst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ww</a:t>
            </a:r>
            <a:r>
              <a:rPr sz="1200" spc="-6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w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.pa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.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n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et	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|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1367790" algn="l"/>
              </a:tabLst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@Pa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	|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\Pa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icas</a:t>
            </a:r>
            <a:endParaRPr sz="1200">
              <a:latin typeface="TradeGothic"/>
              <a:cs typeface="TradeGothic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680071"/>
              </p:ext>
            </p:extLst>
          </p:nvPr>
        </p:nvGraphicFramePr>
        <p:xfrm>
          <a:off x="228600" y="457200"/>
          <a:ext cx="8610600" cy="40501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33486"/>
                <a:gridCol w="3771913"/>
                <a:gridCol w="3505201"/>
              </a:tblGrid>
              <a:tr h="392557"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</a:pPr>
                      <a:r>
                        <a:rPr sz="1800" b="1" dirty="0" smtClean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Unit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FA617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>
                        <a:lnSpc>
                          <a:spcPct val="100000"/>
                        </a:lnSpc>
                      </a:pPr>
                      <a:r>
                        <a:rPr sz="1800" b="1" dirty="0" smtClean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Activity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9FA617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>
                        <a:lnSpc>
                          <a:spcPct val="100000"/>
                        </a:lnSpc>
                      </a:pPr>
                      <a:r>
                        <a:rPr lang="en-US" sz="1800" b="1" dirty="0" smtClean="0">
                          <a:solidFill>
                            <a:srgbClr val="FFFFFF"/>
                          </a:solidFill>
                          <a:latin typeface="Calibri"/>
                          <a:ea typeface="+mn-ea"/>
                          <a:cs typeface="Calibri"/>
                        </a:rPr>
                        <a:t>Travel</a:t>
                      </a:r>
                      <a:endParaRPr sz="1800" b="1" dirty="0">
                        <a:solidFill>
                          <a:srgbClr val="FFFFFF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A617"/>
                    </a:solidFill>
                  </a:tcPr>
                </a:tc>
              </a:tr>
              <a:tr h="392556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600" b="1" dirty="0" smtClean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Comb</a:t>
                      </a:r>
                      <a:r>
                        <a:rPr sz="1600" b="1" spc="-10" dirty="0" smtClean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600" b="1" spc="-30" dirty="0" smtClean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t</a:t>
                      </a:r>
                      <a:r>
                        <a:rPr sz="1600" b="1" spc="0" dirty="0" smtClean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t</a:t>
                      </a:r>
                      <a:r>
                        <a:rPr sz="1600" b="1" spc="-10" dirty="0" smtClean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600" b="1" spc="0" dirty="0" smtClean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ng</a:t>
                      </a:r>
                      <a:r>
                        <a:rPr sz="1600" b="1" spc="5" dirty="0" smtClean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0" dirty="0" smtClean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Chi</a:t>
                      </a:r>
                      <a:r>
                        <a:rPr sz="1600" b="1" spc="-10" dirty="0" smtClean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l</a:t>
                      </a:r>
                      <a:r>
                        <a:rPr sz="1600" b="1" spc="0" dirty="0" smtClean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d</a:t>
                      </a:r>
                      <a:r>
                        <a:rPr sz="1600" b="1" spc="25" dirty="0" smtClean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0" dirty="0" smtClean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Labor</a:t>
                      </a:r>
                      <a:endParaRPr sz="1600" b="1" dirty="0">
                        <a:solidFill>
                          <a:srgbClr val="C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FE0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sz="1600" b="1" baseline="0" dirty="0" smtClean="0">
                          <a:latin typeface="Calibri"/>
                          <a:cs typeface="Calibri"/>
                        </a:rPr>
                        <a:t>Proposals Under Development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baseline="0" dirty="0" smtClean="0">
                          <a:latin typeface="Calibri"/>
                          <a:cs typeface="Calibri"/>
                        </a:rPr>
                        <a:t>Cost-Extension will be submitted in May for $2M for 2017</a:t>
                      </a:r>
                      <a:br>
                        <a:rPr lang="en-US" sz="1600" baseline="0" dirty="0" smtClean="0">
                          <a:latin typeface="Calibri"/>
                          <a:cs typeface="Calibri"/>
                        </a:rPr>
                      </a:br>
                      <a:endParaRPr lang="en-US" sz="1600" baseline="0" dirty="0" smtClean="0">
                        <a:latin typeface="Calibri"/>
                        <a:cs typeface="Calibri"/>
                      </a:endParaRP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US" sz="1600" b="1" baseline="0" dirty="0" smtClean="0">
                          <a:latin typeface="Calibri"/>
                          <a:cs typeface="Calibri"/>
                        </a:rPr>
                        <a:t>Other</a:t>
                      </a:r>
                    </a:p>
                    <a:p>
                      <a:pPr marL="342900" marR="0" indent="-34290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600" dirty="0" smtClean="0">
                          <a:latin typeface="+mn-lt"/>
                          <a:cs typeface="Calibri"/>
                        </a:rPr>
                        <a:t>EducaFuturo closeout activities</a:t>
                      </a:r>
                      <a:r>
                        <a:rPr lang="en-US" sz="1600" baseline="0" dirty="0" smtClean="0">
                          <a:latin typeface="+mn-lt"/>
                          <a:cs typeface="Calibri"/>
                        </a:rPr>
                        <a:t> start in the summer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FE0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latin typeface="Calibri"/>
                          <a:cs typeface="Calibri"/>
                        </a:rPr>
                        <a:t>Confirmed</a:t>
                      </a:r>
                    </a:p>
                    <a:p>
                      <a:pPr marL="285750" indent="-285750">
                        <a:buFont typeface="Wingdings" pitchFamily="2" charset="2"/>
                        <a:buChar char="q"/>
                      </a:pPr>
                      <a:r>
                        <a:rPr lang="en-US" sz="1600" dirty="0" smtClean="0">
                          <a:latin typeface="Calibri"/>
                          <a:cs typeface="Calibri"/>
                        </a:rPr>
                        <a:t>May 8-22 CMEP training in Paraguay</a:t>
                      </a:r>
                      <a:r>
                        <a:rPr lang="en-US" sz="1600" baseline="0" dirty="0" smtClean="0">
                          <a:latin typeface="Calibri"/>
                          <a:cs typeface="Calibri"/>
                        </a:rPr>
                        <a:t> Elizabeth H. Carmen attending</a:t>
                      </a:r>
                    </a:p>
                    <a:p>
                      <a:pPr marL="285750" indent="-285750">
                        <a:buFont typeface="Wingdings" pitchFamily="2" charset="2"/>
                        <a:buChar char="q"/>
                      </a:pPr>
                      <a:r>
                        <a:rPr lang="en-US" sz="1600" baseline="0" dirty="0" smtClean="0">
                          <a:latin typeface="Calibri"/>
                          <a:cs typeface="Calibri"/>
                        </a:rPr>
                        <a:t>Agustin Carrizosa from CIRD visiting DC in May </a:t>
                      </a:r>
                    </a:p>
                    <a:p>
                      <a:pPr marL="0" indent="0">
                        <a:buFont typeface="Wingdings" pitchFamily="2" charset="2"/>
                        <a:buNone/>
                      </a:pPr>
                      <a:endParaRPr lang="en-US" sz="1600" baseline="0" dirty="0" smtClean="0">
                        <a:latin typeface="Calibri"/>
                        <a:cs typeface="Calibri"/>
                      </a:endParaRPr>
                    </a:p>
                    <a:p>
                      <a:pPr marL="0" indent="0">
                        <a:buFont typeface="Wingdings" pitchFamily="2" charset="2"/>
                        <a:buNone/>
                      </a:pPr>
                      <a:r>
                        <a:rPr lang="en-US" sz="1600" b="1" baseline="0" dirty="0" smtClean="0">
                          <a:latin typeface="Calibri"/>
                          <a:cs typeface="Calibri"/>
                        </a:rPr>
                        <a:t>Tentative</a:t>
                      </a:r>
                    </a:p>
                    <a:p>
                      <a:pPr marL="285750" indent="-285750">
                        <a:buFont typeface="Wingdings" pitchFamily="2" charset="2"/>
                        <a:buChar char="q"/>
                      </a:pPr>
                      <a:r>
                        <a:rPr lang="en-US" sz="1600" baseline="0" dirty="0" smtClean="0">
                          <a:latin typeface="Calibri"/>
                          <a:cs typeface="Calibri"/>
                        </a:rPr>
                        <a:t>Paraguay Okkakua launch is event TBD</a:t>
                      </a:r>
                    </a:p>
                    <a:p>
                      <a:pPr marL="0" indent="0">
                        <a:buFont typeface="Wingdings" pitchFamily="2" charset="2"/>
                        <a:buNone/>
                      </a:pP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0CC"/>
                    </a:solidFill>
                  </a:tcPr>
                </a:tc>
              </a:tr>
              <a:tr h="392557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600" b="1" spc="-10" dirty="0" smtClean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P</a:t>
                      </a:r>
                      <a:r>
                        <a:rPr sz="1600" b="1" spc="0" dirty="0" smtClean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LE/YE</a:t>
                      </a:r>
                      <a:endParaRPr sz="1600" b="1" dirty="0">
                        <a:solidFill>
                          <a:srgbClr val="C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FF0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latin typeface="Calibri"/>
                          <a:cs typeface="Calibri"/>
                        </a:rPr>
                        <a:t>Proposals Under</a:t>
                      </a:r>
                      <a:r>
                        <a:rPr lang="en-US" sz="1600" b="1" baseline="0" dirty="0" smtClean="0">
                          <a:latin typeface="Calibri"/>
                          <a:cs typeface="Calibri"/>
                        </a:rPr>
                        <a:t> Development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baseline="0" dirty="0" smtClean="0">
                          <a:latin typeface="Calibri"/>
                          <a:cs typeface="Calibri"/>
                        </a:rPr>
                        <a:t> 5/20 - Youth Ambassadors no-cost Continuation for 2017-18 due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FF0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latin typeface="Calibri"/>
                          <a:cs typeface="Calibri"/>
                        </a:rPr>
                        <a:t>Confirmed</a:t>
                      </a:r>
                    </a:p>
                    <a:p>
                      <a:pPr marL="342900" indent="-342900">
                        <a:buFont typeface="Wingdings" pitchFamily="2" charset="2"/>
                        <a:buChar char="q"/>
                      </a:pPr>
                      <a:r>
                        <a:rPr lang="en-US" sz="1600" dirty="0" smtClean="0">
                          <a:latin typeface="Calibri"/>
                          <a:cs typeface="Calibri"/>
                        </a:rPr>
                        <a:t>Mid-May:</a:t>
                      </a:r>
                      <a:r>
                        <a:rPr lang="en-US" sz="1600" baseline="0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600" dirty="0" smtClean="0">
                          <a:latin typeface="Calibri"/>
                          <a:cs typeface="Calibri"/>
                        </a:rPr>
                        <a:t>YE team</a:t>
                      </a:r>
                      <a:r>
                        <a:rPr lang="en-US" sz="1600" baseline="0" dirty="0" smtClean="0">
                          <a:latin typeface="Calibri"/>
                          <a:cs typeface="Calibri"/>
                        </a:rPr>
                        <a:t> travel to Colombia; Abe to Venezuela afterwards; </a:t>
                      </a:r>
                    </a:p>
                    <a:p>
                      <a:pPr marL="342900" indent="-342900">
                        <a:buFont typeface="Wingdings" pitchFamily="2" charset="2"/>
                        <a:buChar char="q"/>
                      </a:pPr>
                      <a:r>
                        <a:rPr lang="en-US" sz="1600" baseline="0" dirty="0" smtClean="0">
                          <a:latin typeface="Calibri"/>
                          <a:cs typeface="Calibri"/>
                        </a:rPr>
                        <a:t>July 1-5 Molly in Panama for TeacherMatch program start; July 5</a:t>
                      </a:r>
                      <a:r>
                        <a:rPr lang="en-US" sz="1600" baseline="30000" dirty="0" smtClean="0">
                          <a:latin typeface="Calibri"/>
                          <a:cs typeface="Calibri"/>
                        </a:rPr>
                        <a:t>th</a:t>
                      </a:r>
                      <a:r>
                        <a:rPr lang="en-US" sz="1600" baseline="0" dirty="0" smtClean="0">
                          <a:latin typeface="Calibri"/>
                          <a:cs typeface="Calibri"/>
                        </a:rPr>
                        <a:t>  </a:t>
                      </a:r>
                      <a:r>
                        <a:rPr lang="en-US" sz="1600" baseline="0" dirty="0" smtClean="0">
                          <a:latin typeface="+mn-lt"/>
                          <a:cs typeface="Calibri"/>
                        </a:rPr>
                        <a:t>US YAs in DC then </a:t>
                      </a:r>
                      <a:r>
                        <a:rPr lang="en-US" sz="1600" baseline="0" dirty="0" smtClean="0">
                          <a:latin typeface="Calibri"/>
                          <a:cs typeface="Calibri"/>
                        </a:rPr>
                        <a:t> to Colombia; 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0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0302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4060697" y="6465417"/>
            <a:ext cx="1338580" cy="1943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1290955" algn="l"/>
              </a:tabLst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ww</a:t>
            </a:r>
            <a:r>
              <a:rPr sz="1200" spc="-6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w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.pa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.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n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et	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|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1367790" algn="l"/>
              </a:tabLst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@Pa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	|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\Pa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icas</a:t>
            </a:r>
            <a:endParaRPr sz="1200">
              <a:latin typeface="TradeGothic"/>
              <a:cs typeface="TradeGothic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1361372"/>
              </p:ext>
            </p:extLst>
          </p:nvPr>
        </p:nvGraphicFramePr>
        <p:xfrm>
          <a:off x="228600" y="228600"/>
          <a:ext cx="8534400" cy="55131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/>
                <a:gridCol w="4114800"/>
                <a:gridCol w="3276600"/>
              </a:tblGrid>
              <a:tr h="392557"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</a:pPr>
                      <a:r>
                        <a:rPr sz="1800" b="1" dirty="0" smtClean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Unit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A617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>
                        <a:lnSpc>
                          <a:spcPct val="100000"/>
                        </a:lnSpc>
                      </a:pPr>
                      <a:r>
                        <a:rPr sz="1800" b="1" dirty="0" smtClean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Activity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A617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>
                        <a:lnSpc>
                          <a:spcPct val="100000"/>
                        </a:lnSpc>
                      </a:pPr>
                      <a:r>
                        <a:rPr lang="en-US" sz="1800" b="1" dirty="0" smtClean="0">
                          <a:solidFill>
                            <a:srgbClr val="FFFFFF"/>
                          </a:solidFill>
                          <a:latin typeface="Calibri"/>
                          <a:ea typeface="+mn-ea"/>
                          <a:cs typeface="Calibri"/>
                        </a:rPr>
                        <a:t>Travel</a:t>
                      </a:r>
                      <a:endParaRPr sz="1800" b="1" dirty="0">
                        <a:solidFill>
                          <a:srgbClr val="FFFFFF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A617"/>
                    </a:solidFill>
                  </a:tcPr>
                </a:tc>
              </a:tr>
              <a:tr h="392557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600" b="1" spc="-10" dirty="0" smtClean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PP</a:t>
                      </a:r>
                      <a:r>
                        <a:rPr sz="1600" b="1" spc="0" dirty="0" smtClean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P (</a:t>
                      </a:r>
                      <a:r>
                        <a:rPr sz="1600" b="1" spc="-10" dirty="0" smtClean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r>
                        <a:rPr sz="1600" b="1" spc="0" dirty="0" smtClean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00k, CBG,</a:t>
                      </a:r>
                      <a:r>
                        <a:rPr sz="1600" b="1" spc="10" dirty="0" smtClean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0" dirty="0" smtClean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SENA)</a:t>
                      </a:r>
                      <a:endParaRPr sz="1600" b="1" dirty="0">
                        <a:solidFill>
                          <a:srgbClr val="C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0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latin typeface="Calibri"/>
                          <a:cs typeface="Calibri"/>
                        </a:rPr>
                        <a:t>Proposal Under Development</a:t>
                      </a:r>
                    </a:p>
                    <a:p>
                      <a:r>
                        <a:rPr lang="en-US" sz="1600" dirty="0" smtClean="0">
                          <a:latin typeface="Calibri"/>
                          <a:cs typeface="Calibri"/>
                        </a:rPr>
                        <a:t>1) Capacity Building Grant Re-Bid due May 4</a:t>
                      </a:r>
                      <a:r>
                        <a:rPr lang="en-US" sz="1600" baseline="30000" dirty="0" smtClean="0">
                          <a:latin typeface="Calibri"/>
                          <a:cs typeface="Calibri"/>
                        </a:rPr>
                        <a:t>th</a:t>
                      </a:r>
                      <a:r>
                        <a:rPr lang="en-US" sz="1600" dirty="0" smtClean="0">
                          <a:latin typeface="Calibri"/>
                          <a:cs typeface="Calibri"/>
                        </a:rPr>
                        <a:t> for new round of implementation</a:t>
                      </a:r>
                      <a:r>
                        <a:rPr lang="en-US" sz="1600" baseline="0" dirty="0" smtClean="0">
                          <a:latin typeface="Calibri"/>
                          <a:cs typeface="Calibri"/>
                        </a:rPr>
                        <a:t> for 2017 for $950K;  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0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latin typeface="Calibri"/>
                          <a:cs typeface="Calibri"/>
                        </a:rPr>
                        <a:t>Confirmed</a:t>
                      </a:r>
                    </a:p>
                    <a:p>
                      <a:pPr marL="285750" indent="-285750">
                        <a:buFont typeface="Wingdings" pitchFamily="2" charset="2"/>
                        <a:buChar char="q"/>
                      </a:pPr>
                      <a:r>
                        <a:rPr lang="en-US" sz="1600" dirty="0" smtClean="0">
                          <a:latin typeface="Calibri"/>
                          <a:cs typeface="Calibri"/>
                        </a:rPr>
                        <a:t>May 8-10 in Panama for </a:t>
                      </a:r>
                      <a:r>
                        <a:rPr lang="en-US" sz="1600" dirty="0" err="1" smtClean="0">
                          <a:latin typeface="Calibri"/>
                          <a:cs typeface="Calibri"/>
                        </a:rPr>
                        <a:t>Amb</a:t>
                      </a:r>
                      <a:r>
                        <a:rPr lang="en-US" sz="1600" dirty="0" smtClean="0">
                          <a:latin typeface="Calibri"/>
                          <a:cs typeface="Calibri"/>
                        </a:rPr>
                        <a:t>. </a:t>
                      </a:r>
                      <a:r>
                        <a:rPr lang="en-US" sz="1600" dirty="0" err="1" smtClean="0">
                          <a:latin typeface="Calibri"/>
                          <a:cs typeface="Calibri"/>
                        </a:rPr>
                        <a:t>Feeley</a:t>
                      </a:r>
                      <a:r>
                        <a:rPr lang="en-US" sz="1600" dirty="0" smtClean="0">
                          <a:latin typeface="Calibri"/>
                          <a:cs typeface="Calibri"/>
                        </a:rPr>
                        <a:t> Breakfast 100k </a:t>
                      </a:r>
                      <a:r>
                        <a:rPr lang="en-US" sz="1600" baseline="0" dirty="0" smtClean="0">
                          <a:latin typeface="Calibri"/>
                          <a:cs typeface="Calibri"/>
                        </a:rPr>
                        <a:t>event; </a:t>
                      </a:r>
                    </a:p>
                    <a:p>
                      <a:pPr marL="285750" indent="-285750">
                        <a:buFont typeface="Wingdings" pitchFamily="2" charset="2"/>
                        <a:buChar char="q"/>
                      </a:pPr>
                      <a:r>
                        <a:rPr lang="en-US" sz="1600" baseline="0" dirty="0" smtClean="0">
                          <a:latin typeface="Calibri"/>
                          <a:cs typeface="Calibri"/>
                        </a:rPr>
                        <a:t>May 29</a:t>
                      </a:r>
                      <a:r>
                        <a:rPr lang="en-US" sz="1600" baseline="30000" dirty="0" smtClean="0">
                          <a:latin typeface="Calibri"/>
                          <a:cs typeface="Calibri"/>
                        </a:rPr>
                        <a:t>th</a:t>
                      </a:r>
                      <a:r>
                        <a:rPr lang="en-US" sz="1600" baseline="0" dirty="0" smtClean="0">
                          <a:latin typeface="Calibri"/>
                          <a:cs typeface="Calibri"/>
                        </a:rPr>
                        <a:t> Capacity Building Workshop @ NAFSA; </a:t>
                      </a:r>
                    </a:p>
                    <a:p>
                      <a:pPr marL="285750" indent="-285750">
                        <a:buFont typeface="Wingdings" pitchFamily="2" charset="2"/>
                        <a:buChar char="q"/>
                      </a:pPr>
                      <a:r>
                        <a:rPr lang="en-US" sz="1600" baseline="0" dirty="0" smtClean="0">
                          <a:latin typeface="Calibri"/>
                          <a:cs typeface="Calibri"/>
                        </a:rPr>
                        <a:t>June 15</a:t>
                      </a:r>
                      <a:r>
                        <a:rPr lang="en-US" sz="1600" baseline="30000" dirty="0" smtClean="0">
                          <a:latin typeface="Calibri"/>
                          <a:cs typeface="Calibri"/>
                        </a:rPr>
                        <a:t>th</a:t>
                      </a:r>
                      <a:r>
                        <a:rPr lang="en-US" sz="1600" baseline="0" dirty="0" smtClean="0">
                          <a:latin typeface="Calibri"/>
                          <a:cs typeface="Calibri"/>
                        </a:rPr>
                        <a:t> BBC event in DC; </a:t>
                      </a:r>
                    </a:p>
                    <a:p>
                      <a:pPr marL="285750" indent="-285750">
                        <a:buFont typeface="Wingdings" pitchFamily="2" charset="2"/>
                        <a:buChar char="q"/>
                      </a:pPr>
                      <a:r>
                        <a:rPr lang="en-US" sz="1600" baseline="0" dirty="0" smtClean="0">
                          <a:latin typeface="Calibri"/>
                          <a:cs typeface="Calibri"/>
                        </a:rPr>
                        <a:t>July HEI event at Alamo Community College (Matt attending); Lee travels to New Jersey for panel on 100k @ Rutgers 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0E7"/>
                    </a:solidFill>
                  </a:tcPr>
                </a:tc>
              </a:tr>
              <a:tr h="392557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600" b="1" spc="-10" dirty="0" smtClean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PD</a:t>
                      </a:r>
                      <a:endParaRPr sz="1600" b="1" dirty="0">
                        <a:solidFill>
                          <a:srgbClr val="C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0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latin typeface="Calibri"/>
                          <a:cs typeface="Calibri"/>
                        </a:rPr>
                        <a:t>Proposal Under</a:t>
                      </a:r>
                      <a:r>
                        <a:rPr lang="en-US" sz="1600" b="1" baseline="0" dirty="0" smtClean="0">
                          <a:latin typeface="Calibri"/>
                          <a:cs typeface="Calibri"/>
                        </a:rPr>
                        <a:t> Development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dirty="0" smtClean="0">
                          <a:latin typeface="Calibri"/>
                          <a:cs typeface="Calibri"/>
                        </a:rPr>
                        <a:t>4/29 proposal</a:t>
                      </a:r>
                      <a:r>
                        <a:rPr lang="en-US" sz="1600" baseline="0" dirty="0" smtClean="0">
                          <a:latin typeface="Calibri"/>
                          <a:cs typeface="Calibri"/>
                        </a:rPr>
                        <a:t> for A Ganar Costa Rica due; 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baseline="0" dirty="0" smtClean="0">
                          <a:latin typeface="+mn-lt"/>
                          <a:cs typeface="Calibri"/>
                        </a:rPr>
                        <a:t>5/3 supporting Capacity Building Grant Proposal $950K </a:t>
                      </a:r>
                      <a:endParaRPr lang="en-US" sz="1600" baseline="0" dirty="0" smtClean="0">
                        <a:latin typeface="Calibri"/>
                        <a:cs typeface="Calibri"/>
                      </a:endParaRP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baseline="0" dirty="0" smtClean="0">
                          <a:latin typeface="Calibri"/>
                          <a:cs typeface="Calibri"/>
                        </a:rPr>
                        <a:t>5/4 Youth at Risk Caribbean Opportunity for $2-3M due (Partners is a sub to DAI);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baseline="0" dirty="0" smtClean="0">
                          <a:latin typeface="Calibri"/>
                          <a:cs typeface="Calibri"/>
                        </a:rPr>
                        <a:t>5/5 US Embassy Belize for A Ganar for $400K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baseline="0" dirty="0" smtClean="0">
                          <a:latin typeface="Calibri"/>
                          <a:cs typeface="Calibri"/>
                        </a:rPr>
                        <a:t>5/24 Room to Learn Re-Bid for Haiti due  likely $2M or </a:t>
                      </a:r>
                      <a:r>
                        <a:rPr lang="en-US" sz="1600" baseline="0" dirty="0" smtClean="0">
                          <a:latin typeface="+mn-lt"/>
                          <a:cs typeface="Calibri"/>
                        </a:rPr>
                        <a:t>more (Partners is a sub to Creative Associates; 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baseline="0" dirty="0" smtClean="0">
                          <a:latin typeface="+mn-lt"/>
                          <a:cs typeface="Calibri"/>
                        </a:rPr>
                        <a:t>5/27 </a:t>
                      </a:r>
                      <a:r>
                        <a:rPr lang="en-US" sz="1600" baseline="0" dirty="0" smtClean="0">
                          <a:latin typeface="Calibri"/>
                          <a:cs typeface="Calibri"/>
                        </a:rPr>
                        <a:t>DOS TIES for $750K due</a:t>
                      </a:r>
                      <a:r>
                        <a:rPr lang="en-US" sz="1600" baseline="30000" dirty="0" smtClean="0">
                          <a:latin typeface="Calibri"/>
                          <a:cs typeface="Calibri"/>
                        </a:rPr>
                        <a:t> 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0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alibri"/>
                          <a:cs typeface="Calibri"/>
                        </a:rPr>
                        <a:t>n/a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0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5694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4060697" y="6465417"/>
            <a:ext cx="1338580" cy="1943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1290955" algn="l"/>
              </a:tabLst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ww</a:t>
            </a:r>
            <a:r>
              <a:rPr sz="1200" spc="-6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w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.pa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.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n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et	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|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1367790" algn="l"/>
              </a:tabLst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@Pa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	|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\Pa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icas</a:t>
            </a:r>
            <a:endParaRPr sz="1200">
              <a:latin typeface="TradeGothic"/>
              <a:cs typeface="TradeGothic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1091232"/>
              </p:ext>
            </p:extLst>
          </p:nvPr>
        </p:nvGraphicFramePr>
        <p:xfrm>
          <a:off x="228600" y="304800"/>
          <a:ext cx="8610600" cy="33186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5399"/>
                <a:gridCol w="3810000"/>
                <a:gridCol w="3505201"/>
              </a:tblGrid>
              <a:tr h="392557"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</a:pPr>
                      <a:r>
                        <a:rPr sz="1800" b="1" dirty="0" smtClean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Unit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A617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>
                        <a:lnSpc>
                          <a:spcPct val="100000"/>
                        </a:lnSpc>
                      </a:pPr>
                      <a:r>
                        <a:rPr sz="1800" b="1" dirty="0" smtClean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Activity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A617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>
                        <a:lnSpc>
                          <a:spcPct val="100000"/>
                        </a:lnSpc>
                      </a:pPr>
                      <a:r>
                        <a:rPr lang="en-US" sz="1800" b="1" dirty="0" smtClean="0">
                          <a:solidFill>
                            <a:srgbClr val="FFFFFF"/>
                          </a:solidFill>
                          <a:latin typeface="Calibri"/>
                          <a:ea typeface="+mn-ea"/>
                          <a:cs typeface="Calibri"/>
                        </a:rPr>
                        <a:t>Travel</a:t>
                      </a:r>
                      <a:endParaRPr sz="1800" b="1" dirty="0">
                        <a:solidFill>
                          <a:srgbClr val="FFFFFF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A617"/>
                    </a:solidFill>
                  </a:tcPr>
                </a:tc>
              </a:tr>
              <a:tr h="392556">
                <a:tc>
                  <a:txBody>
                    <a:bodyPr/>
                    <a:lstStyle/>
                    <a:p>
                      <a:pPr marL="85090" indent="0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sz="1600" b="1" dirty="0" smtClean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Finance</a:t>
                      </a:r>
                      <a:r>
                        <a:rPr sz="1600" b="1" spc="10" dirty="0" smtClean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0" dirty="0" smtClean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sz="1600" b="1" spc="5" dirty="0" smtClean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0" dirty="0" smtClean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Ad</a:t>
                      </a:r>
                      <a:r>
                        <a:rPr sz="1600" b="1" spc="5" dirty="0" smtClean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m</a:t>
                      </a:r>
                      <a:r>
                        <a:rPr sz="1600" b="1" spc="-5" dirty="0" smtClean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600" b="1" spc="0" dirty="0" smtClean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n</a:t>
                      </a:r>
                      <a:endParaRPr sz="1600" b="1" dirty="0">
                        <a:solidFill>
                          <a:srgbClr val="C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0C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indent="-34290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600" baseline="0" dirty="0" smtClean="0">
                          <a:latin typeface="+mn-lt"/>
                          <a:cs typeface="Calibri"/>
                        </a:rPr>
                        <a:t>Redline agreement from IDB for reimbursement should be ready by Thursday. </a:t>
                      </a:r>
                      <a:endParaRPr lang="en-US" sz="1600" dirty="0" smtClean="0">
                        <a:latin typeface="+mn-lt"/>
                        <a:cs typeface="Calibri"/>
                      </a:endParaRP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dirty="0" smtClean="0">
                          <a:latin typeface="Calibri"/>
                          <a:cs typeface="Calibri"/>
                        </a:rPr>
                        <a:t>Audit Underway;</a:t>
                      </a:r>
                      <a:r>
                        <a:rPr lang="en-US" sz="1600" baseline="0" dirty="0" smtClean="0">
                          <a:latin typeface="Calibri"/>
                          <a:cs typeface="Calibri"/>
                        </a:rPr>
                        <a:t> 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dirty="0" smtClean="0">
                          <a:latin typeface="Calibri"/>
                          <a:cs typeface="Calibri"/>
                        </a:rPr>
                        <a:t>Cross-training for F&amp;A</a:t>
                      </a:r>
                      <a:r>
                        <a:rPr lang="en-US" sz="1600" baseline="0" dirty="0" smtClean="0">
                          <a:latin typeface="Calibri"/>
                          <a:cs typeface="Calibri"/>
                        </a:rPr>
                        <a:t> staff on</a:t>
                      </a:r>
                      <a:r>
                        <a:rPr lang="en-US" sz="1600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600" baseline="0" dirty="0" smtClean="0">
                          <a:latin typeface="Calibri"/>
                          <a:cs typeface="Calibri"/>
                        </a:rPr>
                        <a:t>admin and HR related responsibilities; 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baseline="0" dirty="0" smtClean="0">
                          <a:latin typeface="Calibri"/>
                          <a:cs typeface="Calibri"/>
                        </a:rPr>
                        <a:t>Tentative agreement to release suite 402 timeframe TBD; Comcast install for phone and internet services will rollout soon; 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0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latin typeface="Calibri"/>
                          <a:cs typeface="Calibri"/>
                        </a:rPr>
                        <a:t>Tentative</a:t>
                      </a:r>
                    </a:p>
                    <a:p>
                      <a:pPr marL="285750" indent="-285750">
                        <a:buFont typeface="Wingdings" pitchFamily="2" charset="2"/>
                        <a:buChar char="q"/>
                      </a:pPr>
                      <a:r>
                        <a:rPr lang="en-US" sz="1600" dirty="0" smtClean="0">
                          <a:latin typeface="Calibri"/>
                          <a:cs typeface="Calibri"/>
                        </a:rPr>
                        <a:t>May 14</a:t>
                      </a:r>
                      <a:r>
                        <a:rPr lang="en-US" sz="1600" baseline="30000" dirty="0" smtClean="0">
                          <a:latin typeface="Calibri"/>
                          <a:cs typeface="Calibri"/>
                        </a:rPr>
                        <a:t>th</a:t>
                      </a:r>
                      <a:r>
                        <a:rPr lang="en-US" sz="1600" dirty="0" smtClean="0">
                          <a:latin typeface="Calibri"/>
                          <a:cs typeface="Calibri"/>
                        </a:rPr>
                        <a:t> likely</a:t>
                      </a:r>
                      <a:r>
                        <a:rPr lang="en-US" sz="1600" baseline="0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600" dirty="0" smtClean="0">
                          <a:latin typeface="Calibri"/>
                          <a:cs typeface="Calibri"/>
                        </a:rPr>
                        <a:t>trip to Colombia for Horacio 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0CC"/>
                    </a:solidFill>
                  </a:tcPr>
                </a:tc>
              </a:tr>
              <a:tr h="392556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600" b="1" dirty="0" smtClean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Comp</a:t>
                      </a:r>
                      <a:r>
                        <a:rPr sz="1600" b="1" spc="-10" dirty="0" smtClean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li</a:t>
                      </a:r>
                      <a:r>
                        <a:rPr sz="1600" b="1" spc="0" dirty="0" smtClean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ance</a:t>
                      </a:r>
                      <a:endParaRPr sz="1600" b="1" dirty="0">
                        <a:solidFill>
                          <a:srgbClr val="C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FE0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alibri"/>
                          <a:cs typeface="Calibri"/>
                        </a:rPr>
                        <a:t>Pending staff training on procurements,</a:t>
                      </a:r>
                      <a:r>
                        <a:rPr lang="en-US" sz="1600" baseline="0" dirty="0" smtClean="0">
                          <a:latin typeface="Calibri"/>
                          <a:cs typeface="Calibri"/>
                        </a:rPr>
                        <a:t> sub-recipient monitoring and fraud prevention</a:t>
                      </a:r>
                    </a:p>
                    <a:p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FE0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alibri"/>
                          <a:cs typeface="Calibri"/>
                        </a:rPr>
                        <a:t>n/a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0C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7490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4060697" y="6465417"/>
            <a:ext cx="1338580" cy="1943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1290955" algn="l"/>
              </a:tabLst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ww</a:t>
            </a:r>
            <a:r>
              <a:rPr sz="1200" spc="-6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w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.pa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.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n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  <a:hlinkClick r:id="rId2"/>
              </a:rPr>
              <a:t>et	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|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1367790" algn="l"/>
              </a:tabLst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@Pa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	|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\Pa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icas</a:t>
            </a:r>
            <a:endParaRPr sz="1200">
              <a:latin typeface="TradeGothic"/>
              <a:cs typeface="TradeGothic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994605"/>
              </p:ext>
            </p:extLst>
          </p:nvPr>
        </p:nvGraphicFramePr>
        <p:xfrm>
          <a:off x="228600" y="228600"/>
          <a:ext cx="8534400" cy="57570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5400"/>
                <a:gridCol w="4114800"/>
                <a:gridCol w="3124200"/>
              </a:tblGrid>
              <a:tr h="392557"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</a:pPr>
                      <a:r>
                        <a:rPr sz="1800" b="1" dirty="0" smtClean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Unit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A617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>
                        <a:lnSpc>
                          <a:spcPct val="100000"/>
                        </a:lnSpc>
                      </a:pPr>
                      <a:r>
                        <a:rPr sz="1800" b="1" dirty="0" smtClean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Activity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A617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>
                        <a:lnSpc>
                          <a:spcPct val="100000"/>
                        </a:lnSpc>
                      </a:pPr>
                      <a:r>
                        <a:rPr lang="en-US" sz="1800" b="1" dirty="0" smtClean="0">
                          <a:solidFill>
                            <a:srgbClr val="FFFFFF"/>
                          </a:solidFill>
                          <a:latin typeface="Calibri"/>
                          <a:ea typeface="+mn-ea"/>
                          <a:cs typeface="Calibri"/>
                        </a:rPr>
                        <a:t>Travel</a:t>
                      </a:r>
                      <a:endParaRPr sz="1800" b="1" dirty="0">
                        <a:solidFill>
                          <a:srgbClr val="FFFFFF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A617"/>
                    </a:solidFill>
                  </a:tcPr>
                </a:tc>
              </a:tr>
              <a:tr h="392557">
                <a:tc>
                  <a:txBody>
                    <a:bodyPr/>
                    <a:lstStyle/>
                    <a:p>
                      <a:pPr marL="85090" indent="0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sz="1600" b="1" dirty="0" smtClean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President’s Office</a:t>
                      </a:r>
                      <a:endParaRPr sz="1600" b="1" dirty="0">
                        <a:solidFill>
                          <a:srgbClr val="C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0E7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b="1" dirty="0" smtClean="0">
                          <a:latin typeface="Calibri"/>
                          <a:cs typeface="Calibri"/>
                        </a:rPr>
                        <a:t>5/2</a:t>
                      </a:r>
                      <a:r>
                        <a:rPr lang="en-US" sz="1600" b="1" baseline="0" dirty="0" smtClean="0">
                          <a:latin typeface="Calibri"/>
                          <a:cs typeface="Calibri"/>
                        </a:rPr>
                        <a:t> or 5/3 </a:t>
                      </a:r>
                      <a:r>
                        <a:rPr lang="en-US" sz="1600" baseline="0" dirty="0" smtClean="0">
                          <a:latin typeface="Calibri"/>
                          <a:cs typeface="Calibri"/>
                        </a:rPr>
                        <a:t>– Board call to approve 2016 Operating Budget 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b="1" baseline="0" dirty="0" smtClean="0">
                          <a:latin typeface="Calibri"/>
                          <a:cs typeface="Calibri"/>
                        </a:rPr>
                        <a:t>5/31</a:t>
                      </a:r>
                      <a:r>
                        <a:rPr lang="en-US" sz="1600" baseline="0" dirty="0" smtClean="0">
                          <a:latin typeface="Calibri"/>
                          <a:cs typeface="Calibri"/>
                        </a:rPr>
                        <a:t> PIP Summer Term Begins with two enrolled participants 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b="1" baseline="0" dirty="0" smtClean="0">
                          <a:latin typeface="Calibri"/>
                          <a:cs typeface="Calibri"/>
                        </a:rPr>
                        <a:t>May thru July </a:t>
                      </a:r>
                      <a:r>
                        <a:rPr lang="en-US" sz="1600" baseline="0" dirty="0" smtClean="0">
                          <a:latin typeface="Calibri"/>
                          <a:cs typeface="Calibri"/>
                        </a:rPr>
                        <a:t>– Finalize Strategic Plan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b="1" baseline="0" dirty="0" smtClean="0">
                          <a:latin typeface="Calibri"/>
                          <a:cs typeface="Calibri"/>
                        </a:rPr>
                        <a:t>Early July - </a:t>
                      </a:r>
                      <a:r>
                        <a:rPr lang="en-US" sz="1600" baseline="0" dirty="0" smtClean="0">
                          <a:latin typeface="Calibri"/>
                          <a:cs typeface="Calibri"/>
                        </a:rPr>
                        <a:t>Board Training 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b="1" baseline="0" dirty="0" smtClean="0">
                          <a:latin typeface="Calibri"/>
                          <a:cs typeface="Calibri"/>
                        </a:rPr>
                        <a:t>July 28</a:t>
                      </a:r>
                      <a:r>
                        <a:rPr lang="en-US" sz="1600" b="1" baseline="30000" dirty="0" smtClean="0">
                          <a:latin typeface="Calibri"/>
                          <a:cs typeface="Calibri"/>
                        </a:rPr>
                        <a:t>th</a:t>
                      </a:r>
                      <a:r>
                        <a:rPr lang="en-US" sz="1600" b="1" baseline="0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600" baseline="0" dirty="0" smtClean="0">
                          <a:latin typeface="Calibri"/>
                          <a:cs typeface="Calibri"/>
                        </a:rPr>
                        <a:t>– International Board (Virtual) </a:t>
                      </a:r>
                      <a:r>
                        <a:rPr lang="en-US" sz="1600" baseline="0" dirty="0" err="1" smtClean="0">
                          <a:latin typeface="Calibri"/>
                          <a:cs typeface="Calibri"/>
                        </a:rPr>
                        <a:t>Mtg</a:t>
                      </a:r>
                      <a:r>
                        <a:rPr lang="en-US" sz="1600" baseline="0" dirty="0" smtClean="0">
                          <a:latin typeface="Calibri"/>
                          <a:cs typeface="Calibri"/>
                        </a:rPr>
                        <a:t>  + Foundation Board In-person </a:t>
                      </a:r>
                      <a:r>
                        <a:rPr lang="en-US" sz="1600" baseline="0" dirty="0" err="1" smtClean="0">
                          <a:latin typeface="Calibri"/>
                          <a:cs typeface="Calibri"/>
                        </a:rPr>
                        <a:t>Mtg</a:t>
                      </a:r>
                      <a:r>
                        <a:rPr lang="en-US" sz="1600" baseline="0" dirty="0" smtClean="0">
                          <a:latin typeface="Calibri"/>
                          <a:cs typeface="Calibri"/>
                        </a:rPr>
                        <a:t> 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baseline="0" dirty="0" smtClean="0">
                          <a:latin typeface="Calibri"/>
                          <a:cs typeface="Calibri"/>
                        </a:rPr>
                        <a:t>Ongoing cultivation of Kellogg Foundation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baseline="0" dirty="0" smtClean="0">
                          <a:latin typeface="Calibri"/>
                          <a:cs typeface="Calibri"/>
                        </a:rPr>
                        <a:t>Support to F&amp;A &amp; Comm on Rollout of the Salesforce Travel Authorizations Sprint  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0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Wingdings" pitchFamily="2" charset="2"/>
                        <a:buNone/>
                      </a:pPr>
                      <a:r>
                        <a:rPr lang="en-US" sz="1600" b="1" dirty="0" smtClean="0">
                          <a:latin typeface="Calibri"/>
                          <a:cs typeface="Calibri"/>
                        </a:rPr>
                        <a:t>Tentative</a:t>
                      </a:r>
                    </a:p>
                    <a:p>
                      <a:pPr marL="285750" indent="-285750">
                        <a:buFont typeface="Wingdings" pitchFamily="2" charset="2"/>
                        <a:buChar char="q"/>
                      </a:pPr>
                      <a:r>
                        <a:rPr lang="en-US" sz="1600" b="1" dirty="0" smtClean="0">
                          <a:latin typeface="Calibri"/>
                          <a:cs typeface="Calibri"/>
                        </a:rPr>
                        <a:t>May</a:t>
                      </a:r>
                      <a:r>
                        <a:rPr lang="en-US" sz="1600" dirty="0" smtClean="0">
                          <a:latin typeface="Calibri"/>
                          <a:cs typeface="Calibri"/>
                        </a:rPr>
                        <a:t> – Steve’s to Mexico for MOU Signing with IECA for</a:t>
                      </a:r>
                      <a:r>
                        <a:rPr lang="en-US" sz="1600" baseline="0" dirty="0" smtClean="0">
                          <a:latin typeface="Calibri"/>
                          <a:cs typeface="Calibri"/>
                        </a:rPr>
                        <a:t> PD</a:t>
                      </a:r>
                      <a:r>
                        <a:rPr lang="en-US" sz="1600" dirty="0" smtClean="0">
                          <a:latin typeface="Calibri"/>
                          <a:cs typeface="Calibri"/>
                        </a:rPr>
                        <a:t> Opportunities + Convention Fundraising</a:t>
                      </a:r>
                    </a:p>
                    <a:p>
                      <a:pPr marL="285750" marR="0" indent="-28575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q"/>
                        <a:tabLst/>
                        <a:defRPr/>
                      </a:pPr>
                      <a:r>
                        <a:rPr lang="pt-BR" sz="1600" b="1" baseline="0" dirty="0" smtClean="0">
                          <a:latin typeface="+mn-lt"/>
                          <a:cs typeface="Calibri"/>
                        </a:rPr>
                        <a:t>May</a:t>
                      </a:r>
                      <a:r>
                        <a:rPr lang="pt-BR" sz="1600" baseline="0" dirty="0" smtClean="0">
                          <a:latin typeface="+mn-lt"/>
                          <a:cs typeface="Calibri"/>
                        </a:rPr>
                        <a:t> - Argentina for A Ganar ESPN Launch </a:t>
                      </a:r>
                      <a:endParaRPr lang="en-US" sz="1600" b="1" dirty="0" smtClean="0">
                        <a:latin typeface="Calibri"/>
                        <a:cs typeface="Calibri"/>
                      </a:endParaRPr>
                    </a:p>
                    <a:p>
                      <a:pPr marL="285750" indent="-285750">
                        <a:buFont typeface="Wingdings" pitchFamily="2" charset="2"/>
                        <a:buChar char="q"/>
                      </a:pPr>
                      <a:r>
                        <a:rPr lang="en-US" sz="1600" b="1" dirty="0" smtClean="0">
                          <a:latin typeface="Calibri"/>
                          <a:cs typeface="Calibri"/>
                        </a:rPr>
                        <a:t>June- July </a:t>
                      </a:r>
                      <a:r>
                        <a:rPr lang="en-US" sz="1600" dirty="0" smtClean="0">
                          <a:latin typeface="Calibri"/>
                          <a:cs typeface="Calibri"/>
                        </a:rPr>
                        <a:t>Oklahoma</a:t>
                      </a:r>
                      <a:r>
                        <a:rPr lang="en-US" sz="1600" baseline="0" dirty="0" smtClean="0">
                          <a:latin typeface="Calibri"/>
                          <a:cs typeface="Calibri"/>
                        </a:rPr>
                        <a:t>  for Convention Fundraising + Travel for Paraguay Okkakua Launch for Steve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0E7"/>
                    </a:solidFill>
                  </a:tcPr>
                </a:tc>
              </a:tr>
              <a:tr h="392557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600" b="1" dirty="0" smtClean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Comm</a:t>
                      </a:r>
                      <a:r>
                        <a:rPr sz="1600" b="1" spc="-5" dirty="0" smtClean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0" dirty="0" smtClean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sz="1600" b="1" spc="10" dirty="0" smtClean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0" dirty="0" smtClean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Memb</a:t>
                      </a:r>
                      <a:r>
                        <a:rPr sz="1600" b="1" spc="5" dirty="0" smtClean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e</a:t>
                      </a:r>
                      <a:r>
                        <a:rPr sz="1600" b="1" spc="-40" dirty="0" smtClean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r</a:t>
                      </a:r>
                      <a:r>
                        <a:rPr sz="1600" b="1" spc="0" dirty="0" smtClean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sh</a:t>
                      </a:r>
                      <a:r>
                        <a:rPr sz="1600" b="1" spc="-5" dirty="0" smtClean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600" b="1" spc="0" dirty="0" smtClean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p</a:t>
                      </a:r>
                      <a:endParaRPr sz="1600" b="1" dirty="0">
                        <a:solidFill>
                          <a:srgbClr val="C00000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0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latin typeface="Calibri"/>
                          <a:cs typeface="Calibri"/>
                        </a:rPr>
                        <a:t>Proposal Under Development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dirty="0" smtClean="0">
                          <a:latin typeface="Calibri"/>
                          <a:cs typeface="Calibri"/>
                        </a:rPr>
                        <a:t>Supporting CBG Re-Bid due May 4</a:t>
                      </a:r>
                      <a:r>
                        <a:rPr lang="en-US" sz="1600" baseline="30000" dirty="0" smtClean="0">
                          <a:latin typeface="Calibri"/>
                          <a:cs typeface="Calibri"/>
                        </a:rPr>
                        <a:t>th</a:t>
                      </a:r>
                      <a:endParaRPr lang="en-US" sz="1600" dirty="0" smtClean="0">
                        <a:latin typeface="Calibri"/>
                        <a:cs typeface="Calibri"/>
                      </a:endParaRP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dirty="0" smtClean="0">
                          <a:latin typeface="Calibri"/>
                          <a:cs typeface="Calibri"/>
                        </a:rPr>
                        <a:t>Concept Note for the Ford Foundation re: Leadership Curriculum Funding (led by Ukiah)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endParaRPr lang="en-US" sz="1600" dirty="0" smtClean="0">
                        <a:latin typeface="Calibri"/>
                        <a:cs typeface="Calibri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600" b="1" dirty="0" smtClean="0">
                          <a:latin typeface="Calibri"/>
                          <a:cs typeface="Calibri"/>
                        </a:rPr>
                        <a:t>Other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dirty="0" smtClean="0">
                          <a:latin typeface="Calibri"/>
                          <a:cs typeface="Calibri"/>
                        </a:rPr>
                        <a:t>Convention Planning &amp; Fundraising</a:t>
                      </a:r>
                      <a:r>
                        <a:rPr lang="en-US" sz="1600" baseline="0" dirty="0" smtClean="0">
                          <a:latin typeface="Calibri"/>
                          <a:cs typeface="Calibri"/>
                        </a:rPr>
                        <a:t> 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baseline="0" dirty="0" smtClean="0">
                          <a:latin typeface="Calibri"/>
                          <a:cs typeface="Calibri"/>
                        </a:rPr>
                        <a:t>HEI Event Planning and Fundraising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baseline="0" dirty="0" smtClean="0">
                          <a:latin typeface="Calibri"/>
                          <a:cs typeface="Calibri"/>
                        </a:rPr>
                        <a:t>2015 Annual Report Development;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baseline="0" dirty="0" smtClean="0">
                          <a:latin typeface="Calibri"/>
                          <a:cs typeface="Calibri"/>
                        </a:rPr>
                        <a:t>Ongoing Program Comm Support;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600" baseline="0" dirty="0" smtClean="0">
                          <a:latin typeface="Calibri"/>
                          <a:cs typeface="Calibri"/>
                        </a:rPr>
                        <a:t>2016 Rechartering to begin in the Summer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0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latin typeface="Calibri"/>
                          <a:cs typeface="Calibri"/>
                        </a:rPr>
                        <a:t>Confirmed</a:t>
                      </a:r>
                    </a:p>
                    <a:p>
                      <a:r>
                        <a:rPr lang="en-US" sz="1600" b="1" dirty="0" smtClean="0">
                          <a:latin typeface="Calibri"/>
                          <a:cs typeface="Calibri"/>
                        </a:rPr>
                        <a:t>May</a:t>
                      </a:r>
                      <a:r>
                        <a:rPr lang="en-US" sz="1600" b="1" baseline="0" dirty="0" smtClean="0">
                          <a:latin typeface="Calibri"/>
                          <a:cs typeface="Calibri"/>
                        </a:rPr>
                        <a:t> 29</a:t>
                      </a:r>
                      <a:r>
                        <a:rPr lang="en-US" sz="1600" b="1" baseline="30000" dirty="0" smtClean="0">
                          <a:latin typeface="Calibri"/>
                          <a:cs typeface="Calibri"/>
                        </a:rPr>
                        <a:t>th</a:t>
                      </a:r>
                      <a:r>
                        <a:rPr lang="en-US" sz="1600" b="1" baseline="0" dirty="0" smtClean="0">
                          <a:latin typeface="Calibri"/>
                          <a:cs typeface="Calibri"/>
                        </a:rPr>
                        <a:t>  </a:t>
                      </a:r>
                      <a:r>
                        <a:rPr lang="en-US" sz="1600" baseline="0" dirty="0" smtClean="0">
                          <a:latin typeface="Calibri"/>
                          <a:cs typeface="Calibri"/>
                        </a:rPr>
                        <a:t>– TBD: </a:t>
                      </a:r>
                      <a:r>
                        <a:rPr lang="en-US" sz="1600" dirty="0" smtClean="0">
                          <a:latin typeface="Calibri"/>
                          <a:cs typeface="Calibri"/>
                        </a:rPr>
                        <a:t>Ukiah</a:t>
                      </a:r>
                      <a:r>
                        <a:rPr lang="en-US" sz="1600" baseline="0" dirty="0" smtClean="0">
                          <a:latin typeface="Calibri"/>
                          <a:cs typeface="Calibri"/>
                        </a:rPr>
                        <a:t> and Taylor @ NAFSA Conference; </a:t>
                      </a:r>
                    </a:p>
                    <a:p>
                      <a:r>
                        <a:rPr lang="en-US" sz="1600" b="1" baseline="0" dirty="0" smtClean="0">
                          <a:latin typeface="Calibri"/>
                          <a:cs typeface="Calibri"/>
                        </a:rPr>
                        <a:t>Early July  </a:t>
                      </a:r>
                      <a:r>
                        <a:rPr lang="en-US" sz="1600" baseline="0" dirty="0" smtClean="0">
                          <a:latin typeface="Calibri"/>
                          <a:cs typeface="Calibri"/>
                        </a:rPr>
                        <a:t>- Taylor traveling to New Mexico  for 100k Comm support and speak on a panel; </a:t>
                      </a:r>
                    </a:p>
                    <a:p>
                      <a:endParaRPr lang="en-US" sz="1600" baseline="0" dirty="0" smtClean="0">
                        <a:latin typeface="Calibri"/>
                        <a:cs typeface="Calibri"/>
                      </a:endParaRPr>
                    </a:p>
                    <a:p>
                      <a:r>
                        <a:rPr lang="en-US" sz="1600" b="1" baseline="0" dirty="0" smtClean="0">
                          <a:latin typeface="Calibri"/>
                          <a:cs typeface="Calibri"/>
                        </a:rPr>
                        <a:t>Tentative</a:t>
                      </a:r>
                    </a:p>
                    <a:p>
                      <a:r>
                        <a:rPr lang="en-US" sz="1600" b="1" baseline="0" dirty="0" smtClean="0">
                          <a:latin typeface="Calibri"/>
                          <a:cs typeface="Calibri"/>
                        </a:rPr>
                        <a:t>May </a:t>
                      </a:r>
                      <a:r>
                        <a:rPr lang="en-US" sz="1600" baseline="0" dirty="0" smtClean="0">
                          <a:latin typeface="Calibri"/>
                          <a:cs typeface="Calibri"/>
                        </a:rPr>
                        <a:t>– August - Michelle return to Mexico re: Convention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0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2043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06C8355D678A459F2EF8957171B231" ma:contentTypeVersion="11" ma:contentTypeDescription="Create a new document." ma:contentTypeScope="" ma:versionID="acd556ae07fa19f48e80b51b5070dad1">
  <xsd:schema xmlns:xsd="http://www.w3.org/2001/XMLSchema" xmlns:xs="http://www.w3.org/2001/XMLSchema" xmlns:p="http://schemas.microsoft.com/office/2006/metadata/properties" xmlns:ns2="f2466082-b6bf-4153-98c3-3c41e85fda18" xmlns:ns3="dc808d36-874f-4b27-aec2-2fd649817929" targetNamespace="http://schemas.microsoft.com/office/2006/metadata/properties" ma:root="true" ma:fieldsID="3dc96546954f3f270c213e8ea1cb1272" ns2:_="" ns3:_="">
    <xsd:import namespace="f2466082-b6bf-4153-98c3-3c41e85fda18"/>
    <xsd:import namespace="dc808d36-874f-4b27-aec2-2fd64981792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466082-b6bf-4153-98c3-3c41e85fda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808d36-874f-4b27-aec2-2fd649817929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2441190-E76A-460E-9521-CC4C90DCB238}"/>
</file>

<file path=customXml/itemProps2.xml><?xml version="1.0" encoding="utf-8"?>
<ds:datastoreItem xmlns:ds="http://schemas.openxmlformats.org/officeDocument/2006/customXml" ds:itemID="{AA71849C-EBA9-490D-A0D8-BB3C4C0B8E23}"/>
</file>

<file path=customXml/itemProps3.xml><?xml version="1.0" encoding="utf-8"?>
<ds:datastoreItem xmlns:ds="http://schemas.openxmlformats.org/officeDocument/2006/customXml" ds:itemID="{9D562AF9-353F-4B92-9219-FEC3247CF3A9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</TotalTime>
  <Words>708</Words>
  <Application>Microsoft Office PowerPoint</Application>
  <PresentationFormat>On-screen Show (4:3)</PresentationFormat>
  <Paragraphs>124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 Security and Agriculture</dc:title>
  <dc:creator>Michael Moscarelli</dc:creator>
  <cp:lastModifiedBy>Sherrita Wilkins</cp:lastModifiedBy>
  <cp:revision>14</cp:revision>
  <cp:lastPrinted>2016-04-27T18:35:38Z</cp:lastPrinted>
  <dcterms:created xsi:type="dcterms:W3CDTF">2016-04-25T13:45:48Z</dcterms:created>
  <dcterms:modified xsi:type="dcterms:W3CDTF">2016-05-09T12:05:15Z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2016-04-11T00:00:00Z</vt:filetime>
  </property>
  <property fmtid="{D5CDD505-2E9C-101B-9397-08002B2CF9AE}" pid="3" name="LastSaved">
    <vt:filetime>2016-04-25T00:00:00Z</vt:filetime>
  </property>
  <property fmtid="{D5CDD505-2E9C-101B-9397-08002B2CF9AE}" pid="4" name="ContentTypeId">
    <vt:lpwstr>0x0101003206C8355D678A459F2EF8957171B231</vt:lpwstr>
  </property>
  <property fmtid="{D5CDD505-2E9C-101B-9397-08002B2CF9AE}" pid="5" name="Order">
    <vt:r8>153000</vt:r8>
  </property>
</Properties>
</file>