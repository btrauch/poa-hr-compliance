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custom.xml" ContentType="application/vnd.openxmlformats-officedocument.custom-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79" r:id="rId4"/>
    <p:sldId id="280" r:id="rId5"/>
  </p:sldIdLst>
  <p:sldSz cx="9144000" cy="6858000" type="screen4x3"/>
  <p:notesSz cx="9296400" cy="7010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4A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62" autoAdjust="0"/>
    <p:restoredTop sz="84777" autoAdjust="0"/>
  </p:normalViewPr>
  <p:slideViewPr>
    <p:cSldViewPr>
      <p:cViewPr>
        <p:scale>
          <a:sx n="66" d="100"/>
          <a:sy n="66" d="100"/>
        </p:scale>
        <p:origin x="-828" y="20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13" Type="http://schemas.openxmlformats.org/officeDocument/2006/relationships/customXml" Target="../customXml/item3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openxmlformats.org/officeDocument/2006/relationships/customXml" Target="../customXml/item2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customXml" Target="../customXml/item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029075" cy="3508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265738" y="0"/>
            <a:ext cx="4029075" cy="3508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080584-3B09-4B81-8FA0-93721A629EDD}" type="datetimeFigureOut">
              <a:rPr lang="en-US" smtClean="0"/>
              <a:t>9/12/2016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95600" y="525463"/>
            <a:ext cx="3505200" cy="2628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30275" y="3330575"/>
            <a:ext cx="7435850" cy="31543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657975"/>
            <a:ext cx="4029075" cy="3508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265738" y="6657975"/>
            <a:ext cx="4029075" cy="3508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D90001-975B-40AC-B23E-C5DA91251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7199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9143999" cy="188544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1539239" y="572325"/>
            <a:ext cx="3613912" cy="66135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79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799" cy="171450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/>
          <a:p>
            <a:pPr marL="12700">
              <a:lnSpc>
                <a:spcPct val="100000"/>
              </a:lnSpc>
              <a:tabLst>
                <a:tab pos="1367790" algn="l"/>
              </a:tabLst>
            </a:pPr>
            <a:r>
              <a:rPr sz="1200" dirty="0" smtClean="0">
                <a:solidFill>
                  <a:srgbClr val="FFFFFF"/>
                </a:solidFill>
                <a:latin typeface="TradeGothic"/>
                <a:cs typeface="TradeGothic"/>
              </a:rPr>
              <a:t>@Pa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</a:rPr>
              <a:t>r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tner</a:t>
            </a:r>
            <a:r>
              <a:rPr sz="1200" spc="-10" dirty="0" smtClean="0">
                <a:solidFill>
                  <a:srgbClr val="FFFFFF"/>
                </a:solidFill>
                <a:latin typeface="TradeGothic"/>
                <a:cs typeface="TradeGothic"/>
              </a:rPr>
              <a:t>s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A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</a:rPr>
              <a:t>m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e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</a:rPr>
              <a:t>r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ica	|</a:t>
            </a:r>
            <a:endParaRPr sz="1200">
              <a:latin typeface="TradeGothic"/>
              <a:cs typeface="TradeGothic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/>
          <a:p>
            <a:pPr marL="12700">
              <a:lnSpc>
                <a:spcPct val="100000"/>
              </a:lnSpc>
            </a:pPr>
            <a:r>
              <a:rPr sz="1200" dirty="0" smtClean="0">
                <a:solidFill>
                  <a:srgbClr val="FFFFFF"/>
                </a:solidFill>
                <a:latin typeface="TradeGothic"/>
                <a:cs typeface="TradeGothic"/>
              </a:rPr>
              <a:t>\Pa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</a:rPr>
              <a:t>r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tner</a:t>
            </a:r>
            <a:r>
              <a:rPr sz="1200" spc="-10" dirty="0" smtClean="0">
                <a:solidFill>
                  <a:srgbClr val="FFFFFF"/>
                </a:solidFill>
                <a:latin typeface="TradeGothic"/>
                <a:cs typeface="TradeGothic"/>
              </a:rPr>
              <a:t>s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A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</a:rPr>
              <a:t>m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e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</a:rPr>
              <a:t>r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icas</a:t>
            </a:r>
            <a:endParaRPr sz="1200">
              <a:latin typeface="TradeGothic"/>
              <a:cs typeface="TradeGothic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/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/>
          <a:p>
            <a:pPr marL="12700">
              <a:lnSpc>
                <a:spcPct val="100000"/>
              </a:lnSpc>
              <a:tabLst>
                <a:tab pos="1367790" algn="l"/>
              </a:tabLst>
            </a:pPr>
            <a:r>
              <a:rPr sz="1200" dirty="0" smtClean="0">
                <a:solidFill>
                  <a:srgbClr val="FFFFFF"/>
                </a:solidFill>
                <a:latin typeface="TradeGothic"/>
                <a:cs typeface="TradeGothic"/>
              </a:rPr>
              <a:t>@Pa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</a:rPr>
              <a:t>r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tner</a:t>
            </a:r>
            <a:r>
              <a:rPr sz="1200" spc="-10" dirty="0" smtClean="0">
                <a:solidFill>
                  <a:srgbClr val="FFFFFF"/>
                </a:solidFill>
                <a:latin typeface="TradeGothic"/>
                <a:cs typeface="TradeGothic"/>
              </a:rPr>
              <a:t>s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A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</a:rPr>
              <a:t>m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e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</a:rPr>
              <a:t>r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ica	|</a:t>
            </a:r>
            <a:endParaRPr sz="1200">
              <a:latin typeface="TradeGothic"/>
              <a:cs typeface="TradeGothic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/>
          <a:p>
            <a:pPr marL="12700">
              <a:lnSpc>
                <a:spcPct val="100000"/>
              </a:lnSpc>
            </a:pPr>
            <a:r>
              <a:rPr sz="1200" dirty="0" smtClean="0">
                <a:solidFill>
                  <a:srgbClr val="FFFFFF"/>
                </a:solidFill>
                <a:latin typeface="TradeGothic"/>
                <a:cs typeface="TradeGothic"/>
              </a:rPr>
              <a:t>\Pa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</a:rPr>
              <a:t>r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tner</a:t>
            </a:r>
            <a:r>
              <a:rPr sz="1200" spc="-10" dirty="0" smtClean="0">
                <a:solidFill>
                  <a:srgbClr val="FFFFFF"/>
                </a:solidFill>
                <a:latin typeface="TradeGothic"/>
                <a:cs typeface="TradeGothic"/>
              </a:rPr>
              <a:t>s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A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</a:rPr>
              <a:t>m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e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</a:rPr>
              <a:t>r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icas</a:t>
            </a:r>
            <a:endParaRPr sz="1200">
              <a:latin typeface="TradeGothic"/>
              <a:cs typeface="TradeGothic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/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880228" y="1782317"/>
            <a:ext cx="3511573" cy="3988892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/>
          <a:p>
            <a:pPr marL="12700">
              <a:lnSpc>
                <a:spcPct val="100000"/>
              </a:lnSpc>
              <a:tabLst>
                <a:tab pos="1367790" algn="l"/>
              </a:tabLst>
            </a:pPr>
            <a:r>
              <a:rPr sz="1200" dirty="0" smtClean="0">
                <a:solidFill>
                  <a:srgbClr val="FFFFFF"/>
                </a:solidFill>
                <a:latin typeface="TradeGothic"/>
                <a:cs typeface="TradeGothic"/>
              </a:rPr>
              <a:t>@Pa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</a:rPr>
              <a:t>r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tner</a:t>
            </a:r>
            <a:r>
              <a:rPr sz="1200" spc="-10" dirty="0" smtClean="0">
                <a:solidFill>
                  <a:srgbClr val="FFFFFF"/>
                </a:solidFill>
                <a:latin typeface="TradeGothic"/>
                <a:cs typeface="TradeGothic"/>
              </a:rPr>
              <a:t>s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A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</a:rPr>
              <a:t>m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e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</a:rPr>
              <a:t>r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ica	|</a:t>
            </a:r>
            <a:endParaRPr sz="1200">
              <a:latin typeface="TradeGothic"/>
              <a:cs typeface="TradeGothic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/>
          <a:p>
            <a:pPr marL="12700">
              <a:lnSpc>
                <a:spcPct val="100000"/>
              </a:lnSpc>
            </a:pPr>
            <a:r>
              <a:rPr sz="1200" dirty="0" smtClean="0">
                <a:solidFill>
                  <a:srgbClr val="FFFFFF"/>
                </a:solidFill>
                <a:latin typeface="TradeGothic"/>
                <a:cs typeface="TradeGothic"/>
              </a:rPr>
              <a:t>\Pa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</a:rPr>
              <a:t>r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tner</a:t>
            </a:r>
            <a:r>
              <a:rPr sz="1200" spc="-10" dirty="0" smtClean="0">
                <a:solidFill>
                  <a:srgbClr val="FFFFFF"/>
                </a:solidFill>
                <a:latin typeface="TradeGothic"/>
                <a:cs typeface="TradeGothic"/>
              </a:rPr>
              <a:t>s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A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</a:rPr>
              <a:t>m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e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</a:rPr>
              <a:t>r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icas</a:t>
            </a:r>
            <a:endParaRPr sz="1200">
              <a:latin typeface="TradeGothic"/>
              <a:cs typeface="TradeGothic"/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/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/>
          <a:p>
            <a:pPr marL="12700">
              <a:lnSpc>
                <a:spcPct val="100000"/>
              </a:lnSpc>
              <a:tabLst>
                <a:tab pos="1367790" algn="l"/>
              </a:tabLst>
            </a:pPr>
            <a:r>
              <a:rPr sz="1200" dirty="0" smtClean="0">
                <a:solidFill>
                  <a:srgbClr val="FFFFFF"/>
                </a:solidFill>
                <a:latin typeface="TradeGothic"/>
                <a:cs typeface="TradeGothic"/>
              </a:rPr>
              <a:t>@Pa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</a:rPr>
              <a:t>r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tner</a:t>
            </a:r>
            <a:r>
              <a:rPr sz="1200" spc="-10" dirty="0" smtClean="0">
                <a:solidFill>
                  <a:srgbClr val="FFFFFF"/>
                </a:solidFill>
                <a:latin typeface="TradeGothic"/>
                <a:cs typeface="TradeGothic"/>
              </a:rPr>
              <a:t>s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A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</a:rPr>
              <a:t>m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e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</a:rPr>
              <a:t>r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ica	|</a:t>
            </a:r>
            <a:endParaRPr sz="1200">
              <a:latin typeface="TradeGothic"/>
              <a:cs typeface="TradeGothic"/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/>
          <a:p>
            <a:pPr marL="12700">
              <a:lnSpc>
                <a:spcPct val="100000"/>
              </a:lnSpc>
            </a:pPr>
            <a:r>
              <a:rPr sz="1200" dirty="0" smtClean="0">
                <a:solidFill>
                  <a:srgbClr val="FFFFFF"/>
                </a:solidFill>
                <a:latin typeface="TradeGothic"/>
                <a:cs typeface="TradeGothic"/>
              </a:rPr>
              <a:t>\Pa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</a:rPr>
              <a:t>r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tner</a:t>
            </a:r>
            <a:r>
              <a:rPr sz="1200" spc="-10" dirty="0" smtClean="0">
                <a:solidFill>
                  <a:srgbClr val="FFFFFF"/>
                </a:solidFill>
                <a:latin typeface="TradeGothic"/>
                <a:cs typeface="TradeGothic"/>
              </a:rPr>
              <a:t>s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A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</a:rPr>
              <a:t>m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e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</a:rPr>
              <a:t>r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icas</a:t>
            </a:r>
            <a:endParaRPr sz="1200">
              <a:latin typeface="TradeGothic"/>
              <a:cs typeface="TradeGothic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/>
          <a:p>
            <a:pPr marL="12700">
              <a:lnSpc>
                <a:spcPct val="100000"/>
              </a:lnSpc>
              <a:tabLst>
                <a:tab pos="1367790" algn="l"/>
              </a:tabLst>
            </a:pPr>
            <a:r>
              <a:rPr sz="1200" dirty="0" smtClean="0">
                <a:solidFill>
                  <a:srgbClr val="FFFFFF"/>
                </a:solidFill>
                <a:latin typeface="TradeGothic"/>
                <a:cs typeface="TradeGothic"/>
              </a:rPr>
              <a:t>@Pa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</a:rPr>
              <a:t>r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tner</a:t>
            </a:r>
            <a:r>
              <a:rPr sz="1200" spc="-10" dirty="0" smtClean="0">
                <a:solidFill>
                  <a:srgbClr val="FFFFFF"/>
                </a:solidFill>
                <a:latin typeface="TradeGothic"/>
                <a:cs typeface="TradeGothic"/>
              </a:rPr>
              <a:t>s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A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</a:rPr>
              <a:t>m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e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</a:rPr>
              <a:t>r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ica	|</a:t>
            </a:r>
            <a:endParaRPr sz="1200">
              <a:latin typeface="TradeGothic"/>
              <a:cs typeface="TradeGothic"/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/>
          <a:p>
            <a:pPr marL="12700">
              <a:lnSpc>
                <a:spcPct val="100000"/>
              </a:lnSpc>
            </a:pPr>
            <a:r>
              <a:rPr sz="1200" dirty="0" smtClean="0">
                <a:solidFill>
                  <a:srgbClr val="FFFFFF"/>
                </a:solidFill>
                <a:latin typeface="TradeGothic"/>
                <a:cs typeface="TradeGothic"/>
              </a:rPr>
              <a:t>\Pa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</a:rPr>
              <a:t>r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tner</a:t>
            </a:r>
            <a:r>
              <a:rPr sz="1200" spc="-10" dirty="0" smtClean="0">
                <a:solidFill>
                  <a:srgbClr val="FFFFFF"/>
                </a:solidFill>
                <a:latin typeface="TradeGothic"/>
                <a:cs typeface="TradeGothic"/>
              </a:rPr>
              <a:t>s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A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</a:rPr>
              <a:t>m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e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</a:rPr>
              <a:t>r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icas</a:t>
            </a:r>
            <a:endParaRPr sz="1200">
              <a:latin typeface="TradeGothic"/>
              <a:cs typeface="TradeGothic"/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5731736"/>
            <a:ext cx="9143999" cy="112626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457200" y="6279127"/>
            <a:ext cx="2803271" cy="51300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7107681" y="6446177"/>
            <a:ext cx="221005" cy="22100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9" name="bk object 19"/>
          <p:cNvSpPr/>
          <p:nvPr/>
        </p:nvSpPr>
        <p:spPr>
          <a:xfrm>
            <a:off x="5446648" y="6415011"/>
            <a:ext cx="314794" cy="314794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297305" y="487298"/>
            <a:ext cx="6549389" cy="672173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88340" y="1629917"/>
            <a:ext cx="7767319" cy="3684143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695746" y="6465417"/>
            <a:ext cx="1414779" cy="193932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marL="12700">
              <a:lnSpc>
                <a:spcPct val="100000"/>
              </a:lnSpc>
              <a:tabLst>
                <a:tab pos="1367790" algn="l"/>
              </a:tabLst>
            </a:pPr>
            <a:r>
              <a:rPr sz="1200" dirty="0" smtClean="0">
                <a:solidFill>
                  <a:srgbClr val="FFFFFF"/>
                </a:solidFill>
                <a:latin typeface="TradeGothic"/>
                <a:cs typeface="TradeGothic"/>
              </a:rPr>
              <a:t>@Pa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</a:rPr>
              <a:t>r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tner</a:t>
            </a:r>
            <a:r>
              <a:rPr sz="1200" spc="-10" dirty="0" smtClean="0">
                <a:solidFill>
                  <a:srgbClr val="FFFFFF"/>
                </a:solidFill>
                <a:latin typeface="TradeGothic"/>
                <a:cs typeface="TradeGothic"/>
              </a:rPr>
              <a:t>s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A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</a:rPr>
              <a:t>m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e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</a:rPr>
              <a:t>r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ica	|</a:t>
            </a:r>
            <a:endParaRPr sz="1200">
              <a:latin typeface="TradeGothic"/>
              <a:cs typeface="TradeGothic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7313421" y="6465417"/>
            <a:ext cx="1225092" cy="193932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1200" dirty="0" smtClean="0">
                <a:solidFill>
                  <a:srgbClr val="FFFFFF"/>
                </a:solidFill>
                <a:latin typeface="TradeGothic"/>
                <a:cs typeface="TradeGothic"/>
              </a:rPr>
              <a:t>\Pa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</a:rPr>
              <a:t>r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tner</a:t>
            </a:r>
            <a:r>
              <a:rPr sz="1200" spc="-10" dirty="0" smtClean="0">
                <a:solidFill>
                  <a:srgbClr val="FFFFFF"/>
                </a:solidFill>
                <a:latin typeface="TradeGothic"/>
                <a:cs typeface="TradeGothic"/>
              </a:rPr>
              <a:t>s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A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</a:rPr>
              <a:t>m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e</a:t>
            </a:r>
            <a:r>
              <a:rPr sz="1200" spc="-5" dirty="0" smtClean="0">
                <a:solidFill>
                  <a:srgbClr val="FFFFFF"/>
                </a:solidFill>
                <a:latin typeface="TradeGothic"/>
                <a:cs typeface="TradeGothic"/>
              </a:rPr>
              <a:t>r</a:t>
            </a:r>
            <a:r>
              <a:rPr sz="1200" spc="0" dirty="0" smtClean="0">
                <a:solidFill>
                  <a:srgbClr val="FFFFFF"/>
                </a:solidFill>
                <a:latin typeface="TradeGothic"/>
                <a:cs typeface="TradeGothic"/>
              </a:rPr>
              <a:t>icas</a:t>
            </a:r>
            <a:endParaRPr sz="1200">
              <a:latin typeface="TradeGothic"/>
              <a:cs typeface="TradeGothic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15236" y="2571877"/>
            <a:ext cx="6114415" cy="56261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 algn="ctr">
              <a:lnSpc>
                <a:spcPct val="100000"/>
              </a:lnSpc>
            </a:pPr>
            <a:r>
              <a:rPr lang="en-US" sz="3600" b="1" dirty="0" smtClean="0">
                <a:solidFill>
                  <a:srgbClr val="F82036"/>
                </a:solidFill>
                <a:latin typeface="Memphis Medium"/>
                <a:cs typeface="Memphis Medium"/>
              </a:rPr>
              <a:t>All-Staff Meeting</a:t>
            </a:r>
            <a:endParaRPr sz="3600" dirty="0">
              <a:latin typeface="Memphis Medium"/>
              <a:cs typeface="Memphis Medium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573144" y="3925696"/>
            <a:ext cx="1998598" cy="31496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 algn="ctr">
              <a:lnSpc>
                <a:spcPct val="100000"/>
              </a:lnSpc>
            </a:pPr>
            <a:r>
              <a:rPr lang="en-US" sz="2000" dirty="0" smtClean="0">
                <a:latin typeface="TradeGothic"/>
                <a:cs typeface="TradeGothic"/>
              </a:rPr>
              <a:t>October 2016</a:t>
            </a:r>
            <a:endParaRPr lang="en-US" sz="2000" dirty="0" smtClean="0">
              <a:latin typeface="TradeGothic"/>
              <a:cs typeface="TradeGothic"/>
            </a:endParaRPr>
          </a:p>
          <a:p>
            <a:pPr marL="12700" algn="ctr">
              <a:lnSpc>
                <a:spcPct val="100000"/>
              </a:lnSpc>
            </a:pPr>
            <a:r>
              <a:rPr lang="en-US" sz="2000" dirty="0" smtClean="0">
                <a:latin typeface="TradeGothic"/>
                <a:cs typeface="TradeGothic"/>
              </a:rPr>
              <a:t>President’s Office</a:t>
            </a:r>
            <a:endParaRPr sz="2000" dirty="0">
              <a:latin typeface="TradeGothic"/>
              <a:cs typeface="TradeGothic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600" b="1" kern="1200" dirty="0" smtClean="0">
                <a:solidFill>
                  <a:srgbClr val="F82036"/>
                </a:solidFill>
                <a:latin typeface="Memphis Medium"/>
                <a:ea typeface="+mn-ea"/>
                <a:cs typeface="Memphis Medium"/>
              </a:rPr>
              <a:t>Today’s Agenda</a:t>
            </a:r>
            <a:endParaRPr lang="en-US" sz="3600" b="1" kern="1200" dirty="0">
              <a:solidFill>
                <a:srgbClr val="F82036"/>
              </a:solidFill>
              <a:latin typeface="Memphis Medium"/>
              <a:ea typeface="+mn-ea"/>
              <a:cs typeface="Memphis Medium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1524000"/>
            <a:ext cx="7767319" cy="3684143"/>
          </a:xfrm>
        </p:spPr>
        <p:txBody>
          <a:bodyPr/>
          <a:lstStyle/>
          <a:p>
            <a:pPr algn="ctr"/>
            <a:endParaRPr lang="en-US" sz="2000" b="1" dirty="0" smtClean="0"/>
          </a:p>
          <a:p>
            <a:pPr algn="l"/>
            <a:r>
              <a:rPr lang="en-US" sz="2000" b="1" dirty="0" smtClean="0">
                <a:latin typeface="TradeGothic" pitchFamily="2" charset="0"/>
              </a:rPr>
              <a:t>Following the President’s Opening Remarks:</a:t>
            </a:r>
          </a:p>
          <a:p>
            <a:pPr algn="l"/>
            <a:endParaRPr lang="en-US" sz="2000" b="1" dirty="0" smtClean="0">
              <a:latin typeface="TradeGothic" pitchFamily="2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2000" dirty="0" smtClean="0">
                <a:latin typeface="TradeGothic" pitchFamily="2" charset="0"/>
              </a:rPr>
              <a:t>Midterm Review Recap &amp; Transition Plan Summary</a:t>
            </a:r>
            <a:endParaRPr lang="en-US" sz="2000" dirty="0" smtClean="0">
              <a:latin typeface="TradeGothic" pitchFamily="2" charset="0"/>
            </a:endParaRPr>
          </a:p>
          <a:p>
            <a:pPr marL="342900" indent="-342900">
              <a:buFont typeface="+mj-lt"/>
              <a:buAutoNum type="arabicPeriod"/>
            </a:pPr>
            <a:endParaRPr lang="en-US" sz="2000" dirty="0" smtClean="0">
              <a:latin typeface="TradeGothic" pitchFamily="2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2000" dirty="0" smtClean="0">
                <a:latin typeface="TradeGothic" pitchFamily="2" charset="0"/>
              </a:rPr>
              <a:t>Convention Update </a:t>
            </a:r>
            <a:endParaRPr lang="en-US" sz="2000" dirty="0" smtClean="0">
              <a:latin typeface="TradeGothic" pitchFamily="2" charset="0"/>
            </a:endParaRPr>
          </a:p>
          <a:p>
            <a:pPr marL="342900" indent="-342900">
              <a:buFont typeface="+mj-lt"/>
              <a:buAutoNum type="arabicPeriod"/>
            </a:pPr>
            <a:endParaRPr lang="en-US" sz="2000" dirty="0" smtClean="0">
              <a:latin typeface="TradeGothic" pitchFamily="2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2000" dirty="0" smtClean="0">
                <a:latin typeface="TradeGothic" pitchFamily="2" charset="0"/>
              </a:rPr>
              <a:t>Additional Announcements (100kstrong, Annual Report, F&amp;A, plus any others)</a:t>
            </a:r>
            <a:endParaRPr lang="en-US" sz="2000" dirty="0" smtClean="0">
              <a:latin typeface="TradeGothic" pitchFamily="2" charset="0"/>
            </a:endParaRPr>
          </a:p>
          <a:p>
            <a:endParaRPr lang="en-US" sz="2000" dirty="0" smtClean="0">
              <a:latin typeface="TradeGothic" pitchFamily="2" charset="0"/>
            </a:endParaRPr>
          </a:p>
          <a:p>
            <a:endParaRPr lang="en-US" sz="2000" dirty="0">
              <a:latin typeface="TradeGothic" pitchFamily="2" charset="0"/>
            </a:endParaRPr>
          </a:p>
          <a:p>
            <a:endParaRPr lang="en-US" dirty="0"/>
          </a:p>
          <a:p>
            <a:pPr marL="285750" indent="-285750">
              <a:buFont typeface="Arial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3637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600" b="1" kern="1200" dirty="0" smtClean="0">
                <a:solidFill>
                  <a:srgbClr val="F82036"/>
                </a:solidFill>
                <a:latin typeface="Memphis Medium"/>
                <a:ea typeface="+mn-ea"/>
                <a:cs typeface="Memphis Medium"/>
              </a:rPr>
              <a:t>Key</a:t>
            </a:r>
            <a:r>
              <a:rPr lang="en-US" sz="3600" b="1" kern="1200" dirty="0" smtClean="0">
                <a:solidFill>
                  <a:srgbClr val="F82036"/>
                </a:solidFill>
                <a:latin typeface="Memphis Medium"/>
                <a:ea typeface="+mn-ea"/>
                <a:cs typeface="Memphis Medium"/>
              </a:rPr>
              <a:t> Dates &amp; Deadlines</a:t>
            </a:r>
            <a:endParaRPr lang="en-US" sz="3600" b="1" kern="1200" dirty="0">
              <a:solidFill>
                <a:srgbClr val="F82036"/>
              </a:solidFill>
              <a:latin typeface="Memphis Medium"/>
              <a:ea typeface="+mn-ea"/>
              <a:cs typeface="Memphis Medium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1295400"/>
            <a:ext cx="7767319" cy="3684143"/>
          </a:xfrm>
        </p:spPr>
        <p:txBody>
          <a:bodyPr/>
          <a:lstStyle/>
          <a:p>
            <a:pPr marL="457200" indent="-457200">
              <a:buAutoNum type="arabicPeriod"/>
            </a:pPr>
            <a:r>
              <a:rPr lang="en-US" sz="2000" b="1" dirty="0" smtClean="0">
                <a:latin typeface="TradeGothic" pitchFamily="2" charset="0"/>
              </a:rPr>
              <a:t>Board Related Meetings</a:t>
            </a:r>
          </a:p>
          <a:p>
            <a:pPr marL="457200" indent="-457200">
              <a:buAutoNum type="arabicPeriod"/>
            </a:pPr>
            <a:endParaRPr lang="en-US" sz="2000" b="1" dirty="0">
              <a:latin typeface="TradeGothic" pitchFamily="2" charset="0"/>
            </a:endParaRPr>
          </a:p>
          <a:p>
            <a:pPr marL="342900" lvl="3" indent="-342900">
              <a:buFont typeface="Arial" pitchFamily="34" charset="0"/>
              <a:buChar char="•"/>
            </a:pPr>
            <a:r>
              <a:rPr lang="en-US" sz="2000" dirty="0" smtClean="0">
                <a:latin typeface="TradeGothic" pitchFamily="2" charset="0"/>
              </a:rPr>
              <a:t>October 24</a:t>
            </a:r>
            <a:r>
              <a:rPr lang="en-US" sz="2000" baseline="30000" dirty="0" smtClean="0">
                <a:latin typeface="TradeGothic" pitchFamily="2" charset="0"/>
              </a:rPr>
              <a:t>th</a:t>
            </a:r>
            <a:r>
              <a:rPr lang="en-US" sz="2000" dirty="0" smtClean="0">
                <a:latin typeface="TradeGothic" pitchFamily="2" charset="0"/>
              </a:rPr>
              <a:t> – Board Meeting </a:t>
            </a:r>
          </a:p>
          <a:p>
            <a:pPr marL="342900" lvl="3" indent="-342900">
              <a:buFont typeface="Arial" pitchFamily="34" charset="0"/>
              <a:buChar char="•"/>
            </a:pPr>
            <a:r>
              <a:rPr lang="en-US" sz="2000" dirty="0" smtClean="0">
                <a:latin typeface="TradeGothic" pitchFamily="2" charset="0"/>
              </a:rPr>
              <a:t>December 5</a:t>
            </a:r>
            <a:r>
              <a:rPr lang="en-US" sz="2000" baseline="30000" dirty="0" smtClean="0">
                <a:latin typeface="TradeGothic" pitchFamily="2" charset="0"/>
              </a:rPr>
              <a:t>th</a:t>
            </a:r>
            <a:r>
              <a:rPr lang="en-US" sz="2000" dirty="0" smtClean="0">
                <a:latin typeface="TradeGothic" pitchFamily="2" charset="0"/>
              </a:rPr>
              <a:t> – Board Elections</a:t>
            </a:r>
          </a:p>
          <a:p>
            <a:pPr marL="342900" lvl="3" indent="-342900">
              <a:buFont typeface="Arial" pitchFamily="34" charset="0"/>
              <a:buChar char="•"/>
            </a:pPr>
            <a:r>
              <a:rPr lang="en-US" sz="2000" dirty="0" smtClean="0">
                <a:latin typeface="TradeGothic" pitchFamily="2" charset="0"/>
              </a:rPr>
              <a:t>December 7</a:t>
            </a:r>
            <a:r>
              <a:rPr lang="en-US" sz="2000" baseline="30000" dirty="0" smtClean="0">
                <a:latin typeface="TradeGothic" pitchFamily="2" charset="0"/>
              </a:rPr>
              <a:t>th  </a:t>
            </a:r>
            <a:r>
              <a:rPr lang="en-US" sz="2000" dirty="0" smtClean="0">
                <a:latin typeface="TradeGothic" pitchFamily="2" charset="0"/>
              </a:rPr>
              <a:t>– Board Meeting </a:t>
            </a:r>
          </a:p>
          <a:p>
            <a:pPr lvl="2"/>
            <a:endParaRPr lang="en-US" sz="2000" dirty="0" smtClean="0">
              <a:latin typeface="TradeGothic" pitchFamily="2" charset="0"/>
            </a:endParaRPr>
          </a:p>
          <a:p>
            <a:pPr lvl="2"/>
            <a:endParaRPr lang="en-US" sz="2000" dirty="0" smtClean="0">
              <a:latin typeface="TradeGothic" pitchFamily="2" charset="0"/>
            </a:endParaRPr>
          </a:p>
          <a:p>
            <a:pPr lvl="2"/>
            <a:r>
              <a:rPr lang="en-US" sz="2000" b="1" dirty="0" smtClean="0">
                <a:latin typeface="TradeGothic" pitchFamily="2" charset="0"/>
              </a:rPr>
              <a:t>2. </a:t>
            </a:r>
            <a:r>
              <a:rPr lang="en-US" sz="2000" b="1" dirty="0" smtClean="0">
                <a:latin typeface="TradeGothic" pitchFamily="2" charset="0"/>
              </a:rPr>
              <a:t>Budget Process</a:t>
            </a:r>
          </a:p>
          <a:p>
            <a:pPr marL="342900" lvl="2" indent="-342900">
              <a:buFont typeface="Arial" pitchFamily="34" charset="0"/>
              <a:buChar char="•"/>
            </a:pPr>
            <a:r>
              <a:rPr lang="en-US" sz="2000" dirty="0" smtClean="0">
                <a:latin typeface="TradeGothic" pitchFamily="2" charset="0"/>
              </a:rPr>
              <a:t>October 20</a:t>
            </a:r>
            <a:r>
              <a:rPr lang="en-US" sz="2000" baseline="30000" dirty="0" smtClean="0">
                <a:latin typeface="TradeGothic" pitchFamily="2" charset="0"/>
              </a:rPr>
              <a:t>th</a:t>
            </a:r>
            <a:r>
              <a:rPr lang="en-US" sz="2000" dirty="0" smtClean="0">
                <a:latin typeface="TradeGothic" pitchFamily="2" charset="0"/>
              </a:rPr>
              <a:t> – Draft Program Budgets</a:t>
            </a:r>
          </a:p>
          <a:p>
            <a:pPr marL="342900" lvl="2" indent="-342900">
              <a:buFont typeface="Arial" pitchFamily="34" charset="0"/>
              <a:buChar char="•"/>
            </a:pPr>
            <a:r>
              <a:rPr lang="en-US" sz="2000" dirty="0" smtClean="0">
                <a:latin typeface="TradeGothic" pitchFamily="2" charset="0"/>
              </a:rPr>
              <a:t>Nov 1-10 – Admin Unit Budgets</a:t>
            </a:r>
          </a:p>
          <a:p>
            <a:pPr marL="342900" lvl="2" indent="-342900">
              <a:buFont typeface="Arial" pitchFamily="34" charset="0"/>
              <a:buChar char="•"/>
            </a:pPr>
            <a:r>
              <a:rPr lang="en-US" sz="2000" dirty="0" smtClean="0">
                <a:latin typeface="TradeGothic" pitchFamily="2" charset="0"/>
              </a:rPr>
              <a:t>Nov 10-20 – Negotiate &amp; Finalize Draft 2017 Budget </a:t>
            </a:r>
            <a:r>
              <a:rPr lang="en-US" sz="2000" dirty="0" smtClean="0">
                <a:latin typeface="TradeGothic" pitchFamily="2" charset="0"/>
              </a:rPr>
              <a:t> </a:t>
            </a:r>
          </a:p>
          <a:p>
            <a:pPr marL="342900" lvl="2" indent="-342900">
              <a:buFont typeface="Arial" pitchFamily="34" charset="0"/>
              <a:buChar char="•"/>
            </a:pPr>
            <a:r>
              <a:rPr lang="en-US" sz="2000" dirty="0" smtClean="0">
                <a:latin typeface="TradeGothic" pitchFamily="2" charset="0"/>
              </a:rPr>
              <a:t>By Nov 25 – Send to Board of Directors</a:t>
            </a:r>
            <a:endParaRPr lang="en-US" sz="2000" dirty="0" smtClean="0">
              <a:latin typeface="TradeGothic" pitchFamily="2" charset="0"/>
            </a:endParaRPr>
          </a:p>
          <a:p>
            <a:pPr marL="342900" indent="-342900">
              <a:buFont typeface="+mj-lt"/>
              <a:buAutoNum type="arabicPeriod"/>
            </a:pPr>
            <a:endParaRPr lang="en-US" sz="2000" dirty="0" smtClean="0">
              <a:latin typeface="TradeGothic" pitchFamily="2" charset="0"/>
            </a:endParaRPr>
          </a:p>
          <a:p>
            <a:endParaRPr lang="en-US" sz="2000" dirty="0" smtClean="0">
              <a:latin typeface="TradeGothic" pitchFamily="2" charset="0"/>
            </a:endParaRPr>
          </a:p>
          <a:p>
            <a:endParaRPr lang="en-US" sz="2000" dirty="0">
              <a:latin typeface="TradeGothic" pitchFamily="2" charset="0"/>
            </a:endParaRPr>
          </a:p>
          <a:p>
            <a:endParaRPr lang="en-US" dirty="0"/>
          </a:p>
          <a:p>
            <a:pPr marL="285750" indent="-285750">
              <a:buFont typeface="Arial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4462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600" b="1" kern="1200" dirty="0" smtClean="0">
                <a:solidFill>
                  <a:srgbClr val="F82036"/>
                </a:solidFill>
                <a:latin typeface="Memphis Medium"/>
                <a:ea typeface="+mn-ea"/>
                <a:cs typeface="Memphis Medium"/>
              </a:rPr>
              <a:t>Key</a:t>
            </a:r>
            <a:r>
              <a:rPr lang="en-US" sz="3600" b="1" kern="1200" dirty="0" smtClean="0">
                <a:solidFill>
                  <a:srgbClr val="F82036"/>
                </a:solidFill>
                <a:latin typeface="Memphis Medium"/>
                <a:ea typeface="+mn-ea"/>
                <a:cs typeface="Memphis Medium"/>
              </a:rPr>
              <a:t> Dates &amp; Deadlines</a:t>
            </a:r>
            <a:endParaRPr lang="en-US" sz="3600" b="1" kern="1200" dirty="0">
              <a:solidFill>
                <a:srgbClr val="F82036"/>
              </a:solidFill>
              <a:latin typeface="Memphis Medium"/>
              <a:ea typeface="+mn-ea"/>
              <a:cs typeface="Memphis Medium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95400"/>
            <a:ext cx="8382000" cy="3684143"/>
          </a:xfrm>
        </p:spPr>
        <p:txBody>
          <a:bodyPr/>
          <a:lstStyle/>
          <a:p>
            <a:pPr marL="457200" indent="-457200">
              <a:buAutoNum type="arabicPeriod"/>
            </a:pPr>
            <a:r>
              <a:rPr lang="en-US" sz="2000" b="1" dirty="0" smtClean="0">
                <a:latin typeface="TradeGothic" pitchFamily="2" charset="0"/>
              </a:rPr>
              <a:t>Performance Review Process </a:t>
            </a:r>
          </a:p>
          <a:p>
            <a:pPr marL="457200" indent="-457200">
              <a:buAutoNum type="arabicPeriod"/>
            </a:pPr>
            <a:endParaRPr lang="en-US" sz="2000" b="1" dirty="0">
              <a:latin typeface="TradeGothic" pitchFamily="2" charset="0"/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n-US" sz="2000" dirty="0">
                <a:latin typeface="TradeGothic" pitchFamily="2" charset="0"/>
              </a:rPr>
              <a:t>Nov. </a:t>
            </a:r>
            <a:r>
              <a:rPr lang="en-US" sz="2000" dirty="0">
                <a:latin typeface="TradeGothic" pitchFamily="2" charset="0"/>
              </a:rPr>
              <a:t>7-15th </a:t>
            </a:r>
            <a:r>
              <a:rPr lang="en-US" sz="2000" dirty="0" smtClean="0">
                <a:latin typeface="TradeGothic" pitchFamily="2" charset="0"/>
              </a:rPr>
              <a:t>- send </a:t>
            </a:r>
            <a:r>
              <a:rPr lang="en-US" sz="2000" dirty="0">
                <a:latin typeface="TradeGothic" pitchFamily="2" charset="0"/>
              </a:rPr>
              <a:t>initial performance review email and attachments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000" dirty="0">
                <a:latin typeface="TradeGothic" pitchFamily="2" charset="0"/>
              </a:rPr>
              <a:t>Dec. </a:t>
            </a:r>
            <a:r>
              <a:rPr lang="en-US" sz="2000" dirty="0">
                <a:latin typeface="TradeGothic" pitchFamily="2" charset="0"/>
              </a:rPr>
              <a:t>16th </a:t>
            </a:r>
            <a:r>
              <a:rPr lang="en-US" sz="2000" dirty="0" smtClean="0">
                <a:latin typeface="TradeGothic" pitchFamily="2" charset="0"/>
              </a:rPr>
              <a:t>- all </a:t>
            </a:r>
            <a:r>
              <a:rPr lang="en-US" sz="2000" dirty="0">
                <a:latin typeface="TradeGothic" pitchFamily="2" charset="0"/>
              </a:rPr>
              <a:t>completed reviews for individuals and units submitted and draft 2017 goals.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000" dirty="0">
                <a:latin typeface="TradeGothic" pitchFamily="2" charset="0"/>
              </a:rPr>
              <a:t>Dec. </a:t>
            </a:r>
            <a:r>
              <a:rPr lang="en-US" sz="2000" dirty="0">
                <a:latin typeface="TradeGothic" pitchFamily="2" charset="0"/>
              </a:rPr>
              <a:t>23rd </a:t>
            </a:r>
            <a:r>
              <a:rPr lang="en-US" sz="2000" dirty="0" smtClean="0">
                <a:latin typeface="TradeGothic" pitchFamily="2" charset="0"/>
              </a:rPr>
              <a:t>- Steve </a:t>
            </a:r>
            <a:r>
              <a:rPr lang="en-US" sz="2000" dirty="0">
                <a:latin typeface="TradeGothic" pitchFamily="2" charset="0"/>
              </a:rPr>
              <a:t>completes his review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000" dirty="0">
                <a:latin typeface="TradeGothic" pitchFamily="2" charset="0"/>
              </a:rPr>
              <a:t>Jan. </a:t>
            </a:r>
            <a:r>
              <a:rPr lang="en-US" sz="2000" dirty="0">
                <a:latin typeface="TradeGothic" pitchFamily="2" charset="0"/>
              </a:rPr>
              <a:t>20th </a:t>
            </a:r>
            <a:r>
              <a:rPr lang="en-US" sz="2000" dirty="0" smtClean="0">
                <a:latin typeface="TradeGothic" pitchFamily="2" charset="0"/>
              </a:rPr>
              <a:t>- final </a:t>
            </a:r>
            <a:r>
              <a:rPr lang="en-US" sz="2000" dirty="0">
                <a:latin typeface="TradeGothic" pitchFamily="2" charset="0"/>
              </a:rPr>
              <a:t>2017 goals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000" dirty="0">
                <a:latin typeface="TradeGothic" pitchFamily="2" charset="0"/>
              </a:rPr>
              <a:t>Jan. </a:t>
            </a:r>
            <a:r>
              <a:rPr lang="en-US" sz="2000" dirty="0">
                <a:latin typeface="TradeGothic" pitchFamily="2" charset="0"/>
              </a:rPr>
              <a:t>26th </a:t>
            </a:r>
            <a:r>
              <a:rPr lang="en-US" sz="2000" dirty="0" smtClean="0">
                <a:latin typeface="TradeGothic" pitchFamily="2" charset="0"/>
              </a:rPr>
              <a:t>- draft </a:t>
            </a:r>
            <a:r>
              <a:rPr lang="en-US" sz="2000" dirty="0">
                <a:latin typeface="TradeGothic" pitchFamily="2" charset="0"/>
              </a:rPr>
              <a:t>presentations ready for review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000" dirty="0">
                <a:latin typeface="TradeGothic" pitchFamily="2" charset="0"/>
              </a:rPr>
              <a:t>Jan. </a:t>
            </a:r>
            <a:r>
              <a:rPr lang="en-US" sz="2000" dirty="0">
                <a:latin typeface="TradeGothic" pitchFamily="2" charset="0"/>
              </a:rPr>
              <a:t>31st </a:t>
            </a:r>
            <a:r>
              <a:rPr lang="en-US" sz="2000" dirty="0" smtClean="0">
                <a:latin typeface="TradeGothic" pitchFamily="2" charset="0"/>
              </a:rPr>
              <a:t>- review </a:t>
            </a:r>
            <a:r>
              <a:rPr lang="en-US" sz="2000" dirty="0">
                <a:latin typeface="TradeGothic" pitchFamily="2" charset="0"/>
              </a:rPr>
              <a:t>preview all staff retreat </a:t>
            </a:r>
          </a:p>
          <a:p>
            <a:pPr lvl="2"/>
            <a:endParaRPr lang="en-US" sz="2000" dirty="0" smtClean="0">
              <a:latin typeface="TradeGothic" pitchFamily="2" charset="0"/>
            </a:endParaRPr>
          </a:p>
          <a:p>
            <a:pPr marL="342900" indent="-342900">
              <a:buFont typeface="+mj-lt"/>
              <a:buAutoNum type="arabicPeriod"/>
            </a:pPr>
            <a:endParaRPr lang="en-US" sz="2000" dirty="0" smtClean="0">
              <a:latin typeface="TradeGothic" pitchFamily="2" charset="0"/>
            </a:endParaRPr>
          </a:p>
          <a:p>
            <a:endParaRPr lang="en-US" sz="2000" dirty="0" smtClean="0">
              <a:latin typeface="TradeGothic" pitchFamily="2" charset="0"/>
            </a:endParaRPr>
          </a:p>
          <a:p>
            <a:endParaRPr lang="en-US" sz="2000" dirty="0">
              <a:latin typeface="TradeGothic" pitchFamily="2" charset="0"/>
            </a:endParaRPr>
          </a:p>
          <a:p>
            <a:endParaRPr lang="en-US" dirty="0"/>
          </a:p>
          <a:p>
            <a:pPr marL="285750" indent="-285750">
              <a:buFont typeface="Arial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14091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206C8355D678A459F2EF8957171B231" ma:contentTypeVersion="12" ma:contentTypeDescription="Create a new document." ma:contentTypeScope="" ma:versionID="b9b9115c0a7ba5ac1a4f71ca19fa2a6b">
  <xsd:schema xmlns:xsd="http://www.w3.org/2001/XMLSchema" xmlns:xs="http://www.w3.org/2001/XMLSchema" xmlns:p="http://schemas.microsoft.com/office/2006/metadata/properties" xmlns:ns2="f2466082-b6bf-4153-98c3-3c41e85fda18" xmlns:ns3="dc808d36-874f-4b27-aec2-2fd649817929" targetNamespace="http://schemas.microsoft.com/office/2006/metadata/properties" ma:root="true" ma:fieldsID="3ee5f6545d17dbae8f4c99dcf00b8be7" ns2:_="" ns3:_="">
    <xsd:import namespace="f2466082-b6bf-4153-98c3-3c41e85fda18"/>
    <xsd:import namespace="dc808d36-874f-4b27-aec2-2fd64981792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2466082-b6bf-4153-98c3-3c41e85fda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c808d36-874f-4b27-aec2-2fd649817929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04F446D-1A18-4AD5-B22F-5577125CF4AF}"/>
</file>

<file path=customXml/itemProps2.xml><?xml version="1.0" encoding="utf-8"?>
<ds:datastoreItem xmlns:ds="http://schemas.openxmlformats.org/officeDocument/2006/customXml" ds:itemID="{6FD225B7-4162-4C78-AE09-92074C8A25CE}"/>
</file>

<file path=customXml/itemProps3.xml><?xml version="1.0" encoding="utf-8"?>
<ds:datastoreItem xmlns:ds="http://schemas.openxmlformats.org/officeDocument/2006/customXml" ds:itemID="{F2DC826B-FF84-4ED1-87EF-8898D319B702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38135</TotalTime>
  <Words>161</Words>
  <Application>Microsoft Office PowerPoint</Application>
  <PresentationFormat>On-screen Show (4:3)</PresentationFormat>
  <Paragraphs>43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Theme</vt:lpstr>
      <vt:lpstr>PowerPoint Presentation</vt:lpstr>
      <vt:lpstr>Today’s Agenda</vt:lpstr>
      <vt:lpstr>Key Dates &amp; Deadlines</vt:lpstr>
      <vt:lpstr>Key Dates &amp; Deadlines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Food Security and Agriculture</dc:title>
  <dc:creator>Michael Moscarelli</dc:creator>
  <cp:lastModifiedBy>Sherrita Wilkins</cp:lastModifiedBy>
  <cp:revision>51</cp:revision>
  <cp:lastPrinted>2016-09-12T13:38:58Z</cp:lastPrinted>
  <dcterms:created xsi:type="dcterms:W3CDTF">2016-04-25T13:45:48Z</dcterms:created>
  <dcterms:modified xsi:type="dcterms:W3CDTF">2016-10-07T13:22:39Z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2016-04-11T00:00:00Z</vt:filetime>
  </property>
  <property fmtid="{D5CDD505-2E9C-101B-9397-08002B2CF9AE}" pid="3" name="LastSaved">
    <vt:filetime>2016-04-25T00:00:00Z</vt:filetime>
  </property>
  <property fmtid="{D5CDD505-2E9C-101B-9397-08002B2CF9AE}" pid="4" name="ContentTypeId">
    <vt:lpwstr>0x0101003206C8355D678A459F2EF8957171B231</vt:lpwstr>
  </property>
  <property fmtid="{D5CDD505-2E9C-101B-9397-08002B2CF9AE}" pid="5" name="Order">
    <vt:r8>152000</vt:r8>
  </property>
</Properties>
</file>