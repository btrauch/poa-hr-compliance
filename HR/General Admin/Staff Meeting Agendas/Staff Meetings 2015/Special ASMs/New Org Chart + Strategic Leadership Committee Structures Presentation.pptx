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handoutMasters/handoutMaster1.xml" ContentType="application/vnd.openxmlformats-officedocument.presentationml.handoutMaster+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handoutMasterIdLst>
    <p:handoutMasterId r:id="rId11"/>
  </p:handoutMasterIdLst>
  <p:sldIdLst>
    <p:sldId id="356" r:id="rId2"/>
    <p:sldId id="357" r:id="rId3"/>
    <p:sldId id="305" r:id="rId4"/>
    <p:sldId id="350" r:id="rId5"/>
    <p:sldId id="342" r:id="rId6"/>
    <p:sldId id="353" r:id="rId7"/>
    <p:sldId id="354" r:id="rId8"/>
    <p:sldId id="355" r:id="rId9"/>
    <p:sldId id="359" r:id="rId10"/>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ulldog" initials="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82B"/>
    <a:srgbClr val="669900"/>
    <a:srgbClr val="9FA617"/>
    <a:srgbClr val="0054A4"/>
    <a:srgbClr val="B50938"/>
    <a:srgbClr val="E86054"/>
    <a:srgbClr val="FDBB30"/>
    <a:srgbClr val="C0504D"/>
    <a:srgbClr val="F15D22"/>
    <a:srgbClr val="8E99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397" autoAdjust="0"/>
    <p:restoredTop sz="96970" autoAdjust="0"/>
  </p:normalViewPr>
  <p:slideViewPr>
    <p:cSldViewPr snapToGrid="0" showGuides="1">
      <p:cViewPr>
        <p:scale>
          <a:sx n="80" d="100"/>
          <a:sy n="80" d="100"/>
        </p:scale>
        <p:origin x="-1205" y="-192"/>
      </p:cViewPr>
      <p:guideLst>
        <p:guide orient="horz" pos="2732"/>
        <p:guide pos="20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17"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D8756782-4B0E-4703-8A1C-E5EE014663DD}" type="datetimeFigureOut">
              <a:rPr lang="en-US" smtClean="0"/>
              <a:pPr/>
              <a:t>6/4/2015</a:t>
            </a:fld>
            <a:endParaRPr lang="en-US" dirty="0"/>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DF4A26AB-A1D7-485B-89BA-BAFEE9094AD3}" type="slidenum">
              <a:rPr lang="en-US" smtClean="0"/>
              <a:pPr/>
              <a:t>‹#›</a:t>
            </a:fld>
            <a:endParaRPr lang="en-US" dirty="0"/>
          </a:p>
        </p:txBody>
      </p:sp>
    </p:spTree>
    <p:extLst>
      <p:ext uri="{BB962C8B-B14F-4D97-AF65-F5344CB8AC3E}">
        <p14:creationId xmlns:p14="http://schemas.microsoft.com/office/powerpoint/2010/main" val="441416957"/>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4631" y="5581440"/>
            <a:ext cx="8692357" cy="682560"/>
          </a:xfrm>
        </p:spPr>
        <p:txBody>
          <a:bodyPr>
            <a:normAutofit/>
          </a:bodyPr>
          <a:lstStyle>
            <a:lvl1pPr>
              <a:defRPr sz="3600" baseline="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1479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0" name="Picture Placeholder 9"/>
          <p:cNvSpPr>
            <a:spLocks noGrp="1"/>
          </p:cNvSpPr>
          <p:nvPr>
            <p:ph type="pic" sz="quarter" idx="14"/>
          </p:nvPr>
        </p:nvSpPr>
        <p:spPr>
          <a:xfrm>
            <a:off x="225425" y="803274"/>
            <a:ext cx="8691563" cy="4683126"/>
          </a:xfrm>
        </p:spPr>
        <p:txBody>
          <a:bodyPr/>
          <a:lstStyle>
            <a:lvl1pPr>
              <a:buNone/>
              <a:defRPr baseline="0"/>
            </a:lvl1pPr>
          </a:lstStyle>
          <a:p>
            <a:r>
              <a:rPr lang="en-US" dirty="0" smtClean="0"/>
              <a:t>Click icon to add picture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 Left Image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49"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Picture Placeholder 12"/>
          <p:cNvSpPr>
            <a:spLocks noGrp="1"/>
          </p:cNvSpPr>
          <p:nvPr>
            <p:ph type="pic" sz="quarter" idx="14" hasCustomPrompt="1"/>
          </p:nvPr>
        </p:nvSpPr>
        <p:spPr>
          <a:xfrm>
            <a:off x="3171825" y="1745280"/>
            <a:ext cx="5761038" cy="4544395"/>
          </a:xfrm>
        </p:spPr>
        <p:txBody>
          <a:bodyPr/>
          <a:lstStyle>
            <a:lvl1pPr>
              <a:buNone/>
              <a:defRPr baseline="0"/>
            </a:lvl1pPr>
          </a:lstStyle>
          <a:p>
            <a:r>
              <a:rPr lang="en-US" dirty="0" smtClean="0"/>
              <a:t>Place Image Here</a:t>
            </a:r>
            <a:endParaRPr lang="en-US" dirty="0"/>
          </a:p>
        </p:txBody>
      </p:sp>
      <p:sp>
        <p:nvSpPr>
          <p:cNvPr id="15" name="Text Placeholder 14"/>
          <p:cNvSpPr>
            <a:spLocks noGrp="1"/>
          </p:cNvSpPr>
          <p:nvPr>
            <p:ph type="body" sz="quarter" idx="15" hasCustomPrompt="1"/>
          </p:nvPr>
        </p:nvSpPr>
        <p:spPr>
          <a:xfrm>
            <a:off x="112315" y="1745280"/>
            <a:ext cx="294612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8803814"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40" y="864000"/>
            <a:ext cx="5858548"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6" name="Text Placeholder 14"/>
          <p:cNvSpPr>
            <a:spLocks noGrp="1"/>
          </p:cNvSpPr>
          <p:nvPr>
            <p:ph type="body" sz="quarter" idx="16" hasCustomPrompt="1"/>
          </p:nvPr>
        </p:nvSpPr>
        <p:spPr>
          <a:xfrm>
            <a:off x="4558626" y="174216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hotos Top">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434498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178911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177958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177958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Bottom">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8777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382815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381862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381862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3205314"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Lef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5978644"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199307"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Copy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3055356" y="1745280"/>
            <a:ext cx="5869413"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Picture Placeholder 8"/>
          <p:cNvSpPr>
            <a:spLocks noGrp="1"/>
          </p:cNvSpPr>
          <p:nvPr>
            <p:ph type="pic" sz="quarter" idx="16" hasCustomPrompt="1"/>
          </p:nvPr>
        </p:nvSpPr>
        <p:spPr>
          <a:xfrm>
            <a:off x="219075" y="1036800"/>
            <a:ext cx="2835275" cy="5383050"/>
          </a:xfrm>
        </p:spPr>
        <p:txBody>
          <a:bodyPr/>
          <a:lstStyle>
            <a:lvl1pPr>
              <a:buNone/>
              <a:defRPr baseline="0"/>
            </a:lvl1pPr>
          </a:lstStyle>
          <a:p>
            <a:r>
              <a:rPr lang="en-US" dirty="0" smtClean="0"/>
              <a:t>Place Image Here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eme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4397587"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Logo(s)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7335072"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Picture Placeholder 9"/>
          <p:cNvSpPr>
            <a:spLocks noGrp="1"/>
          </p:cNvSpPr>
          <p:nvPr>
            <p:ph type="pic" sz="quarter" idx="14"/>
          </p:nvPr>
        </p:nvSpPr>
        <p:spPr>
          <a:xfrm>
            <a:off x="7568342" y="1035050"/>
            <a:ext cx="1348646" cy="5358550"/>
          </a:xfrm>
        </p:spPr>
        <p:txBody>
          <a:bodyPr>
            <a:normAutofit/>
          </a:bodyPr>
          <a:lstStyle>
            <a:lvl1pPr>
              <a:buNone/>
              <a:defRPr sz="2400"/>
            </a:lvl1pPr>
          </a:lstStyle>
          <a:p>
            <a:r>
              <a:rPr lang="en-US" dirty="0" smtClean="0"/>
              <a:t>Click icon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13" y="1028160"/>
            <a:ext cx="8691562" cy="5529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Header 1</a:t>
            </a:r>
          </a:p>
          <a:p>
            <a:pPr lvl="1"/>
            <a:r>
              <a:rPr lang="en-US" dirty="0" smtClean="0"/>
              <a:t>Header 2</a:t>
            </a:r>
          </a:p>
          <a:p>
            <a:pPr lvl="2"/>
            <a:r>
              <a:rPr lang="en-US" dirty="0" smtClean="0"/>
              <a:t>Header 3</a:t>
            </a:r>
          </a:p>
          <a:p>
            <a:pPr lvl="3"/>
            <a:r>
              <a:rPr lang="en-US" dirty="0" smtClean="0"/>
              <a:t>Body Bold</a:t>
            </a:r>
          </a:p>
          <a:p>
            <a:pPr lvl="4"/>
            <a:r>
              <a:rPr lang="en-US" dirty="0" smtClean="0"/>
              <a:t>Body Text</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AA0BE-CF44-9147-AA0D-6E22E446DBA0}" type="datetimeFigureOut">
              <a:rPr lang="en-US" smtClean="0"/>
              <a:pPr/>
              <a:t>6/4/2015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107-A8E3-8A4C-AC75-25FC69E35D1F}"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 id="2147483664" r:id="rId6"/>
    <p:sldLayoutId id="2147483665" r:id="rId7"/>
    <p:sldLayoutId id="2147483660" r:id="rId8"/>
    <p:sldLayoutId id="2147483662" r:id="rId9"/>
    <p:sldLayoutId id="2147483661" r:id="rId10"/>
    <p:sldLayoutId id="2147483663" r:id="rId11"/>
  </p:sldLayoutIdLst>
  <p:txStyles>
    <p:titleStyle>
      <a:lvl1pPr algn="ctr" defTabSz="457200" rtl="0" eaLnBrk="1" latinLnBrk="0" hangingPunct="1">
        <a:spcBef>
          <a:spcPct val="0"/>
        </a:spcBef>
        <a:buNone/>
        <a:defRPr sz="3600" kern="1200">
          <a:solidFill>
            <a:schemeClr val="tx2"/>
          </a:solidFill>
          <a:latin typeface="Memphis"/>
          <a:ea typeface="+mj-ea"/>
          <a:cs typeface="Memphis"/>
        </a:defRPr>
      </a:lvl1pPr>
    </p:titleStyle>
    <p:bodyStyle>
      <a:lvl1pPr marL="342900" indent="-342900" algn="l" defTabSz="457200" rtl="0" eaLnBrk="1" latinLnBrk="0" hangingPunct="1">
        <a:spcBef>
          <a:spcPct val="20000"/>
        </a:spcBef>
        <a:buFont typeface="Arial"/>
        <a:buChar char="•"/>
        <a:defRPr sz="3200" kern="1200">
          <a:solidFill>
            <a:schemeClr val="accent1"/>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accent4"/>
          </a:solidFill>
          <a:latin typeface="Memphis"/>
          <a:ea typeface="+mn-ea"/>
          <a:cs typeface="Memphis"/>
        </a:defRPr>
      </a:lvl2pPr>
      <a:lvl3pPr marL="1143000" indent="-228600" algn="l" defTabSz="457200" rtl="0" eaLnBrk="1" latinLnBrk="0" hangingPunct="1">
        <a:spcBef>
          <a:spcPct val="20000"/>
        </a:spcBef>
        <a:buFont typeface="Arial"/>
        <a:buChar char="•"/>
        <a:defRPr sz="1800" b="1" i="0" kern="1200" baseline="0">
          <a:solidFill>
            <a:schemeClr val="accent3"/>
          </a:solidFill>
          <a:latin typeface="News Gothic MT"/>
          <a:ea typeface="+mn-ea"/>
          <a:cs typeface="News Gothic MT"/>
        </a:defRPr>
      </a:lvl3pPr>
      <a:lvl4pPr marL="1600200" indent="-228600" algn="l" defTabSz="457200" rtl="0" eaLnBrk="1" latinLnBrk="0" hangingPunct="1">
        <a:spcBef>
          <a:spcPct val="20000"/>
        </a:spcBef>
        <a:buFont typeface="Arial"/>
        <a:buChar char="–"/>
        <a:defRPr sz="1200" b="1" i="0" kern="1200">
          <a:solidFill>
            <a:schemeClr val="tx1"/>
          </a:solidFill>
          <a:latin typeface="News Gothic MT"/>
          <a:ea typeface="+mn-ea"/>
          <a:cs typeface="News Gothic MT"/>
        </a:defRPr>
      </a:lvl4pPr>
      <a:lvl5pPr marL="2057400" indent="-228600" algn="l" defTabSz="457200" rtl="0" eaLnBrk="1" latinLnBrk="0" hangingPunct="1">
        <a:spcBef>
          <a:spcPct val="20000"/>
        </a:spcBef>
        <a:buFont typeface="Arial"/>
        <a:buChar char="»"/>
        <a:defRPr sz="1200" kern="1200">
          <a:solidFill>
            <a:schemeClr val="tx1"/>
          </a:solidFill>
          <a:latin typeface="News Gothic MT"/>
          <a:ea typeface="+mn-ea"/>
          <a:cs typeface="News Gothic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95436" y="1195922"/>
            <a:ext cx="5948361" cy="523220"/>
          </a:xfrm>
          <a:prstGeom prst="rect">
            <a:avLst/>
          </a:prstGeom>
          <a:noFill/>
        </p:spPr>
        <p:txBody>
          <a:bodyPr wrap="square" rtlCol="0">
            <a:spAutoFit/>
          </a:bodyPr>
          <a:lstStyle/>
          <a:p>
            <a:pPr algn="ctr"/>
            <a:r>
              <a:rPr lang="en-US" sz="2800" b="1" dirty="0" smtClean="0">
                <a:latin typeface="Memphis Medium" pitchFamily="2" charset="0"/>
              </a:rPr>
              <a:t>Team of Teams</a:t>
            </a:r>
            <a:endParaRPr lang="en-US" sz="2800" b="1" dirty="0">
              <a:latin typeface="Memphis Medium" pitchFamily="2"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4391" y="3168758"/>
            <a:ext cx="3852909" cy="1157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3114676"/>
            <a:ext cx="4143375" cy="224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457200" y="2555022"/>
            <a:ext cx="3467100" cy="400110"/>
          </a:xfrm>
          <a:prstGeom prst="rect">
            <a:avLst/>
          </a:prstGeom>
          <a:noFill/>
        </p:spPr>
        <p:txBody>
          <a:bodyPr wrap="square" rtlCol="0">
            <a:spAutoFit/>
          </a:bodyPr>
          <a:lstStyle/>
          <a:p>
            <a:pPr algn="ctr"/>
            <a:r>
              <a:rPr lang="en-US" sz="2000" dirty="0" smtClean="0"/>
              <a:t>NEW 2015 Org Chart</a:t>
            </a:r>
            <a:endParaRPr lang="en-US" sz="2000" dirty="0"/>
          </a:p>
        </p:txBody>
      </p:sp>
      <p:sp>
        <p:nvSpPr>
          <p:cNvPr id="10" name="TextBox 9"/>
          <p:cNvSpPr txBox="1"/>
          <p:nvPr/>
        </p:nvSpPr>
        <p:spPr>
          <a:xfrm>
            <a:off x="4991099" y="2550736"/>
            <a:ext cx="3900441" cy="400110"/>
          </a:xfrm>
          <a:prstGeom prst="rect">
            <a:avLst/>
          </a:prstGeom>
          <a:noFill/>
        </p:spPr>
        <p:txBody>
          <a:bodyPr wrap="square" rtlCol="0">
            <a:spAutoFit/>
          </a:bodyPr>
          <a:lstStyle/>
          <a:p>
            <a:pPr algn="ctr"/>
            <a:r>
              <a:rPr lang="en-US" sz="2000" dirty="0" smtClean="0">
                <a:latin typeface="TradeGothic" pitchFamily="2" charset="0"/>
              </a:rPr>
              <a:t>Strategic Leadership Committees</a:t>
            </a:r>
            <a:endParaRPr lang="en-US" sz="2000" dirty="0">
              <a:latin typeface="TradeGothic" pitchFamily="2" charset="0"/>
            </a:endParaRPr>
          </a:p>
        </p:txBody>
      </p:sp>
      <p:sp>
        <p:nvSpPr>
          <p:cNvPr id="8" name="TextBox 7"/>
          <p:cNvSpPr txBox="1"/>
          <p:nvPr/>
        </p:nvSpPr>
        <p:spPr>
          <a:xfrm>
            <a:off x="3914775" y="2474357"/>
            <a:ext cx="702466" cy="461665"/>
          </a:xfrm>
          <a:prstGeom prst="rect">
            <a:avLst/>
          </a:prstGeom>
          <a:noFill/>
        </p:spPr>
        <p:txBody>
          <a:bodyPr wrap="square" rtlCol="0">
            <a:spAutoFit/>
          </a:bodyPr>
          <a:lstStyle/>
          <a:p>
            <a:pPr algn="ctr"/>
            <a:r>
              <a:rPr lang="en-US" sz="2400" dirty="0" smtClean="0">
                <a:solidFill>
                  <a:srgbClr val="C00000"/>
                </a:solidFill>
              </a:rPr>
              <a:t>+</a:t>
            </a:r>
            <a:endParaRPr lang="en-US" sz="2400" dirty="0">
              <a:solidFill>
                <a:srgbClr val="C00000"/>
              </a:solidFill>
            </a:endParaRPr>
          </a:p>
        </p:txBody>
      </p:sp>
    </p:spTree>
    <p:extLst>
      <p:ext uri="{BB962C8B-B14F-4D97-AF65-F5344CB8AC3E}">
        <p14:creationId xmlns:p14="http://schemas.microsoft.com/office/powerpoint/2010/main" val="1546301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776286" y="1224081"/>
            <a:ext cx="7372350" cy="523220"/>
          </a:xfrm>
          <a:prstGeom prst="rect">
            <a:avLst/>
          </a:prstGeom>
          <a:noFill/>
        </p:spPr>
        <p:txBody>
          <a:bodyPr wrap="square" rtlCol="0">
            <a:spAutoFit/>
          </a:bodyPr>
          <a:lstStyle/>
          <a:p>
            <a:pPr algn="ctr"/>
            <a:r>
              <a:rPr lang="en-US" sz="2800" b="1" dirty="0" smtClean="0">
                <a:latin typeface="Memphis Medium" pitchFamily="2" charset="0"/>
              </a:rPr>
              <a:t>NEW 2015 Organizational Chart</a:t>
            </a:r>
            <a:endParaRPr lang="en-US" sz="2800" b="1" dirty="0">
              <a:latin typeface="Memphis Medium" pitchFamily="2"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74" y="1823501"/>
            <a:ext cx="9043893" cy="4891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24597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776286" y="1490781"/>
            <a:ext cx="7372350" cy="954107"/>
          </a:xfrm>
          <a:prstGeom prst="rect">
            <a:avLst/>
          </a:prstGeom>
          <a:noFill/>
        </p:spPr>
        <p:txBody>
          <a:bodyPr wrap="square" rtlCol="0">
            <a:spAutoFit/>
          </a:bodyPr>
          <a:lstStyle/>
          <a:p>
            <a:pPr algn="ctr"/>
            <a:r>
              <a:rPr lang="en-US" sz="2800" b="1" dirty="0" smtClean="0">
                <a:latin typeface="Memphis Medium" pitchFamily="2" charset="0"/>
              </a:rPr>
              <a:t>2015 Strategic Leadership Committees </a:t>
            </a:r>
          </a:p>
          <a:p>
            <a:pPr algn="ctr"/>
            <a:r>
              <a:rPr lang="en-US" sz="2800" b="1" dirty="0" smtClean="0">
                <a:latin typeface="Memphis Medium" pitchFamily="2" charset="0"/>
              </a:rPr>
              <a:t>&amp; Special Staff Meetings</a:t>
            </a:r>
            <a:endParaRPr lang="en-US" sz="2800" b="1" dirty="0">
              <a:latin typeface="Memphis Medium" pitchFamily="2" charset="0"/>
            </a:endParaRPr>
          </a:p>
        </p:txBody>
      </p:sp>
      <p:sp>
        <p:nvSpPr>
          <p:cNvPr id="5" name="TextBox 21"/>
          <p:cNvSpPr txBox="1"/>
          <p:nvPr/>
        </p:nvSpPr>
        <p:spPr>
          <a:xfrm>
            <a:off x="281998" y="2837799"/>
            <a:ext cx="2562225" cy="97795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dirty="0" smtClean="0">
                <a:latin typeface="TradeGothic" pitchFamily="2" charset="0"/>
              </a:rPr>
              <a:t>All-Staff Meeting</a:t>
            </a:r>
          </a:p>
          <a:p>
            <a:pPr algn="ctr"/>
            <a:r>
              <a:rPr lang="en-US" sz="1600" b="1" baseline="0" dirty="0" smtClean="0">
                <a:latin typeface="TradeGothic" pitchFamily="2" charset="0"/>
              </a:rPr>
              <a:t>(Monthly – 1</a:t>
            </a:r>
            <a:r>
              <a:rPr lang="en-US" sz="1600" b="1" baseline="30000" dirty="0" smtClean="0">
                <a:latin typeface="TradeGothic" pitchFamily="2" charset="0"/>
              </a:rPr>
              <a:t>st</a:t>
            </a:r>
            <a:r>
              <a:rPr lang="en-US" sz="1600" b="1" baseline="0" dirty="0" smtClean="0">
                <a:latin typeface="TradeGothic" pitchFamily="2" charset="0"/>
              </a:rPr>
              <a:t> Week)</a:t>
            </a:r>
            <a:endParaRPr lang="en-US" sz="1400" baseline="0" dirty="0">
              <a:latin typeface="TradeGothic" pitchFamily="2" charset="0"/>
            </a:endParaRPr>
          </a:p>
        </p:txBody>
      </p:sp>
      <p:sp>
        <p:nvSpPr>
          <p:cNvPr id="6" name="TextBox 21"/>
          <p:cNvSpPr txBox="1"/>
          <p:nvPr/>
        </p:nvSpPr>
        <p:spPr>
          <a:xfrm>
            <a:off x="1900236" y="4042348"/>
            <a:ext cx="2562225" cy="97795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dirty="0" smtClean="0">
                <a:latin typeface="TradeGothic" pitchFamily="2" charset="0"/>
              </a:rPr>
              <a:t>IT Committee</a:t>
            </a:r>
          </a:p>
          <a:p>
            <a:pPr algn="ctr"/>
            <a:r>
              <a:rPr lang="en-US" sz="1600" b="1" baseline="0" dirty="0" smtClean="0">
                <a:latin typeface="TradeGothic" pitchFamily="2" charset="0"/>
              </a:rPr>
              <a:t>(Weekly)</a:t>
            </a:r>
            <a:endParaRPr lang="en-US" sz="1400" baseline="0" dirty="0">
              <a:latin typeface="TradeGothic" pitchFamily="2" charset="0"/>
            </a:endParaRPr>
          </a:p>
        </p:txBody>
      </p:sp>
      <p:sp>
        <p:nvSpPr>
          <p:cNvPr id="7" name="TextBox 21"/>
          <p:cNvSpPr txBox="1"/>
          <p:nvPr/>
        </p:nvSpPr>
        <p:spPr>
          <a:xfrm>
            <a:off x="6163685" y="2829549"/>
            <a:ext cx="2562225" cy="97795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dirty="0" smtClean="0">
                <a:latin typeface="TradeGothic" pitchFamily="2" charset="0"/>
              </a:rPr>
              <a:t>President’s Council </a:t>
            </a:r>
          </a:p>
          <a:p>
            <a:pPr algn="ctr"/>
            <a:r>
              <a:rPr lang="en-US" sz="1600" b="1" baseline="0" dirty="0" smtClean="0">
                <a:latin typeface="TradeGothic" pitchFamily="2" charset="0"/>
              </a:rPr>
              <a:t>(Monthly</a:t>
            </a:r>
            <a:r>
              <a:rPr lang="en-US" sz="1600" b="1" dirty="0" smtClean="0">
                <a:latin typeface="TradeGothic" pitchFamily="2" charset="0"/>
              </a:rPr>
              <a:t> – 4</a:t>
            </a:r>
            <a:r>
              <a:rPr lang="en-US" sz="1600" b="1" baseline="30000" dirty="0" smtClean="0">
                <a:latin typeface="TradeGothic" pitchFamily="2" charset="0"/>
              </a:rPr>
              <a:t>th</a:t>
            </a:r>
            <a:r>
              <a:rPr lang="en-US" sz="1600" b="1" dirty="0" smtClean="0">
                <a:latin typeface="TradeGothic" pitchFamily="2" charset="0"/>
              </a:rPr>
              <a:t> Week)</a:t>
            </a:r>
            <a:endParaRPr lang="en-US" sz="1400" baseline="0" dirty="0">
              <a:latin typeface="TradeGothic" pitchFamily="2" charset="0"/>
            </a:endParaRPr>
          </a:p>
        </p:txBody>
      </p:sp>
      <p:sp>
        <p:nvSpPr>
          <p:cNvPr id="9" name="TextBox 21"/>
          <p:cNvSpPr txBox="1"/>
          <p:nvPr/>
        </p:nvSpPr>
        <p:spPr>
          <a:xfrm>
            <a:off x="3252787" y="2829549"/>
            <a:ext cx="2562225" cy="97795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dirty="0" smtClean="0">
                <a:latin typeface="TradeGothic" pitchFamily="2" charset="0"/>
              </a:rPr>
              <a:t>Senior Exec. Committee</a:t>
            </a:r>
          </a:p>
          <a:p>
            <a:pPr algn="ctr"/>
            <a:r>
              <a:rPr lang="en-US" sz="1600" b="1" baseline="0" dirty="0" smtClean="0">
                <a:latin typeface="TradeGothic" pitchFamily="2" charset="0"/>
              </a:rPr>
              <a:t>(Monthly</a:t>
            </a:r>
            <a:r>
              <a:rPr lang="en-US" sz="1600" b="1" dirty="0" smtClean="0">
                <a:latin typeface="TradeGothic" pitchFamily="2" charset="0"/>
              </a:rPr>
              <a:t> – 3</a:t>
            </a:r>
            <a:r>
              <a:rPr lang="en-US" sz="1600" b="1" baseline="30000" dirty="0" smtClean="0">
                <a:latin typeface="TradeGothic" pitchFamily="2" charset="0"/>
              </a:rPr>
              <a:t>rd</a:t>
            </a:r>
            <a:r>
              <a:rPr lang="en-US" sz="1600" b="1" dirty="0" smtClean="0">
                <a:latin typeface="TradeGothic" pitchFamily="2" charset="0"/>
              </a:rPr>
              <a:t> Week)</a:t>
            </a:r>
            <a:endParaRPr lang="en-US" sz="1400" baseline="0" dirty="0">
              <a:latin typeface="TradeGothic" pitchFamily="2" charset="0"/>
            </a:endParaRPr>
          </a:p>
        </p:txBody>
      </p:sp>
      <p:sp>
        <p:nvSpPr>
          <p:cNvPr id="10" name="TextBox 21"/>
          <p:cNvSpPr txBox="1"/>
          <p:nvPr/>
        </p:nvSpPr>
        <p:spPr>
          <a:xfrm>
            <a:off x="4787323" y="4047474"/>
            <a:ext cx="2562225" cy="977951"/>
          </a:xfrm>
          <a:prstGeom prst="rect">
            <a:avLst/>
          </a:prstGeom>
          <a:ln/>
        </p:spPr>
        <p:style>
          <a:lnRef idx="1">
            <a:schemeClr val="accent3"/>
          </a:lnRef>
          <a:fillRef idx="2">
            <a:schemeClr val="accent3"/>
          </a:fillRef>
          <a:effectRef idx="1">
            <a:schemeClr val="accent3"/>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1600" b="1" dirty="0" smtClean="0">
                <a:latin typeface="TradeGothic" pitchFamily="2" charset="0"/>
              </a:rPr>
              <a:t>Network/Membership Committee</a:t>
            </a:r>
          </a:p>
          <a:p>
            <a:pPr algn="ctr"/>
            <a:r>
              <a:rPr lang="en-US" sz="1600" b="1" baseline="0" dirty="0" smtClean="0">
                <a:latin typeface="TradeGothic" pitchFamily="2" charset="0"/>
              </a:rPr>
              <a:t>(Weekly)</a:t>
            </a:r>
            <a:endParaRPr lang="en-US" sz="1400" baseline="0" dirty="0">
              <a:latin typeface="TradeGothic" pitchFamily="2" charset="0"/>
            </a:endParaRPr>
          </a:p>
        </p:txBody>
      </p:sp>
    </p:spTree>
    <p:extLst>
      <p:ext uri="{BB962C8B-B14F-4D97-AF65-F5344CB8AC3E}">
        <p14:creationId xmlns:p14="http://schemas.microsoft.com/office/powerpoint/2010/main" val="34825380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4638675" y="341738"/>
            <a:ext cx="4295776" cy="523220"/>
          </a:xfrm>
          <a:prstGeom prst="rect">
            <a:avLst/>
          </a:prstGeom>
          <a:noFill/>
        </p:spPr>
        <p:txBody>
          <a:bodyPr wrap="square" rtlCol="0">
            <a:spAutoFit/>
          </a:bodyPr>
          <a:lstStyle/>
          <a:p>
            <a:pPr algn="ctr"/>
            <a:r>
              <a:rPr lang="en-US" sz="2800" b="1" dirty="0" smtClean="0"/>
              <a:t>Monthly All-Staff Meeting</a:t>
            </a:r>
            <a:endParaRPr lang="en-US" sz="2800" b="1" dirty="0"/>
          </a:p>
        </p:txBody>
      </p:sp>
      <p:sp>
        <p:nvSpPr>
          <p:cNvPr id="5" name="TextBox 4"/>
          <p:cNvSpPr txBox="1"/>
          <p:nvPr/>
        </p:nvSpPr>
        <p:spPr>
          <a:xfrm>
            <a:off x="-266701" y="1152525"/>
            <a:ext cx="9115425" cy="4955203"/>
          </a:xfrm>
          <a:prstGeom prst="rect">
            <a:avLst/>
          </a:prstGeom>
          <a:noFill/>
        </p:spPr>
        <p:txBody>
          <a:bodyPr wrap="square" rtlCol="0">
            <a:spAutoFit/>
          </a:bodyPr>
          <a:lstStyle/>
          <a:p>
            <a:pPr lvl="1"/>
            <a:r>
              <a:rPr lang="en-US" sz="1400" b="1" u="sng" dirty="0" smtClean="0">
                <a:latin typeface="TradeGothic" pitchFamily="2" charset="0"/>
              </a:rPr>
              <a:t>Function</a:t>
            </a:r>
            <a:r>
              <a:rPr lang="en-US" sz="1400" dirty="0" smtClean="0">
                <a:latin typeface="TradeGothic" pitchFamily="2" charset="0"/>
              </a:rPr>
              <a:t>:		</a:t>
            </a:r>
          </a:p>
          <a:p>
            <a:pPr lvl="1"/>
            <a:r>
              <a:rPr lang="en-US" sz="1400" dirty="0" smtClean="0">
                <a:latin typeface="TradeGothic" pitchFamily="2" charset="0"/>
              </a:rPr>
              <a:t>The all-staff meeting is primarily for information sharing across Partners’ staff. The expectation is that each office within the organization present a brief update on relevant business travel, key meetings/events, partnership and program opportunities and needs for support. While questions and open discussion are welcome, these meetings are not designed to be strategy sessions. </a:t>
            </a:r>
          </a:p>
          <a:p>
            <a:pPr lvl="1"/>
            <a:endParaRPr lang="en-US" sz="1400" b="1" u="sng" dirty="0" smtClean="0">
              <a:latin typeface="TradeGothic" pitchFamily="2" charset="0"/>
            </a:endParaRPr>
          </a:p>
          <a:p>
            <a:pPr lvl="1"/>
            <a:r>
              <a:rPr lang="en-US" sz="1400" b="1" u="sng" dirty="0" smtClean="0">
                <a:latin typeface="TradeGothic" pitchFamily="2" charset="0"/>
              </a:rPr>
              <a:t>Chair</a:t>
            </a:r>
            <a:r>
              <a:rPr lang="en-US" sz="1400" dirty="0" smtClean="0">
                <a:latin typeface="TradeGothic" pitchFamily="2" charset="0"/>
              </a:rPr>
              <a:t>: 		</a:t>
            </a:r>
          </a:p>
          <a:p>
            <a:pPr lvl="1"/>
            <a:r>
              <a:rPr lang="en-US" sz="1400" dirty="0" smtClean="0">
                <a:latin typeface="TradeGothic" pitchFamily="2" charset="0"/>
              </a:rPr>
              <a:t>Sherrita Wilkins, Chief of Staff</a:t>
            </a:r>
          </a:p>
          <a:p>
            <a:pPr marL="1200150" lvl="2" indent="-285750">
              <a:buFont typeface="Wingdings" pitchFamily="2" charset="2"/>
              <a:buChar char="q"/>
            </a:pPr>
            <a:r>
              <a:rPr lang="en-US" sz="1400" dirty="0" smtClean="0">
                <a:latin typeface="TradeGothic" pitchFamily="2" charset="0"/>
              </a:rPr>
              <a:t>responsible for setting the meeting schedule and agenda.</a:t>
            </a:r>
          </a:p>
          <a:p>
            <a:pPr lvl="4"/>
            <a:endParaRPr lang="en-US" sz="1400" dirty="0" smtClean="0">
              <a:latin typeface="TradeGothic" pitchFamily="2" charset="0"/>
            </a:endParaRPr>
          </a:p>
          <a:p>
            <a:pPr lvl="1"/>
            <a:r>
              <a:rPr lang="en-US" sz="1400" b="1" u="sng" dirty="0" smtClean="0">
                <a:latin typeface="TradeGothic" pitchFamily="2" charset="0"/>
              </a:rPr>
              <a:t>Standing Members</a:t>
            </a:r>
            <a:r>
              <a:rPr lang="en-US" sz="1400" dirty="0" smtClean="0">
                <a:latin typeface="TradeGothic" pitchFamily="2" charset="0"/>
              </a:rPr>
              <a:t>:	</a:t>
            </a:r>
          </a:p>
          <a:p>
            <a:pPr lvl="1"/>
            <a:r>
              <a:rPr lang="en-US" sz="1400" dirty="0" smtClean="0">
                <a:latin typeface="TradeGothic" pitchFamily="2" charset="0"/>
              </a:rPr>
              <a:t>DC Staff and Interns</a:t>
            </a:r>
          </a:p>
          <a:p>
            <a:pPr lvl="1"/>
            <a:endParaRPr lang="en-US" sz="1400" dirty="0" smtClean="0">
              <a:latin typeface="TradeGothic" pitchFamily="2" charset="0"/>
            </a:endParaRPr>
          </a:p>
          <a:p>
            <a:pPr lvl="1"/>
            <a:r>
              <a:rPr lang="en-US" sz="1400" b="1" u="sng" dirty="0" smtClean="0">
                <a:latin typeface="TradeGothic" pitchFamily="2" charset="0"/>
              </a:rPr>
              <a:t>Meeting Schedule</a:t>
            </a:r>
            <a:r>
              <a:rPr lang="en-US" sz="1400" dirty="0" smtClean="0">
                <a:latin typeface="TradeGothic" pitchFamily="2" charset="0"/>
              </a:rPr>
              <a:t>:</a:t>
            </a:r>
            <a:endParaRPr lang="en-US" sz="1400" dirty="0">
              <a:latin typeface="TradeGothic" pitchFamily="2" charset="0"/>
            </a:endParaRPr>
          </a:p>
          <a:p>
            <a:pPr marL="1200150" lvl="2" indent="-285750">
              <a:buFont typeface="Wingdings" pitchFamily="2" charset="2"/>
              <a:buChar char="q"/>
            </a:pPr>
            <a:r>
              <a:rPr lang="en-US" sz="1400" dirty="0" smtClean="0">
                <a:latin typeface="TradeGothic" pitchFamily="2" charset="0"/>
              </a:rPr>
              <a:t>July 6</a:t>
            </a:r>
            <a:r>
              <a:rPr lang="en-US" sz="1400" baseline="30000" dirty="0" smtClean="0">
                <a:latin typeface="TradeGothic" pitchFamily="2" charset="0"/>
              </a:rPr>
              <a:t>th</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August 3</a:t>
            </a:r>
            <a:r>
              <a:rPr lang="en-US" sz="1400" baseline="30000" dirty="0" smtClean="0">
                <a:latin typeface="TradeGothic" pitchFamily="2" charset="0"/>
              </a:rPr>
              <a:t>rd</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September 1</a:t>
            </a:r>
            <a:r>
              <a:rPr lang="en-US" sz="1400" baseline="30000" dirty="0" smtClean="0">
                <a:latin typeface="TradeGothic" pitchFamily="2" charset="0"/>
              </a:rPr>
              <a:t>st</a:t>
            </a:r>
            <a:endParaRPr lang="en-US" sz="1400" dirty="0" smtClean="0">
              <a:latin typeface="TradeGothic" pitchFamily="2" charset="0"/>
            </a:endParaRPr>
          </a:p>
          <a:p>
            <a:pPr marL="1200150" lvl="2" indent="-285750">
              <a:buFont typeface="Wingdings" pitchFamily="2" charset="2"/>
              <a:buChar char="q"/>
            </a:pPr>
            <a:r>
              <a:rPr lang="en-US" sz="1400" dirty="0" smtClean="0">
                <a:latin typeface="TradeGothic" pitchFamily="2" charset="0"/>
              </a:rPr>
              <a:t>October 5</a:t>
            </a:r>
            <a:r>
              <a:rPr lang="en-US" sz="1400" baseline="30000" dirty="0" smtClean="0">
                <a:latin typeface="TradeGothic" pitchFamily="2" charset="0"/>
              </a:rPr>
              <a:t>th</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November 2</a:t>
            </a:r>
            <a:r>
              <a:rPr lang="en-US" sz="1400" baseline="30000" dirty="0" smtClean="0">
                <a:latin typeface="TradeGothic" pitchFamily="2" charset="0"/>
              </a:rPr>
              <a:t>nd</a:t>
            </a:r>
            <a:endParaRPr lang="en-US" sz="1400" dirty="0" smtClean="0">
              <a:latin typeface="TradeGothic" pitchFamily="2" charset="0"/>
            </a:endParaRPr>
          </a:p>
          <a:p>
            <a:pPr marL="1200150" lvl="2" indent="-285750">
              <a:buFont typeface="Wingdings" pitchFamily="2" charset="2"/>
              <a:buChar char="q"/>
            </a:pPr>
            <a:r>
              <a:rPr lang="en-US" sz="1400" dirty="0" smtClean="0">
                <a:latin typeface="TradeGothic" pitchFamily="2" charset="0"/>
              </a:rPr>
              <a:t>December 7</a:t>
            </a:r>
            <a:r>
              <a:rPr lang="en-US" sz="1400" baseline="30000" dirty="0" smtClean="0">
                <a:latin typeface="TradeGothic" pitchFamily="2" charset="0"/>
              </a:rPr>
              <a:t>th</a:t>
            </a:r>
            <a:r>
              <a:rPr lang="en-US" sz="1400" dirty="0" smtClean="0">
                <a:latin typeface="TradeGothic" pitchFamily="2" charset="0"/>
              </a:rPr>
              <a:t> </a:t>
            </a:r>
          </a:p>
          <a:p>
            <a:pPr marL="742950" lvl="1" indent="-285750">
              <a:buFont typeface="Wingdings" pitchFamily="2" charset="2"/>
              <a:buChar char="q"/>
            </a:pPr>
            <a:endParaRPr lang="en-US" dirty="0" smtClean="0">
              <a:latin typeface="TradeGothic" pitchFamily="2" charset="0"/>
            </a:endParaRPr>
          </a:p>
          <a:p>
            <a:pPr marL="800100" lvl="1" indent="-342900">
              <a:buFont typeface="+mj-lt"/>
              <a:buAutoNum type="arabicPeriod"/>
            </a:pPr>
            <a:endParaRPr lang="en-US" dirty="0" smtClean="0">
              <a:latin typeface="TradeGothic" pitchFamily="2" charset="0"/>
            </a:endParaRPr>
          </a:p>
        </p:txBody>
      </p:sp>
    </p:spTree>
    <p:extLst>
      <p:ext uri="{BB962C8B-B14F-4D97-AF65-F5344CB8AC3E}">
        <p14:creationId xmlns:p14="http://schemas.microsoft.com/office/powerpoint/2010/main" val="20584199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4629150" y="372545"/>
            <a:ext cx="4295776" cy="954107"/>
          </a:xfrm>
          <a:prstGeom prst="rect">
            <a:avLst/>
          </a:prstGeom>
          <a:noFill/>
        </p:spPr>
        <p:txBody>
          <a:bodyPr wrap="square" rtlCol="0">
            <a:spAutoFit/>
          </a:bodyPr>
          <a:lstStyle/>
          <a:p>
            <a:pPr algn="ctr"/>
            <a:r>
              <a:rPr lang="en-US" sz="2800" b="1" dirty="0" smtClean="0"/>
              <a:t>Senior Executive Committee</a:t>
            </a:r>
            <a:endParaRPr lang="en-US" sz="2800" b="1" dirty="0"/>
          </a:p>
        </p:txBody>
      </p:sp>
      <p:sp>
        <p:nvSpPr>
          <p:cNvPr id="3" name="TextBox 2"/>
          <p:cNvSpPr txBox="1"/>
          <p:nvPr/>
        </p:nvSpPr>
        <p:spPr>
          <a:xfrm>
            <a:off x="352424" y="1262539"/>
            <a:ext cx="4133851" cy="307777"/>
          </a:xfrm>
          <a:prstGeom prst="rect">
            <a:avLst/>
          </a:prstGeom>
          <a:noFill/>
        </p:spPr>
        <p:txBody>
          <a:bodyPr wrap="square" rtlCol="0">
            <a:spAutoFit/>
          </a:bodyPr>
          <a:lstStyle/>
          <a:p>
            <a:pPr lvl="2"/>
            <a:r>
              <a:rPr lang="en-US" sz="1400" dirty="0" smtClean="0"/>
              <a:t> </a:t>
            </a:r>
            <a:endParaRPr lang="en-US" sz="1400" dirty="0" smtClean="0"/>
          </a:p>
        </p:txBody>
      </p:sp>
      <p:sp>
        <p:nvSpPr>
          <p:cNvPr id="7" name="TextBox 6"/>
          <p:cNvSpPr txBox="1"/>
          <p:nvPr/>
        </p:nvSpPr>
        <p:spPr>
          <a:xfrm>
            <a:off x="4038600" y="1401367"/>
            <a:ext cx="4371975" cy="954107"/>
          </a:xfrm>
          <a:prstGeom prst="rect">
            <a:avLst/>
          </a:prstGeom>
          <a:noFill/>
        </p:spPr>
        <p:txBody>
          <a:bodyPr wrap="square" rtlCol="0">
            <a:spAutoFit/>
          </a:bodyPr>
          <a:lstStyle/>
          <a:p>
            <a:pPr lvl="1"/>
            <a:endParaRPr lang="en-US" sz="1400" dirty="0" smtClean="0"/>
          </a:p>
          <a:p>
            <a:pPr lvl="1"/>
            <a:endParaRPr lang="en-US" sz="1400" dirty="0" smtClean="0"/>
          </a:p>
          <a:p>
            <a:pPr lvl="1"/>
            <a:endParaRPr lang="en-US" sz="1400" dirty="0" smtClean="0"/>
          </a:p>
          <a:p>
            <a:pPr lvl="2"/>
            <a:r>
              <a:rPr lang="en-US" sz="1400" dirty="0" smtClean="0"/>
              <a:t> </a:t>
            </a:r>
            <a:endParaRPr lang="en-US" sz="1400" dirty="0" smtClean="0"/>
          </a:p>
        </p:txBody>
      </p:sp>
      <p:sp>
        <p:nvSpPr>
          <p:cNvPr id="9" name="TextBox 8"/>
          <p:cNvSpPr txBox="1"/>
          <p:nvPr/>
        </p:nvSpPr>
        <p:spPr>
          <a:xfrm>
            <a:off x="-276225" y="1262539"/>
            <a:ext cx="9201151" cy="4739759"/>
          </a:xfrm>
          <a:prstGeom prst="rect">
            <a:avLst/>
          </a:prstGeom>
          <a:noFill/>
        </p:spPr>
        <p:txBody>
          <a:bodyPr wrap="square" rtlCol="0">
            <a:spAutoFit/>
          </a:bodyPr>
          <a:lstStyle/>
          <a:p>
            <a:pPr lvl="1"/>
            <a:r>
              <a:rPr lang="en-US" sz="1400" b="1" u="sng" dirty="0" smtClean="0">
                <a:latin typeface="TradeGothic" pitchFamily="2" charset="0"/>
              </a:rPr>
              <a:t>Function</a:t>
            </a:r>
            <a:r>
              <a:rPr lang="en-US" sz="1400" dirty="0" smtClean="0">
                <a:latin typeface="TradeGothic" pitchFamily="2" charset="0"/>
              </a:rPr>
              <a:t>:</a:t>
            </a:r>
          </a:p>
          <a:p>
            <a:r>
              <a:rPr lang="en-US" sz="1400" dirty="0" smtClean="0">
                <a:latin typeface="TradeGothic" pitchFamily="2" charset="0"/>
              </a:rPr>
              <a:t>	This meeting is designed to be a “prep session” for the all staff meeting as well as oversee large </a:t>
            </a:r>
            <a:r>
              <a:rPr lang="en-US" sz="1400" dirty="0">
                <a:latin typeface="TradeGothic" pitchFamily="2" charset="0"/>
              </a:rPr>
              <a:t> </a:t>
            </a:r>
            <a:r>
              <a:rPr lang="en-US" sz="1400" dirty="0" smtClean="0">
                <a:latin typeface="TradeGothic" pitchFamily="2" charset="0"/>
              </a:rPr>
              <a:t>policy and 	procedural 	issues (i.e. budget</a:t>
            </a:r>
            <a:r>
              <a:rPr lang="en-US" sz="1400" dirty="0">
                <a:latin typeface="TradeGothic" pitchFamily="2" charset="0"/>
              </a:rPr>
              <a:t>, </a:t>
            </a:r>
            <a:r>
              <a:rPr lang="en-US" sz="1400" dirty="0" smtClean="0">
                <a:latin typeface="TradeGothic" pitchFamily="2" charset="0"/>
              </a:rPr>
              <a:t>performance reviews, </a:t>
            </a:r>
            <a:r>
              <a:rPr lang="en-US" sz="1400" dirty="0">
                <a:latin typeface="TradeGothic" pitchFamily="2" charset="0"/>
              </a:rPr>
              <a:t>board </a:t>
            </a:r>
            <a:r>
              <a:rPr lang="en-US" sz="1400" dirty="0" smtClean="0">
                <a:latin typeface="TradeGothic" pitchFamily="2" charset="0"/>
              </a:rPr>
              <a:t>issues etc.)</a:t>
            </a:r>
            <a:endParaRPr lang="en-US" sz="1400" dirty="0">
              <a:latin typeface="TradeGothic" pitchFamily="2" charset="0"/>
            </a:endParaRPr>
          </a:p>
          <a:p>
            <a:pPr lvl="1"/>
            <a:endParaRPr lang="en-US" sz="1400" dirty="0" smtClean="0">
              <a:latin typeface="TradeGothic" pitchFamily="2" charset="0"/>
            </a:endParaRPr>
          </a:p>
          <a:p>
            <a:pPr lvl="1"/>
            <a:r>
              <a:rPr lang="en-US" sz="1400" b="1" u="sng" dirty="0" smtClean="0">
                <a:latin typeface="TradeGothic" pitchFamily="2" charset="0"/>
              </a:rPr>
              <a:t>Chair</a:t>
            </a:r>
            <a:r>
              <a:rPr lang="en-US" sz="1400" dirty="0" smtClean="0">
                <a:latin typeface="TradeGothic" pitchFamily="2" charset="0"/>
              </a:rPr>
              <a:t>:</a:t>
            </a:r>
          </a:p>
          <a:p>
            <a:pPr lvl="1"/>
            <a:r>
              <a:rPr lang="en-US" sz="1400" dirty="0" smtClean="0">
                <a:latin typeface="TradeGothic" pitchFamily="2" charset="0"/>
              </a:rPr>
              <a:t>Steve Vetter, President &amp; CEO</a:t>
            </a:r>
          </a:p>
          <a:p>
            <a:pPr marL="1200150" lvl="2" indent="-285750">
              <a:buFont typeface="Wingdings" pitchFamily="2" charset="2"/>
              <a:buChar char="q"/>
            </a:pPr>
            <a:r>
              <a:rPr lang="en-US" sz="1400" dirty="0" smtClean="0">
                <a:latin typeface="TradeGothic" pitchFamily="2" charset="0"/>
              </a:rPr>
              <a:t>Works in coordination with senior leadership and the Chief of Staff to set the meeting’s schedule and agenda. </a:t>
            </a:r>
          </a:p>
          <a:p>
            <a:pPr lvl="1"/>
            <a:endParaRPr lang="en-US" sz="1400" dirty="0" smtClean="0">
              <a:latin typeface="TradeGothic" pitchFamily="2" charset="0"/>
            </a:endParaRPr>
          </a:p>
          <a:p>
            <a:pPr lvl="1"/>
            <a:r>
              <a:rPr lang="en-US" sz="1400" b="1" u="sng" dirty="0" smtClean="0">
                <a:latin typeface="TradeGothic" pitchFamily="2" charset="0"/>
              </a:rPr>
              <a:t>Standing Members</a:t>
            </a:r>
            <a:r>
              <a:rPr lang="en-US" sz="1400" dirty="0" smtClean="0">
                <a:latin typeface="TradeGothic" pitchFamily="2" charset="0"/>
              </a:rPr>
              <a:t>:</a:t>
            </a:r>
          </a:p>
          <a:p>
            <a:pPr lvl="1"/>
            <a:r>
              <a:rPr lang="en-US" sz="1400" dirty="0" smtClean="0">
                <a:latin typeface="TradeGothic" pitchFamily="2" charset="0"/>
              </a:rPr>
              <a:t>Peggy Carlson, Matt Clausen, Horacio Correa, Sherrita Wilkins, Steve Vetter </a:t>
            </a:r>
          </a:p>
          <a:p>
            <a:pPr lvl="1"/>
            <a:endParaRPr lang="en-US" sz="1400" dirty="0" smtClean="0">
              <a:latin typeface="TradeGothic" pitchFamily="2" charset="0"/>
            </a:endParaRPr>
          </a:p>
          <a:p>
            <a:pPr lvl="1"/>
            <a:r>
              <a:rPr lang="en-US" sz="1400" b="1" u="sng" dirty="0" smtClean="0">
                <a:latin typeface="TradeGothic" pitchFamily="2" charset="0"/>
              </a:rPr>
              <a:t>Meeting Schedule</a:t>
            </a:r>
            <a:r>
              <a:rPr lang="en-US" sz="1400" dirty="0" smtClean="0">
                <a:latin typeface="TradeGothic" pitchFamily="2" charset="0"/>
              </a:rPr>
              <a:t>:</a:t>
            </a:r>
          </a:p>
          <a:p>
            <a:pPr marL="742950" lvl="1" indent="-285750">
              <a:buFont typeface="Wingdings" pitchFamily="2" charset="2"/>
              <a:buChar char="q"/>
            </a:pPr>
            <a:r>
              <a:rPr lang="en-US" sz="1400" dirty="0" smtClean="0">
                <a:latin typeface="TradeGothic" pitchFamily="2" charset="0"/>
              </a:rPr>
              <a:t>July 27</a:t>
            </a:r>
            <a:r>
              <a:rPr lang="en-US" sz="1400" baseline="30000" dirty="0" smtClean="0">
                <a:latin typeface="TradeGothic" pitchFamily="2" charset="0"/>
              </a:rPr>
              <a:t>th</a:t>
            </a:r>
            <a:r>
              <a:rPr lang="en-US" sz="1400" dirty="0" smtClean="0">
                <a:latin typeface="TradeGothic" pitchFamily="2" charset="0"/>
              </a:rPr>
              <a:t> </a:t>
            </a:r>
          </a:p>
          <a:p>
            <a:pPr marL="742950" lvl="1" indent="-285750">
              <a:buFont typeface="Wingdings" pitchFamily="2" charset="2"/>
              <a:buChar char="q"/>
            </a:pPr>
            <a:r>
              <a:rPr lang="en-US" sz="1400" dirty="0" smtClean="0">
                <a:latin typeface="TradeGothic" pitchFamily="2" charset="0"/>
              </a:rPr>
              <a:t>August 24</a:t>
            </a:r>
            <a:r>
              <a:rPr lang="en-US" sz="1400" baseline="30000" dirty="0" smtClean="0">
                <a:latin typeface="TradeGothic" pitchFamily="2" charset="0"/>
              </a:rPr>
              <a:t>th</a:t>
            </a:r>
            <a:endParaRPr lang="en-US" sz="1400" dirty="0" smtClean="0">
              <a:latin typeface="TradeGothic" pitchFamily="2" charset="0"/>
            </a:endParaRPr>
          </a:p>
          <a:p>
            <a:pPr marL="742950" lvl="1" indent="-285750">
              <a:buFont typeface="Wingdings" pitchFamily="2" charset="2"/>
              <a:buChar char="q"/>
            </a:pPr>
            <a:r>
              <a:rPr lang="en-US" sz="1400" dirty="0" smtClean="0">
                <a:latin typeface="TradeGothic" pitchFamily="2" charset="0"/>
              </a:rPr>
              <a:t>September 28</a:t>
            </a:r>
            <a:r>
              <a:rPr lang="en-US" sz="1400" baseline="30000" dirty="0" smtClean="0">
                <a:latin typeface="TradeGothic" pitchFamily="2" charset="0"/>
              </a:rPr>
              <a:t>th</a:t>
            </a:r>
            <a:endParaRPr lang="en-US" sz="1400" dirty="0" smtClean="0">
              <a:latin typeface="TradeGothic" pitchFamily="2" charset="0"/>
            </a:endParaRPr>
          </a:p>
          <a:p>
            <a:pPr marL="742950" lvl="1" indent="-285750">
              <a:buFont typeface="Wingdings" pitchFamily="2" charset="2"/>
              <a:buChar char="q"/>
            </a:pPr>
            <a:r>
              <a:rPr lang="en-US" sz="1400" dirty="0" smtClean="0">
                <a:latin typeface="TradeGothic" pitchFamily="2" charset="0"/>
              </a:rPr>
              <a:t>October 26</a:t>
            </a:r>
            <a:r>
              <a:rPr lang="en-US" sz="1400" baseline="30000" dirty="0" smtClean="0">
                <a:latin typeface="TradeGothic" pitchFamily="2" charset="0"/>
              </a:rPr>
              <a:t>th</a:t>
            </a:r>
            <a:endParaRPr lang="en-US" sz="1400" dirty="0" smtClean="0">
              <a:latin typeface="TradeGothic" pitchFamily="2" charset="0"/>
            </a:endParaRPr>
          </a:p>
          <a:p>
            <a:pPr marL="742950" lvl="1" indent="-285750">
              <a:buFont typeface="Wingdings" pitchFamily="2" charset="2"/>
              <a:buChar char="q"/>
            </a:pPr>
            <a:r>
              <a:rPr lang="en-US" sz="1400" dirty="0" smtClean="0">
                <a:latin typeface="TradeGothic" pitchFamily="2" charset="0"/>
              </a:rPr>
              <a:t>November 30</a:t>
            </a:r>
            <a:r>
              <a:rPr lang="en-US" sz="1400" baseline="30000" dirty="0" smtClean="0">
                <a:latin typeface="TradeGothic" pitchFamily="2" charset="0"/>
              </a:rPr>
              <a:t>th</a:t>
            </a:r>
            <a:r>
              <a:rPr lang="en-US" sz="1400" dirty="0" smtClean="0">
                <a:latin typeface="TradeGothic" pitchFamily="2" charset="0"/>
              </a:rPr>
              <a:t> </a:t>
            </a:r>
          </a:p>
          <a:p>
            <a:pPr marL="742950" lvl="1" indent="-285750">
              <a:buFont typeface="Wingdings" pitchFamily="2" charset="2"/>
              <a:buChar char="q"/>
            </a:pPr>
            <a:r>
              <a:rPr lang="en-US" sz="1400" dirty="0" smtClean="0">
                <a:latin typeface="TradeGothic" pitchFamily="2" charset="0"/>
              </a:rPr>
              <a:t>December 18</a:t>
            </a:r>
            <a:r>
              <a:rPr lang="en-US" sz="1400" baseline="30000" dirty="0" smtClean="0">
                <a:latin typeface="TradeGothic" pitchFamily="2" charset="0"/>
              </a:rPr>
              <a:t>th</a:t>
            </a:r>
            <a:r>
              <a:rPr lang="en-US" sz="1400" dirty="0" smtClean="0">
                <a:latin typeface="TradeGothic" pitchFamily="2" charset="0"/>
              </a:rPr>
              <a:t> </a:t>
            </a:r>
          </a:p>
          <a:p>
            <a:pPr marL="742950" lvl="1" indent="-285750">
              <a:buFont typeface="Wingdings" pitchFamily="2" charset="2"/>
              <a:buChar char="q"/>
            </a:pPr>
            <a:endParaRPr lang="en-US" dirty="0" smtClean="0">
              <a:latin typeface="TradeGothic" pitchFamily="2" charset="0"/>
            </a:endParaRPr>
          </a:p>
          <a:p>
            <a:pPr marL="800100" lvl="1" indent="-342900">
              <a:buFont typeface="+mj-lt"/>
              <a:buAutoNum type="arabicPeriod"/>
            </a:pPr>
            <a:endParaRPr lang="en-US" dirty="0" smtClean="0">
              <a:latin typeface="TradeGothic" pitchFamily="2" charset="0"/>
            </a:endParaRPr>
          </a:p>
        </p:txBody>
      </p:sp>
    </p:spTree>
    <p:extLst>
      <p:ext uri="{BB962C8B-B14F-4D97-AF65-F5344CB8AC3E}">
        <p14:creationId xmlns:p14="http://schemas.microsoft.com/office/powerpoint/2010/main" val="25610627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4629150" y="372545"/>
            <a:ext cx="4295776" cy="523220"/>
          </a:xfrm>
          <a:prstGeom prst="rect">
            <a:avLst/>
          </a:prstGeom>
          <a:noFill/>
        </p:spPr>
        <p:txBody>
          <a:bodyPr wrap="square" rtlCol="0">
            <a:spAutoFit/>
          </a:bodyPr>
          <a:lstStyle/>
          <a:p>
            <a:pPr algn="ctr"/>
            <a:r>
              <a:rPr lang="en-US" sz="2800" b="1" dirty="0" smtClean="0"/>
              <a:t>President’s Council</a:t>
            </a:r>
            <a:endParaRPr lang="en-US" sz="2800" b="1" dirty="0"/>
          </a:p>
        </p:txBody>
      </p:sp>
      <p:sp>
        <p:nvSpPr>
          <p:cNvPr id="3" name="TextBox 2"/>
          <p:cNvSpPr txBox="1"/>
          <p:nvPr/>
        </p:nvSpPr>
        <p:spPr>
          <a:xfrm>
            <a:off x="352424" y="1262539"/>
            <a:ext cx="4133851" cy="307777"/>
          </a:xfrm>
          <a:prstGeom prst="rect">
            <a:avLst/>
          </a:prstGeom>
          <a:noFill/>
        </p:spPr>
        <p:txBody>
          <a:bodyPr wrap="square" rtlCol="0">
            <a:spAutoFit/>
          </a:bodyPr>
          <a:lstStyle/>
          <a:p>
            <a:pPr lvl="2"/>
            <a:r>
              <a:rPr lang="en-US" sz="1400" dirty="0" smtClean="0"/>
              <a:t> </a:t>
            </a:r>
            <a:endParaRPr lang="en-US" sz="1400" dirty="0" smtClean="0"/>
          </a:p>
        </p:txBody>
      </p:sp>
      <p:sp>
        <p:nvSpPr>
          <p:cNvPr id="7" name="TextBox 6"/>
          <p:cNvSpPr txBox="1"/>
          <p:nvPr/>
        </p:nvSpPr>
        <p:spPr>
          <a:xfrm>
            <a:off x="4038600" y="1401367"/>
            <a:ext cx="4371975" cy="954107"/>
          </a:xfrm>
          <a:prstGeom prst="rect">
            <a:avLst/>
          </a:prstGeom>
          <a:noFill/>
        </p:spPr>
        <p:txBody>
          <a:bodyPr wrap="square" rtlCol="0">
            <a:spAutoFit/>
          </a:bodyPr>
          <a:lstStyle/>
          <a:p>
            <a:pPr lvl="1"/>
            <a:endParaRPr lang="en-US" sz="1400" dirty="0" smtClean="0"/>
          </a:p>
          <a:p>
            <a:pPr lvl="1"/>
            <a:endParaRPr lang="en-US" sz="1400" dirty="0" smtClean="0"/>
          </a:p>
          <a:p>
            <a:pPr lvl="1"/>
            <a:endParaRPr lang="en-US" sz="1400" dirty="0" smtClean="0"/>
          </a:p>
          <a:p>
            <a:pPr lvl="2"/>
            <a:r>
              <a:rPr lang="en-US" sz="1400" dirty="0" smtClean="0"/>
              <a:t> </a:t>
            </a:r>
            <a:endParaRPr lang="en-US" sz="1400" dirty="0" smtClean="0"/>
          </a:p>
        </p:txBody>
      </p:sp>
      <p:sp>
        <p:nvSpPr>
          <p:cNvPr id="9" name="TextBox 8"/>
          <p:cNvSpPr txBox="1"/>
          <p:nvPr/>
        </p:nvSpPr>
        <p:spPr>
          <a:xfrm>
            <a:off x="-314325" y="1114425"/>
            <a:ext cx="9344026" cy="5486117"/>
          </a:xfrm>
          <a:prstGeom prst="rect">
            <a:avLst/>
          </a:prstGeom>
          <a:noFill/>
        </p:spPr>
        <p:txBody>
          <a:bodyPr wrap="square" rtlCol="0">
            <a:spAutoFit/>
          </a:bodyPr>
          <a:lstStyle/>
          <a:p>
            <a:pPr lvl="1"/>
            <a:r>
              <a:rPr lang="en-US" sz="1400" b="1" u="sng" dirty="0" smtClean="0">
                <a:latin typeface="TradeGothic" pitchFamily="2" charset="0"/>
              </a:rPr>
              <a:t>Function</a:t>
            </a:r>
            <a:r>
              <a:rPr lang="en-US" sz="1400" dirty="0" smtClean="0">
                <a:latin typeface="TradeGothic" pitchFamily="2" charset="0"/>
              </a:rPr>
              <a:t>:</a:t>
            </a:r>
            <a:endParaRPr lang="en-US" sz="1400" dirty="0">
              <a:latin typeface="TradeGothic" pitchFamily="2" charset="0"/>
            </a:endParaRPr>
          </a:p>
          <a:p>
            <a:pPr lvl="1"/>
            <a:r>
              <a:rPr lang="en-US" sz="1400" dirty="0" smtClean="0">
                <a:latin typeface="TradeGothic" pitchFamily="2" charset="0"/>
              </a:rPr>
              <a:t>This committee meets monthly (typically the 3</a:t>
            </a:r>
            <a:r>
              <a:rPr lang="en-US" sz="1400" baseline="30000" dirty="0" smtClean="0">
                <a:latin typeface="TradeGothic" pitchFamily="2" charset="0"/>
              </a:rPr>
              <a:t>rd</a:t>
            </a:r>
            <a:r>
              <a:rPr lang="en-US" sz="1400" dirty="0" smtClean="0">
                <a:latin typeface="TradeGothic" pitchFamily="2" charset="0"/>
              </a:rPr>
              <a:t> week) </a:t>
            </a:r>
            <a:r>
              <a:rPr lang="en-US" sz="1400" dirty="0">
                <a:latin typeface="TradeGothic" pitchFamily="2" charset="0"/>
              </a:rPr>
              <a:t>or at the discretion of the President to discuss issues of overall organizational importance.  It is NOT an IT decision making body but it can provide recommendations that factor into IT and or membership/ network related concerns.  As there will now be internal forums for both IT and Membership/ Network, this space can be reserved for financial, planning, strategic, or other conversations that require the input and </a:t>
            </a:r>
            <a:r>
              <a:rPr lang="en-US" sz="1400" dirty="0" smtClean="0">
                <a:latin typeface="TradeGothic" pitchFamily="2" charset="0"/>
              </a:rPr>
              <a:t>participation </a:t>
            </a:r>
            <a:r>
              <a:rPr lang="en-US" sz="1400" dirty="0">
                <a:latin typeface="TradeGothic" pitchFamily="2" charset="0"/>
              </a:rPr>
              <a:t>of senior staff.  </a:t>
            </a:r>
          </a:p>
          <a:p>
            <a:pPr lvl="1"/>
            <a:endParaRPr lang="en-US" sz="1400" dirty="0" smtClean="0">
              <a:latin typeface="TradeGothic" pitchFamily="2" charset="0"/>
            </a:endParaRPr>
          </a:p>
          <a:p>
            <a:pPr lvl="1"/>
            <a:r>
              <a:rPr lang="en-US" sz="1400" b="1" u="sng" dirty="0" smtClean="0">
                <a:latin typeface="TradeGothic" pitchFamily="2" charset="0"/>
              </a:rPr>
              <a:t>Chair</a:t>
            </a:r>
            <a:r>
              <a:rPr lang="en-US" sz="1400" dirty="0" smtClean="0">
                <a:latin typeface="TradeGothic" pitchFamily="2" charset="0"/>
              </a:rPr>
              <a:t>:</a:t>
            </a:r>
            <a:endParaRPr lang="en-US" sz="1400" dirty="0">
              <a:latin typeface="TradeGothic" pitchFamily="2" charset="0"/>
            </a:endParaRPr>
          </a:p>
          <a:p>
            <a:pPr lvl="1"/>
            <a:r>
              <a:rPr lang="en-US" sz="1400" dirty="0">
                <a:latin typeface="TradeGothic" pitchFamily="2" charset="0"/>
              </a:rPr>
              <a:t>Steve Vetter, President &amp; CEO</a:t>
            </a:r>
          </a:p>
          <a:p>
            <a:pPr marL="1200150" lvl="2" indent="-285750">
              <a:buFont typeface="Wingdings" pitchFamily="2" charset="2"/>
              <a:buChar char="q"/>
            </a:pPr>
            <a:r>
              <a:rPr lang="en-US" sz="1400" dirty="0">
                <a:latin typeface="TradeGothic" pitchFamily="2" charset="0"/>
              </a:rPr>
              <a:t>Works in coordination with senior leadership and the Chief of Staff to set the meeting’s schedule and agenda. </a:t>
            </a:r>
          </a:p>
          <a:p>
            <a:pPr lvl="1"/>
            <a:endParaRPr lang="en-US" sz="1400" dirty="0" smtClean="0">
              <a:latin typeface="TradeGothic" pitchFamily="2" charset="0"/>
            </a:endParaRPr>
          </a:p>
          <a:p>
            <a:pPr lvl="1"/>
            <a:r>
              <a:rPr lang="en-US" sz="1400" b="1" u="sng" dirty="0" smtClean="0">
                <a:latin typeface="TradeGothic" pitchFamily="2" charset="0"/>
              </a:rPr>
              <a:t>Standing Members</a:t>
            </a:r>
            <a:r>
              <a:rPr lang="en-US" sz="1400" dirty="0" smtClean="0">
                <a:latin typeface="TradeGothic" pitchFamily="2" charset="0"/>
              </a:rPr>
              <a:t>:</a:t>
            </a:r>
          </a:p>
          <a:p>
            <a:pPr lvl="1"/>
            <a:r>
              <a:rPr lang="en-US" sz="1400" dirty="0" smtClean="0">
                <a:latin typeface="TradeGothic" pitchFamily="2" charset="0"/>
              </a:rPr>
              <a:t>Program/Unit Directors, VPs and Senior Management</a:t>
            </a:r>
          </a:p>
          <a:p>
            <a:pPr lvl="1"/>
            <a:r>
              <a:rPr lang="en-US" sz="1050" dirty="0" smtClean="0">
                <a:latin typeface="TradeGothic" pitchFamily="2" charset="0"/>
              </a:rPr>
              <a:t>(Peggy Carlson, Matt Clausen, Horacio Correa, Melissa Golloday, Michelle Nicholson, Carmen Peña, Alicia Santa, Sherrita Wilkins, Steve Vetter)</a:t>
            </a:r>
            <a:endParaRPr lang="en-US" sz="1050" dirty="0" smtClean="0">
              <a:latin typeface="TradeGothic" pitchFamily="2" charset="0"/>
            </a:endParaRPr>
          </a:p>
          <a:p>
            <a:pPr lvl="1"/>
            <a:endParaRPr lang="en-US" sz="1400" dirty="0" smtClean="0">
              <a:latin typeface="TradeGothic" pitchFamily="2" charset="0"/>
            </a:endParaRPr>
          </a:p>
          <a:p>
            <a:pPr lvl="1"/>
            <a:r>
              <a:rPr lang="en-US" sz="1400" b="1" u="sng" dirty="0" smtClean="0">
                <a:latin typeface="TradeGothic" pitchFamily="2" charset="0"/>
              </a:rPr>
              <a:t>Meeting Schedule</a:t>
            </a:r>
            <a:r>
              <a:rPr lang="en-US" sz="1400" dirty="0" smtClean="0">
                <a:latin typeface="TradeGothic" pitchFamily="2" charset="0"/>
              </a:rPr>
              <a:t>:</a:t>
            </a:r>
          </a:p>
          <a:p>
            <a:pPr marL="1200150" lvl="2" indent="-285750">
              <a:buFont typeface="Wingdings" pitchFamily="2" charset="2"/>
              <a:buChar char="q"/>
            </a:pPr>
            <a:r>
              <a:rPr lang="en-US" sz="1400" dirty="0">
                <a:latin typeface="TradeGothic" pitchFamily="2" charset="0"/>
              </a:rPr>
              <a:t>June </a:t>
            </a:r>
            <a:r>
              <a:rPr lang="en-US" sz="1400" dirty="0" smtClean="0">
                <a:latin typeface="TradeGothic" pitchFamily="2" charset="0"/>
              </a:rPr>
              <a:t>22</a:t>
            </a:r>
            <a:r>
              <a:rPr lang="en-US" sz="1400" baseline="30000" dirty="0" smtClean="0">
                <a:latin typeface="TradeGothic" pitchFamily="2" charset="0"/>
              </a:rPr>
              <a:t>th</a:t>
            </a:r>
            <a:r>
              <a:rPr lang="en-US" sz="1400" dirty="0" smtClean="0">
                <a:latin typeface="TradeGothic" pitchFamily="2" charset="0"/>
              </a:rPr>
              <a:t> </a:t>
            </a:r>
            <a:endParaRPr lang="en-US" sz="1400" dirty="0">
              <a:latin typeface="TradeGothic" pitchFamily="2" charset="0"/>
            </a:endParaRPr>
          </a:p>
          <a:p>
            <a:pPr marL="1200150" lvl="2" indent="-285750">
              <a:buFont typeface="Wingdings" pitchFamily="2" charset="2"/>
              <a:buChar char="q"/>
            </a:pPr>
            <a:r>
              <a:rPr lang="en-US" sz="1400" dirty="0" smtClean="0">
                <a:latin typeface="TradeGothic" pitchFamily="2" charset="0"/>
              </a:rPr>
              <a:t>July 20</a:t>
            </a:r>
            <a:r>
              <a:rPr lang="en-US" sz="1400" baseline="30000" dirty="0" smtClean="0">
                <a:latin typeface="TradeGothic" pitchFamily="2" charset="0"/>
              </a:rPr>
              <a:t>th</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August 17</a:t>
            </a:r>
            <a:r>
              <a:rPr lang="en-US" sz="1400" baseline="30000" dirty="0" smtClean="0">
                <a:latin typeface="TradeGothic" pitchFamily="2" charset="0"/>
              </a:rPr>
              <a:t>th</a:t>
            </a:r>
          </a:p>
          <a:p>
            <a:pPr marL="1200150" lvl="2" indent="-285750">
              <a:buFont typeface="Wingdings" pitchFamily="2" charset="2"/>
              <a:buChar char="q"/>
            </a:pPr>
            <a:r>
              <a:rPr lang="en-US" sz="1400" dirty="0" smtClean="0">
                <a:latin typeface="TradeGothic" pitchFamily="2" charset="0"/>
              </a:rPr>
              <a:t>September 14</a:t>
            </a:r>
            <a:r>
              <a:rPr lang="en-US" sz="1400" baseline="30000" dirty="0" smtClean="0">
                <a:latin typeface="TradeGothic" pitchFamily="2" charset="0"/>
              </a:rPr>
              <a:t>th</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October 19</a:t>
            </a:r>
            <a:r>
              <a:rPr lang="en-US" sz="1400" baseline="30000" dirty="0" smtClean="0">
                <a:latin typeface="TradeGothic" pitchFamily="2" charset="0"/>
              </a:rPr>
              <a:t>th</a:t>
            </a:r>
            <a:r>
              <a:rPr lang="en-US" sz="1400" dirty="0" smtClean="0">
                <a:latin typeface="TradeGothic" pitchFamily="2" charset="0"/>
              </a:rPr>
              <a:t> </a:t>
            </a:r>
          </a:p>
          <a:p>
            <a:pPr marL="1200150" lvl="2" indent="-285750">
              <a:buFont typeface="Wingdings" pitchFamily="2" charset="2"/>
              <a:buChar char="q"/>
            </a:pPr>
            <a:r>
              <a:rPr lang="en-US" sz="1400" dirty="0" smtClean="0">
                <a:latin typeface="TradeGothic" pitchFamily="2" charset="0"/>
              </a:rPr>
              <a:t>November 16</a:t>
            </a:r>
            <a:r>
              <a:rPr lang="en-US" sz="1400" baseline="30000" dirty="0" smtClean="0">
                <a:latin typeface="TradeGothic" pitchFamily="2" charset="0"/>
              </a:rPr>
              <a:t>th</a:t>
            </a:r>
            <a:endParaRPr lang="en-US" sz="1400" dirty="0" smtClean="0">
              <a:latin typeface="TradeGothic" pitchFamily="2" charset="0"/>
            </a:endParaRPr>
          </a:p>
          <a:p>
            <a:pPr marL="1200150" lvl="2" indent="-285750">
              <a:buFont typeface="Wingdings" pitchFamily="2" charset="2"/>
              <a:buChar char="q"/>
            </a:pPr>
            <a:r>
              <a:rPr lang="en-US" sz="1400" dirty="0" smtClean="0">
                <a:latin typeface="TradeGothic" pitchFamily="2" charset="0"/>
              </a:rPr>
              <a:t>December 14</a:t>
            </a:r>
            <a:r>
              <a:rPr lang="en-US" sz="1400" baseline="30000" dirty="0" smtClean="0">
                <a:latin typeface="TradeGothic" pitchFamily="2" charset="0"/>
              </a:rPr>
              <a:t>th</a:t>
            </a:r>
            <a:r>
              <a:rPr lang="en-US" sz="1400" dirty="0" smtClean="0">
                <a:latin typeface="TradeGothic" pitchFamily="2" charset="0"/>
              </a:rPr>
              <a:t> </a:t>
            </a:r>
            <a:endParaRPr lang="en-US" sz="1400" dirty="0" smtClean="0">
              <a:latin typeface="TradeGothic" pitchFamily="2" charset="0"/>
            </a:endParaRPr>
          </a:p>
          <a:p>
            <a:pPr marL="800100" lvl="1" indent="-342900">
              <a:buFont typeface="+mj-lt"/>
              <a:buAutoNum type="arabicPeriod"/>
            </a:pPr>
            <a:endParaRPr lang="en-US" dirty="0" smtClean="0">
              <a:latin typeface="TradeGothic" pitchFamily="2" charset="0"/>
            </a:endParaRPr>
          </a:p>
        </p:txBody>
      </p:sp>
    </p:spTree>
    <p:extLst>
      <p:ext uri="{BB962C8B-B14F-4D97-AF65-F5344CB8AC3E}">
        <p14:creationId xmlns:p14="http://schemas.microsoft.com/office/powerpoint/2010/main" val="16352435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4629150" y="372545"/>
            <a:ext cx="4295776" cy="523220"/>
          </a:xfrm>
          <a:prstGeom prst="rect">
            <a:avLst/>
          </a:prstGeom>
          <a:noFill/>
        </p:spPr>
        <p:txBody>
          <a:bodyPr wrap="square" rtlCol="0">
            <a:spAutoFit/>
          </a:bodyPr>
          <a:lstStyle/>
          <a:p>
            <a:pPr algn="ctr"/>
            <a:r>
              <a:rPr lang="en-US" sz="2800" b="1" dirty="0" smtClean="0"/>
              <a:t>IT Committee</a:t>
            </a:r>
            <a:endParaRPr lang="en-US" sz="2800" b="1" dirty="0"/>
          </a:p>
        </p:txBody>
      </p:sp>
      <p:sp>
        <p:nvSpPr>
          <p:cNvPr id="3" name="TextBox 2"/>
          <p:cNvSpPr txBox="1"/>
          <p:nvPr/>
        </p:nvSpPr>
        <p:spPr>
          <a:xfrm>
            <a:off x="352424" y="1262539"/>
            <a:ext cx="4133851" cy="307777"/>
          </a:xfrm>
          <a:prstGeom prst="rect">
            <a:avLst/>
          </a:prstGeom>
          <a:noFill/>
        </p:spPr>
        <p:txBody>
          <a:bodyPr wrap="square" rtlCol="0">
            <a:spAutoFit/>
          </a:bodyPr>
          <a:lstStyle/>
          <a:p>
            <a:pPr lvl="2"/>
            <a:r>
              <a:rPr lang="en-US" sz="1400" dirty="0" smtClean="0"/>
              <a:t> </a:t>
            </a:r>
            <a:endParaRPr lang="en-US" sz="1400" dirty="0" smtClean="0"/>
          </a:p>
        </p:txBody>
      </p:sp>
      <p:sp>
        <p:nvSpPr>
          <p:cNvPr id="7" name="TextBox 6"/>
          <p:cNvSpPr txBox="1"/>
          <p:nvPr/>
        </p:nvSpPr>
        <p:spPr>
          <a:xfrm>
            <a:off x="4038600" y="1401367"/>
            <a:ext cx="4371975" cy="954107"/>
          </a:xfrm>
          <a:prstGeom prst="rect">
            <a:avLst/>
          </a:prstGeom>
          <a:noFill/>
        </p:spPr>
        <p:txBody>
          <a:bodyPr wrap="square" rtlCol="0">
            <a:spAutoFit/>
          </a:bodyPr>
          <a:lstStyle/>
          <a:p>
            <a:pPr lvl="1"/>
            <a:endParaRPr lang="en-US" sz="1400" dirty="0" smtClean="0"/>
          </a:p>
          <a:p>
            <a:pPr lvl="1"/>
            <a:endParaRPr lang="en-US" sz="1400" dirty="0" smtClean="0"/>
          </a:p>
          <a:p>
            <a:pPr lvl="1"/>
            <a:endParaRPr lang="en-US" sz="1400" dirty="0" smtClean="0"/>
          </a:p>
          <a:p>
            <a:pPr lvl="2"/>
            <a:r>
              <a:rPr lang="en-US" sz="1400" dirty="0" smtClean="0"/>
              <a:t> </a:t>
            </a:r>
            <a:endParaRPr lang="en-US" sz="1400" dirty="0" smtClean="0"/>
          </a:p>
        </p:txBody>
      </p:sp>
      <p:sp>
        <p:nvSpPr>
          <p:cNvPr id="10" name="TextBox 9"/>
          <p:cNvSpPr txBox="1"/>
          <p:nvPr/>
        </p:nvSpPr>
        <p:spPr>
          <a:xfrm>
            <a:off x="-314325" y="1114425"/>
            <a:ext cx="9344026" cy="4031873"/>
          </a:xfrm>
          <a:prstGeom prst="rect">
            <a:avLst/>
          </a:prstGeom>
          <a:noFill/>
        </p:spPr>
        <p:txBody>
          <a:bodyPr wrap="square" rtlCol="0">
            <a:spAutoFit/>
          </a:bodyPr>
          <a:lstStyle/>
          <a:p>
            <a:pPr lvl="1"/>
            <a:r>
              <a:rPr lang="en-US" sz="1400" b="1" u="sng" dirty="0" smtClean="0">
                <a:latin typeface="TradeGothic" pitchFamily="2" charset="0"/>
              </a:rPr>
              <a:t>Function</a:t>
            </a:r>
            <a:r>
              <a:rPr lang="en-US" sz="1400" dirty="0" smtClean="0">
                <a:latin typeface="TradeGothic" pitchFamily="2" charset="0"/>
              </a:rPr>
              <a:t>:</a:t>
            </a:r>
            <a:endParaRPr lang="en-US" sz="1400" dirty="0">
              <a:latin typeface="TradeGothic" pitchFamily="2" charset="0"/>
            </a:endParaRPr>
          </a:p>
          <a:p>
            <a:pPr lvl="1"/>
            <a:r>
              <a:rPr lang="en-US" sz="1400" dirty="0" smtClean="0">
                <a:latin typeface="TradeGothic" pitchFamily="2" charset="0"/>
              </a:rPr>
              <a:t>This committee’ shares </a:t>
            </a:r>
            <a:r>
              <a:rPr lang="en-US" sz="1400" dirty="0">
                <a:latin typeface="TradeGothic" pitchFamily="2" charset="0"/>
              </a:rPr>
              <a:t>expertise on IT and technology issues within Partners.  The purpose of the committee is to provide recommendations to Sr. </a:t>
            </a:r>
            <a:r>
              <a:rPr lang="en-US" sz="1400" dirty="0" smtClean="0">
                <a:latin typeface="TradeGothic" pitchFamily="2" charset="0"/>
              </a:rPr>
              <a:t>Mgmt. </a:t>
            </a:r>
            <a:r>
              <a:rPr lang="en-US" sz="1400" dirty="0">
                <a:latin typeface="TradeGothic" pitchFamily="2" charset="0"/>
              </a:rPr>
              <a:t>and </a:t>
            </a:r>
            <a:r>
              <a:rPr lang="en-US" sz="1400" dirty="0" smtClean="0">
                <a:latin typeface="TradeGothic" pitchFamily="2" charset="0"/>
              </a:rPr>
              <a:t>the Communications Director </a:t>
            </a:r>
            <a:r>
              <a:rPr lang="en-US" sz="1400" dirty="0">
                <a:latin typeface="TradeGothic" pitchFamily="2" charset="0"/>
              </a:rPr>
              <a:t>as to how to start, close, implement, or otherwise </a:t>
            </a:r>
            <a:r>
              <a:rPr lang="en-US" sz="1400" dirty="0" smtClean="0">
                <a:latin typeface="TradeGothic" pitchFamily="2" charset="0"/>
              </a:rPr>
              <a:t>proceed </a:t>
            </a:r>
            <a:r>
              <a:rPr lang="en-US" sz="1400" dirty="0">
                <a:latin typeface="TradeGothic" pitchFamily="2" charset="0"/>
              </a:rPr>
              <a:t>with </a:t>
            </a:r>
            <a:r>
              <a:rPr lang="en-US" sz="1400" dirty="0" smtClean="0">
                <a:latin typeface="TradeGothic" pitchFamily="2" charset="0"/>
              </a:rPr>
              <a:t>technology </a:t>
            </a:r>
            <a:r>
              <a:rPr lang="en-US" sz="1400" dirty="0">
                <a:latin typeface="TradeGothic" pitchFamily="2" charset="0"/>
              </a:rPr>
              <a:t>related items.  This includes the website, databases, membership platforms, software, and other systems used or to be used by Partners staff.  This is NOT </a:t>
            </a:r>
            <a:r>
              <a:rPr lang="en-US" sz="1400" dirty="0" smtClean="0">
                <a:latin typeface="TradeGothic" pitchFamily="2" charset="0"/>
              </a:rPr>
              <a:t>a </a:t>
            </a:r>
            <a:r>
              <a:rPr lang="en-US" sz="1400" dirty="0">
                <a:latin typeface="TradeGothic" pitchFamily="2" charset="0"/>
              </a:rPr>
              <a:t>decision making body. </a:t>
            </a:r>
            <a:r>
              <a:rPr lang="en-US" sz="1400" dirty="0" smtClean="0">
                <a:latin typeface="TradeGothic" pitchFamily="2" charset="0"/>
              </a:rPr>
              <a:t>It </a:t>
            </a:r>
            <a:r>
              <a:rPr lang="en-US" sz="1400" dirty="0">
                <a:latin typeface="TradeGothic" pitchFamily="2" charset="0"/>
              </a:rPr>
              <a:t>IS an advisory and feedback body.  Decisions on tech matters are the sole responsibility of Sr. </a:t>
            </a:r>
            <a:r>
              <a:rPr lang="en-US" sz="1400" dirty="0" smtClean="0">
                <a:latin typeface="TradeGothic" pitchFamily="2" charset="0"/>
              </a:rPr>
              <a:t>Mgmt. </a:t>
            </a:r>
            <a:r>
              <a:rPr lang="en-US" sz="1400" dirty="0">
                <a:latin typeface="TradeGothic" pitchFamily="2" charset="0"/>
              </a:rPr>
              <a:t>in consultation with </a:t>
            </a:r>
            <a:r>
              <a:rPr lang="en-US" sz="1400" dirty="0" smtClean="0">
                <a:latin typeface="TradeGothic" pitchFamily="2" charset="0"/>
              </a:rPr>
              <a:t>Michelle</a:t>
            </a:r>
          </a:p>
          <a:p>
            <a:pPr lvl="1"/>
            <a:endParaRPr lang="en-US" sz="1400" dirty="0" smtClean="0">
              <a:latin typeface="TradeGothic" pitchFamily="2" charset="0"/>
            </a:endParaRPr>
          </a:p>
          <a:p>
            <a:pPr lvl="1"/>
            <a:r>
              <a:rPr lang="en-US" sz="1400" b="1" u="sng" dirty="0" smtClean="0">
                <a:latin typeface="TradeGothic" pitchFamily="2" charset="0"/>
              </a:rPr>
              <a:t>Chair</a:t>
            </a:r>
            <a:r>
              <a:rPr lang="en-US" sz="1400" dirty="0" smtClean="0">
                <a:latin typeface="TradeGothic" pitchFamily="2" charset="0"/>
              </a:rPr>
              <a:t>:</a:t>
            </a:r>
            <a:endParaRPr lang="en-US" sz="1400" dirty="0">
              <a:latin typeface="TradeGothic" pitchFamily="2" charset="0"/>
            </a:endParaRPr>
          </a:p>
          <a:p>
            <a:pPr lvl="1"/>
            <a:r>
              <a:rPr lang="en-US" sz="1400" dirty="0" smtClean="0">
                <a:latin typeface="TradeGothic" pitchFamily="2" charset="0"/>
              </a:rPr>
              <a:t>Horacio Correa, CFO &amp; VP of Operations</a:t>
            </a:r>
            <a:endParaRPr lang="en-US" sz="1400" dirty="0">
              <a:latin typeface="TradeGothic" pitchFamily="2" charset="0"/>
            </a:endParaRPr>
          </a:p>
          <a:p>
            <a:pPr marL="1200150" lvl="2" indent="-285750">
              <a:buFont typeface="Wingdings" pitchFamily="2" charset="2"/>
              <a:buChar char="q"/>
            </a:pPr>
            <a:r>
              <a:rPr lang="en-US" sz="1400" dirty="0">
                <a:latin typeface="TradeGothic" pitchFamily="2" charset="0"/>
              </a:rPr>
              <a:t>responsible for setting the </a:t>
            </a:r>
            <a:r>
              <a:rPr lang="en-US" sz="1400" dirty="0" smtClean="0">
                <a:latin typeface="TradeGothic" pitchFamily="2" charset="0"/>
              </a:rPr>
              <a:t>meeting’s </a:t>
            </a:r>
            <a:r>
              <a:rPr lang="en-US" sz="1400" dirty="0">
                <a:latin typeface="TradeGothic" pitchFamily="2" charset="0"/>
              </a:rPr>
              <a:t>schedule and agenda.</a:t>
            </a:r>
          </a:p>
          <a:p>
            <a:pPr lvl="1"/>
            <a:endParaRPr lang="en-US" sz="1400" dirty="0" smtClean="0">
              <a:latin typeface="TradeGothic" pitchFamily="2" charset="0"/>
            </a:endParaRPr>
          </a:p>
          <a:p>
            <a:pPr lvl="1"/>
            <a:r>
              <a:rPr lang="en-US" sz="1400" b="1" u="sng" dirty="0" smtClean="0">
                <a:latin typeface="TradeGothic" pitchFamily="2" charset="0"/>
              </a:rPr>
              <a:t>Standing Members</a:t>
            </a:r>
            <a:r>
              <a:rPr lang="en-US" sz="1400" dirty="0" smtClean="0">
                <a:latin typeface="TradeGothic" pitchFamily="2" charset="0"/>
              </a:rPr>
              <a:t>:</a:t>
            </a:r>
          </a:p>
          <a:p>
            <a:pPr lvl="1"/>
            <a:r>
              <a:rPr lang="en-US" sz="1400" dirty="0" smtClean="0">
                <a:latin typeface="TradeGothic" pitchFamily="2" charset="0"/>
              </a:rPr>
              <a:t>Ukiah Busch, Liz Calvey, Peggy Carlson, Horacio Correa, Michelle Nicholson, </a:t>
            </a:r>
            <a:r>
              <a:rPr lang="en-US" sz="1400" dirty="0">
                <a:latin typeface="TradeGothic" pitchFamily="2" charset="0"/>
              </a:rPr>
              <a:t>(</a:t>
            </a:r>
            <a:r>
              <a:rPr lang="en-US" sz="1400" dirty="0" smtClean="0">
                <a:latin typeface="TradeGothic" pitchFamily="2" charset="0"/>
              </a:rPr>
              <a:t>Steve Vetter as needed)</a:t>
            </a:r>
          </a:p>
          <a:p>
            <a:pPr lvl="1"/>
            <a:endParaRPr lang="en-US" sz="1400" b="1" u="sng" dirty="0" smtClean="0">
              <a:latin typeface="TradeGothic" pitchFamily="2" charset="0"/>
            </a:endParaRPr>
          </a:p>
          <a:p>
            <a:pPr lvl="1"/>
            <a:r>
              <a:rPr lang="en-US" sz="1400" b="1" u="sng" dirty="0" smtClean="0">
                <a:latin typeface="TradeGothic" pitchFamily="2" charset="0"/>
              </a:rPr>
              <a:t>Meeting Schedule</a:t>
            </a:r>
            <a:r>
              <a:rPr lang="en-US" sz="1400" dirty="0" smtClean="0">
                <a:latin typeface="TradeGothic" pitchFamily="2" charset="0"/>
              </a:rPr>
              <a:t>:</a:t>
            </a:r>
          </a:p>
          <a:p>
            <a:pPr marL="1200150" lvl="2" indent="-285750">
              <a:buFont typeface="Wingdings" pitchFamily="2" charset="2"/>
              <a:buChar char="q"/>
            </a:pPr>
            <a:r>
              <a:rPr lang="en-US" sz="1400" dirty="0" smtClean="0">
                <a:latin typeface="TradeGothic" pitchFamily="2" charset="0"/>
              </a:rPr>
              <a:t>Weekly</a:t>
            </a:r>
          </a:p>
          <a:p>
            <a:pPr marL="800100" lvl="1" indent="-342900">
              <a:buFont typeface="+mj-lt"/>
              <a:buAutoNum type="arabicPeriod"/>
            </a:pPr>
            <a:endParaRPr lang="en-US" dirty="0" smtClean="0">
              <a:latin typeface="TradeGothic" pitchFamily="2" charset="0"/>
            </a:endParaRPr>
          </a:p>
        </p:txBody>
      </p:sp>
    </p:spTree>
    <p:extLst>
      <p:ext uri="{BB962C8B-B14F-4D97-AF65-F5344CB8AC3E}">
        <p14:creationId xmlns:p14="http://schemas.microsoft.com/office/powerpoint/2010/main" val="4853776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ttps://fbcdn-profile-a.akamaihd.net/hprofile-ak-ash3/c9.0.162.162/s160x160/1000003_10152152033298678_531726537_a.png"/>
          <p:cNvPicPr/>
          <p:nvPr/>
        </p:nvPicPr>
        <p:blipFill>
          <a:blip r:embed="rId2">
            <a:extLst>
              <a:ext uri="{28A0092B-C50C-407E-A947-70E740481C1C}">
                <a14:useLocalDpi xmlns:a14="http://schemas.microsoft.com/office/drawing/2010/main" val="0"/>
              </a:ext>
            </a:extLst>
          </a:blip>
          <a:srcRect/>
          <a:stretch>
            <a:fillRect/>
          </a:stretch>
        </p:blipFill>
        <p:spPr bwMode="auto">
          <a:xfrm>
            <a:off x="3228974" y="0"/>
            <a:ext cx="1047751" cy="1114425"/>
          </a:xfrm>
          <a:prstGeom prst="rect">
            <a:avLst/>
          </a:prstGeom>
          <a:noFill/>
          <a:ln>
            <a:noFill/>
          </a:ln>
        </p:spPr>
      </p:pic>
      <p:sp>
        <p:nvSpPr>
          <p:cNvPr id="2" name="TextBox 1"/>
          <p:cNvSpPr txBox="1"/>
          <p:nvPr/>
        </p:nvSpPr>
        <p:spPr>
          <a:xfrm>
            <a:off x="4629150" y="248720"/>
            <a:ext cx="4295776" cy="954107"/>
          </a:xfrm>
          <a:prstGeom prst="rect">
            <a:avLst/>
          </a:prstGeom>
          <a:noFill/>
        </p:spPr>
        <p:txBody>
          <a:bodyPr wrap="square" rtlCol="0">
            <a:spAutoFit/>
          </a:bodyPr>
          <a:lstStyle/>
          <a:p>
            <a:pPr algn="ctr"/>
            <a:r>
              <a:rPr lang="en-US" sz="2800" b="1" dirty="0" smtClean="0"/>
              <a:t>Network/Membership</a:t>
            </a:r>
            <a:endParaRPr lang="en-US" sz="2400" b="1" dirty="0" smtClean="0"/>
          </a:p>
          <a:p>
            <a:pPr algn="ctr"/>
            <a:r>
              <a:rPr lang="en-US" sz="2800" b="1" dirty="0" smtClean="0"/>
              <a:t>Committee</a:t>
            </a:r>
            <a:endParaRPr lang="en-US" sz="2800" b="1" dirty="0"/>
          </a:p>
        </p:txBody>
      </p:sp>
      <p:sp>
        <p:nvSpPr>
          <p:cNvPr id="3" name="TextBox 2"/>
          <p:cNvSpPr txBox="1"/>
          <p:nvPr/>
        </p:nvSpPr>
        <p:spPr>
          <a:xfrm>
            <a:off x="352424" y="1262539"/>
            <a:ext cx="4133851" cy="307777"/>
          </a:xfrm>
          <a:prstGeom prst="rect">
            <a:avLst/>
          </a:prstGeom>
          <a:noFill/>
        </p:spPr>
        <p:txBody>
          <a:bodyPr wrap="square" rtlCol="0">
            <a:spAutoFit/>
          </a:bodyPr>
          <a:lstStyle/>
          <a:p>
            <a:pPr lvl="2"/>
            <a:r>
              <a:rPr lang="en-US" sz="1400" dirty="0" smtClean="0"/>
              <a:t> </a:t>
            </a:r>
            <a:endParaRPr lang="en-US" sz="1400" dirty="0" smtClean="0"/>
          </a:p>
        </p:txBody>
      </p:sp>
      <p:sp>
        <p:nvSpPr>
          <p:cNvPr id="7" name="TextBox 6"/>
          <p:cNvSpPr txBox="1"/>
          <p:nvPr/>
        </p:nvSpPr>
        <p:spPr>
          <a:xfrm>
            <a:off x="4038600" y="1401367"/>
            <a:ext cx="4371975" cy="954107"/>
          </a:xfrm>
          <a:prstGeom prst="rect">
            <a:avLst/>
          </a:prstGeom>
          <a:noFill/>
        </p:spPr>
        <p:txBody>
          <a:bodyPr wrap="square" rtlCol="0">
            <a:spAutoFit/>
          </a:bodyPr>
          <a:lstStyle/>
          <a:p>
            <a:pPr lvl="1"/>
            <a:endParaRPr lang="en-US" sz="1400" dirty="0" smtClean="0"/>
          </a:p>
          <a:p>
            <a:pPr lvl="1"/>
            <a:endParaRPr lang="en-US" sz="1400" dirty="0" smtClean="0"/>
          </a:p>
          <a:p>
            <a:pPr lvl="1"/>
            <a:endParaRPr lang="en-US" sz="1400" dirty="0" smtClean="0"/>
          </a:p>
          <a:p>
            <a:pPr lvl="2"/>
            <a:r>
              <a:rPr lang="en-US" sz="1400" dirty="0" smtClean="0"/>
              <a:t> </a:t>
            </a:r>
            <a:endParaRPr lang="en-US" sz="1400" dirty="0" smtClean="0"/>
          </a:p>
        </p:txBody>
      </p:sp>
      <p:sp>
        <p:nvSpPr>
          <p:cNvPr id="10" name="TextBox 9"/>
          <p:cNvSpPr txBox="1"/>
          <p:nvPr/>
        </p:nvSpPr>
        <p:spPr>
          <a:xfrm>
            <a:off x="-314325" y="1114425"/>
            <a:ext cx="9344026" cy="5109091"/>
          </a:xfrm>
          <a:prstGeom prst="rect">
            <a:avLst/>
          </a:prstGeom>
          <a:noFill/>
        </p:spPr>
        <p:txBody>
          <a:bodyPr wrap="square" rtlCol="0">
            <a:spAutoFit/>
          </a:bodyPr>
          <a:lstStyle/>
          <a:p>
            <a:pPr lvl="1"/>
            <a:r>
              <a:rPr lang="en-US" sz="1400" b="1" u="sng" dirty="0" smtClean="0">
                <a:latin typeface="TradeGothic" pitchFamily="2" charset="0"/>
              </a:rPr>
              <a:t>Function</a:t>
            </a:r>
            <a:r>
              <a:rPr lang="en-US" sz="1400" dirty="0" smtClean="0">
                <a:latin typeface="TradeGothic" pitchFamily="2" charset="0"/>
              </a:rPr>
              <a:t>:</a:t>
            </a:r>
            <a:endParaRPr lang="en-US" sz="1400" dirty="0">
              <a:latin typeface="TradeGothic" pitchFamily="2" charset="0"/>
            </a:endParaRPr>
          </a:p>
          <a:p>
            <a:pPr lvl="1"/>
            <a:r>
              <a:rPr lang="en-US" sz="1400" dirty="0" smtClean="0">
                <a:latin typeface="TradeGothic" pitchFamily="2" charset="0"/>
              </a:rPr>
              <a:t>This committee provide </a:t>
            </a:r>
            <a:r>
              <a:rPr lang="en-US" sz="1400" dirty="0">
                <a:latin typeface="TradeGothic" pitchFamily="2" charset="0"/>
              </a:rPr>
              <a:t>feedback around membership and network issues.  This would give programs and units a place to air concerns regarding how membership and network impact their programs or areas of responsibility.  All staff are welcome to participate in the membership and network taskforce, but participation will be especially important for staff serving as </a:t>
            </a:r>
            <a:r>
              <a:rPr lang="en-US" sz="1400" b="1" u="sng" dirty="0" smtClean="0">
                <a:latin typeface="TradeGothic" pitchFamily="2" charset="0"/>
              </a:rPr>
              <a:t>POC’s</a:t>
            </a:r>
            <a:r>
              <a:rPr lang="en-US" sz="1400" dirty="0" smtClean="0">
                <a:latin typeface="TradeGothic" pitchFamily="2" charset="0"/>
              </a:rPr>
              <a:t>. </a:t>
            </a:r>
            <a:r>
              <a:rPr lang="en-US" sz="1400" dirty="0">
                <a:latin typeface="TradeGothic" pitchFamily="2" charset="0"/>
              </a:rPr>
              <a:t>The </a:t>
            </a:r>
            <a:r>
              <a:rPr lang="en-US" sz="1400" dirty="0" smtClean="0">
                <a:latin typeface="TradeGothic" pitchFamily="2" charset="0"/>
              </a:rPr>
              <a:t>membership </a:t>
            </a:r>
            <a:r>
              <a:rPr lang="en-US" sz="1400" dirty="0">
                <a:latin typeface="TradeGothic" pitchFamily="2" charset="0"/>
              </a:rPr>
              <a:t>and network taskforce will NOT be the location for having technology conversations around membership—that will happen in the IT Working group, allowing this committee to focus exclusively on issues such as value propositions, benefits to membership, issues within the network, processes such as rechartering, intersections between programs and the network, etc.  </a:t>
            </a:r>
            <a:endParaRPr lang="en-US" sz="1400" dirty="0" smtClean="0">
              <a:latin typeface="TradeGothic" pitchFamily="2" charset="0"/>
            </a:endParaRPr>
          </a:p>
          <a:p>
            <a:pPr lvl="1"/>
            <a:endParaRPr lang="en-US" sz="1400" dirty="0">
              <a:latin typeface="TradeGothic" pitchFamily="2" charset="0"/>
            </a:endParaRPr>
          </a:p>
          <a:p>
            <a:pPr lvl="1"/>
            <a:r>
              <a:rPr lang="en-US" sz="1400" i="1" dirty="0" smtClean="0">
                <a:latin typeface="TradeGothic" pitchFamily="2" charset="0"/>
              </a:rPr>
              <a:t>*The roles and responsibilities of POCs will be shared separately.</a:t>
            </a:r>
          </a:p>
          <a:p>
            <a:pPr lvl="1"/>
            <a:endParaRPr lang="en-US" sz="1400" b="1" u="sng" dirty="0" smtClean="0">
              <a:latin typeface="TradeGothic" pitchFamily="2" charset="0"/>
            </a:endParaRPr>
          </a:p>
          <a:p>
            <a:pPr lvl="1"/>
            <a:r>
              <a:rPr lang="en-US" sz="1400" b="1" u="sng" dirty="0" smtClean="0">
                <a:latin typeface="TradeGothic" pitchFamily="2" charset="0"/>
              </a:rPr>
              <a:t>Chair</a:t>
            </a:r>
            <a:r>
              <a:rPr lang="en-US" sz="1400" dirty="0" smtClean="0">
                <a:latin typeface="TradeGothic" pitchFamily="2" charset="0"/>
              </a:rPr>
              <a:t>:</a:t>
            </a:r>
            <a:endParaRPr lang="en-US" sz="1400" dirty="0">
              <a:latin typeface="TradeGothic" pitchFamily="2" charset="0"/>
            </a:endParaRPr>
          </a:p>
          <a:p>
            <a:pPr lvl="1"/>
            <a:r>
              <a:rPr lang="en-US" sz="1400" dirty="0" smtClean="0">
                <a:latin typeface="TradeGothic" pitchFamily="2" charset="0"/>
              </a:rPr>
              <a:t>Michelle Nicholson, Director of Communications &amp; Network/Membership</a:t>
            </a:r>
            <a:endParaRPr lang="en-US" sz="1400" dirty="0">
              <a:latin typeface="TradeGothic" pitchFamily="2" charset="0"/>
            </a:endParaRPr>
          </a:p>
          <a:p>
            <a:pPr marL="1200150" lvl="2" indent="-285750">
              <a:buFont typeface="Wingdings" pitchFamily="2" charset="2"/>
              <a:buChar char="q"/>
            </a:pPr>
            <a:r>
              <a:rPr lang="en-US" sz="1400" dirty="0">
                <a:latin typeface="TradeGothic" pitchFamily="2" charset="0"/>
              </a:rPr>
              <a:t>responsible for setting the </a:t>
            </a:r>
            <a:r>
              <a:rPr lang="en-US" sz="1400" dirty="0" smtClean="0">
                <a:latin typeface="TradeGothic" pitchFamily="2" charset="0"/>
              </a:rPr>
              <a:t>meeting’s </a:t>
            </a:r>
            <a:r>
              <a:rPr lang="en-US" sz="1400" dirty="0">
                <a:latin typeface="TradeGothic" pitchFamily="2" charset="0"/>
              </a:rPr>
              <a:t>schedule and agenda.</a:t>
            </a:r>
          </a:p>
          <a:p>
            <a:pPr lvl="1"/>
            <a:endParaRPr lang="en-US" sz="1400" dirty="0" smtClean="0">
              <a:latin typeface="TradeGothic" pitchFamily="2" charset="0"/>
            </a:endParaRPr>
          </a:p>
          <a:p>
            <a:pPr lvl="1"/>
            <a:r>
              <a:rPr lang="en-US" sz="1400" b="1" u="sng" dirty="0" smtClean="0">
                <a:latin typeface="TradeGothic" pitchFamily="2" charset="0"/>
              </a:rPr>
              <a:t>Standing Members</a:t>
            </a:r>
            <a:r>
              <a:rPr lang="en-US" sz="1400" dirty="0" smtClean="0">
                <a:latin typeface="TradeGothic" pitchFamily="2" charset="0"/>
              </a:rPr>
              <a:t>:</a:t>
            </a:r>
          </a:p>
          <a:p>
            <a:pPr lvl="1"/>
            <a:r>
              <a:rPr lang="en-US" sz="1400" dirty="0" smtClean="0">
                <a:latin typeface="TradeGothic" pitchFamily="2" charset="0"/>
              </a:rPr>
              <a:t>Everyone in the newly combined Communications &amp; Network/Membership Unit + Staff POCs</a:t>
            </a:r>
          </a:p>
          <a:p>
            <a:pPr lvl="1"/>
            <a:r>
              <a:rPr lang="en-US" sz="1400" dirty="0" smtClean="0">
                <a:latin typeface="TradeGothic" pitchFamily="2" charset="0"/>
              </a:rPr>
              <a:t>(Horacio Correa and Steve Vetter will participate as needed)</a:t>
            </a:r>
          </a:p>
          <a:p>
            <a:pPr lvl="1"/>
            <a:endParaRPr lang="en-US" sz="1400" b="1" u="sng" dirty="0" smtClean="0">
              <a:latin typeface="TradeGothic" pitchFamily="2" charset="0"/>
            </a:endParaRPr>
          </a:p>
          <a:p>
            <a:pPr lvl="1"/>
            <a:r>
              <a:rPr lang="en-US" sz="1400" b="1" u="sng" dirty="0" smtClean="0">
                <a:latin typeface="TradeGothic" pitchFamily="2" charset="0"/>
              </a:rPr>
              <a:t>Meeting Schedule</a:t>
            </a:r>
            <a:r>
              <a:rPr lang="en-US" sz="1400" dirty="0" smtClean="0">
                <a:latin typeface="TradeGothic" pitchFamily="2" charset="0"/>
              </a:rPr>
              <a:t>:</a:t>
            </a:r>
          </a:p>
          <a:p>
            <a:pPr marL="1200150" lvl="2" indent="-285750">
              <a:buFont typeface="Wingdings" pitchFamily="2" charset="2"/>
              <a:buChar char="q"/>
            </a:pPr>
            <a:r>
              <a:rPr lang="en-US" sz="1400" dirty="0" smtClean="0">
                <a:latin typeface="TradeGothic" pitchFamily="2" charset="0"/>
              </a:rPr>
              <a:t>Weekly</a:t>
            </a:r>
          </a:p>
          <a:p>
            <a:pPr marL="800100" lvl="1" indent="-342900">
              <a:buFont typeface="+mj-lt"/>
              <a:buAutoNum type="arabicPeriod"/>
            </a:pPr>
            <a:endParaRPr lang="en-US" dirty="0" smtClean="0">
              <a:latin typeface="TradeGothic" pitchFamily="2" charset="0"/>
            </a:endParaRPr>
          </a:p>
        </p:txBody>
      </p:sp>
    </p:spTree>
    <p:extLst>
      <p:ext uri="{BB962C8B-B14F-4D97-AF65-F5344CB8AC3E}">
        <p14:creationId xmlns:p14="http://schemas.microsoft.com/office/powerpoint/2010/main" val="34611131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643425085"/>
              </p:ext>
            </p:extLst>
          </p:nvPr>
        </p:nvGraphicFramePr>
        <p:xfrm>
          <a:off x="225424" y="1226608"/>
          <a:ext cx="8747125" cy="4974167"/>
        </p:xfrm>
        <a:graphic>
          <a:graphicData uri="http://schemas.openxmlformats.org/drawingml/2006/table">
            <a:tbl>
              <a:tblPr firstRow="1" bandRow="1">
                <a:tableStyleId>{00A15C55-8517-42AA-B614-E9B94910E393}</a:tableStyleId>
              </a:tblPr>
              <a:tblGrid>
                <a:gridCol w="1175465"/>
                <a:gridCol w="6082310"/>
                <a:gridCol w="1489350"/>
              </a:tblGrid>
              <a:tr h="300666">
                <a:tc>
                  <a:txBody>
                    <a:bodyPr/>
                    <a:lstStyle/>
                    <a:p>
                      <a:r>
                        <a:rPr lang="en-US" sz="1400" i="0" dirty="0" smtClean="0">
                          <a:latin typeface="TradeGothic" pitchFamily="2" charset="0"/>
                        </a:rPr>
                        <a:t>Date </a:t>
                      </a:r>
                      <a:endParaRPr lang="en-US" sz="1400" i="0" dirty="0">
                        <a:latin typeface="TradeGothic" pitchFamily="2" charset="0"/>
                      </a:endParaRPr>
                    </a:p>
                  </a:txBody>
                  <a:tcPr/>
                </a:tc>
                <a:tc>
                  <a:txBody>
                    <a:bodyPr/>
                    <a:lstStyle/>
                    <a:p>
                      <a:r>
                        <a:rPr lang="en-US" sz="1400" b="1" i="0" kern="1200" dirty="0" smtClean="0">
                          <a:solidFill>
                            <a:schemeClr val="lt1"/>
                          </a:solidFill>
                          <a:latin typeface="TradeGothic" pitchFamily="2" charset="0"/>
                          <a:ea typeface="+mn-ea"/>
                          <a:cs typeface="+mn-cs"/>
                        </a:rPr>
                        <a:t>Activity </a:t>
                      </a:r>
                      <a:endParaRPr lang="en-US" sz="1400" b="1" i="0" kern="1200" dirty="0">
                        <a:solidFill>
                          <a:schemeClr val="lt1"/>
                        </a:solidFill>
                        <a:latin typeface="TradeGothic" pitchFamily="2" charset="0"/>
                        <a:ea typeface="+mn-ea"/>
                        <a:cs typeface="+mn-cs"/>
                      </a:endParaRPr>
                    </a:p>
                  </a:txBody>
                  <a:tcPr/>
                </a:tc>
                <a:tc>
                  <a:txBody>
                    <a:bodyPr/>
                    <a:lstStyle/>
                    <a:p>
                      <a:r>
                        <a:rPr lang="en-US" sz="1400" dirty="0" smtClean="0">
                          <a:latin typeface="TradeGothic" pitchFamily="2" charset="0"/>
                        </a:rPr>
                        <a:t>Lead(s)</a:t>
                      </a:r>
                      <a:endParaRPr lang="en-US" sz="1400" dirty="0">
                        <a:latin typeface="TradeGothic" pitchFamily="2" charset="0"/>
                      </a:endParaRPr>
                    </a:p>
                  </a:txBody>
                  <a:tcPr/>
                </a:tc>
              </a:tr>
              <a:tr h="784739">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June 4</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marR="0" lvl="0" indent="0">
                        <a:lnSpc>
                          <a:spcPct val="115000"/>
                        </a:lnSpc>
                        <a:spcBef>
                          <a:spcPts val="0"/>
                        </a:spcBef>
                        <a:spcAft>
                          <a:spcPts val="0"/>
                        </a:spcAft>
                        <a:buFont typeface="Symbol"/>
                        <a:buNone/>
                      </a:pPr>
                      <a:r>
                        <a:rPr lang="en-US" sz="1400" i="0" kern="1200" dirty="0" smtClean="0">
                          <a:solidFill>
                            <a:schemeClr val="dk1"/>
                          </a:solidFill>
                          <a:effectLst/>
                          <a:latin typeface="TradeGothic" pitchFamily="2" charset="0"/>
                          <a:ea typeface="Calibri"/>
                          <a:cs typeface="Times New Roman"/>
                        </a:rPr>
                        <a:t>Announce 2015 NEW Organizational Structure to DC Staff 		</a:t>
                      </a:r>
                    </a:p>
                    <a:p>
                      <a:pPr marL="0" marR="0" lvl="0" indent="0">
                        <a:lnSpc>
                          <a:spcPct val="115000"/>
                        </a:lnSpc>
                        <a:spcBef>
                          <a:spcPts val="0"/>
                        </a:spcBef>
                        <a:spcAft>
                          <a:spcPts val="0"/>
                        </a:spcAft>
                        <a:buFont typeface="Symbol"/>
                        <a:buNone/>
                      </a:pPr>
                      <a:r>
                        <a:rPr lang="en-US" sz="1400" i="0" kern="1200" dirty="0" smtClean="0">
                          <a:solidFill>
                            <a:schemeClr val="dk1"/>
                          </a:solidFill>
                          <a:effectLst/>
                          <a:latin typeface="TradeGothic" pitchFamily="2" charset="0"/>
                          <a:ea typeface="Calibri"/>
                          <a:cs typeface="Times New Roman"/>
                        </a:rPr>
                        <a:t>(begin feedback and adoption process) </a:t>
                      </a:r>
                    </a:p>
                    <a:p>
                      <a:pPr marL="0" indent="0">
                        <a:buFont typeface="Arial" pitchFamily="34" charset="0"/>
                        <a:buNone/>
                      </a:pPr>
                      <a:endParaRPr lang="en-US" sz="1400" i="0" kern="1200" dirty="0" smtClean="0">
                        <a:solidFill>
                          <a:schemeClr val="dk1"/>
                        </a:solidFill>
                        <a:effectLst/>
                        <a:latin typeface="TradeGothic" pitchFamily="2" charset="0"/>
                        <a:ea typeface="Calibri"/>
                        <a:cs typeface="Times New Roman"/>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smtClean="0">
                          <a:latin typeface="TradeGothic" pitchFamily="2" charset="0"/>
                        </a:rPr>
                        <a:t>Steve </a:t>
                      </a:r>
                    </a:p>
                  </a:txBody>
                  <a:tcPr/>
                </a:tc>
              </a:tr>
              <a:tr h="735203">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June 9 - 19</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indent="0">
                        <a:buFont typeface="Arial" pitchFamily="34" charset="0"/>
                        <a:buNone/>
                      </a:pPr>
                      <a:r>
                        <a:rPr lang="en-US" sz="1400" i="0" kern="1200" dirty="0" smtClean="0">
                          <a:solidFill>
                            <a:schemeClr val="dk1"/>
                          </a:solidFill>
                          <a:effectLst/>
                          <a:latin typeface="TradeGothic" pitchFamily="2" charset="0"/>
                          <a:ea typeface="Calibri"/>
                          <a:cs typeface="Times New Roman"/>
                        </a:rPr>
                        <a:t>Send feedback to Program/Units on 2015 Goals</a:t>
                      </a:r>
                      <a:r>
                        <a:rPr lang="en-US" sz="1400" i="0" kern="1200" baseline="0" dirty="0" smtClean="0">
                          <a:solidFill>
                            <a:schemeClr val="dk1"/>
                          </a:solidFill>
                          <a:effectLst/>
                          <a:latin typeface="TradeGothic" pitchFamily="2" charset="0"/>
                          <a:ea typeface="Calibri"/>
                          <a:cs typeface="Times New Roman"/>
                        </a:rPr>
                        <a:t> &amp; schedule meetings with Program/Unit Directors to review organizational priorities and provide in-person feedback on goals. </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dirty="0" smtClean="0">
                          <a:latin typeface="TradeGothic" pitchFamily="2" charset="0"/>
                        </a:rPr>
                        <a:t>Sherrita </a:t>
                      </a:r>
                    </a:p>
                  </a:txBody>
                  <a:tcPr/>
                </a:tc>
              </a:tr>
              <a:tr h="511133">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June 22</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i="0" dirty="0" smtClean="0">
                          <a:effectLst/>
                          <a:latin typeface="TradeGothic" pitchFamily="2" charset="0"/>
                          <a:ea typeface="Calibri"/>
                          <a:cs typeface="Times New Roman"/>
                        </a:rPr>
                        <a:t>Hold President’s Council Meeting to Share and Review Revised Mid-year Goals (team by team)</a:t>
                      </a:r>
                    </a:p>
                  </a:txBody>
                  <a:tcPr/>
                </a:tc>
                <a:tc>
                  <a:txBody>
                    <a:bodyPr/>
                    <a:lstStyle/>
                    <a:p>
                      <a:r>
                        <a:rPr lang="en-US" sz="1400" dirty="0" smtClean="0">
                          <a:latin typeface="TradeGothic" pitchFamily="2" charset="0"/>
                        </a:rPr>
                        <a:t>President’s Council</a:t>
                      </a:r>
                    </a:p>
                  </a:txBody>
                  <a:tcPr/>
                </a:tc>
              </a:tr>
              <a:tr h="763101">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June 30</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marR="0" lvl="0" indent="0">
                        <a:lnSpc>
                          <a:spcPct val="115000"/>
                        </a:lnSpc>
                        <a:spcBef>
                          <a:spcPts val="0"/>
                        </a:spcBef>
                        <a:spcAft>
                          <a:spcPts val="0"/>
                        </a:spcAft>
                        <a:buFont typeface="Symbol"/>
                        <a:buNone/>
                      </a:pPr>
                      <a:r>
                        <a:rPr lang="en-US" sz="1400" i="0" kern="1200" dirty="0" smtClean="0">
                          <a:solidFill>
                            <a:schemeClr val="dk1"/>
                          </a:solidFill>
                          <a:effectLst/>
                          <a:latin typeface="TradeGothic" pitchFamily="2" charset="0"/>
                          <a:ea typeface="Calibri"/>
                          <a:cs typeface="Times New Roman"/>
                        </a:rPr>
                        <a:t>Each Team Submits Final 2015 Goals. Begin Lifting Core 2015 Goals and Organizational Priorities into a Draft 2016-2018 Strategic Plan</a:t>
                      </a:r>
                    </a:p>
                  </a:txBody>
                  <a:tcPr/>
                </a:tc>
                <a:tc>
                  <a:txBody>
                    <a:bodyPr/>
                    <a:lstStyle/>
                    <a:p>
                      <a:r>
                        <a:rPr lang="en-US" sz="1400" dirty="0" smtClean="0">
                          <a:latin typeface="TradeGothic" pitchFamily="2" charset="0"/>
                        </a:rPr>
                        <a:t>Each Program/Unit</a:t>
                      </a:r>
                    </a:p>
                    <a:p>
                      <a:endParaRPr lang="en-US" sz="1400" dirty="0" smtClean="0">
                        <a:latin typeface="TradeGothic" pitchFamily="2" charset="0"/>
                      </a:endParaRPr>
                    </a:p>
                  </a:txBody>
                  <a:tcPr/>
                </a:tc>
              </a:tr>
              <a:tr h="762000">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July 7</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marR="0" lvl="0" indent="0">
                        <a:lnSpc>
                          <a:spcPct val="115000"/>
                        </a:lnSpc>
                        <a:spcBef>
                          <a:spcPts val="0"/>
                        </a:spcBef>
                        <a:spcAft>
                          <a:spcPts val="0"/>
                        </a:spcAft>
                        <a:buFont typeface="Symbol"/>
                        <a:buNone/>
                      </a:pPr>
                      <a:r>
                        <a:rPr lang="en-US" sz="1400" i="0" kern="1200" dirty="0" smtClean="0">
                          <a:solidFill>
                            <a:schemeClr val="dk1"/>
                          </a:solidFill>
                          <a:effectLst/>
                          <a:latin typeface="TradeGothic" pitchFamily="2" charset="0"/>
                          <a:ea typeface="Calibri"/>
                          <a:cs typeface="Times New Roman"/>
                        </a:rPr>
                        <a:t>Special Meeting of the Senior Executive</a:t>
                      </a:r>
                      <a:r>
                        <a:rPr lang="en-US" sz="1400" i="0" kern="1200" baseline="0" dirty="0" smtClean="0">
                          <a:solidFill>
                            <a:schemeClr val="dk1"/>
                          </a:solidFill>
                          <a:effectLst/>
                          <a:latin typeface="TradeGothic" pitchFamily="2" charset="0"/>
                          <a:ea typeface="Calibri"/>
                          <a:cs typeface="Times New Roman"/>
                        </a:rPr>
                        <a:t> Committee to Review &amp; Finalize 2015 Corporate Goals for Submission to the Board. </a:t>
                      </a:r>
                      <a:endParaRPr lang="en-US" sz="1400" i="0" kern="1200" dirty="0" smtClean="0">
                        <a:solidFill>
                          <a:schemeClr val="dk1"/>
                        </a:solidFill>
                        <a:effectLst/>
                        <a:latin typeface="TradeGothic" pitchFamily="2" charset="0"/>
                        <a:ea typeface="Calibri"/>
                        <a:cs typeface="Times New Roman"/>
                      </a:endParaRPr>
                    </a:p>
                  </a:txBody>
                  <a:tcPr/>
                </a:tc>
                <a:tc>
                  <a:txBody>
                    <a:bodyPr/>
                    <a:lstStyle/>
                    <a:p>
                      <a:r>
                        <a:rPr lang="en-US" sz="1400" dirty="0" smtClean="0">
                          <a:latin typeface="TradeGothic" pitchFamily="2" charset="0"/>
                        </a:rPr>
                        <a:t>Senior Exec Committee </a:t>
                      </a:r>
                      <a:endParaRPr lang="en-US" sz="1400" dirty="0" smtClean="0">
                        <a:latin typeface="TradeGothic" pitchFamily="2" charset="0"/>
                      </a:endParaRPr>
                    </a:p>
                  </a:txBody>
                  <a:tcPr/>
                </a:tc>
              </a:tr>
              <a:tr h="454780">
                <a:tc>
                  <a:txBody>
                    <a:bodyPr/>
                    <a:lstStyle/>
                    <a:p>
                      <a:pPr marL="0" algn="l" defTabSz="457200" rtl="0" eaLnBrk="1" latinLnBrk="0" hangingPunct="1"/>
                      <a:r>
                        <a:rPr lang="en-US" sz="1400" b="1" u="sng" kern="1200" dirty="0" smtClean="0">
                          <a:solidFill>
                            <a:schemeClr val="dk1"/>
                          </a:solidFill>
                          <a:effectLst/>
                          <a:latin typeface="TradeGothic" pitchFamily="2" charset="0"/>
                          <a:ea typeface="Calibri"/>
                          <a:cs typeface="Times New Roman"/>
                        </a:rPr>
                        <a:t>July 9</a:t>
                      </a:r>
                      <a:endParaRPr lang="en-US" sz="1400" b="1" u="sng" kern="1200" dirty="0">
                        <a:solidFill>
                          <a:schemeClr val="dk1"/>
                        </a:solidFill>
                        <a:effectLst/>
                        <a:latin typeface="TradeGothic" pitchFamily="2" charset="0"/>
                        <a:ea typeface="Calibri"/>
                        <a:cs typeface="Times New Roman"/>
                      </a:endParaRPr>
                    </a:p>
                  </a:txBody>
                  <a:tcPr/>
                </a:tc>
                <a:tc>
                  <a:txBody>
                    <a:bodyPr/>
                    <a:lstStyle/>
                    <a:p>
                      <a:pPr marL="0" marR="0" lvl="0" indent="0">
                        <a:lnSpc>
                          <a:spcPct val="115000"/>
                        </a:lnSpc>
                        <a:spcBef>
                          <a:spcPts val="0"/>
                        </a:spcBef>
                        <a:spcAft>
                          <a:spcPts val="0"/>
                        </a:spcAft>
                        <a:buFont typeface="Symbol"/>
                        <a:buNone/>
                      </a:pPr>
                      <a:r>
                        <a:rPr lang="en-US" sz="1400" i="0" dirty="0" smtClean="0">
                          <a:effectLst/>
                          <a:latin typeface="TradeGothic" pitchFamily="2" charset="0"/>
                          <a:ea typeface="Calibri"/>
                          <a:cs typeface="Times New Roman"/>
                        </a:rPr>
                        <a:t>Send Corporate Goals and Draft Strategic Plan to Boards</a:t>
                      </a:r>
                    </a:p>
                  </a:txBody>
                  <a:tcPr/>
                </a:tc>
                <a:tc>
                  <a:txBody>
                    <a:bodyPr/>
                    <a:lstStyle/>
                    <a:p>
                      <a:r>
                        <a:rPr lang="en-US" sz="1400" dirty="0" smtClean="0">
                          <a:latin typeface="TradeGothic" pitchFamily="2" charset="0"/>
                        </a:rPr>
                        <a:t>Sherrita</a:t>
                      </a:r>
                      <a:r>
                        <a:rPr lang="en-US" sz="1400" baseline="0" dirty="0" smtClean="0">
                          <a:latin typeface="TradeGothic" pitchFamily="2" charset="0"/>
                        </a:rPr>
                        <a:t> </a:t>
                      </a:r>
                      <a:endParaRPr lang="en-US" sz="1400" dirty="0" smtClean="0">
                        <a:latin typeface="TradeGothic" pitchFamily="2" charset="0"/>
                      </a:endParaRPr>
                    </a:p>
                  </a:txBody>
                  <a:tcPr/>
                </a:tc>
              </a:tr>
              <a:tr h="640595">
                <a:tc>
                  <a:txBody>
                    <a:bodyPr/>
                    <a:lstStyle/>
                    <a:p>
                      <a:r>
                        <a:rPr lang="en-US" sz="1400" b="1" u="sng" dirty="0" smtClean="0">
                          <a:effectLst/>
                          <a:latin typeface="TradeGothic" pitchFamily="2" charset="0"/>
                          <a:ea typeface="Calibri"/>
                          <a:cs typeface="Times New Roman"/>
                        </a:rPr>
                        <a:t>July 23 </a:t>
                      </a:r>
                      <a:endParaRPr lang="en-US" sz="1400" b="0" u="none" dirty="0">
                        <a:latin typeface="TradeGothic" pitchFamily="2" charset="0"/>
                      </a:endParaRPr>
                    </a:p>
                  </a:txBody>
                  <a:tcPr/>
                </a:tc>
                <a:tc>
                  <a:txBody>
                    <a:bodyPr/>
                    <a:lstStyle/>
                    <a:p>
                      <a:pPr marL="0" marR="0" lvl="0" indent="0" algn="l" defTabSz="457200" rtl="0" eaLnBrk="1" fontAlgn="auto" latinLnBrk="0" hangingPunct="1">
                        <a:lnSpc>
                          <a:spcPct val="115000"/>
                        </a:lnSpc>
                        <a:spcBef>
                          <a:spcPts val="0"/>
                        </a:spcBef>
                        <a:spcAft>
                          <a:spcPts val="0"/>
                        </a:spcAft>
                        <a:buClrTx/>
                        <a:buSzTx/>
                        <a:buFont typeface="Symbol"/>
                        <a:buNone/>
                        <a:tabLst/>
                        <a:defRPr/>
                      </a:pPr>
                      <a:r>
                        <a:rPr lang="en-US" sz="1400" i="1" dirty="0" smtClean="0">
                          <a:solidFill>
                            <a:srgbClr val="FF0000"/>
                          </a:solidFill>
                          <a:effectLst/>
                          <a:latin typeface="TradeGothic" pitchFamily="2" charset="0"/>
                          <a:ea typeface="Calibri"/>
                          <a:cs typeface="Times New Roman"/>
                        </a:rPr>
                        <a:t>Tentative:</a:t>
                      </a:r>
                      <a:r>
                        <a:rPr lang="en-US" sz="1400" i="1" dirty="0" smtClean="0">
                          <a:effectLst/>
                          <a:latin typeface="TradeGothic" pitchFamily="2" charset="0"/>
                          <a:ea typeface="Calibri"/>
                          <a:cs typeface="Times New Roman"/>
                        </a:rPr>
                        <a:t> </a:t>
                      </a:r>
                      <a:r>
                        <a:rPr lang="en-US" sz="1400" i="0" dirty="0" smtClean="0">
                          <a:effectLst/>
                          <a:latin typeface="TradeGothic" pitchFamily="2" charset="0"/>
                          <a:ea typeface="Calibri"/>
                          <a:cs typeface="Times New Roman"/>
                        </a:rPr>
                        <a:t>Joint International &amp; Foundation Board Meeting</a:t>
                      </a:r>
                    </a:p>
                  </a:txBody>
                  <a:tcPr/>
                </a:tc>
                <a:tc>
                  <a:txBody>
                    <a:bodyPr/>
                    <a:lstStyle/>
                    <a:p>
                      <a:r>
                        <a:rPr lang="en-US" sz="1400" dirty="0" smtClean="0">
                          <a:latin typeface="TradeGothic" pitchFamily="2" charset="0"/>
                        </a:rPr>
                        <a:t>Sherrita</a:t>
                      </a:r>
                      <a:endParaRPr lang="en-US" sz="1400" dirty="0" smtClean="0">
                        <a:latin typeface="TradeGothic" pitchFamily="2" charset="0"/>
                      </a:endParaRPr>
                    </a:p>
                  </a:txBody>
                  <a:tcPr/>
                </a:tc>
              </a:tr>
            </a:tbl>
          </a:graphicData>
        </a:graphic>
      </p:graphicFrame>
      <p:sp>
        <p:nvSpPr>
          <p:cNvPr id="7" name="Title 4"/>
          <p:cNvSpPr>
            <a:spLocks noGrp="1"/>
          </p:cNvSpPr>
          <p:nvPr>
            <p:ph type="ctrTitle"/>
          </p:nvPr>
        </p:nvSpPr>
        <p:spPr>
          <a:xfrm>
            <a:off x="3838575" y="203600"/>
            <a:ext cx="5034491" cy="778533"/>
          </a:xfrm>
        </p:spPr>
        <p:txBody>
          <a:bodyPr>
            <a:noAutofit/>
          </a:bodyPr>
          <a:lstStyle/>
          <a:p>
            <a:r>
              <a:rPr lang="en-US" sz="2000" b="1" dirty="0" smtClean="0">
                <a:solidFill>
                  <a:schemeClr val="tx1"/>
                </a:solidFill>
                <a:latin typeface="Memphis Medium" pitchFamily="2" charset="0"/>
              </a:rPr>
              <a:t>NEW </a:t>
            </a:r>
            <a:r>
              <a:rPr lang="en-US" sz="2000" b="1" dirty="0" smtClean="0">
                <a:solidFill>
                  <a:schemeClr val="tx1"/>
                </a:solidFill>
                <a:latin typeface="Memphis Medium" pitchFamily="2" charset="0"/>
              </a:rPr>
              <a:t>2015 </a:t>
            </a:r>
            <a:r>
              <a:rPr lang="en-US" sz="2000" b="1" dirty="0" smtClean="0">
                <a:solidFill>
                  <a:schemeClr val="tx1"/>
                </a:solidFill>
                <a:latin typeface="Memphis Medium" pitchFamily="2" charset="0"/>
              </a:rPr>
              <a:t>Organizational Structure &amp; Midyear Goals Review Process </a:t>
            </a:r>
            <a:endParaRPr lang="en-US" sz="2000" b="1" dirty="0">
              <a:solidFill>
                <a:schemeClr val="tx1"/>
              </a:solidFill>
              <a:latin typeface="Memphis Medium" pitchFamily="2" charset="0"/>
            </a:endParaRPr>
          </a:p>
        </p:txBody>
      </p:sp>
    </p:spTree>
    <p:extLst>
      <p:ext uri="{BB962C8B-B14F-4D97-AF65-F5344CB8AC3E}">
        <p14:creationId xmlns:p14="http://schemas.microsoft.com/office/powerpoint/2010/main" val="1862621253"/>
      </p:ext>
    </p:extLst>
  </p:cSld>
  <p:clrMapOvr>
    <a:masterClrMapping/>
  </p:clrMapOvr>
</p:sld>
</file>

<file path=ppt/theme/theme1.xml><?xml version="1.0" encoding="utf-8"?>
<a:theme xmlns:a="http://schemas.openxmlformats.org/drawingml/2006/main" name="PartnersPPTTemplate">
  <a:themeElements>
    <a:clrScheme name="Custom 1">
      <a:dk1>
        <a:sysClr val="windowText" lastClr="000000"/>
      </a:dk1>
      <a:lt1>
        <a:sysClr val="window" lastClr="FFFFFF"/>
      </a:lt1>
      <a:dk2>
        <a:srgbClr val="474822"/>
      </a:dk2>
      <a:lt2>
        <a:srgbClr val="FFFFFF"/>
      </a:lt2>
      <a:accent1>
        <a:srgbClr val="E54721"/>
      </a:accent1>
      <a:accent2>
        <a:srgbClr val="474822"/>
      </a:accent2>
      <a:accent3>
        <a:srgbClr val="F7AE2E"/>
      </a:accent3>
      <a:accent4>
        <a:srgbClr val="8E991A"/>
      </a:accent4>
      <a:accent5>
        <a:srgbClr val="007198"/>
      </a:accent5>
      <a:accent6>
        <a:srgbClr val="5B015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1" ma:contentTypeDescription="Create a new document." ma:contentTypeScope="" ma:versionID="acd556ae07fa19f48e80b51b5070dad1">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dc96546954f3f270c213e8ea1cb1272"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19BA06B-6B19-4D25-ACFB-40FF288414CD}"/>
</file>

<file path=customXml/itemProps2.xml><?xml version="1.0" encoding="utf-8"?>
<ds:datastoreItem xmlns:ds="http://schemas.openxmlformats.org/officeDocument/2006/customXml" ds:itemID="{8C369814-F9F9-4763-BCFF-0C9C80AE8766}"/>
</file>

<file path=customXml/itemProps3.xml><?xml version="1.0" encoding="utf-8"?>
<ds:datastoreItem xmlns:ds="http://schemas.openxmlformats.org/officeDocument/2006/customXml" ds:itemID="{2C943F97-34CB-4CE6-A50A-1B5EF87B8F69}"/>
</file>

<file path=docProps/app.xml><?xml version="1.0" encoding="utf-8"?>
<Properties xmlns="http://schemas.openxmlformats.org/officeDocument/2006/extended-properties" xmlns:vt="http://schemas.openxmlformats.org/officeDocument/2006/docPropsVTypes">
  <Template>PartnersPPTTemplate</Template>
  <TotalTime>5067</TotalTime>
  <Words>283</Words>
  <Application>Microsoft Office PowerPoint</Application>
  <PresentationFormat>On-screen Show (4:3)</PresentationFormat>
  <Paragraphs>149</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PartnersPPTTemplate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NEW 2015 Organizational Structure &amp; Midyear Goals Review Process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M. Trimarchi</dc:creator>
  <cp:lastModifiedBy>Sherrita Wilkins</cp:lastModifiedBy>
  <cp:revision>238</cp:revision>
  <cp:lastPrinted>2015-06-04T17:01:26Z</cp:lastPrinted>
  <dcterms:created xsi:type="dcterms:W3CDTF">2012-08-01T19:26:25Z</dcterms:created>
  <dcterms:modified xsi:type="dcterms:W3CDTF">2015-06-04T17:52:17Z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505800</vt:r8>
  </property>
</Properties>
</file>