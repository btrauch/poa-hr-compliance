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handoutMasters/handoutMaster1.xml" ContentType="application/vnd.openxmlformats-officedocument.presentationml.handoutMaster+xml"/>
  <Override PartName="/ppt/charts/chart1.xml" ContentType="application/vnd.openxmlformats-officedocument.drawingml.chart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olors1.xml" ContentType="application/vnd.ms-office.chartcolorstyle+xml"/>
  <Override PartName="/ppt/charts/style1.xml" ContentType="application/vnd.ms-office.chartstyle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59" r:id="rId2"/>
    <p:sldId id="283" r:id="rId3"/>
    <p:sldId id="271" r:id="rId4"/>
    <p:sldId id="268" r:id="rId5"/>
    <p:sldId id="269" r:id="rId6"/>
    <p:sldId id="276" r:id="rId7"/>
    <p:sldId id="272" r:id="rId8"/>
    <p:sldId id="278" r:id="rId9"/>
    <p:sldId id="279" r:id="rId10"/>
    <p:sldId id="262" r:id="rId11"/>
    <p:sldId id="277" r:id="rId12"/>
    <p:sldId id="282" r:id="rId13"/>
    <p:sldId id="281" r:id="rId14"/>
    <p:sldId id="280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15386EB-131E-2441-9F30-10B2D8BD703C}">
          <p14:sldIdLst>
            <p14:sldId id="259"/>
            <p14:sldId id="283"/>
            <p14:sldId id="271"/>
            <p14:sldId id="268"/>
            <p14:sldId id="269"/>
            <p14:sldId id="276"/>
            <p14:sldId id="272"/>
            <p14:sldId id="278"/>
            <p14:sldId id="279"/>
            <p14:sldId id="262"/>
            <p14:sldId id="277"/>
            <p14:sldId id="282"/>
            <p14:sldId id="281"/>
            <p14:sldId id="280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0F0"/>
    <a:srgbClr val="FBAD26"/>
    <a:srgbClr val="107EA6"/>
    <a:srgbClr val="F20029"/>
    <a:srgbClr val="00A7D7"/>
    <a:srgbClr val="F15D22"/>
    <a:srgbClr val="EB441B"/>
    <a:srgbClr val="72492D"/>
    <a:srgbClr val="7C3822"/>
    <a:srgbClr val="0054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9" autoAdjust="0"/>
    <p:restoredTop sz="94350" autoAdjust="0"/>
  </p:normalViewPr>
  <p:slideViewPr>
    <p:cSldViewPr snapToGrid="0" snapToObjects="1">
      <p:cViewPr>
        <p:scale>
          <a:sx n="87" d="100"/>
          <a:sy n="87" d="100"/>
        </p:scale>
        <p:origin x="-1253" y="-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34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Style" Target="style1.xml"/><Relationship Id="rId2" Type="http://schemas.microsoft.com/office/2011/relationships/chartColorStyle" Target="colors1.xml"/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Steps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  <a:sp3d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4FA3-4D55-90C0-67CB8102908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  <a:effectLst/>
              <a:sp3d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4-4FA3-4D55-90C0-67CB8102908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/>
              <a:sp3d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4FA3-4D55-90C0-67CB8102908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/>
              <a:sp3d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6-4FA3-4D55-90C0-67CB8102908E}"/>
              </c:ext>
            </c:extLst>
          </c:dPt>
          <c:dLbls>
            <c:dLbl>
              <c:idx val="0"/>
              <c:layout>
                <c:manualLayout>
                  <c:x val="2.0363408521303257E-2"/>
                  <c:y val="-6.25E-2"/>
                </c:manualLayout>
              </c:layout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0964912280701754E-2"/>
                  <c:y val="-4.3750000000000032E-2"/>
                </c:manualLayout>
              </c:layout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9.3984962406015032E-3"/>
                  <c:y val="-6.25E-2"/>
                </c:manualLayout>
              </c:layout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1.7230576441102756E-2"/>
                  <c:y val="-3.4374999999999968E-2"/>
                </c:manualLayout>
              </c:layout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  <c:pt idx="3">
                  <c:v>Week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234755</c:v>
                </c:pt>
                <c:pt idx="1">
                  <c:v>274174</c:v>
                </c:pt>
                <c:pt idx="2">
                  <c:v>225990</c:v>
                </c:pt>
                <c:pt idx="3">
                  <c:v>276658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4FA3-4D55-90C0-67CB810290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43692416"/>
        <c:axId val="43693952"/>
        <c:axId val="0"/>
      </c:bar3DChart>
      <c:catAx>
        <c:axId val="43692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693952"/>
        <c:crosses val="autoZero"/>
        <c:auto val="1"/>
        <c:lblAlgn val="ctr"/>
        <c:lblOffset val="100"/>
        <c:noMultiLvlLbl val="0"/>
      </c:catAx>
      <c:valAx>
        <c:axId val="43693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6924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7A4E6E-29E7-184B-A326-CC2DCCCA3E86}" type="datetimeFigureOut">
              <a:rPr lang="en-US" smtClean="0"/>
              <a:t>8/13/2018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30909D-415D-4A4A-8A76-A2874E320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3013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936A7F-32CE-4148-9637-F356B0271D12}" type="datetimeFigureOut">
              <a:rPr lang="en-US" smtClean="0"/>
              <a:t>8/13/2018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0F363-85DC-8841-8385-107C07463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551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40F363-85DC-8841-8385-107C07463BE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3058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40F363-85DC-8841-8385-107C07463BE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302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23 – 28 miles per week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40F363-85DC-8841-8385-107C07463BE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3224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Prize: Groupon for Unlimited Yoga Classes for a Month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40F363-85DC-8841-8385-107C07463BE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4949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https://www.active.com/washington-dc/walking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40F363-85DC-8841-8385-107C07463BE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1217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https://www.active.com/washington-dc/walking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40F363-85DC-8841-8385-107C07463BE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7672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https://www.active.com/washington-dc/walking</a:t>
            </a:r>
          </a:p>
          <a:p>
            <a:endParaRPr lang="en-US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p.excitem.com/s/presentation/</a:t>
            </a:r>
            <a:r>
              <a:rPr lang="en-US" dirty="0" err="1"/>
              <a:t>poll?eId</a:t>
            </a:r>
            <a:r>
              <a:rPr lang="en-US" dirty="0"/>
              <a:t>=c99486c4a533e0d4f4413d4ed4c614de040346d7c1a363f5ec52bb7205bd23a9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40F363-85DC-8841-8385-107C07463BE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080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dirty="0"/>
              <a:t>Click to edit Master subtitle style</a:t>
            </a:r>
            <a:endParaRPr lang="en-US" dirty="0"/>
          </a:p>
        </p:txBody>
      </p:sp>
      <p:pic>
        <p:nvPicPr>
          <p:cNvPr id="7" name="Picture 6" descr="Textile-Block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7" r="2859" b="2365"/>
          <a:stretch/>
        </p:blipFill>
        <p:spPr>
          <a:xfrm>
            <a:off x="-1" y="-32869"/>
            <a:ext cx="9149995" cy="1918287"/>
          </a:xfrm>
          <a:prstGeom prst="rect">
            <a:avLst/>
          </a:prstGeom>
        </p:spPr>
      </p:pic>
      <p:pic>
        <p:nvPicPr>
          <p:cNvPr id="8" name="Picture 7" descr="Partners-Logo_White_transparent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42" y="572356"/>
            <a:ext cx="3613915" cy="66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581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extile-Block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28" t="1" r="13570" b="684"/>
          <a:stretch/>
        </p:blipFill>
        <p:spPr>
          <a:xfrm>
            <a:off x="0" y="1475619"/>
            <a:ext cx="9143999" cy="26125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2185687"/>
            <a:ext cx="9143999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x-none" dirty="0"/>
              <a:t>Section Header</a:t>
            </a:r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-1" y="5757333"/>
            <a:ext cx="9144001" cy="1257905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652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391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/>
          <a:srcRect l="-216" t="10376" b="37974"/>
          <a:stretch/>
        </p:blipFill>
        <p:spPr>
          <a:xfrm>
            <a:off x="-13654" y="1996973"/>
            <a:ext cx="9157654" cy="20057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22356"/>
            <a:ext cx="9144000" cy="1362075"/>
          </a:xfrm>
        </p:spPr>
        <p:txBody>
          <a:bodyPr anchor="t"/>
          <a:lstStyle>
            <a:lvl1pPr algn="ctr">
              <a:defRPr sz="4000" b="1" cap="all"/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061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8/13/2018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504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8/13/2018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92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8/13/2018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633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8/13/2018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450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8/13/2018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982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x-none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8/13/2018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097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8/13/2018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286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8/13/2018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6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Title (Memphis Medium)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040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Content (TradeGothic)</a:t>
            </a:r>
          </a:p>
          <a:p>
            <a:pPr lvl="0"/>
            <a:endParaRPr lang="x-none" dirty="0"/>
          </a:p>
          <a:p>
            <a:pPr lvl="0"/>
            <a:r>
              <a:rPr lang="x-none" dirty="0"/>
              <a:t>Content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grpSp>
        <p:nvGrpSpPr>
          <p:cNvPr id="5" name="Group 4"/>
          <p:cNvGrpSpPr/>
          <p:nvPr userDrawn="1"/>
        </p:nvGrpSpPr>
        <p:grpSpPr>
          <a:xfrm>
            <a:off x="0" y="5731732"/>
            <a:ext cx="9247089" cy="1126267"/>
            <a:chOff x="0" y="5731732"/>
            <a:chExt cx="9247089" cy="1126267"/>
          </a:xfrm>
        </p:grpSpPr>
        <p:grpSp>
          <p:nvGrpSpPr>
            <p:cNvPr id="4" name="Group 3"/>
            <p:cNvGrpSpPr/>
            <p:nvPr userDrawn="1"/>
          </p:nvGrpSpPr>
          <p:grpSpPr>
            <a:xfrm>
              <a:off x="0" y="5731732"/>
              <a:ext cx="9144000" cy="1126267"/>
              <a:chOff x="0" y="5731732"/>
              <a:chExt cx="9144000" cy="1126267"/>
            </a:xfrm>
          </p:grpSpPr>
          <p:pic>
            <p:nvPicPr>
              <p:cNvPr id="12" name="Picture 11" descr="Textile-Block"/>
              <p:cNvPicPr>
                <a:picLocks noChangeAspect="1"/>
              </p:cNvPicPr>
              <p:nvPr userDrawn="1"/>
            </p:nvPicPr>
            <p:blipFill rotWithShape="1"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087" t="1" r="2859" b="42638"/>
              <a:stretch/>
            </p:blipFill>
            <p:spPr>
              <a:xfrm>
                <a:off x="0" y="5731732"/>
                <a:ext cx="9144000" cy="1126267"/>
              </a:xfrm>
              <a:prstGeom prst="rect">
                <a:avLst/>
              </a:prstGeom>
            </p:spPr>
          </p:pic>
          <p:pic>
            <p:nvPicPr>
              <p:cNvPr id="9" name="Picture 8" descr="Partners-Logo_White_transparent.png"/>
              <p:cNvPicPr>
                <a:picLocks noChangeAspect="1"/>
              </p:cNvPicPr>
              <p:nvPr userDrawn="1"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57200" y="6279131"/>
                <a:ext cx="2803280" cy="513001"/>
              </a:xfrm>
              <a:prstGeom prst="rect">
                <a:avLst/>
              </a:prstGeom>
            </p:spPr>
          </p:pic>
        </p:grpSp>
        <p:grpSp>
          <p:nvGrpSpPr>
            <p:cNvPr id="18" name="Group 17"/>
            <p:cNvGrpSpPr/>
            <p:nvPr userDrawn="1"/>
          </p:nvGrpSpPr>
          <p:grpSpPr>
            <a:xfrm>
              <a:off x="3981326" y="6415008"/>
              <a:ext cx="5265763" cy="314795"/>
              <a:chOff x="3981326" y="6415008"/>
              <a:chExt cx="5265763" cy="314795"/>
            </a:xfrm>
          </p:grpSpPr>
          <p:grpSp>
            <p:nvGrpSpPr>
              <p:cNvPr id="14" name="Group 13"/>
              <p:cNvGrpSpPr/>
              <p:nvPr userDrawn="1"/>
            </p:nvGrpSpPr>
            <p:grpSpPr>
              <a:xfrm>
                <a:off x="3981326" y="6422800"/>
                <a:ext cx="5265763" cy="276999"/>
                <a:chOff x="3981326" y="6422800"/>
                <a:chExt cx="5265763" cy="276999"/>
              </a:xfrm>
            </p:grpSpPr>
            <p:sp>
              <p:nvSpPr>
                <p:cNvPr id="15" name="Rectangle 14"/>
                <p:cNvSpPr/>
                <p:nvPr/>
              </p:nvSpPr>
              <p:spPr>
                <a:xfrm>
                  <a:off x="3981326" y="6422800"/>
                  <a:ext cx="5265763" cy="27699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sz="1200" dirty="0" err="1">
                      <a:solidFill>
                        <a:schemeClr val="bg1"/>
                      </a:solidFill>
                      <a:latin typeface="Trade Gothic"/>
                      <a:cs typeface="Trade Gothic"/>
                    </a:rPr>
                    <a:t>www.partners.net</a:t>
                  </a:r>
                  <a:r>
                    <a:rPr lang="en-US" sz="1200" dirty="0">
                      <a:solidFill>
                        <a:schemeClr val="bg1"/>
                      </a:solidFill>
                      <a:latin typeface="Trade Gothic"/>
                      <a:cs typeface="Trade Gothic"/>
                    </a:rPr>
                    <a:t>   |       @</a:t>
                  </a:r>
                  <a:r>
                    <a:rPr lang="en-US" sz="1200" dirty="0" err="1">
                      <a:solidFill>
                        <a:schemeClr val="bg1"/>
                      </a:solidFill>
                      <a:latin typeface="Trade Gothic"/>
                      <a:cs typeface="Trade Gothic"/>
                    </a:rPr>
                    <a:t>PartnersAmerica</a:t>
                  </a:r>
                  <a:r>
                    <a:rPr lang="en-US" sz="1200" dirty="0">
                      <a:solidFill>
                        <a:schemeClr val="bg1"/>
                      </a:solidFill>
                      <a:latin typeface="Trade Gothic"/>
                      <a:cs typeface="Trade Gothic"/>
                    </a:rPr>
                    <a:t>   |     \</a:t>
                  </a:r>
                  <a:r>
                    <a:rPr lang="en-US" sz="1200" dirty="0" err="1">
                      <a:solidFill>
                        <a:schemeClr val="bg1"/>
                      </a:solidFill>
                      <a:latin typeface="Trade Gothic"/>
                      <a:cs typeface="Trade Gothic"/>
                    </a:rPr>
                    <a:t>PartnersAmericas</a:t>
                  </a:r>
                  <a:endParaRPr lang="en-US" sz="1200" dirty="0">
                    <a:solidFill>
                      <a:schemeClr val="bg1"/>
                    </a:solidFill>
                    <a:latin typeface="Trade Gothic"/>
                    <a:cs typeface="Trade Gothic"/>
                  </a:endParaRPr>
                </a:p>
              </p:txBody>
            </p:sp>
            <p:pic>
              <p:nvPicPr>
                <p:cNvPr id="16" name="Picture 15" descr="facebook-icon -white-transparent-background.png"/>
                <p:cNvPicPr>
                  <a:picLocks noChangeAspect="1"/>
                </p:cNvPicPr>
                <p:nvPr/>
              </p:nvPicPr>
              <p:blipFill>
                <a:blip r:embed="rId16">
                  <a:alphaModFix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107739" y="6446173"/>
                  <a:ext cx="221009" cy="221009"/>
                </a:xfrm>
                <a:prstGeom prst="rect">
                  <a:avLst/>
                </a:prstGeom>
              </p:spPr>
            </p:pic>
          </p:grpSp>
          <p:pic>
            <p:nvPicPr>
              <p:cNvPr id="17" name="Picture 16" descr="twitter-bird-white-transparent-background.png"/>
              <p:cNvPicPr>
                <a:picLocks noChangeAspect="1"/>
              </p:cNvPicPr>
              <p:nvPr userDrawn="1"/>
            </p:nvPicPr>
            <p:blipFill>
              <a:blip r:embed="rId17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46678" y="6415008"/>
                <a:ext cx="314795" cy="31479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1892383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b="1" kern="1200">
          <a:solidFill>
            <a:srgbClr val="F82136"/>
          </a:solidFill>
          <a:latin typeface="Memphis Medium"/>
          <a:ea typeface="+mj-ea"/>
          <a:cs typeface="Memphis Medium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Trade Gothic"/>
          <a:ea typeface="+mn-ea"/>
          <a:cs typeface="Trade Gothic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Trade Gothic"/>
          <a:ea typeface="+mn-ea"/>
          <a:cs typeface="Trade Gothic"/>
        </a:defRPr>
      </a:lvl2pPr>
      <a:lvl3pPr marL="1143000" indent="-228600" algn="l" defTabSz="457200" rtl="0" eaLnBrk="1" latinLnBrk="0" hangingPunct="1">
        <a:spcBef>
          <a:spcPct val="20000"/>
        </a:spcBef>
        <a:buFont typeface="Courier New"/>
        <a:buChar char="o"/>
        <a:defRPr sz="1800" kern="1200">
          <a:solidFill>
            <a:schemeClr val="tx1"/>
          </a:solidFill>
          <a:latin typeface="Trade Gothic"/>
          <a:ea typeface="+mn-ea"/>
          <a:cs typeface="Trade Gothic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Trade Gothic"/>
          <a:ea typeface="+mn-ea"/>
          <a:cs typeface="Trade Gothic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Trade Gothic"/>
          <a:ea typeface="+mn-ea"/>
          <a:cs typeface="Trade Gothic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1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5.jp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Walk @ Work </a:t>
            </a:r>
            <a:br>
              <a:rPr lang="en-US" dirty="0"/>
            </a:br>
            <a:r>
              <a:rPr lang="en-US" dirty="0"/>
              <a:t>Step Count Challenge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0518"/>
            <a:ext cx="9144000" cy="2602245"/>
          </a:xfrm>
          <a:prstGeom prst="rect">
            <a:avLst/>
          </a:pr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601980" y="435895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F82136"/>
                </a:solidFill>
                <a:latin typeface="Memphis Medium"/>
                <a:ea typeface="+mj-ea"/>
                <a:cs typeface="Memphis Medium"/>
              </a:defRPr>
            </a:lvl1pPr>
          </a:lstStyle>
          <a:p>
            <a:r>
              <a:rPr lang="en-US" dirty="0"/>
              <a:t>Results!</a:t>
            </a:r>
          </a:p>
        </p:txBody>
      </p:sp>
    </p:spTree>
    <p:extLst>
      <p:ext uri="{BB962C8B-B14F-4D97-AF65-F5344CB8AC3E}">
        <p14:creationId xmlns:p14="http://schemas.microsoft.com/office/powerpoint/2010/main" val="193603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BB55C5-7ED4-4A93-A076-98A3C5998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Importance of </a:t>
            </a:r>
            <a:br>
              <a:rPr lang="en-US" dirty="0" smtClean="0"/>
            </a:br>
            <a:r>
              <a:rPr lang="en-US" dirty="0" smtClean="0"/>
              <a:t>Wellness in the Workplace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Encourage adoption of healthier lifestyle to help prevent onset of illness/disease and support stress management. 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Nurture a supportive and collaborative work environment to maintain productivity, motivation, and high morale. 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Provide opportunities and create spaces that strengthen creativity, leadership, and engagement with one another across our units.</a:t>
            </a:r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r>
              <a:rPr lang="en-US" dirty="0" smtClean="0"/>
              <a:t>Live the mission of connecting, serving, and changing lives in the workplace!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153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6D8EA4BA-4EF7-44BE-B971-6BA8A70B61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00" r="31404" b="2578"/>
          <a:stretch/>
        </p:blipFill>
        <p:spPr>
          <a:xfrm>
            <a:off x="7327265" y="-39688"/>
            <a:ext cx="2219069" cy="68976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F4E4BAA3-6016-43C7-A376-DA1BE3106C1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0045"/>
          <a:stretch/>
        </p:blipFill>
        <p:spPr>
          <a:xfrm>
            <a:off x="-2" y="-39688"/>
            <a:ext cx="2787819" cy="266450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F267AD5E-7168-42CD-B48F-EC3E9DC0BF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976079"/>
            <a:ext cx="2787819" cy="48819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5AEF6CE7-6EBE-4BBD-93B1-64FB93813A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7818" y="-39688"/>
            <a:ext cx="4539447" cy="3429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FA986E51-58E6-40FE-AE4E-B7433D1124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7820" y="3389312"/>
            <a:ext cx="4539446" cy="346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656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to Week Stats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xmlns="" id="{79DDFDAE-3F3D-4D98-A0D1-E6F2AF223D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1433641"/>
              </p:ext>
            </p:extLst>
          </p:nvPr>
        </p:nvGraphicFramePr>
        <p:xfrm>
          <a:off x="329184" y="1397000"/>
          <a:ext cx="810768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58270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7697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Total Number of Steps, Collectively</a:t>
            </a:r>
            <a:br>
              <a:rPr lang="en-US" dirty="0"/>
            </a:br>
            <a:r>
              <a:rPr lang="en-US" sz="8000" dirty="0" smtClean="0">
                <a:solidFill>
                  <a:schemeClr val="tx1"/>
                </a:solidFill>
              </a:rPr>
              <a:t>1,013,187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How far did our steps take us?</a:t>
            </a:r>
            <a:br>
              <a:rPr lang="en-US" dirty="0"/>
            </a:b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8669" y="3596054"/>
            <a:ext cx="3762525" cy="2175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23092" y="3692778"/>
            <a:ext cx="539847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Approximately </a:t>
            </a:r>
            <a:endParaRPr lang="en-US" sz="4000" b="1" dirty="0" smtClean="0"/>
          </a:p>
          <a:p>
            <a:pPr algn="ctr"/>
            <a:r>
              <a:rPr lang="en-US" sz="4000" b="1" dirty="0" smtClean="0"/>
              <a:t>101 </a:t>
            </a:r>
            <a:r>
              <a:rPr lang="en-US" sz="4000" b="1" dirty="0"/>
              <a:t>Miles </a:t>
            </a:r>
            <a:endParaRPr lang="en-US" sz="4000" b="1" dirty="0" smtClean="0"/>
          </a:p>
          <a:p>
            <a:pPr algn="ctr"/>
            <a:r>
              <a:rPr lang="en-US" sz="4000" b="1" dirty="0" smtClean="0"/>
              <a:t>Wilmington, DE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610133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491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Step Count Considerations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12195443-9BD5-45AB-80A1-D16D8D9BF1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1" y="1335342"/>
            <a:ext cx="40386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Full Day of Sick </a:t>
            </a:r>
            <a:r>
              <a:rPr lang="en-US" b="1" dirty="0"/>
              <a:t>Leave &amp; Annual Leave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400" dirty="0"/>
              <a:t>To ensure that everyone’s effort in the challenge be considered equally, your average number of steps walked for the full 4 weeks was added to the days you were out sick or on vacation to be included in the final total.</a:t>
            </a:r>
          </a:p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r>
              <a:rPr lang="en-US" sz="2100" dirty="0"/>
              <a:t>Example: </a:t>
            </a:r>
          </a:p>
          <a:p>
            <a:pPr marL="800100" lvl="1">
              <a:buFontTx/>
              <a:buChar char="-"/>
            </a:pPr>
            <a:r>
              <a:rPr lang="en-US" sz="2100" dirty="0"/>
              <a:t>Average # of steps for 4 weeks = 1450</a:t>
            </a:r>
          </a:p>
          <a:p>
            <a:pPr marL="800100" lvl="1">
              <a:buFontTx/>
              <a:buChar char="-"/>
            </a:pPr>
            <a:r>
              <a:rPr lang="en-US" sz="2100" dirty="0"/>
              <a:t>1450 was calculated into days on SL or AL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9FA54097-69FC-4C10-87B5-1C94483C6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210056"/>
            <a:ext cx="4038600" cy="4525963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b="1" dirty="0"/>
              <a:t>Wednesday W@W Step Boosters &amp; Bonuses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2400" dirty="0"/>
              <a:t>Opportunity to participate in light physical activity in the middle of the week &amp; middle of the day </a:t>
            </a:r>
          </a:p>
          <a:p>
            <a:pPr marL="0" indent="0">
              <a:buNone/>
            </a:pPr>
            <a:endParaRPr lang="en-US" sz="2300" u="sng" dirty="0"/>
          </a:p>
          <a:p>
            <a:pPr marL="400050">
              <a:buFont typeface="+mj-lt"/>
              <a:buAutoNum type="arabicPeriod"/>
            </a:pPr>
            <a:r>
              <a:rPr lang="en-US" sz="2300" u="sng" dirty="0"/>
              <a:t>5 Laps Around the Office</a:t>
            </a:r>
            <a:r>
              <a:rPr lang="en-US" sz="2300" dirty="0"/>
              <a:t>: 500 Steps </a:t>
            </a:r>
          </a:p>
          <a:p>
            <a:pPr marL="400050">
              <a:buFont typeface="+mj-lt"/>
              <a:buAutoNum type="arabicPeriod"/>
            </a:pPr>
            <a:r>
              <a:rPr lang="en-US" sz="2300" u="sng" dirty="0"/>
              <a:t>Walk/Stop Energizer</a:t>
            </a:r>
            <a:r>
              <a:rPr lang="en-US" sz="2300" dirty="0"/>
              <a:t>: +600 Bonus</a:t>
            </a:r>
          </a:p>
          <a:p>
            <a:pPr marL="400050">
              <a:buFont typeface="+mj-lt"/>
              <a:buAutoNum type="arabicPeriod"/>
            </a:pPr>
            <a:r>
              <a:rPr lang="en-US" sz="2300" u="sng" dirty="0"/>
              <a:t>Shoe Drop</a:t>
            </a:r>
            <a:r>
              <a:rPr lang="en-US" sz="2300" dirty="0"/>
              <a:t>: +650 Bonus</a:t>
            </a:r>
          </a:p>
          <a:p>
            <a:pPr marL="400050">
              <a:buFont typeface="+mj-lt"/>
              <a:buAutoNum type="arabicPeriod"/>
            </a:pPr>
            <a:r>
              <a:rPr lang="en-US" sz="2300" u="sng" dirty="0"/>
              <a:t>Lap Around the Building: </a:t>
            </a:r>
            <a:r>
              <a:rPr lang="en-US" sz="2300" dirty="0"/>
              <a:t>+650  Bonus </a:t>
            </a:r>
          </a:p>
          <a:p>
            <a:pPr marL="400050">
              <a:buFont typeface="+mj-lt"/>
              <a:buAutoNum type="arabicPeriod"/>
            </a:pPr>
            <a:r>
              <a:rPr lang="en-US" sz="2300" u="sng" dirty="0"/>
              <a:t>Farragut Friday Food Truck Lunch:</a:t>
            </a:r>
            <a:r>
              <a:rPr lang="en-US" sz="2300" dirty="0"/>
              <a:t> +1,000 Steps Bonus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10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1E608DB-D6FF-4A5B-9420-4FC92486CDEB}"/>
              </a:ext>
            </a:extLst>
          </p:cNvPr>
          <p:cNvSpPr txBox="1"/>
          <p:nvPr/>
        </p:nvSpPr>
        <p:spPr>
          <a:xfrm>
            <a:off x="756139" y="2120206"/>
            <a:ext cx="74558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/>
              <a:t>TEAM </a:t>
            </a:r>
            <a:r>
              <a:rPr lang="en-US" sz="7200" b="1" dirty="0" smtClean="0"/>
              <a:t>E</a:t>
            </a:r>
            <a:endParaRPr lang="en-US" sz="7200" b="1" dirty="0"/>
          </a:p>
          <a:p>
            <a:pPr algn="ctr"/>
            <a:r>
              <a:rPr lang="en-US" sz="3600" b="1" dirty="0" smtClean="0"/>
              <a:t>Melissa</a:t>
            </a:r>
            <a:r>
              <a:rPr lang="en-US" sz="3600" b="1" dirty="0" smtClean="0"/>
              <a:t>, Adriano, Clarissa </a:t>
            </a:r>
            <a:r>
              <a:rPr lang="en-US" sz="3600" b="1" dirty="0"/>
              <a:t>&amp; </a:t>
            </a:r>
            <a:r>
              <a:rPr lang="en-US" sz="3600" b="1" dirty="0" smtClean="0"/>
              <a:t>Javiera</a:t>
            </a:r>
            <a:endParaRPr lang="en-US" sz="3600" b="1" dirty="0"/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0F55CE50-0E93-4277-A910-EE8DC3985DC0}"/>
              </a:ext>
            </a:extLst>
          </p:cNvPr>
          <p:cNvSpPr txBox="1">
            <a:spLocks/>
          </p:cNvSpPr>
          <p:nvPr/>
        </p:nvSpPr>
        <p:spPr>
          <a:xfrm>
            <a:off x="457200" y="375545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F82136"/>
                </a:solidFill>
                <a:latin typeface="Memphis Medium"/>
                <a:ea typeface="+mj-ea"/>
                <a:cs typeface="Memphis Medium"/>
              </a:defRPr>
            </a:lvl1pPr>
          </a:lstStyle>
          <a:p>
            <a:r>
              <a:rPr lang="en-US" dirty="0" smtClean="0"/>
              <a:t>226,795</a:t>
            </a:r>
            <a:r>
              <a:rPr lang="en-US" dirty="0" smtClean="0"/>
              <a:t> Steps </a:t>
            </a:r>
            <a:r>
              <a:rPr lang="en-US" dirty="0"/>
              <a:t>Walked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xmlns="" id="{13E061B8-281F-4ECB-92FA-D22BE7888CF9}"/>
              </a:ext>
            </a:extLst>
          </p:cNvPr>
          <p:cNvSpPr txBox="1">
            <a:spLocks/>
          </p:cNvSpPr>
          <p:nvPr/>
        </p:nvSpPr>
        <p:spPr>
          <a:xfrm>
            <a:off x="457200" y="437051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F82136"/>
                </a:solidFill>
                <a:latin typeface="Memphis Medium"/>
                <a:ea typeface="+mj-ea"/>
                <a:cs typeface="Memphis Medium"/>
              </a:defRPr>
            </a:lvl1pPr>
          </a:lstStyle>
          <a:p>
            <a:r>
              <a:rPr lang="en-US" dirty="0" smtClean="0"/>
              <a:t>22.6</a:t>
            </a:r>
            <a:r>
              <a:rPr lang="en-US" dirty="0" smtClean="0"/>
              <a:t> </a:t>
            </a:r>
            <a:r>
              <a:rPr lang="en-US" dirty="0"/>
              <a:t>Miles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BE6EA38C-6D43-4323-9124-8D55B6332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292" y="274638"/>
            <a:ext cx="1905000" cy="1905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xmlns="" id="{4DDE18F5-0BAF-4F9F-A57F-A8F5C7641C51}"/>
              </a:ext>
            </a:extLst>
          </p:cNvPr>
          <p:cNvSpPr txBox="1">
            <a:spLocks/>
          </p:cNvSpPr>
          <p:nvPr/>
        </p:nvSpPr>
        <p:spPr>
          <a:xfrm>
            <a:off x="7296" y="5056767"/>
            <a:ext cx="913670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F82136"/>
                </a:solidFill>
                <a:latin typeface="Memphis Medium"/>
                <a:ea typeface="+mj-ea"/>
                <a:cs typeface="Memphis Medium"/>
              </a:defRPr>
            </a:lvl1pPr>
          </a:lstStyle>
          <a:p>
            <a:r>
              <a:rPr lang="en-US" sz="2800" dirty="0">
                <a:solidFill>
                  <a:schemeClr val="tx2"/>
                </a:solidFill>
              </a:rPr>
              <a:t>Prizes: </a:t>
            </a:r>
            <a:r>
              <a:rPr lang="en-US" sz="2800" dirty="0" smtClean="0">
                <a:solidFill>
                  <a:schemeClr val="tx2"/>
                </a:solidFill>
              </a:rPr>
              <a:t>Fitness </a:t>
            </a:r>
            <a:r>
              <a:rPr lang="en-US" sz="2800" dirty="0">
                <a:solidFill>
                  <a:schemeClr val="tx2"/>
                </a:solidFill>
              </a:rPr>
              <a:t>Gear </a:t>
            </a:r>
          </a:p>
        </p:txBody>
      </p:sp>
    </p:spTree>
    <p:extLst>
      <p:ext uri="{BB962C8B-B14F-4D97-AF65-F5344CB8AC3E}">
        <p14:creationId xmlns:p14="http://schemas.microsoft.com/office/powerpoint/2010/main" val="1232947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Third Place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1E608DB-D6FF-4A5B-9420-4FC92486CDEB}"/>
              </a:ext>
            </a:extLst>
          </p:cNvPr>
          <p:cNvSpPr txBox="1"/>
          <p:nvPr/>
        </p:nvSpPr>
        <p:spPr>
          <a:xfrm>
            <a:off x="1475232" y="1588326"/>
            <a:ext cx="59131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 smtClean="0"/>
              <a:t>Melissa</a:t>
            </a:r>
            <a:endParaRPr lang="en-US" sz="7200" b="1" dirty="0"/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0F55CE50-0E93-4277-A910-EE8DC3985DC0}"/>
              </a:ext>
            </a:extLst>
          </p:cNvPr>
          <p:cNvSpPr txBox="1">
            <a:spLocks/>
          </p:cNvSpPr>
          <p:nvPr/>
        </p:nvSpPr>
        <p:spPr>
          <a:xfrm>
            <a:off x="457200" y="310927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F82136"/>
                </a:solidFill>
                <a:latin typeface="Memphis Medium"/>
                <a:ea typeface="+mj-ea"/>
                <a:cs typeface="Memphis Medium"/>
              </a:defRPr>
            </a:lvl1pPr>
          </a:lstStyle>
          <a:p>
            <a:r>
              <a:rPr lang="en-US" dirty="0" smtClean="0"/>
              <a:t>73,905 </a:t>
            </a:r>
            <a:r>
              <a:rPr lang="en-US" dirty="0"/>
              <a:t>Steps Walked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xmlns="" id="{13E061B8-281F-4ECB-92FA-D22BE7888CF9}"/>
              </a:ext>
            </a:extLst>
          </p:cNvPr>
          <p:cNvSpPr txBox="1">
            <a:spLocks/>
          </p:cNvSpPr>
          <p:nvPr/>
        </p:nvSpPr>
        <p:spPr>
          <a:xfrm>
            <a:off x="457200" y="417544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F82136"/>
                </a:solidFill>
                <a:latin typeface="Memphis Medium"/>
                <a:ea typeface="+mj-ea"/>
                <a:cs typeface="Memphis Medium"/>
              </a:defRPr>
            </a:lvl1pPr>
          </a:lstStyle>
          <a:p>
            <a:r>
              <a:rPr lang="en-US" dirty="0" smtClean="0"/>
              <a:t>7.4</a:t>
            </a:r>
            <a:r>
              <a:rPr lang="en-US" dirty="0" smtClean="0"/>
              <a:t> </a:t>
            </a:r>
            <a:r>
              <a:rPr lang="en-US" dirty="0"/>
              <a:t>Miles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ECD432D1-5843-44FC-BAF3-86ADAFD40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9935" y="0"/>
            <a:ext cx="2430498" cy="243049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xmlns="" id="{3903AF66-7066-467D-81FE-48B5E4104AD1}"/>
              </a:ext>
            </a:extLst>
          </p:cNvPr>
          <p:cNvSpPr txBox="1">
            <a:spLocks/>
          </p:cNvSpPr>
          <p:nvPr/>
        </p:nvSpPr>
        <p:spPr>
          <a:xfrm>
            <a:off x="7296" y="5056767"/>
            <a:ext cx="913670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F82136"/>
                </a:solidFill>
                <a:latin typeface="Memphis Medium"/>
                <a:ea typeface="+mj-ea"/>
                <a:cs typeface="Memphis Medium"/>
              </a:defRPr>
            </a:lvl1pPr>
          </a:lstStyle>
          <a:p>
            <a:r>
              <a:rPr lang="en-US" sz="2800" dirty="0">
                <a:solidFill>
                  <a:schemeClr val="tx2"/>
                </a:solidFill>
              </a:rPr>
              <a:t>Prize: $10 Gift </a:t>
            </a:r>
            <a:r>
              <a:rPr lang="en-US" sz="2800" dirty="0" smtClean="0">
                <a:solidFill>
                  <a:schemeClr val="tx2"/>
                </a:solidFill>
              </a:rPr>
              <a:t>Card</a:t>
            </a:r>
            <a:endParaRPr lang="en-US" sz="2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4806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6000" dirty="0"/>
              <a:t>Second Place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1E608DB-D6FF-4A5B-9420-4FC92486CDEB}"/>
              </a:ext>
            </a:extLst>
          </p:cNvPr>
          <p:cNvSpPr txBox="1"/>
          <p:nvPr/>
        </p:nvSpPr>
        <p:spPr>
          <a:xfrm>
            <a:off x="1475232" y="1588326"/>
            <a:ext cx="59131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 smtClean="0"/>
              <a:t>Renata</a:t>
            </a:r>
            <a:endParaRPr lang="en-US" sz="7200" b="1" dirty="0"/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0F55CE50-0E93-4277-A910-EE8DC3985DC0}"/>
              </a:ext>
            </a:extLst>
          </p:cNvPr>
          <p:cNvSpPr txBox="1">
            <a:spLocks/>
          </p:cNvSpPr>
          <p:nvPr/>
        </p:nvSpPr>
        <p:spPr>
          <a:xfrm>
            <a:off x="457200" y="310927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F82136"/>
                </a:solidFill>
                <a:latin typeface="Memphis Medium"/>
                <a:ea typeface="+mj-ea"/>
                <a:cs typeface="Memphis Medium"/>
              </a:defRPr>
            </a:lvl1pPr>
          </a:lstStyle>
          <a:p>
            <a:r>
              <a:rPr lang="en-US" dirty="0" smtClean="0"/>
              <a:t>83</a:t>
            </a:r>
            <a:r>
              <a:rPr lang="en-US" dirty="0" smtClean="0"/>
              <a:t>,888 </a:t>
            </a:r>
            <a:r>
              <a:rPr lang="en-US" dirty="0"/>
              <a:t>Steps Walked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xmlns="" id="{13E061B8-281F-4ECB-92FA-D22BE7888CF9}"/>
              </a:ext>
            </a:extLst>
          </p:cNvPr>
          <p:cNvSpPr txBox="1">
            <a:spLocks/>
          </p:cNvSpPr>
          <p:nvPr/>
        </p:nvSpPr>
        <p:spPr>
          <a:xfrm>
            <a:off x="457200" y="430955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F82136"/>
                </a:solidFill>
                <a:latin typeface="Memphis Medium"/>
                <a:ea typeface="+mj-ea"/>
                <a:cs typeface="Memphis Medium"/>
              </a:defRPr>
            </a:lvl1pPr>
          </a:lstStyle>
          <a:p>
            <a:r>
              <a:rPr lang="en-US" dirty="0" smtClean="0"/>
              <a:t>8.4 </a:t>
            </a:r>
            <a:r>
              <a:rPr lang="en-US" dirty="0"/>
              <a:t>Miles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33ACC12C-D8D8-4883-BC01-371E235DC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8128" y="-72834"/>
            <a:ext cx="2621280" cy="262128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xmlns="" id="{E3974B6D-4750-4782-AB47-1F4D948ED562}"/>
              </a:ext>
            </a:extLst>
          </p:cNvPr>
          <p:cNvSpPr txBox="1">
            <a:spLocks/>
          </p:cNvSpPr>
          <p:nvPr/>
        </p:nvSpPr>
        <p:spPr>
          <a:xfrm>
            <a:off x="7296" y="5056767"/>
            <a:ext cx="913670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F82136"/>
                </a:solidFill>
                <a:latin typeface="Memphis Medium"/>
                <a:ea typeface="+mj-ea"/>
                <a:cs typeface="Memphis Medium"/>
              </a:defRPr>
            </a:lvl1pPr>
          </a:lstStyle>
          <a:p>
            <a:r>
              <a:rPr lang="en-US" sz="2800" dirty="0">
                <a:solidFill>
                  <a:schemeClr val="tx2"/>
                </a:solidFill>
              </a:rPr>
              <a:t>Prize: $25 Gift Card to Whole Foods</a:t>
            </a:r>
          </a:p>
        </p:txBody>
      </p:sp>
    </p:spTree>
    <p:extLst>
      <p:ext uri="{BB962C8B-B14F-4D97-AF65-F5344CB8AC3E}">
        <p14:creationId xmlns:p14="http://schemas.microsoft.com/office/powerpoint/2010/main" val="3726785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0880" y="625158"/>
            <a:ext cx="5455920" cy="1143000"/>
          </a:xfrm>
        </p:spPr>
        <p:txBody>
          <a:bodyPr>
            <a:noAutofit/>
          </a:bodyPr>
          <a:lstStyle/>
          <a:p>
            <a:r>
              <a:rPr lang="en-US" sz="6000" dirty="0"/>
              <a:t>First Place</a:t>
            </a:r>
          </a:p>
        </p:txBody>
      </p:sp>
      <p:pic>
        <p:nvPicPr>
          <p:cNvPr id="2054" name="Picture 6" descr="Image result for foot prints clip art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92"/>
          <a:stretch/>
        </p:blipFill>
        <p:spPr bwMode="auto">
          <a:xfrm>
            <a:off x="6517004" y="3579341"/>
            <a:ext cx="2505075" cy="1724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mage result for priz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65138"/>
            <a:ext cx="2614498" cy="1668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10" descr="Image result for priz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12" descr="Image result for priz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14" descr="Image result for prize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6" descr="Image result for prize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65" name="Picture 1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2108" y="2335375"/>
            <a:ext cx="1083712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CAF429D9-1C63-482F-BCE8-0B2343DF7081}"/>
              </a:ext>
            </a:extLst>
          </p:cNvPr>
          <p:cNvSpPr txBox="1"/>
          <p:nvPr/>
        </p:nvSpPr>
        <p:spPr>
          <a:xfrm>
            <a:off x="1109472" y="2095916"/>
            <a:ext cx="59131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 smtClean="0"/>
              <a:t>John</a:t>
            </a:r>
            <a:endParaRPr lang="en-US" sz="7200" b="1" dirty="0"/>
          </a:p>
          <a:p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D13C9679-BE7E-428F-90C4-B94A74B2A194}"/>
              </a:ext>
            </a:extLst>
          </p:cNvPr>
          <p:cNvSpPr txBox="1">
            <a:spLocks/>
          </p:cNvSpPr>
          <p:nvPr/>
        </p:nvSpPr>
        <p:spPr>
          <a:xfrm>
            <a:off x="19668" y="312985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F82136"/>
                </a:solidFill>
                <a:latin typeface="Memphis Medium"/>
                <a:ea typeface="+mj-ea"/>
                <a:cs typeface="Memphis Medium"/>
              </a:defRPr>
            </a:lvl1pPr>
          </a:lstStyle>
          <a:p>
            <a:r>
              <a:rPr lang="en-US" dirty="0" smtClean="0"/>
              <a:t>114</a:t>
            </a:r>
            <a:r>
              <a:rPr lang="en-US" dirty="0" smtClean="0"/>
              <a:t>,531 </a:t>
            </a:r>
            <a:r>
              <a:rPr lang="en-US" dirty="0"/>
              <a:t>Steps Walked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xmlns="" id="{9542B87A-9670-46AC-9C8F-4F08BAA85749}"/>
              </a:ext>
            </a:extLst>
          </p:cNvPr>
          <p:cNvSpPr txBox="1">
            <a:spLocks/>
          </p:cNvSpPr>
          <p:nvPr/>
        </p:nvSpPr>
        <p:spPr>
          <a:xfrm>
            <a:off x="-460059" y="412950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F82136"/>
                </a:solidFill>
                <a:latin typeface="Memphis Medium"/>
                <a:ea typeface="+mj-ea"/>
                <a:cs typeface="Memphis Medium"/>
              </a:defRPr>
            </a:lvl1pPr>
          </a:lstStyle>
          <a:p>
            <a:r>
              <a:rPr lang="en-US" dirty="0" smtClean="0"/>
              <a:t>11.5</a:t>
            </a:r>
            <a:r>
              <a:rPr lang="en-US" dirty="0" smtClean="0"/>
              <a:t> </a:t>
            </a:r>
            <a:r>
              <a:rPr lang="en-US" dirty="0"/>
              <a:t>Miles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xmlns="" id="{1B14AA0F-1C68-4305-B64C-6F13109C622E}"/>
              </a:ext>
            </a:extLst>
          </p:cNvPr>
          <p:cNvSpPr txBox="1">
            <a:spLocks/>
          </p:cNvSpPr>
          <p:nvPr/>
        </p:nvSpPr>
        <p:spPr>
          <a:xfrm>
            <a:off x="60049" y="49470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F82136"/>
                </a:solidFill>
                <a:latin typeface="Memphis Medium"/>
                <a:ea typeface="+mj-ea"/>
                <a:cs typeface="Memphis Medium"/>
              </a:defRPr>
            </a:lvl1pPr>
          </a:lstStyle>
          <a:p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Prize: Groupon, 1 Month of Unlimited Yoga Classes </a:t>
            </a:r>
          </a:p>
        </p:txBody>
      </p:sp>
    </p:spTree>
    <p:extLst>
      <p:ext uri="{BB962C8B-B14F-4D97-AF65-F5344CB8AC3E}">
        <p14:creationId xmlns:p14="http://schemas.microsoft.com/office/powerpoint/2010/main" val="1040141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9007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Now what? </a:t>
            </a:r>
            <a:br>
              <a:rPr lang="en-US" dirty="0"/>
            </a:br>
            <a:r>
              <a:rPr lang="en-US" dirty="0"/>
              <a:t>What are our next steps?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715D885-378A-4ED3-A371-DE140B501623}"/>
              </a:ext>
            </a:extLst>
          </p:cNvPr>
          <p:cNvSpPr txBox="1"/>
          <p:nvPr/>
        </p:nvSpPr>
        <p:spPr>
          <a:xfrm>
            <a:off x="1219200" y="1699062"/>
            <a:ext cx="22189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Post Survey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61902DE4-DDD7-4F53-86D9-5C62FC71FD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402"/>
          <a:stretch/>
        </p:blipFill>
        <p:spPr>
          <a:xfrm>
            <a:off x="457200" y="2379083"/>
            <a:ext cx="3742944" cy="22090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1E0D424A-5C16-4090-B2E3-3C3035297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5842" y="2379083"/>
            <a:ext cx="3340609" cy="222302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379C380C-CE0B-4A65-9656-775DEE162EB8}"/>
              </a:ext>
            </a:extLst>
          </p:cNvPr>
          <p:cNvSpPr txBox="1"/>
          <p:nvPr/>
        </p:nvSpPr>
        <p:spPr>
          <a:xfrm>
            <a:off x="5212082" y="1699061"/>
            <a:ext cx="2651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DC Run/Walk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CE209C4-F78B-4B70-879B-CBFC2B198FB1}"/>
              </a:ext>
            </a:extLst>
          </p:cNvPr>
          <p:cNvSpPr txBox="1"/>
          <p:nvPr/>
        </p:nvSpPr>
        <p:spPr>
          <a:xfrm>
            <a:off x="4572000" y="4713762"/>
            <a:ext cx="43037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https://www.active.com/washington-dc/walking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99F4AEBE-9A5B-4C1D-B1F2-07999CE80FDF}"/>
              </a:ext>
            </a:extLst>
          </p:cNvPr>
          <p:cNvSpPr txBox="1"/>
          <p:nvPr/>
        </p:nvSpPr>
        <p:spPr>
          <a:xfrm>
            <a:off x="609600" y="4713762"/>
            <a:ext cx="3364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Google Form</a:t>
            </a:r>
          </a:p>
        </p:txBody>
      </p:sp>
    </p:spTree>
    <p:extLst>
      <p:ext uri="{BB962C8B-B14F-4D97-AF65-F5344CB8AC3E}">
        <p14:creationId xmlns:p14="http://schemas.microsoft.com/office/powerpoint/2010/main" val="1514280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9007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Now what? </a:t>
            </a:r>
            <a:br>
              <a:rPr lang="en-US" dirty="0"/>
            </a:br>
            <a:r>
              <a:rPr lang="en-US" dirty="0"/>
              <a:t>What are our next steps?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715D885-378A-4ED3-A371-DE140B501623}"/>
              </a:ext>
            </a:extLst>
          </p:cNvPr>
          <p:cNvSpPr txBox="1"/>
          <p:nvPr/>
        </p:nvSpPr>
        <p:spPr>
          <a:xfrm>
            <a:off x="902208" y="1597593"/>
            <a:ext cx="75956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Treadmill Workstation as Wellness Benefit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E3866D7-ECA5-47A8-9B4C-F4070085B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2171700"/>
            <a:ext cx="3465576" cy="34655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C597C0C7-6566-4E51-9A21-D30AF9B004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9888" y="2386584"/>
            <a:ext cx="2274014" cy="303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347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Live Text Poll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E1D3B9C-ADDD-4BF0-8031-B13DA6DB07F6}"/>
              </a:ext>
            </a:extLst>
          </p:cNvPr>
          <p:cNvSpPr txBox="1"/>
          <p:nvPr/>
        </p:nvSpPr>
        <p:spPr>
          <a:xfrm>
            <a:off x="0" y="124063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If a Treadmill Workstation were available for use in the office as a Wellness benefit to staff, how likely would you use it?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74DED93F-3236-4C52-853F-0E595A0B4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082291"/>
            <a:ext cx="3886200" cy="2486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40CE5C62-E372-47C4-9D28-65033D798A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6165" y="2167601"/>
            <a:ext cx="4962525" cy="5429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8368D4DB-1E92-4039-8E21-5FC4C30967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9680" y="2865407"/>
            <a:ext cx="2773680" cy="277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041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2ECEC1-81F0-4767-9E95-73AA2848C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660" y="4492338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dirty="0"/>
              <a:t>W@W </a:t>
            </a:r>
            <a:br>
              <a:rPr lang="en-US" sz="3600" dirty="0"/>
            </a:br>
            <a:r>
              <a:rPr lang="en-US" sz="3600" dirty="0"/>
              <a:t>Group </a:t>
            </a:r>
            <a:r>
              <a:rPr lang="en-US" sz="3600" dirty="0" smtClean="0"/>
              <a:t>Photo for Social </a:t>
            </a:r>
            <a:br>
              <a:rPr lang="en-US" sz="3600" dirty="0" smtClean="0"/>
            </a:br>
            <a:r>
              <a:rPr lang="en-US" sz="3600" dirty="0" smtClean="0"/>
              <a:t> </a:t>
            </a:r>
            <a:r>
              <a:rPr lang="en-US" sz="3600" dirty="0"/>
              <a:t>after the meeting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CC15400-A02F-4921-BBBF-52D8B29BD8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4" y="1690115"/>
            <a:ext cx="9144000" cy="260224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xmlns="" id="{D2293476-9711-4BE8-9D87-BF642F34F122}"/>
              </a:ext>
            </a:extLst>
          </p:cNvPr>
          <p:cNvSpPr txBox="1">
            <a:spLocks/>
          </p:cNvSpPr>
          <p:nvPr/>
        </p:nvSpPr>
        <p:spPr>
          <a:xfrm>
            <a:off x="615696" y="25042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F82136"/>
                </a:solidFill>
                <a:latin typeface="Memphis Medium"/>
                <a:ea typeface="+mj-ea"/>
                <a:cs typeface="Memphis Medium"/>
              </a:defRPr>
            </a:lvl1pPr>
          </a:lstStyle>
          <a:p>
            <a:r>
              <a:rPr lang="en-US" dirty="0"/>
              <a:t>Gracias y </a:t>
            </a:r>
            <a:r>
              <a:rPr lang="en-US" dirty="0" err="1"/>
              <a:t>Felicidades</a:t>
            </a:r>
            <a:r>
              <a:rPr lang="en-US" dirty="0"/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790480434"/>
      </p:ext>
    </p:extLst>
  </p:cSld>
  <p:clrMapOvr>
    <a:masterClrMapping/>
  </p:clrMapOvr>
</p:sld>
</file>

<file path=ppt/theme/theme1.xml><?xml version="1.0" encoding="utf-8"?>
<a:theme xmlns:a="http://schemas.openxmlformats.org/drawingml/2006/main" name="Partners Branding">
  <a:themeElements>
    <a:clrScheme name="Partners Palette">
      <a:dk1>
        <a:srgbClr val="FFFFFF"/>
      </a:dk1>
      <a:lt1>
        <a:srgbClr val="000000"/>
      </a:lt1>
      <a:dk2>
        <a:srgbClr val="FDBB30"/>
      </a:dk2>
      <a:lt2>
        <a:srgbClr val="0054A4"/>
      </a:lt2>
      <a:accent1>
        <a:srgbClr val="0084A9"/>
      </a:accent1>
      <a:accent2>
        <a:srgbClr val="711471"/>
      </a:accent2>
      <a:accent3>
        <a:srgbClr val="9FA617"/>
      </a:accent3>
      <a:accent4>
        <a:srgbClr val="B50938"/>
      </a:accent4>
      <a:accent5>
        <a:srgbClr val="439539"/>
      </a:accent5>
      <a:accent6>
        <a:srgbClr val="D60C8C"/>
      </a:accent6>
      <a:hlink>
        <a:srgbClr val="F15D22"/>
      </a:hlink>
      <a:folHlink>
        <a:srgbClr val="59582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06C8355D678A459F2EF8957171B231" ma:contentTypeVersion="11" ma:contentTypeDescription="Create a new document." ma:contentTypeScope="" ma:versionID="acd556ae07fa19f48e80b51b5070dad1">
  <xsd:schema xmlns:xsd="http://www.w3.org/2001/XMLSchema" xmlns:xs="http://www.w3.org/2001/XMLSchema" xmlns:p="http://schemas.microsoft.com/office/2006/metadata/properties" xmlns:ns2="f2466082-b6bf-4153-98c3-3c41e85fda18" xmlns:ns3="dc808d36-874f-4b27-aec2-2fd649817929" targetNamespace="http://schemas.microsoft.com/office/2006/metadata/properties" ma:root="true" ma:fieldsID="3dc96546954f3f270c213e8ea1cb1272" ns2:_="" ns3:_="">
    <xsd:import namespace="f2466082-b6bf-4153-98c3-3c41e85fda18"/>
    <xsd:import namespace="dc808d36-874f-4b27-aec2-2fd6498179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66082-b6bf-4153-98c3-3c41e85fda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08d36-874f-4b27-aec2-2fd64981792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680C9B9-1ED4-41F7-B976-E099B0B800FD}"/>
</file>

<file path=customXml/itemProps2.xml><?xml version="1.0" encoding="utf-8"?>
<ds:datastoreItem xmlns:ds="http://schemas.openxmlformats.org/officeDocument/2006/customXml" ds:itemID="{0BA60432-84FA-41E9-BB55-72F5A28F94BF}"/>
</file>

<file path=customXml/itemProps3.xml><?xml version="1.0" encoding="utf-8"?>
<ds:datastoreItem xmlns:ds="http://schemas.openxmlformats.org/officeDocument/2006/customXml" ds:itemID="{792B6078-85DD-4F0E-8F31-EF4D284A073F}"/>
</file>

<file path=docProps/app.xml><?xml version="1.0" encoding="utf-8"?>
<Properties xmlns="http://schemas.openxmlformats.org/officeDocument/2006/extended-properties" xmlns:vt="http://schemas.openxmlformats.org/officeDocument/2006/docPropsVTypes">
  <Template>Partners Branding.thmx</Template>
  <TotalTime>33807</TotalTime>
  <Words>388</Words>
  <Application>Microsoft Office PowerPoint</Application>
  <PresentationFormat>On-screen Show (4:3)</PresentationFormat>
  <Paragraphs>83</Paragraphs>
  <Slides>14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Partners Branding</vt:lpstr>
      <vt:lpstr>Walk @ Work  Step Count Challenge</vt:lpstr>
      <vt:lpstr>Importance of  Wellness in the Workplace</vt:lpstr>
      <vt:lpstr>PowerPoint Presentation</vt:lpstr>
      <vt:lpstr>Week to Week Stats</vt:lpstr>
      <vt:lpstr>Total Number of Steps, Collectively 1,013,187 How far did our steps take us? </vt:lpstr>
      <vt:lpstr>Step Count Considerations</vt:lpstr>
      <vt:lpstr>PowerPoint Presentation</vt:lpstr>
      <vt:lpstr>Third Place</vt:lpstr>
      <vt:lpstr>Second Place</vt:lpstr>
      <vt:lpstr>First Place</vt:lpstr>
      <vt:lpstr>Now what?  What are our next steps? </vt:lpstr>
      <vt:lpstr>Now what?  What are our next steps? </vt:lpstr>
      <vt:lpstr>Live Text Poll</vt:lpstr>
      <vt:lpstr>W@W  Group Photo for Social   after the meeting</vt:lpstr>
    </vt:vector>
  </TitlesOfParts>
  <Company>Partners of the Americas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Evaluating &amp; Activating  NGO Audiences</dc:title>
  <dc:creator>Taylor Nelson</dc:creator>
  <cp:lastModifiedBy>Summar Lyons</cp:lastModifiedBy>
  <cp:revision>192</cp:revision>
  <dcterms:created xsi:type="dcterms:W3CDTF">2015-10-21T15:01:49Z</dcterms:created>
  <dcterms:modified xsi:type="dcterms:W3CDTF">2018-08-14T12:03:18Z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0x0101003206C8355D678A459F2EF8957171B231</vt:lpwstr>
  </property>
  <property fmtid="{D5CDD505-2E9C-101B-9397-08002B2CF9AE}" pid="3" name="Order">
    <vt:r8>192600</vt:r8>
  </property>
</Properties>
</file>