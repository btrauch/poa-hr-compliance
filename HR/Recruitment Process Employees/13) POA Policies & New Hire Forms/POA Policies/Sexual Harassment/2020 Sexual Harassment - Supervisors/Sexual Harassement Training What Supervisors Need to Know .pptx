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Layouts/slideLayout13.xml" ContentType="application/vnd.openxmlformats-officedocument.presentationml.slideLayout+xml"/>
  <Override PartName="/ppt/notesSlides/notesSlide11.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43" r:id="rId2"/>
    <p:sldId id="316"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Lst>
  <p:sldSz cx="12192000" cy="6858000"/>
  <p:notesSz cx="6858000" cy="9144000"/>
  <p:defaultText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4"/>
    <p:restoredTop sz="94646"/>
  </p:normalViewPr>
  <p:slideViewPr>
    <p:cSldViewPr snapToGrid="0" snapToObjects="1">
      <p:cViewPr varScale="1">
        <p:scale>
          <a:sx n="102" d="100"/>
          <a:sy n="102" d="100"/>
        </p:scale>
        <p:origin x="4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E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E8401-E70D-F944-B79E-4DCED9748925}" type="datetimeFigureOut">
              <a:rPr lang="fr-EG" smtClean="0"/>
              <a:t>16/06/2020</a:t>
            </a:fld>
            <a:endParaRPr lang="fr-E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E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E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0FD448-2F7B-144B-8A06-C11CFBD871E3}" type="slidenum">
              <a:rPr lang="fr-EG" smtClean="0"/>
              <a:t>‹N°›</a:t>
            </a:fld>
            <a:endParaRPr lang="fr-EG"/>
          </a:p>
        </p:txBody>
      </p:sp>
    </p:spTree>
    <p:extLst>
      <p:ext uri="{BB962C8B-B14F-4D97-AF65-F5344CB8AC3E}">
        <p14:creationId xmlns:p14="http://schemas.microsoft.com/office/powerpoint/2010/main" val="785457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8">
            <a:extLst>
              <a:ext uri="{FF2B5EF4-FFF2-40B4-BE49-F238E27FC236}">
                <a16:creationId xmlns:a16="http://schemas.microsoft.com/office/drawing/2014/main" id="{D0882ED8-7E44-644C-8E3C-E8E8E2FB8023}"/>
              </a:ext>
            </a:extLst>
          </p:cNvPr>
          <p:cNvSpPr>
            <a:spLocks noGrp="1" noRot="1" noChangeAspect="1" noChangeArrowheads="1" noTextEdit="1"/>
          </p:cNvSpPr>
          <p:nvPr>
            <p:ph type="sldImg"/>
          </p:nvPr>
        </p:nvSpPr>
        <p:spPr>
          <a:xfrm>
            <a:off x="254000" y="633413"/>
            <a:ext cx="6197600" cy="3486150"/>
          </a:xfrm>
          <a:ln/>
        </p:spPr>
      </p:sp>
      <p:sp>
        <p:nvSpPr>
          <p:cNvPr id="52226" name="Rectangle 9">
            <a:extLst>
              <a:ext uri="{FF2B5EF4-FFF2-40B4-BE49-F238E27FC236}">
                <a16:creationId xmlns:a16="http://schemas.microsoft.com/office/drawing/2014/main" id="{0E12100B-BF38-C54B-8E06-0092E84C6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The objective of this additional section is to provide you with the information you need to know about sexual harassment in order to help your organization deal with incidents and prevent future problems. At the end of this session, you will be able to:</a:t>
            </a:r>
          </a:p>
          <a:p>
            <a:pPr lvl="1"/>
            <a:r>
              <a:rPr lang="en-US" altLang="fr-EG"/>
              <a:t>Handle complaints effectively;</a:t>
            </a:r>
          </a:p>
          <a:p>
            <a:pPr lvl="1"/>
            <a:r>
              <a:rPr lang="en-US" altLang="fr-EG"/>
              <a:t>Participate in investigations;</a:t>
            </a:r>
          </a:p>
          <a:p>
            <a:pPr lvl="1"/>
            <a:r>
              <a:rPr lang="en-US" altLang="fr-EG"/>
              <a:t>Take appropriate corrective action; </a:t>
            </a:r>
            <a:r>
              <a:rPr lang="en-US" altLang="fr-EG" i="1"/>
              <a:t>and</a:t>
            </a:r>
            <a:endParaRPr lang="en-US" altLang="fr-EG"/>
          </a:p>
          <a:p>
            <a:pPr lvl="1"/>
            <a:r>
              <a:rPr lang="en-US" altLang="fr-EG"/>
              <a:t>Promote and maintain a comfortable, productive working environment.</a:t>
            </a:r>
          </a:p>
        </p:txBody>
      </p:sp>
    </p:spTree>
    <p:extLst>
      <p:ext uri="{BB962C8B-B14F-4D97-AF65-F5344CB8AC3E}">
        <p14:creationId xmlns:p14="http://schemas.microsoft.com/office/powerpoint/2010/main" val="3446426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4">
            <a:extLst>
              <a:ext uri="{FF2B5EF4-FFF2-40B4-BE49-F238E27FC236}">
                <a16:creationId xmlns:a16="http://schemas.microsoft.com/office/drawing/2014/main" id="{41061128-47BE-BA40-BAF0-EE944438207F}"/>
              </a:ext>
            </a:extLst>
          </p:cNvPr>
          <p:cNvSpPr>
            <a:spLocks noGrp="1" noRot="1" noChangeAspect="1" noChangeArrowheads="1" noTextEdit="1"/>
          </p:cNvSpPr>
          <p:nvPr>
            <p:ph type="sldImg"/>
          </p:nvPr>
        </p:nvSpPr>
        <p:spPr>
          <a:ln/>
        </p:spPr>
      </p:sp>
      <p:sp>
        <p:nvSpPr>
          <p:cNvPr id="54274" name="Rectangle 5">
            <a:extLst>
              <a:ext uri="{FF2B5EF4-FFF2-40B4-BE49-F238E27FC236}">
                <a16:creationId xmlns:a16="http://schemas.microsoft.com/office/drawing/2014/main" id="{0E5F158B-5622-7D48-BAE9-05E3D410B6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This session will discuss:</a:t>
            </a:r>
          </a:p>
          <a:p>
            <a:pPr lvl="1"/>
            <a:r>
              <a:rPr lang="en-US" altLang="fr-EG"/>
              <a:t>Handling employee complaints;</a:t>
            </a:r>
          </a:p>
          <a:p>
            <a:pPr lvl="1"/>
            <a:r>
              <a:rPr lang="en-US" altLang="fr-EG"/>
              <a:t>Conducting investigations; </a:t>
            </a:r>
            <a:r>
              <a:rPr lang="en-US" altLang="fr-EG" i="1"/>
              <a:t>and</a:t>
            </a:r>
          </a:p>
          <a:p>
            <a:pPr lvl="1"/>
            <a:r>
              <a:rPr lang="en-US" altLang="fr-EG"/>
              <a:t>Taking corrective action.</a:t>
            </a:r>
          </a:p>
          <a:p>
            <a:pPr lvl="1"/>
            <a:endParaRPr lang="en-US" altLang="fr-EG"/>
          </a:p>
          <a:p>
            <a:pPr lvl="1">
              <a:buFont typeface="Times" pitchFamily="2" charset="0"/>
              <a:buNone/>
            </a:pPr>
            <a:r>
              <a:rPr lang="en-US" altLang="fr-EG"/>
              <a:t>Feel free to ask questions during the presentation if anything is unclear or needs further explanation.</a:t>
            </a:r>
          </a:p>
        </p:txBody>
      </p:sp>
    </p:spTree>
    <p:extLst>
      <p:ext uri="{BB962C8B-B14F-4D97-AF65-F5344CB8AC3E}">
        <p14:creationId xmlns:p14="http://schemas.microsoft.com/office/powerpoint/2010/main" val="3671593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4">
            <a:extLst>
              <a:ext uri="{FF2B5EF4-FFF2-40B4-BE49-F238E27FC236}">
                <a16:creationId xmlns:a16="http://schemas.microsoft.com/office/drawing/2014/main" id="{C8DE5AB7-926B-9041-A8EC-FA61405CF5E1}"/>
              </a:ext>
            </a:extLst>
          </p:cNvPr>
          <p:cNvSpPr>
            <a:spLocks noGrp="1" noRot="1" noChangeAspect="1" noChangeArrowheads="1" noTextEdit="1"/>
          </p:cNvSpPr>
          <p:nvPr>
            <p:ph type="sldImg"/>
          </p:nvPr>
        </p:nvSpPr>
        <p:spPr>
          <a:ln/>
        </p:spPr>
      </p:sp>
      <p:sp>
        <p:nvSpPr>
          <p:cNvPr id="56322" name="Rectangle 5">
            <a:extLst>
              <a:ext uri="{FF2B5EF4-FFF2-40B4-BE49-F238E27FC236}">
                <a16:creationId xmlns:a16="http://schemas.microsoft.com/office/drawing/2014/main" id="{8122905B-D746-D546-B39C-6DA596AA0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Why do you need to know about sexual harassment? First of all, we want all our employees to be able to work in an environment that is free of sexual harassment. You play an essential role in creating and maintaining that kind of environment. You need to know that sexual harassment:</a:t>
            </a:r>
          </a:p>
          <a:p>
            <a:pPr lvl="1"/>
            <a:r>
              <a:rPr lang="en-US" altLang="fr-EG"/>
              <a:t>Damages organizations;</a:t>
            </a:r>
          </a:p>
          <a:p>
            <a:pPr lvl="1"/>
            <a:r>
              <a:rPr lang="en-US" altLang="fr-EG"/>
              <a:t>Undermines trust and respect; </a:t>
            </a:r>
            <a:r>
              <a:rPr lang="en-US" altLang="fr-EG" i="1"/>
              <a:t>and</a:t>
            </a:r>
          </a:p>
          <a:p>
            <a:pPr lvl="1"/>
            <a:r>
              <a:rPr lang="en-US" altLang="fr-EG"/>
              <a:t>Exposes us to damaging liabilities.</a:t>
            </a:r>
          </a:p>
        </p:txBody>
      </p:sp>
    </p:spTree>
    <p:extLst>
      <p:ext uri="{BB962C8B-B14F-4D97-AF65-F5344CB8AC3E}">
        <p14:creationId xmlns:p14="http://schemas.microsoft.com/office/powerpoint/2010/main" val="3844657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4">
            <a:extLst>
              <a:ext uri="{FF2B5EF4-FFF2-40B4-BE49-F238E27FC236}">
                <a16:creationId xmlns:a16="http://schemas.microsoft.com/office/drawing/2014/main" id="{7B397801-DBF4-B44D-82D7-12BE2FA36960}"/>
              </a:ext>
            </a:extLst>
          </p:cNvPr>
          <p:cNvSpPr>
            <a:spLocks noGrp="1" noRot="1" noChangeAspect="1" noChangeArrowheads="1" noTextEdit="1"/>
          </p:cNvSpPr>
          <p:nvPr>
            <p:ph type="sldImg"/>
          </p:nvPr>
        </p:nvSpPr>
        <p:spPr>
          <a:ln/>
        </p:spPr>
      </p:sp>
      <p:sp>
        <p:nvSpPr>
          <p:cNvPr id="58370" name="Rectangle 5">
            <a:extLst>
              <a:ext uri="{FF2B5EF4-FFF2-40B4-BE49-F238E27FC236}">
                <a16:creationId xmlns:a16="http://schemas.microsoft.com/office/drawing/2014/main" id="{4C026932-41AD-3542-ACE1-F4D1E4847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The workplace is automatically held liable for a supervisor’s actions that create a hostile work environment and that result in a tangible employment action.</a:t>
            </a:r>
          </a:p>
          <a:p>
            <a:pPr lvl="1"/>
            <a:r>
              <a:rPr lang="en-US" altLang="fr-EG"/>
              <a:t>If no tangible employment action is taken against the employee by a supervisor, however, we would probably not be held liable if we can show that we made a reasonable effort to prevent and immediately correct workplace harassment—such as by implementing, communicating, and enforcing a sexual harassment policy—and that an employee unreasonably failed to make a complaint under the available policy.</a:t>
            </a:r>
          </a:p>
        </p:txBody>
      </p:sp>
    </p:spTree>
    <p:extLst>
      <p:ext uri="{BB962C8B-B14F-4D97-AF65-F5344CB8AC3E}">
        <p14:creationId xmlns:p14="http://schemas.microsoft.com/office/powerpoint/2010/main" val="293228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6">
            <a:extLst>
              <a:ext uri="{FF2B5EF4-FFF2-40B4-BE49-F238E27FC236}">
                <a16:creationId xmlns:a16="http://schemas.microsoft.com/office/drawing/2014/main" id="{405AB49C-598D-B34F-8C8D-5A59D8F6E710}"/>
              </a:ext>
            </a:extLst>
          </p:cNvPr>
          <p:cNvSpPr>
            <a:spLocks noGrp="1" noRot="1" noChangeAspect="1" noChangeArrowheads="1" noTextEdit="1"/>
          </p:cNvSpPr>
          <p:nvPr>
            <p:ph type="sldImg"/>
          </p:nvPr>
        </p:nvSpPr>
        <p:spPr>
          <a:ln/>
        </p:spPr>
      </p:sp>
      <p:sp>
        <p:nvSpPr>
          <p:cNvPr id="60418" name="Rectangle 7">
            <a:extLst>
              <a:ext uri="{FF2B5EF4-FFF2-40B4-BE49-F238E27FC236}">
                <a16:creationId xmlns:a16="http://schemas.microsoft.com/office/drawing/2014/main" id="{66B4F7C5-911B-3942-B846-19ED82DEC9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dirty="0"/>
              <a:t>Slide Show Notes</a:t>
            </a:r>
          </a:p>
          <a:p>
            <a:pPr lvl="1"/>
            <a:r>
              <a:rPr lang="en-US" altLang="fr-EG" dirty="0"/>
              <a:t>In addition, we may be liable for a hostile work environment created by an employee’s co-workers if we knew or should have known of the harassment and did not immediately address it. For example, if an employee complains to you about a co-worker’s posting of a “pinup” calendar, you—and the organization—are effectively put “on notice” of the harassment and must immediately address and correct the situation.</a:t>
            </a:r>
          </a:p>
          <a:p>
            <a:pPr lvl="1"/>
            <a:r>
              <a:rPr lang="en-US" altLang="fr-EG" dirty="0"/>
              <a:t>We could also be held liable for sexual harassment of our employees by customers, clients, and independent contractors if, again, we knew or should have known about the problem and did nothing to stop it. </a:t>
            </a:r>
          </a:p>
          <a:p>
            <a:r>
              <a:rPr lang="en-US" altLang="fr-EG" dirty="0"/>
              <a:t>Cases like these underline why it is important for you to encourage employees to report sexual harassment immediately and why it is critical for us to act on employee complaints promptly and effectively.</a:t>
            </a:r>
          </a:p>
        </p:txBody>
      </p:sp>
    </p:spTree>
    <p:extLst>
      <p:ext uri="{BB962C8B-B14F-4D97-AF65-F5344CB8AC3E}">
        <p14:creationId xmlns:p14="http://schemas.microsoft.com/office/powerpoint/2010/main" val="1741728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0">
            <a:extLst>
              <a:ext uri="{FF2B5EF4-FFF2-40B4-BE49-F238E27FC236}">
                <a16:creationId xmlns:a16="http://schemas.microsoft.com/office/drawing/2014/main" id="{5AEA0C84-6B28-D245-8AFC-87555C192DDE}"/>
              </a:ext>
            </a:extLst>
          </p:cNvPr>
          <p:cNvSpPr>
            <a:spLocks noGrp="1" noRot="1" noChangeAspect="1" noChangeArrowheads="1" noTextEdit="1"/>
          </p:cNvSpPr>
          <p:nvPr>
            <p:ph type="sldImg"/>
          </p:nvPr>
        </p:nvSpPr>
        <p:spPr>
          <a:ln/>
        </p:spPr>
      </p:sp>
      <p:sp>
        <p:nvSpPr>
          <p:cNvPr id="62466" name="Rectangle 11">
            <a:extLst>
              <a:ext uri="{FF2B5EF4-FFF2-40B4-BE49-F238E27FC236}">
                <a16:creationId xmlns:a16="http://schemas.microsoft.com/office/drawing/2014/main" id="{81B5A493-EA58-644B-BBB3-1394124CE2FE}"/>
              </a:ext>
            </a:extLst>
          </p:cNvPr>
          <p:cNvSpPr>
            <a:spLocks noGrp="1" noChangeArrowheads="1"/>
          </p:cNvSpPr>
          <p:nvPr>
            <p:ph type="body" idx="1"/>
          </p:nvPr>
        </p:nvSpPr>
        <p:spPr>
          <a:xfrm>
            <a:off x="1141413" y="4427538"/>
            <a:ext cx="4654550"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9000"/>
              </a:lnSpc>
            </a:pPr>
            <a:r>
              <a:rPr lang="en-US" altLang="fr-EG" b="1"/>
              <a:t>Slide Show Notes</a:t>
            </a:r>
          </a:p>
          <a:p>
            <a:pPr>
              <a:lnSpc>
                <a:spcPct val="89000"/>
              </a:lnSpc>
            </a:pPr>
            <a:r>
              <a:rPr lang="en-US" altLang="fr-EG"/>
              <a:t>In this part of the session, we’ll look at how to handle employee complaints of sexual harassment, how to investigate charges, and how to take corrective action.</a:t>
            </a:r>
          </a:p>
          <a:p>
            <a:pPr>
              <a:lnSpc>
                <a:spcPct val="89000"/>
              </a:lnSpc>
            </a:pPr>
            <a:r>
              <a:rPr lang="en-US" altLang="fr-EG"/>
              <a:t>In most cases, you will be the first person in management to whom an employee comes to complain about sexual harassment.</a:t>
            </a:r>
          </a:p>
          <a:p>
            <a:pPr lvl="1">
              <a:lnSpc>
                <a:spcPct val="89000"/>
              </a:lnSpc>
            </a:pPr>
            <a:r>
              <a:rPr lang="en-US" altLang="fr-EG"/>
              <a:t>So encourage employees to come forward if they have been sexually harassed. Make sure that there are no obstacles to filing complaints in your department.</a:t>
            </a:r>
          </a:p>
          <a:p>
            <a:pPr lvl="1">
              <a:lnSpc>
                <a:spcPct val="89000"/>
              </a:lnSpc>
            </a:pPr>
            <a:r>
              <a:rPr lang="en-US" altLang="fr-EG"/>
              <a:t>Respond to all complaints. Never ignore any complaint or discourage employees from making complaints. Report the incident immediately to the proper authority. Once a complaint is made to you, a court would say that the organization has officially been put on notice that there is a problem. If you ignore the problem, our organization could be held liable on the basis that we knew or should have known about the harassment.</a:t>
            </a:r>
          </a:p>
          <a:p>
            <a:pPr lvl="1">
              <a:lnSpc>
                <a:spcPct val="89000"/>
              </a:lnSpc>
            </a:pPr>
            <a:r>
              <a:rPr lang="en-US" altLang="fr-EG"/>
              <a:t>Keep in mind that our system allows employees to bypass the normal chain of command when making harassment complaints if the alleged harasser is a supervisor.</a:t>
            </a:r>
          </a:p>
          <a:p>
            <a:pPr>
              <a:lnSpc>
                <a:spcPct val="89000"/>
              </a:lnSpc>
            </a:pPr>
            <a:r>
              <a:rPr lang="en-US" altLang="fr-EG"/>
              <a:t>Make sure you know the name and phone number of the person(s) in the organization to whom employees should report sexual harassment if not to you. Also, make sure you’re familiar with your organization’s sexual harassment reporting form, if you have one.</a:t>
            </a:r>
          </a:p>
          <a:p>
            <a:pPr>
              <a:lnSpc>
                <a:spcPct val="89000"/>
              </a:lnSpc>
            </a:pPr>
            <a:r>
              <a:rPr lang="en-US" altLang="fr-EG" i="1"/>
              <a:t>Tell trainees the name and phone number of the person(s) in the organization to whom they should report all sexual harassment complaints. Review your organization’s sexual harassment reporting form, if applicable.</a:t>
            </a:r>
            <a:endParaRPr lang="en-US" altLang="fr-EG"/>
          </a:p>
        </p:txBody>
      </p:sp>
    </p:spTree>
    <p:extLst>
      <p:ext uri="{BB962C8B-B14F-4D97-AF65-F5344CB8AC3E}">
        <p14:creationId xmlns:p14="http://schemas.microsoft.com/office/powerpoint/2010/main" val="2512542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4">
            <a:extLst>
              <a:ext uri="{FF2B5EF4-FFF2-40B4-BE49-F238E27FC236}">
                <a16:creationId xmlns:a16="http://schemas.microsoft.com/office/drawing/2014/main" id="{CD592ED5-2E24-4B47-A9A3-6C41DCAFEB43}"/>
              </a:ext>
            </a:extLst>
          </p:cNvPr>
          <p:cNvSpPr>
            <a:spLocks noGrp="1" noRot="1" noChangeAspect="1" noChangeArrowheads="1" noTextEdit="1"/>
          </p:cNvSpPr>
          <p:nvPr>
            <p:ph type="sldImg"/>
          </p:nvPr>
        </p:nvSpPr>
        <p:spPr>
          <a:ln/>
        </p:spPr>
      </p:sp>
      <p:sp>
        <p:nvSpPr>
          <p:cNvPr id="64514" name="Rectangle 5">
            <a:extLst>
              <a:ext uri="{FF2B5EF4-FFF2-40B4-BE49-F238E27FC236}">
                <a16:creationId xmlns:a16="http://schemas.microsoft.com/office/drawing/2014/main" id="{47AB9F42-1EA6-CA42-A866-06E55BEEAC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In addition, make clear that complaints will be handled as confidentially as possible. Obviously, we can’t guarantee complete confidentiality, since we can’t conduct an effective investigation without revealing certain information to the alleged harasser and potential witnesses. However, we will share information only with those who need to know about it. Also assure employees that we will keep records relating to complaints confidential.</a:t>
            </a:r>
          </a:p>
          <a:p>
            <a:pPr lvl="1"/>
            <a:r>
              <a:rPr lang="en-US" altLang="fr-EG"/>
              <a:t>Strike a balance between confidentiality and the need to investigate. A conflict could arise if an employee informs you about sexual harassment but asks you to take no action. Inaction by a supervisor in such circumstances could lead to liability for the workplace. While it may seem reasonable to let the employee determine whether to pursue a complaint, we have a duty to prevent and correct harassment. Therefore, you cannot promise an employee that you will take no action in such cases.</a:t>
            </a:r>
          </a:p>
          <a:p>
            <a:pPr lvl="1"/>
            <a:r>
              <a:rPr lang="en-US" altLang="fr-EG"/>
              <a:t>Finally, make every effort to protect everyone’s rights, including the alleged harasser’s rights. Until someone admits particular conduct or until an investigation determines that the conduct occurred, you need to keep an open mind.</a:t>
            </a:r>
          </a:p>
        </p:txBody>
      </p:sp>
    </p:spTree>
    <p:extLst>
      <p:ext uri="{BB962C8B-B14F-4D97-AF65-F5344CB8AC3E}">
        <p14:creationId xmlns:p14="http://schemas.microsoft.com/office/powerpoint/2010/main" val="3620277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4">
            <a:extLst>
              <a:ext uri="{FF2B5EF4-FFF2-40B4-BE49-F238E27FC236}">
                <a16:creationId xmlns:a16="http://schemas.microsoft.com/office/drawing/2014/main" id="{BFA8E9C2-414F-FD49-9B89-11BB8EB39579}"/>
              </a:ext>
            </a:extLst>
          </p:cNvPr>
          <p:cNvSpPr>
            <a:spLocks noGrp="1" noRot="1" noChangeAspect="1" noChangeArrowheads="1" noTextEdit="1"/>
          </p:cNvSpPr>
          <p:nvPr>
            <p:ph type="sldImg"/>
          </p:nvPr>
        </p:nvSpPr>
        <p:spPr>
          <a:ln/>
        </p:spPr>
      </p:sp>
      <p:sp>
        <p:nvSpPr>
          <p:cNvPr id="66562" name="Rectangle 5">
            <a:extLst>
              <a:ext uri="{FF2B5EF4-FFF2-40B4-BE49-F238E27FC236}">
                <a16:creationId xmlns:a16="http://schemas.microsoft.com/office/drawing/2014/main" id="{19AA1FDA-CEFD-3B4C-83A8-86F022006F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When an incident involves an isolated comment or action of a minor nature, a word or two from you may be all that’s needed to deal effectively with the situation. Follow these guidelines:</a:t>
            </a:r>
          </a:p>
          <a:p>
            <a:pPr lvl="1"/>
            <a:r>
              <a:rPr lang="en-US" altLang="fr-EG"/>
              <a:t>First, determine the exact nature of the incident. Find out exactly what happened and who was involved. If this is not an isolated incident, refer the case to the normal management channels for further action according to workplace policy. But if it is a minor, one-time incident, you can proceed to handle it on your own.</a:t>
            </a:r>
          </a:p>
          <a:p>
            <a:pPr lvl="1"/>
            <a:r>
              <a:rPr lang="en-US" altLang="fr-EG"/>
              <a:t>Next, sit down with the alleged harasser and hear his or her explanation of the incident. Sometimes people honestly don’t realize how their words or actions affect other people. Explain that behavior of the kind alleged is not tolerated in the organization. Review our sexual harassment policy. Make it clear that any future incidents will result in discipline. </a:t>
            </a:r>
          </a:p>
          <a:p>
            <a:pPr lvl="1"/>
            <a:r>
              <a:rPr lang="en-US" altLang="fr-EG"/>
              <a:t>Reassure the victim that the matter has been handled and that he or she should not expect any further trouble. Also make it clear to the victim that if there is even a hint of the offensive behavior continuing, the employee should report to you immediately, and you will take further steps to deal with the problem.</a:t>
            </a:r>
          </a:p>
          <a:p>
            <a:pPr lvl="1"/>
            <a:r>
              <a:rPr lang="en-US" altLang="fr-EG"/>
              <a:t>Finally, monitor the situation carefully to make sure there is no further problem.</a:t>
            </a:r>
          </a:p>
        </p:txBody>
      </p:sp>
    </p:spTree>
    <p:extLst>
      <p:ext uri="{BB962C8B-B14F-4D97-AF65-F5344CB8AC3E}">
        <p14:creationId xmlns:p14="http://schemas.microsoft.com/office/powerpoint/2010/main" val="2713841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6">
            <a:extLst>
              <a:ext uri="{FF2B5EF4-FFF2-40B4-BE49-F238E27FC236}">
                <a16:creationId xmlns:a16="http://schemas.microsoft.com/office/drawing/2014/main" id="{FC8B726B-95B8-3542-98DD-A48072A76877}"/>
              </a:ext>
            </a:extLst>
          </p:cNvPr>
          <p:cNvSpPr>
            <a:spLocks noGrp="1" noRot="1" noChangeAspect="1" noChangeArrowheads="1" noTextEdit="1"/>
          </p:cNvSpPr>
          <p:nvPr>
            <p:ph type="sldImg"/>
          </p:nvPr>
        </p:nvSpPr>
        <p:spPr>
          <a:ln/>
        </p:spPr>
      </p:sp>
      <p:sp>
        <p:nvSpPr>
          <p:cNvPr id="68610" name="Rectangle 7">
            <a:extLst>
              <a:ext uri="{FF2B5EF4-FFF2-40B4-BE49-F238E27FC236}">
                <a16:creationId xmlns:a16="http://schemas.microsoft.com/office/drawing/2014/main" id="{D9AC6D52-E66E-E440-B0D2-7F0A2DF72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endParaRPr lang="en-US" altLang="fr-EG"/>
          </a:p>
          <a:p>
            <a:r>
              <a:rPr lang="en-US" altLang="fr-EG"/>
              <a:t>During an investigation you must ask a number of key questions to various people who may be involved in one way or another with the incident.  </a:t>
            </a:r>
            <a:r>
              <a:rPr lang="en-US" altLang="fr-EG" i="1"/>
              <a:t>(Refer attendees to handout in packet).</a:t>
            </a:r>
          </a:p>
          <a:p>
            <a:pPr lvl="1"/>
            <a:r>
              <a:rPr lang="en-US" altLang="fr-EG"/>
              <a:t>Questions for the person making the complaint might include:</a:t>
            </a:r>
          </a:p>
          <a:p>
            <a:pPr lvl="2"/>
            <a:r>
              <a:rPr lang="en-US" altLang="fr-EG"/>
              <a:t>Who committed the alleged harassment? What exactly occurred or was said? When did it occur, and is it still going on? Where did it occur? How often did it occur? How did it affect you?</a:t>
            </a:r>
          </a:p>
          <a:p>
            <a:pPr lvl="2"/>
            <a:r>
              <a:rPr lang="en-US" altLang="fr-EG"/>
              <a:t>How did you react? What response did you make when the incident occurred or afterwards?</a:t>
            </a:r>
          </a:p>
          <a:p>
            <a:pPr lvl="2"/>
            <a:r>
              <a:rPr lang="en-US" altLang="fr-EG"/>
              <a:t>How did the harassment affect you? How did it affect your job performance?</a:t>
            </a:r>
          </a:p>
          <a:p>
            <a:pPr lvl="2"/>
            <a:r>
              <a:rPr lang="en-US" altLang="fr-EG"/>
              <a:t>Is there anyone who has relevant information? Was anyone present when the incident occurred? Did you tell anyone about it? Did anyone see you immediately after episodes of alleged harassment?</a:t>
            </a:r>
          </a:p>
          <a:p>
            <a:pPr lvl="2"/>
            <a:r>
              <a:rPr lang="en-US" altLang="fr-EG"/>
              <a:t>Do you know whether anyone else has been harassed by this person?</a:t>
            </a:r>
          </a:p>
          <a:p>
            <a:pPr lvl="2"/>
            <a:r>
              <a:rPr lang="en-US" altLang="fr-EG"/>
              <a:t>Are there any notes, physical evidence, or other documentation regarding the incident?</a:t>
            </a:r>
          </a:p>
          <a:p>
            <a:pPr lvl="2"/>
            <a:r>
              <a:rPr lang="en-US" altLang="fr-EG"/>
              <a:t>How would you like to see the situation resolved?</a:t>
            </a:r>
          </a:p>
          <a:p>
            <a:pPr lvl="2"/>
            <a:r>
              <a:rPr lang="en-US" altLang="fr-EG"/>
              <a:t>Finally, do you have any other relevant information?</a:t>
            </a:r>
          </a:p>
          <a:p>
            <a:pPr lvl="1"/>
            <a:endParaRPr lang="en-US" altLang="fr-EG"/>
          </a:p>
        </p:txBody>
      </p:sp>
    </p:spTree>
    <p:extLst>
      <p:ext uri="{BB962C8B-B14F-4D97-AF65-F5344CB8AC3E}">
        <p14:creationId xmlns:p14="http://schemas.microsoft.com/office/powerpoint/2010/main" val="2821596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4">
            <a:extLst>
              <a:ext uri="{FF2B5EF4-FFF2-40B4-BE49-F238E27FC236}">
                <a16:creationId xmlns:a16="http://schemas.microsoft.com/office/drawing/2014/main" id="{5DB81746-A705-574C-9CDF-7E309FB19770}"/>
              </a:ext>
            </a:extLst>
          </p:cNvPr>
          <p:cNvSpPr>
            <a:spLocks noGrp="1" noRot="1" noChangeAspect="1" noChangeArrowheads="1" noTextEdit="1"/>
          </p:cNvSpPr>
          <p:nvPr>
            <p:ph type="sldImg"/>
          </p:nvPr>
        </p:nvSpPr>
        <p:spPr>
          <a:ln/>
        </p:spPr>
      </p:sp>
      <p:sp>
        <p:nvSpPr>
          <p:cNvPr id="70658" name="Rectangle 5">
            <a:extLst>
              <a:ext uri="{FF2B5EF4-FFF2-40B4-BE49-F238E27FC236}">
                <a16:creationId xmlns:a16="http://schemas.microsoft.com/office/drawing/2014/main" id="{A21C10FF-5D77-D240-B44D-39E4C5FBD1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Questions for the alleged harasser might include the following:</a:t>
            </a:r>
          </a:p>
          <a:p>
            <a:pPr lvl="2"/>
            <a:r>
              <a:rPr lang="en-US" altLang="fr-EG"/>
              <a:t>What is your response to the allegations?</a:t>
            </a:r>
          </a:p>
          <a:p>
            <a:pPr lvl="2"/>
            <a:r>
              <a:rPr lang="en-US" altLang="fr-EG"/>
              <a:t>If this person claims that the allegations are false, ask why the person making the complaint might lie.</a:t>
            </a:r>
          </a:p>
          <a:p>
            <a:pPr lvl="2"/>
            <a:r>
              <a:rPr lang="en-US" altLang="fr-EG"/>
              <a:t>Are there any other employees who have relevant information about the charges?</a:t>
            </a:r>
          </a:p>
          <a:p>
            <a:pPr lvl="2"/>
            <a:r>
              <a:rPr lang="en-US" altLang="fr-EG"/>
              <a:t>Are there any notes, physical evidence, or other documentation regarding the incident?</a:t>
            </a:r>
          </a:p>
          <a:p>
            <a:pPr lvl="2"/>
            <a:r>
              <a:rPr lang="en-US" altLang="fr-EG"/>
              <a:t>And do you know of any other relevant information?</a:t>
            </a:r>
          </a:p>
          <a:p>
            <a:pPr lvl="1"/>
            <a:r>
              <a:rPr lang="en-US" altLang="fr-EG"/>
              <a:t>Questions for witnesses might include the following:</a:t>
            </a:r>
          </a:p>
          <a:p>
            <a:pPr lvl="2"/>
            <a:r>
              <a:rPr lang="en-US" altLang="fr-EG"/>
              <a:t>What did you see or hear? When did this occur? Describe the alleged harasser’s behavior toward the person who complained and toward others in the workplace.</a:t>
            </a:r>
          </a:p>
          <a:p>
            <a:pPr lvl="2"/>
            <a:r>
              <a:rPr lang="en-US" altLang="fr-EG"/>
              <a:t>What did the person who complained of harassment tell you? When did he or she tell you this?</a:t>
            </a:r>
          </a:p>
          <a:p>
            <a:pPr lvl="2"/>
            <a:r>
              <a:rPr lang="en-US" altLang="fr-EG"/>
              <a:t>Do you know of any other relevant information?</a:t>
            </a:r>
          </a:p>
          <a:p>
            <a:pPr lvl="2"/>
            <a:r>
              <a:rPr lang="en-US" altLang="fr-EG"/>
              <a:t>And are there other employees who have relevant information?</a:t>
            </a:r>
          </a:p>
          <a:p>
            <a:endParaRPr lang="en-US" altLang="fr-EG"/>
          </a:p>
        </p:txBody>
      </p:sp>
    </p:spTree>
    <p:extLst>
      <p:ext uri="{BB962C8B-B14F-4D97-AF65-F5344CB8AC3E}">
        <p14:creationId xmlns:p14="http://schemas.microsoft.com/office/powerpoint/2010/main" val="3885918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4">
            <a:extLst>
              <a:ext uri="{FF2B5EF4-FFF2-40B4-BE49-F238E27FC236}">
                <a16:creationId xmlns:a16="http://schemas.microsoft.com/office/drawing/2014/main" id="{C3FA4749-9241-5748-BB5A-36E96B919EAD}"/>
              </a:ext>
            </a:extLst>
          </p:cNvPr>
          <p:cNvSpPr>
            <a:spLocks noGrp="1" noRot="1" noChangeAspect="1" noChangeArrowheads="1" noTextEdit="1"/>
          </p:cNvSpPr>
          <p:nvPr>
            <p:ph type="sldImg"/>
          </p:nvPr>
        </p:nvSpPr>
        <p:spPr>
          <a:ln/>
        </p:spPr>
      </p:sp>
      <p:sp>
        <p:nvSpPr>
          <p:cNvPr id="72706" name="Rectangle 5">
            <a:extLst>
              <a:ext uri="{FF2B5EF4-FFF2-40B4-BE49-F238E27FC236}">
                <a16:creationId xmlns:a16="http://schemas.microsoft.com/office/drawing/2014/main" id="{7604C5DA-13F6-3A43-9FDB-A3C394C533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Whenever an investigation determines that harassment has occurred in violation of our policy and the law, we must take immediate and effective corrective action. Always consult with the human resources department before taking any action in these cases.</a:t>
            </a:r>
          </a:p>
          <a:p>
            <a:pPr lvl="1"/>
            <a:r>
              <a:rPr lang="en-US" altLang="fr-EG"/>
              <a:t>The remedial measures we decide to take must do three things: First, stop the harassment; second, correct its effects on the victim; and finally, ensure that the harassment does not recur. These remedial measures need not be those that the victim requests or prefers, as long as they are effective.</a:t>
            </a:r>
          </a:p>
          <a:p>
            <a:pPr lvl="1"/>
            <a:r>
              <a:rPr lang="en-US" altLang="fr-EG"/>
              <a:t>We have to keep in mind that the organization could be found liable if the harassment does not stop. At the same time, we want to make sure that our disciplinary action doesn’t subject us to claims, such as wrongful discharge, from the harasser. To balance these competing concerns, make sure disciplinary measures are proportional to the seriousness of the offense.</a:t>
            </a:r>
          </a:p>
          <a:p>
            <a:pPr lvl="2"/>
            <a:endParaRPr lang="en-US" altLang="fr-EG"/>
          </a:p>
          <a:p>
            <a:pPr lvl="1"/>
            <a:endParaRPr lang="en-US" altLang="fr-EG"/>
          </a:p>
          <a:p>
            <a:endParaRPr lang="en-US" altLang="fr-EG"/>
          </a:p>
          <a:p>
            <a:endParaRPr lang="en-US" altLang="fr-EG"/>
          </a:p>
          <a:p>
            <a:endParaRPr lang="en-US" altLang="fr-EG"/>
          </a:p>
        </p:txBody>
      </p:sp>
    </p:spTree>
    <p:extLst>
      <p:ext uri="{BB962C8B-B14F-4D97-AF65-F5344CB8AC3E}">
        <p14:creationId xmlns:p14="http://schemas.microsoft.com/office/powerpoint/2010/main" val="328943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4">
            <a:extLst>
              <a:ext uri="{FF2B5EF4-FFF2-40B4-BE49-F238E27FC236}">
                <a16:creationId xmlns:a16="http://schemas.microsoft.com/office/drawing/2014/main" id="{244406B0-1710-274D-A15E-60CFA9DAA945}"/>
              </a:ext>
            </a:extLst>
          </p:cNvPr>
          <p:cNvSpPr>
            <a:spLocks noGrp="1" noRot="1" noChangeAspect="1" noChangeArrowheads="1" noTextEdit="1"/>
          </p:cNvSpPr>
          <p:nvPr>
            <p:ph type="sldImg"/>
          </p:nvPr>
        </p:nvSpPr>
        <p:spPr>
          <a:ln/>
        </p:spPr>
      </p:sp>
      <p:sp>
        <p:nvSpPr>
          <p:cNvPr id="74754" name="Rectangle 5">
            <a:extLst>
              <a:ext uri="{FF2B5EF4-FFF2-40B4-BE49-F238E27FC236}">
                <a16:creationId xmlns:a16="http://schemas.microsoft.com/office/drawing/2014/main" id="{13680A3E-0A55-1045-8B7C-652CE3BA53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Furthermore, whatever action you take, it should not adversely affect the victim. For example, if it is necessary to separate the parties, the harasser should be transferred—unless the victim prefers otherwise. Remedial responses that penalize the victim could constitute unlawful retaliation and are not effective in correcting the harassment.</a:t>
            </a:r>
          </a:p>
          <a:p>
            <a:pPr lvl="1"/>
            <a:r>
              <a:rPr lang="en-US" altLang="fr-EG"/>
              <a:t>In addition, remedial measures should stop the harassment cold and ensure that it does not recur. Such action might include one or more of the following actions against the harasser:</a:t>
            </a:r>
          </a:p>
          <a:p>
            <a:pPr lvl="2"/>
            <a:r>
              <a:rPr lang="en-US" altLang="fr-EG"/>
              <a:t>Oral or written warning or reprimand;</a:t>
            </a:r>
          </a:p>
          <a:p>
            <a:pPr lvl="2"/>
            <a:r>
              <a:rPr lang="en-US" altLang="fr-EG"/>
              <a:t>Transfer or reassignment; </a:t>
            </a:r>
          </a:p>
          <a:p>
            <a:pPr lvl="2"/>
            <a:r>
              <a:rPr lang="en-US" altLang="fr-EG"/>
              <a:t>Demotion;</a:t>
            </a:r>
          </a:p>
          <a:p>
            <a:pPr lvl="2"/>
            <a:r>
              <a:rPr lang="en-US" altLang="fr-EG"/>
              <a:t>Suspension;</a:t>
            </a:r>
          </a:p>
          <a:p>
            <a:pPr lvl="2"/>
            <a:r>
              <a:rPr lang="en-US" altLang="fr-EG"/>
              <a:t>Discharge;</a:t>
            </a:r>
          </a:p>
          <a:p>
            <a:pPr lvl="2"/>
            <a:r>
              <a:rPr lang="en-US" altLang="fr-EG"/>
              <a:t>Training or counseling to ensure that the harasser understands why his or her conduct violated the organization’s antiharassment policy; </a:t>
            </a:r>
            <a:r>
              <a:rPr lang="en-US" altLang="fr-EG" i="1"/>
              <a:t>and</a:t>
            </a:r>
          </a:p>
          <a:p>
            <a:pPr lvl="2"/>
            <a:r>
              <a:rPr lang="en-US" altLang="fr-EG"/>
              <a:t>Monitoring to ensure that the harassment has indeed stopped.</a:t>
            </a:r>
          </a:p>
        </p:txBody>
      </p:sp>
    </p:spTree>
    <p:extLst>
      <p:ext uri="{BB962C8B-B14F-4D97-AF65-F5344CB8AC3E}">
        <p14:creationId xmlns:p14="http://schemas.microsoft.com/office/powerpoint/2010/main" val="2658293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4">
            <a:extLst>
              <a:ext uri="{FF2B5EF4-FFF2-40B4-BE49-F238E27FC236}">
                <a16:creationId xmlns:a16="http://schemas.microsoft.com/office/drawing/2014/main" id="{C64CB805-3B9C-8146-9835-585672D45019}"/>
              </a:ext>
            </a:extLst>
          </p:cNvPr>
          <p:cNvSpPr>
            <a:spLocks noGrp="1" noRot="1" noChangeAspect="1" noChangeArrowheads="1" noTextEdit="1"/>
          </p:cNvSpPr>
          <p:nvPr>
            <p:ph type="sldImg"/>
          </p:nvPr>
        </p:nvSpPr>
        <p:spPr>
          <a:ln/>
        </p:spPr>
      </p:sp>
      <p:sp>
        <p:nvSpPr>
          <p:cNvPr id="76802" name="Rectangle 5">
            <a:extLst>
              <a:ext uri="{FF2B5EF4-FFF2-40B4-BE49-F238E27FC236}">
                <a16:creationId xmlns:a16="http://schemas.microsoft.com/office/drawing/2014/main" id="{62DD858E-57A6-9949-938A-BFDB14E88E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pPr lvl="1"/>
            <a:r>
              <a:rPr lang="en-US" altLang="fr-EG"/>
              <a:t>Remember that the goal of remedial measures is to put the victim in the position he or she would have been in had the misconduct not occurred. Such action, therefore, might include:</a:t>
            </a:r>
          </a:p>
          <a:p>
            <a:pPr lvl="2"/>
            <a:r>
              <a:rPr lang="en-US" altLang="fr-EG"/>
              <a:t>Restoration of leave taken because of the harassment;</a:t>
            </a:r>
          </a:p>
          <a:p>
            <a:pPr lvl="2"/>
            <a:r>
              <a:rPr lang="en-US" altLang="fr-EG"/>
              <a:t>Removal of any negative evaluations in the employee’s personnel file that arose from the harassment;</a:t>
            </a:r>
          </a:p>
          <a:p>
            <a:pPr lvl="2"/>
            <a:r>
              <a:rPr lang="en-US" altLang="fr-EG"/>
              <a:t>Reinstatement if the victim quit or lost a job because of harassment;</a:t>
            </a:r>
          </a:p>
          <a:p>
            <a:pPr lvl="2"/>
            <a:r>
              <a:rPr lang="en-US" altLang="fr-EG"/>
              <a:t>Apology by the harasser;</a:t>
            </a:r>
          </a:p>
          <a:p>
            <a:pPr lvl="2"/>
            <a:r>
              <a:rPr lang="en-US" altLang="fr-EG"/>
              <a:t>Monitoring treatment of the employee to ensure that he or she is not subjected to retaliation by the harasser or others in the workplace because of the complaint; </a:t>
            </a:r>
            <a:r>
              <a:rPr lang="en-US" altLang="fr-EG" i="1"/>
              <a:t>and</a:t>
            </a:r>
          </a:p>
          <a:p>
            <a:pPr lvl="2"/>
            <a:r>
              <a:rPr lang="en-US" altLang="fr-EG"/>
              <a:t>Correction of any other harm caused by the harassment—for example, compensation for any losses directly resulting from the harassment.</a:t>
            </a:r>
          </a:p>
          <a:p>
            <a:pPr lvl="1"/>
            <a:r>
              <a:rPr lang="en-US" altLang="fr-EG"/>
              <a:t>Finally, follow up with both parties to make sure the problem is truly solved. Monitor the situation until you are fully convinced that the remedial measures have had the desired effect.</a:t>
            </a:r>
          </a:p>
          <a:p>
            <a:r>
              <a:rPr lang="en-US" altLang="fr-EG" i="1"/>
              <a:t>Conduct Exercise together as a group.</a:t>
            </a:r>
          </a:p>
        </p:txBody>
      </p:sp>
    </p:spTree>
    <p:extLst>
      <p:ext uri="{BB962C8B-B14F-4D97-AF65-F5344CB8AC3E}">
        <p14:creationId xmlns:p14="http://schemas.microsoft.com/office/powerpoint/2010/main" val="1510686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4">
            <a:extLst>
              <a:ext uri="{FF2B5EF4-FFF2-40B4-BE49-F238E27FC236}">
                <a16:creationId xmlns:a16="http://schemas.microsoft.com/office/drawing/2014/main" id="{39F3C403-5C2D-5248-9CAF-359F28278EFA}"/>
              </a:ext>
            </a:extLst>
          </p:cNvPr>
          <p:cNvSpPr>
            <a:spLocks noGrp="1" noRot="1" noChangeAspect="1" noChangeArrowheads="1" noTextEdit="1"/>
          </p:cNvSpPr>
          <p:nvPr>
            <p:ph type="sldImg"/>
          </p:nvPr>
        </p:nvSpPr>
        <p:spPr>
          <a:ln/>
        </p:spPr>
      </p:sp>
      <p:sp>
        <p:nvSpPr>
          <p:cNvPr id="78850" name="Rectangle 5">
            <a:extLst>
              <a:ext uri="{FF2B5EF4-FFF2-40B4-BE49-F238E27FC236}">
                <a16:creationId xmlns:a16="http://schemas.microsoft.com/office/drawing/2014/main" id="{092FD445-37B2-3243-9E64-6D8E1BE33F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fr-EG" b="1"/>
              <a:t>Slide Show Notes</a:t>
            </a:r>
          </a:p>
          <a:p>
            <a:r>
              <a:rPr lang="en-US" altLang="fr-EG"/>
              <a:t>Here are the key points you should remember from this training session:</a:t>
            </a:r>
          </a:p>
          <a:p>
            <a:pPr lvl="1"/>
            <a:r>
              <a:rPr lang="en-US" altLang="fr-EG"/>
              <a:t>Sexual harassment is prohibited by law and workplace policy.</a:t>
            </a:r>
          </a:p>
          <a:p>
            <a:pPr lvl="1"/>
            <a:r>
              <a:rPr lang="en-US" altLang="fr-EG"/>
              <a:t>It involves more than physical conduct; it can also be verbal or visual.</a:t>
            </a:r>
          </a:p>
          <a:p>
            <a:pPr lvl="1"/>
            <a:r>
              <a:rPr lang="en-US" altLang="fr-EG"/>
              <a:t>Sexual harassment harms us all. </a:t>
            </a:r>
          </a:p>
          <a:p>
            <a:pPr lvl="1"/>
            <a:r>
              <a:rPr lang="en-US" altLang="fr-EG"/>
              <a:t>And finally, you have a responsibility to help prevent it.</a:t>
            </a:r>
          </a:p>
          <a:p>
            <a:r>
              <a:rPr lang="en-US" altLang="fr-EG"/>
              <a:t>This concludes this training session.</a:t>
            </a:r>
            <a:endParaRPr lang="en-US" altLang="fr-EG" i="1"/>
          </a:p>
          <a:p>
            <a:r>
              <a:rPr lang="en-US" altLang="fr-EG" i="1"/>
              <a:t>Give the quiz addendum.</a:t>
            </a:r>
          </a:p>
        </p:txBody>
      </p:sp>
    </p:spTree>
    <p:extLst>
      <p:ext uri="{BB962C8B-B14F-4D97-AF65-F5344CB8AC3E}">
        <p14:creationId xmlns:p14="http://schemas.microsoft.com/office/powerpoint/2010/main" val="2477746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27CD3B-925F-0F4F-8A2B-1A500C60C8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EG"/>
          </a:p>
        </p:txBody>
      </p:sp>
      <p:sp>
        <p:nvSpPr>
          <p:cNvPr id="3" name="Sous-titre 2">
            <a:extLst>
              <a:ext uri="{FF2B5EF4-FFF2-40B4-BE49-F238E27FC236}">
                <a16:creationId xmlns:a16="http://schemas.microsoft.com/office/drawing/2014/main" id="{390F9BDF-4045-774E-A1A2-AC7EDE0A01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EG"/>
          </a:p>
        </p:txBody>
      </p:sp>
      <p:sp>
        <p:nvSpPr>
          <p:cNvPr id="4" name="Espace réservé de la date 3">
            <a:extLst>
              <a:ext uri="{FF2B5EF4-FFF2-40B4-BE49-F238E27FC236}">
                <a16:creationId xmlns:a16="http://schemas.microsoft.com/office/drawing/2014/main" id="{EC2E2738-64F1-6343-A559-FCD83E5A55D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06240509-0EE5-0C45-B255-1A84126923FD}"/>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AF560720-F197-144F-9712-C88CAB7DC3A0}"/>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2769424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EF6BC2-17A1-264B-B779-9203326558CB}"/>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AC483FBD-DFDB-3143-96AA-53D8F43B06E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E99BF17-1818-134C-8A44-3D8D852F72B3}"/>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5AFEA72-2E27-6542-BBF7-C74F0D0421BC}"/>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40FCE3F2-44BE-0040-B081-B5410924647C}"/>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850295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822805-A6CC-F04B-8CAC-57C9E0D06A1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EG"/>
          </a:p>
        </p:txBody>
      </p:sp>
      <p:sp>
        <p:nvSpPr>
          <p:cNvPr id="3" name="Espace réservé du texte 2">
            <a:extLst>
              <a:ext uri="{FF2B5EF4-FFF2-40B4-BE49-F238E27FC236}">
                <a16:creationId xmlns:a16="http://schemas.microsoft.com/office/drawing/2014/main" id="{ED380134-F835-5248-B405-2447E8091B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642CA02-2754-A242-86DB-FA5388F87338}"/>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D21860E7-B7BE-3046-B371-987D2D999CAA}"/>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02E2A667-50C6-4C4C-912E-57B43896D51D}"/>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318201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9E4238-FFF3-1D47-8B7E-BA1CB7CC6691}"/>
              </a:ext>
            </a:extLst>
          </p:cNvPr>
          <p:cNvSpPr>
            <a:spLocks noGrp="1"/>
          </p:cNvSpPr>
          <p:nvPr>
            <p:ph type="title"/>
          </p:nvPr>
        </p:nvSpPr>
        <p:spPr/>
        <p:txBody>
          <a:bodyPr/>
          <a:lstStyle/>
          <a:p>
            <a:r>
              <a:rPr lang="fr-FR"/>
              <a:t>Modifiez le style du titre</a:t>
            </a:r>
            <a:endParaRPr lang="fr-EG"/>
          </a:p>
        </p:txBody>
      </p:sp>
      <p:sp>
        <p:nvSpPr>
          <p:cNvPr id="3" name="Espace réservé du contenu 2">
            <a:extLst>
              <a:ext uri="{FF2B5EF4-FFF2-40B4-BE49-F238E27FC236}">
                <a16:creationId xmlns:a16="http://schemas.microsoft.com/office/drawing/2014/main" id="{A56FEDE1-5CAA-0647-97B9-B42F3FA3F56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contenu 3">
            <a:extLst>
              <a:ext uri="{FF2B5EF4-FFF2-40B4-BE49-F238E27FC236}">
                <a16:creationId xmlns:a16="http://schemas.microsoft.com/office/drawing/2014/main" id="{C06588F1-781C-274C-842B-36442EB1E54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e la date 4">
            <a:extLst>
              <a:ext uri="{FF2B5EF4-FFF2-40B4-BE49-F238E27FC236}">
                <a16:creationId xmlns:a16="http://schemas.microsoft.com/office/drawing/2014/main" id="{9534FBC9-970E-BA4F-80DE-764E8332C6A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31214095-87CB-D54E-9245-C0B46690F84B}"/>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9140658F-E4FB-4947-8DCC-C56FC5B868E6}"/>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969922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E2599B-313F-C543-AFC1-0FB10DBD328F}"/>
              </a:ext>
            </a:extLst>
          </p:cNvPr>
          <p:cNvSpPr>
            <a:spLocks noGrp="1"/>
          </p:cNvSpPr>
          <p:nvPr>
            <p:ph type="title"/>
          </p:nvPr>
        </p:nvSpPr>
        <p:spPr>
          <a:xfrm>
            <a:off x="839788" y="365125"/>
            <a:ext cx="10515600" cy="1325563"/>
          </a:xfrm>
        </p:spPr>
        <p:txBody>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77963CBF-6C81-0D43-BD21-399953A5B7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F5DB353-4154-6547-8F51-61C90BB2651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5" name="Espace réservé du texte 4">
            <a:extLst>
              <a:ext uri="{FF2B5EF4-FFF2-40B4-BE49-F238E27FC236}">
                <a16:creationId xmlns:a16="http://schemas.microsoft.com/office/drawing/2014/main" id="{35784A82-7E4D-B14F-8574-40F9C5DBE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28E6171-C054-2B4E-A6AC-24EF94FE3B0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7" name="Espace réservé de la date 6">
            <a:extLst>
              <a:ext uri="{FF2B5EF4-FFF2-40B4-BE49-F238E27FC236}">
                <a16:creationId xmlns:a16="http://schemas.microsoft.com/office/drawing/2014/main" id="{28999962-94F8-0C43-8D3C-8F7C0CC20EC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8" name="Espace réservé du pied de page 7">
            <a:extLst>
              <a:ext uri="{FF2B5EF4-FFF2-40B4-BE49-F238E27FC236}">
                <a16:creationId xmlns:a16="http://schemas.microsoft.com/office/drawing/2014/main" id="{86A47228-9E5E-F64A-94CD-E0BD089C9DC0}"/>
              </a:ext>
            </a:extLst>
          </p:cNvPr>
          <p:cNvSpPr>
            <a:spLocks noGrp="1"/>
          </p:cNvSpPr>
          <p:nvPr>
            <p:ph type="ftr" sz="quarter" idx="11"/>
          </p:nvPr>
        </p:nvSpPr>
        <p:spPr/>
        <p:txBody>
          <a:bodyPr/>
          <a:lstStyle/>
          <a:p>
            <a:endParaRPr lang="fr-EG"/>
          </a:p>
        </p:txBody>
      </p:sp>
      <p:sp>
        <p:nvSpPr>
          <p:cNvPr id="9" name="Espace réservé du numéro de diapositive 8">
            <a:extLst>
              <a:ext uri="{FF2B5EF4-FFF2-40B4-BE49-F238E27FC236}">
                <a16:creationId xmlns:a16="http://schemas.microsoft.com/office/drawing/2014/main" id="{15E9F525-8EC6-1948-8664-675118121C57}"/>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794969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EF42E-2F35-1C4B-9EAE-F68B9B13FB31}"/>
              </a:ext>
            </a:extLst>
          </p:cNvPr>
          <p:cNvSpPr>
            <a:spLocks noGrp="1"/>
          </p:cNvSpPr>
          <p:nvPr>
            <p:ph type="title"/>
          </p:nvPr>
        </p:nvSpPr>
        <p:spPr/>
        <p:txBody>
          <a:bodyPr/>
          <a:lstStyle/>
          <a:p>
            <a:r>
              <a:rPr lang="fr-FR"/>
              <a:t>Modifiez le style du titre</a:t>
            </a:r>
            <a:endParaRPr lang="fr-EG"/>
          </a:p>
        </p:txBody>
      </p:sp>
      <p:sp>
        <p:nvSpPr>
          <p:cNvPr id="3" name="Espace réservé de la date 2">
            <a:extLst>
              <a:ext uri="{FF2B5EF4-FFF2-40B4-BE49-F238E27FC236}">
                <a16:creationId xmlns:a16="http://schemas.microsoft.com/office/drawing/2014/main" id="{B45D8B6A-776A-C346-9472-138A7A1BADA1}"/>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4" name="Espace réservé du pied de page 3">
            <a:extLst>
              <a:ext uri="{FF2B5EF4-FFF2-40B4-BE49-F238E27FC236}">
                <a16:creationId xmlns:a16="http://schemas.microsoft.com/office/drawing/2014/main" id="{DE4A7C31-3A4F-9748-AC9B-09F59A815FC8}"/>
              </a:ext>
            </a:extLst>
          </p:cNvPr>
          <p:cNvSpPr>
            <a:spLocks noGrp="1"/>
          </p:cNvSpPr>
          <p:nvPr>
            <p:ph type="ftr" sz="quarter" idx="11"/>
          </p:nvPr>
        </p:nvSpPr>
        <p:spPr/>
        <p:txBody>
          <a:bodyPr/>
          <a:lstStyle/>
          <a:p>
            <a:endParaRPr lang="fr-EG"/>
          </a:p>
        </p:txBody>
      </p:sp>
      <p:sp>
        <p:nvSpPr>
          <p:cNvPr id="5" name="Espace réservé du numéro de diapositive 4">
            <a:extLst>
              <a:ext uri="{FF2B5EF4-FFF2-40B4-BE49-F238E27FC236}">
                <a16:creationId xmlns:a16="http://schemas.microsoft.com/office/drawing/2014/main" id="{7CE4E6CE-F8F0-2348-BC63-2BA75D671A69}"/>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27009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9520ACF-9FEA-2943-B827-C72172201396}"/>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3" name="Espace réservé du pied de page 2">
            <a:extLst>
              <a:ext uri="{FF2B5EF4-FFF2-40B4-BE49-F238E27FC236}">
                <a16:creationId xmlns:a16="http://schemas.microsoft.com/office/drawing/2014/main" id="{D76BBA76-2FA8-EE4C-A329-14F51F52FB40}"/>
              </a:ext>
            </a:extLst>
          </p:cNvPr>
          <p:cNvSpPr>
            <a:spLocks noGrp="1"/>
          </p:cNvSpPr>
          <p:nvPr>
            <p:ph type="ftr" sz="quarter" idx="11"/>
          </p:nvPr>
        </p:nvSpPr>
        <p:spPr/>
        <p:txBody>
          <a:bodyPr/>
          <a:lstStyle/>
          <a:p>
            <a:endParaRPr lang="fr-EG"/>
          </a:p>
        </p:txBody>
      </p:sp>
      <p:sp>
        <p:nvSpPr>
          <p:cNvPr id="4" name="Espace réservé du numéro de diapositive 3">
            <a:extLst>
              <a:ext uri="{FF2B5EF4-FFF2-40B4-BE49-F238E27FC236}">
                <a16:creationId xmlns:a16="http://schemas.microsoft.com/office/drawing/2014/main" id="{155587CB-9F7D-B943-B12A-0D86DF24E99D}"/>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1644989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54F542-4072-CA42-AB23-C2F599BF14D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du contenu 2">
            <a:extLst>
              <a:ext uri="{FF2B5EF4-FFF2-40B4-BE49-F238E27FC236}">
                <a16:creationId xmlns:a16="http://schemas.microsoft.com/office/drawing/2014/main" id="{ADE2F208-2748-774A-B69C-DA522020FD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u texte 3">
            <a:extLst>
              <a:ext uri="{FF2B5EF4-FFF2-40B4-BE49-F238E27FC236}">
                <a16:creationId xmlns:a16="http://schemas.microsoft.com/office/drawing/2014/main" id="{D6915D63-9734-EB44-B5CE-0F426F52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74CE650-7570-1F42-9235-07E49AB053AA}"/>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4A03552B-F838-BB49-91FF-615A0138E58B}"/>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724A1E78-130A-B94F-A7BD-E47DD608F4F2}"/>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610513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CCAA15-E73B-094A-B935-B1EE0A9BC0E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EG"/>
          </a:p>
        </p:txBody>
      </p:sp>
      <p:sp>
        <p:nvSpPr>
          <p:cNvPr id="3" name="Espace réservé pour une image  2">
            <a:extLst>
              <a:ext uri="{FF2B5EF4-FFF2-40B4-BE49-F238E27FC236}">
                <a16:creationId xmlns:a16="http://schemas.microsoft.com/office/drawing/2014/main" id="{35C6F531-0321-384A-9E76-64A0D1C9C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EG"/>
          </a:p>
        </p:txBody>
      </p:sp>
      <p:sp>
        <p:nvSpPr>
          <p:cNvPr id="4" name="Espace réservé du texte 3">
            <a:extLst>
              <a:ext uri="{FF2B5EF4-FFF2-40B4-BE49-F238E27FC236}">
                <a16:creationId xmlns:a16="http://schemas.microsoft.com/office/drawing/2014/main" id="{6DDDC4EF-DC5B-8341-AEE6-7AF7D0F2A4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8A149C-E168-024B-A699-E13C65C2CE85}"/>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6" name="Espace réservé du pied de page 5">
            <a:extLst>
              <a:ext uri="{FF2B5EF4-FFF2-40B4-BE49-F238E27FC236}">
                <a16:creationId xmlns:a16="http://schemas.microsoft.com/office/drawing/2014/main" id="{B4E266AF-985F-AE45-B878-A41DED2AC6AF}"/>
              </a:ext>
            </a:extLst>
          </p:cNvPr>
          <p:cNvSpPr>
            <a:spLocks noGrp="1"/>
          </p:cNvSpPr>
          <p:nvPr>
            <p:ph type="ftr" sz="quarter" idx="11"/>
          </p:nvPr>
        </p:nvSpPr>
        <p:spPr/>
        <p:txBody>
          <a:bodyPr/>
          <a:lstStyle/>
          <a:p>
            <a:endParaRPr lang="fr-EG"/>
          </a:p>
        </p:txBody>
      </p:sp>
      <p:sp>
        <p:nvSpPr>
          <p:cNvPr id="7" name="Espace réservé du numéro de diapositive 6">
            <a:extLst>
              <a:ext uri="{FF2B5EF4-FFF2-40B4-BE49-F238E27FC236}">
                <a16:creationId xmlns:a16="http://schemas.microsoft.com/office/drawing/2014/main" id="{C06D0206-5A71-584E-AB84-AD20748E3F23}"/>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224880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AF204-981F-D547-A37E-8B936A7501AF}"/>
              </a:ext>
            </a:extLst>
          </p:cNvPr>
          <p:cNvSpPr>
            <a:spLocks noGrp="1"/>
          </p:cNvSpPr>
          <p:nvPr>
            <p:ph type="title"/>
          </p:nvPr>
        </p:nvSpPr>
        <p:spPr/>
        <p:txBody>
          <a:bodyPr/>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8DAEC6A0-7273-AE46-A81F-FB9EF32D9FE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439C3395-A11B-4B49-9260-B2A36D4CF87C}"/>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6315E900-9D65-3141-8132-0B399739F7AF}"/>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FDAC5B4E-69D8-9A43-9D7C-9DF28FAC3D35}"/>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439572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EF50D08-324E-AD42-94B1-D5A534AC59D3}"/>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EG"/>
          </a:p>
        </p:txBody>
      </p:sp>
      <p:sp>
        <p:nvSpPr>
          <p:cNvPr id="3" name="Espace réservé du texte vertical 2">
            <a:extLst>
              <a:ext uri="{FF2B5EF4-FFF2-40B4-BE49-F238E27FC236}">
                <a16:creationId xmlns:a16="http://schemas.microsoft.com/office/drawing/2014/main" id="{55CE7093-122D-054B-8FA0-15B61E3AFDA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E39B219C-ED32-CA4F-AFFE-0A746D076779}"/>
              </a:ext>
            </a:extLst>
          </p:cNvPr>
          <p:cNvSpPr>
            <a:spLocks noGrp="1"/>
          </p:cNvSpPr>
          <p:nvPr>
            <p:ph type="dt" sz="half" idx="10"/>
          </p:nvPr>
        </p:nvSpPr>
        <p:spPr/>
        <p:txBody>
          <a:body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B6C8A308-AA50-8946-9386-0E4A662B3DF9}"/>
              </a:ext>
            </a:extLst>
          </p:cNvPr>
          <p:cNvSpPr>
            <a:spLocks noGrp="1"/>
          </p:cNvSpPr>
          <p:nvPr>
            <p:ph type="ftr" sz="quarter" idx="11"/>
          </p:nvPr>
        </p:nvSpPr>
        <p:spPr/>
        <p:txBody>
          <a:bodyPr/>
          <a:lstStyle/>
          <a:p>
            <a:endParaRPr lang="fr-EG"/>
          </a:p>
        </p:txBody>
      </p:sp>
      <p:sp>
        <p:nvSpPr>
          <p:cNvPr id="6" name="Espace réservé du numéro de diapositive 5">
            <a:extLst>
              <a:ext uri="{FF2B5EF4-FFF2-40B4-BE49-F238E27FC236}">
                <a16:creationId xmlns:a16="http://schemas.microsoft.com/office/drawing/2014/main" id="{136D141A-7FAF-5844-A8F6-2BC88CEDE435}"/>
              </a:ext>
            </a:extLst>
          </p:cNvPr>
          <p:cNvSpPr>
            <a:spLocks noGrp="1"/>
          </p:cNvSpPr>
          <p:nvPr>
            <p:ph type="sldNum" sz="quarter" idx="12"/>
          </p:nvPr>
        </p:nvSpPr>
        <p:spPr/>
        <p:txBody>
          <a:bodyPr/>
          <a:lstStyle/>
          <a:p>
            <a:fld id="{E9588BCC-33B7-2A4B-946A-874E143C7F66}" type="slidenum">
              <a:rPr lang="fr-EG" smtClean="0"/>
              <a:t>‹N°›</a:t>
            </a:fld>
            <a:endParaRPr lang="fr-EG"/>
          </a:p>
        </p:txBody>
      </p:sp>
    </p:spTree>
    <p:extLst>
      <p:ext uri="{BB962C8B-B14F-4D97-AF65-F5344CB8AC3E}">
        <p14:creationId xmlns:p14="http://schemas.microsoft.com/office/powerpoint/2010/main" val="343334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553200" y="2057400"/>
            <a:ext cx="4927600" cy="4191000"/>
          </a:xfrm>
        </p:spPr>
        <p:txBody>
          <a:bodyPr rtlCol="0">
            <a:normAutofit/>
          </a:bodyPr>
          <a:lstStyle/>
          <a:p>
            <a:pPr lvl="0"/>
            <a:endParaRPr lang="en-US" noProof="0"/>
          </a:p>
        </p:txBody>
      </p:sp>
      <p:sp>
        <p:nvSpPr>
          <p:cNvPr id="5" name="Footer Placeholder 4">
            <a:extLst>
              <a:ext uri="{FF2B5EF4-FFF2-40B4-BE49-F238E27FC236}">
                <a16:creationId xmlns:a16="http://schemas.microsoft.com/office/drawing/2014/main" id="{47318FD9-AE35-4E4A-A231-A504DB00C00F}"/>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810421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762000"/>
            <a:ext cx="10058400" cy="1143000"/>
          </a:xfrm>
        </p:spPr>
        <p:txBody>
          <a:bodyPr/>
          <a:lstStyle/>
          <a:p>
            <a:r>
              <a:rPr lang="en-US"/>
              <a:t>Click to edit Master title style</a:t>
            </a:r>
          </a:p>
        </p:txBody>
      </p:sp>
      <p:sp>
        <p:nvSpPr>
          <p:cNvPr id="3" name="Text Placeholder 2"/>
          <p:cNvSpPr>
            <a:spLocks noGrp="1"/>
          </p:cNvSpPr>
          <p:nvPr>
            <p:ph type="body" sz="half" idx="1"/>
          </p:nvPr>
        </p:nvSpPr>
        <p:spPr>
          <a:xfrm>
            <a:off x="14224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2057400"/>
            <a:ext cx="49276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A7520F7-E93D-EA46-BF20-098F31EF3C65}"/>
              </a:ext>
            </a:extLst>
          </p:cNvPr>
          <p:cNvSpPr>
            <a:spLocks noGrp="1"/>
          </p:cNvSpPr>
          <p:nvPr>
            <p:ph type="ftr" sz="quarter" idx="10"/>
          </p:nvPr>
        </p:nvSpPr>
        <p:spPr/>
        <p:txBody>
          <a:bodyPr/>
          <a:lstStyle>
            <a:lvl1pPr>
              <a:defRPr>
                <a:latin typeface="Times New Roman" pitchFamily="18" charset="0"/>
              </a:defRPr>
            </a:lvl1pPr>
          </a:lstStyle>
          <a:p>
            <a:pPr>
              <a:defRPr/>
            </a:pPr>
            <a:endParaRPr lang="en-US"/>
          </a:p>
        </p:txBody>
      </p:sp>
    </p:spTree>
    <p:extLst>
      <p:ext uri="{BB962C8B-B14F-4D97-AF65-F5344CB8AC3E}">
        <p14:creationId xmlns:p14="http://schemas.microsoft.com/office/powerpoint/2010/main" val="2095752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69A5637-53C8-644C-BE0B-85132C7446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EG"/>
          </a:p>
        </p:txBody>
      </p:sp>
      <p:sp>
        <p:nvSpPr>
          <p:cNvPr id="3" name="Espace réservé du texte 2">
            <a:extLst>
              <a:ext uri="{FF2B5EF4-FFF2-40B4-BE49-F238E27FC236}">
                <a16:creationId xmlns:a16="http://schemas.microsoft.com/office/drawing/2014/main" id="{519102A1-E971-1341-8E54-8CC72D0CA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EG"/>
          </a:p>
        </p:txBody>
      </p:sp>
      <p:sp>
        <p:nvSpPr>
          <p:cNvPr id="4" name="Espace réservé de la date 3">
            <a:extLst>
              <a:ext uri="{FF2B5EF4-FFF2-40B4-BE49-F238E27FC236}">
                <a16:creationId xmlns:a16="http://schemas.microsoft.com/office/drawing/2014/main" id="{422F8D3F-E0EF-504E-88FF-983E5063D0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D60D28-0B9F-DE41-AA9B-D90639CDDC8E}" type="datetimeFigureOut">
              <a:rPr lang="fr-EG" smtClean="0"/>
              <a:t>16/06/2020</a:t>
            </a:fld>
            <a:endParaRPr lang="fr-EG"/>
          </a:p>
        </p:txBody>
      </p:sp>
      <p:sp>
        <p:nvSpPr>
          <p:cNvPr id="5" name="Espace réservé du pied de page 4">
            <a:extLst>
              <a:ext uri="{FF2B5EF4-FFF2-40B4-BE49-F238E27FC236}">
                <a16:creationId xmlns:a16="http://schemas.microsoft.com/office/drawing/2014/main" id="{FB92CE6C-4DE4-1E4E-8357-3F17B93B18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EG"/>
          </a:p>
        </p:txBody>
      </p:sp>
      <p:sp>
        <p:nvSpPr>
          <p:cNvPr id="6" name="Espace réservé du numéro de diapositive 5">
            <a:extLst>
              <a:ext uri="{FF2B5EF4-FFF2-40B4-BE49-F238E27FC236}">
                <a16:creationId xmlns:a16="http://schemas.microsoft.com/office/drawing/2014/main" id="{15680E85-44E7-5844-8BCD-BCA63BB02A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88BCC-33B7-2A4B-946A-874E143C7F66}" type="slidenum">
              <a:rPr lang="fr-EG" smtClean="0"/>
              <a:t>‹N°›</a:t>
            </a:fld>
            <a:endParaRPr lang="fr-EG"/>
          </a:p>
        </p:txBody>
      </p:sp>
    </p:spTree>
    <p:extLst>
      <p:ext uri="{BB962C8B-B14F-4D97-AF65-F5344CB8AC3E}">
        <p14:creationId xmlns:p14="http://schemas.microsoft.com/office/powerpoint/2010/main" val="2372405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6F9E488-0718-4E1E-9D12-26779F6062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09BE6F6B-19BD-443C-8FB0-FA45F13F95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39505" cy="6857542"/>
          </a:xfrm>
          <a:custGeom>
            <a:avLst/>
            <a:gdLst>
              <a:gd name="connsiteX0" fmla="*/ 0 w 7539505"/>
              <a:gd name="connsiteY0" fmla="*/ 0 h 6857542"/>
              <a:gd name="connsiteX1" fmla="*/ 6392832 w 7539505"/>
              <a:gd name="connsiteY1" fmla="*/ 0 h 6857542"/>
              <a:gd name="connsiteX2" fmla="*/ 6405479 w 7539505"/>
              <a:gd name="connsiteY2" fmla="*/ 31774 h 6857542"/>
              <a:gd name="connsiteX3" fmla="*/ 7460487 w 7539505"/>
              <a:gd name="connsiteY3" fmla="*/ 2682457 h 6857542"/>
              <a:gd name="connsiteX4" fmla="*/ 7460487 w 7539505"/>
              <a:gd name="connsiteY4" fmla="*/ 3752208 h 6857542"/>
              <a:gd name="connsiteX5" fmla="*/ 6302983 w 7539505"/>
              <a:gd name="connsiteY5" fmla="*/ 6660411 h 6857542"/>
              <a:gd name="connsiteX6" fmla="*/ 6224521 w 7539505"/>
              <a:gd name="connsiteY6" fmla="*/ 6857542 h 6857542"/>
              <a:gd name="connsiteX7" fmla="*/ 0 w 7539505"/>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39505" h="6857542">
                <a:moveTo>
                  <a:pt x="0" y="0"/>
                </a:moveTo>
                <a:lnTo>
                  <a:pt x="6392832" y="0"/>
                </a:lnTo>
                <a:lnTo>
                  <a:pt x="6405479" y="31774"/>
                </a:lnTo>
                <a:cubicBezTo>
                  <a:pt x="7460487" y="2682457"/>
                  <a:pt x="7460487" y="2682457"/>
                  <a:pt x="7460487" y="2682457"/>
                </a:cubicBezTo>
                <a:cubicBezTo>
                  <a:pt x="7565845" y="2988100"/>
                  <a:pt x="7565845" y="3446565"/>
                  <a:pt x="7460487" y="3752208"/>
                </a:cubicBezTo>
                <a:cubicBezTo>
                  <a:pt x="6976500" y="4968215"/>
                  <a:pt x="6598385" y="5918220"/>
                  <a:pt x="6302983" y="6660411"/>
                </a:cubicBezTo>
                <a:lnTo>
                  <a:pt x="6224521"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Box 9">
            <a:extLst>
              <a:ext uri="{FF2B5EF4-FFF2-40B4-BE49-F238E27FC236}">
                <a16:creationId xmlns:a16="http://schemas.microsoft.com/office/drawing/2014/main" id="{4E508B30-93BD-0944-8E25-47F255C103D3}"/>
              </a:ext>
            </a:extLst>
          </p:cNvPr>
          <p:cNvSpPr txBox="1"/>
          <p:nvPr/>
        </p:nvSpPr>
        <p:spPr>
          <a:xfrm>
            <a:off x="811033" y="681629"/>
            <a:ext cx="5573478" cy="3683638"/>
          </a:xfrm>
          <a:prstGeom prst="rect">
            <a:avLst/>
          </a:prstGeom>
        </p:spPr>
        <p:txBody>
          <a:bodyPr vert="horz" lIns="91440" tIns="45720" rIns="91440" bIns="45720" rtlCol="0" anchor="b">
            <a:normAutofit/>
          </a:bodyPr>
          <a:lstStyle/>
          <a:p>
            <a:pPr algn="r">
              <a:lnSpc>
                <a:spcPct val="90000"/>
              </a:lnSpc>
              <a:spcBef>
                <a:spcPct val="0"/>
              </a:spcBef>
              <a:spcAft>
                <a:spcPts val="600"/>
              </a:spcAft>
              <a:defRPr/>
            </a:pPr>
            <a:r>
              <a:rPr lang="en-US" sz="7200" b="1" dirty="0">
                <a:solidFill>
                  <a:schemeClr val="bg1"/>
                </a:solidFill>
                <a:latin typeface="+mj-lt"/>
                <a:ea typeface="+mj-ea"/>
                <a:cs typeface="+mj-cs"/>
              </a:rPr>
              <a:t>SEXUAL HARASSMENT</a:t>
            </a:r>
          </a:p>
        </p:txBody>
      </p:sp>
      <p:grpSp>
        <p:nvGrpSpPr>
          <p:cNvPr id="75" name="Group 74">
            <a:extLst>
              <a:ext uri="{FF2B5EF4-FFF2-40B4-BE49-F238E27FC236}">
                <a16:creationId xmlns:a16="http://schemas.microsoft.com/office/drawing/2014/main" id="{26B5F537-3960-4E10-AE03-D496B4CD53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40080" y="640080"/>
            <a:ext cx="1128382" cy="847206"/>
            <a:chOff x="5307830" y="325570"/>
            <a:chExt cx="1128382" cy="847206"/>
          </a:xfrm>
        </p:grpSpPr>
        <p:sp>
          <p:nvSpPr>
            <p:cNvPr id="76" name="Freeform 5">
              <a:extLst>
                <a:ext uri="{FF2B5EF4-FFF2-40B4-BE49-F238E27FC236}">
                  <a16:creationId xmlns:a16="http://schemas.microsoft.com/office/drawing/2014/main" id="{4F9A94D1-9FCD-4778-A663-68663B4D3F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7830" y="577396"/>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BB080F40-90BD-4CAA-9447-8DC3FCD0F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85720" y="325570"/>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50177" name="Picture 2" descr="C:\Users\mgb\Desktop\Logo.png">
            <a:extLst>
              <a:ext uri="{FF2B5EF4-FFF2-40B4-BE49-F238E27FC236}">
                <a16:creationId xmlns:a16="http://schemas.microsoft.com/office/drawing/2014/main" id="{8C147B63-28E4-EA4B-A93B-B393444442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539256" y="6290824"/>
            <a:ext cx="3449589" cy="5667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8" name="Picture 1033" descr="HRTPyngmnhndwshldr1-16,122">
            <a:extLst>
              <a:ext uri="{FF2B5EF4-FFF2-40B4-BE49-F238E27FC236}">
                <a16:creationId xmlns:a16="http://schemas.microsoft.com/office/drawing/2014/main" id="{F4AED658-2A38-964C-AA40-8B68865098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29" t="16364" r="1849" b="32877"/>
          <a:stretch>
            <a:fillRect/>
          </a:stretch>
        </p:blipFill>
        <p:spPr bwMode="auto">
          <a:xfrm>
            <a:off x="8955810" y="2217025"/>
            <a:ext cx="2616480" cy="2148242"/>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01D9A1A6-50A8-DA4C-9764-22E4DC2664A0}"/>
              </a:ext>
            </a:extLst>
          </p:cNvPr>
          <p:cNvSpPr txBox="1"/>
          <p:nvPr/>
        </p:nvSpPr>
        <p:spPr>
          <a:xfrm>
            <a:off x="798937" y="4743451"/>
            <a:ext cx="5585573" cy="1031051"/>
          </a:xfrm>
          <a:prstGeom prst="rect">
            <a:avLst/>
          </a:prstGeom>
          <a:noFill/>
        </p:spPr>
        <p:txBody>
          <a:bodyPr wrap="square">
            <a:spAutoFit/>
          </a:bodyPr>
          <a:lstStyle/>
          <a:p>
            <a:pPr>
              <a:spcAft>
                <a:spcPts val="600"/>
              </a:spcAft>
              <a:defRPr/>
            </a:pPr>
            <a:r>
              <a:rPr lang="en-US" sz="2800" b="1" dirty="0">
                <a:solidFill>
                  <a:schemeClr val="bg1"/>
                </a:solidFill>
                <a:latin typeface="+mj-lt"/>
              </a:rPr>
              <a:t>What Supervisors Need to Know</a:t>
            </a:r>
          </a:p>
          <a:p>
            <a:pPr>
              <a:spcAft>
                <a:spcPts val="600"/>
              </a:spcAft>
              <a:defRPr/>
            </a:pPr>
            <a:endParaRPr lang="en-US" sz="2800" dirty="0">
              <a:latin typeface="+mj-lt"/>
            </a:endParaRPr>
          </a:p>
        </p:txBody>
      </p:sp>
    </p:spTree>
    <p:extLst>
      <p:ext uri="{BB962C8B-B14F-4D97-AF65-F5344CB8AC3E}">
        <p14:creationId xmlns:p14="http://schemas.microsoft.com/office/powerpoint/2010/main" val="648417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1201" name="Rectangle 8">
            <a:extLst>
              <a:ext uri="{FF2B5EF4-FFF2-40B4-BE49-F238E27FC236}">
                <a16:creationId xmlns:a16="http://schemas.microsoft.com/office/drawing/2014/main" id="{E99916B7-58DF-2944-B4D1-E3410D92F438}"/>
              </a:ext>
            </a:extLst>
          </p:cNvPr>
          <p:cNvSpPr>
            <a:spLocks noGrp="1" noChangeArrowheads="1"/>
          </p:cNvSpPr>
          <p:nvPr>
            <p:ph type="title"/>
          </p:nvPr>
        </p:nvSpPr>
        <p:spPr>
          <a:xfrm>
            <a:off x="762001" y="803325"/>
            <a:ext cx="5314536" cy="1325563"/>
          </a:xfrm>
        </p:spPr>
        <p:txBody>
          <a:bodyPr>
            <a:normAutofit/>
          </a:bodyPr>
          <a:lstStyle/>
          <a:p>
            <a:r>
              <a:rPr lang="en-US" altLang="fr-EG" b="1"/>
              <a:t>SESSION OBJECTIVES</a:t>
            </a:r>
            <a:endParaRPr lang="en-US" altLang="fr-EG"/>
          </a:p>
        </p:txBody>
      </p:sp>
      <p:sp>
        <p:nvSpPr>
          <p:cNvPr id="51202" name="Rectangle 9">
            <a:extLst>
              <a:ext uri="{FF2B5EF4-FFF2-40B4-BE49-F238E27FC236}">
                <a16:creationId xmlns:a16="http://schemas.microsoft.com/office/drawing/2014/main" id="{829DD294-5507-DD44-890D-53674E0DA242}"/>
              </a:ext>
            </a:extLst>
          </p:cNvPr>
          <p:cNvSpPr>
            <a:spLocks noGrp="1" noChangeArrowheads="1"/>
          </p:cNvSpPr>
          <p:nvPr>
            <p:ph idx="1"/>
          </p:nvPr>
        </p:nvSpPr>
        <p:spPr>
          <a:xfrm>
            <a:off x="762000" y="2279018"/>
            <a:ext cx="5314543" cy="3375920"/>
          </a:xfrm>
        </p:spPr>
        <p:txBody>
          <a:bodyPr anchor="t">
            <a:normAutofit/>
          </a:bodyPr>
          <a:lstStyle/>
          <a:p>
            <a:pPr marL="0" indent="0">
              <a:buNone/>
            </a:pPr>
            <a:r>
              <a:rPr lang="en-US" altLang="fr-EG" sz="1800"/>
              <a:t>You will be able to:</a:t>
            </a:r>
          </a:p>
          <a:p>
            <a:pPr lvl="1">
              <a:buFont typeface="Wingdings" pitchFamily="2" charset="2"/>
              <a:buChar char="§"/>
            </a:pPr>
            <a:r>
              <a:rPr lang="en-US" altLang="fr-EG" sz="1800" i="0"/>
              <a:t>Handle complaints effectively</a:t>
            </a:r>
          </a:p>
          <a:p>
            <a:pPr lvl="1">
              <a:buFont typeface="Wingdings" pitchFamily="2" charset="2"/>
              <a:buChar char="§"/>
            </a:pPr>
            <a:r>
              <a:rPr lang="en-US" altLang="fr-EG" sz="1800" i="0"/>
              <a:t>Participate in investigations</a:t>
            </a:r>
          </a:p>
          <a:p>
            <a:pPr lvl="1">
              <a:buFont typeface="Wingdings" pitchFamily="2" charset="2"/>
              <a:buChar char="§"/>
            </a:pPr>
            <a:r>
              <a:rPr lang="en-US" altLang="fr-EG" sz="1800" i="0"/>
              <a:t>Take appropriate corrective action</a:t>
            </a:r>
          </a:p>
          <a:p>
            <a:pPr lvl="1">
              <a:buFont typeface="Wingdings" pitchFamily="2" charset="2"/>
              <a:buChar char="§"/>
            </a:pPr>
            <a:r>
              <a:rPr lang="en-US" altLang="fr-EG" sz="1800" i="0"/>
              <a:t>Maintain a productive work environment</a:t>
            </a:r>
          </a:p>
        </p:txBody>
      </p:sp>
      <p:sp>
        <p:nvSpPr>
          <p:cNvPr id="73" name="Freeform: Shape 72">
            <a:extLst>
              <a:ext uri="{FF2B5EF4-FFF2-40B4-BE49-F238E27FC236}">
                <a16:creationId xmlns:a16="http://schemas.microsoft.com/office/drawing/2014/main" id="{CF62D2A7-8207-488C-9F46-316BA81A1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2780" y="-2008"/>
            <a:ext cx="5609220" cy="5840278"/>
          </a:xfrm>
          <a:custGeom>
            <a:avLst/>
            <a:gdLst>
              <a:gd name="connsiteX0" fmla="*/ 0 w 5609220"/>
              <a:gd name="connsiteY0" fmla="*/ 0 h 5840278"/>
              <a:gd name="connsiteX1" fmla="*/ 4637091 w 5609220"/>
              <a:gd name="connsiteY1" fmla="*/ 0 h 5840278"/>
              <a:gd name="connsiteX2" fmla="*/ 4822569 w 5609220"/>
              <a:gd name="connsiteY2" fmla="*/ 204077 h 5840278"/>
              <a:gd name="connsiteX3" fmla="*/ 5609220 w 5609220"/>
              <a:gd name="connsiteY3" fmla="*/ 2395363 h 5840278"/>
              <a:gd name="connsiteX4" fmla="*/ 2164305 w 5609220"/>
              <a:gd name="connsiteY4" fmla="*/ 5840278 h 5840278"/>
              <a:gd name="connsiteX5" fmla="*/ 238220 w 5609220"/>
              <a:gd name="connsiteY5" fmla="*/ 5251941 h 5840278"/>
              <a:gd name="connsiteX6" fmla="*/ 0 w 5609220"/>
              <a:gd name="connsiteY6" fmla="*/ 5073803 h 58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9220" h="5840278">
                <a:moveTo>
                  <a:pt x="0" y="0"/>
                </a:moveTo>
                <a:lnTo>
                  <a:pt x="4637091" y="0"/>
                </a:lnTo>
                <a:lnTo>
                  <a:pt x="4822569" y="204077"/>
                </a:lnTo>
                <a:cubicBezTo>
                  <a:pt x="5314007" y="799562"/>
                  <a:pt x="5609220" y="1562987"/>
                  <a:pt x="5609220" y="2395363"/>
                </a:cubicBezTo>
                <a:cubicBezTo>
                  <a:pt x="5609220" y="4297937"/>
                  <a:pt x="4066879" y="5840278"/>
                  <a:pt x="2164305" y="5840278"/>
                </a:cubicBezTo>
                <a:cubicBezTo>
                  <a:pt x="1450840" y="5840278"/>
                  <a:pt x="788032" y="5623387"/>
                  <a:pt x="238220" y="5251941"/>
                </a:cubicBezTo>
                <a:lnTo>
                  <a:pt x="0" y="5073803"/>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reeform: Shape 74">
            <a:extLst>
              <a:ext uri="{FF2B5EF4-FFF2-40B4-BE49-F238E27FC236}">
                <a16:creationId xmlns:a16="http://schemas.microsoft.com/office/drawing/2014/main" id="{52AC6D7F-F068-4E11-BB06-F601D89BB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50141" y="-2"/>
            <a:ext cx="5441859" cy="5654940"/>
          </a:xfrm>
          <a:custGeom>
            <a:avLst/>
            <a:gdLst>
              <a:gd name="connsiteX0" fmla="*/ 1041368 w 5441859"/>
              <a:gd name="connsiteY0" fmla="*/ 0 h 5654940"/>
              <a:gd name="connsiteX1" fmla="*/ 5441859 w 5441859"/>
              <a:gd name="connsiteY1" fmla="*/ 0 h 5654940"/>
              <a:gd name="connsiteX2" fmla="*/ 5441859 w 5441859"/>
              <a:gd name="connsiteY2" fmla="*/ 4820612 h 5654940"/>
              <a:gd name="connsiteX3" fmla="*/ 5285166 w 5441859"/>
              <a:gd name="connsiteY3" fmla="*/ 4957981 h 5654940"/>
              <a:gd name="connsiteX4" fmla="*/ 3267719 w 5441859"/>
              <a:gd name="connsiteY4" fmla="*/ 5654940 h 5654940"/>
              <a:gd name="connsiteX5" fmla="*/ 0 w 5441859"/>
              <a:gd name="connsiteY5" fmla="*/ 2387221 h 5654940"/>
              <a:gd name="connsiteX6" fmla="*/ 957093 w 5441859"/>
              <a:gd name="connsiteY6" fmla="*/ 76595 h 565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1859" h="5654940">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0" name="Graphic 69">
            <a:extLst>
              <a:ext uri="{FF2B5EF4-FFF2-40B4-BE49-F238E27FC236}">
                <a16:creationId xmlns:a16="http://schemas.microsoft.com/office/drawing/2014/main" id="{6A0CB75D-4B65-4CED-80CD-92D75A36C0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84057" y="643002"/>
            <a:ext cx="3796790" cy="3796790"/>
          </a:xfrm>
          <a:prstGeom prst="rect">
            <a:avLst/>
          </a:prstGeom>
        </p:spPr>
      </p:pic>
    </p:spTree>
    <p:extLst>
      <p:ext uri="{BB962C8B-B14F-4D97-AF65-F5344CB8AC3E}">
        <p14:creationId xmlns:p14="http://schemas.microsoft.com/office/powerpoint/2010/main" val="291661930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249" name="Rectangle 9">
            <a:extLst>
              <a:ext uri="{FF2B5EF4-FFF2-40B4-BE49-F238E27FC236}">
                <a16:creationId xmlns:a16="http://schemas.microsoft.com/office/drawing/2014/main" id="{34597AE3-6DA4-AC45-9F8A-43A85E8A36A5}"/>
              </a:ext>
            </a:extLst>
          </p:cNvPr>
          <p:cNvSpPr>
            <a:spLocks noGrp="1" noChangeArrowheads="1"/>
          </p:cNvSpPr>
          <p:nvPr>
            <p:ph type="title"/>
          </p:nvPr>
        </p:nvSpPr>
        <p:spPr>
          <a:xfrm>
            <a:off x="767290" y="1289146"/>
            <a:ext cx="4153626" cy="4279709"/>
          </a:xfrm>
        </p:spPr>
        <p:txBody>
          <a:bodyPr anchor="ctr">
            <a:normAutofit/>
          </a:bodyPr>
          <a:lstStyle/>
          <a:p>
            <a:pPr algn="r"/>
            <a:r>
              <a:rPr lang="fr-EG" altLang="fr-EG" sz="5400" b="1">
                <a:solidFill>
                  <a:schemeClr val="bg1"/>
                </a:solidFill>
              </a:rPr>
              <a:t>SESSION OUTLINE</a:t>
            </a:r>
            <a:endParaRPr lang="en-US" altLang="fr-EG" sz="5400">
              <a:solidFill>
                <a:schemeClr val="bg1"/>
              </a:solidFill>
            </a:endParaRP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53250" name="Rectangle 11">
            <a:extLst>
              <a:ext uri="{FF2B5EF4-FFF2-40B4-BE49-F238E27FC236}">
                <a16:creationId xmlns:a16="http://schemas.microsoft.com/office/drawing/2014/main" id="{F9FF4DB8-D748-8F4D-9AE5-B88DFC2102E5}"/>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i="0" dirty="0"/>
              <a:t>Handling employee complaints</a:t>
            </a:r>
          </a:p>
          <a:p>
            <a:pPr lvl="1">
              <a:buFont typeface="Wingdings" pitchFamily="2" charset="2"/>
              <a:buChar char="§"/>
            </a:pPr>
            <a:r>
              <a:rPr lang="en-US" altLang="fr-EG" i="0" dirty="0"/>
              <a:t>Conducting investigations</a:t>
            </a:r>
          </a:p>
          <a:p>
            <a:pPr lvl="1">
              <a:buFont typeface="Wingdings" pitchFamily="2" charset="2"/>
              <a:buChar char="§"/>
            </a:pPr>
            <a:r>
              <a:rPr lang="en-US" altLang="fr-EG" i="0" dirty="0"/>
              <a:t>Taking corrective action</a:t>
            </a:r>
          </a:p>
          <a:p>
            <a:pPr marL="0" indent="0">
              <a:buNone/>
            </a:pPr>
            <a:endParaRPr lang="en-US" altLang="fr-EG" sz="2400"/>
          </a:p>
        </p:txBody>
      </p:sp>
    </p:spTree>
    <p:extLst>
      <p:ext uri="{BB962C8B-B14F-4D97-AF65-F5344CB8AC3E}">
        <p14:creationId xmlns:p14="http://schemas.microsoft.com/office/powerpoint/2010/main" val="233946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Shape 136">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297" name="Rectangle 10">
            <a:extLst>
              <a:ext uri="{FF2B5EF4-FFF2-40B4-BE49-F238E27FC236}">
                <a16:creationId xmlns:a16="http://schemas.microsoft.com/office/drawing/2014/main" id="{C66807BD-C8A2-E241-A396-EC1AB6594030}"/>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b="1">
                <a:solidFill>
                  <a:schemeClr val="bg1"/>
                </a:solidFill>
              </a:rPr>
              <a:t>WHY YOU NEED TO KNOW</a:t>
            </a:r>
            <a:endParaRPr lang="en-US" altLang="fr-EG" sz="5400">
              <a:solidFill>
                <a:schemeClr val="bg1"/>
              </a:solidFill>
            </a:endParaRPr>
          </a:p>
        </p:txBody>
      </p:sp>
      <p:grpSp>
        <p:nvGrpSpPr>
          <p:cNvPr id="139" name="Group 138">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140"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141"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55298" name="Rectangle 11">
            <a:extLst>
              <a:ext uri="{FF2B5EF4-FFF2-40B4-BE49-F238E27FC236}">
                <a16:creationId xmlns:a16="http://schemas.microsoft.com/office/drawing/2014/main" id="{AF060264-D562-9D4F-B8BA-A654AC6E9B9F}"/>
              </a:ext>
            </a:extLst>
          </p:cNvPr>
          <p:cNvSpPr>
            <a:spLocks noGrp="1" noChangeArrowheads="1"/>
          </p:cNvSpPr>
          <p:nvPr>
            <p:ph idx="1"/>
          </p:nvPr>
        </p:nvSpPr>
        <p:spPr>
          <a:xfrm>
            <a:off x="6514140" y="1854601"/>
            <a:ext cx="4776711" cy="3148798"/>
          </a:xfrm>
        </p:spPr>
        <p:txBody>
          <a:bodyPr anchor="ctr">
            <a:normAutofit/>
          </a:bodyPr>
          <a:lstStyle/>
          <a:p>
            <a:pPr marL="0" indent="0">
              <a:spcBef>
                <a:spcPct val="29000"/>
              </a:spcBef>
              <a:buNone/>
            </a:pPr>
            <a:r>
              <a:rPr lang="en-US" altLang="fr-EG" sz="2400"/>
              <a:t>Sexual harassment:</a:t>
            </a:r>
          </a:p>
          <a:p>
            <a:pPr lvl="1">
              <a:spcBef>
                <a:spcPct val="29000"/>
              </a:spcBef>
              <a:buFont typeface="Wingdings" pitchFamily="2" charset="2"/>
              <a:buChar char="§"/>
            </a:pPr>
            <a:r>
              <a:rPr lang="en-US" altLang="fr-EG" i="0"/>
              <a:t>Damages organizations</a:t>
            </a:r>
          </a:p>
          <a:p>
            <a:pPr lvl="1">
              <a:spcBef>
                <a:spcPct val="29000"/>
              </a:spcBef>
              <a:buFont typeface="Wingdings" pitchFamily="2" charset="2"/>
              <a:buChar char="§"/>
            </a:pPr>
            <a:r>
              <a:rPr lang="en-US" altLang="fr-EG" i="0"/>
              <a:t>Undermines trust and respect</a:t>
            </a:r>
          </a:p>
          <a:p>
            <a:pPr lvl="1">
              <a:spcBef>
                <a:spcPct val="29000"/>
              </a:spcBef>
              <a:buFont typeface="Wingdings" pitchFamily="2" charset="2"/>
              <a:buChar char="§"/>
            </a:pPr>
            <a:r>
              <a:rPr lang="en-US" altLang="fr-EG" i="0"/>
              <a:t>Exposes us to damaging liabilities</a:t>
            </a:r>
          </a:p>
        </p:txBody>
      </p:sp>
    </p:spTree>
    <p:extLst>
      <p:ext uri="{BB962C8B-B14F-4D97-AF65-F5344CB8AC3E}">
        <p14:creationId xmlns:p14="http://schemas.microsoft.com/office/powerpoint/2010/main" val="1908131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5">
            <a:extLst>
              <a:ext uri="{FF2B5EF4-FFF2-40B4-BE49-F238E27FC236}">
                <a16:creationId xmlns:a16="http://schemas.microsoft.com/office/drawing/2014/main" id="{84C3475B-6A64-F045-B0CB-7485106D6448}"/>
              </a:ext>
            </a:extLst>
          </p:cNvPr>
          <p:cNvSpPr>
            <a:spLocks noGrp="1" noChangeArrowheads="1"/>
          </p:cNvSpPr>
          <p:nvPr>
            <p:ph type="title"/>
          </p:nvPr>
        </p:nvSpPr>
        <p:spPr/>
        <p:txBody>
          <a:bodyPr/>
          <a:lstStyle/>
          <a:p>
            <a:pPr algn="ctr"/>
            <a:r>
              <a:rPr lang="en-US" altLang="fr-EG" b="1" dirty="0"/>
              <a:t>LIABILITY</a:t>
            </a:r>
          </a:p>
        </p:txBody>
      </p:sp>
      <p:sp>
        <p:nvSpPr>
          <p:cNvPr id="57346" name="Rectangle 7">
            <a:extLst>
              <a:ext uri="{FF2B5EF4-FFF2-40B4-BE49-F238E27FC236}">
                <a16:creationId xmlns:a16="http://schemas.microsoft.com/office/drawing/2014/main" id="{CF0A8209-3B9A-B24F-9C39-BA9E4E3C1598}"/>
              </a:ext>
            </a:extLst>
          </p:cNvPr>
          <p:cNvSpPr>
            <a:spLocks noGrp="1" noChangeArrowheads="1"/>
          </p:cNvSpPr>
          <p:nvPr>
            <p:ph type="body" sz="half" idx="1"/>
          </p:nvPr>
        </p:nvSpPr>
        <p:spPr>
          <a:xfrm>
            <a:off x="2590800" y="2057400"/>
            <a:ext cx="3797300" cy="4191000"/>
          </a:xfrm>
        </p:spPr>
        <p:txBody>
          <a:bodyPr/>
          <a:lstStyle/>
          <a:p>
            <a:pPr lvl="1">
              <a:lnSpc>
                <a:spcPct val="95000"/>
              </a:lnSpc>
              <a:spcBef>
                <a:spcPct val="27000"/>
              </a:spcBef>
              <a:buFont typeface="Wingdings" pitchFamily="2" charset="2"/>
              <a:buChar char="§"/>
            </a:pPr>
            <a:r>
              <a:rPr lang="en-US" altLang="fr-EG" sz="2600" dirty="0"/>
              <a:t>Automatic liability for supervisor’s tangible </a:t>
            </a:r>
            <a:br>
              <a:rPr lang="en-US" altLang="fr-EG" sz="2600" dirty="0"/>
            </a:br>
            <a:r>
              <a:rPr lang="en-US" altLang="fr-EG" sz="2600" dirty="0"/>
              <a:t>employment action</a:t>
            </a:r>
          </a:p>
          <a:p>
            <a:pPr lvl="1">
              <a:lnSpc>
                <a:spcPct val="95000"/>
              </a:lnSpc>
              <a:spcBef>
                <a:spcPct val="27000"/>
              </a:spcBef>
              <a:buFont typeface="Wingdings" pitchFamily="2" charset="2"/>
              <a:buChar char="§"/>
            </a:pPr>
            <a:r>
              <a:rPr lang="en-US" altLang="fr-EG" sz="2600" dirty="0"/>
              <a:t>If no tangible employment action, the workplace might avoid liability</a:t>
            </a:r>
            <a:endParaRPr lang="en-US" altLang="fr-EG" dirty="0"/>
          </a:p>
          <a:p>
            <a:pPr marL="0" indent="0">
              <a:buNone/>
            </a:pPr>
            <a:endParaRPr lang="en-US" altLang="fr-EG" sz="2400" dirty="0"/>
          </a:p>
        </p:txBody>
      </p:sp>
      <p:pic>
        <p:nvPicPr>
          <p:cNvPr id="57347" name="Picture 9" descr="HRTP Open books with pencil 3-22">
            <a:extLst>
              <a:ext uri="{FF2B5EF4-FFF2-40B4-BE49-F238E27FC236}">
                <a16:creationId xmlns:a16="http://schemas.microsoft.com/office/drawing/2014/main" id="{7F00BD52-B002-5A40-9C93-12EFD409423C}"/>
              </a:ext>
            </a:extLst>
          </p:cNvPr>
          <p:cNvPicPr>
            <a:picLocks noGrp="1" noChangeAspect="1" noChangeArrowheads="1"/>
          </p:cNvPicPr>
          <p:nvPr>
            <p:ph type="clipArt" sz="half" idx="2"/>
          </p:nvPr>
        </p:nvPicPr>
        <p:blipFill>
          <a:blip r:embed="rId3">
            <a:extLst>
              <a:ext uri="{28A0092B-C50C-407E-A947-70E740481C1C}">
                <a14:useLocalDpi xmlns:a14="http://schemas.microsoft.com/office/drawing/2010/main" val="0"/>
              </a:ext>
            </a:extLst>
          </a:blip>
          <a:srcRect/>
          <a:stretch>
            <a:fillRect/>
          </a:stretch>
        </p:blipFill>
        <p:spPr>
          <a:xfrm>
            <a:off x="6645275" y="2057400"/>
            <a:ext cx="3282950" cy="4191000"/>
          </a:xfrm>
        </p:spPr>
      </p:pic>
    </p:spTree>
    <p:extLst>
      <p:ext uri="{BB962C8B-B14F-4D97-AF65-F5344CB8AC3E}">
        <p14:creationId xmlns:p14="http://schemas.microsoft.com/office/powerpoint/2010/main" val="2234264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3" name="Rectangle 6">
            <a:extLst>
              <a:ext uri="{FF2B5EF4-FFF2-40B4-BE49-F238E27FC236}">
                <a16:creationId xmlns:a16="http://schemas.microsoft.com/office/drawing/2014/main" id="{137E00F3-1B91-C44E-A597-4F1F2835B50D}"/>
              </a:ext>
            </a:extLst>
          </p:cNvPr>
          <p:cNvSpPr>
            <a:spLocks noGrp="1" noChangeArrowheads="1"/>
          </p:cNvSpPr>
          <p:nvPr>
            <p:ph type="title"/>
          </p:nvPr>
        </p:nvSpPr>
        <p:spPr/>
        <p:txBody>
          <a:bodyPr/>
          <a:lstStyle/>
          <a:p>
            <a:pPr algn="ctr"/>
            <a:r>
              <a:rPr lang="en-US" altLang="fr-EG" b="1" dirty="0"/>
              <a:t>LIABILITY (cont.)</a:t>
            </a:r>
            <a:endParaRPr lang="en-US" altLang="fr-EG" sz="2400" b="1" dirty="0"/>
          </a:p>
        </p:txBody>
      </p:sp>
      <p:sp>
        <p:nvSpPr>
          <p:cNvPr id="59394" name="Rectangle 10">
            <a:extLst>
              <a:ext uri="{FF2B5EF4-FFF2-40B4-BE49-F238E27FC236}">
                <a16:creationId xmlns:a16="http://schemas.microsoft.com/office/drawing/2014/main" id="{FCA76734-BE9D-5B49-A56B-D2CD3F980B95}"/>
              </a:ext>
            </a:extLst>
          </p:cNvPr>
          <p:cNvSpPr>
            <a:spLocks noGrp="1" noChangeArrowheads="1"/>
          </p:cNvSpPr>
          <p:nvPr>
            <p:ph type="body" sz="half" idx="1"/>
          </p:nvPr>
        </p:nvSpPr>
        <p:spPr/>
        <p:txBody>
          <a:bodyPr/>
          <a:lstStyle/>
          <a:p>
            <a:pPr lvl="1">
              <a:spcBef>
                <a:spcPct val="29000"/>
              </a:spcBef>
              <a:buFont typeface="Wingdings" pitchFamily="2" charset="2"/>
              <a:buChar char="§"/>
            </a:pPr>
            <a:r>
              <a:rPr lang="en-US" altLang="fr-EG" dirty="0"/>
              <a:t>Li</a:t>
            </a:r>
            <a:r>
              <a:rPr lang="en-US" altLang="fr-EG" sz="2500" dirty="0"/>
              <a:t>ability for actions </a:t>
            </a:r>
            <a:br>
              <a:rPr lang="en-US" altLang="fr-EG" sz="2500" dirty="0"/>
            </a:br>
            <a:r>
              <a:rPr lang="en-US" altLang="fr-EG" sz="2500" dirty="0"/>
              <a:t>of co-workers</a:t>
            </a:r>
          </a:p>
          <a:p>
            <a:pPr lvl="1">
              <a:spcBef>
                <a:spcPct val="29000"/>
              </a:spcBef>
              <a:buFont typeface="Wingdings" pitchFamily="2" charset="2"/>
              <a:buChar char="§"/>
            </a:pPr>
            <a:r>
              <a:rPr lang="en-US" altLang="fr-EG" sz="2500" dirty="0"/>
              <a:t>Liability for actions </a:t>
            </a:r>
            <a:br>
              <a:rPr lang="en-US" altLang="fr-EG" sz="2500" dirty="0"/>
            </a:br>
            <a:r>
              <a:rPr lang="en-US" altLang="fr-EG" sz="2500" dirty="0"/>
              <a:t>of customers, clients and independent contractors</a:t>
            </a:r>
            <a:endParaRPr lang="en-US" altLang="fr-EG" dirty="0"/>
          </a:p>
          <a:p>
            <a:pPr marL="0" indent="0">
              <a:buNone/>
            </a:pPr>
            <a:endParaRPr lang="en-US" altLang="fr-EG" sz="2400" dirty="0"/>
          </a:p>
        </p:txBody>
      </p:sp>
      <p:pic>
        <p:nvPicPr>
          <p:cNvPr id="59395" name="Picture 14" descr="HRTP blr mnwmn argue 8-16">
            <a:extLst>
              <a:ext uri="{FF2B5EF4-FFF2-40B4-BE49-F238E27FC236}">
                <a16:creationId xmlns:a16="http://schemas.microsoft.com/office/drawing/2014/main" id="{D4FF5DC0-5641-244C-A2C7-1DC7F5567F0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438900" y="2762250"/>
            <a:ext cx="3695700" cy="2781300"/>
          </a:xfrm>
          <a:noFill/>
          <a:ln>
            <a:solidFill>
              <a:schemeClr val="tx1"/>
            </a:solidFill>
            <a:miter lim="800000"/>
            <a:headEnd/>
            <a:tailEnd/>
          </a:ln>
        </p:spPr>
      </p:pic>
    </p:spTree>
    <p:extLst>
      <p:ext uri="{BB962C8B-B14F-4D97-AF65-F5344CB8AC3E}">
        <p14:creationId xmlns:p14="http://schemas.microsoft.com/office/powerpoint/2010/main" val="3283886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41" name="Rectangle 5">
            <a:extLst>
              <a:ext uri="{FF2B5EF4-FFF2-40B4-BE49-F238E27FC236}">
                <a16:creationId xmlns:a16="http://schemas.microsoft.com/office/drawing/2014/main" id="{7A4E8B8D-75A1-C64D-91FE-A433F0FB3C43}"/>
              </a:ext>
            </a:extLst>
          </p:cNvPr>
          <p:cNvSpPr>
            <a:spLocks noGrp="1" noChangeArrowheads="1"/>
          </p:cNvSpPr>
          <p:nvPr>
            <p:ph type="title"/>
          </p:nvPr>
        </p:nvSpPr>
        <p:spPr>
          <a:xfrm>
            <a:off x="1000452" y="1610024"/>
            <a:ext cx="3058621" cy="1457002"/>
          </a:xfrm>
        </p:spPr>
        <p:txBody>
          <a:bodyPr vert="horz" lIns="91440" tIns="45720" rIns="91440" bIns="45720" rtlCol="0" anchor="b">
            <a:normAutofit/>
          </a:bodyPr>
          <a:lstStyle/>
          <a:p>
            <a:r>
              <a:rPr lang="en-US" altLang="fr-EG" sz="4000" b="1"/>
              <a:t>HANDLING COMPLAINTS</a:t>
            </a:r>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61442" name="Rectangle 7">
            <a:extLst>
              <a:ext uri="{FF2B5EF4-FFF2-40B4-BE49-F238E27FC236}">
                <a16:creationId xmlns:a16="http://schemas.microsoft.com/office/drawing/2014/main" id="{9D0F674E-9276-2046-8F5A-3D4314796F11}"/>
              </a:ext>
            </a:extLst>
          </p:cNvPr>
          <p:cNvSpPr>
            <a:spLocks noGrp="1" noChangeArrowheads="1"/>
          </p:cNvSpPr>
          <p:nvPr>
            <p:ph type="body" sz="half" idx="1"/>
          </p:nvPr>
        </p:nvSpPr>
        <p:spPr>
          <a:xfrm>
            <a:off x="1000450" y="3067026"/>
            <a:ext cx="3058623" cy="3272324"/>
          </a:xfrm>
        </p:spPr>
        <p:txBody>
          <a:bodyPr vert="horz" lIns="91440" tIns="45720" rIns="91440" bIns="45720" rtlCol="0" anchor="t">
            <a:normAutofit/>
          </a:bodyPr>
          <a:lstStyle/>
          <a:p>
            <a:pPr lvl="1">
              <a:spcBef>
                <a:spcPct val="27000"/>
              </a:spcBef>
            </a:pPr>
            <a:r>
              <a:rPr lang="en-US" altLang="fr-EG" sz="2000"/>
              <a:t>Encourage reporting</a:t>
            </a:r>
          </a:p>
          <a:p>
            <a:pPr lvl="1">
              <a:spcBef>
                <a:spcPct val="27000"/>
              </a:spcBef>
            </a:pPr>
            <a:r>
              <a:rPr lang="en-US" altLang="fr-EG" sz="2000"/>
              <a:t>Respond to all complaints</a:t>
            </a:r>
          </a:p>
          <a:p>
            <a:pPr lvl="1">
              <a:spcBef>
                <a:spcPct val="27000"/>
              </a:spcBef>
            </a:pPr>
            <a:r>
              <a:rPr lang="en-US" altLang="fr-EG" sz="2000"/>
              <a:t>Allow employees to bypass the normal chain of command</a:t>
            </a:r>
          </a:p>
          <a:p>
            <a:pPr marL="0"/>
            <a:endParaRPr lang="en-US" altLang="fr-EG" sz="2000"/>
          </a:p>
        </p:txBody>
      </p:sp>
      <p:pic>
        <p:nvPicPr>
          <p:cNvPr id="61443" name="Picture 21" descr="xSH22">
            <a:extLst>
              <a:ext uri="{FF2B5EF4-FFF2-40B4-BE49-F238E27FC236}">
                <a16:creationId xmlns:a16="http://schemas.microsoft.com/office/drawing/2014/main" id="{ACDF650D-2CFD-C045-9421-0C0DD6ADF4C8}"/>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8470" r="8907"/>
          <a:stretch/>
        </p:blipFill>
        <p:spPr>
          <a:xfrm>
            <a:off x="4636963" y="10"/>
            <a:ext cx="7555037" cy="6857990"/>
          </a:xfrm>
          <a:prstGeom prst="rect">
            <a:avLst/>
          </a:prstGeom>
          <a:noFill/>
        </p:spPr>
      </p:pic>
    </p:spTree>
    <p:extLst>
      <p:ext uri="{BB962C8B-B14F-4D97-AF65-F5344CB8AC3E}">
        <p14:creationId xmlns:p14="http://schemas.microsoft.com/office/powerpoint/2010/main" val="409874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89" name="Rectangle 5">
            <a:extLst>
              <a:ext uri="{FF2B5EF4-FFF2-40B4-BE49-F238E27FC236}">
                <a16:creationId xmlns:a16="http://schemas.microsoft.com/office/drawing/2014/main" id="{B4BFC0B7-BD5F-1843-A1F1-652741A68BD8}"/>
              </a:ext>
            </a:extLst>
          </p:cNvPr>
          <p:cNvSpPr>
            <a:spLocks noGrp="1" noChangeArrowheads="1"/>
          </p:cNvSpPr>
          <p:nvPr>
            <p:ph type="title"/>
          </p:nvPr>
        </p:nvSpPr>
        <p:spPr>
          <a:xfrm>
            <a:off x="767290" y="1780661"/>
            <a:ext cx="3582073" cy="1463472"/>
          </a:xfrm>
        </p:spPr>
        <p:txBody>
          <a:bodyPr anchor="t">
            <a:normAutofit/>
          </a:bodyPr>
          <a:lstStyle/>
          <a:p>
            <a:r>
              <a:rPr lang="en-US" altLang="fr-EG" sz="3000" b="1">
                <a:solidFill>
                  <a:schemeClr val="bg1"/>
                </a:solidFill>
              </a:rPr>
              <a:t>HANDLING COMPLAINTS (cont.) </a:t>
            </a:r>
            <a:endParaRPr lang="en-US" altLang="fr-EG" sz="3000">
              <a:solidFill>
                <a:schemeClr val="bg1"/>
              </a:solidFill>
            </a:endParaRPr>
          </a:p>
        </p:txBody>
      </p:sp>
      <p:grpSp>
        <p:nvGrpSpPr>
          <p:cNvPr id="76" name="Group 75">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77"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78"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63490" name="Rectangle 7">
            <a:extLst>
              <a:ext uri="{FF2B5EF4-FFF2-40B4-BE49-F238E27FC236}">
                <a16:creationId xmlns:a16="http://schemas.microsoft.com/office/drawing/2014/main" id="{705D6020-FFF1-D44D-989F-1F6679083808}"/>
              </a:ext>
            </a:extLst>
          </p:cNvPr>
          <p:cNvSpPr>
            <a:spLocks noGrp="1" noChangeArrowheads="1"/>
          </p:cNvSpPr>
          <p:nvPr>
            <p:ph idx="1"/>
          </p:nvPr>
        </p:nvSpPr>
        <p:spPr>
          <a:xfrm>
            <a:off x="767290" y="3383121"/>
            <a:ext cx="3582072" cy="2793251"/>
          </a:xfrm>
        </p:spPr>
        <p:txBody>
          <a:bodyPr anchor="t">
            <a:normAutofit/>
          </a:bodyPr>
          <a:lstStyle/>
          <a:p>
            <a:pPr lvl="1">
              <a:spcBef>
                <a:spcPct val="29000"/>
              </a:spcBef>
              <a:buFont typeface="Wingdings" pitchFamily="2" charset="2"/>
              <a:buChar char="§"/>
            </a:pPr>
            <a:r>
              <a:rPr lang="en-US" altLang="fr-EG" sz="2000">
                <a:solidFill>
                  <a:schemeClr val="bg1"/>
                </a:solidFill>
              </a:rPr>
              <a:t>Respect confidentiality</a:t>
            </a:r>
          </a:p>
          <a:p>
            <a:pPr lvl="1">
              <a:spcBef>
                <a:spcPct val="29000"/>
              </a:spcBef>
              <a:buFont typeface="Wingdings" pitchFamily="2" charset="2"/>
              <a:buChar char="§"/>
            </a:pPr>
            <a:r>
              <a:rPr lang="en-US" altLang="fr-EG" sz="2000">
                <a:solidFill>
                  <a:schemeClr val="bg1"/>
                </a:solidFill>
              </a:rPr>
              <a:t>Strike a balance between confidentiality </a:t>
            </a:r>
            <a:br>
              <a:rPr lang="en-US" altLang="fr-EG" sz="2000">
                <a:solidFill>
                  <a:schemeClr val="bg1"/>
                </a:solidFill>
              </a:rPr>
            </a:br>
            <a:r>
              <a:rPr lang="en-US" altLang="fr-EG" sz="2000">
                <a:solidFill>
                  <a:schemeClr val="bg1"/>
                </a:solidFill>
              </a:rPr>
              <a:t>and the need to investigate</a:t>
            </a:r>
          </a:p>
          <a:p>
            <a:pPr lvl="1">
              <a:spcBef>
                <a:spcPct val="29000"/>
              </a:spcBef>
              <a:buFont typeface="Wingdings" pitchFamily="2" charset="2"/>
              <a:buChar char="§"/>
            </a:pPr>
            <a:r>
              <a:rPr lang="en-US" altLang="fr-EG" sz="2000">
                <a:solidFill>
                  <a:schemeClr val="bg1"/>
                </a:solidFill>
              </a:rPr>
              <a:t>Protect everyone’s rights</a:t>
            </a:r>
          </a:p>
          <a:p>
            <a:pPr marL="0" indent="0">
              <a:buNone/>
            </a:pPr>
            <a:endParaRPr lang="en-US" altLang="fr-EG" sz="2000">
              <a:solidFill>
                <a:schemeClr val="bg1"/>
              </a:solidFill>
            </a:endParaRPr>
          </a:p>
        </p:txBody>
      </p:sp>
      <p:pic>
        <p:nvPicPr>
          <p:cNvPr id="63491" name="Picture 11" descr="manilla envelope clasp confidential">
            <a:extLst>
              <a:ext uri="{FF2B5EF4-FFF2-40B4-BE49-F238E27FC236}">
                <a16:creationId xmlns:a16="http://schemas.microsoft.com/office/drawing/2014/main" id="{5717AB10-967B-E247-AB3D-8D1E13C5D4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791"/>
          <a:stretch>
            <a:fillRect/>
          </a:stretch>
        </p:blipFill>
        <p:spPr bwMode="auto">
          <a:xfrm>
            <a:off x="6701149" y="903730"/>
            <a:ext cx="3473538" cy="44723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2742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3B2069EE-A08E-44F0-B3F9-3CF8CC2DCA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26740" cy="6857542"/>
          </a:xfrm>
          <a:custGeom>
            <a:avLst/>
            <a:gdLst>
              <a:gd name="connsiteX0" fmla="*/ 0 w 6126740"/>
              <a:gd name="connsiteY0" fmla="*/ 0 h 6857542"/>
              <a:gd name="connsiteX1" fmla="*/ 4980067 w 6126740"/>
              <a:gd name="connsiteY1" fmla="*/ 0 h 6857542"/>
              <a:gd name="connsiteX2" fmla="*/ 4992714 w 6126740"/>
              <a:gd name="connsiteY2" fmla="*/ 31774 h 6857542"/>
              <a:gd name="connsiteX3" fmla="*/ 6047722 w 6126740"/>
              <a:gd name="connsiteY3" fmla="*/ 2682457 h 6857542"/>
              <a:gd name="connsiteX4" fmla="*/ 6047722 w 6126740"/>
              <a:gd name="connsiteY4" fmla="*/ 3752208 h 6857542"/>
              <a:gd name="connsiteX5" fmla="*/ 4890218 w 6126740"/>
              <a:gd name="connsiteY5" fmla="*/ 6660411 h 6857542"/>
              <a:gd name="connsiteX6" fmla="*/ 4811756 w 6126740"/>
              <a:gd name="connsiteY6" fmla="*/ 6857542 h 6857542"/>
              <a:gd name="connsiteX7" fmla="*/ 0 w 6126740"/>
              <a:gd name="connsiteY7" fmla="*/ 6857542 h 6857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26740" h="6857542">
                <a:moveTo>
                  <a:pt x="0" y="0"/>
                </a:moveTo>
                <a:lnTo>
                  <a:pt x="4980067" y="0"/>
                </a:lnTo>
                <a:lnTo>
                  <a:pt x="4992714" y="31774"/>
                </a:lnTo>
                <a:cubicBezTo>
                  <a:pt x="6047722" y="2682457"/>
                  <a:pt x="6047722" y="2682457"/>
                  <a:pt x="6047722" y="2682457"/>
                </a:cubicBezTo>
                <a:cubicBezTo>
                  <a:pt x="6153080" y="2988100"/>
                  <a:pt x="6153080" y="3446565"/>
                  <a:pt x="6047722" y="3752208"/>
                </a:cubicBezTo>
                <a:cubicBezTo>
                  <a:pt x="5563735" y="4968215"/>
                  <a:pt x="5185620" y="5918220"/>
                  <a:pt x="4890218" y="6660411"/>
                </a:cubicBezTo>
                <a:lnTo>
                  <a:pt x="4811756" y="6857542"/>
                </a:lnTo>
                <a:lnTo>
                  <a:pt x="0" y="685754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537" name="Rectangle 8">
            <a:extLst>
              <a:ext uri="{FF2B5EF4-FFF2-40B4-BE49-F238E27FC236}">
                <a16:creationId xmlns:a16="http://schemas.microsoft.com/office/drawing/2014/main" id="{4D8DFE6D-ABC5-694B-958A-6480EE369CE8}"/>
              </a:ext>
            </a:extLst>
          </p:cNvPr>
          <p:cNvSpPr>
            <a:spLocks noGrp="1" noChangeArrowheads="1"/>
          </p:cNvSpPr>
          <p:nvPr>
            <p:ph type="title"/>
          </p:nvPr>
        </p:nvSpPr>
        <p:spPr>
          <a:xfrm>
            <a:off x="767290" y="1289146"/>
            <a:ext cx="4153626" cy="4279709"/>
          </a:xfrm>
        </p:spPr>
        <p:txBody>
          <a:bodyPr anchor="ctr">
            <a:normAutofit/>
          </a:bodyPr>
          <a:lstStyle/>
          <a:p>
            <a:pPr algn="r"/>
            <a:r>
              <a:rPr lang="en-US" altLang="fr-EG" sz="5400" b="1">
                <a:solidFill>
                  <a:schemeClr val="bg1"/>
                </a:solidFill>
              </a:rPr>
              <a:t>DEALING WITH ISOLATED INCIDENTS</a:t>
            </a:r>
          </a:p>
        </p:txBody>
      </p:sp>
      <p:grpSp>
        <p:nvGrpSpPr>
          <p:cNvPr id="75" name="Group 74">
            <a:extLst>
              <a:ext uri="{FF2B5EF4-FFF2-40B4-BE49-F238E27FC236}">
                <a16:creationId xmlns:a16="http://schemas.microsoft.com/office/drawing/2014/main" id="{E12BF2FB-8A96-4B53-86A0-04755C545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3027" y="681628"/>
            <a:ext cx="1562267" cy="1172973"/>
            <a:chOff x="7493121" y="1000124"/>
            <a:chExt cx="1562267" cy="1172973"/>
          </a:xfrm>
        </p:grpSpPr>
        <p:sp>
          <p:nvSpPr>
            <p:cNvPr id="76" name="Freeform 5">
              <a:extLst>
                <a:ext uri="{FF2B5EF4-FFF2-40B4-BE49-F238E27FC236}">
                  <a16:creationId xmlns:a16="http://schemas.microsoft.com/office/drawing/2014/main" id="{893D4739-55F8-4E73-8F98-AF42D54BD4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3121"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7" name="Freeform 5">
              <a:extLst>
                <a:ext uri="{FF2B5EF4-FFF2-40B4-BE49-F238E27FC236}">
                  <a16:creationId xmlns:a16="http://schemas.microsoft.com/office/drawing/2014/main" id="{A1AA190F-FB42-4BED-8AA1-A5A01B43C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93221"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65538" name="Rectangle 9">
            <a:extLst>
              <a:ext uri="{FF2B5EF4-FFF2-40B4-BE49-F238E27FC236}">
                <a16:creationId xmlns:a16="http://schemas.microsoft.com/office/drawing/2014/main" id="{7C14705B-1080-EC4D-BE9E-F5CE767674AE}"/>
              </a:ext>
            </a:extLst>
          </p:cNvPr>
          <p:cNvSpPr>
            <a:spLocks noGrp="1" noChangeArrowheads="1"/>
          </p:cNvSpPr>
          <p:nvPr>
            <p:ph idx="1"/>
          </p:nvPr>
        </p:nvSpPr>
        <p:spPr>
          <a:xfrm>
            <a:off x="6514140" y="1854601"/>
            <a:ext cx="4776711" cy="3148798"/>
          </a:xfrm>
        </p:spPr>
        <p:txBody>
          <a:bodyPr anchor="ctr">
            <a:normAutofit/>
          </a:bodyPr>
          <a:lstStyle/>
          <a:p>
            <a:pPr lvl="1">
              <a:buFont typeface="Wingdings" pitchFamily="2" charset="2"/>
              <a:buChar char="§"/>
            </a:pPr>
            <a:r>
              <a:rPr lang="en-US" altLang="fr-EG" i="0" dirty="0"/>
              <a:t>Determine the exact nature of the incident</a:t>
            </a:r>
          </a:p>
          <a:p>
            <a:pPr lvl="1">
              <a:buFont typeface="Wingdings" pitchFamily="2" charset="2"/>
              <a:buChar char="§"/>
            </a:pPr>
            <a:r>
              <a:rPr lang="en-US" altLang="fr-EG" i="0" dirty="0"/>
              <a:t>Counsel the alleged harasser</a:t>
            </a:r>
          </a:p>
          <a:p>
            <a:pPr lvl="1">
              <a:buFont typeface="Wingdings" pitchFamily="2" charset="2"/>
              <a:buChar char="§"/>
            </a:pPr>
            <a:r>
              <a:rPr lang="en-US" altLang="fr-EG" i="0" dirty="0"/>
              <a:t>Reassure the victim</a:t>
            </a:r>
          </a:p>
          <a:p>
            <a:pPr lvl="1">
              <a:buFont typeface="Wingdings" pitchFamily="2" charset="2"/>
              <a:buChar char="§"/>
            </a:pPr>
            <a:r>
              <a:rPr lang="en-US" altLang="fr-EG" i="0" dirty="0"/>
              <a:t>Monitor the situation carefully</a:t>
            </a:r>
          </a:p>
          <a:p>
            <a:pPr marL="0" indent="0">
              <a:buNone/>
            </a:pPr>
            <a:endParaRPr lang="en-US" altLang="fr-EG" sz="2400"/>
          </a:p>
        </p:txBody>
      </p:sp>
    </p:spTree>
    <p:extLst>
      <p:ext uri="{BB962C8B-B14F-4D97-AF65-F5344CB8AC3E}">
        <p14:creationId xmlns:p14="http://schemas.microsoft.com/office/powerpoint/2010/main" val="389479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8">
            <a:extLst>
              <a:ext uri="{FF2B5EF4-FFF2-40B4-BE49-F238E27FC236}">
                <a16:creationId xmlns:a16="http://schemas.microsoft.com/office/drawing/2014/main" id="{D59D413E-557F-674B-9027-6B6972267F3A}"/>
              </a:ext>
            </a:extLst>
          </p:cNvPr>
          <p:cNvSpPr>
            <a:spLocks noGrp="1" noChangeArrowheads="1"/>
          </p:cNvSpPr>
          <p:nvPr>
            <p:ph type="title"/>
          </p:nvPr>
        </p:nvSpPr>
        <p:spPr>
          <a:xfrm>
            <a:off x="2552700" y="685800"/>
            <a:ext cx="7647467" cy="1485900"/>
          </a:xfrm>
        </p:spPr>
        <p:txBody>
          <a:bodyPr/>
          <a:lstStyle/>
          <a:p>
            <a:pPr algn="ctr"/>
            <a:r>
              <a:rPr lang="en-US" altLang="fr-EG" b="1" dirty="0"/>
              <a:t>CONDUCTING INVESTIGATIONS</a:t>
            </a:r>
          </a:p>
        </p:txBody>
      </p:sp>
      <p:sp>
        <p:nvSpPr>
          <p:cNvPr id="67586" name="Rectangle 19">
            <a:extLst>
              <a:ext uri="{FF2B5EF4-FFF2-40B4-BE49-F238E27FC236}">
                <a16:creationId xmlns:a16="http://schemas.microsoft.com/office/drawing/2014/main" id="{27CB9E0F-11C0-DD4B-97C5-5DC4444FD973}"/>
              </a:ext>
            </a:extLst>
          </p:cNvPr>
          <p:cNvSpPr>
            <a:spLocks noGrp="1" noChangeArrowheads="1"/>
          </p:cNvSpPr>
          <p:nvPr>
            <p:ph idx="1"/>
          </p:nvPr>
        </p:nvSpPr>
        <p:spPr>
          <a:xfrm>
            <a:off x="2448536" y="1466545"/>
            <a:ext cx="7200900" cy="3581400"/>
          </a:xfrm>
        </p:spPr>
        <p:txBody>
          <a:bodyPr/>
          <a:lstStyle/>
          <a:p>
            <a:pPr lvl="1">
              <a:lnSpc>
                <a:spcPct val="95000"/>
              </a:lnSpc>
              <a:spcBef>
                <a:spcPct val="27000"/>
              </a:spcBef>
              <a:buFont typeface="Wingdings" pitchFamily="2" charset="2"/>
              <a:buChar char="§"/>
            </a:pPr>
            <a:endParaRPr lang="en-US" altLang="fr-EG" sz="3000" dirty="0"/>
          </a:p>
          <a:p>
            <a:pPr lvl="1">
              <a:lnSpc>
                <a:spcPct val="95000"/>
              </a:lnSpc>
              <a:spcBef>
                <a:spcPct val="27000"/>
              </a:spcBef>
              <a:buFont typeface="Wingdings" pitchFamily="2" charset="2"/>
              <a:buChar char="§"/>
            </a:pPr>
            <a:r>
              <a:rPr lang="en-US" altLang="fr-EG" sz="3000" dirty="0"/>
              <a:t>Questions for the employee filing the complaint</a:t>
            </a:r>
            <a:endParaRPr lang="en-US" altLang="fr-EG" i="0" dirty="0"/>
          </a:p>
          <a:p>
            <a:pPr marL="0" indent="0">
              <a:buNone/>
            </a:pPr>
            <a:endParaRPr lang="en-US" altLang="fr-EG" dirty="0"/>
          </a:p>
        </p:txBody>
      </p:sp>
      <p:sp>
        <p:nvSpPr>
          <p:cNvPr id="88090" name="WordArt 26">
            <a:extLst>
              <a:ext uri="{FF2B5EF4-FFF2-40B4-BE49-F238E27FC236}">
                <a16:creationId xmlns:a16="http://schemas.microsoft.com/office/drawing/2014/main" id="{E4838FD8-E817-234F-86BF-D8667BFC5E32}"/>
              </a:ext>
            </a:extLst>
          </p:cNvPr>
          <p:cNvSpPr>
            <a:spLocks noChangeArrowheads="1" noChangeShapeType="1" noTextEdit="1"/>
          </p:cNvSpPr>
          <p:nvPr/>
        </p:nvSpPr>
        <p:spPr bwMode="auto">
          <a:xfrm>
            <a:off x="2448536" y="2980552"/>
            <a:ext cx="2967260" cy="107315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Who? </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2" name="WordArt 28">
            <a:extLst>
              <a:ext uri="{FF2B5EF4-FFF2-40B4-BE49-F238E27FC236}">
                <a16:creationId xmlns:a16="http://schemas.microsoft.com/office/drawing/2014/main" id="{E05F2554-94A0-6841-A74D-35F4E55E6C14}"/>
              </a:ext>
            </a:extLst>
          </p:cNvPr>
          <p:cNvSpPr>
            <a:spLocks noChangeArrowheads="1" noChangeShapeType="1" noTextEdit="1"/>
          </p:cNvSpPr>
          <p:nvPr/>
        </p:nvSpPr>
        <p:spPr bwMode="auto">
          <a:xfrm>
            <a:off x="2448536" y="4342790"/>
            <a:ext cx="3397840" cy="1073151"/>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Where?</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3" name="WordArt 29">
            <a:extLst>
              <a:ext uri="{FF2B5EF4-FFF2-40B4-BE49-F238E27FC236}">
                <a16:creationId xmlns:a16="http://schemas.microsoft.com/office/drawing/2014/main" id="{507796F9-07E9-1B46-B415-00041F2B14B6}"/>
              </a:ext>
            </a:extLst>
          </p:cNvPr>
          <p:cNvSpPr>
            <a:spLocks noChangeArrowheads="1" noChangeShapeType="1" noTextEdit="1"/>
          </p:cNvSpPr>
          <p:nvPr/>
        </p:nvSpPr>
        <p:spPr bwMode="auto">
          <a:xfrm>
            <a:off x="6161162" y="2987419"/>
            <a:ext cx="3153882" cy="106628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What?</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4" name="WordArt 30">
            <a:extLst>
              <a:ext uri="{FF2B5EF4-FFF2-40B4-BE49-F238E27FC236}">
                <a16:creationId xmlns:a16="http://schemas.microsoft.com/office/drawing/2014/main" id="{AEE8BAF2-59FE-4241-95A1-118FE2EA96F1}"/>
              </a:ext>
            </a:extLst>
          </p:cNvPr>
          <p:cNvSpPr>
            <a:spLocks noChangeArrowheads="1" noChangeShapeType="1" noTextEdit="1"/>
          </p:cNvSpPr>
          <p:nvPr/>
        </p:nvSpPr>
        <p:spPr bwMode="auto">
          <a:xfrm>
            <a:off x="6309760" y="4342790"/>
            <a:ext cx="3005284" cy="1154113"/>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When?</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
        <p:nvSpPr>
          <p:cNvPr id="88095" name="WordArt 31">
            <a:extLst>
              <a:ext uri="{FF2B5EF4-FFF2-40B4-BE49-F238E27FC236}">
                <a16:creationId xmlns:a16="http://schemas.microsoft.com/office/drawing/2014/main" id="{19AE6075-25A6-BC4E-A179-C01EE9F643E3}"/>
              </a:ext>
            </a:extLst>
          </p:cNvPr>
          <p:cNvSpPr>
            <a:spLocks noChangeArrowheads="1" noChangeShapeType="1" noTextEdit="1"/>
          </p:cNvSpPr>
          <p:nvPr/>
        </p:nvSpPr>
        <p:spPr bwMode="auto">
          <a:xfrm>
            <a:off x="4759032" y="5854810"/>
            <a:ext cx="2804261" cy="1044765"/>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r>
              <a:rPr lang="fr-FR"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rPr>
              <a:t>Why?</a:t>
            </a:r>
            <a:endParaRPr lang="fr-EG" sz="3600" kern="10" spc="-180" dirty="0">
              <a:gradFill rotWithShape="1">
                <a:gsLst>
                  <a:gs pos="0">
                    <a:schemeClr val="accent2"/>
                  </a:gs>
                  <a:gs pos="100000">
                    <a:srgbClr val="FFFFFF"/>
                  </a:gs>
                </a:gsLst>
                <a:lin ang="5400000" scaled="1"/>
              </a:gradFill>
              <a:effectLst>
                <a:outerShdw dist="45791" dir="3378596" algn="ctr" rotWithShape="0">
                  <a:srgbClr val="4D4D4D"/>
                </a:outerShdw>
              </a:effectLst>
              <a:latin typeface="Arial Black" panose="020B0604020202020204" pitchFamily="34" charset="0"/>
              <a:cs typeface="Arial Black" panose="020B0604020202020204" pitchFamily="34" charset="0"/>
            </a:endParaRPr>
          </a:p>
        </p:txBody>
      </p:sp>
    </p:spTree>
    <p:extLst>
      <p:ext uri="{BB962C8B-B14F-4D97-AF65-F5344CB8AC3E}">
        <p14:creationId xmlns:p14="http://schemas.microsoft.com/office/powerpoint/2010/main" val="4178505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8" presetClass="entr" presetSubtype="0" fill="remove" nodeType="withEffect">
                                  <p:stCondLst>
                                    <p:cond delay="2000"/>
                                  </p:stCondLst>
                                  <p:childTnLst>
                                    <p:set>
                                      <p:cBhvr>
                                        <p:cTn id="6" dur="1" fill="hold">
                                          <p:stCondLst>
                                            <p:cond delay="0"/>
                                          </p:stCondLst>
                                        </p:cTn>
                                        <p:tgtEl>
                                          <p:spTgt spid="88090"/>
                                        </p:tgtEl>
                                        <p:attrNameLst>
                                          <p:attrName>style.visibility</p:attrName>
                                        </p:attrNameLst>
                                      </p:cBhvr>
                                      <p:to>
                                        <p:strVal val="visible"/>
                                      </p:to>
                                    </p:set>
                                    <p:anim calcmode="lin" valueType="num">
                                      <p:cBhvr>
                                        <p:cTn id="7" dur="5000" fill="hold"/>
                                        <p:tgtEl>
                                          <p:spTgt spid="88090"/>
                                        </p:tgtEl>
                                        <p:attrNameLst>
                                          <p:attrName>ppt_x</p:attrName>
                                        </p:attrNameLst>
                                      </p:cBhvr>
                                      <p:tavLst>
                                        <p:tav tm="0">
                                          <p:val>
                                            <p:strVal val="#ppt_x"/>
                                          </p:val>
                                        </p:tav>
                                        <p:tav tm="100000">
                                          <p:val>
                                            <p:strVal val="#ppt_x"/>
                                          </p:val>
                                        </p:tav>
                                      </p:tavLst>
                                    </p:anim>
                                    <p:anim calcmode="lin" valueType="num">
                                      <p:cBhvr>
                                        <p:cTn id="8" dur="5000" fill="hold"/>
                                        <p:tgtEl>
                                          <p:spTgt spid="88090"/>
                                        </p:tgtEl>
                                        <p:attrNameLst>
                                          <p:attrName>ppt_y</p:attrName>
                                        </p:attrNameLst>
                                      </p:cBhvr>
                                      <p:tavLst>
                                        <p:tav tm="0">
                                          <p:val>
                                            <p:strVal val="#ppt_y+1"/>
                                          </p:val>
                                        </p:tav>
                                        <p:tav tm="100000">
                                          <p:val>
                                            <p:strVal val="#ppt_y-1"/>
                                          </p:val>
                                        </p:tav>
                                      </p:tavLst>
                                    </p:anim>
                                  </p:childTnLst>
                                </p:cTn>
                              </p:par>
                              <p:par>
                                <p:cTn id="9" presetID="28" presetClass="entr" presetSubtype="0" fill="hold" nodeType="withEffect">
                                  <p:stCondLst>
                                    <p:cond delay="5000"/>
                                  </p:stCondLst>
                                  <p:childTnLst>
                                    <p:set>
                                      <p:cBhvr>
                                        <p:cTn id="10" dur="1" fill="hold">
                                          <p:stCondLst>
                                            <p:cond delay="0"/>
                                          </p:stCondLst>
                                        </p:cTn>
                                        <p:tgtEl>
                                          <p:spTgt spid="88093"/>
                                        </p:tgtEl>
                                        <p:attrNameLst>
                                          <p:attrName>style.visibility</p:attrName>
                                        </p:attrNameLst>
                                      </p:cBhvr>
                                      <p:to>
                                        <p:strVal val="visible"/>
                                      </p:to>
                                    </p:set>
                                    <p:anim calcmode="lin" valueType="num">
                                      <p:cBhvr>
                                        <p:cTn id="11" dur="5000" fill="hold"/>
                                        <p:tgtEl>
                                          <p:spTgt spid="88093"/>
                                        </p:tgtEl>
                                        <p:attrNameLst>
                                          <p:attrName>ppt_x</p:attrName>
                                        </p:attrNameLst>
                                      </p:cBhvr>
                                      <p:tavLst>
                                        <p:tav tm="0">
                                          <p:val>
                                            <p:strVal val="#ppt_x"/>
                                          </p:val>
                                        </p:tav>
                                        <p:tav tm="100000">
                                          <p:val>
                                            <p:strVal val="#ppt_x"/>
                                          </p:val>
                                        </p:tav>
                                      </p:tavLst>
                                    </p:anim>
                                    <p:anim calcmode="lin" valueType="num">
                                      <p:cBhvr>
                                        <p:cTn id="12" dur="5000" fill="hold"/>
                                        <p:tgtEl>
                                          <p:spTgt spid="88093"/>
                                        </p:tgtEl>
                                        <p:attrNameLst>
                                          <p:attrName>ppt_y</p:attrName>
                                        </p:attrNameLst>
                                      </p:cBhvr>
                                      <p:tavLst>
                                        <p:tav tm="0">
                                          <p:val>
                                            <p:strVal val="#ppt_y+1"/>
                                          </p:val>
                                        </p:tav>
                                        <p:tav tm="100000">
                                          <p:val>
                                            <p:strVal val="#ppt_y-1"/>
                                          </p:val>
                                        </p:tav>
                                      </p:tavLst>
                                    </p:anim>
                                  </p:childTnLst>
                                </p:cTn>
                              </p:par>
                              <p:par>
                                <p:cTn id="13" presetID="28" presetClass="entr" presetSubtype="0" fill="hold" nodeType="withEffect">
                                  <p:stCondLst>
                                    <p:cond delay="8000"/>
                                  </p:stCondLst>
                                  <p:childTnLst>
                                    <p:set>
                                      <p:cBhvr>
                                        <p:cTn id="14" dur="1" fill="hold">
                                          <p:stCondLst>
                                            <p:cond delay="0"/>
                                          </p:stCondLst>
                                        </p:cTn>
                                        <p:tgtEl>
                                          <p:spTgt spid="88092"/>
                                        </p:tgtEl>
                                        <p:attrNameLst>
                                          <p:attrName>style.visibility</p:attrName>
                                        </p:attrNameLst>
                                      </p:cBhvr>
                                      <p:to>
                                        <p:strVal val="visible"/>
                                      </p:to>
                                    </p:set>
                                    <p:anim calcmode="lin" valueType="num">
                                      <p:cBhvr>
                                        <p:cTn id="15" dur="5000" fill="hold"/>
                                        <p:tgtEl>
                                          <p:spTgt spid="88092"/>
                                        </p:tgtEl>
                                        <p:attrNameLst>
                                          <p:attrName>ppt_x</p:attrName>
                                        </p:attrNameLst>
                                      </p:cBhvr>
                                      <p:tavLst>
                                        <p:tav tm="0">
                                          <p:val>
                                            <p:strVal val="#ppt_x"/>
                                          </p:val>
                                        </p:tav>
                                        <p:tav tm="100000">
                                          <p:val>
                                            <p:strVal val="#ppt_x"/>
                                          </p:val>
                                        </p:tav>
                                      </p:tavLst>
                                    </p:anim>
                                    <p:anim calcmode="lin" valueType="num">
                                      <p:cBhvr>
                                        <p:cTn id="16" dur="5000" fill="hold"/>
                                        <p:tgtEl>
                                          <p:spTgt spid="88092"/>
                                        </p:tgtEl>
                                        <p:attrNameLst>
                                          <p:attrName>ppt_y</p:attrName>
                                        </p:attrNameLst>
                                      </p:cBhvr>
                                      <p:tavLst>
                                        <p:tav tm="0">
                                          <p:val>
                                            <p:strVal val="#ppt_y+1"/>
                                          </p:val>
                                        </p:tav>
                                        <p:tav tm="100000">
                                          <p:val>
                                            <p:strVal val="#ppt_y-1"/>
                                          </p:val>
                                        </p:tav>
                                      </p:tavLst>
                                    </p:anim>
                                  </p:childTnLst>
                                </p:cTn>
                              </p:par>
                              <p:par>
                                <p:cTn id="17" presetID="28" presetClass="entr" presetSubtype="0" fill="hold" nodeType="withEffect">
                                  <p:stCondLst>
                                    <p:cond delay="11000"/>
                                  </p:stCondLst>
                                  <p:childTnLst>
                                    <p:set>
                                      <p:cBhvr>
                                        <p:cTn id="18" dur="1" fill="hold">
                                          <p:stCondLst>
                                            <p:cond delay="0"/>
                                          </p:stCondLst>
                                        </p:cTn>
                                        <p:tgtEl>
                                          <p:spTgt spid="88094"/>
                                        </p:tgtEl>
                                        <p:attrNameLst>
                                          <p:attrName>style.visibility</p:attrName>
                                        </p:attrNameLst>
                                      </p:cBhvr>
                                      <p:to>
                                        <p:strVal val="visible"/>
                                      </p:to>
                                    </p:set>
                                    <p:anim calcmode="lin" valueType="num">
                                      <p:cBhvr>
                                        <p:cTn id="19" dur="5000" fill="hold"/>
                                        <p:tgtEl>
                                          <p:spTgt spid="88094"/>
                                        </p:tgtEl>
                                        <p:attrNameLst>
                                          <p:attrName>ppt_x</p:attrName>
                                        </p:attrNameLst>
                                      </p:cBhvr>
                                      <p:tavLst>
                                        <p:tav tm="0">
                                          <p:val>
                                            <p:strVal val="#ppt_x"/>
                                          </p:val>
                                        </p:tav>
                                        <p:tav tm="100000">
                                          <p:val>
                                            <p:strVal val="#ppt_x"/>
                                          </p:val>
                                        </p:tav>
                                      </p:tavLst>
                                    </p:anim>
                                    <p:anim calcmode="lin" valueType="num">
                                      <p:cBhvr>
                                        <p:cTn id="20" dur="5000" fill="hold"/>
                                        <p:tgtEl>
                                          <p:spTgt spid="88094"/>
                                        </p:tgtEl>
                                        <p:attrNameLst>
                                          <p:attrName>ppt_y</p:attrName>
                                        </p:attrNameLst>
                                      </p:cBhvr>
                                      <p:tavLst>
                                        <p:tav tm="0">
                                          <p:val>
                                            <p:strVal val="#ppt_y+1"/>
                                          </p:val>
                                        </p:tav>
                                        <p:tav tm="100000">
                                          <p:val>
                                            <p:strVal val="#ppt_y-1"/>
                                          </p:val>
                                        </p:tav>
                                      </p:tavLst>
                                    </p:anim>
                                  </p:childTnLst>
                                </p:cTn>
                              </p:par>
                              <p:par>
                                <p:cTn id="21" presetID="28" presetClass="entr" presetSubtype="0" fill="hold" nodeType="withEffect">
                                  <p:stCondLst>
                                    <p:cond delay="14000"/>
                                  </p:stCondLst>
                                  <p:childTnLst>
                                    <p:set>
                                      <p:cBhvr>
                                        <p:cTn id="22" dur="1" fill="hold">
                                          <p:stCondLst>
                                            <p:cond delay="0"/>
                                          </p:stCondLst>
                                        </p:cTn>
                                        <p:tgtEl>
                                          <p:spTgt spid="88095"/>
                                        </p:tgtEl>
                                        <p:attrNameLst>
                                          <p:attrName>style.visibility</p:attrName>
                                        </p:attrNameLst>
                                      </p:cBhvr>
                                      <p:to>
                                        <p:strVal val="visible"/>
                                      </p:to>
                                    </p:set>
                                    <p:anim calcmode="lin" valueType="num">
                                      <p:cBhvr>
                                        <p:cTn id="23" dur="5000" fill="hold"/>
                                        <p:tgtEl>
                                          <p:spTgt spid="88095"/>
                                        </p:tgtEl>
                                        <p:attrNameLst>
                                          <p:attrName>ppt_x</p:attrName>
                                        </p:attrNameLst>
                                      </p:cBhvr>
                                      <p:tavLst>
                                        <p:tav tm="0">
                                          <p:val>
                                            <p:strVal val="#ppt_x"/>
                                          </p:val>
                                        </p:tav>
                                        <p:tav tm="100000">
                                          <p:val>
                                            <p:strVal val="#ppt_x"/>
                                          </p:val>
                                        </p:tav>
                                      </p:tavLst>
                                    </p:anim>
                                    <p:anim calcmode="lin" valueType="num">
                                      <p:cBhvr>
                                        <p:cTn id="24" dur="5000" fill="hold"/>
                                        <p:tgtEl>
                                          <p:spTgt spid="88095"/>
                                        </p:tgtEl>
                                        <p:attrNameLst>
                                          <p:attrName>ppt_y</p:attrName>
                                        </p:attrNameLst>
                                      </p:cBhvr>
                                      <p:tavLst>
                                        <p:tav tm="0">
                                          <p:val>
                                            <p:strVal val="#ppt_y+1"/>
                                          </p:val>
                                        </p:tav>
                                        <p:tav tm="100000">
                                          <p:val>
                                            <p:strVal val="#ppt_y-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33" name="Rectangle 5">
            <a:extLst>
              <a:ext uri="{FF2B5EF4-FFF2-40B4-BE49-F238E27FC236}">
                <a16:creationId xmlns:a16="http://schemas.microsoft.com/office/drawing/2014/main" id="{1628A4FD-92D0-FE43-A519-14DA8293D0F2}"/>
              </a:ext>
            </a:extLst>
          </p:cNvPr>
          <p:cNvSpPr>
            <a:spLocks noGrp="1" noChangeArrowheads="1"/>
          </p:cNvSpPr>
          <p:nvPr>
            <p:ph type="title"/>
          </p:nvPr>
        </p:nvSpPr>
        <p:spPr>
          <a:xfrm>
            <a:off x="965199" y="851517"/>
            <a:ext cx="5130795" cy="1461778"/>
          </a:xfrm>
        </p:spPr>
        <p:txBody>
          <a:bodyPr vert="horz" lIns="91440" tIns="45720" rIns="91440" bIns="45720" rtlCol="0" anchor="ctr">
            <a:normAutofit/>
          </a:bodyPr>
          <a:lstStyle/>
          <a:p>
            <a:r>
              <a:rPr lang="en-US" altLang="fr-EG" sz="4000" b="1" dirty="0"/>
              <a:t>CONDUCTING INVESTIGATIONS (cont.)</a:t>
            </a:r>
          </a:p>
        </p:txBody>
      </p:sp>
      <p:sp>
        <p:nvSpPr>
          <p:cNvPr id="69634" name="Rectangle 7">
            <a:extLst>
              <a:ext uri="{FF2B5EF4-FFF2-40B4-BE49-F238E27FC236}">
                <a16:creationId xmlns:a16="http://schemas.microsoft.com/office/drawing/2014/main" id="{2DBB8E7A-6744-A64C-BB55-528C2DCAD719}"/>
              </a:ext>
            </a:extLst>
          </p:cNvPr>
          <p:cNvSpPr>
            <a:spLocks noGrp="1" noChangeArrowheads="1"/>
          </p:cNvSpPr>
          <p:nvPr>
            <p:ph type="body" sz="half" idx="1"/>
          </p:nvPr>
        </p:nvSpPr>
        <p:spPr>
          <a:xfrm>
            <a:off x="965200" y="2470248"/>
            <a:ext cx="4048344" cy="3536236"/>
          </a:xfrm>
        </p:spPr>
        <p:txBody>
          <a:bodyPr vert="horz" lIns="91440" tIns="45720" rIns="91440" bIns="45720" rtlCol="0">
            <a:normAutofit/>
          </a:bodyPr>
          <a:lstStyle/>
          <a:p>
            <a:pPr lvl="1">
              <a:spcBef>
                <a:spcPct val="28000"/>
              </a:spcBef>
            </a:pPr>
            <a:r>
              <a:rPr lang="en-US" altLang="fr-EG"/>
              <a:t>Questions for the alleged harasser</a:t>
            </a:r>
          </a:p>
          <a:p>
            <a:pPr lvl="1">
              <a:spcBef>
                <a:spcPct val="28000"/>
              </a:spcBef>
            </a:pPr>
            <a:r>
              <a:rPr lang="en-US" altLang="fr-EG"/>
              <a:t>Questions for witnesses</a:t>
            </a:r>
          </a:p>
          <a:p>
            <a:pPr marL="0"/>
            <a:endParaRPr lang="en-US" altLang="fr-EG" sz="2400"/>
          </a:p>
        </p:txBody>
      </p:sp>
      <p:pic>
        <p:nvPicPr>
          <p:cNvPr id="69635" name="Picture 9">
            <a:extLst>
              <a:ext uri="{FF2B5EF4-FFF2-40B4-BE49-F238E27FC236}">
                <a16:creationId xmlns:a16="http://schemas.microsoft.com/office/drawing/2014/main" id="{5AB83FDA-9A42-0940-A17B-7AB271927FA9}"/>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t="10341" r="-2" b="22561"/>
          <a:stretch/>
        </p:blipFill>
        <p:spPr>
          <a:xfrm>
            <a:off x="5510369" y="851517"/>
            <a:ext cx="6184807" cy="5154967"/>
          </a:xfrm>
          <a:custGeom>
            <a:avLst/>
            <a:gdLst/>
            <a:ahLst/>
            <a:cxnLst/>
            <a:rect l="l" t="t" r="r" b="b"/>
            <a:pathLst>
              <a:path w="5846002" h="4872577">
                <a:moveTo>
                  <a:pt x="343285" y="2953992"/>
                </a:moveTo>
                <a:cubicBezTo>
                  <a:pt x="343285" y="2953992"/>
                  <a:pt x="343285" y="2953992"/>
                  <a:pt x="849063" y="2953992"/>
                </a:cubicBezTo>
                <a:cubicBezTo>
                  <a:pt x="880743" y="2953992"/>
                  <a:pt x="911330" y="2971406"/>
                  <a:pt x="926624" y="2999703"/>
                </a:cubicBezTo>
                <a:cubicBezTo>
                  <a:pt x="926624" y="2999703"/>
                  <a:pt x="926624" y="2999703"/>
                  <a:pt x="1180059" y="3436136"/>
                </a:cubicBezTo>
                <a:cubicBezTo>
                  <a:pt x="1196445" y="3463345"/>
                  <a:pt x="1196445" y="3498172"/>
                  <a:pt x="1180059" y="3525382"/>
                </a:cubicBezTo>
                <a:cubicBezTo>
                  <a:pt x="1180059" y="3525382"/>
                  <a:pt x="1180059" y="3525382"/>
                  <a:pt x="926624" y="3961814"/>
                </a:cubicBezTo>
                <a:cubicBezTo>
                  <a:pt x="911330" y="3990111"/>
                  <a:pt x="880743" y="4007525"/>
                  <a:pt x="849063" y="4007525"/>
                </a:cubicBezTo>
                <a:cubicBezTo>
                  <a:pt x="849063" y="4007525"/>
                  <a:pt x="849063" y="4007525"/>
                  <a:pt x="343285" y="4007525"/>
                </a:cubicBezTo>
                <a:cubicBezTo>
                  <a:pt x="310513" y="4007525"/>
                  <a:pt x="281019" y="3990111"/>
                  <a:pt x="264633" y="3961814"/>
                </a:cubicBezTo>
                <a:cubicBezTo>
                  <a:pt x="264633" y="3961814"/>
                  <a:pt x="264633" y="3961814"/>
                  <a:pt x="12290" y="3525382"/>
                </a:cubicBezTo>
                <a:cubicBezTo>
                  <a:pt x="-4096" y="3498172"/>
                  <a:pt x="-4096" y="3463345"/>
                  <a:pt x="12290" y="3436136"/>
                </a:cubicBezTo>
                <a:cubicBezTo>
                  <a:pt x="12290" y="3436136"/>
                  <a:pt x="12290" y="3436136"/>
                  <a:pt x="264633" y="2999703"/>
                </a:cubicBezTo>
                <a:cubicBezTo>
                  <a:pt x="281019" y="2971406"/>
                  <a:pt x="310513" y="2953992"/>
                  <a:pt x="343285" y="2953992"/>
                </a:cubicBezTo>
                <a:close/>
                <a:moveTo>
                  <a:pt x="2353334" y="538808"/>
                </a:moveTo>
                <a:cubicBezTo>
                  <a:pt x="2353334" y="538808"/>
                  <a:pt x="2353334" y="538808"/>
                  <a:pt x="2613403" y="538808"/>
                </a:cubicBezTo>
                <a:lnTo>
                  <a:pt x="2643742" y="538808"/>
                </a:lnTo>
                <a:lnTo>
                  <a:pt x="2672692" y="588661"/>
                </a:lnTo>
                <a:cubicBezTo>
                  <a:pt x="2713002" y="658078"/>
                  <a:pt x="2759909" y="738855"/>
                  <a:pt x="2814491" y="832849"/>
                </a:cubicBezTo>
                <a:cubicBezTo>
                  <a:pt x="2839586" y="874521"/>
                  <a:pt x="2839586" y="927860"/>
                  <a:pt x="2814491" y="969531"/>
                </a:cubicBezTo>
                <a:cubicBezTo>
                  <a:pt x="2814491" y="969531"/>
                  <a:pt x="2814491" y="969531"/>
                  <a:pt x="2426350" y="1637936"/>
                </a:cubicBezTo>
                <a:cubicBezTo>
                  <a:pt x="2402927" y="1681274"/>
                  <a:pt x="2356083" y="1707943"/>
                  <a:pt x="2307565" y="1707943"/>
                </a:cubicBezTo>
                <a:cubicBezTo>
                  <a:pt x="2307565" y="1707943"/>
                  <a:pt x="2307565" y="1707943"/>
                  <a:pt x="1532956" y="1707943"/>
                </a:cubicBezTo>
                <a:cubicBezTo>
                  <a:pt x="1520409" y="1707943"/>
                  <a:pt x="1508175" y="1706276"/>
                  <a:pt x="1496490" y="1703099"/>
                </a:cubicBezTo>
                <a:lnTo>
                  <a:pt x="1471408" y="1692583"/>
                </a:lnTo>
                <a:lnTo>
                  <a:pt x="1486736" y="1666073"/>
                </a:lnTo>
                <a:cubicBezTo>
                  <a:pt x="1625328" y="1426376"/>
                  <a:pt x="1802725" y="1119564"/>
                  <a:pt x="2029793" y="726844"/>
                </a:cubicBezTo>
                <a:cubicBezTo>
                  <a:pt x="2097197" y="610441"/>
                  <a:pt x="2218525" y="538808"/>
                  <a:pt x="2353334" y="538808"/>
                </a:cubicBezTo>
                <a:close/>
                <a:moveTo>
                  <a:pt x="1487085" y="0"/>
                </a:moveTo>
                <a:cubicBezTo>
                  <a:pt x="1487085" y="0"/>
                  <a:pt x="1487085" y="0"/>
                  <a:pt x="2360840" y="0"/>
                </a:cubicBezTo>
                <a:cubicBezTo>
                  <a:pt x="2415568" y="0"/>
                  <a:pt x="2468407" y="30084"/>
                  <a:pt x="2494828" y="78969"/>
                </a:cubicBezTo>
                <a:cubicBezTo>
                  <a:pt x="2494828" y="78969"/>
                  <a:pt x="2494828" y="78969"/>
                  <a:pt x="2729665" y="483373"/>
                </a:cubicBezTo>
                <a:lnTo>
                  <a:pt x="2756194" y="529058"/>
                </a:lnTo>
                <a:lnTo>
                  <a:pt x="2735320" y="529058"/>
                </a:lnTo>
                <a:lnTo>
                  <a:pt x="2636659" y="529058"/>
                </a:lnTo>
                <a:lnTo>
                  <a:pt x="2593799" y="455250"/>
                </a:lnTo>
                <a:cubicBezTo>
                  <a:pt x="2430052" y="173267"/>
                  <a:pt x="2430052" y="173267"/>
                  <a:pt x="2430052" y="173267"/>
                </a:cubicBezTo>
                <a:cubicBezTo>
                  <a:pt x="2406629" y="129929"/>
                  <a:pt x="2359785" y="103259"/>
                  <a:pt x="2311267" y="103259"/>
                </a:cubicBezTo>
                <a:cubicBezTo>
                  <a:pt x="1536658" y="103259"/>
                  <a:pt x="1536658" y="103259"/>
                  <a:pt x="1536658" y="103259"/>
                </a:cubicBezTo>
                <a:cubicBezTo>
                  <a:pt x="1486468" y="103259"/>
                  <a:pt x="1441296" y="129929"/>
                  <a:pt x="1416201" y="173267"/>
                </a:cubicBezTo>
                <a:cubicBezTo>
                  <a:pt x="1029733" y="841671"/>
                  <a:pt x="1029733" y="841671"/>
                  <a:pt x="1029733" y="841671"/>
                </a:cubicBezTo>
                <a:cubicBezTo>
                  <a:pt x="1004637" y="883343"/>
                  <a:pt x="1004637" y="936682"/>
                  <a:pt x="1029733" y="978353"/>
                </a:cubicBezTo>
                <a:cubicBezTo>
                  <a:pt x="1416201" y="1646758"/>
                  <a:pt x="1416201" y="1646758"/>
                  <a:pt x="1416201" y="1646758"/>
                </a:cubicBezTo>
                <a:cubicBezTo>
                  <a:pt x="1428749" y="1668427"/>
                  <a:pt x="1446315" y="1685929"/>
                  <a:pt x="1467019" y="1698013"/>
                </a:cubicBezTo>
                <a:lnTo>
                  <a:pt x="1472899" y="1700478"/>
                </a:lnTo>
                <a:lnTo>
                  <a:pt x="1441377" y="1754996"/>
                </a:lnTo>
                <a:lnTo>
                  <a:pt x="1417933" y="1795543"/>
                </a:lnTo>
                <a:lnTo>
                  <a:pt x="1442249" y="1805738"/>
                </a:lnTo>
                <a:cubicBezTo>
                  <a:pt x="1455430" y="1809322"/>
                  <a:pt x="1469230" y="1811202"/>
                  <a:pt x="1483383" y="1811202"/>
                </a:cubicBezTo>
                <a:cubicBezTo>
                  <a:pt x="2357138" y="1811202"/>
                  <a:pt x="2357138" y="1811202"/>
                  <a:pt x="2357138" y="1811202"/>
                </a:cubicBezTo>
                <a:cubicBezTo>
                  <a:pt x="2411866" y="1811202"/>
                  <a:pt x="2464705" y="1781120"/>
                  <a:pt x="2491126" y="1732235"/>
                </a:cubicBezTo>
                <a:cubicBezTo>
                  <a:pt x="2928947" y="978278"/>
                  <a:pt x="2928947" y="978278"/>
                  <a:pt x="2928947" y="978278"/>
                </a:cubicBezTo>
                <a:cubicBezTo>
                  <a:pt x="2957254" y="931274"/>
                  <a:pt x="2957254" y="871108"/>
                  <a:pt x="2928947" y="824102"/>
                </a:cubicBezTo>
                <a:cubicBezTo>
                  <a:pt x="2874220" y="729858"/>
                  <a:pt x="2826333" y="647394"/>
                  <a:pt x="2784432" y="575238"/>
                </a:cubicBezTo>
                <a:lnTo>
                  <a:pt x="2763277" y="538808"/>
                </a:lnTo>
                <a:lnTo>
                  <a:pt x="2861280" y="538808"/>
                </a:lnTo>
                <a:cubicBezTo>
                  <a:pt x="3166048" y="538808"/>
                  <a:pt x="3653676" y="538808"/>
                  <a:pt x="4433881" y="538808"/>
                </a:cubicBezTo>
                <a:cubicBezTo>
                  <a:pt x="4564197" y="538808"/>
                  <a:pt x="4690018" y="610441"/>
                  <a:pt x="4752929" y="726844"/>
                </a:cubicBezTo>
                <a:cubicBezTo>
                  <a:pt x="4752929" y="726844"/>
                  <a:pt x="4752929" y="726844"/>
                  <a:pt x="5795449" y="2522134"/>
                </a:cubicBezTo>
                <a:cubicBezTo>
                  <a:pt x="5862854" y="2634060"/>
                  <a:pt x="5862854" y="2777325"/>
                  <a:pt x="5795449" y="2889251"/>
                </a:cubicBezTo>
                <a:cubicBezTo>
                  <a:pt x="5795449" y="2889251"/>
                  <a:pt x="5795449" y="2889251"/>
                  <a:pt x="4752929" y="4684542"/>
                </a:cubicBezTo>
                <a:cubicBezTo>
                  <a:pt x="4690018" y="4800945"/>
                  <a:pt x="4564197" y="4872577"/>
                  <a:pt x="4433881" y="4872577"/>
                </a:cubicBezTo>
                <a:cubicBezTo>
                  <a:pt x="4433881" y="4872577"/>
                  <a:pt x="4433881" y="4872577"/>
                  <a:pt x="2353334" y="4872577"/>
                </a:cubicBezTo>
                <a:cubicBezTo>
                  <a:pt x="2218525" y="4872577"/>
                  <a:pt x="2097197" y="4800945"/>
                  <a:pt x="2029793" y="4684542"/>
                </a:cubicBezTo>
                <a:cubicBezTo>
                  <a:pt x="2029793" y="4684542"/>
                  <a:pt x="2029793" y="4684542"/>
                  <a:pt x="991766" y="2889251"/>
                </a:cubicBezTo>
                <a:cubicBezTo>
                  <a:pt x="924361" y="2777325"/>
                  <a:pt x="924361" y="2634060"/>
                  <a:pt x="991766" y="2522134"/>
                </a:cubicBezTo>
                <a:cubicBezTo>
                  <a:pt x="991766" y="2522134"/>
                  <a:pt x="991766" y="2522134"/>
                  <a:pt x="1377193" y="1855530"/>
                </a:cubicBezTo>
                <a:lnTo>
                  <a:pt x="1409676" y="1799352"/>
                </a:lnTo>
                <a:lnTo>
                  <a:pt x="1408533" y="1798873"/>
                </a:lnTo>
                <a:cubicBezTo>
                  <a:pt x="1385179" y="1785241"/>
                  <a:pt x="1365364" y="1765500"/>
                  <a:pt x="1351210" y="1741057"/>
                </a:cubicBezTo>
                <a:cubicBezTo>
                  <a:pt x="1351210" y="1741057"/>
                  <a:pt x="1351210" y="1741057"/>
                  <a:pt x="915276" y="987100"/>
                </a:cubicBezTo>
                <a:cubicBezTo>
                  <a:pt x="886968" y="940096"/>
                  <a:pt x="886968" y="879930"/>
                  <a:pt x="915276" y="832924"/>
                </a:cubicBezTo>
                <a:cubicBezTo>
                  <a:pt x="915276" y="832924"/>
                  <a:pt x="915276" y="832924"/>
                  <a:pt x="1351210" y="78969"/>
                </a:cubicBezTo>
                <a:cubicBezTo>
                  <a:pt x="1379517" y="30084"/>
                  <a:pt x="1430471" y="0"/>
                  <a:pt x="1487085" y="0"/>
                </a:cubicBezTo>
                <a:close/>
              </a:path>
            </a:pathLst>
          </a:custGeom>
          <a:noFill/>
        </p:spPr>
      </p:pic>
    </p:spTree>
    <p:extLst>
      <p:ext uri="{BB962C8B-B14F-4D97-AF65-F5344CB8AC3E}">
        <p14:creationId xmlns:p14="http://schemas.microsoft.com/office/powerpoint/2010/main" val="4110632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81" name="Rectangle 6">
            <a:extLst>
              <a:ext uri="{FF2B5EF4-FFF2-40B4-BE49-F238E27FC236}">
                <a16:creationId xmlns:a16="http://schemas.microsoft.com/office/drawing/2014/main" id="{E3BA172F-38A5-844A-979A-25ECEB929883}"/>
              </a:ext>
            </a:extLst>
          </p:cNvPr>
          <p:cNvSpPr>
            <a:spLocks noGrp="1" noChangeArrowheads="1"/>
          </p:cNvSpPr>
          <p:nvPr>
            <p:ph type="title"/>
          </p:nvPr>
        </p:nvSpPr>
        <p:spPr>
          <a:xfrm>
            <a:off x="1000452" y="1610024"/>
            <a:ext cx="3058621" cy="1457002"/>
          </a:xfrm>
        </p:spPr>
        <p:txBody>
          <a:bodyPr anchor="b">
            <a:normAutofit/>
          </a:bodyPr>
          <a:lstStyle/>
          <a:p>
            <a:r>
              <a:rPr lang="en-US" altLang="fr-EG" sz="3100" b="1"/>
              <a:t>TAKING COERCIVE ACTION </a:t>
            </a:r>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1682" name="Rectangle 8">
            <a:extLst>
              <a:ext uri="{FF2B5EF4-FFF2-40B4-BE49-F238E27FC236}">
                <a16:creationId xmlns:a16="http://schemas.microsoft.com/office/drawing/2014/main" id="{67414CE4-EBCC-E64D-A519-223D6045DC60}"/>
              </a:ext>
            </a:extLst>
          </p:cNvPr>
          <p:cNvSpPr>
            <a:spLocks noGrp="1" noChangeArrowheads="1"/>
          </p:cNvSpPr>
          <p:nvPr>
            <p:ph idx="1"/>
          </p:nvPr>
        </p:nvSpPr>
        <p:spPr>
          <a:xfrm>
            <a:off x="1000450" y="3067026"/>
            <a:ext cx="3058623" cy="3272324"/>
          </a:xfrm>
        </p:spPr>
        <p:txBody>
          <a:bodyPr anchor="t">
            <a:normAutofit/>
          </a:bodyPr>
          <a:lstStyle/>
          <a:p>
            <a:pPr lvl="1">
              <a:spcBef>
                <a:spcPct val="29000"/>
              </a:spcBef>
              <a:buFont typeface="Wingdings" pitchFamily="2" charset="2"/>
              <a:buChar char="§"/>
            </a:pPr>
            <a:r>
              <a:rPr lang="en-US" altLang="fr-EG" sz="2000"/>
              <a:t>Take effective </a:t>
            </a:r>
            <a:br>
              <a:rPr lang="en-US" altLang="fr-EG" sz="2000"/>
            </a:br>
            <a:r>
              <a:rPr lang="en-US" altLang="fr-EG" sz="2000"/>
              <a:t>remedial action</a:t>
            </a:r>
          </a:p>
          <a:p>
            <a:pPr lvl="1">
              <a:spcBef>
                <a:spcPct val="29000"/>
              </a:spcBef>
              <a:buFont typeface="Wingdings" pitchFamily="2" charset="2"/>
              <a:buChar char="§"/>
            </a:pPr>
            <a:r>
              <a:rPr lang="en-US" altLang="fr-EG" sz="2000"/>
              <a:t>Balance competing </a:t>
            </a:r>
            <a:br>
              <a:rPr lang="en-US" altLang="fr-EG" sz="2000"/>
            </a:br>
            <a:r>
              <a:rPr lang="en-US" altLang="fr-EG" sz="2000"/>
              <a:t>concerns</a:t>
            </a:r>
            <a:endParaRPr lang="en-US" altLang="fr-EG" sz="2000" i="0"/>
          </a:p>
        </p:txBody>
      </p:sp>
      <p:pic>
        <p:nvPicPr>
          <p:cNvPr id="71683" name="Picture 12" descr="discipline office stern talk lo">
            <a:extLst>
              <a:ext uri="{FF2B5EF4-FFF2-40B4-BE49-F238E27FC236}">
                <a16:creationId xmlns:a16="http://schemas.microsoft.com/office/drawing/2014/main" id="{9F5CE629-D7E1-1A41-8462-F037326BD0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54" r="7573" b="-2"/>
          <a:stretch/>
        </p:blipFill>
        <p:spPr bwMode="auto">
          <a:xfrm>
            <a:off x="4636963" y="10"/>
            <a:ext cx="7555037"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086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29" name="Rectangle 5">
            <a:extLst>
              <a:ext uri="{FF2B5EF4-FFF2-40B4-BE49-F238E27FC236}">
                <a16:creationId xmlns:a16="http://schemas.microsoft.com/office/drawing/2014/main" id="{AE49DEA5-EA18-1E44-90FF-7EF8B216AD16}"/>
              </a:ext>
            </a:extLst>
          </p:cNvPr>
          <p:cNvSpPr>
            <a:spLocks noGrp="1" noChangeArrowheads="1"/>
          </p:cNvSpPr>
          <p:nvPr>
            <p:ph type="title"/>
          </p:nvPr>
        </p:nvSpPr>
        <p:spPr>
          <a:xfrm>
            <a:off x="1000451" y="1610024"/>
            <a:ext cx="5568995" cy="1457002"/>
          </a:xfrm>
        </p:spPr>
        <p:txBody>
          <a:bodyPr vert="horz" lIns="91440" tIns="45720" rIns="91440" bIns="45720" rtlCol="0" anchor="b">
            <a:normAutofit/>
          </a:bodyPr>
          <a:lstStyle/>
          <a:p>
            <a:r>
              <a:rPr lang="en-US" altLang="fr-EG" b="1" dirty="0"/>
              <a:t>TAKING COERCIVE ACTION (cont.) </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3730" name="Rectangle 7">
            <a:extLst>
              <a:ext uri="{FF2B5EF4-FFF2-40B4-BE49-F238E27FC236}">
                <a16:creationId xmlns:a16="http://schemas.microsoft.com/office/drawing/2014/main" id="{18589815-D600-3148-B2C4-8B6E7608171E}"/>
              </a:ext>
            </a:extLst>
          </p:cNvPr>
          <p:cNvSpPr>
            <a:spLocks noGrp="1" noChangeArrowheads="1"/>
          </p:cNvSpPr>
          <p:nvPr>
            <p:ph type="body" sz="half" idx="1"/>
          </p:nvPr>
        </p:nvSpPr>
        <p:spPr>
          <a:xfrm>
            <a:off x="1000450" y="3067026"/>
            <a:ext cx="5568991" cy="2968014"/>
          </a:xfrm>
        </p:spPr>
        <p:txBody>
          <a:bodyPr vert="horz" lIns="91440" tIns="45720" rIns="91440" bIns="45720" rtlCol="0" anchor="t">
            <a:normAutofit/>
          </a:bodyPr>
          <a:lstStyle/>
          <a:p>
            <a:pPr lvl="1">
              <a:spcBef>
                <a:spcPct val="28000"/>
              </a:spcBef>
            </a:pPr>
            <a:r>
              <a:rPr lang="en-US" altLang="fr-EG" sz="2000"/>
              <a:t>Make certain the </a:t>
            </a:r>
            <a:br>
              <a:rPr lang="en-US" altLang="fr-EG" sz="2000"/>
            </a:br>
            <a:r>
              <a:rPr lang="en-US" altLang="fr-EG" sz="2000"/>
              <a:t>victim is not </a:t>
            </a:r>
            <a:br>
              <a:rPr lang="en-US" altLang="fr-EG" sz="2000"/>
            </a:br>
            <a:r>
              <a:rPr lang="en-US" altLang="fr-EG" sz="2000"/>
              <a:t>adversely affected</a:t>
            </a:r>
          </a:p>
          <a:p>
            <a:pPr lvl="1">
              <a:spcBef>
                <a:spcPct val="28000"/>
              </a:spcBef>
            </a:pPr>
            <a:r>
              <a:rPr lang="en-US" altLang="fr-EG" sz="2000"/>
              <a:t>Stop the harassment and make sure it doesn’t recur</a:t>
            </a:r>
          </a:p>
        </p:txBody>
      </p:sp>
      <p:pic>
        <p:nvPicPr>
          <p:cNvPr id="73731" name="Picture 10" descr="manilla folder employee transfer ks7966">
            <a:extLst>
              <a:ext uri="{FF2B5EF4-FFF2-40B4-BE49-F238E27FC236}">
                <a16:creationId xmlns:a16="http://schemas.microsoft.com/office/drawing/2014/main" id="{7C174C50-821D-9F41-8E07-30F3C8CE636E}"/>
              </a:ext>
            </a:extLst>
          </p:cNvPr>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l="2860" r="25644"/>
          <a:stretch/>
        </p:blipFill>
        <p:spPr>
          <a:xfrm>
            <a:off x="7534656" y="10"/>
            <a:ext cx="4657344" cy="6857990"/>
          </a:xfrm>
          <a:prstGeom prst="rect">
            <a:avLst/>
          </a:prstGeom>
        </p:spPr>
      </p:pic>
    </p:spTree>
    <p:extLst>
      <p:ext uri="{BB962C8B-B14F-4D97-AF65-F5344CB8AC3E}">
        <p14:creationId xmlns:p14="http://schemas.microsoft.com/office/powerpoint/2010/main" val="85335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22F9423-F4B1-45D4-8445-E9991ECCB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77" name="Rectangle 5">
            <a:extLst>
              <a:ext uri="{FF2B5EF4-FFF2-40B4-BE49-F238E27FC236}">
                <a16:creationId xmlns:a16="http://schemas.microsoft.com/office/drawing/2014/main" id="{4FAF6DBD-EE8D-4945-9877-6A9115CE2820}"/>
              </a:ext>
            </a:extLst>
          </p:cNvPr>
          <p:cNvSpPr>
            <a:spLocks noGrp="1" noChangeArrowheads="1"/>
          </p:cNvSpPr>
          <p:nvPr>
            <p:ph type="title"/>
          </p:nvPr>
        </p:nvSpPr>
        <p:spPr>
          <a:xfrm>
            <a:off x="1000451" y="1610024"/>
            <a:ext cx="5568995" cy="1457002"/>
          </a:xfrm>
        </p:spPr>
        <p:txBody>
          <a:bodyPr anchor="b">
            <a:normAutofit/>
          </a:bodyPr>
          <a:lstStyle/>
          <a:p>
            <a:r>
              <a:rPr lang="en-US" altLang="fr-EG" b="1"/>
              <a:t>TAKING COERCIVE ACTION (cont.) </a:t>
            </a:r>
            <a:endParaRPr lang="en-US" altLang="fr-EG"/>
          </a:p>
        </p:txBody>
      </p:sp>
      <p:grpSp>
        <p:nvGrpSpPr>
          <p:cNvPr id="74" name="Group 73">
            <a:extLst>
              <a:ext uri="{FF2B5EF4-FFF2-40B4-BE49-F238E27FC236}">
                <a16:creationId xmlns:a16="http://schemas.microsoft.com/office/drawing/2014/main" id="{770AE191-D2EA-45C9-A44D-830C188F74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2021" y="518649"/>
            <a:ext cx="1128382" cy="847206"/>
            <a:chOff x="8183879" y="1000124"/>
            <a:chExt cx="1562267" cy="1172973"/>
          </a:xfrm>
        </p:grpSpPr>
        <p:sp>
          <p:nvSpPr>
            <p:cNvPr id="75" name="Freeform 5">
              <a:extLst>
                <a:ext uri="{FF2B5EF4-FFF2-40B4-BE49-F238E27FC236}">
                  <a16:creationId xmlns:a16="http://schemas.microsoft.com/office/drawing/2014/main" id="{23A0E4C1-B7A6-4637-AC51-4A5AE3841F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3879" y="1348782"/>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76" name="Freeform 5">
              <a:extLst>
                <a:ext uri="{FF2B5EF4-FFF2-40B4-BE49-F238E27FC236}">
                  <a16:creationId xmlns:a16="http://schemas.microsoft.com/office/drawing/2014/main" id="{F4E8C039-CC58-44F3-8A7B-E0A934C1D0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83979" y="1000124"/>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tx1"/>
              </a:solidFill>
            </a:ln>
          </p:spPr>
          <p:txBody>
            <a:bodyPr vert="horz" wrap="square" lIns="91440" tIns="45720" rIns="91440" bIns="45720" numCol="1" anchor="t" anchorCtr="0" compatLnSpc="1">
              <a:prstTxWarp prst="textNoShape">
                <a:avLst/>
              </a:prstTxWarp>
            </a:bodyPr>
            <a:lstStyle/>
            <a:p>
              <a:endParaRPr lang="en-US"/>
            </a:p>
          </p:txBody>
        </p:sp>
      </p:grpSp>
      <p:sp>
        <p:nvSpPr>
          <p:cNvPr id="75778" name="Rectangle 7">
            <a:extLst>
              <a:ext uri="{FF2B5EF4-FFF2-40B4-BE49-F238E27FC236}">
                <a16:creationId xmlns:a16="http://schemas.microsoft.com/office/drawing/2014/main" id="{E8C32CCD-C415-C146-AFB3-3F877A7F35F7}"/>
              </a:ext>
            </a:extLst>
          </p:cNvPr>
          <p:cNvSpPr>
            <a:spLocks noGrp="1" noChangeArrowheads="1"/>
          </p:cNvSpPr>
          <p:nvPr>
            <p:ph idx="1"/>
          </p:nvPr>
        </p:nvSpPr>
        <p:spPr>
          <a:xfrm>
            <a:off x="1000450" y="3067026"/>
            <a:ext cx="5568991" cy="2968014"/>
          </a:xfrm>
        </p:spPr>
        <p:txBody>
          <a:bodyPr anchor="t">
            <a:normAutofit/>
          </a:bodyPr>
          <a:lstStyle/>
          <a:p>
            <a:pPr lvl="1">
              <a:spcBef>
                <a:spcPct val="29000"/>
              </a:spcBef>
              <a:buFont typeface="Wingdings" pitchFamily="2" charset="2"/>
              <a:buChar char="§"/>
            </a:pPr>
            <a:r>
              <a:rPr lang="en-US" altLang="fr-EG" sz="2000"/>
              <a:t>Correct the effects </a:t>
            </a:r>
            <a:br>
              <a:rPr lang="en-US" altLang="fr-EG" sz="2000"/>
            </a:br>
            <a:r>
              <a:rPr lang="en-US" altLang="fr-EG" sz="2000"/>
              <a:t>of the harassment</a:t>
            </a:r>
          </a:p>
          <a:p>
            <a:pPr lvl="1">
              <a:spcBef>
                <a:spcPct val="29000"/>
              </a:spcBef>
              <a:buFont typeface="Wingdings" pitchFamily="2" charset="2"/>
              <a:buChar char="§"/>
            </a:pPr>
            <a:r>
              <a:rPr lang="en-US" altLang="fr-EG" sz="2000"/>
              <a:t>Follow up to make </a:t>
            </a:r>
            <a:br>
              <a:rPr lang="en-US" altLang="fr-EG" sz="2000"/>
            </a:br>
            <a:r>
              <a:rPr lang="en-US" altLang="fr-EG" sz="2000"/>
              <a:t>sure the problem </a:t>
            </a:r>
            <a:br>
              <a:rPr lang="en-US" altLang="fr-EG" sz="2000"/>
            </a:br>
            <a:r>
              <a:rPr lang="en-US" altLang="fr-EG" sz="2000"/>
              <a:t>is solved</a:t>
            </a:r>
            <a:endParaRPr lang="en-US" altLang="fr-EG" sz="2000" i="0"/>
          </a:p>
          <a:p>
            <a:pPr marL="0" indent="0">
              <a:buNone/>
            </a:pPr>
            <a:endParaRPr lang="en-US" altLang="fr-EG" sz="2000"/>
          </a:p>
        </p:txBody>
      </p:sp>
      <p:pic>
        <p:nvPicPr>
          <p:cNvPr id="75779" name="Picture 8" descr="stop harassment stop sign">
            <a:extLst>
              <a:ext uri="{FF2B5EF4-FFF2-40B4-BE49-F238E27FC236}">
                <a16:creationId xmlns:a16="http://schemas.microsoft.com/office/drawing/2014/main" id="{B8B80353-89A9-B940-A9B4-1507411441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9319"/>
          <a:stretch/>
        </p:blipFill>
        <p:spPr bwMode="auto">
          <a:xfrm>
            <a:off x="7534656" y="10"/>
            <a:ext cx="4657344" cy="685799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3367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Freeform: Shape 134">
            <a:extLst>
              <a:ext uri="{FF2B5EF4-FFF2-40B4-BE49-F238E27FC236}">
                <a16:creationId xmlns:a16="http://schemas.microsoft.com/office/drawing/2014/main" id="{F60FCA6E-0894-46CD-BD49-5955A51E0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955" y="5346696"/>
            <a:ext cx="5360045" cy="1511304"/>
          </a:xfrm>
          <a:custGeom>
            <a:avLst/>
            <a:gdLst>
              <a:gd name="connsiteX0" fmla="*/ 4545473 w 5360045"/>
              <a:gd name="connsiteY0" fmla="*/ 0 h 1511304"/>
              <a:gd name="connsiteX1" fmla="*/ 5360045 w 5360045"/>
              <a:gd name="connsiteY1" fmla="*/ 0 h 1511304"/>
              <a:gd name="connsiteX2" fmla="*/ 5360045 w 5360045"/>
              <a:gd name="connsiteY2" fmla="*/ 1046730 h 1511304"/>
              <a:gd name="connsiteX3" fmla="*/ 5360045 w 5360045"/>
              <a:gd name="connsiteY3" fmla="*/ 1508760 h 1511304"/>
              <a:gd name="connsiteX4" fmla="*/ 5360045 w 5360045"/>
              <a:gd name="connsiteY4" fmla="*/ 1511304 h 1511304"/>
              <a:gd name="connsiteX5" fmla="*/ 4545474 w 5360045"/>
              <a:gd name="connsiteY5" fmla="*/ 1511304 h 1511304"/>
              <a:gd name="connsiteX6" fmla="*/ 2525897 w 5360045"/>
              <a:gd name="connsiteY6" fmla="*/ 1511304 h 1511304"/>
              <a:gd name="connsiteX7" fmla="*/ 0 w 5360045"/>
              <a:gd name="connsiteY7" fmla="*/ 1511304 h 1511304"/>
              <a:gd name="connsiteX8" fmla="*/ 697617 w 5360045"/>
              <a:gd name="connsiteY8" fmla="*/ 3 h 1511304"/>
              <a:gd name="connsiteX9" fmla="*/ 4545473 w 5360045"/>
              <a:gd name="connsiteY9" fmla="*/ 3 h 151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0045" h="1511304">
                <a:moveTo>
                  <a:pt x="4545473" y="0"/>
                </a:moveTo>
                <a:lnTo>
                  <a:pt x="5360045" y="0"/>
                </a:lnTo>
                <a:lnTo>
                  <a:pt x="5360045" y="1046730"/>
                </a:lnTo>
                <a:lnTo>
                  <a:pt x="5360045" y="1508760"/>
                </a:lnTo>
                <a:lnTo>
                  <a:pt x="5360045" y="1511304"/>
                </a:lnTo>
                <a:lnTo>
                  <a:pt x="4545474" y="1511304"/>
                </a:lnTo>
                <a:lnTo>
                  <a:pt x="2525897" y="1511304"/>
                </a:lnTo>
                <a:lnTo>
                  <a:pt x="0" y="1511304"/>
                </a:lnTo>
                <a:lnTo>
                  <a:pt x="697617" y="3"/>
                </a:lnTo>
                <a:lnTo>
                  <a:pt x="4545473" y="3"/>
                </a:lnTo>
                <a:close/>
              </a:path>
            </a:pathLst>
          </a:custGeom>
          <a:solidFill>
            <a:srgbClr val="404040">
              <a:alpha val="8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7" name="Freeform: Shape 136">
            <a:extLst>
              <a:ext uri="{FF2B5EF4-FFF2-40B4-BE49-F238E27FC236}">
                <a16:creationId xmlns:a16="http://schemas.microsoft.com/office/drawing/2014/main" id="{E78C6E4B-A1F1-4B6C-97EC-BE997495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46694"/>
            <a:ext cx="7346605" cy="1511306"/>
          </a:xfrm>
          <a:custGeom>
            <a:avLst/>
            <a:gdLst>
              <a:gd name="connsiteX0" fmla="*/ 0 w 7346605"/>
              <a:gd name="connsiteY0" fmla="*/ 0 h 1511306"/>
              <a:gd name="connsiteX1" fmla="*/ 239486 w 7346605"/>
              <a:gd name="connsiteY1" fmla="*/ 0 h 1511306"/>
              <a:gd name="connsiteX2" fmla="*/ 1209568 w 7346605"/>
              <a:gd name="connsiteY2" fmla="*/ 0 h 1511306"/>
              <a:gd name="connsiteX3" fmla="*/ 2405743 w 7346605"/>
              <a:gd name="connsiteY3" fmla="*/ 0 h 1511306"/>
              <a:gd name="connsiteX4" fmla="*/ 2405743 w 7346605"/>
              <a:gd name="connsiteY4" fmla="*/ 2544 h 1511306"/>
              <a:gd name="connsiteX5" fmla="*/ 2801131 w 7346605"/>
              <a:gd name="connsiteY5" fmla="*/ 2544 h 1511306"/>
              <a:gd name="connsiteX6" fmla="*/ 2801131 w 7346605"/>
              <a:gd name="connsiteY6" fmla="*/ 0 h 1511306"/>
              <a:gd name="connsiteX7" fmla="*/ 7346605 w 7346605"/>
              <a:gd name="connsiteY7" fmla="*/ 0 h 1511306"/>
              <a:gd name="connsiteX8" fmla="*/ 6648988 w 7346605"/>
              <a:gd name="connsiteY8" fmla="*/ 1511301 h 1511306"/>
              <a:gd name="connsiteX9" fmla="*/ 2801132 w 7346605"/>
              <a:gd name="connsiteY9" fmla="*/ 1511301 h 1511306"/>
              <a:gd name="connsiteX10" fmla="*/ 2801132 w 7346605"/>
              <a:gd name="connsiteY10" fmla="*/ 1511304 h 1511306"/>
              <a:gd name="connsiteX11" fmla="*/ 2405743 w 7346605"/>
              <a:gd name="connsiteY11" fmla="*/ 1511304 h 1511306"/>
              <a:gd name="connsiteX12" fmla="*/ 2405743 w 7346605"/>
              <a:gd name="connsiteY12" fmla="*/ 1511306 h 1511306"/>
              <a:gd name="connsiteX13" fmla="*/ 1333411 w 7346605"/>
              <a:gd name="connsiteY13" fmla="*/ 1511306 h 1511306"/>
              <a:gd name="connsiteX14" fmla="*/ 1219208 w 7346605"/>
              <a:gd name="connsiteY14" fmla="*/ 1511306 h 1511306"/>
              <a:gd name="connsiteX15" fmla="*/ 1209568 w 7346605"/>
              <a:gd name="connsiteY15" fmla="*/ 1511306 h 1511306"/>
              <a:gd name="connsiteX16" fmla="*/ 239486 w 7346605"/>
              <a:gd name="connsiteY16" fmla="*/ 1511306 h 1511306"/>
              <a:gd name="connsiteX17" fmla="*/ 0 w 7346605"/>
              <a:gd name="connsiteY17" fmla="*/ 1511306 h 1511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346605" h="1511306">
                <a:moveTo>
                  <a:pt x="0" y="0"/>
                </a:moveTo>
                <a:lnTo>
                  <a:pt x="239486" y="0"/>
                </a:lnTo>
                <a:lnTo>
                  <a:pt x="1209568" y="0"/>
                </a:lnTo>
                <a:lnTo>
                  <a:pt x="2405743" y="0"/>
                </a:lnTo>
                <a:lnTo>
                  <a:pt x="2405743" y="2544"/>
                </a:lnTo>
                <a:lnTo>
                  <a:pt x="2801131" y="2544"/>
                </a:lnTo>
                <a:lnTo>
                  <a:pt x="2801131" y="0"/>
                </a:lnTo>
                <a:lnTo>
                  <a:pt x="7346605" y="0"/>
                </a:lnTo>
                <a:lnTo>
                  <a:pt x="6648988" y="1511301"/>
                </a:lnTo>
                <a:lnTo>
                  <a:pt x="2801132" y="1511301"/>
                </a:lnTo>
                <a:lnTo>
                  <a:pt x="2801132" y="1511304"/>
                </a:lnTo>
                <a:lnTo>
                  <a:pt x="2405743" y="1511304"/>
                </a:lnTo>
                <a:lnTo>
                  <a:pt x="2405743" y="1511306"/>
                </a:lnTo>
                <a:lnTo>
                  <a:pt x="1333411" y="1511306"/>
                </a:lnTo>
                <a:lnTo>
                  <a:pt x="1219208" y="1511306"/>
                </a:lnTo>
                <a:lnTo>
                  <a:pt x="1209568" y="1511306"/>
                </a:lnTo>
                <a:lnTo>
                  <a:pt x="239486" y="1511306"/>
                </a:lnTo>
                <a:lnTo>
                  <a:pt x="0" y="1511306"/>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pic>
        <p:nvPicPr>
          <p:cNvPr id="77826" name="Picture 18" descr="KEY-POINTS-TO-REMEMBER-ICON3">
            <a:extLst>
              <a:ext uri="{FF2B5EF4-FFF2-40B4-BE49-F238E27FC236}">
                <a16:creationId xmlns:a16="http://schemas.microsoft.com/office/drawing/2014/main" id="{6C50D5EB-181F-CC48-8025-D88347B30B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41247" y="2324490"/>
            <a:ext cx="6049942" cy="127048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5" name="Rectangle 16">
            <a:extLst>
              <a:ext uri="{FF2B5EF4-FFF2-40B4-BE49-F238E27FC236}">
                <a16:creationId xmlns:a16="http://schemas.microsoft.com/office/drawing/2014/main" id="{ACFAE49F-C551-514B-9993-50E19B1A56DA}"/>
              </a:ext>
            </a:extLst>
          </p:cNvPr>
          <p:cNvSpPr>
            <a:spLocks noGrp="1" noChangeArrowheads="1"/>
          </p:cNvSpPr>
          <p:nvPr>
            <p:ph idx="1"/>
          </p:nvPr>
        </p:nvSpPr>
        <p:spPr>
          <a:xfrm>
            <a:off x="7534655" y="965199"/>
            <a:ext cx="4008101" cy="4020458"/>
          </a:xfrm>
        </p:spPr>
        <p:txBody>
          <a:bodyPr anchor="ctr">
            <a:normAutofit/>
          </a:bodyPr>
          <a:lstStyle/>
          <a:p>
            <a:pPr lvl="1">
              <a:buFont typeface="Wingdings" pitchFamily="2" charset="2"/>
              <a:buChar char="§"/>
            </a:pPr>
            <a:r>
              <a:rPr lang="en-US" altLang="fr-EG" sz="2000" i="0"/>
              <a:t>Sexual harassment is prohibited by law and workplace policy</a:t>
            </a:r>
          </a:p>
          <a:p>
            <a:pPr lvl="1">
              <a:buFont typeface="Wingdings" pitchFamily="2" charset="2"/>
              <a:buChar char="§"/>
            </a:pPr>
            <a:r>
              <a:rPr lang="en-US" altLang="fr-EG" sz="2000" i="0"/>
              <a:t>It involves more than physical conduct; it can also be verbal or visual</a:t>
            </a:r>
          </a:p>
          <a:p>
            <a:pPr lvl="1">
              <a:buFont typeface="Wingdings" pitchFamily="2" charset="2"/>
              <a:buChar char="§"/>
            </a:pPr>
            <a:r>
              <a:rPr lang="en-US" altLang="fr-EG" sz="2000" i="0"/>
              <a:t>Sexual harassment harms us all</a:t>
            </a:r>
          </a:p>
          <a:p>
            <a:pPr lvl="1">
              <a:buFont typeface="Wingdings" pitchFamily="2" charset="2"/>
              <a:buChar char="§"/>
            </a:pPr>
            <a:r>
              <a:rPr lang="en-US" altLang="fr-EG" sz="2000" i="0"/>
              <a:t>You have a responsibility to help prevent it</a:t>
            </a:r>
          </a:p>
        </p:txBody>
      </p:sp>
    </p:spTree>
    <p:extLst>
      <p:ext uri="{BB962C8B-B14F-4D97-AF65-F5344CB8AC3E}">
        <p14:creationId xmlns:p14="http://schemas.microsoft.com/office/powerpoint/2010/main" val="53539253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9B3C157D-6354-42B9-8A08-CA7A9DA14AF6}"/>
</file>

<file path=customXml/itemProps2.xml><?xml version="1.0" encoding="utf-8"?>
<ds:datastoreItem xmlns:ds="http://schemas.openxmlformats.org/officeDocument/2006/customXml" ds:itemID="{D7D5BCF8-AE22-4DB9-A7BE-31934FD78D3C}"/>
</file>

<file path=customXml/itemProps3.xml><?xml version="1.0" encoding="utf-8"?>
<ds:datastoreItem xmlns:ds="http://schemas.openxmlformats.org/officeDocument/2006/customXml" ds:itemID="{3E57847B-C7D1-472C-807E-A43FC77D8AF8}"/>
</file>

<file path=docProps/app.xml><?xml version="1.0" encoding="utf-8"?>
<Properties xmlns="http://schemas.openxmlformats.org/officeDocument/2006/extended-properties" xmlns:vt="http://schemas.openxmlformats.org/officeDocument/2006/docPropsVTypes">
  <TotalTime>14</TotalTime>
  <Words>2366</Words>
  <Application>Microsoft Macintosh PowerPoint</Application>
  <PresentationFormat>Grand écran</PresentationFormat>
  <Paragraphs>161</Paragraphs>
  <Slides>15</Slides>
  <Notes>14</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15</vt:i4>
      </vt:variant>
    </vt:vector>
  </HeadingPairs>
  <TitlesOfParts>
    <vt:vector size="23" baseType="lpstr">
      <vt:lpstr>Arial</vt:lpstr>
      <vt:lpstr>Arial Black</vt:lpstr>
      <vt:lpstr>Calibri</vt:lpstr>
      <vt:lpstr>Calibri Light</vt:lpstr>
      <vt:lpstr>Times</vt:lpstr>
      <vt:lpstr>Times New Roman</vt:lpstr>
      <vt:lpstr>Wingdings</vt:lpstr>
      <vt:lpstr>Thème Office</vt:lpstr>
      <vt:lpstr>Présentation PowerPoint</vt:lpstr>
      <vt:lpstr>SESSION OBJECTIVES</vt:lpstr>
      <vt:lpstr>SESSION OUTLINE</vt:lpstr>
      <vt:lpstr>WHY YOU NEED TO KNOW</vt:lpstr>
      <vt:lpstr>LIABILITY</vt:lpstr>
      <vt:lpstr>LIABILITY (cont.)</vt:lpstr>
      <vt:lpstr>HANDLING COMPLAINTS</vt:lpstr>
      <vt:lpstr>HANDLING COMPLAINTS (cont.) </vt:lpstr>
      <vt:lpstr>DEALING WITH ISOLATED INCIDENTS</vt:lpstr>
      <vt:lpstr>CONDUCTING INVESTIGATIONS</vt:lpstr>
      <vt:lpstr>CONDUCTING INVESTIGATIONS (cont.)</vt:lpstr>
      <vt:lpstr>TAKING COERCIVE ACTION </vt:lpstr>
      <vt:lpstr>TAKING COERCIVE ACTION (cont.) </vt:lpstr>
      <vt:lpstr>TAKING COERCIVE ACTION (cont.)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Yewande Maraiyesa</dc:creator>
  <cp:lastModifiedBy>Yewande Maraiyesa</cp:lastModifiedBy>
  <cp:revision>4</cp:revision>
  <dcterms:created xsi:type="dcterms:W3CDTF">2020-06-16T15:07:20Z</dcterms:created>
  <dcterms:modified xsi:type="dcterms:W3CDTF">2020-06-16T16:16:19Z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ies>
</file>