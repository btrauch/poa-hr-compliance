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entation.xml" ContentType="application/vnd.openxmlformats-officedocument.presentationml.presentation.main+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1.xml" ContentType="application/vnd.openxmlformats-officedocument.presentationml.notesSlide+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342" r:id="rId2"/>
    <p:sldId id="279" r:id="rId3"/>
    <p:sldId id="280" r:id="rId4"/>
    <p:sldId id="303" r:id="rId5"/>
    <p:sldId id="305" r:id="rId6"/>
    <p:sldId id="258" r:id="rId7"/>
    <p:sldId id="259" r:id="rId8"/>
    <p:sldId id="260" r:id="rId9"/>
    <p:sldId id="261" r:id="rId10"/>
    <p:sldId id="282" r:id="rId11"/>
    <p:sldId id="262" r:id="rId12"/>
    <p:sldId id="264" r:id="rId13"/>
    <p:sldId id="306" r:id="rId14"/>
    <p:sldId id="330" r:id="rId15"/>
    <p:sldId id="331" r:id="rId16"/>
    <p:sldId id="309" r:id="rId17"/>
    <p:sldId id="310" r:id="rId18"/>
    <p:sldId id="311" r:id="rId19"/>
    <p:sldId id="312" r:id="rId20"/>
    <p:sldId id="269" r:id="rId21"/>
    <p:sldId id="313" r:id="rId22"/>
    <p:sldId id="314" r:id="rId23"/>
  </p:sldIdLst>
  <p:sldSz cx="12192000" cy="6858000"/>
  <p:notesSz cx="6858000" cy="9144000"/>
  <p:defaultTextStyle>
    <a:defPPr>
      <a:defRPr lang="fr-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5204"/>
    <p:restoredTop sz="94649"/>
  </p:normalViewPr>
  <p:slideViewPr>
    <p:cSldViewPr snapToGrid="0" snapToObjects="1">
      <p:cViewPr varScale="1">
        <p:scale>
          <a:sx n="81" d="100"/>
          <a:sy n="81" d="100"/>
        </p:scale>
        <p:origin x="216" y="4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EG"/>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888A39-C9A3-9048-BC61-8EC47B850053}" type="datetimeFigureOut">
              <a:rPr lang="fr-EG" smtClean="0"/>
              <a:t>16/06/2020</a:t>
            </a:fld>
            <a:endParaRPr lang="fr-EG"/>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EG"/>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EG"/>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BEC927-DD33-6546-B3CF-DCBA5CC73E5D}" type="slidenum">
              <a:rPr lang="fr-EG" smtClean="0"/>
              <a:t>‹N°›</a:t>
            </a:fld>
            <a:endParaRPr lang="fr-EG"/>
          </a:p>
        </p:txBody>
      </p:sp>
    </p:spTree>
    <p:extLst>
      <p:ext uri="{BB962C8B-B14F-4D97-AF65-F5344CB8AC3E}">
        <p14:creationId xmlns:p14="http://schemas.microsoft.com/office/powerpoint/2010/main" val="1596853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8">
            <a:extLst>
              <a:ext uri="{FF2B5EF4-FFF2-40B4-BE49-F238E27FC236}">
                <a16:creationId xmlns:a16="http://schemas.microsoft.com/office/drawing/2014/main" id="{C5704638-78DD-B041-B41C-5F62407A9DF6}"/>
              </a:ext>
            </a:extLst>
          </p:cNvPr>
          <p:cNvSpPr>
            <a:spLocks noGrp="1" noRot="1" noChangeAspect="1" noChangeArrowheads="1" noTextEdit="1"/>
          </p:cNvSpPr>
          <p:nvPr>
            <p:ph type="sldImg"/>
          </p:nvPr>
        </p:nvSpPr>
        <p:spPr>
          <a:ln/>
        </p:spPr>
      </p:sp>
      <p:sp>
        <p:nvSpPr>
          <p:cNvPr id="8194" name="Rectangle 9">
            <a:extLst>
              <a:ext uri="{FF2B5EF4-FFF2-40B4-BE49-F238E27FC236}">
                <a16:creationId xmlns:a16="http://schemas.microsoft.com/office/drawing/2014/main" id="{9B5C292C-1FBA-C045-8D40-B6BA2350DE7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The main objective of this training session is to inform you about sexual harassment so that your awareness of this issue will help prevent it.  By the end of this session you will be able to:</a:t>
            </a:r>
          </a:p>
          <a:p>
            <a:pPr lvl="1"/>
            <a:r>
              <a:rPr lang="en-US" altLang="fr-EG"/>
              <a:t>Recognize sexual harassment</a:t>
            </a:r>
          </a:p>
          <a:p>
            <a:pPr lvl="1"/>
            <a:r>
              <a:rPr lang="en-US" altLang="fr-EG"/>
              <a:t>Differentiate between the two main kinds of harassment</a:t>
            </a:r>
          </a:p>
          <a:p>
            <a:pPr lvl="1"/>
            <a:r>
              <a:rPr lang="en-US" altLang="fr-EG"/>
              <a:t>Understand and follow company policy regarding sexual harassment</a:t>
            </a:r>
          </a:p>
          <a:p>
            <a:pPr lvl="1"/>
            <a:r>
              <a:rPr lang="en-US" altLang="fr-EG"/>
              <a:t>Report incidents and cooperate in investigations of sexual harassment; and</a:t>
            </a:r>
          </a:p>
          <a:p>
            <a:pPr lvl="1"/>
            <a:r>
              <a:rPr lang="en-US" altLang="fr-EG"/>
              <a:t>Help promote and maintain a comfortable, productive work environment</a:t>
            </a:r>
          </a:p>
          <a:p>
            <a:r>
              <a:rPr lang="en-US" altLang="fr-EG"/>
              <a:t>At the end of this session, you’ll take a short quiz to test your understanding.</a:t>
            </a:r>
          </a:p>
        </p:txBody>
      </p:sp>
    </p:spTree>
    <p:extLst>
      <p:ext uri="{BB962C8B-B14F-4D97-AF65-F5344CB8AC3E}">
        <p14:creationId xmlns:p14="http://schemas.microsoft.com/office/powerpoint/2010/main" val="25663576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4">
            <a:extLst>
              <a:ext uri="{FF2B5EF4-FFF2-40B4-BE49-F238E27FC236}">
                <a16:creationId xmlns:a16="http://schemas.microsoft.com/office/drawing/2014/main" id="{F5457149-9EE1-2A49-A762-A5C24938A6AB}"/>
              </a:ext>
            </a:extLst>
          </p:cNvPr>
          <p:cNvSpPr>
            <a:spLocks noGrp="1" noRot="1" noChangeAspect="1" noChangeArrowheads="1" noTextEdit="1"/>
          </p:cNvSpPr>
          <p:nvPr>
            <p:ph type="sldImg"/>
          </p:nvPr>
        </p:nvSpPr>
        <p:spPr>
          <a:ln/>
        </p:spPr>
      </p:sp>
      <p:sp>
        <p:nvSpPr>
          <p:cNvPr id="10242" name="Rectangle 5">
            <a:extLst>
              <a:ext uri="{FF2B5EF4-FFF2-40B4-BE49-F238E27FC236}">
                <a16:creationId xmlns:a16="http://schemas.microsoft.com/office/drawing/2014/main" id="{6EA71193-69BA-3A46-ADFE-6940F0E27C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This session will discuss:</a:t>
            </a:r>
          </a:p>
          <a:p>
            <a:pPr lvl="1"/>
            <a:r>
              <a:rPr lang="en-US" altLang="fr-EG"/>
              <a:t>Why it’s important for you to know about sexual harassment;</a:t>
            </a:r>
          </a:p>
          <a:p>
            <a:pPr lvl="1"/>
            <a:r>
              <a:rPr lang="en-US" altLang="fr-EG"/>
              <a:t>The laws that prohibit sexual harassment in the workplace;</a:t>
            </a:r>
          </a:p>
          <a:p>
            <a:pPr lvl="1"/>
            <a:r>
              <a:rPr lang="en-US" altLang="fr-EG"/>
              <a:t>What constitutes sexual harassment;</a:t>
            </a:r>
          </a:p>
          <a:p>
            <a:pPr lvl="1"/>
            <a:r>
              <a:rPr lang="en-US" altLang="fr-EG"/>
              <a:t>Who is affected by sexual harassment;</a:t>
            </a:r>
          </a:p>
          <a:p>
            <a:pPr lvl="1"/>
            <a:r>
              <a:rPr lang="en-US" altLang="fr-EG"/>
              <a:t>What to do about it; and</a:t>
            </a:r>
          </a:p>
          <a:p>
            <a:pPr lvl="1"/>
            <a:r>
              <a:rPr lang="en-US" altLang="fr-EG"/>
              <a:t>How to prevent sexual harassment</a:t>
            </a:r>
          </a:p>
          <a:p>
            <a:r>
              <a:rPr lang="en-US" altLang="fr-EG"/>
              <a:t>Feel free to ask questions during the presentation if anything is unclear or needs further explanation.</a:t>
            </a:r>
          </a:p>
        </p:txBody>
      </p:sp>
    </p:spTree>
    <p:extLst>
      <p:ext uri="{BB962C8B-B14F-4D97-AF65-F5344CB8AC3E}">
        <p14:creationId xmlns:p14="http://schemas.microsoft.com/office/powerpoint/2010/main" val="20829729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6">
            <a:extLst>
              <a:ext uri="{FF2B5EF4-FFF2-40B4-BE49-F238E27FC236}">
                <a16:creationId xmlns:a16="http://schemas.microsoft.com/office/drawing/2014/main" id="{C1F31DDE-3C12-0343-BDB8-3D64A2B3B0DE}"/>
              </a:ext>
            </a:extLst>
          </p:cNvPr>
          <p:cNvSpPr>
            <a:spLocks noGrp="1" noRot="1" noChangeAspect="1" noChangeArrowheads="1" noTextEdit="1"/>
          </p:cNvSpPr>
          <p:nvPr>
            <p:ph type="sldImg"/>
          </p:nvPr>
        </p:nvSpPr>
        <p:spPr>
          <a:ln/>
        </p:spPr>
      </p:sp>
      <p:sp>
        <p:nvSpPr>
          <p:cNvPr id="12290" name="Rectangle 7">
            <a:extLst>
              <a:ext uri="{FF2B5EF4-FFF2-40B4-BE49-F238E27FC236}">
                <a16:creationId xmlns:a16="http://schemas.microsoft.com/office/drawing/2014/main" id="{F7BDBCFF-6861-8A49-BE05-50D9A6D560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Why do you need to know about sexual harassment?  First of all, we want you to work in an environment that is free of sexual harassment.  If you and your colleagues understand what it is and why it is harmful, this will help prevent it. In addition, you need to know about this subject because:</a:t>
            </a:r>
          </a:p>
          <a:p>
            <a:pPr lvl="1"/>
            <a:r>
              <a:rPr lang="en-US" altLang="fr-EG"/>
              <a:t>We all have the right to fair treatment at work;</a:t>
            </a:r>
          </a:p>
          <a:p>
            <a:pPr lvl="1"/>
            <a:r>
              <a:rPr lang="en-US" altLang="fr-EG"/>
              <a:t>Sexual harassment harms everyone, not just the victim;</a:t>
            </a:r>
          </a:p>
          <a:p>
            <a:pPr lvl="1"/>
            <a:r>
              <a:rPr lang="en-US" altLang="fr-EG"/>
              <a:t>It undermines the trust and respect necessary for a productive work environment; </a:t>
            </a:r>
            <a:r>
              <a:rPr lang="en-US" altLang="fr-EG" i="1"/>
              <a:t>and</a:t>
            </a:r>
            <a:endParaRPr lang="en-US" altLang="fr-EG"/>
          </a:p>
          <a:p>
            <a:pPr lvl="1"/>
            <a:r>
              <a:rPr lang="en-US" altLang="fr-EG"/>
              <a:t>Sexual harassment is not just a woman’s issue—men and women on every level may be either harassers or victims. </a:t>
            </a:r>
          </a:p>
        </p:txBody>
      </p:sp>
    </p:spTree>
    <p:extLst>
      <p:ext uri="{BB962C8B-B14F-4D97-AF65-F5344CB8AC3E}">
        <p14:creationId xmlns:p14="http://schemas.microsoft.com/office/powerpoint/2010/main" val="1725449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a:extLst>
              <a:ext uri="{FF2B5EF4-FFF2-40B4-BE49-F238E27FC236}">
                <a16:creationId xmlns:a16="http://schemas.microsoft.com/office/drawing/2014/main" id="{EC905BE9-CC89-554A-8641-A3CEA43C3681}"/>
              </a:ext>
            </a:extLst>
          </p:cNvPr>
          <p:cNvSpPr>
            <a:spLocks noGrp="1" noRot="1" noChangeAspect="1" noChangeArrowheads="1" noTextEdit="1"/>
          </p:cNvSpPr>
          <p:nvPr>
            <p:ph type="sldImg"/>
          </p:nvPr>
        </p:nvSpPr>
        <p:spPr>
          <a:ln/>
        </p:spPr>
      </p:sp>
      <p:sp>
        <p:nvSpPr>
          <p:cNvPr id="14338" name="Rectangle 3">
            <a:extLst>
              <a:ext uri="{FF2B5EF4-FFF2-40B4-BE49-F238E27FC236}">
                <a16:creationId xmlns:a16="http://schemas.microsoft.com/office/drawing/2014/main" id="{C6346AE4-DCBF-0A49-A89E-0E09202735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Just how widespread is the problem of sexual harassment? Consider these statistics:</a:t>
            </a:r>
          </a:p>
          <a:p>
            <a:pPr lvl="1"/>
            <a:r>
              <a:rPr lang="en-US" altLang="fr-EG"/>
              <a:t>About 70% of women and 20% of men have experienced sexual harassment in the workplace.</a:t>
            </a:r>
          </a:p>
          <a:p>
            <a:pPr lvl="1"/>
            <a:r>
              <a:rPr lang="en-US" altLang="fr-EG"/>
              <a:t>There are about 15,000 cases of sexual harassment filed each year in the United States.</a:t>
            </a:r>
          </a:p>
          <a:p>
            <a:pPr lvl="1"/>
            <a:r>
              <a:rPr lang="en-US" altLang="fr-EG"/>
              <a:t>These charges cost U.S. companies almost $40 million each year.</a:t>
            </a:r>
          </a:p>
          <a:p>
            <a:pPr lvl="1"/>
            <a:r>
              <a:rPr lang="en-US" altLang="fr-EG"/>
              <a:t>The number of complaints filed by men has more than tripled in recent years, indicating this is not just a woman’s problem.</a:t>
            </a:r>
          </a:p>
          <a:p>
            <a:endParaRPr lang="en-US" altLang="fr-EG"/>
          </a:p>
        </p:txBody>
      </p:sp>
    </p:spTree>
    <p:extLst>
      <p:ext uri="{BB962C8B-B14F-4D97-AF65-F5344CB8AC3E}">
        <p14:creationId xmlns:p14="http://schemas.microsoft.com/office/powerpoint/2010/main" val="20686181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4">
            <a:extLst>
              <a:ext uri="{FF2B5EF4-FFF2-40B4-BE49-F238E27FC236}">
                <a16:creationId xmlns:a16="http://schemas.microsoft.com/office/drawing/2014/main" id="{42B47215-6C35-2D41-BF39-6346FA72445C}"/>
              </a:ext>
            </a:extLst>
          </p:cNvPr>
          <p:cNvSpPr>
            <a:spLocks noGrp="1" noRot="1" noChangeAspect="1" noChangeArrowheads="1" noTextEdit="1"/>
          </p:cNvSpPr>
          <p:nvPr>
            <p:ph type="sldImg"/>
          </p:nvPr>
        </p:nvSpPr>
        <p:spPr>
          <a:ln/>
        </p:spPr>
      </p:sp>
      <p:sp>
        <p:nvSpPr>
          <p:cNvPr id="16386" name="Rectangle 5">
            <a:extLst>
              <a:ext uri="{FF2B5EF4-FFF2-40B4-BE49-F238E27FC236}">
                <a16:creationId xmlns:a16="http://schemas.microsoft.com/office/drawing/2014/main" id="{E175B3E2-A1A4-5740-B157-1BF69224E0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dirty="0"/>
              <a:t>Slide Show Notes</a:t>
            </a:r>
          </a:p>
          <a:p>
            <a:r>
              <a:rPr lang="en-US" altLang="fr-EG" dirty="0"/>
              <a:t>Let’s consider what the law says about sexual harassment.</a:t>
            </a:r>
          </a:p>
          <a:p>
            <a:pPr lvl="1"/>
            <a:r>
              <a:rPr lang="en-US" altLang="fr-EG" dirty="0"/>
              <a:t>Title VII of the Civil Rights Act generally prohibits employers from discrimination in employment based on race, color, national origin, religion, or sex;</a:t>
            </a:r>
          </a:p>
          <a:p>
            <a:pPr lvl="1"/>
            <a:r>
              <a:rPr lang="en-US" altLang="fr-EG" dirty="0"/>
              <a:t>Courts have interpreted sexual harassment as a form of sex discrimination that is prohibited by Title VII;</a:t>
            </a:r>
          </a:p>
          <a:p>
            <a:pPr lvl="1"/>
            <a:r>
              <a:rPr lang="en-US" altLang="fr-EG" dirty="0"/>
              <a:t>State civil rights and fair employment laws also prohibit sexual harassment in the workplace; and</a:t>
            </a:r>
          </a:p>
          <a:p>
            <a:pPr lvl="1"/>
            <a:r>
              <a:rPr lang="en-US" altLang="fr-EG" dirty="0"/>
              <a:t>Finally, the U.S. Equal Employment Opportunity Commission (EEOC) has issued a comprehensive definition of sexual harassment, which we’ll discuss further on the next slide.</a:t>
            </a:r>
          </a:p>
          <a:p>
            <a:endParaRPr lang="en-US" altLang="fr-EG" i="1" dirty="0"/>
          </a:p>
        </p:txBody>
      </p:sp>
    </p:spTree>
    <p:extLst>
      <p:ext uri="{BB962C8B-B14F-4D97-AF65-F5344CB8AC3E}">
        <p14:creationId xmlns:p14="http://schemas.microsoft.com/office/powerpoint/2010/main" val="6595496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6">
            <a:extLst>
              <a:ext uri="{FF2B5EF4-FFF2-40B4-BE49-F238E27FC236}">
                <a16:creationId xmlns:a16="http://schemas.microsoft.com/office/drawing/2014/main" id="{35CB7D09-23CB-AF45-96B8-634F47239489}"/>
              </a:ext>
            </a:extLst>
          </p:cNvPr>
          <p:cNvSpPr>
            <a:spLocks noGrp="1" noRot="1" noChangeAspect="1" noChangeArrowheads="1" noTextEdit="1"/>
          </p:cNvSpPr>
          <p:nvPr>
            <p:ph type="sldImg"/>
          </p:nvPr>
        </p:nvSpPr>
        <p:spPr>
          <a:ln/>
        </p:spPr>
      </p:sp>
      <p:sp>
        <p:nvSpPr>
          <p:cNvPr id="18434" name="Rectangle 7">
            <a:extLst>
              <a:ext uri="{FF2B5EF4-FFF2-40B4-BE49-F238E27FC236}">
                <a16:creationId xmlns:a16="http://schemas.microsoft.com/office/drawing/2014/main" id="{7AD292D7-73DB-F949-AC09-8E0DD41B980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The EEOC defines sexual harassment as sexual conduct that is unwelcome, harmful, or illegal.</a:t>
            </a:r>
          </a:p>
          <a:p>
            <a:pPr lvl="1"/>
            <a:r>
              <a:rPr lang="en-US" altLang="fr-EG" i="1"/>
              <a:t>Unwelcome</a:t>
            </a:r>
            <a:r>
              <a:rPr lang="en-US" altLang="fr-EG"/>
              <a:t> conduct can include sexual advances, requests for sexual favors, verbal or physical conduct of a sexual nature, or displays of sexually explicit or suggestive materials.</a:t>
            </a:r>
          </a:p>
          <a:p>
            <a:pPr lvl="1"/>
            <a:r>
              <a:rPr lang="en-US" altLang="fr-EG" i="1"/>
              <a:t>Harmful </a:t>
            </a:r>
            <a:r>
              <a:rPr lang="en-US" altLang="fr-EG"/>
              <a:t>conduct can harm either the physical or emotional health of the victim, or of witnesses to the conduct.  This can also negatively affect the atmosphere of the workplace in general.</a:t>
            </a:r>
          </a:p>
          <a:p>
            <a:pPr lvl="1"/>
            <a:r>
              <a:rPr lang="en-US" altLang="fr-EG"/>
              <a:t>Finally, remember that all forms of sexual harassment are </a:t>
            </a:r>
            <a:r>
              <a:rPr lang="en-US" altLang="fr-EG" i="1"/>
              <a:t>illegal</a:t>
            </a:r>
            <a:r>
              <a:rPr lang="en-US" altLang="fr-EG"/>
              <a:t>, and cannot be tolerated.</a:t>
            </a:r>
          </a:p>
        </p:txBody>
      </p:sp>
    </p:spTree>
    <p:extLst>
      <p:ext uri="{BB962C8B-B14F-4D97-AF65-F5344CB8AC3E}">
        <p14:creationId xmlns:p14="http://schemas.microsoft.com/office/powerpoint/2010/main" val="30632922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4">
            <a:extLst>
              <a:ext uri="{FF2B5EF4-FFF2-40B4-BE49-F238E27FC236}">
                <a16:creationId xmlns:a16="http://schemas.microsoft.com/office/drawing/2014/main" id="{0871AA0F-1C63-DF41-B971-DDDA59B67F78}"/>
              </a:ext>
            </a:extLst>
          </p:cNvPr>
          <p:cNvSpPr>
            <a:spLocks noGrp="1" noRot="1" noChangeAspect="1" noChangeArrowheads="1" noTextEdit="1"/>
          </p:cNvSpPr>
          <p:nvPr>
            <p:ph type="sldImg"/>
          </p:nvPr>
        </p:nvSpPr>
        <p:spPr>
          <a:ln/>
        </p:spPr>
      </p:sp>
      <p:sp>
        <p:nvSpPr>
          <p:cNvPr id="20482" name="Rectangle 5">
            <a:extLst>
              <a:ext uri="{FF2B5EF4-FFF2-40B4-BE49-F238E27FC236}">
                <a16:creationId xmlns:a16="http://schemas.microsoft.com/office/drawing/2014/main" id="{F6D3464E-72A1-3443-8B74-2ECEBA0B26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A little later in the session, we’ll get into a more specific definition of sexual harassment. But first let’s take a moment now to play judge and decide whether these actions are harassment.</a:t>
            </a:r>
          </a:p>
          <a:p>
            <a:pPr lvl="1"/>
            <a:r>
              <a:rPr lang="en-US" altLang="fr-EG"/>
              <a:t>Let’s take a look at this example: A female employee wears miniskirts to work.  Is this inviting sexual harassment?  </a:t>
            </a:r>
          </a:p>
          <a:p>
            <a:pPr lvl="2"/>
            <a:r>
              <a:rPr lang="en-US" altLang="fr-EG"/>
              <a:t>No.  Employees must abide by the workplace’s dress code, but if the code permits miniskirts, employees have the right to wear them without being harassed.</a:t>
            </a:r>
          </a:p>
          <a:p>
            <a:pPr lvl="1"/>
            <a:r>
              <a:rPr lang="en-US" altLang="fr-EG"/>
              <a:t>Let’s take a look at this example: A female supervisor makes frequent comments about a male employee’s physique.  Is this sexual harassment?  </a:t>
            </a:r>
          </a:p>
          <a:p>
            <a:pPr lvl="2"/>
            <a:r>
              <a:rPr lang="en-US" altLang="fr-EG"/>
              <a:t>Yes.  Male employees can be victims of sexual harassment and have the same protection under the law as female employees.</a:t>
            </a:r>
          </a:p>
          <a:p>
            <a:pPr lvl="1"/>
            <a:r>
              <a:rPr lang="en-US" altLang="fr-EG"/>
              <a:t>Here’s a third example:  A male supervisor makes frequent comments about a male employee’s physique.  Is this sexual harassment?  </a:t>
            </a:r>
          </a:p>
          <a:p>
            <a:pPr lvl="2"/>
            <a:r>
              <a:rPr lang="en-US" altLang="fr-EG"/>
              <a:t>Yes.  Sexual harassment can happen between two people of the same gender.  The key point is </a:t>
            </a:r>
            <a:r>
              <a:rPr lang="en-US" altLang="fr-EG" i="1"/>
              <a:t>not</a:t>
            </a:r>
            <a:r>
              <a:rPr lang="en-US" altLang="fr-EG"/>
              <a:t> the sexual orientation of the people involved but that the harassment is sexual in nature.</a:t>
            </a:r>
          </a:p>
        </p:txBody>
      </p:sp>
    </p:spTree>
    <p:extLst>
      <p:ext uri="{BB962C8B-B14F-4D97-AF65-F5344CB8AC3E}">
        <p14:creationId xmlns:p14="http://schemas.microsoft.com/office/powerpoint/2010/main" val="19003349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4">
            <a:extLst>
              <a:ext uri="{FF2B5EF4-FFF2-40B4-BE49-F238E27FC236}">
                <a16:creationId xmlns:a16="http://schemas.microsoft.com/office/drawing/2014/main" id="{ADD855AB-8807-1342-8F0D-C04715AD2EFE}"/>
              </a:ext>
            </a:extLst>
          </p:cNvPr>
          <p:cNvSpPr>
            <a:spLocks noGrp="1" noRot="1" noChangeAspect="1" noChangeArrowheads="1" noTextEdit="1"/>
          </p:cNvSpPr>
          <p:nvPr>
            <p:ph type="sldImg"/>
          </p:nvPr>
        </p:nvSpPr>
        <p:spPr>
          <a:ln/>
        </p:spPr>
      </p:sp>
      <p:sp>
        <p:nvSpPr>
          <p:cNvPr id="22530" name="Rectangle 5">
            <a:extLst>
              <a:ext uri="{FF2B5EF4-FFF2-40B4-BE49-F238E27FC236}">
                <a16:creationId xmlns:a16="http://schemas.microsoft.com/office/drawing/2014/main" id="{5FC14242-C2AC-1A44-955B-2F3C43752C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Here are some other scenarios.</a:t>
            </a:r>
          </a:p>
          <a:p>
            <a:pPr lvl="1"/>
            <a:r>
              <a:rPr lang="en-US" altLang="fr-EG"/>
              <a:t>Two employees forward each other off-color jokes that they receive in e-mails.  Is this sexual harassment?  </a:t>
            </a:r>
          </a:p>
          <a:p>
            <a:pPr lvl="2"/>
            <a:r>
              <a:rPr lang="en-US" altLang="fr-EG"/>
              <a:t>No.  This exchange is not unwelcome; however, it may violate the </a:t>
            </a:r>
            <a:br>
              <a:rPr lang="en-US" altLang="fr-EG"/>
            </a:br>
            <a:r>
              <a:rPr lang="en-US" altLang="fr-EG"/>
              <a:t>e-mail policy at your workplace.  If one of the employees suddenly complains of sexual harassment, the claim probably won’t stand because the employee had been participating in the behavior and had not indicated it was offensive.  If one of the employees decides that the exchange is no longer welcome, he or she needs to communicate this to the other employee – and the other employee needs to stop sending jokes.</a:t>
            </a:r>
          </a:p>
          <a:p>
            <a:pPr lvl="1"/>
            <a:r>
              <a:rPr lang="en-US" altLang="fr-EG"/>
              <a:t>What about this example:  An employee asks a co-worker out on a date.  Is this sexual harassment?  </a:t>
            </a:r>
          </a:p>
          <a:p>
            <a:pPr lvl="2"/>
            <a:r>
              <a:rPr lang="en-US" altLang="fr-EG"/>
              <a:t>No, a simple request for a date is not sexual harassment.  However, if the answer is No, the employee should be careful about asking repeatedly.  This can be a form of sexual harassment.</a:t>
            </a:r>
          </a:p>
          <a:p>
            <a:pPr lvl="1"/>
            <a:r>
              <a:rPr lang="en-US" altLang="fr-EG"/>
              <a:t>Two co-workers develop a personal relationship.  Is this sexual harassment?  </a:t>
            </a:r>
          </a:p>
          <a:p>
            <a:pPr lvl="2"/>
            <a:r>
              <a:rPr lang="en-US" altLang="fr-EG"/>
              <a:t>No.  People can and do form relationships with co-workers.  As long as both people consent to the relationship, this is not harassment.  Remember that only </a:t>
            </a:r>
            <a:r>
              <a:rPr lang="en-US" altLang="fr-EG" i="1"/>
              <a:t>unwelcome</a:t>
            </a:r>
            <a:r>
              <a:rPr lang="en-US" altLang="fr-EG"/>
              <a:t> sexual conduct is unlawful.</a:t>
            </a:r>
          </a:p>
        </p:txBody>
      </p:sp>
    </p:spTree>
    <p:extLst>
      <p:ext uri="{BB962C8B-B14F-4D97-AF65-F5344CB8AC3E}">
        <p14:creationId xmlns:p14="http://schemas.microsoft.com/office/powerpoint/2010/main" val="39842811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4">
            <a:extLst>
              <a:ext uri="{FF2B5EF4-FFF2-40B4-BE49-F238E27FC236}">
                <a16:creationId xmlns:a16="http://schemas.microsoft.com/office/drawing/2014/main" id="{6A1F2E49-25A9-3640-A845-D38A3AD0A0B2}"/>
              </a:ext>
            </a:extLst>
          </p:cNvPr>
          <p:cNvSpPr>
            <a:spLocks noGrp="1" noRot="1" noChangeAspect="1" noChangeArrowheads="1" noTextEdit="1"/>
          </p:cNvSpPr>
          <p:nvPr>
            <p:ph type="sldImg"/>
          </p:nvPr>
        </p:nvSpPr>
        <p:spPr>
          <a:ln/>
        </p:spPr>
      </p:sp>
      <p:sp>
        <p:nvSpPr>
          <p:cNvPr id="24578" name="Rectangle 5">
            <a:extLst>
              <a:ext uri="{FF2B5EF4-FFF2-40B4-BE49-F238E27FC236}">
                <a16:creationId xmlns:a16="http://schemas.microsoft.com/office/drawing/2014/main" id="{C9F314B0-0BF3-F14A-9D76-C42BB52FE6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Here are three more scenarios.  </a:t>
            </a:r>
          </a:p>
          <a:p>
            <a:pPr lvl="1"/>
            <a:r>
              <a:rPr lang="en-US" altLang="fr-EG"/>
              <a:t>An employee posts a swimsuit calendar in his work area.  Is this sexual harassment?  </a:t>
            </a:r>
          </a:p>
          <a:p>
            <a:pPr lvl="2"/>
            <a:r>
              <a:rPr lang="en-US" altLang="fr-EG"/>
              <a:t>Yes.  Under the EEOC definition, posting a swimsuit calendar is considered a “visual display of explicit or suggestive materials.”</a:t>
            </a:r>
          </a:p>
          <a:p>
            <a:pPr lvl="1"/>
            <a:r>
              <a:rPr lang="en-US" altLang="fr-EG"/>
              <a:t>How about this:  A female employee posts a male pin-up in her work area. Is this sexual harassment?  </a:t>
            </a:r>
          </a:p>
          <a:p>
            <a:pPr lvl="2"/>
            <a:r>
              <a:rPr lang="en-US" altLang="fr-EG"/>
              <a:t>Yes it is, for the same reason as the previous example.  It doesn’t matter if the visual display is of a woman or a man.</a:t>
            </a:r>
          </a:p>
          <a:p>
            <a:pPr lvl="1"/>
            <a:r>
              <a:rPr lang="en-US" altLang="fr-EG"/>
              <a:t>Finally, what if a good customer makes provocative comments to employees?  Is this considered sexual harassment?  </a:t>
            </a:r>
          </a:p>
          <a:p>
            <a:pPr lvl="2"/>
            <a:r>
              <a:rPr lang="en-US" altLang="fr-EG"/>
              <a:t>Yes.  Customers or clients can be guilty of sexual harassment, just as employees can.</a:t>
            </a:r>
          </a:p>
          <a:p>
            <a:pPr lvl="1"/>
            <a:endParaRPr lang="en-US" altLang="fr-EG" i="1"/>
          </a:p>
          <a:p>
            <a:pPr lvl="1"/>
            <a:endParaRPr lang="en-US" altLang="fr-EG"/>
          </a:p>
        </p:txBody>
      </p:sp>
    </p:spTree>
    <p:extLst>
      <p:ext uri="{BB962C8B-B14F-4D97-AF65-F5344CB8AC3E}">
        <p14:creationId xmlns:p14="http://schemas.microsoft.com/office/powerpoint/2010/main" val="2667023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4">
            <a:extLst>
              <a:ext uri="{FF2B5EF4-FFF2-40B4-BE49-F238E27FC236}">
                <a16:creationId xmlns:a16="http://schemas.microsoft.com/office/drawing/2014/main" id="{7EE8AB9D-B6CA-7A40-BCF7-2C87D0870B75}"/>
              </a:ext>
            </a:extLst>
          </p:cNvPr>
          <p:cNvSpPr>
            <a:spLocks noGrp="1" noRot="1" noChangeAspect="1" noChangeArrowheads="1" noTextEdit="1"/>
          </p:cNvSpPr>
          <p:nvPr>
            <p:ph type="sldImg"/>
          </p:nvPr>
        </p:nvSpPr>
        <p:spPr>
          <a:ln/>
        </p:spPr>
      </p:sp>
      <p:sp>
        <p:nvSpPr>
          <p:cNvPr id="26626" name="Rectangle 5">
            <a:extLst>
              <a:ext uri="{FF2B5EF4-FFF2-40B4-BE49-F238E27FC236}">
                <a16:creationId xmlns:a16="http://schemas.microsoft.com/office/drawing/2014/main" id="{ED0D11DD-90FC-2140-911E-4E6212D7228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There are two main forms of sexual harassment, which we’ll review in the next slides.</a:t>
            </a:r>
          </a:p>
          <a:p>
            <a:pPr lvl="1"/>
            <a:r>
              <a:rPr lang="en-US" altLang="fr-EG"/>
              <a:t>“Economic harassment” is also known as “tangible employment harassment.”  It involves </a:t>
            </a:r>
            <a:r>
              <a:rPr lang="en-US" altLang="fr-EG" i="1"/>
              <a:t>quid pro quo,</a:t>
            </a:r>
            <a:r>
              <a:rPr lang="en-US" altLang="fr-EG"/>
              <a:t> or “this for that” – essentially, it means that the victim is the target of a </a:t>
            </a:r>
            <a:r>
              <a:rPr lang="en-US" altLang="fr-EG" i="1"/>
              <a:t>tangible economic action</a:t>
            </a:r>
            <a:r>
              <a:rPr lang="en-US" altLang="fr-EG"/>
              <a:t> because he or she refuses a sexual request.  Examples might include: Being fired, or being passed over for a promotion or a raise, or being given less desirable work assignments by a person in authority for refusing his or her sexual advances.  Alternately, a person might be promised a raise or other job benefit in return for sexual favors.  Economic harassment focuses on the harm done to the victim rather than on the specific conduct of the harasser.</a:t>
            </a:r>
          </a:p>
          <a:p>
            <a:pPr lvl="1"/>
            <a:r>
              <a:rPr lang="en-US" altLang="fr-EG"/>
              <a:t>The workplace is automatically liable in cases of economic harassment if a supervisor takes tangible economic action against an employee.</a:t>
            </a:r>
          </a:p>
          <a:p>
            <a:pPr lvl="1"/>
            <a:r>
              <a:rPr lang="en-US" altLang="fr-EG"/>
              <a:t>However, the workplace is automatically liable only if the </a:t>
            </a:r>
            <a:r>
              <a:rPr lang="en-US" altLang="fr-EG" i="1"/>
              <a:t>threat</a:t>
            </a:r>
            <a:r>
              <a:rPr lang="en-US" altLang="fr-EG"/>
              <a:t> of a negative action, or the promise of a positive benefit, actually results in an employment action such as termination, promotion, demotion, or reassignment to a considerably different position. </a:t>
            </a:r>
          </a:p>
        </p:txBody>
      </p:sp>
    </p:spTree>
    <p:extLst>
      <p:ext uri="{BB962C8B-B14F-4D97-AF65-F5344CB8AC3E}">
        <p14:creationId xmlns:p14="http://schemas.microsoft.com/office/powerpoint/2010/main" val="36845184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4">
            <a:extLst>
              <a:ext uri="{FF2B5EF4-FFF2-40B4-BE49-F238E27FC236}">
                <a16:creationId xmlns:a16="http://schemas.microsoft.com/office/drawing/2014/main" id="{6C47581D-3C87-134D-B246-65C6F3F0F9B7}"/>
              </a:ext>
            </a:extLst>
          </p:cNvPr>
          <p:cNvSpPr>
            <a:spLocks noGrp="1" noRot="1" noChangeAspect="1" noChangeArrowheads="1" noTextEdit="1"/>
          </p:cNvSpPr>
          <p:nvPr>
            <p:ph type="sldImg"/>
          </p:nvPr>
        </p:nvSpPr>
        <p:spPr>
          <a:ln/>
        </p:spPr>
      </p:sp>
      <p:sp>
        <p:nvSpPr>
          <p:cNvPr id="28674" name="Rectangle 5">
            <a:extLst>
              <a:ext uri="{FF2B5EF4-FFF2-40B4-BE49-F238E27FC236}">
                <a16:creationId xmlns:a16="http://schemas.microsoft.com/office/drawing/2014/main" id="{83372BEA-C0A7-DD4E-BED5-5B64789317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The other main form of sexual harassment is hostile work environment. </a:t>
            </a:r>
          </a:p>
          <a:p>
            <a:pPr lvl="1"/>
            <a:r>
              <a:rPr lang="en-US" altLang="fr-EG"/>
              <a:t>Conduct that is either severe or pervasive, or both, constitutes a hostile work environment.  In other words, the offensive conduct might be aimed specifically at certain persons, or it might be more generalized throughout the workplace.</a:t>
            </a:r>
          </a:p>
          <a:p>
            <a:pPr lvl="1"/>
            <a:r>
              <a:rPr lang="en-US" altLang="fr-EG"/>
              <a:t>This kind of regular and repeated conduct can include items displayed in the workplace that unreasonably interfere with job performance or that create an intimidating, hostile, or offensive work environment. </a:t>
            </a:r>
          </a:p>
          <a:p>
            <a:pPr lvl="1"/>
            <a:endParaRPr lang="en-US" altLang="fr-EG"/>
          </a:p>
          <a:p>
            <a:pPr lvl="1">
              <a:buFont typeface="Times" pitchFamily="2" charset="0"/>
              <a:buNone/>
            </a:pPr>
            <a:r>
              <a:rPr lang="en-US" altLang="fr-EG"/>
              <a:t> ﻿</a:t>
            </a:r>
            <a:r>
              <a:rPr lang="en-US" altLang="fr-EG" i="1"/>
              <a:t>Suggest that a simple test for determining when something goes over the line might be, “Would I want my spouse, child, or parent to have to experience, see, or listen to something like this?”</a:t>
            </a:r>
          </a:p>
          <a:p>
            <a:pPr lvl="1">
              <a:buFont typeface="Times" pitchFamily="2" charset="0"/>
              <a:buNone/>
            </a:pPr>
            <a:endParaRPr lang="en-US" altLang="fr-EG"/>
          </a:p>
        </p:txBody>
      </p:sp>
    </p:spTree>
    <p:extLst>
      <p:ext uri="{BB962C8B-B14F-4D97-AF65-F5344CB8AC3E}">
        <p14:creationId xmlns:p14="http://schemas.microsoft.com/office/powerpoint/2010/main" val="40001199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EC682D76-4342-9B44-9326-0FC86DD9610A}"/>
              </a:ext>
            </a:extLst>
          </p:cNvPr>
          <p:cNvSpPr>
            <a:spLocks noGrp="1" noRot="1" noChangeAspect="1" noChangeArrowheads="1" noTextEdit="1"/>
          </p:cNvSpPr>
          <p:nvPr>
            <p:ph type="sldImg"/>
          </p:nvPr>
        </p:nvSpPr>
        <p:spPr>
          <a:ln/>
        </p:spPr>
      </p:sp>
      <p:sp>
        <p:nvSpPr>
          <p:cNvPr id="30722" name="Rectangle 3">
            <a:extLst>
              <a:ext uri="{FF2B5EF4-FFF2-40B4-BE49-F238E27FC236}">
                <a16:creationId xmlns:a16="http://schemas.microsoft.com/office/drawing/2014/main" id="{F26B27CF-091E-D041-928D-2439B47F5E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Examples of a hostile work environment include:</a:t>
            </a:r>
          </a:p>
          <a:p>
            <a:pPr lvl="1"/>
            <a:r>
              <a:rPr lang="en-US" altLang="fr-EG"/>
              <a:t>Posting sexually explicit pictures, calendars, graffiti, or objects around the work area, </a:t>
            </a:r>
            <a:r>
              <a:rPr lang="en-US" altLang="fr-EG" i="1"/>
              <a:t>and</a:t>
            </a:r>
          </a:p>
          <a:p>
            <a:pPr lvl="1"/>
            <a:r>
              <a:rPr lang="en-US" altLang="fr-EG"/>
              <a:t>Regularly using dirty words, making sexual jokes, using obscene gestures, or making rude comments of a sexual nature.</a:t>
            </a:r>
          </a:p>
          <a:p>
            <a:endParaRPr lang="en-US" altLang="fr-EG"/>
          </a:p>
        </p:txBody>
      </p:sp>
    </p:spTree>
    <p:extLst>
      <p:ext uri="{BB962C8B-B14F-4D97-AF65-F5344CB8AC3E}">
        <p14:creationId xmlns:p14="http://schemas.microsoft.com/office/powerpoint/2010/main" val="7230211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B5AE8978-717B-2948-80B6-47C43B5AB7E1}"/>
              </a:ext>
            </a:extLst>
          </p:cNvPr>
          <p:cNvSpPr>
            <a:spLocks noGrp="1" noChangeArrowheads="1"/>
          </p:cNvSpPr>
          <p:nvPr>
            <p:ph type="sldNum" sz="quarter" idx="4294967295"/>
          </p:nvPr>
        </p:nvSpPr>
        <p:spPr bwMode="auto">
          <a:xfrm>
            <a:off x="3886200" y="8831263"/>
            <a:ext cx="2971800" cy="4651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fontAlgn="base">
              <a:spcBef>
                <a:spcPct val="0"/>
              </a:spcBef>
              <a:spcAft>
                <a:spcPct val="0"/>
              </a:spcAft>
              <a:defRPr>
                <a:solidFill>
                  <a:schemeClr val="tx1"/>
                </a:solidFill>
                <a:latin typeface="Franklin Gothic Book" panose="020B0503020102020204" pitchFamily="34" charset="0"/>
              </a:defRPr>
            </a:lvl6pPr>
            <a:lvl7pPr marL="2971800" indent="-228600" defTabSz="457200" fontAlgn="base">
              <a:spcBef>
                <a:spcPct val="0"/>
              </a:spcBef>
              <a:spcAft>
                <a:spcPct val="0"/>
              </a:spcAft>
              <a:defRPr>
                <a:solidFill>
                  <a:schemeClr val="tx1"/>
                </a:solidFill>
                <a:latin typeface="Franklin Gothic Book" panose="020B0503020102020204" pitchFamily="34" charset="0"/>
              </a:defRPr>
            </a:lvl7pPr>
            <a:lvl8pPr marL="3429000" indent="-228600" defTabSz="457200" fontAlgn="base">
              <a:spcBef>
                <a:spcPct val="0"/>
              </a:spcBef>
              <a:spcAft>
                <a:spcPct val="0"/>
              </a:spcAft>
              <a:defRPr>
                <a:solidFill>
                  <a:schemeClr val="tx1"/>
                </a:solidFill>
                <a:latin typeface="Franklin Gothic Book" panose="020B0503020102020204" pitchFamily="34" charset="0"/>
              </a:defRPr>
            </a:lvl8pPr>
            <a:lvl9pPr marL="3886200" indent="-228600" defTabSz="457200" fontAlgn="base">
              <a:spcBef>
                <a:spcPct val="0"/>
              </a:spcBef>
              <a:spcAft>
                <a:spcPct val="0"/>
              </a:spcAft>
              <a:defRPr>
                <a:solidFill>
                  <a:schemeClr val="tx1"/>
                </a:solidFill>
                <a:latin typeface="Franklin Gothic Book" panose="020B0503020102020204" pitchFamily="34" charset="0"/>
              </a:defRPr>
            </a:lvl9pPr>
          </a:lstStyle>
          <a:p>
            <a:pPr eaLnBrk="1" hangingPunct="1"/>
            <a:fld id="{540F88D4-EFEA-594D-B3E3-6220DBF27738}" type="slidenum">
              <a:rPr lang="en-US" altLang="fr-EG" sz="2400">
                <a:latin typeface="Times New Roman" panose="02020603050405020304" pitchFamily="18" charset="0"/>
              </a:rPr>
              <a:pPr eaLnBrk="1" hangingPunct="1"/>
              <a:t>14</a:t>
            </a:fld>
            <a:endParaRPr lang="en-US" altLang="fr-EG" sz="2400">
              <a:latin typeface="Times New Roman" panose="02020603050405020304" pitchFamily="18" charset="0"/>
            </a:endParaRPr>
          </a:p>
        </p:txBody>
      </p:sp>
      <p:sp>
        <p:nvSpPr>
          <p:cNvPr id="32770" name="Rectangle 2">
            <a:extLst>
              <a:ext uri="{FF2B5EF4-FFF2-40B4-BE49-F238E27FC236}">
                <a16:creationId xmlns:a16="http://schemas.microsoft.com/office/drawing/2014/main" id="{C6AF8B5D-DF6F-814C-9B05-61283573C754}"/>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1F237850-F72B-5A42-B4AF-8DF9836773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In this exercise, decide whether the following statements are describing economic harassment or hostile work environment:</a:t>
            </a:r>
          </a:p>
          <a:p>
            <a:pPr marL="346075" lvl="1" indent="-231775">
              <a:buFontTx/>
              <a:buAutoNum type="arabicPeriod"/>
            </a:pPr>
            <a:r>
              <a:rPr lang="en-US" altLang="fr-EG"/>
              <a:t>An employee is asked to talk about her raise with her supervisor after business hours at a romantic restaurant.</a:t>
            </a:r>
          </a:p>
          <a:p>
            <a:pPr marL="346075" lvl="1" indent="-231775">
              <a:buFontTx/>
              <a:buNone/>
            </a:pPr>
            <a:r>
              <a:rPr lang="en-US" altLang="fr-EG"/>
              <a:t>This is economic harassment.</a:t>
            </a:r>
          </a:p>
          <a:p>
            <a:pPr marL="346075" lvl="1" indent="-231775">
              <a:buFontTx/>
              <a:buAutoNum type="arabicPeriod" startAt="2"/>
            </a:pPr>
            <a:r>
              <a:rPr lang="en-US" altLang="fr-EG"/>
              <a:t>An employee brings a sexually explicit gag gift into work for a co-worker’s birthday present.</a:t>
            </a:r>
          </a:p>
          <a:p>
            <a:pPr marL="346075" lvl="1" indent="-231775">
              <a:buFontTx/>
              <a:buNone/>
            </a:pPr>
            <a:r>
              <a:rPr lang="en-US" altLang="fr-EG"/>
              <a:t>This describes a hostile work environment.</a:t>
            </a:r>
          </a:p>
        </p:txBody>
      </p:sp>
    </p:spTree>
    <p:extLst>
      <p:ext uri="{BB962C8B-B14F-4D97-AF65-F5344CB8AC3E}">
        <p14:creationId xmlns:p14="http://schemas.microsoft.com/office/powerpoint/2010/main" val="13902132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4104643C-DA27-9D4A-AA87-6ABB24BF64F1}"/>
              </a:ext>
            </a:extLst>
          </p:cNvPr>
          <p:cNvSpPr>
            <a:spLocks noGrp="1" noChangeArrowheads="1"/>
          </p:cNvSpPr>
          <p:nvPr>
            <p:ph type="sldNum" sz="quarter" idx="4294967295"/>
          </p:nvPr>
        </p:nvSpPr>
        <p:spPr bwMode="auto">
          <a:xfrm>
            <a:off x="3886200" y="8831263"/>
            <a:ext cx="2971800" cy="4651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fontAlgn="base">
              <a:spcBef>
                <a:spcPct val="0"/>
              </a:spcBef>
              <a:spcAft>
                <a:spcPct val="0"/>
              </a:spcAft>
              <a:defRPr>
                <a:solidFill>
                  <a:schemeClr val="tx1"/>
                </a:solidFill>
                <a:latin typeface="Franklin Gothic Book" panose="020B0503020102020204" pitchFamily="34" charset="0"/>
              </a:defRPr>
            </a:lvl6pPr>
            <a:lvl7pPr marL="2971800" indent="-228600" defTabSz="457200" fontAlgn="base">
              <a:spcBef>
                <a:spcPct val="0"/>
              </a:spcBef>
              <a:spcAft>
                <a:spcPct val="0"/>
              </a:spcAft>
              <a:defRPr>
                <a:solidFill>
                  <a:schemeClr val="tx1"/>
                </a:solidFill>
                <a:latin typeface="Franklin Gothic Book" panose="020B0503020102020204" pitchFamily="34" charset="0"/>
              </a:defRPr>
            </a:lvl7pPr>
            <a:lvl8pPr marL="3429000" indent="-228600" defTabSz="457200" fontAlgn="base">
              <a:spcBef>
                <a:spcPct val="0"/>
              </a:spcBef>
              <a:spcAft>
                <a:spcPct val="0"/>
              </a:spcAft>
              <a:defRPr>
                <a:solidFill>
                  <a:schemeClr val="tx1"/>
                </a:solidFill>
                <a:latin typeface="Franklin Gothic Book" panose="020B0503020102020204" pitchFamily="34" charset="0"/>
              </a:defRPr>
            </a:lvl8pPr>
            <a:lvl9pPr marL="3886200" indent="-228600" defTabSz="457200" fontAlgn="base">
              <a:spcBef>
                <a:spcPct val="0"/>
              </a:spcBef>
              <a:spcAft>
                <a:spcPct val="0"/>
              </a:spcAft>
              <a:defRPr>
                <a:solidFill>
                  <a:schemeClr val="tx1"/>
                </a:solidFill>
                <a:latin typeface="Franklin Gothic Book" panose="020B0503020102020204" pitchFamily="34" charset="0"/>
              </a:defRPr>
            </a:lvl9pPr>
          </a:lstStyle>
          <a:p>
            <a:pPr eaLnBrk="1" hangingPunct="1"/>
            <a:fld id="{246C342B-3C10-9D4E-BD39-3E0207F39203}" type="slidenum">
              <a:rPr lang="en-US" altLang="fr-EG" sz="2400">
                <a:latin typeface="Times New Roman" panose="02020603050405020304" pitchFamily="18" charset="0"/>
              </a:rPr>
              <a:pPr eaLnBrk="1" hangingPunct="1"/>
              <a:t>15</a:t>
            </a:fld>
            <a:endParaRPr lang="en-US" altLang="fr-EG" sz="2400">
              <a:latin typeface="Times New Roman" panose="02020603050405020304" pitchFamily="18" charset="0"/>
            </a:endParaRPr>
          </a:p>
        </p:txBody>
      </p:sp>
      <p:sp>
        <p:nvSpPr>
          <p:cNvPr id="34818" name="Rectangle 2">
            <a:extLst>
              <a:ext uri="{FF2B5EF4-FFF2-40B4-BE49-F238E27FC236}">
                <a16:creationId xmlns:a16="http://schemas.microsoft.com/office/drawing/2014/main" id="{847D726D-2125-1244-BF0B-A75158E41E33}"/>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6B5191AF-3242-2D4E-B610-8E82BBE186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Here are two more examples. Decide whether they are describing economic harassment or hostile work environment:</a:t>
            </a:r>
          </a:p>
          <a:p>
            <a:pPr marL="346075" lvl="1" indent="-231775">
              <a:buFontTx/>
              <a:buAutoNum type="arabicPeriod" startAt="3"/>
            </a:pPr>
            <a:r>
              <a:rPr lang="en-US" altLang="fr-EG"/>
              <a:t>A supervisor regularly uses obscene language when talking to his employees.</a:t>
            </a:r>
          </a:p>
          <a:p>
            <a:pPr marL="346075" lvl="1" indent="-231775">
              <a:buFontTx/>
              <a:buNone/>
            </a:pPr>
            <a:r>
              <a:rPr lang="en-US" altLang="fr-EG"/>
              <a:t>This also describes a hostile work environment.</a:t>
            </a:r>
          </a:p>
          <a:p>
            <a:pPr marL="346075" lvl="1" indent="-231775">
              <a:buFontTx/>
              <a:buAutoNum type="arabicPeriod" startAt="4"/>
            </a:pPr>
            <a:r>
              <a:rPr lang="en-US" altLang="fr-EG"/>
              <a:t>An employee who appears to be “very close” to the boss always gets the easiest job assignments.</a:t>
            </a:r>
          </a:p>
          <a:p>
            <a:pPr marL="346075" lvl="1" indent="-231775">
              <a:buFont typeface="Times" pitchFamily="2" charset="0"/>
              <a:buNone/>
            </a:pPr>
            <a:r>
              <a:rPr lang="en-US" altLang="fr-EG"/>
              <a:t>This is economic harassment.</a:t>
            </a:r>
          </a:p>
        </p:txBody>
      </p:sp>
    </p:spTree>
    <p:extLst>
      <p:ext uri="{BB962C8B-B14F-4D97-AF65-F5344CB8AC3E}">
        <p14:creationId xmlns:p14="http://schemas.microsoft.com/office/powerpoint/2010/main" val="12896438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4">
            <a:extLst>
              <a:ext uri="{FF2B5EF4-FFF2-40B4-BE49-F238E27FC236}">
                <a16:creationId xmlns:a16="http://schemas.microsoft.com/office/drawing/2014/main" id="{E86509D6-0268-5545-A786-555245FBF8A0}"/>
              </a:ext>
            </a:extLst>
          </p:cNvPr>
          <p:cNvSpPr>
            <a:spLocks noGrp="1" noRot="1" noChangeAspect="1" noChangeArrowheads="1" noTextEdit="1"/>
          </p:cNvSpPr>
          <p:nvPr>
            <p:ph type="sldImg"/>
          </p:nvPr>
        </p:nvSpPr>
        <p:spPr>
          <a:ln/>
        </p:spPr>
      </p:sp>
      <p:sp>
        <p:nvSpPr>
          <p:cNvPr id="36866" name="Rectangle 5">
            <a:extLst>
              <a:ext uri="{FF2B5EF4-FFF2-40B4-BE49-F238E27FC236}">
                <a16:creationId xmlns:a16="http://schemas.microsoft.com/office/drawing/2014/main" id="{BCD3B508-C92F-B64C-819B-C621848AB0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It’s important to understand who is affected by sexual harassment laws and workplace policies when it occurs in the workplace.</a:t>
            </a:r>
          </a:p>
          <a:p>
            <a:pPr lvl="1"/>
            <a:r>
              <a:rPr lang="en-US" altLang="fr-EG"/>
              <a:t>Those who commit acts of sexual harassment can be anyone in the organization, at any level. In other words, unlawful sexual harassment can travel up, down, and sideways within the organization.</a:t>
            </a:r>
          </a:p>
          <a:p>
            <a:pPr lvl="1"/>
            <a:r>
              <a:rPr lang="en-US" altLang="fr-EG"/>
              <a:t>Similarly, clients and customers can also be guilty of committing sexual harassment against employees.</a:t>
            </a:r>
          </a:p>
          <a:p>
            <a:pPr lvl="1"/>
            <a:r>
              <a:rPr lang="en-US" altLang="fr-EG"/>
              <a:t>Finally, harassers and victims can be members of the same sex.  There can be male-on-male or female-on-female acts of sexual harassment.  As mentioned earlier, the key is not the sexual orientation of the person or persons involved, but rather that the act of harassment is sexual in nature.  Ordinary socializing in the workplace that may include horseplay or even flirtation between members of the same sex will generally NOT be considered harassment; instead, the harassment must be of a severely hostile or abusive nature.</a:t>
            </a:r>
          </a:p>
        </p:txBody>
      </p:sp>
    </p:spTree>
    <p:extLst>
      <p:ext uri="{BB962C8B-B14F-4D97-AF65-F5344CB8AC3E}">
        <p14:creationId xmlns:p14="http://schemas.microsoft.com/office/powerpoint/2010/main" val="15484506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4">
            <a:extLst>
              <a:ext uri="{FF2B5EF4-FFF2-40B4-BE49-F238E27FC236}">
                <a16:creationId xmlns:a16="http://schemas.microsoft.com/office/drawing/2014/main" id="{EAAB5912-D345-FB41-8E42-CB200487F2E7}"/>
              </a:ext>
            </a:extLst>
          </p:cNvPr>
          <p:cNvSpPr>
            <a:spLocks noGrp="1" noRot="1" noChangeAspect="1" noChangeArrowheads="1" noTextEdit="1"/>
          </p:cNvSpPr>
          <p:nvPr>
            <p:ph type="sldImg"/>
          </p:nvPr>
        </p:nvSpPr>
        <p:spPr>
          <a:ln/>
        </p:spPr>
      </p:sp>
      <p:sp>
        <p:nvSpPr>
          <p:cNvPr id="38914" name="Rectangle 5">
            <a:extLst>
              <a:ext uri="{FF2B5EF4-FFF2-40B4-BE49-F238E27FC236}">
                <a16:creationId xmlns:a16="http://schemas.microsoft.com/office/drawing/2014/main" id="{634E28F9-0A18-B346-9F4A-4110E84F8B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Sexual harassment laws and policies also affect those who experience the harassment.  These include:</a:t>
            </a:r>
          </a:p>
          <a:p>
            <a:pPr lvl="1"/>
            <a:r>
              <a:rPr lang="en-US" altLang="fr-EG"/>
              <a:t>Direct targets of sexual harassment—for example, someone who is constantly subjected to a co-worker’s sexual advances is a direct target of sexual harassment and, therefore, a victim of an unlawful act.</a:t>
            </a:r>
          </a:p>
          <a:p>
            <a:pPr lvl="1"/>
            <a:r>
              <a:rPr lang="en-US" altLang="fr-EG"/>
              <a:t>Bystanders and witnesses may also be considered to be sexual harassment victims, depending on the specifics of the case.  In other words, if you witness acts of sexual harassment against a co-worker, you may also be affected by harassment and may be protected under the law.</a:t>
            </a:r>
          </a:p>
        </p:txBody>
      </p:sp>
    </p:spTree>
    <p:extLst>
      <p:ext uri="{BB962C8B-B14F-4D97-AF65-F5344CB8AC3E}">
        <p14:creationId xmlns:p14="http://schemas.microsoft.com/office/powerpoint/2010/main" val="31064775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4">
            <a:extLst>
              <a:ext uri="{FF2B5EF4-FFF2-40B4-BE49-F238E27FC236}">
                <a16:creationId xmlns:a16="http://schemas.microsoft.com/office/drawing/2014/main" id="{2958C904-F00F-C048-A409-ED96C932EDCD}"/>
              </a:ext>
            </a:extLst>
          </p:cNvPr>
          <p:cNvSpPr>
            <a:spLocks noGrp="1" noRot="1" noChangeAspect="1" noChangeArrowheads="1" noTextEdit="1"/>
          </p:cNvSpPr>
          <p:nvPr>
            <p:ph type="sldImg"/>
          </p:nvPr>
        </p:nvSpPr>
        <p:spPr>
          <a:ln/>
        </p:spPr>
      </p:sp>
      <p:sp>
        <p:nvSpPr>
          <p:cNvPr id="40962" name="Rectangle 5">
            <a:extLst>
              <a:ext uri="{FF2B5EF4-FFF2-40B4-BE49-F238E27FC236}">
                <a16:creationId xmlns:a16="http://schemas.microsoft.com/office/drawing/2014/main" id="{6658E3D1-AFB3-1643-8924-6AA0FE4749D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pPr lvl="1"/>
            <a:r>
              <a:rPr lang="en-US" altLang="fr-EG"/>
              <a:t>Now it is time to ask yourself if you understand the information presented so far. Do you understand the two main forms of </a:t>
            </a:r>
            <a:br>
              <a:rPr lang="en-US" altLang="fr-EG"/>
            </a:br>
            <a:r>
              <a:rPr lang="en-US" altLang="fr-EG"/>
              <a:t>sexual harassment—economic harassment and a hostile work environment?  Is it clear who may be affected by sexual harassment in the workplace?</a:t>
            </a:r>
          </a:p>
          <a:p>
            <a:endParaRPr lang="en-US" altLang="fr-EG"/>
          </a:p>
        </p:txBody>
      </p:sp>
    </p:spTree>
    <p:extLst>
      <p:ext uri="{BB962C8B-B14F-4D97-AF65-F5344CB8AC3E}">
        <p14:creationId xmlns:p14="http://schemas.microsoft.com/office/powerpoint/2010/main" val="26758280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4">
            <a:extLst>
              <a:ext uri="{FF2B5EF4-FFF2-40B4-BE49-F238E27FC236}">
                <a16:creationId xmlns:a16="http://schemas.microsoft.com/office/drawing/2014/main" id="{8C7C473B-7DD9-A548-85E9-86D06DF6BA6F}"/>
              </a:ext>
            </a:extLst>
          </p:cNvPr>
          <p:cNvSpPr>
            <a:spLocks noGrp="1" noRot="1" noChangeAspect="1" noChangeArrowheads="1" noTextEdit="1"/>
          </p:cNvSpPr>
          <p:nvPr>
            <p:ph type="sldImg"/>
          </p:nvPr>
        </p:nvSpPr>
        <p:spPr>
          <a:ln/>
        </p:spPr>
      </p:sp>
      <p:sp>
        <p:nvSpPr>
          <p:cNvPr id="43010" name="Rectangle 5">
            <a:extLst>
              <a:ext uri="{FF2B5EF4-FFF2-40B4-BE49-F238E27FC236}">
                <a16:creationId xmlns:a16="http://schemas.microsoft.com/office/drawing/2014/main" id="{2115CA85-C0F8-F94F-9807-5ADF36082C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Now let’s talk about prevention —what we all can do to prevent sexual harassment.  Both the workplace and you, as an employee, have responsibilities.</a:t>
            </a:r>
          </a:p>
          <a:p>
            <a:r>
              <a:rPr lang="en-US" altLang="fr-EG"/>
              <a:t>As a workplace, we work to create, communicate, and enforce a policy on sexual harassment that accomplishes the following goals:</a:t>
            </a:r>
          </a:p>
          <a:p>
            <a:pPr lvl="1"/>
            <a:r>
              <a:rPr lang="en-US" altLang="fr-EG"/>
              <a:t>First, it provides a clear statement of our position against sexual harassment, so that everyone understands what is and what is not acceptable behavior.</a:t>
            </a:r>
          </a:p>
          <a:p>
            <a:pPr lvl="1"/>
            <a:r>
              <a:rPr lang="en-US" altLang="fr-EG"/>
              <a:t>Second, it promotes compliance, as well as prevention, by defining the responsibilities of managers and employees in preventing sexual harassment and in responding quickly and thoroughly to any complaints.</a:t>
            </a:r>
          </a:p>
          <a:p>
            <a:pPr lvl="1"/>
            <a:r>
              <a:rPr lang="en-US" altLang="fr-EG"/>
              <a:t>Finally, it protects your rights and fosters respect for everyone.  We want to maintain a respectful and dignified work environment by preserving confidentiality whenever possible, and by communicating and enforcing a policy of “no retaliation” against anyone who reports sexual harassment.</a:t>
            </a:r>
          </a:p>
          <a:p>
            <a:r>
              <a:rPr lang="en-US" altLang="fr-EG" i="1"/>
              <a:t>Introduce and review your workplace’s sexual harassment policy.</a:t>
            </a:r>
          </a:p>
          <a:p>
            <a:pPr lvl="1"/>
            <a:endParaRPr lang="en-US" altLang="fr-EG" i="1"/>
          </a:p>
        </p:txBody>
      </p:sp>
    </p:spTree>
    <p:extLst>
      <p:ext uri="{BB962C8B-B14F-4D97-AF65-F5344CB8AC3E}">
        <p14:creationId xmlns:p14="http://schemas.microsoft.com/office/powerpoint/2010/main" val="20084819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4">
            <a:extLst>
              <a:ext uri="{FF2B5EF4-FFF2-40B4-BE49-F238E27FC236}">
                <a16:creationId xmlns:a16="http://schemas.microsoft.com/office/drawing/2014/main" id="{9D2DD536-C9CF-EE4E-9115-95945301E434}"/>
              </a:ext>
            </a:extLst>
          </p:cNvPr>
          <p:cNvSpPr>
            <a:spLocks noGrp="1" noRot="1" noChangeAspect="1" noChangeArrowheads="1" noTextEdit="1"/>
          </p:cNvSpPr>
          <p:nvPr>
            <p:ph type="sldImg"/>
          </p:nvPr>
        </p:nvSpPr>
        <p:spPr>
          <a:ln/>
        </p:spPr>
      </p:sp>
      <p:sp>
        <p:nvSpPr>
          <p:cNvPr id="45058" name="Rectangle 5">
            <a:extLst>
              <a:ext uri="{FF2B5EF4-FFF2-40B4-BE49-F238E27FC236}">
                <a16:creationId xmlns:a16="http://schemas.microsoft.com/office/drawing/2014/main" id="{E638361B-1A25-6C4E-AB52-2B8CB7FEB1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Here are some of the things you can do to help prevent sexual harassment:</a:t>
            </a:r>
          </a:p>
          <a:p>
            <a:pPr lvl="1"/>
            <a:r>
              <a:rPr lang="en-US" altLang="fr-EG"/>
              <a:t>First, know and comply with workplace policy on sexual harassment.  Be sure to take the time to read it, and ask your supervisor or HR representative if you have any questions about your responsibilities.</a:t>
            </a:r>
          </a:p>
          <a:p>
            <a:pPr lvl="1"/>
            <a:r>
              <a:rPr lang="en-US" altLang="fr-EG"/>
              <a:t>Next, and more specifically, it’s very important to address incidents of sexual harassment immediately.  Report any incident that you reasonably believe is offensive, whether you are the direct target </a:t>
            </a:r>
            <a:br>
              <a:rPr lang="en-US" altLang="fr-EG"/>
            </a:br>
            <a:r>
              <a:rPr lang="en-US" altLang="fr-EG"/>
              <a:t>or not.  If you can, respond directly to anyone who is committing sexual harassment, making it clear that this behavior bothers you.  </a:t>
            </a:r>
            <a:br>
              <a:rPr lang="en-US" altLang="fr-EG"/>
            </a:br>
            <a:r>
              <a:rPr lang="en-US" altLang="fr-EG"/>
              <a:t>If it’s uncomfortable for you to address them directly – for example, if the harasser is your supervisor –report the incident to your supervisor’s manager or to an HR representative.  Record the </a:t>
            </a:r>
            <a:br>
              <a:rPr lang="en-US" altLang="fr-EG"/>
            </a:br>
            <a:r>
              <a:rPr lang="en-US" altLang="fr-EG"/>
              <a:t>time, place, and details of the incident, including the names of </a:t>
            </a:r>
            <a:br>
              <a:rPr lang="en-US" altLang="fr-EG"/>
            </a:br>
            <a:r>
              <a:rPr lang="en-US" altLang="fr-EG"/>
              <a:t>any co-workers who might have observed it.</a:t>
            </a:r>
          </a:p>
          <a:p>
            <a:r>
              <a:rPr lang="en-US" altLang="fr-EG" i="1"/>
              <a:t>Explain your workplace’s procedures for reporting incidents of sexual harassment. Make sure trainees know specifically who they can go to with a complaint. Assure trainees that complaints will be handled promptly, sensitively, and as confidentially as possible</a:t>
            </a:r>
          </a:p>
        </p:txBody>
      </p:sp>
    </p:spTree>
    <p:extLst>
      <p:ext uri="{BB962C8B-B14F-4D97-AF65-F5344CB8AC3E}">
        <p14:creationId xmlns:p14="http://schemas.microsoft.com/office/powerpoint/2010/main" val="41536684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4">
            <a:extLst>
              <a:ext uri="{FF2B5EF4-FFF2-40B4-BE49-F238E27FC236}">
                <a16:creationId xmlns:a16="http://schemas.microsoft.com/office/drawing/2014/main" id="{977A455B-FD0B-2B48-B149-F28CA6BDFACE}"/>
              </a:ext>
            </a:extLst>
          </p:cNvPr>
          <p:cNvSpPr>
            <a:spLocks noGrp="1" noRot="1" noChangeAspect="1" noChangeArrowheads="1" noTextEdit="1"/>
          </p:cNvSpPr>
          <p:nvPr>
            <p:ph type="sldImg"/>
          </p:nvPr>
        </p:nvSpPr>
        <p:spPr>
          <a:ln/>
        </p:spPr>
      </p:sp>
      <p:sp>
        <p:nvSpPr>
          <p:cNvPr id="47106" name="Rectangle 5">
            <a:extLst>
              <a:ext uri="{FF2B5EF4-FFF2-40B4-BE49-F238E27FC236}">
                <a16:creationId xmlns:a16="http://schemas.microsoft.com/office/drawing/2014/main" id="{01C6F707-5F7D-B544-8195-6F9694D3AB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pPr lvl="1"/>
            <a:r>
              <a:rPr lang="en-US" altLang="fr-EG"/>
              <a:t>In addition, you can help prevent sexual harassment by supporting victims of sexual harassment as much as possible.  Encourage them to report incidents according to workplace policy, and support them throughout the process until it is resolved to everyone’s satisfaction.</a:t>
            </a:r>
          </a:p>
          <a:p>
            <a:pPr lvl="1"/>
            <a:r>
              <a:rPr lang="en-US" altLang="fr-EG"/>
              <a:t>Finally, cooperate with investigations of sexual harassment.  Provide any information you might have about an incident, and do your part to help make the investigation run smoothly and move as quickly as possible toward a resolution.</a:t>
            </a:r>
          </a:p>
        </p:txBody>
      </p:sp>
    </p:spTree>
    <p:extLst>
      <p:ext uri="{BB962C8B-B14F-4D97-AF65-F5344CB8AC3E}">
        <p14:creationId xmlns:p14="http://schemas.microsoft.com/office/powerpoint/2010/main" val="4547160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4">
            <a:extLst>
              <a:ext uri="{FF2B5EF4-FFF2-40B4-BE49-F238E27FC236}">
                <a16:creationId xmlns:a16="http://schemas.microsoft.com/office/drawing/2014/main" id="{A91D9EE6-4237-114D-A713-9CB6C599B62D}"/>
              </a:ext>
            </a:extLst>
          </p:cNvPr>
          <p:cNvSpPr>
            <a:spLocks noGrp="1" noRot="1" noChangeAspect="1" noChangeArrowheads="1" noTextEdit="1"/>
          </p:cNvSpPr>
          <p:nvPr>
            <p:ph type="sldImg"/>
          </p:nvPr>
        </p:nvSpPr>
        <p:spPr>
          <a:ln/>
        </p:spPr>
      </p:sp>
      <p:sp>
        <p:nvSpPr>
          <p:cNvPr id="49154" name="Rectangle 5">
            <a:extLst>
              <a:ext uri="{FF2B5EF4-FFF2-40B4-BE49-F238E27FC236}">
                <a16:creationId xmlns:a16="http://schemas.microsoft.com/office/drawing/2014/main" id="{F5AEB428-0E83-1640-B387-C7A17118A6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In conclusion, here are the key points you should remember from this training session on sexual harassment:</a:t>
            </a:r>
          </a:p>
          <a:p>
            <a:pPr lvl="1"/>
            <a:r>
              <a:rPr lang="en-US" altLang="fr-EG"/>
              <a:t>Sexual harassment is prohibited, both by law and by workplace policy;</a:t>
            </a:r>
          </a:p>
          <a:p>
            <a:pPr lvl="1"/>
            <a:r>
              <a:rPr lang="en-US" altLang="fr-EG"/>
              <a:t>Sexual harassment involves more than just physical conduct; it can also be verbal or visual;</a:t>
            </a:r>
          </a:p>
          <a:p>
            <a:pPr lvl="1"/>
            <a:r>
              <a:rPr lang="en-US" altLang="fr-EG"/>
              <a:t>Sexual harassment harms us all because it takes away from having a respectful, dignified, and comfortable work environment; </a:t>
            </a:r>
            <a:r>
              <a:rPr lang="en-US" altLang="fr-EG" i="1"/>
              <a:t>and</a:t>
            </a:r>
            <a:endParaRPr lang="en-US" altLang="fr-EG"/>
          </a:p>
          <a:p>
            <a:pPr lvl="1"/>
            <a:r>
              <a:rPr lang="en-US" altLang="fr-EG"/>
              <a:t>Finally, you have the power to help prevent sexual harassment.  Know the workplace’s policy, and do your part to confront sexual harassment, report incidents, and support victims.</a:t>
            </a:r>
          </a:p>
          <a:p>
            <a:r>
              <a:rPr lang="en-US" altLang="fr-EG"/>
              <a:t>This concludes this training session.</a:t>
            </a:r>
          </a:p>
          <a:p>
            <a:r>
              <a:rPr lang="en-US" altLang="fr-EG" i="1"/>
              <a:t>Give the quiz, if appropriate</a:t>
            </a:r>
            <a:r>
              <a:rPr lang="en-US" altLang="fr-EG"/>
              <a:t>.</a:t>
            </a:r>
          </a:p>
        </p:txBody>
      </p:sp>
    </p:spTree>
    <p:extLst>
      <p:ext uri="{BB962C8B-B14F-4D97-AF65-F5344CB8AC3E}">
        <p14:creationId xmlns:p14="http://schemas.microsoft.com/office/powerpoint/2010/main" val="27643911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99D2F9-865E-4D4D-8F98-C2888F3343AA}"/>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EG"/>
          </a:p>
        </p:txBody>
      </p:sp>
      <p:sp>
        <p:nvSpPr>
          <p:cNvPr id="3" name="Sous-titre 2">
            <a:extLst>
              <a:ext uri="{FF2B5EF4-FFF2-40B4-BE49-F238E27FC236}">
                <a16:creationId xmlns:a16="http://schemas.microsoft.com/office/drawing/2014/main" id="{C7F1E5CE-1130-1940-9D96-F760EE8726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EG"/>
          </a:p>
        </p:txBody>
      </p:sp>
      <p:sp>
        <p:nvSpPr>
          <p:cNvPr id="4" name="Espace réservé de la date 3">
            <a:extLst>
              <a:ext uri="{FF2B5EF4-FFF2-40B4-BE49-F238E27FC236}">
                <a16:creationId xmlns:a16="http://schemas.microsoft.com/office/drawing/2014/main" id="{87F52004-DA5B-6947-8E3A-2916D586A91A}"/>
              </a:ext>
            </a:extLst>
          </p:cNvPr>
          <p:cNvSpPr>
            <a:spLocks noGrp="1"/>
          </p:cNvSpPr>
          <p:nvPr>
            <p:ph type="dt" sz="half" idx="10"/>
          </p:nvPr>
        </p:nvSpPr>
        <p:spPr/>
        <p:txBody>
          <a:bodyPr/>
          <a:lstStyle/>
          <a:p>
            <a:fld id="{91761FBD-AE4F-BC40-8ACF-FA330BC01A49}" type="datetimeFigureOut">
              <a:rPr lang="fr-EG" smtClean="0"/>
              <a:t>16/06/2020</a:t>
            </a:fld>
            <a:endParaRPr lang="fr-EG"/>
          </a:p>
        </p:txBody>
      </p:sp>
      <p:sp>
        <p:nvSpPr>
          <p:cNvPr id="5" name="Espace réservé du pied de page 4">
            <a:extLst>
              <a:ext uri="{FF2B5EF4-FFF2-40B4-BE49-F238E27FC236}">
                <a16:creationId xmlns:a16="http://schemas.microsoft.com/office/drawing/2014/main" id="{2A1E4251-7A94-3B4D-BA0C-3F97B08C6F94}"/>
              </a:ext>
            </a:extLst>
          </p:cNvPr>
          <p:cNvSpPr>
            <a:spLocks noGrp="1"/>
          </p:cNvSpPr>
          <p:nvPr>
            <p:ph type="ftr" sz="quarter" idx="11"/>
          </p:nvPr>
        </p:nvSpPr>
        <p:spPr/>
        <p:txBody>
          <a:bodyPr/>
          <a:lstStyle/>
          <a:p>
            <a:endParaRPr lang="fr-EG"/>
          </a:p>
        </p:txBody>
      </p:sp>
      <p:sp>
        <p:nvSpPr>
          <p:cNvPr id="6" name="Espace réservé du numéro de diapositive 5">
            <a:extLst>
              <a:ext uri="{FF2B5EF4-FFF2-40B4-BE49-F238E27FC236}">
                <a16:creationId xmlns:a16="http://schemas.microsoft.com/office/drawing/2014/main" id="{26513F76-DE29-6B4F-BF19-5BBDDC0262E1}"/>
              </a:ext>
            </a:extLst>
          </p:cNvPr>
          <p:cNvSpPr>
            <a:spLocks noGrp="1"/>
          </p:cNvSpPr>
          <p:nvPr>
            <p:ph type="sldNum" sz="quarter" idx="12"/>
          </p:nvPr>
        </p:nvSpPr>
        <p:spPr/>
        <p:txBody>
          <a:bodyPr/>
          <a:lstStyle/>
          <a:p>
            <a:fld id="{DD5D71DE-8DD5-FC4A-8B8D-4E87190B4F7D}" type="slidenum">
              <a:rPr lang="fr-EG" smtClean="0"/>
              <a:t>‹N°›</a:t>
            </a:fld>
            <a:endParaRPr lang="fr-EG"/>
          </a:p>
        </p:txBody>
      </p:sp>
    </p:spTree>
    <p:extLst>
      <p:ext uri="{BB962C8B-B14F-4D97-AF65-F5344CB8AC3E}">
        <p14:creationId xmlns:p14="http://schemas.microsoft.com/office/powerpoint/2010/main" val="1252505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9604C2-BC93-F344-AFAF-EB2A3F03388C}"/>
              </a:ext>
            </a:extLst>
          </p:cNvPr>
          <p:cNvSpPr>
            <a:spLocks noGrp="1"/>
          </p:cNvSpPr>
          <p:nvPr>
            <p:ph type="title"/>
          </p:nvPr>
        </p:nvSpPr>
        <p:spPr/>
        <p:txBody>
          <a:bodyPr/>
          <a:lstStyle/>
          <a:p>
            <a:r>
              <a:rPr lang="fr-FR"/>
              <a:t>Modifiez le style du titre</a:t>
            </a:r>
            <a:endParaRPr lang="fr-EG"/>
          </a:p>
        </p:txBody>
      </p:sp>
      <p:sp>
        <p:nvSpPr>
          <p:cNvPr id="3" name="Espace réservé du contenu 2">
            <a:extLst>
              <a:ext uri="{FF2B5EF4-FFF2-40B4-BE49-F238E27FC236}">
                <a16:creationId xmlns:a16="http://schemas.microsoft.com/office/drawing/2014/main" id="{C4310944-7F27-3F40-A617-968F0BE5F282}"/>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4" name="Espace réservé de la date 3">
            <a:extLst>
              <a:ext uri="{FF2B5EF4-FFF2-40B4-BE49-F238E27FC236}">
                <a16:creationId xmlns:a16="http://schemas.microsoft.com/office/drawing/2014/main" id="{EAD38B24-AD51-1440-B84C-BC7CFFC1AD6F}"/>
              </a:ext>
            </a:extLst>
          </p:cNvPr>
          <p:cNvSpPr>
            <a:spLocks noGrp="1"/>
          </p:cNvSpPr>
          <p:nvPr>
            <p:ph type="dt" sz="half" idx="10"/>
          </p:nvPr>
        </p:nvSpPr>
        <p:spPr/>
        <p:txBody>
          <a:bodyPr/>
          <a:lstStyle/>
          <a:p>
            <a:fld id="{91761FBD-AE4F-BC40-8ACF-FA330BC01A49}" type="datetimeFigureOut">
              <a:rPr lang="fr-EG" smtClean="0"/>
              <a:t>16/06/2020</a:t>
            </a:fld>
            <a:endParaRPr lang="fr-EG"/>
          </a:p>
        </p:txBody>
      </p:sp>
      <p:sp>
        <p:nvSpPr>
          <p:cNvPr id="5" name="Espace réservé du pied de page 4">
            <a:extLst>
              <a:ext uri="{FF2B5EF4-FFF2-40B4-BE49-F238E27FC236}">
                <a16:creationId xmlns:a16="http://schemas.microsoft.com/office/drawing/2014/main" id="{C893C0FF-7BD9-0449-98ED-BDFC5DEE672F}"/>
              </a:ext>
            </a:extLst>
          </p:cNvPr>
          <p:cNvSpPr>
            <a:spLocks noGrp="1"/>
          </p:cNvSpPr>
          <p:nvPr>
            <p:ph type="ftr" sz="quarter" idx="11"/>
          </p:nvPr>
        </p:nvSpPr>
        <p:spPr/>
        <p:txBody>
          <a:bodyPr/>
          <a:lstStyle/>
          <a:p>
            <a:endParaRPr lang="fr-EG"/>
          </a:p>
        </p:txBody>
      </p:sp>
      <p:sp>
        <p:nvSpPr>
          <p:cNvPr id="6" name="Espace réservé du numéro de diapositive 5">
            <a:extLst>
              <a:ext uri="{FF2B5EF4-FFF2-40B4-BE49-F238E27FC236}">
                <a16:creationId xmlns:a16="http://schemas.microsoft.com/office/drawing/2014/main" id="{1EA0F071-C1FD-FA4A-97B4-9CBE6BAC938D}"/>
              </a:ext>
            </a:extLst>
          </p:cNvPr>
          <p:cNvSpPr>
            <a:spLocks noGrp="1"/>
          </p:cNvSpPr>
          <p:nvPr>
            <p:ph type="sldNum" sz="quarter" idx="12"/>
          </p:nvPr>
        </p:nvSpPr>
        <p:spPr/>
        <p:txBody>
          <a:bodyPr/>
          <a:lstStyle/>
          <a:p>
            <a:fld id="{DD5D71DE-8DD5-FC4A-8B8D-4E87190B4F7D}" type="slidenum">
              <a:rPr lang="fr-EG" smtClean="0"/>
              <a:t>‹N°›</a:t>
            </a:fld>
            <a:endParaRPr lang="fr-EG"/>
          </a:p>
        </p:txBody>
      </p:sp>
    </p:spTree>
    <p:extLst>
      <p:ext uri="{BB962C8B-B14F-4D97-AF65-F5344CB8AC3E}">
        <p14:creationId xmlns:p14="http://schemas.microsoft.com/office/powerpoint/2010/main" val="112474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5CAB38-D9B3-3448-83C3-D62E6C150732}"/>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EG"/>
          </a:p>
        </p:txBody>
      </p:sp>
      <p:sp>
        <p:nvSpPr>
          <p:cNvPr id="3" name="Espace réservé du texte 2">
            <a:extLst>
              <a:ext uri="{FF2B5EF4-FFF2-40B4-BE49-F238E27FC236}">
                <a16:creationId xmlns:a16="http://schemas.microsoft.com/office/drawing/2014/main" id="{DC70E9CD-F910-C641-9F5E-2DFB62C626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94ED0E9-A2EF-1749-A22F-95BD55B48D4D}"/>
              </a:ext>
            </a:extLst>
          </p:cNvPr>
          <p:cNvSpPr>
            <a:spLocks noGrp="1"/>
          </p:cNvSpPr>
          <p:nvPr>
            <p:ph type="dt" sz="half" idx="10"/>
          </p:nvPr>
        </p:nvSpPr>
        <p:spPr/>
        <p:txBody>
          <a:bodyPr/>
          <a:lstStyle/>
          <a:p>
            <a:fld id="{91761FBD-AE4F-BC40-8ACF-FA330BC01A49}" type="datetimeFigureOut">
              <a:rPr lang="fr-EG" smtClean="0"/>
              <a:t>16/06/2020</a:t>
            </a:fld>
            <a:endParaRPr lang="fr-EG"/>
          </a:p>
        </p:txBody>
      </p:sp>
      <p:sp>
        <p:nvSpPr>
          <p:cNvPr id="5" name="Espace réservé du pied de page 4">
            <a:extLst>
              <a:ext uri="{FF2B5EF4-FFF2-40B4-BE49-F238E27FC236}">
                <a16:creationId xmlns:a16="http://schemas.microsoft.com/office/drawing/2014/main" id="{F814F41E-1761-A14E-B795-B73C658497D7}"/>
              </a:ext>
            </a:extLst>
          </p:cNvPr>
          <p:cNvSpPr>
            <a:spLocks noGrp="1"/>
          </p:cNvSpPr>
          <p:nvPr>
            <p:ph type="ftr" sz="quarter" idx="11"/>
          </p:nvPr>
        </p:nvSpPr>
        <p:spPr/>
        <p:txBody>
          <a:bodyPr/>
          <a:lstStyle/>
          <a:p>
            <a:endParaRPr lang="fr-EG"/>
          </a:p>
        </p:txBody>
      </p:sp>
      <p:sp>
        <p:nvSpPr>
          <p:cNvPr id="6" name="Espace réservé du numéro de diapositive 5">
            <a:extLst>
              <a:ext uri="{FF2B5EF4-FFF2-40B4-BE49-F238E27FC236}">
                <a16:creationId xmlns:a16="http://schemas.microsoft.com/office/drawing/2014/main" id="{28E31D65-A8C3-8140-86A2-3ED128ED2176}"/>
              </a:ext>
            </a:extLst>
          </p:cNvPr>
          <p:cNvSpPr>
            <a:spLocks noGrp="1"/>
          </p:cNvSpPr>
          <p:nvPr>
            <p:ph type="sldNum" sz="quarter" idx="12"/>
          </p:nvPr>
        </p:nvSpPr>
        <p:spPr/>
        <p:txBody>
          <a:bodyPr/>
          <a:lstStyle/>
          <a:p>
            <a:fld id="{DD5D71DE-8DD5-FC4A-8B8D-4E87190B4F7D}" type="slidenum">
              <a:rPr lang="fr-EG" smtClean="0"/>
              <a:t>‹N°›</a:t>
            </a:fld>
            <a:endParaRPr lang="fr-EG"/>
          </a:p>
        </p:txBody>
      </p:sp>
    </p:spTree>
    <p:extLst>
      <p:ext uri="{BB962C8B-B14F-4D97-AF65-F5344CB8AC3E}">
        <p14:creationId xmlns:p14="http://schemas.microsoft.com/office/powerpoint/2010/main" val="1162544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2172C6-FEBF-4D47-BB56-1CF44C869EDF}"/>
              </a:ext>
            </a:extLst>
          </p:cNvPr>
          <p:cNvSpPr>
            <a:spLocks noGrp="1"/>
          </p:cNvSpPr>
          <p:nvPr>
            <p:ph type="title"/>
          </p:nvPr>
        </p:nvSpPr>
        <p:spPr/>
        <p:txBody>
          <a:bodyPr/>
          <a:lstStyle/>
          <a:p>
            <a:r>
              <a:rPr lang="fr-FR"/>
              <a:t>Modifiez le style du titre</a:t>
            </a:r>
            <a:endParaRPr lang="fr-EG"/>
          </a:p>
        </p:txBody>
      </p:sp>
      <p:sp>
        <p:nvSpPr>
          <p:cNvPr id="3" name="Espace réservé du contenu 2">
            <a:extLst>
              <a:ext uri="{FF2B5EF4-FFF2-40B4-BE49-F238E27FC236}">
                <a16:creationId xmlns:a16="http://schemas.microsoft.com/office/drawing/2014/main" id="{3B11AD9B-CBD5-8249-B6BB-0E33F2502F1B}"/>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4" name="Espace réservé du contenu 3">
            <a:extLst>
              <a:ext uri="{FF2B5EF4-FFF2-40B4-BE49-F238E27FC236}">
                <a16:creationId xmlns:a16="http://schemas.microsoft.com/office/drawing/2014/main" id="{26E73F79-2232-AB47-978C-5D54824576F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5" name="Espace réservé de la date 4">
            <a:extLst>
              <a:ext uri="{FF2B5EF4-FFF2-40B4-BE49-F238E27FC236}">
                <a16:creationId xmlns:a16="http://schemas.microsoft.com/office/drawing/2014/main" id="{EF0A244D-AAB3-C34F-8AC2-3E89E05DDA56}"/>
              </a:ext>
            </a:extLst>
          </p:cNvPr>
          <p:cNvSpPr>
            <a:spLocks noGrp="1"/>
          </p:cNvSpPr>
          <p:nvPr>
            <p:ph type="dt" sz="half" idx="10"/>
          </p:nvPr>
        </p:nvSpPr>
        <p:spPr/>
        <p:txBody>
          <a:bodyPr/>
          <a:lstStyle/>
          <a:p>
            <a:fld id="{91761FBD-AE4F-BC40-8ACF-FA330BC01A49}" type="datetimeFigureOut">
              <a:rPr lang="fr-EG" smtClean="0"/>
              <a:t>16/06/2020</a:t>
            </a:fld>
            <a:endParaRPr lang="fr-EG"/>
          </a:p>
        </p:txBody>
      </p:sp>
      <p:sp>
        <p:nvSpPr>
          <p:cNvPr id="6" name="Espace réservé du pied de page 5">
            <a:extLst>
              <a:ext uri="{FF2B5EF4-FFF2-40B4-BE49-F238E27FC236}">
                <a16:creationId xmlns:a16="http://schemas.microsoft.com/office/drawing/2014/main" id="{BFBC949D-C566-474C-AFAD-8D3D691EFFA4}"/>
              </a:ext>
            </a:extLst>
          </p:cNvPr>
          <p:cNvSpPr>
            <a:spLocks noGrp="1"/>
          </p:cNvSpPr>
          <p:nvPr>
            <p:ph type="ftr" sz="quarter" idx="11"/>
          </p:nvPr>
        </p:nvSpPr>
        <p:spPr/>
        <p:txBody>
          <a:bodyPr/>
          <a:lstStyle/>
          <a:p>
            <a:endParaRPr lang="fr-EG"/>
          </a:p>
        </p:txBody>
      </p:sp>
      <p:sp>
        <p:nvSpPr>
          <p:cNvPr id="7" name="Espace réservé du numéro de diapositive 6">
            <a:extLst>
              <a:ext uri="{FF2B5EF4-FFF2-40B4-BE49-F238E27FC236}">
                <a16:creationId xmlns:a16="http://schemas.microsoft.com/office/drawing/2014/main" id="{0AED9C50-614A-D941-A507-B2E0AD42733A}"/>
              </a:ext>
            </a:extLst>
          </p:cNvPr>
          <p:cNvSpPr>
            <a:spLocks noGrp="1"/>
          </p:cNvSpPr>
          <p:nvPr>
            <p:ph type="sldNum" sz="quarter" idx="12"/>
          </p:nvPr>
        </p:nvSpPr>
        <p:spPr/>
        <p:txBody>
          <a:bodyPr/>
          <a:lstStyle/>
          <a:p>
            <a:fld id="{DD5D71DE-8DD5-FC4A-8B8D-4E87190B4F7D}" type="slidenum">
              <a:rPr lang="fr-EG" smtClean="0"/>
              <a:t>‹N°›</a:t>
            </a:fld>
            <a:endParaRPr lang="fr-EG"/>
          </a:p>
        </p:txBody>
      </p:sp>
    </p:spTree>
    <p:extLst>
      <p:ext uri="{BB962C8B-B14F-4D97-AF65-F5344CB8AC3E}">
        <p14:creationId xmlns:p14="http://schemas.microsoft.com/office/powerpoint/2010/main" val="1728342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85E8EEA-0F1F-544A-BB5D-E0CDA5E9718E}"/>
              </a:ext>
            </a:extLst>
          </p:cNvPr>
          <p:cNvSpPr>
            <a:spLocks noGrp="1"/>
          </p:cNvSpPr>
          <p:nvPr>
            <p:ph type="title"/>
          </p:nvPr>
        </p:nvSpPr>
        <p:spPr>
          <a:xfrm>
            <a:off x="839788" y="365125"/>
            <a:ext cx="10515600" cy="1325563"/>
          </a:xfrm>
        </p:spPr>
        <p:txBody>
          <a:bodyPr/>
          <a:lstStyle/>
          <a:p>
            <a:r>
              <a:rPr lang="fr-FR"/>
              <a:t>Modifiez le style du titre</a:t>
            </a:r>
            <a:endParaRPr lang="fr-EG"/>
          </a:p>
        </p:txBody>
      </p:sp>
      <p:sp>
        <p:nvSpPr>
          <p:cNvPr id="3" name="Espace réservé du texte 2">
            <a:extLst>
              <a:ext uri="{FF2B5EF4-FFF2-40B4-BE49-F238E27FC236}">
                <a16:creationId xmlns:a16="http://schemas.microsoft.com/office/drawing/2014/main" id="{05D584C5-4C8D-5645-B19F-3B7EB397AE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A825D2E7-69B4-0245-8FDF-5EC59E8D6FC4}"/>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5" name="Espace réservé du texte 4">
            <a:extLst>
              <a:ext uri="{FF2B5EF4-FFF2-40B4-BE49-F238E27FC236}">
                <a16:creationId xmlns:a16="http://schemas.microsoft.com/office/drawing/2014/main" id="{355AF093-641F-944C-9583-E1995AABBA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5869F6CB-CE6F-3842-8E7B-A4414B333979}"/>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7" name="Espace réservé de la date 6">
            <a:extLst>
              <a:ext uri="{FF2B5EF4-FFF2-40B4-BE49-F238E27FC236}">
                <a16:creationId xmlns:a16="http://schemas.microsoft.com/office/drawing/2014/main" id="{9E79A0F6-812A-7C4C-BC33-ED04C0B25FC5}"/>
              </a:ext>
            </a:extLst>
          </p:cNvPr>
          <p:cNvSpPr>
            <a:spLocks noGrp="1"/>
          </p:cNvSpPr>
          <p:nvPr>
            <p:ph type="dt" sz="half" idx="10"/>
          </p:nvPr>
        </p:nvSpPr>
        <p:spPr/>
        <p:txBody>
          <a:bodyPr/>
          <a:lstStyle/>
          <a:p>
            <a:fld id="{91761FBD-AE4F-BC40-8ACF-FA330BC01A49}" type="datetimeFigureOut">
              <a:rPr lang="fr-EG" smtClean="0"/>
              <a:t>16/06/2020</a:t>
            </a:fld>
            <a:endParaRPr lang="fr-EG"/>
          </a:p>
        </p:txBody>
      </p:sp>
      <p:sp>
        <p:nvSpPr>
          <p:cNvPr id="8" name="Espace réservé du pied de page 7">
            <a:extLst>
              <a:ext uri="{FF2B5EF4-FFF2-40B4-BE49-F238E27FC236}">
                <a16:creationId xmlns:a16="http://schemas.microsoft.com/office/drawing/2014/main" id="{86B04286-FCAE-9143-AFE3-AFB2A54774F9}"/>
              </a:ext>
            </a:extLst>
          </p:cNvPr>
          <p:cNvSpPr>
            <a:spLocks noGrp="1"/>
          </p:cNvSpPr>
          <p:nvPr>
            <p:ph type="ftr" sz="quarter" idx="11"/>
          </p:nvPr>
        </p:nvSpPr>
        <p:spPr/>
        <p:txBody>
          <a:bodyPr/>
          <a:lstStyle/>
          <a:p>
            <a:endParaRPr lang="fr-EG"/>
          </a:p>
        </p:txBody>
      </p:sp>
      <p:sp>
        <p:nvSpPr>
          <p:cNvPr id="9" name="Espace réservé du numéro de diapositive 8">
            <a:extLst>
              <a:ext uri="{FF2B5EF4-FFF2-40B4-BE49-F238E27FC236}">
                <a16:creationId xmlns:a16="http://schemas.microsoft.com/office/drawing/2014/main" id="{B530103C-6046-4E40-8F09-17465DD4B2A4}"/>
              </a:ext>
            </a:extLst>
          </p:cNvPr>
          <p:cNvSpPr>
            <a:spLocks noGrp="1"/>
          </p:cNvSpPr>
          <p:nvPr>
            <p:ph type="sldNum" sz="quarter" idx="12"/>
          </p:nvPr>
        </p:nvSpPr>
        <p:spPr/>
        <p:txBody>
          <a:bodyPr/>
          <a:lstStyle/>
          <a:p>
            <a:fld id="{DD5D71DE-8DD5-FC4A-8B8D-4E87190B4F7D}" type="slidenum">
              <a:rPr lang="fr-EG" smtClean="0"/>
              <a:t>‹N°›</a:t>
            </a:fld>
            <a:endParaRPr lang="fr-EG"/>
          </a:p>
        </p:txBody>
      </p:sp>
    </p:spTree>
    <p:extLst>
      <p:ext uri="{BB962C8B-B14F-4D97-AF65-F5344CB8AC3E}">
        <p14:creationId xmlns:p14="http://schemas.microsoft.com/office/powerpoint/2010/main" val="302619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834242-2549-F742-BA25-428AF4AB096B}"/>
              </a:ext>
            </a:extLst>
          </p:cNvPr>
          <p:cNvSpPr>
            <a:spLocks noGrp="1"/>
          </p:cNvSpPr>
          <p:nvPr>
            <p:ph type="title"/>
          </p:nvPr>
        </p:nvSpPr>
        <p:spPr/>
        <p:txBody>
          <a:bodyPr/>
          <a:lstStyle/>
          <a:p>
            <a:r>
              <a:rPr lang="fr-FR"/>
              <a:t>Modifiez le style du titre</a:t>
            </a:r>
            <a:endParaRPr lang="fr-EG"/>
          </a:p>
        </p:txBody>
      </p:sp>
      <p:sp>
        <p:nvSpPr>
          <p:cNvPr id="3" name="Espace réservé de la date 2">
            <a:extLst>
              <a:ext uri="{FF2B5EF4-FFF2-40B4-BE49-F238E27FC236}">
                <a16:creationId xmlns:a16="http://schemas.microsoft.com/office/drawing/2014/main" id="{BBBA36D5-D7B4-2B45-BE6F-D7C211B3EF6C}"/>
              </a:ext>
            </a:extLst>
          </p:cNvPr>
          <p:cNvSpPr>
            <a:spLocks noGrp="1"/>
          </p:cNvSpPr>
          <p:nvPr>
            <p:ph type="dt" sz="half" idx="10"/>
          </p:nvPr>
        </p:nvSpPr>
        <p:spPr/>
        <p:txBody>
          <a:bodyPr/>
          <a:lstStyle/>
          <a:p>
            <a:fld id="{91761FBD-AE4F-BC40-8ACF-FA330BC01A49}" type="datetimeFigureOut">
              <a:rPr lang="fr-EG" smtClean="0"/>
              <a:t>16/06/2020</a:t>
            </a:fld>
            <a:endParaRPr lang="fr-EG"/>
          </a:p>
        </p:txBody>
      </p:sp>
      <p:sp>
        <p:nvSpPr>
          <p:cNvPr id="4" name="Espace réservé du pied de page 3">
            <a:extLst>
              <a:ext uri="{FF2B5EF4-FFF2-40B4-BE49-F238E27FC236}">
                <a16:creationId xmlns:a16="http://schemas.microsoft.com/office/drawing/2014/main" id="{88FD7A2A-2D51-3E4D-9247-088A741EB438}"/>
              </a:ext>
            </a:extLst>
          </p:cNvPr>
          <p:cNvSpPr>
            <a:spLocks noGrp="1"/>
          </p:cNvSpPr>
          <p:nvPr>
            <p:ph type="ftr" sz="quarter" idx="11"/>
          </p:nvPr>
        </p:nvSpPr>
        <p:spPr/>
        <p:txBody>
          <a:bodyPr/>
          <a:lstStyle/>
          <a:p>
            <a:endParaRPr lang="fr-EG"/>
          </a:p>
        </p:txBody>
      </p:sp>
      <p:sp>
        <p:nvSpPr>
          <p:cNvPr id="5" name="Espace réservé du numéro de diapositive 4">
            <a:extLst>
              <a:ext uri="{FF2B5EF4-FFF2-40B4-BE49-F238E27FC236}">
                <a16:creationId xmlns:a16="http://schemas.microsoft.com/office/drawing/2014/main" id="{E7D6F7DC-2269-7D4F-8DC7-6E7DC9DC5F8C}"/>
              </a:ext>
            </a:extLst>
          </p:cNvPr>
          <p:cNvSpPr>
            <a:spLocks noGrp="1"/>
          </p:cNvSpPr>
          <p:nvPr>
            <p:ph type="sldNum" sz="quarter" idx="12"/>
          </p:nvPr>
        </p:nvSpPr>
        <p:spPr/>
        <p:txBody>
          <a:bodyPr/>
          <a:lstStyle/>
          <a:p>
            <a:fld id="{DD5D71DE-8DD5-FC4A-8B8D-4E87190B4F7D}" type="slidenum">
              <a:rPr lang="fr-EG" smtClean="0"/>
              <a:t>‹N°›</a:t>
            </a:fld>
            <a:endParaRPr lang="fr-EG"/>
          </a:p>
        </p:txBody>
      </p:sp>
    </p:spTree>
    <p:extLst>
      <p:ext uri="{BB962C8B-B14F-4D97-AF65-F5344CB8AC3E}">
        <p14:creationId xmlns:p14="http://schemas.microsoft.com/office/powerpoint/2010/main" val="13050588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4DB9F308-F8FA-7E49-B036-E1046D21DE84}"/>
              </a:ext>
            </a:extLst>
          </p:cNvPr>
          <p:cNvSpPr>
            <a:spLocks noGrp="1"/>
          </p:cNvSpPr>
          <p:nvPr>
            <p:ph type="dt" sz="half" idx="10"/>
          </p:nvPr>
        </p:nvSpPr>
        <p:spPr/>
        <p:txBody>
          <a:bodyPr/>
          <a:lstStyle/>
          <a:p>
            <a:fld id="{91761FBD-AE4F-BC40-8ACF-FA330BC01A49}" type="datetimeFigureOut">
              <a:rPr lang="fr-EG" smtClean="0"/>
              <a:t>16/06/2020</a:t>
            </a:fld>
            <a:endParaRPr lang="fr-EG"/>
          </a:p>
        </p:txBody>
      </p:sp>
      <p:sp>
        <p:nvSpPr>
          <p:cNvPr id="3" name="Espace réservé du pied de page 2">
            <a:extLst>
              <a:ext uri="{FF2B5EF4-FFF2-40B4-BE49-F238E27FC236}">
                <a16:creationId xmlns:a16="http://schemas.microsoft.com/office/drawing/2014/main" id="{87DA3C8F-55BF-4E40-9292-EC2AB67660D6}"/>
              </a:ext>
            </a:extLst>
          </p:cNvPr>
          <p:cNvSpPr>
            <a:spLocks noGrp="1"/>
          </p:cNvSpPr>
          <p:nvPr>
            <p:ph type="ftr" sz="quarter" idx="11"/>
          </p:nvPr>
        </p:nvSpPr>
        <p:spPr/>
        <p:txBody>
          <a:bodyPr/>
          <a:lstStyle/>
          <a:p>
            <a:endParaRPr lang="fr-EG"/>
          </a:p>
        </p:txBody>
      </p:sp>
      <p:sp>
        <p:nvSpPr>
          <p:cNvPr id="4" name="Espace réservé du numéro de diapositive 3">
            <a:extLst>
              <a:ext uri="{FF2B5EF4-FFF2-40B4-BE49-F238E27FC236}">
                <a16:creationId xmlns:a16="http://schemas.microsoft.com/office/drawing/2014/main" id="{EB2E7B6C-AF29-894E-BBDE-F8800E2353D4}"/>
              </a:ext>
            </a:extLst>
          </p:cNvPr>
          <p:cNvSpPr>
            <a:spLocks noGrp="1"/>
          </p:cNvSpPr>
          <p:nvPr>
            <p:ph type="sldNum" sz="quarter" idx="12"/>
          </p:nvPr>
        </p:nvSpPr>
        <p:spPr/>
        <p:txBody>
          <a:bodyPr/>
          <a:lstStyle/>
          <a:p>
            <a:fld id="{DD5D71DE-8DD5-FC4A-8B8D-4E87190B4F7D}" type="slidenum">
              <a:rPr lang="fr-EG" smtClean="0"/>
              <a:t>‹N°›</a:t>
            </a:fld>
            <a:endParaRPr lang="fr-EG"/>
          </a:p>
        </p:txBody>
      </p:sp>
    </p:spTree>
    <p:extLst>
      <p:ext uri="{BB962C8B-B14F-4D97-AF65-F5344CB8AC3E}">
        <p14:creationId xmlns:p14="http://schemas.microsoft.com/office/powerpoint/2010/main" val="33085694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6F6163-3B7C-0844-92E3-D256766A15C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EG"/>
          </a:p>
        </p:txBody>
      </p:sp>
      <p:sp>
        <p:nvSpPr>
          <p:cNvPr id="3" name="Espace réservé du contenu 2">
            <a:extLst>
              <a:ext uri="{FF2B5EF4-FFF2-40B4-BE49-F238E27FC236}">
                <a16:creationId xmlns:a16="http://schemas.microsoft.com/office/drawing/2014/main" id="{16F6FF30-E39A-EA46-8285-3A05B133C0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4" name="Espace réservé du texte 3">
            <a:extLst>
              <a:ext uri="{FF2B5EF4-FFF2-40B4-BE49-F238E27FC236}">
                <a16:creationId xmlns:a16="http://schemas.microsoft.com/office/drawing/2014/main" id="{FDCA457B-BC32-B84B-A744-CEA3A5F662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9345769-2C04-404F-A20A-CD3DE04E5950}"/>
              </a:ext>
            </a:extLst>
          </p:cNvPr>
          <p:cNvSpPr>
            <a:spLocks noGrp="1"/>
          </p:cNvSpPr>
          <p:nvPr>
            <p:ph type="dt" sz="half" idx="10"/>
          </p:nvPr>
        </p:nvSpPr>
        <p:spPr/>
        <p:txBody>
          <a:bodyPr/>
          <a:lstStyle/>
          <a:p>
            <a:fld id="{91761FBD-AE4F-BC40-8ACF-FA330BC01A49}" type="datetimeFigureOut">
              <a:rPr lang="fr-EG" smtClean="0"/>
              <a:t>16/06/2020</a:t>
            </a:fld>
            <a:endParaRPr lang="fr-EG"/>
          </a:p>
        </p:txBody>
      </p:sp>
      <p:sp>
        <p:nvSpPr>
          <p:cNvPr id="6" name="Espace réservé du pied de page 5">
            <a:extLst>
              <a:ext uri="{FF2B5EF4-FFF2-40B4-BE49-F238E27FC236}">
                <a16:creationId xmlns:a16="http://schemas.microsoft.com/office/drawing/2014/main" id="{D60A208E-4F0E-DB4D-B87F-BE2518A23AA9}"/>
              </a:ext>
            </a:extLst>
          </p:cNvPr>
          <p:cNvSpPr>
            <a:spLocks noGrp="1"/>
          </p:cNvSpPr>
          <p:nvPr>
            <p:ph type="ftr" sz="quarter" idx="11"/>
          </p:nvPr>
        </p:nvSpPr>
        <p:spPr/>
        <p:txBody>
          <a:bodyPr/>
          <a:lstStyle/>
          <a:p>
            <a:endParaRPr lang="fr-EG"/>
          </a:p>
        </p:txBody>
      </p:sp>
      <p:sp>
        <p:nvSpPr>
          <p:cNvPr id="7" name="Espace réservé du numéro de diapositive 6">
            <a:extLst>
              <a:ext uri="{FF2B5EF4-FFF2-40B4-BE49-F238E27FC236}">
                <a16:creationId xmlns:a16="http://schemas.microsoft.com/office/drawing/2014/main" id="{A618881A-A04A-FC4C-A1A4-53EAA15A788F}"/>
              </a:ext>
            </a:extLst>
          </p:cNvPr>
          <p:cNvSpPr>
            <a:spLocks noGrp="1"/>
          </p:cNvSpPr>
          <p:nvPr>
            <p:ph type="sldNum" sz="quarter" idx="12"/>
          </p:nvPr>
        </p:nvSpPr>
        <p:spPr/>
        <p:txBody>
          <a:bodyPr/>
          <a:lstStyle/>
          <a:p>
            <a:fld id="{DD5D71DE-8DD5-FC4A-8B8D-4E87190B4F7D}" type="slidenum">
              <a:rPr lang="fr-EG" smtClean="0"/>
              <a:t>‹N°›</a:t>
            </a:fld>
            <a:endParaRPr lang="fr-EG"/>
          </a:p>
        </p:txBody>
      </p:sp>
    </p:spTree>
    <p:extLst>
      <p:ext uri="{BB962C8B-B14F-4D97-AF65-F5344CB8AC3E}">
        <p14:creationId xmlns:p14="http://schemas.microsoft.com/office/powerpoint/2010/main" val="14070010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6A9127-7397-3F44-8003-2A089386ED2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EG"/>
          </a:p>
        </p:txBody>
      </p:sp>
      <p:sp>
        <p:nvSpPr>
          <p:cNvPr id="3" name="Espace réservé pour une image  2">
            <a:extLst>
              <a:ext uri="{FF2B5EF4-FFF2-40B4-BE49-F238E27FC236}">
                <a16:creationId xmlns:a16="http://schemas.microsoft.com/office/drawing/2014/main" id="{E1572922-77A0-6447-9CC8-3545000383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EG"/>
          </a:p>
        </p:txBody>
      </p:sp>
      <p:sp>
        <p:nvSpPr>
          <p:cNvPr id="4" name="Espace réservé du texte 3">
            <a:extLst>
              <a:ext uri="{FF2B5EF4-FFF2-40B4-BE49-F238E27FC236}">
                <a16:creationId xmlns:a16="http://schemas.microsoft.com/office/drawing/2014/main" id="{8D54803D-1DC9-F346-ADEF-F307D78F0D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6171C61-F92A-2947-862A-B52BEC93A7CA}"/>
              </a:ext>
            </a:extLst>
          </p:cNvPr>
          <p:cNvSpPr>
            <a:spLocks noGrp="1"/>
          </p:cNvSpPr>
          <p:nvPr>
            <p:ph type="dt" sz="half" idx="10"/>
          </p:nvPr>
        </p:nvSpPr>
        <p:spPr/>
        <p:txBody>
          <a:bodyPr/>
          <a:lstStyle/>
          <a:p>
            <a:fld id="{91761FBD-AE4F-BC40-8ACF-FA330BC01A49}" type="datetimeFigureOut">
              <a:rPr lang="fr-EG" smtClean="0"/>
              <a:t>16/06/2020</a:t>
            </a:fld>
            <a:endParaRPr lang="fr-EG"/>
          </a:p>
        </p:txBody>
      </p:sp>
      <p:sp>
        <p:nvSpPr>
          <p:cNvPr id="6" name="Espace réservé du pied de page 5">
            <a:extLst>
              <a:ext uri="{FF2B5EF4-FFF2-40B4-BE49-F238E27FC236}">
                <a16:creationId xmlns:a16="http://schemas.microsoft.com/office/drawing/2014/main" id="{6F95B765-30EC-3B49-801C-72619ABEABB2}"/>
              </a:ext>
            </a:extLst>
          </p:cNvPr>
          <p:cNvSpPr>
            <a:spLocks noGrp="1"/>
          </p:cNvSpPr>
          <p:nvPr>
            <p:ph type="ftr" sz="quarter" idx="11"/>
          </p:nvPr>
        </p:nvSpPr>
        <p:spPr/>
        <p:txBody>
          <a:bodyPr/>
          <a:lstStyle/>
          <a:p>
            <a:endParaRPr lang="fr-EG"/>
          </a:p>
        </p:txBody>
      </p:sp>
      <p:sp>
        <p:nvSpPr>
          <p:cNvPr id="7" name="Espace réservé du numéro de diapositive 6">
            <a:extLst>
              <a:ext uri="{FF2B5EF4-FFF2-40B4-BE49-F238E27FC236}">
                <a16:creationId xmlns:a16="http://schemas.microsoft.com/office/drawing/2014/main" id="{5C954FD6-1AA0-BA44-B803-812D193254C7}"/>
              </a:ext>
            </a:extLst>
          </p:cNvPr>
          <p:cNvSpPr>
            <a:spLocks noGrp="1"/>
          </p:cNvSpPr>
          <p:nvPr>
            <p:ph type="sldNum" sz="quarter" idx="12"/>
          </p:nvPr>
        </p:nvSpPr>
        <p:spPr/>
        <p:txBody>
          <a:bodyPr/>
          <a:lstStyle/>
          <a:p>
            <a:fld id="{DD5D71DE-8DD5-FC4A-8B8D-4E87190B4F7D}" type="slidenum">
              <a:rPr lang="fr-EG" smtClean="0"/>
              <a:t>‹N°›</a:t>
            </a:fld>
            <a:endParaRPr lang="fr-EG"/>
          </a:p>
        </p:txBody>
      </p:sp>
    </p:spTree>
    <p:extLst>
      <p:ext uri="{BB962C8B-B14F-4D97-AF65-F5344CB8AC3E}">
        <p14:creationId xmlns:p14="http://schemas.microsoft.com/office/powerpoint/2010/main" val="723107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505511-440A-5B4B-9740-E6D400E87357}"/>
              </a:ext>
            </a:extLst>
          </p:cNvPr>
          <p:cNvSpPr>
            <a:spLocks noGrp="1"/>
          </p:cNvSpPr>
          <p:nvPr>
            <p:ph type="title"/>
          </p:nvPr>
        </p:nvSpPr>
        <p:spPr/>
        <p:txBody>
          <a:bodyPr/>
          <a:lstStyle/>
          <a:p>
            <a:r>
              <a:rPr lang="fr-FR"/>
              <a:t>Modifiez le style du titre</a:t>
            </a:r>
            <a:endParaRPr lang="fr-EG"/>
          </a:p>
        </p:txBody>
      </p:sp>
      <p:sp>
        <p:nvSpPr>
          <p:cNvPr id="3" name="Espace réservé du texte vertical 2">
            <a:extLst>
              <a:ext uri="{FF2B5EF4-FFF2-40B4-BE49-F238E27FC236}">
                <a16:creationId xmlns:a16="http://schemas.microsoft.com/office/drawing/2014/main" id="{8FC7CB0C-B985-1C48-B665-B7567515EF29}"/>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4" name="Espace réservé de la date 3">
            <a:extLst>
              <a:ext uri="{FF2B5EF4-FFF2-40B4-BE49-F238E27FC236}">
                <a16:creationId xmlns:a16="http://schemas.microsoft.com/office/drawing/2014/main" id="{7923A0E5-196A-B041-A0D9-CB6BEC304168}"/>
              </a:ext>
            </a:extLst>
          </p:cNvPr>
          <p:cNvSpPr>
            <a:spLocks noGrp="1"/>
          </p:cNvSpPr>
          <p:nvPr>
            <p:ph type="dt" sz="half" idx="10"/>
          </p:nvPr>
        </p:nvSpPr>
        <p:spPr/>
        <p:txBody>
          <a:bodyPr/>
          <a:lstStyle/>
          <a:p>
            <a:fld id="{91761FBD-AE4F-BC40-8ACF-FA330BC01A49}" type="datetimeFigureOut">
              <a:rPr lang="fr-EG" smtClean="0"/>
              <a:t>16/06/2020</a:t>
            </a:fld>
            <a:endParaRPr lang="fr-EG"/>
          </a:p>
        </p:txBody>
      </p:sp>
      <p:sp>
        <p:nvSpPr>
          <p:cNvPr id="5" name="Espace réservé du pied de page 4">
            <a:extLst>
              <a:ext uri="{FF2B5EF4-FFF2-40B4-BE49-F238E27FC236}">
                <a16:creationId xmlns:a16="http://schemas.microsoft.com/office/drawing/2014/main" id="{ADAFFFE8-7CB6-6848-846A-019C9555D10A}"/>
              </a:ext>
            </a:extLst>
          </p:cNvPr>
          <p:cNvSpPr>
            <a:spLocks noGrp="1"/>
          </p:cNvSpPr>
          <p:nvPr>
            <p:ph type="ftr" sz="quarter" idx="11"/>
          </p:nvPr>
        </p:nvSpPr>
        <p:spPr/>
        <p:txBody>
          <a:bodyPr/>
          <a:lstStyle/>
          <a:p>
            <a:endParaRPr lang="fr-EG"/>
          </a:p>
        </p:txBody>
      </p:sp>
      <p:sp>
        <p:nvSpPr>
          <p:cNvPr id="6" name="Espace réservé du numéro de diapositive 5">
            <a:extLst>
              <a:ext uri="{FF2B5EF4-FFF2-40B4-BE49-F238E27FC236}">
                <a16:creationId xmlns:a16="http://schemas.microsoft.com/office/drawing/2014/main" id="{00608EA8-C239-FE47-9C99-56BCCE7A0874}"/>
              </a:ext>
            </a:extLst>
          </p:cNvPr>
          <p:cNvSpPr>
            <a:spLocks noGrp="1"/>
          </p:cNvSpPr>
          <p:nvPr>
            <p:ph type="sldNum" sz="quarter" idx="12"/>
          </p:nvPr>
        </p:nvSpPr>
        <p:spPr/>
        <p:txBody>
          <a:bodyPr/>
          <a:lstStyle/>
          <a:p>
            <a:fld id="{DD5D71DE-8DD5-FC4A-8B8D-4E87190B4F7D}" type="slidenum">
              <a:rPr lang="fr-EG" smtClean="0"/>
              <a:t>‹N°›</a:t>
            </a:fld>
            <a:endParaRPr lang="fr-EG"/>
          </a:p>
        </p:txBody>
      </p:sp>
    </p:spTree>
    <p:extLst>
      <p:ext uri="{BB962C8B-B14F-4D97-AF65-F5344CB8AC3E}">
        <p14:creationId xmlns:p14="http://schemas.microsoft.com/office/powerpoint/2010/main" val="3558471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C41473C5-7F24-4A48-8964-3C6418188D45}"/>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EG"/>
          </a:p>
        </p:txBody>
      </p:sp>
      <p:sp>
        <p:nvSpPr>
          <p:cNvPr id="3" name="Espace réservé du texte vertical 2">
            <a:extLst>
              <a:ext uri="{FF2B5EF4-FFF2-40B4-BE49-F238E27FC236}">
                <a16:creationId xmlns:a16="http://schemas.microsoft.com/office/drawing/2014/main" id="{9A57773A-2964-3540-8114-F4FB30994180}"/>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4" name="Espace réservé de la date 3">
            <a:extLst>
              <a:ext uri="{FF2B5EF4-FFF2-40B4-BE49-F238E27FC236}">
                <a16:creationId xmlns:a16="http://schemas.microsoft.com/office/drawing/2014/main" id="{7C365EFD-2214-2E4D-A8F7-3642B19EB351}"/>
              </a:ext>
            </a:extLst>
          </p:cNvPr>
          <p:cNvSpPr>
            <a:spLocks noGrp="1"/>
          </p:cNvSpPr>
          <p:nvPr>
            <p:ph type="dt" sz="half" idx="10"/>
          </p:nvPr>
        </p:nvSpPr>
        <p:spPr/>
        <p:txBody>
          <a:bodyPr/>
          <a:lstStyle/>
          <a:p>
            <a:fld id="{91761FBD-AE4F-BC40-8ACF-FA330BC01A49}" type="datetimeFigureOut">
              <a:rPr lang="fr-EG" smtClean="0"/>
              <a:t>16/06/2020</a:t>
            </a:fld>
            <a:endParaRPr lang="fr-EG"/>
          </a:p>
        </p:txBody>
      </p:sp>
      <p:sp>
        <p:nvSpPr>
          <p:cNvPr id="5" name="Espace réservé du pied de page 4">
            <a:extLst>
              <a:ext uri="{FF2B5EF4-FFF2-40B4-BE49-F238E27FC236}">
                <a16:creationId xmlns:a16="http://schemas.microsoft.com/office/drawing/2014/main" id="{B1BBDDF9-3CF3-9348-944D-BB0ACD29FD3D}"/>
              </a:ext>
            </a:extLst>
          </p:cNvPr>
          <p:cNvSpPr>
            <a:spLocks noGrp="1"/>
          </p:cNvSpPr>
          <p:nvPr>
            <p:ph type="ftr" sz="quarter" idx="11"/>
          </p:nvPr>
        </p:nvSpPr>
        <p:spPr/>
        <p:txBody>
          <a:bodyPr/>
          <a:lstStyle/>
          <a:p>
            <a:endParaRPr lang="fr-EG"/>
          </a:p>
        </p:txBody>
      </p:sp>
      <p:sp>
        <p:nvSpPr>
          <p:cNvPr id="6" name="Espace réservé du numéro de diapositive 5">
            <a:extLst>
              <a:ext uri="{FF2B5EF4-FFF2-40B4-BE49-F238E27FC236}">
                <a16:creationId xmlns:a16="http://schemas.microsoft.com/office/drawing/2014/main" id="{FA6FEB1C-6EDD-064E-9A27-E19E90580373}"/>
              </a:ext>
            </a:extLst>
          </p:cNvPr>
          <p:cNvSpPr>
            <a:spLocks noGrp="1"/>
          </p:cNvSpPr>
          <p:nvPr>
            <p:ph type="sldNum" sz="quarter" idx="12"/>
          </p:nvPr>
        </p:nvSpPr>
        <p:spPr/>
        <p:txBody>
          <a:bodyPr/>
          <a:lstStyle/>
          <a:p>
            <a:fld id="{DD5D71DE-8DD5-FC4A-8B8D-4E87190B4F7D}" type="slidenum">
              <a:rPr lang="fr-EG" smtClean="0"/>
              <a:t>‹N°›</a:t>
            </a:fld>
            <a:endParaRPr lang="fr-EG"/>
          </a:p>
        </p:txBody>
      </p:sp>
    </p:spTree>
    <p:extLst>
      <p:ext uri="{BB962C8B-B14F-4D97-AF65-F5344CB8AC3E}">
        <p14:creationId xmlns:p14="http://schemas.microsoft.com/office/powerpoint/2010/main" val="37361892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D4C2670-1C4E-E246-BAC9-F0B5989DBF4E}"/>
              </a:ext>
            </a:extLst>
          </p:cNvPr>
          <p:cNvSpPr txBox="1">
            <a:spLocks/>
          </p:cNvSpPr>
          <p:nvPr userDrawn="1"/>
        </p:nvSpPr>
        <p:spPr bwMode="auto">
          <a:xfrm>
            <a:off x="0" y="6629400"/>
            <a:ext cx="3454400" cy="228600"/>
          </a:xfrm>
          <a:prstGeom prst="rect">
            <a:avLst/>
          </a:prstGeom>
          <a:noFill/>
          <a:ln>
            <a:noFill/>
          </a:ln>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fontAlgn="auto" hangingPunct="1">
              <a:spcBef>
                <a:spcPts val="0"/>
              </a:spcBef>
              <a:spcAft>
                <a:spcPts val="0"/>
              </a:spcAft>
              <a:defRPr/>
            </a:pPr>
            <a:endParaRPr lang="en-US" sz="1000">
              <a:latin typeface="Garamond" pitchFamily="18" charset="0"/>
            </a:endParaRPr>
          </a:p>
          <a:p>
            <a:pPr eaLnBrk="1" fontAlgn="auto" hangingPunct="1">
              <a:spcBef>
                <a:spcPts val="0"/>
              </a:spcBef>
              <a:spcAft>
                <a:spcPts val="0"/>
              </a:spcAft>
              <a:defRPr/>
            </a:pPr>
            <a:endParaRPr lang="en-US" sz="1000">
              <a:latin typeface="Garamond" pitchFamily="18" charset="0"/>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285B1FE-4613-3346-9BC5-1623089C910B}"/>
              </a:ext>
            </a:extLst>
          </p:cNvPr>
          <p:cNvSpPr>
            <a:spLocks noGrp="1"/>
          </p:cNvSpPr>
          <p:nvPr>
            <p:ph type="ftr" sz="quarter" idx="10"/>
          </p:nvPr>
        </p:nvSpPr>
        <p:spPr>
          <a:xfrm flipV="1">
            <a:off x="0" y="6858000"/>
            <a:ext cx="3454400" cy="46038"/>
          </a:xfrm>
        </p:spPr>
        <p:txBody>
          <a:bodyPr/>
          <a:lstStyle>
            <a:lvl1pPr>
              <a:defRPr/>
            </a:lvl1pPr>
          </a:lstStyle>
          <a:p>
            <a:pPr>
              <a:defRPr/>
            </a:pPr>
            <a:endParaRPr lang="en-US"/>
          </a:p>
        </p:txBody>
      </p:sp>
    </p:spTree>
    <p:extLst>
      <p:ext uri="{BB962C8B-B14F-4D97-AF65-F5344CB8AC3E}">
        <p14:creationId xmlns:p14="http://schemas.microsoft.com/office/powerpoint/2010/main" val="10273434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22400" y="762000"/>
            <a:ext cx="10058400" cy="1143000"/>
          </a:xfrm>
        </p:spPr>
        <p:txBody>
          <a:bodyPr/>
          <a:lstStyle/>
          <a:p>
            <a:r>
              <a:rPr lang="en-US"/>
              <a:t>Click to edit Master title style</a:t>
            </a:r>
          </a:p>
        </p:txBody>
      </p:sp>
      <p:sp>
        <p:nvSpPr>
          <p:cNvPr id="3" name="Text Placeholder 2"/>
          <p:cNvSpPr>
            <a:spLocks noGrp="1"/>
          </p:cNvSpPr>
          <p:nvPr>
            <p:ph type="body" sz="half" idx="1"/>
          </p:nvPr>
        </p:nvSpPr>
        <p:spPr>
          <a:xfrm>
            <a:off x="1422400" y="2057400"/>
            <a:ext cx="49276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53200" y="2057400"/>
            <a:ext cx="49276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4A7520F7-E93D-EA46-BF20-098F31EF3C65}"/>
              </a:ext>
            </a:extLst>
          </p:cNvPr>
          <p:cNvSpPr>
            <a:spLocks noGrp="1"/>
          </p:cNvSpPr>
          <p:nvPr>
            <p:ph type="ftr" sz="quarter" idx="10"/>
          </p:nvPr>
        </p:nvSpPr>
        <p:spPr/>
        <p:txBody>
          <a:bodyPr/>
          <a:lstStyle>
            <a:lvl1pPr>
              <a:defRPr>
                <a:latin typeface="Times New Roman" pitchFamily="18" charset="0"/>
              </a:defRPr>
            </a:lvl1pPr>
          </a:lstStyle>
          <a:p>
            <a:pPr>
              <a:defRPr/>
            </a:pPr>
            <a:endParaRPr lang="en-US"/>
          </a:p>
        </p:txBody>
      </p:sp>
    </p:spTree>
    <p:extLst>
      <p:ext uri="{BB962C8B-B14F-4D97-AF65-F5344CB8AC3E}">
        <p14:creationId xmlns:p14="http://schemas.microsoft.com/office/powerpoint/2010/main" val="23964733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1422400" y="762000"/>
            <a:ext cx="10058400" cy="1143000"/>
          </a:xfrm>
        </p:spPr>
        <p:txBody>
          <a:bodyPr/>
          <a:lstStyle/>
          <a:p>
            <a:r>
              <a:rPr lang="en-US"/>
              <a:t>Click to edit Master title style</a:t>
            </a:r>
          </a:p>
        </p:txBody>
      </p:sp>
      <p:sp>
        <p:nvSpPr>
          <p:cNvPr id="3" name="Text Placeholder 2"/>
          <p:cNvSpPr>
            <a:spLocks noGrp="1"/>
          </p:cNvSpPr>
          <p:nvPr>
            <p:ph type="body" sz="half" idx="1"/>
          </p:nvPr>
        </p:nvSpPr>
        <p:spPr>
          <a:xfrm>
            <a:off x="1422400" y="2057400"/>
            <a:ext cx="49276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6553200" y="2057400"/>
            <a:ext cx="4927600" cy="4191000"/>
          </a:xfrm>
        </p:spPr>
        <p:txBody>
          <a:bodyPr rtlCol="0">
            <a:normAutofit/>
          </a:bodyPr>
          <a:lstStyle/>
          <a:p>
            <a:pPr lvl="0"/>
            <a:endParaRPr lang="en-US" noProof="0"/>
          </a:p>
        </p:txBody>
      </p:sp>
      <p:sp>
        <p:nvSpPr>
          <p:cNvPr id="5" name="Footer Placeholder 4">
            <a:extLst>
              <a:ext uri="{FF2B5EF4-FFF2-40B4-BE49-F238E27FC236}">
                <a16:creationId xmlns:a16="http://schemas.microsoft.com/office/drawing/2014/main" id="{47318FD9-AE35-4E4A-A231-A504DB00C00F}"/>
              </a:ext>
            </a:extLst>
          </p:cNvPr>
          <p:cNvSpPr>
            <a:spLocks noGrp="1"/>
          </p:cNvSpPr>
          <p:nvPr>
            <p:ph type="ftr" sz="quarter" idx="10"/>
          </p:nvPr>
        </p:nvSpPr>
        <p:spPr/>
        <p:txBody>
          <a:bodyPr/>
          <a:lstStyle>
            <a:lvl1pPr>
              <a:defRPr>
                <a:latin typeface="Times New Roman" pitchFamily="18" charset="0"/>
              </a:defRPr>
            </a:lvl1pPr>
          </a:lstStyle>
          <a:p>
            <a:pPr>
              <a:defRPr/>
            </a:pPr>
            <a:endParaRPr lang="en-US"/>
          </a:p>
        </p:txBody>
      </p:sp>
    </p:spTree>
    <p:extLst>
      <p:ext uri="{BB962C8B-B14F-4D97-AF65-F5344CB8AC3E}">
        <p14:creationId xmlns:p14="http://schemas.microsoft.com/office/powerpoint/2010/main" val="878106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5F9CD5D1-F091-DE42-9411-F17289739E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EG"/>
          </a:p>
        </p:txBody>
      </p:sp>
      <p:sp>
        <p:nvSpPr>
          <p:cNvPr id="3" name="Espace réservé du texte 2">
            <a:extLst>
              <a:ext uri="{FF2B5EF4-FFF2-40B4-BE49-F238E27FC236}">
                <a16:creationId xmlns:a16="http://schemas.microsoft.com/office/drawing/2014/main" id="{72533153-24A2-9E41-A477-94F5459D3F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4" name="Espace réservé de la date 3">
            <a:extLst>
              <a:ext uri="{FF2B5EF4-FFF2-40B4-BE49-F238E27FC236}">
                <a16:creationId xmlns:a16="http://schemas.microsoft.com/office/drawing/2014/main" id="{A9CBCDA9-1763-3346-B780-45C2FC86D9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761FBD-AE4F-BC40-8ACF-FA330BC01A49}" type="datetimeFigureOut">
              <a:rPr lang="fr-EG" smtClean="0"/>
              <a:t>16/06/2020</a:t>
            </a:fld>
            <a:endParaRPr lang="fr-EG"/>
          </a:p>
        </p:txBody>
      </p:sp>
      <p:sp>
        <p:nvSpPr>
          <p:cNvPr id="5" name="Espace réservé du pied de page 4">
            <a:extLst>
              <a:ext uri="{FF2B5EF4-FFF2-40B4-BE49-F238E27FC236}">
                <a16:creationId xmlns:a16="http://schemas.microsoft.com/office/drawing/2014/main" id="{D0D1DF00-77B3-2C44-B737-FBFE1367EF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EG"/>
          </a:p>
        </p:txBody>
      </p:sp>
      <p:sp>
        <p:nvSpPr>
          <p:cNvPr id="6" name="Espace réservé du numéro de diapositive 5">
            <a:extLst>
              <a:ext uri="{FF2B5EF4-FFF2-40B4-BE49-F238E27FC236}">
                <a16:creationId xmlns:a16="http://schemas.microsoft.com/office/drawing/2014/main" id="{7EC0F9C8-AF86-2B46-B328-9BFDB1C158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5D71DE-8DD5-FC4A-8B8D-4E87190B4F7D}" type="slidenum">
              <a:rPr lang="fr-EG" smtClean="0"/>
              <a:t>‹N°›</a:t>
            </a:fld>
            <a:endParaRPr lang="fr-EG"/>
          </a:p>
        </p:txBody>
      </p:sp>
    </p:spTree>
    <p:extLst>
      <p:ext uri="{BB962C8B-B14F-4D97-AF65-F5344CB8AC3E}">
        <p14:creationId xmlns:p14="http://schemas.microsoft.com/office/powerpoint/2010/main" val="35016907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openxmlformats.org/officeDocument/2006/relationships/image" Target="../media/image13.jpeg"/><Relationship Id="rId4" Type="http://schemas.openxmlformats.org/officeDocument/2006/relationships/image" Target="../media/image12.jpeg"/></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16F9E488-0718-4E1E-9D12-26779F6062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Freeform: Shape 72">
            <a:extLst>
              <a:ext uri="{FF2B5EF4-FFF2-40B4-BE49-F238E27FC236}">
                <a16:creationId xmlns:a16="http://schemas.microsoft.com/office/drawing/2014/main" id="{09BE6F6B-19BD-443C-8FB0-FA45F13F95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39505" cy="6857542"/>
          </a:xfrm>
          <a:custGeom>
            <a:avLst/>
            <a:gdLst>
              <a:gd name="connsiteX0" fmla="*/ 0 w 7539505"/>
              <a:gd name="connsiteY0" fmla="*/ 0 h 6857542"/>
              <a:gd name="connsiteX1" fmla="*/ 6392832 w 7539505"/>
              <a:gd name="connsiteY1" fmla="*/ 0 h 6857542"/>
              <a:gd name="connsiteX2" fmla="*/ 6405479 w 7539505"/>
              <a:gd name="connsiteY2" fmla="*/ 31774 h 6857542"/>
              <a:gd name="connsiteX3" fmla="*/ 7460487 w 7539505"/>
              <a:gd name="connsiteY3" fmla="*/ 2682457 h 6857542"/>
              <a:gd name="connsiteX4" fmla="*/ 7460487 w 7539505"/>
              <a:gd name="connsiteY4" fmla="*/ 3752208 h 6857542"/>
              <a:gd name="connsiteX5" fmla="*/ 6302983 w 7539505"/>
              <a:gd name="connsiteY5" fmla="*/ 6660411 h 6857542"/>
              <a:gd name="connsiteX6" fmla="*/ 6224521 w 7539505"/>
              <a:gd name="connsiteY6" fmla="*/ 6857542 h 6857542"/>
              <a:gd name="connsiteX7" fmla="*/ 0 w 7539505"/>
              <a:gd name="connsiteY7" fmla="*/ 6857542 h 6857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39505" h="6857542">
                <a:moveTo>
                  <a:pt x="0" y="0"/>
                </a:moveTo>
                <a:lnTo>
                  <a:pt x="6392832" y="0"/>
                </a:lnTo>
                <a:lnTo>
                  <a:pt x="6405479" y="31774"/>
                </a:lnTo>
                <a:cubicBezTo>
                  <a:pt x="7460487" y="2682457"/>
                  <a:pt x="7460487" y="2682457"/>
                  <a:pt x="7460487" y="2682457"/>
                </a:cubicBezTo>
                <a:cubicBezTo>
                  <a:pt x="7565845" y="2988100"/>
                  <a:pt x="7565845" y="3446565"/>
                  <a:pt x="7460487" y="3752208"/>
                </a:cubicBezTo>
                <a:cubicBezTo>
                  <a:pt x="6976500" y="4968215"/>
                  <a:pt x="6598385" y="5918220"/>
                  <a:pt x="6302983" y="6660411"/>
                </a:cubicBezTo>
                <a:lnTo>
                  <a:pt x="6224521" y="6857542"/>
                </a:lnTo>
                <a:lnTo>
                  <a:pt x="0" y="6857542"/>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TextBox 9">
            <a:extLst>
              <a:ext uri="{FF2B5EF4-FFF2-40B4-BE49-F238E27FC236}">
                <a16:creationId xmlns:a16="http://schemas.microsoft.com/office/drawing/2014/main" id="{8BBEFA5A-CBFE-2F42-8F73-1870F9A1FCA4}"/>
              </a:ext>
            </a:extLst>
          </p:cNvPr>
          <p:cNvSpPr txBox="1"/>
          <p:nvPr/>
        </p:nvSpPr>
        <p:spPr>
          <a:xfrm>
            <a:off x="811033" y="681629"/>
            <a:ext cx="5573478" cy="3683638"/>
          </a:xfrm>
          <a:prstGeom prst="rect">
            <a:avLst/>
          </a:prstGeom>
        </p:spPr>
        <p:txBody>
          <a:bodyPr vert="horz" lIns="91440" tIns="45720" rIns="91440" bIns="45720" rtlCol="0" anchor="b">
            <a:normAutofit/>
          </a:bodyPr>
          <a:lstStyle/>
          <a:p>
            <a:pPr algn="r">
              <a:lnSpc>
                <a:spcPct val="90000"/>
              </a:lnSpc>
              <a:spcBef>
                <a:spcPct val="0"/>
              </a:spcBef>
              <a:spcAft>
                <a:spcPts val="600"/>
              </a:spcAft>
              <a:defRPr/>
            </a:pPr>
            <a:r>
              <a:rPr lang="en-US" sz="7200">
                <a:solidFill>
                  <a:schemeClr val="bg1"/>
                </a:solidFill>
                <a:latin typeface="+mj-lt"/>
                <a:ea typeface="+mj-ea"/>
                <a:cs typeface="+mj-cs"/>
              </a:rPr>
              <a:t>Sexual Harassment </a:t>
            </a:r>
          </a:p>
        </p:txBody>
      </p:sp>
      <p:grpSp>
        <p:nvGrpSpPr>
          <p:cNvPr id="75" name="Group 74">
            <a:extLst>
              <a:ext uri="{FF2B5EF4-FFF2-40B4-BE49-F238E27FC236}">
                <a16:creationId xmlns:a16="http://schemas.microsoft.com/office/drawing/2014/main" id="{26B5F537-3960-4E10-AE03-D496B4CD531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40080" y="640080"/>
            <a:ext cx="1128382" cy="847206"/>
            <a:chOff x="5307830" y="325570"/>
            <a:chExt cx="1128382" cy="847206"/>
          </a:xfrm>
        </p:grpSpPr>
        <p:sp>
          <p:nvSpPr>
            <p:cNvPr id="76" name="Freeform 5">
              <a:extLst>
                <a:ext uri="{FF2B5EF4-FFF2-40B4-BE49-F238E27FC236}">
                  <a16:creationId xmlns:a16="http://schemas.microsoft.com/office/drawing/2014/main" id="{4F9A94D1-9FCD-4778-A663-68663B4D3F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307830" y="577396"/>
              <a:ext cx="675351" cy="595380"/>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sp>
          <p:nvSpPr>
            <p:cNvPr id="77" name="Freeform 5">
              <a:extLst>
                <a:ext uri="{FF2B5EF4-FFF2-40B4-BE49-F238E27FC236}">
                  <a16:creationId xmlns:a16="http://schemas.microsoft.com/office/drawing/2014/main" id="{BB080F40-90BD-4CAA-9447-8DC3FCD0F2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85720" y="325570"/>
              <a:ext cx="550492" cy="485306"/>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grpSp>
      <p:pic>
        <p:nvPicPr>
          <p:cNvPr id="6145" name="Picture 2" descr="C:\Users\mgb\Desktop\Logo.png">
            <a:extLst>
              <a:ext uri="{FF2B5EF4-FFF2-40B4-BE49-F238E27FC236}">
                <a16:creationId xmlns:a16="http://schemas.microsoft.com/office/drawing/2014/main" id="{25EC16FF-35E9-D647-A880-F65F6C65D94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118282" y="1914631"/>
            <a:ext cx="3449589" cy="56671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6" name="Picture 1033" descr="HRTPyngmnhndwshldr1-16,122">
            <a:extLst>
              <a:ext uri="{FF2B5EF4-FFF2-40B4-BE49-F238E27FC236}">
                <a16:creationId xmlns:a16="http://schemas.microsoft.com/office/drawing/2014/main" id="{2D1D72ED-5276-DC47-AFB9-19C9163688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929" t="16364" r="1849" b="32877"/>
          <a:stretch>
            <a:fillRect/>
          </a:stretch>
        </p:blipFill>
        <p:spPr bwMode="auto">
          <a:xfrm>
            <a:off x="8539256" y="3606466"/>
            <a:ext cx="2616480" cy="2148242"/>
          </a:xfrm>
          <a:prstGeom prst="rect">
            <a:avLst/>
          </a:prstGeom>
          <a:noFill/>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a:extLst>
              <a:ext uri="{FF2B5EF4-FFF2-40B4-BE49-F238E27FC236}">
                <a16:creationId xmlns:a16="http://schemas.microsoft.com/office/drawing/2014/main" id="{0045DB05-B38C-E04B-B60E-1439B9F50F84}"/>
              </a:ext>
            </a:extLst>
          </p:cNvPr>
          <p:cNvSpPr txBox="1"/>
          <p:nvPr/>
        </p:nvSpPr>
        <p:spPr>
          <a:xfrm>
            <a:off x="3670300" y="2074864"/>
            <a:ext cx="4726550" cy="1031051"/>
          </a:xfrm>
          <a:prstGeom prst="rect">
            <a:avLst/>
          </a:prstGeom>
          <a:noFill/>
        </p:spPr>
        <p:txBody>
          <a:bodyPr wrap="none">
            <a:spAutoFit/>
          </a:bodyPr>
          <a:lstStyle/>
          <a:p>
            <a:pPr>
              <a:spcAft>
                <a:spcPts val="600"/>
              </a:spcAft>
              <a:defRPr/>
            </a:pPr>
            <a:r>
              <a:rPr lang="en-US" sz="2800" dirty="0">
                <a:latin typeface="+mj-lt"/>
              </a:rPr>
              <a:t>What Employees Need to Know</a:t>
            </a:r>
            <a:endParaRPr lang="en-US" sz="2800">
              <a:latin typeface="+mj-lt"/>
            </a:endParaRPr>
          </a:p>
          <a:p>
            <a:pPr>
              <a:spcAft>
                <a:spcPts val="600"/>
              </a:spcAft>
              <a:defRPr/>
            </a:pPr>
            <a:endParaRPr lang="en-US" sz="2800">
              <a:latin typeface="+mj-lt"/>
            </a:endParaRPr>
          </a:p>
        </p:txBody>
      </p:sp>
    </p:spTree>
    <p:extLst>
      <p:ext uri="{BB962C8B-B14F-4D97-AF65-F5344CB8AC3E}">
        <p14:creationId xmlns:p14="http://schemas.microsoft.com/office/powerpoint/2010/main" val="1836199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Shape 73">
            <a:extLst>
              <a:ext uri="{FF2B5EF4-FFF2-40B4-BE49-F238E27FC236}">
                <a16:creationId xmlns:a16="http://schemas.microsoft.com/office/drawing/2014/main" id="{3B2069EE-A08E-44F0-B3F9-3CF8CC2DCA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26740" cy="6857542"/>
          </a:xfrm>
          <a:custGeom>
            <a:avLst/>
            <a:gdLst>
              <a:gd name="connsiteX0" fmla="*/ 0 w 6126740"/>
              <a:gd name="connsiteY0" fmla="*/ 0 h 6857542"/>
              <a:gd name="connsiteX1" fmla="*/ 4980067 w 6126740"/>
              <a:gd name="connsiteY1" fmla="*/ 0 h 6857542"/>
              <a:gd name="connsiteX2" fmla="*/ 4992714 w 6126740"/>
              <a:gd name="connsiteY2" fmla="*/ 31774 h 6857542"/>
              <a:gd name="connsiteX3" fmla="*/ 6047722 w 6126740"/>
              <a:gd name="connsiteY3" fmla="*/ 2682457 h 6857542"/>
              <a:gd name="connsiteX4" fmla="*/ 6047722 w 6126740"/>
              <a:gd name="connsiteY4" fmla="*/ 3752208 h 6857542"/>
              <a:gd name="connsiteX5" fmla="*/ 4890218 w 6126740"/>
              <a:gd name="connsiteY5" fmla="*/ 6660411 h 6857542"/>
              <a:gd name="connsiteX6" fmla="*/ 4811756 w 6126740"/>
              <a:gd name="connsiteY6" fmla="*/ 6857542 h 6857542"/>
              <a:gd name="connsiteX7" fmla="*/ 0 w 6126740"/>
              <a:gd name="connsiteY7" fmla="*/ 6857542 h 6857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26740" h="6857542">
                <a:moveTo>
                  <a:pt x="0" y="0"/>
                </a:moveTo>
                <a:lnTo>
                  <a:pt x="4980067" y="0"/>
                </a:lnTo>
                <a:lnTo>
                  <a:pt x="4992714" y="31774"/>
                </a:lnTo>
                <a:cubicBezTo>
                  <a:pt x="6047722" y="2682457"/>
                  <a:pt x="6047722" y="2682457"/>
                  <a:pt x="6047722" y="2682457"/>
                </a:cubicBezTo>
                <a:cubicBezTo>
                  <a:pt x="6153080" y="2988100"/>
                  <a:pt x="6153080" y="3446565"/>
                  <a:pt x="6047722" y="3752208"/>
                </a:cubicBezTo>
                <a:cubicBezTo>
                  <a:pt x="5563735" y="4968215"/>
                  <a:pt x="5185620" y="5918220"/>
                  <a:pt x="4890218" y="6660411"/>
                </a:cubicBezTo>
                <a:lnTo>
                  <a:pt x="4811756" y="6857542"/>
                </a:lnTo>
                <a:lnTo>
                  <a:pt x="0" y="6857542"/>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171" name="Rectangle 1038">
            <a:extLst>
              <a:ext uri="{FF2B5EF4-FFF2-40B4-BE49-F238E27FC236}">
                <a16:creationId xmlns:a16="http://schemas.microsoft.com/office/drawing/2014/main" id="{04F6CD06-29E3-1E46-BF42-CB30CA0E3B35}"/>
              </a:ext>
            </a:extLst>
          </p:cNvPr>
          <p:cNvSpPr>
            <a:spLocks noGrp="1" noChangeArrowheads="1"/>
          </p:cNvSpPr>
          <p:nvPr>
            <p:ph type="title" idx="4294967295"/>
          </p:nvPr>
        </p:nvSpPr>
        <p:spPr>
          <a:xfrm>
            <a:off x="767290" y="1289146"/>
            <a:ext cx="4153626" cy="4279709"/>
          </a:xfrm>
        </p:spPr>
        <p:txBody>
          <a:bodyPr vert="horz" lIns="91440" tIns="45720" rIns="91440" bIns="45720" rtlCol="0" anchor="ctr">
            <a:normAutofit/>
          </a:bodyPr>
          <a:lstStyle/>
          <a:p>
            <a:pPr algn="r"/>
            <a:r>
              <a:rPr lang="en-US" altLang="fr-EG" sz="5400" b="1" kern="1200">
                <a:solidFill>
                  <a:schemeClr val="bg1"/>
                </a:solidFill>
                <a:latin typeface="+mj-lt"/>
                <a:ea typeface="+mj-ea"/>
                <a:cs typeface="+mj-cs"/>
              </a:rPr>
              <a:t>SESSION OBJECTIVES</a:t>
            </a:r>
          </a:p>
        </p:txBody>
      </p:sp>
      <p:grpSp>
        <p:nvGrpSpPr>
          <p:cNvPr id="76" name="Group 75">
            <a:extLst>
              <a:ext uri="{FF2B5EF4-FFF2-40B4-BE49-F238E27FC236}">
                <a16:creationId xmlns:a16="http://schemas.microsoft.com/office/drawing/2014/main" id="{E12BF2FB-8A96-4B53-86A0-04755C545E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3027" y="681628"/>
            <a:ext cx="1562267" cy="1172973"/>
            <a:chOff x="7493121" y="1000124"/>
            <a:chExt cx="1562267" cy="1172973"/>
          </a:xfrm>
        </p:grpSpPr>
        <p:sp>
          <p:nvSpPr>
            <p:cNvPr id="77" name="Freeform 5">
              <a:extLst>
                <a:ext uri="{FF2B5EF4-FFF2-40B4-BE49-F238E27FC236}">
                  <a16:creationId xmlns:a16="http://schemas.microsoft.com/office/drawing/2014/main" id="{893D4739-55F8-4E73-8F98-AF42D54BD4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493121"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78" name="Freeform 5">
              <a:extLst>
                <a:ext uri="{FF2B5EF4-FFF2-40B4-BE49-F238E27FC236}">
                  <a16:creationId xmlns:a16="http://schemas.microsoft.com/office/drawing/2014/main" id="{A1AA190F-FB42-4BED-8AA1-A5A01B43C91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293221"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7170" name="Rectangle 1039">
            <a:extLst>
              <a:ext uri="{FF2B5EF4-FFF2-40B4-BE49-F238E27FC236}">
                <a16:creationId xmlns:a16="http://schemas.microsoft.com/office/drawing/2014/main" id="{48C8F881-2880-9C4B-891E-7281D183B162}"/>
              </a:ext>
            </a:extLst>
          </p:cNvPr>
          <p:cNvSpPr>
            <a:spLocks noGrp="1" noChangeArrowheads="1"/>
          </p:cNvSpPr>
          <p:nvPr>
            <p:ph idx="1"/>
          </p:nvPr>
        </p:nvSpPr>
        <p:spPr>
          <a:xfrm>
            <a:off x="6514140" y="1854601"/>
            <a:ext cx="4776711" cy="3148798"/>
          </a:xfrm>
        </p:spPr>
        <p:txBody>
          <a:bodyPr vert="horz" lIns="91440" tIns="45720" rIns="91440" bIns="45720" rtlCol="0" anchor="ctr">
            <a:normAutofit/>
          </a:bodyPr>
          <a:lstStyle/>
          <a:p>
            <a:pPr marL="0"/>
            <a:r>
              <a:rPr lang="en-US" altLang="fr-EG" sz="1900"/>
              <a:t>You will be able to:</a:t>
            </a:r>
          </a:p>
          <a:p>
            <a:pPr lvl="1"/>
            <a:r>
              <a:rPr lang="en-US" altLang="fr-EG" sz="1900" i="0"/>
              <a:t>Recognize sexual harassment</a:t>
            </a:r>
          </a:p>
          <a:p>
            <a:pPr lvl="1"/>
            <a:r>
              <a:rPr lang="en-US" altLang="fr-EG" sz="1900" i="0"/>
              <a:t>Differentiate between the two main kinds of harassment</a:t>
            </a:r>
          </a:p>
          <a:p>
            <a:pPr lvl="1"/>
            <a:r>
              <a:rPr lang="en-US" altLang="fr-EG" sz="1900" i="0"/>
              <a:t>Understand and follow company policy</a:t>
            </a:r>
          </a:p>
          <a:p>
            <a:pPr lvl="1"/>
            <a:r>
              <a:rPr lang="en-US" altLang="fr-EG" sz="1900" i="0"/>
              <a:t>Report incidents and cooperate in investigations</a:t>
            </a:r>
          </a:p>
          <a:p>
            <a:pPr lvl="1"/>
            <a:r>
              <a:rPr lang="en-US" altLang="fr-EG" sz="1900" i="0"/>
              <a:t>Help promote and maintain a comfortable, productive work environment</a:t>
            </a:r>
          </a:p>
        </p:txBody>
      </p:sp>
      <p:sp>
        <p:nvSpPr>
          <p:cNvPr id="7169" name="Rectangle 1036">
            <a:extLst>
              <a:ext uri="{FF2B5EF4-FFF2-40B4-BE49-F238E27FC236}">
                <a16:creationId xmlns:a16="http://schemas.microsoft.com/office/drawing/2014/main" id="{6F6C4BCB-78D9-5444-B778-5C717C4467E1}"/>
              </a:ext>
            </a:extLst>
          </p:cNvPr>
          <p:cNvSpPr>
            <a:spLocks noChangeArrowheads="1"/>
          </p:cNvSpPr>
          <p:nvPr/>
        </p:nvSpPr>
        <p:spPr bwMode="auto">
          <a:xfrm>
            <a:off x="3070225" y="646747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fontAlgn="base">
              <a:spcBef>
                <a:spcPct val="0"/>
              </a:spcBef>
              <a:spcAft>
                <a:spcPct val="0"/>
              </a:spcAft>
              <a:defRPr>
                <a:solidFill>
                  <a:schemeClr val="tx1"/>
                </a:solidFill>
                <a:latin typeface="Franklin Gothic Book" panose="020B0503020102020204" pitchFamily="34" charset="0"/>
              </a:defRPr>
            </a:lvl6pPr>
            <a:lvl7pPr marL="2971800" indent="-228600" defTabSz="457200" fontAlgn="base">
              <a:spcBef>
                <a:spcPct val="0"/>
              </a:spcBef>
              <a:spcAft>
                <a:spcPct val="0"/>
              </a:spcAft>
              <a:defRPr>
                <a:solidFill>
                  <a:schemeClr val="tx1"/>
                </a:solidFill>
                <a:latin typeface="Franklin Gothic Book" panose="020B0503020102020204" pitchFamily="34" charset="0"/>
              </a:defRPr>
            </a:lvl7pPr>
            <a:lvl8pPr marL="3429000" indent="-228600" defTabSz="457200" fontAlgn="base">
              <a:spcBef>
                <a:spcPct val="0"/>
              </a:spcBef>
              <a:spcAft>
                <a:spcPct val="0"/>
              </a:spcAft>
              <a:defRPr>
                <a:solidFill>
                  <a:schemeClr val="tx1"/>
                </a:solidFill>
                <a:latin typeface="Franklin Gothic Book" panose="020B0503020102020204" pitchFamily="34" charset="0"/>
              </a:defRPr>
            </a:lvl8pPr>
            <a:lvl9pPr marL="3886200" indent="-228600" defTabSz="457200" fontAlgn="base">
              <a:spcBef>
                <a:spcPct val="0"/>
              </a:spcBef>
              <a:spcAft>
                <a:spcPct val="0"/>
              </a:spcAft>
              <a:defRPr>
                <a:solidFill>
                  <a:schemeClr val="tx1"/>
                </a:solidFill>
                <a:latin typeface="Franklin Gothic Book" panose="020B0503020102020204" pitchFamily="34" charset="0"/>
              </a:defRPr>
            </a:lvl9pPr>
          </a:lstStyle>
          <a:p>
            <a:pPr eaLnBrk="1" hangingPunct="1"/>
            <a:endParaRPr lang="fr-EG" altLang="fr-EG" sz="2400">
              <a:latin typeface="Times New Roman" panose="02020603050405020304" pitchFamily="18" charset="0"/>
            </a:endParaRPr>
          </a:p>
        </p:txBody>
      </p:sp>
    </p:spTree>
    <p:extLst>
      <p:ext uri="{BB962C8B-B14F-4D97-AF65-F5344CB8AC3E}">
        <p14:creationId xmlns:p14="http://schemas.microsoft.com/office/powerpoint/2010/main" val="4121205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0" name="Freeform: Shape 72">
            <a:extLst>
              <a:ext uri="{FF2B5EF4-FFF2-40B4-BE49-F238E27FC236}">
                <a16:creationId xmlns:a16="http://schemas.microsoft.com/office/drawing/2014/main" id="{3B2069EE-A08E-44F0-B3F9-3CF8CC2DCA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26740" cy="6857542"/>
          </a:xfrm>
          <a:custGeom>
            <a:avLst/>
            <a:gdLst>
              <a:gd name="connsiteX0" fmla="*/ 0 w 6126740"/>
              <a:gd name="connsiteY0" fmla="*/ 0 h 6857542"/>
              <a:gd name="connsiteX1" fmla="*/ 4980067 w 6126740"/>
              <a:gd name="connsiteY1" fmla="*/ 0 h 6857542"/>
              <a:gd name="connsiteX2" fmla="*/ 4992714 w 6126740"/>
              <a:gd name="connsiteY2" fmla="*/ 31774 h 6857542"/>
              <a:gd name="connsiteX3" fmla="*/ 6047722 w 6126740"/>
              <a:gd name="connsiteY3" fmla="*/ 2682457 h 6857542"/>
              <a:gd name="connsiteX4" fmla="*/ 6047722 w 6126740"/>
              <a:gd name="connsiteY4" fmla="*/ 3752208 h 6857542"/>
              <a:gd name="connsiteX5" fmla="*/ 4890218 w 6126740"/>
              <a:gd name="connsiteY5" fmla="*/ 6660411 h 6857542"/>
              <a:gd name="connsiteX6" fmla="*/ 4811756 w 6126740"/>
              <a:gd name="connsiteY6" fmla="*/ 6857542 h 6857542"/>
              <a:gd name="connsiteX7" fmla="*/ 0 w 6126740"/>
              <a:gd name="connsiteY7" fmla="*/ 6857542 h 6857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26740" h="6857542">
                <a:moveTo>
                  <a:pt x="0" y="0"/>
                </a:moveTo>
                <a:lnTo>
                  <a:pt x="4980067" y="0"/>
                </a:lnTo>
                <a:lnTo>
                  <a:pt x="4992714" y="31774"/>
                </a:lnTo>
                <a:cubicBezTo>
                  <a:pt x="6047722" y="2682457"/>
                  <a:pt x="6047722" y="2682457"/>
                  <a:pt x="6047722" y="2682457"/>
                </a:cubicBezTo>
                <a:cubicBezTo>
                  <a:pt x="6153080" y="2988100"/>
                  <a:pt x="6153080" y="3446565"/>
                  <a:pt x="6047722" y="3752208"/>
                </a:cubicBezTo>
                <a:cubicBezTo>
                  <a:pt x="5563735" y="4968215"/>
                  <a:pt x="5185620" y="5918220"/>
                  <a:pt x="4890218" y="6660411"/>
                </a:cubicBezTo>
                <a:lnTo>
                  <a:pt x="4811756" y="6857542"/>
                </a:lnTo>
                <a:lnTo>
                  <a:pt x="0" y="6857542"/>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218" name="Rectangle 8">
            <a:extLst>
              <a:ext uri="{FF2B5EF4-FFF2-40B4-BE49-F238E27FC236}">
                <a16:creationId xmlns:a16="http://schemas.microsoft.com/office/drawing/2014/main" id="{C9987546-5D66-B241-880F-B85D54C1648A}"/>
              </a:ext>
            </a:extLst>
          </p:cNvPr>
          <p:cNvSpPr>
            <a:spLocks noGrp="1" noChangeArrowheads="1"/>
          </p:cNvSpPr>
          <p:nvPr>
            <p:ph type="title" idx="4294967295"/>
          </p:nvPr>
        </p:nvSpPr>
        <p:spPr>
          <a:xfrm>
            <a:off x="767290" y="1289146"/>
            <a:ext cx="4153626" cy="4279709"/>
          </a:xfrm>
        </p:spPr>
        <p:txBody>
          <a:bodyPr vert="horz" lIns="91440" tIns="45720" rIns="91440" bIns="45720" rtlCol="0" anchor="ctr">
            <a:normAutofit/>
          </a:bodyPr>
          <a:lstStyle/>
          <a:p>
            <a:pPr algn="r"/>
            <a:r>
              <a:rPr lang="en-US" altLang="fr-EG" sz="5400" b="1" kern="1200">
                <a:solidFill>
                  <a:schemeClr val="bg1"/>
                </a:solidFill>
                <a:latin typeface="+mj-lt"/>
                <a:ea typeface="+mj-ea"/>
                <a:cs typeface="+mj-cs"/>
              </a:rPr>
              <a:t>SESSION OUTLINE</a:t>
            </a:r>
          </a:p>
        </p:txBody>
      </p:sp>
      <p:grpSp>
        <p:nvGrpSpPr>
          <p:cNvPr id="9221" name="Group 74">
            <a:extLst>
              <a:ext uri="{FF2B5EF4-FFF2-40B4-BE49-F238E27FC236}">
                <a16:creationId xmlns:a16="http://schemas.microsoft.com/office/drawing/2014/main" id="{E12BF2FB-8A96-4B53-86A0-04755C545E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3027" y="681628"/>
            <a:ext cx="1562267" cy="1172973"/>
            <a:chOff x="7493121" y="1000124"/>
            <a:chExt cx="1562267" cy="1172973"/>
          </a:xfrm>
        </p:grpSpPr>
        <p:sp>
          <p:nvSpPr>
            <p:cNvPr id="76" name="Freeform 5">
              <a:extLst>
                <a:ext uri="{FF2B5EF4-FFF2-40B4-BE49-F238E27FC236}">
                  <a16:creationId xmlns:a16="http://schemas.microsoft.com/office/drawing/2014/main" id="{893D4739-55F8-4E73-8F98-AF42D54BD4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493121"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77" name="Freeform 5">
              <a:extLst>
                <a:ext uri="{FF2B5EF4-FFF2-40B4-BE49-F238E27FC236}">
                  <a16:creationId xmlns:a16="http://schemas.microsoft.com/office/drawing/2014/main" id="{A1AA190F-FB42-4BED-8AA1-A5A01B43C91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293221"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9217" name="Rectangle 9">
            <a:extLst>
              <a:ext uri="{FF2B5EF4-FFF2-40B4-BE49-F238E27FC236}">
                <a16:creationId xmlns:a16="http://schemas.microsoft.com/office/drawing/2014/main" id="{403E2D7F-6846-BE4F-BC40-1B1B27B1840C}"/>
              </a:ext>
            </a:extLst>
          </p:cNvPr>
          <p:cNvSpPr>
            <a:spLocks noGrp="1" noChangeArrowheads="1"/>
          </p:cNvSpPr>
          <p:nvPr>
            <p:ph idx="1"/>
          </p:nvPr>
        </p:nvSpPr>
        <p:spPr>
          <a:xfrm>
            <a:off x="6514140" y="1854601"/>
            <a:ext cx="4776711" cy="3148798"/>
          </a:xfrm>
        </p:spPr>
        <p:txBody>
          <a:bodyPr vert="horz" lIns="91440" tIns="45720" rIns="91440" bIns="45720" rtlCol="0" anchor="ctr">
            <a:normAutofit/>
          </a:bodyPr>
          <a:lstStyle/>
          <a:p>
            <a:pPr lvl="1"/>
            <a:r>
              <a:rPr lang="en-US" altLang="fr-EG" sz="2200" i="0"/>
              <a:t>Why it’s important for you to know about sexual harassment</a:t>
            </a:r>
          </a:p>
          <a:p>
            <a:pPr lvl="1"/>
            <a:r>
              <a:rPr lang="en-US" altLang="fr-EG" sz="2200" i="0"/>
              <a:t>Laws that prohibit sexual harassment in the workplace</a:t>
            </a:r>
          </a:p>
          <a:p>
            <a:pPr lvl="1"/>
            <a:r>
              <a:rPr lang="en-US" altLang="fr-EG" sz="2200" i="0"/>
              <a:t>What constitutes sexual harassment</a:t>
            </a:r>
          </a:p>
          <a:p>
            <a:pPr lvl="1"/>
            <a:r>
              <a:rPr lang="en-US" altLang="fr-EG" sz="2200" i="0"/>
              <a:t>Who is affected by it</a:t>
            </a:r>
          </a:p>
          <a:p>
            <a:pPr lvl="1"/>
            <a:r>
              <a:rPr lang="en-US" altLang="fr-EG" sz="2200" i="0"/>
              <a:t>What to do about it</a:t>
            </a:r>
          </a:p>
          <a:p>
            <a:pPr lvl="1"/>
            <a:r>
              <a:rPr lang="en-US" altLang="fr-EG" sz="2200" i="0"/>
              <a:t>How to prevent it</a:t>
            </a:r>
          </a:p>
          <a:p>
            <a:pPr marL="0"/>
            <a:endParaRPr lang="en-US" altLang="fr-EG" sz="2200"/>
          </a:p>
        </p:txBody>
      </p:sp>
    </p:spTree>
    <p:extLst>
      <p:ext uri="{BB962C8B-B14F-4D97-AF65-F5344CB8AC3E}">
        <p14:creationId xmlns:p14="http://schemas.microsoft.com/office/powerpoint/2010/main" val="4013363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5" name="Rectangle 5">
            <a:extLst>
              <a:ext uri="{FF2B5EF4-FFF2-40B4-BE49-F238E27FC236}">
                <a16:creationId xmlns:a16="http://schemas.microsoft.com/office/drawing/2014/main" id="{ECA9988F-DACA-2746-8F82-14BFE62CFEBD}"/>
              </a:ext>
            </a:extLst>
          </p:cNvPr>
          <p:cNvSpPr>
            <a:spLocks noGrp="1" noChangeArrowheads="1"/>
          </p:cNvSpPr>
          <p:nvPr>
            <p:ph type="title"/>
          </p:nvPr>
        </p:nvSpPr>
        <p:spPr>
          <a:xfrm>
            <a:off x="1000452" y="1610024"/>
            <a:ext cx="3058621" cy="1457002"/>
          </a:xfrm>
        </p:spPr>
        <p:txBody>
          <a:bodyPr vert="horz" lIns="91440" tIns="45720" rIns="91440" bIns="45720" rtlCol="0" anchor="b">
            <a:normAutofit/>
          </a:bodyPr>
          <a:lstStyle/>
          <a:p>
            <a:r>
              <a:rPr lang="en-US" altLang="fr-EG" sz="3400" b="1"/>
              <a:t>WHY YOU NEED TO KNOW</a:t>
            </a:r>
          </a:p>
        </p:txBody>
      </p:sp>
      <p:grpSp>
        <p:nvGrpSpPr>
          <p:cNvPr id="138" name="Group 137">
            <a:extLst>
              <a:ext uri="{FF2B5EF4-FFF2-40B4-BE49-F238E27FC236}">
                <a16:creationId xmlns:a16="http://schemas.microsoft.com/office/drawing/2014/main" id="{770AE191-D2EA-45C9-A44D-830C188F74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2021" y="518649"/>
            <a:ext cx="1128382" cy="847206"/>
            <a:chOff x="8183879" y="1000124"/>
            <a:chExt cx="1562267" cy="1172973"/>
          </a:xfrm>
        </p:grpSpPr>
        <p:sp>
          <p:nvSpPr>
            <p:cNvPr id="139" name="Freeform 5">
              <a:extLst>
                <a:ext uri="{FF2B5EF4-FFF2-40B4-BE49-F238E27FC236}">
                  <a16:creationId xmlns:a16="http://schemas.microsoft.com/office/drawing/2014/main" id="{23A0E4C1-B7A6-4637-AC51-4A5AE3841F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3879"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140" name="Freeform 5">
              <a:extLst>
                <a:ext uri="{FF2B5EF4-FFF2-40B4-BE49-F238E27FC236}">
                  <a16:creationId xmlns:a16="http://schemas.microsoft.com/office/drawing/2014/main" id="{F4E8C039-CC58-44F3-8A7B-E0A934C1D0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83979"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19459" name="Rectangle 7">
            <a:extLst>
              <a:ext uri="{FF2B5EF4-FFF2-40B4-BE49-F238E27FC236}">
                <a16:creationId xmlns:a16="http://schemas.microsoft.com/office/drawing/2014/main" id="{E9FF2B96-9BDB-5245-962B-1AE369B7BCE2}"/>
              </a:ext>
            </a:extLst>
          </p:cNvPr>
          <p:cNvSpPr>
            <a:spLocks noGrp="1" noChangeArrowheads="1"/>
          </p:cNvSpPr>
          <p:nvPr>
            <p:ph type="body" sz="half" idx="1"/>
          </p:nvPr>
        </p:nvSpPr>
        <p:spPr>
          <a:xfrm>
            <a:off x="1000450" y="3067026"/>
            <a:ext cx="3058623" cy="3272324"/>
          </a:xfrm>
        </p:spPr>
        <p:txBody>
          <a:bodyPr vert="horz" lIns="91440" tIns="45720" rIns="91440" bIns="45720" rtlCol="0" anchor="t">
            <a:normAutofit/>
          </a:bodyPr>
          <a:lstStyle/>
          <a:p>
            <a:pPr lvl="1">
              <a:defRPr/>
            </a:pPr>
            <a:r>
              <a:rPr lang="en-US" altLang="fr-EG" sz="1700"/>
              <a:t>We all have the right to fair treatment at work</a:t>
            </a:r>
          </a:p>
          <a:p>
            <a:pPr lvl="1">
              <a:defRPr/>
            </a:pPr>
            <a:r>
              <a:rPr lang="en-US" altLang="fr-EG" sz="1700"/>
              <a:t>Sexual harassment harms everyone</a:t>
            </a:r>
          </a:p>
          <a:p>
            <a:pPr lvl="1">
              <a:defRPr/>
            </a:pPr>
            <a:r>
              <a:rPr lang="en-US" altLang="fr-EG" sz="1700"/>
              <a:t>It undermines the trust and respect necessary for a productive work environment</a:t>
            </a:r>
          </a:p>
          <a:p>
            <a:pPr lvl="1">
              <a:defRPr/>
            </a:pPr>
            <a:r>
              <a:rPr lang="en-US" altLang="fr-EG" sz="1700"/>
              <a:t>Men and women on every level may be harassers or victims</a:t>
            </a:r>
          </a:p>
          <a:p>
            <a:pPr marL="0">
              <a:defRPr/>
            </a:pPr>
            <a:endParaRPr lang="en-US" altLang="fr-EG" sz="1700"/>
          </a:p>
        </p:txBody>
      </p:sp>
      <p:pic>
        <p:nvPicPr>
          <p:cNvPr id="11267" name="Picture 9">
            <a:extLst>
              <a:ext uri="{FF2B5EF4-FFF2-40B4-BE49-F238E27FC236}">
                <a16:creationId xmlns:a16="http://schemas.microsoft.com/office/drawing/2014/main" id="{31F873F5-AAE4-8B4F-9B6A-876E93565AD2}"/>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l="3564" r="23727" b="-1"/>
          <a:stretch/>
        </p:blipFill>
        <p:spPr>
          <a:xfrm>
            <a:off x="4636963" y="10"/>
            <a:ext cx="7555037" cy="6857990"/>
          </a:xfrm>
          <a:prstGeom prst="rect">
            <a:avLst/>
          </a:prstGeom>
          <a:noFill/>
        </p:spPr>
      </p:pic>
    </p:spTree>
    <p:extLst>
      <p:ext uri="{BB962C8B-B14F-4D97-AF65-F5344CB8AC3E}">
        <p14:creationId xmlns:p14="http://schemas.microsoft.com/office/powerpoint/2010/main" val="2901510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Shape 72">
            <a:extLst>
              <a:ext uri="{FF2B5EF4-FFF2-40B4-BE49-F238E27FC236}">
                <a16:creationId xmlns:a16="http://schemas.microsoft.com/office/drawing/2014/main" id="{3B2069EE-A08E-44F0-B3F9-3CF8CC2DCA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26740" cy="6857542"/>
          </a:xfrm>
          <a:custGeom>
            <a:avLst/>
            <a:gdLst>
              <a:gd name="connsiteX0" fmla="*/ 0 w 6126740"/>
              <a:gd name="connsiteY0" fmla="*/ 0 h 6857542"/>
              <a:gd name="connsiteX1" fmla="*/ 4980067 w 6126740"/>
              <a:gd name="connsiteY1" fmla="*/ 0 h 6857542"/>
              <a:gd name="connsiteX2" fmla="*/ 4992714 w 6126740"/>
              <a:gd name="connsiteY2" fmla="*/ 31774 h 6857542"/>
              <a:gd name="connsiteX3" fmla="*/ 6047722 w 6126740"/>
              <a:gd name="connsiteY3" fmla="*/ 2682457 h 6857542"/>
              <a:gd name="connsiteX4" fmla="*/ 6047722 w 6126740"/>
              <a:gd name="connsiteY4" fmla="*/ 3752208 h 6857542"/>
              <a:gd name="connsiteX5" fmla="*/ 4890218 w 6126740"/>
              <a:gd name="connsiteY5" fmla="*/ 6660411 h 6857542"/>
              <a:gd name="connsiteX6" fmla="*/ 4811756 w 6126740"/>
              <a:gd name="connsiteY6" fmla="*/ 6857542 h 6857542"/>
              <a:gd name="connsiteX7" fmla="*/ 0 w 6126740"/>
              <a:gd name="connsiteY7" fmla="*/ 6857542 h 6857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26740" h="6857542">
                <a:moveTo>
                  <a:pt x="0" y="0"/>
                </a:moveTo>
                <a:lnTo>
                  <a:pt x="4980067" y="0"/>
                </a:lnTo>
                <a:lnTo>
                  <a:pt x="4992714" y="31774"/>
                </a:lnTo>
                <a:cubicBezTo>
                  <a:pt x="6047722" y="2682457"/>
                  <a:pt x="6047722" y="2682457"/>
                  <a:pt x="6047722" y="2682457"/>
                </a:cubicBezTo>
                <a:cubicBezTo>
                  <a:pt x="6153080" y="2988100"/>
                  <a:pt x="6153080" y="3446565"/>
                  <a:pt x="6047722" y="3752208"/>
                </a:cubicBezTo>
                <a:cubicBezTo>
                  <a:pt x="5563735" y="4968215"/>
                  <a:pt x="5185620" y="5918220"/>
                  <a:pt x="4890218" y="6660411"/>
                </a:cubicBezTo>
                <a:lnTo>
                  <a:pt x="4811756" y="6857542"/>
                </a:lnTo>
                <a:lnTo>
                  <a:pt x="0" y="6857542"/>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313" name="Rectangle 2">
            <a:extLst>
              <a:ext uri="{FF2B5EF4-FFF2-40B4-BE49-F238E27FC236}">
                <a16:creationId xmlns:a16="http://schemas.microsoft.com/office/drawing/2014/main" id="{C6B39A1C-2E50-9A47-AD53-BB0CB3FD8704}"/>
              </a:ext>
            </a:extLst>
          </p:cNvPr>
          <p:cNvSpPr>
            <a:spLocks noGrp="1" noChangeArrowheads="1"/>
          </p:cNvSpPr>
          <p:nvPr>
            <p:ph type="title"/>
          </p:nvPr>
        </p:nvSpPr>
        <p:spPr>
          <a:xfrm>
            <a:off x="767290" y="1289146"/>
            <a:ext cx="4153626" cy="4279709"/>
          </a:xfrm>
        </p:spPr>
        <p:txBody>
          <a:bodyPr anchor="ctr">
            <a:normAutofit/>
          </a:bodyPr>
          <a:lstStyle/>
          <a:p>
            <a:pPr algn="r"/>
            <a:r>
              <a:rPr lang="en-US" altLang="fr-EG" sz="5400">
                <a:solidFill>
                  <a:schemeClr val="bg1"/>
                </a:solidFill>
              </a:rPr>
              <a:t>HOW WIDESPREAD IS SEXUAL HARASSMENT</a:t>
            </a:r>
          </a:p>
        </p:txBody>
      </p:sp>
      <p:grpSp>
        <p:nvGrpSpPr>
          <p:cNvPr id="75" name="Group 74">
            <a:extLst>
              <a:ext uri="{FF2B5EF4-FFF2-40B4-BE49-F238E27FC236}">
                <a16:creationId xmlns:a16="http://schemas.microsoft.com/office/drawing/2014/main" id="{E12BF2FB-8A96-4B53-86A0-04755C545E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3027" y="681628"/>
            <a:ext cx="1562267" cy="1172973"/>
            <a:chOff x="7493121" y="1000124"/>
            <a:chExt cx="1562267" cy="1172973"/>
          </a:xfrm>
        </p:grpSpPr>
        <p:sp>
          <p:nvSpPr>
            <p:cNvPr id="76" name="Freeform 5">
              <a:extLst>
                <a:ext uri="{FF2B5EF4-FFF2-40B4-BE49-F238E27FC236}">
                  <a16:creationId xmlns:a16="http://schemas.microsoft.com/office/drawing/2014/main" id="{893D4739-55F8-4E73-8F98-AF42D54BD4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493121"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77" name="Freeform 5">
              <a:extLst>
                <a:ext uri="{FF2B5EF4-FFF2-40B4-BE49-F238E27FC236}">
                  <a16:creationId xmlns:a16="http://schemas.microsoft.com/office/drawing/2014/main" id="{A1AA190F-FB42-4BED-8AA1-A5A01B43C91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293221"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13314" name="Rectangle 3">
            <a:extLst>
              <a:ext uri="{FF2B5EF4-FFF2-40B4-BE49-F238E27FC236}">
                <a16:creationId xmlns:a16="http://schemas.microsoft.com/office/drawing/2014/main" id="{49CC9100-E977-3043-856B-C5C738C22387}"/>
              </a:ext>
            </a:extLst>
          </p:cNvPr>
          <p:cNvSpPr>
            <a:spLocks noGrp="1" noChangeArrowheads="1"/>
          </p:cNvSpPr>
          <p:nvPr>
            <p:ph idx="1"/>
          </p:nvPr>
        </p:nvSpPr>
        <p:spPr>
          <a:xfrm>
            <a:off x="6514140" y="1854601"/>
            <a:ext cx="4776711" cy="3148798"/>
          </a:xfrm>
        </p:spPr>
        <p:txBody>
          <a:bodyPr anchor="ctr">
            <a:normAutofit/>
          </a:bodyPr>
          <a:lstStyle/>
          <a:p>
            <a:pPr lvl="1">
              <a:buFont typeface="Wingdings" pitchFamily="2" charset="2"/>
              <a:buChar char="§"/>
            </a:pPr>
            <a:r>
              <a:rPr lang="en-US" altLang="fr-EG" sz="2000" i="0"/>
              <a:t>About 70% of women and 20% of men have experienced sexual harassment</a:t>
            </a:r>
          </a:p>
          <a:p>
            <a:pPr lvl="1">
              <a:buFont typeface="Wingdings" pitchFamily="2" charset="2"/>
              <a:buChar char="§"/>
            </a:pPr>
            <a:r>
              <a:rPr lang="en-US" altLang="fr-EG" sz="2000" i="0"/>
              <a:t>About 15,000 sexual harassment cases are filed each year</a:t>
            </a:r>
          </a:p>
          <a:p>
            <a:pPr lvl="1">
              <a:buFont typeface="Wingdings" pitchFamily="2" charset="2"/>
              <a:buChar char="§"/>
            </a:pPr>
            <a:r>
              <a:rPr lang="en-US" altLang="fr-EG" sz="2000" i="0"/>
              <a:t>Charges of sexual harassment cost U.S. companies almost $40 million each year</a:t>
            </a:r>
          </a:p>
          <a:p>
            <a:pPr lvl="1">
              <a:buFont typeface="Wingdings" pitchFamily="2" charset="2"/>
              <a:buChar char="§"/>
            </a:pPr>
            <a:r>
              <a:rPr lang="en-US" altLang="fr-EG" sz="2000" i="0"/>
              <a:t>Complaints filed by men have more than tripled in recent years</a:t>
            </a:r>
          </a:p>
          <a:p>
            <a:pPr lvl="1">
              <a:buFont typeface="Symbol" pitchFamily="2" charset="2"/>
              <a:buChar char=""/>
            </a:pPr>
            <a:endParaRPr lang="en-US" altLang="fr-EG" sz="2000"/>
          </a:p>
        </p:txBody>
      </p:sp>
    </p:spTree>
    <p:extLst>
      <p:ext uri="{BB962C8B-B14F-4D97-AF65-F5344CB8AC3E}">
        <p14:creationId xmlns:p14="http://schemas.microsoft.com/office/powerpoint/2010/main" val="1829220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61" name="Rectangle 15">
            <a:extLst>
              <a:ext uri="{FF2B5EF4-FFF2-40B4-BE49-F238E27FC236}">
                <a16:creationId xmlns:a16="http://schemas.microsoft.com/office/drawing/2014/main" id="{F4A4EE4C-CF93-9D4D-996F-4A0B08204EFC}"/>
              </a:ext>
            </a:extLst>
          </p:cNvPr>
          <p:cNvSpPr>
            <a:spLocks noGrp="1" noChangeArrowheads="1"/>
          </p:cNvSpPr>
          <p:nvPr>
            <p:ph type="title"/>
          </p:nvPr>
        </p:nvSpPr>
        <p:spPr>
          <a:xfrm>
            <a:off x="1000452" y="1610024"/>
            <a:ext cx="3058621" cy="1457002"/>
          </a:xfrm>
        </p:spPr>
        <p:txBody>
          <a:bodyPr vert="horz" lIns="91440" tIns="45720" rIns="91440" bIns="45720" rtlCol="0" anchor="b">
            <a:normAutofit fontScale="90000"/>
          </a:bodyPr>
          <a:lstStyle/>
          <a:p>
            <a:r>
              <a:rPr lang="en-US" altLang="fr-EG" sz="4000" b="1"/>
              <a:t>HARASSMENT AND THE LAW</a:t>
            </a:r>
            <a:endParaRPr lang="en-US" altLang="fr-EG" sz="4000"/>
          </a:p>
        </p:txBody>
      </p:sp>
      <p:grpSp>
        <p:nvGrpSpPr>
          <p:cNvPr id="74" name="Group 73">
            <a:extLst>
              <a:ext uri="{FF2B5EF4-FFF2-40B4-BE49-F238E27FC236}">
                <a16:creationId xmlns:a16="http://schemas.microsoft.com/office/drawing/2014/main" id="{770AE191-D2EA-45C9-A44D-830C188F74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2021" y="518649"/>
            <a:ext cx="1128382" cy="847206"/>
            <a:chOff x="8183879" y="1000124"/>
            <a:chExt cx="1562267" cy="1172973"/>
          </a:xfrm>
        </p:grpSpPr>
        <p:sp>
          <p:nvSpPr>
            <p:cNvPr id="75" name="Freeform 5">
              <a:extLst>
                <a:ext uri="{FF2B5EF4-FFF2-40B4-BE49-F238E27FC236}">
                  <a16:creationId xmlns:a16="http://schemas.microsoft.com/office/drawing/2014/main" id="{23A0E4C1-B7A6-4637-AC51-4A5AE3841F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3879"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76" name="Freeform 5">
              <a:extLst>
                <a:ext uri="{FF2B5EF4-FFF2-40B4-BE49-F238E27FC236}">
                  <a16:creationId xmlns:a16="http://schemas.microsoft.com/office/drawing/2014/main" id="{F4E8C039-CC58-44F3-8A7B-E0A934C1D0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83979"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15362" name="Rectangle 16">
            <a:extLst>
              <a:ext uri="{FF2B5EF4-FFF2-40B4-BE49-F238E27FC236}">
                <a16:creationId xmlns:a16="http://schemas.microsoft.com/office/drawing/2014/main" id="{8A06508D-A0EA-4D4A-974B-F90F605F3A91}"/>
              </a:ext>
            </a:extLst>
          </p:cNvPr>
          <p:cNvSpPr>
            <a:spLocks noGrp="1" noChangeArrowheads="1"/>
          </p:cNvSpPr>
          <p:nvPr>
            <p:ph type="body" sz="half" idx="1"/>
          </p:nvPr>
        </p:nvSpPr>
        <p:spPr>
          <a:xfrm>
            <a:off x="1000450" y="3067026"/>
            <a:ext cx="3058623" cy="3272324"/>
          </a:xfrm>
        </p:spPr>
        <p:txBody>
          <a:bodyPr vert="horz" lIns="91440" tIns="45720" rIns="91440" bIns="45720" rtlCol="0" anchor="t">
            <a:normAutofit/>
          </a:bodyPr>
          <a:lstStyle/>
          <a:p>
            <a:pPr lvl="1"/>
            <a:r>
              <a:rPr lang="en-US" altLang="fr-EG" sz="2000"/>
              <a:t>Title VII</a:t>
            </a:r>
          </a:p>
          <a:p>
            <a:pPr lvl="1"/>
            <a:r>
              <a:rPr lang="en-US" altLang="fr-EG" sz="2000"/>
              <a:t>The courts</a:t>
            </a:r>
          </a:p>
          <a:p>
            <a:pPr lvl="1"/>
            <a:r>
              <a:rPr lang="en-US" altLang="fr-EG" sz="2000"/>
              <a:t>State law</a:t>
            </a:r>
          </a:p>
          <a:p>
            <a:pPr lvl="1"/>
            <a:r>
              <a:rPr lang="en-US" altLang="fr-EG" sz="2000"/>
              <a:t>Equal Employment Opportunity Commission (EEOC)</a:t>
            </a:r>
          </a:p>
          <a:p>
            <a:pPr marL="0"/>
            <a:endParaRPr lang="en-US" altLang="fr-EG" sz="2000"/>
          </a:p>
        </p:txBody>
      </p:sp>
      <p:pic>
        <p:nvPicPr>
          <p:cNvPr id="15363" name="Picture 28">
            <a:extLst>
              <a:ext uri="{FF2B5EF4-FFF2-40B4-BE49-F238E27FC236}">
                <a16:creationId xmlns:a16="http://schemas.microsoft.com/office/drawing/2014/main" id="{CC3D39A8-5C70-C440-BD09-F48ED8098FB6}"/>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t="14593" r="2" b="26179"/>
          <a:stretch/>
        </p:blipFill>
        <p:spPr>
          <a:xfrm>
            <a:off x="4636963" y="10"/>
            <a:ext cx="7555037" cy="6857990"/>
          </a:xfrm>
          <a:prstGeom prst="rect">
            <a:avLst/>
          </a:prstGeom>
          <a:noFill/>
        </p:spPr>
      </p:pic>
    </p:spTree>
    <p:extLst>
      <p:ext uri="{BB962C8B-B14F-4D97-AF65-F5344CB8AC3E}">
        <p14:creationId xmlns:p14="http://schemas.microsoft.com/office/powerpoint/2010/main" val="1771701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19">
            <a:extLst>
              <a:ext uri="{FF2B5EF4-FFF2-40B4-BE49-F238E27FC236}">
                <a16:creationId xmlns:a16="http://schemas.microsoft.com/office/drawing/2014/main" id="{ADD84F74-553C-6344-9574-3D6EACAD4A3A}"/>
              </a:ext>
            </a:extLst>
          </p:cNvPr>
          <p:cNvSpPr>
            <a:spLocks noGrp="1" noChangeArrowheads="1"/>
          </p:cNvSpPr>
          <p:nvPr>
            <p:ph type="title"/>
          </p:nvPr>
        </p:nvSpPr>
        <p:spPr/>
        <p:txBody>
          <a:bodyPr rtlCol="0">
            <a:normAutofit/>
          </a:bodyPr>
          <a:lstStyle/>
          <a:p>
            <a:pPr algn="ctr">
              <a:defRPr/>
            </a:pPr>
            <a:r>
              <a:rPr lang="en-US" altLang="fr-EG" b="1" dirty="0">
                <a:solidFill>
                  <a:schemeClr val="tx1"/>
                </a:solidFill>
              </a:rPr>
              <a:t>HARASSMENT AND THE LAW (cont.)</a:t>
            </a:r>
            <a:endParaRPr lang="en-US" altLang="fr-EG" dirty="0"/>
          </a:p>
        </p:txBody>
      </p:sp>
      <p:sp>
        <p:nvSpPr>
          <p:cNvPr id="17410" name="Rectangle 20">
            <a:extLst>
              <a:ext uri="{FF2B5EF4-FFF2-40B4-BE49-F238E27FC236}">
                <a16:creationId xmlns:a16="http://schemas.microsoft.com/office/drawing/2014/main" id="{CF1230BC-BEA1-3843-853B-D3982EBBAFE4}"/>
              </a:ext>
            </a:extLst>
          </p:cNvPr>
          <p:cNvSpPr>
            <a:spLocks noGrp="1" noChangeArrowheads="1"/>
          </p:cNvSpPr>
          <p:nvPr>
            <p:ph type="body" sz="half" idx="1"/>
          </p:nvPr>
        </p:nvSpPr>
        <p:spPr/>
        <p:txBody>
          <a:bodyPr/>
          <a:lstStyle/>
          <a:p>
            <a:pPr marL="0" indent="0">
              <a:buNone/>
            </a:pPr>
            <a:r>
              <a:rPr lang="en-US" altLang="fr-EG" sz="2400"/>
              <a:t>EEOC defines sexual harassment as sexual </a:t>
            </a:r>
            <a:br>
              <a:rPr lang="en-US" altLang="fr-EG" sz="2400"/>
            </a:br>
            <a:r>
              <a:rPr lang="en-US" altLang="fr-EG" sz="2400"/>
              <a:t>conduct that is:</a:t>
            </a:r>
          </a:p>
          <a:p>
            <a:pPr lvl="1"/>
            <a:r>
              <a:rPr lang="en-US" altLang="fr-EG"/>
              <a:t>Unwelcome</a:t>
            </a:r>
          </a:p>
          <a:p>
            <a:pPr lvl="1"/>
            <a:r>
              <a:rPr lang="en-US" altLang="fr-EG"/>
              <a:t>Harmful</a:t>
            </a:r>
          </a:p>
          <a:p>
            <a:pPr lvl="1"/>
            <a:r>
              <a:rPr lang="en-US" altLang="fr-EG"/>
              <a:t>Illegal</a:t>
            </a:r>
          </a:p>
        </p:txBody>
      </p:sp>
      <p:pic>
        <p:nvPicPr>
          <p:cNvPr id="17411" name="Picture 29" descr="HRTPoldmn hnd wmn shldr4-16">
            <a:extLst>
              <a:ext uri="{FF2B5EF4-FFF2-40B4-BE49-F238E27FC236}">
                <a16:creationId xmlns:a16="http://schemas.microsoft.com/office/drawing/2014/main" id="{ADF49AC8-EECD-C141-B17A-0965F2952541}"/>
              </a:ext>
            </a:extLst>
          </p:cNvPr>
          <p:cNvPicPr>
            <a:picLocks noGrp="1" noChangeAspect="1" noChangeArrowheads="1"/>
          </p:cNvPicPr>
          <p:nvPr>
            <p:ph type="clipArt" sz="half" idx="2"/>
          </p:nvPr>
        </p:nvPicPr>
        <p:blipFill>
          <a:blip r:embed="rId3">
            <a:extLst>
              <a:ext uri="{28A0092B-C50C-407E-A947-70E740481C1C}">
                <a14:useLocalDpi xmlns:a14="http://schemas.microsoft.com/office/drawing/2010/main" val="0"/>
              </a:ext>
            </a:extLst>
          </a:blip>
          <a:srcRect/>
          <a:stretch>
            <a:fillRect/>
          </a:stretch>
        </p:blipFill>
        <p:spPr>
          <a:xfrm>
            <a:off x="6921500" y="2089150"/>
            <a:ext cx="2730500" cy="4127500"/>
          </a:xfrm>
          <a:noFill/>
          <a:ln>
            <a:solidFill>
              <a:schemeClr val="tx1"/>
            </a:solidFill>
            <a:miter lim="800000"/>
            <a:headEnd/>
            <a:tailEnd/>
          </a:ln>
        </p:spPr>
      </p:pic>
    </p:spTree>
    <p:extLst>
      <p:ext uri="{BB962C8B-B14F-4D97-AF65-F5344CB8AC3E}">
        <p14:creationId xmlns:p14="http://schemas.microsoft.com/office/powerpoint/2010/main" val="33531418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122F9423-F4B1-45D4-8445-E9991ECCB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54" name="Rectangle 12">
            <a:extLst>
              <a:ext uri="{FF2B5EF4-FFF2-40B4-BE49-F238E27FC236}">
                <a16:creationId xmlns:a16="http://schemas.microsoft.com/office/drawing/2014/main" id="{21CF9FBD-C17E-DE48-ABFA-51D1F4C2B4A5}"/>
              </a:ext>
            </a:extLst>
          </p:cNvPr>
          <p:cNvSpPr>
            <a:spLocks noGrp="1" noChangeArrowheads="1"/>
          </p:cNvSpPr>
          <p:nvPr>
            <p:ph type="title"/>
          </p:nvPr>
        </p:nvSpPr>
        <p:spPr>
          <a:xfrm>
            <a:off x="1000451" y="1610024"/>
            <a:ext cx="5568995" cy="1457002"/>
          </a:xfrm>
        </p:spPr>
        <p:txBody>
          <a:bodyPr vert="horz" lIns="91440" tIns="45720" rIns="91440" bIns="45720" rtlCol="0" anchor="b">
            <a:normAutofit/>
          </a:bodyPr>
          <a:lstStyle/>
          <a:p>
            <a:pPr>
              <a:defRPr/>
            </a:pPr>
            <a:r>
              <a:rPr lang="en-US" altLang="fr-EG" b="1"/>
              <a:t>IS THIS SEXUAL HARASSMENT?</a:t>
            </a:r>
            <a:endParaRPr lang="en-US" altLang="fr-EG"/>
          </a:p>
        </p:txBody>
      </p:sp>
      <p:grpSp>
        <p:nvGrpSpPr>
          <p:cNvPr id="138" name="Group 137">
            <a:extLst>
              <a:ext uri="{FF2B5EF4-FFF2-40B4-BE49-F238E27FC236}">
                <a16:creationId xmlns:a16="http://schemas.microsoft.com/office/drawing/2014/main" id="{770AE191-D2EA-45C9-A44D-830C188F74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2021" y="518649"/>
            <a:ext cx="1128382" cy="847206"/>
            <a:chOff x="8183879" y="1000124"/>
            <a:chExt cx="1562267" cy="1172973"/>
          </a:xfrm>
        </p:grpSpPr>
        <p:sp>
          <p:nvSpPr>
            <p:cNvPr id="139" name="Freeform 5">
              <a:extLst>
                <a:ext uri="{FF2B5EF4-FFF2-40B4-BE49-F238E27FC236}">
                  <a16:creationId xmlns:a16="http://schemas.microsoft.com/office/drawing/2014/main" id="{23A0E4C1-B7A6-4637-AC51-4A5AE3841F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3879"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140" name="Freeform 5">
              <a:extLst>
                <a:ext uri="{FF2B5EF4-FFF2-40B4-BE49-F238E27FC236}">
                  <a16:creationId xmlns:a16="http://schemas.microsoft.com/office/drawing/2014/main" id="{F4E8C039-CC58-44F3-8A7B-E0A934C1D0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83979"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23555" name="Rectangle 14">
            <a:extLst>
              <a:ext uri="{FF2B5EF4-FFF2-40B4-BE49-F238E27FC236}">
                <a16:creationId xmlns:a16="http://schemas.microsoft.com/office/drawing/2014/main" id="{918A77B3-2E34-8444-85AB-E7B0FF0E61CA}"/>
              </a:ext>
            </a:extLst>
          </p:cNvPr>
          <p:cNvSpPr>
            <a:spLocks noGrp="1" noChangeArrowheads="1"/>
          </p:cNvSpPr>
          <p:nvPr>
            <p:ph type="body" sz="half" idx="1"/>
          </p:nvPr>
        </p:nvSpPr>
        <p:spPr>
          <a:xfrm>
            <a:off x="1000450" y="3067026"/>
            <a:ext cx="5568991" cy="2968014"/>
          </a:xfrm>
        </p:spPr>
        <p:txBody>
          <a:bodyPr vert="horz" lIns="91440" tIns="45720" rIns="91440" bIns="45720" rtlCol="0" anchor="t">
            <a:normAutofit/>
          </a:bodyPr>
          <a:lstStyle/>
          <a:p>
            <a:pPr lvl="1">
              <a:defRPr/>
            </a:pPr>
            <a:r>
              <a:rPr lang="en-US" altLang="fr-EG" sz="2000"/>
              <a:t>A female employee wears miniskirts</a:t>
            </a:r>
          </a:p>
          <a:p>
            <a:pPr lvl="1">
              <a:defRPr/>
            </a:pPr>
            <a:r>
              <a:rPr lang="en-US" altLang="fr-EG" sz="2000"/>
              <a:t>A female supervisor makes frequent</a:t>
            </a:r>
            <a:br>
              <a:rPr lang="en-US" altLang="fr-EG" sz="2000"/>
            </a:br>
            <a:r>
              <a:rPr lang="en-US" altLang="fr-EG" sz="2000"/>
              <a:t>comments about a male employee’s physique</a:t>
            </a:r>
          </a:p>
          <a:p>
            <a:pPr lvl="1">
              <a:defRPr/>
            </a:pPr>
            <a:r>
              <a:rPr lang="en-US" altLang="fr-EG" sz="2000"/>
              <a:t>A male supervisor makes frequent </a:t>
            </a:r>
            <a:br>
              <a:rPr lang="en-US" altLang="fr-EG" sz="2000"/>
            </a:br>
            <a:r>
              <a:rPr lang="en-US" altLang="fr-EG" sz="2000"/>
              <a:t>comments about a male employee’s physique</a:t>
            </a:r>
          </a:p>
        </p:txBody>
      </p:sp>
      <p:pic>
        <p:nvPicPr>
          <p:cNvPr id="19459" name="Picture 32">
            <a:extLst>
              <a:ext uri="{FF2B5EF4-FFF2-40B4-BE49-F238E27FC236}">
                <a16:creationId xmlns:a16="http://schemas.microsoft.com/office/drawing/2014/main" id="{85588023-27C9-6D4B-89B6-E847C76435BE}"/>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r="-1" b="2202"/>
          <a:stretch/>
        </p:blipFill>
        <p:spPr>
          <a:xfrm>
            <a:off x="7534656" y="10"/>
            <a:ext cx="4657344" cy="6857990"/>
          </a:xfrm>
          <a:prstGeom prst="rect">
            <a:avLst/>
          </a:prstGeom>
          <a:noFill/>
        </p:spPr>
      </p:pic>
    </p:spTree>
    <p:extLst>
      <p:ext uri="{BB962C8B-B14F-4D97-AF65-F5344CB8AC3E}">
        <p14:creationId xmlns:p14="http://schemas.microsoft.com/office/powerpoint/2010/main" val="1494958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5" name="Rectangle 134">
            <a:extLst>
              <a:ext uri="{FF2B5EF4-FFF2-40B4-BE49-F238E27FC236}">
                <a16:creationId xmlns:a16="http://schemas.microsoft.com/office/drawing/2014/main" id="{122F9423-F4B1-45D4-8445-E9991ECCB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78" name="Rectangle 13">
            <a:extLst>
              <a:ext uri="{FF2B5EF4-FFF2-40B4-BE49-F238E27FC236}">
                <a16:creationId xmlns:a16="http://schemas.microsoft.com/office/drawing/2014/main" id="{A456D772-6565-A748-AA6C-C0AD2785D257}"/>
              </a:ext>
            </a:extLst>
          </p:cNvPr>
          <p:cNvSpPr>
            <a:spLocks noGrp="1" noChangeArrowheads="1"/>
          </p:cNvSpPr>
          <p:nvPr>
            <p:ph type="title"/>
          </p:nvPr>
        </p:nvSpPr>
        <p:spPr>
          <a:xfrm>
            <a:off x="1000451" y="1610024"/>
            <a:ext cx="5568995" cy="1457002"/>
          </a:xfrm>
        </p:spPr>
        <p:txBody>
          <a:bodyPr vert="horz" lIns="91440" tIns="45720" rIns="91440" bIns="45720" rtlCol="0" anchor="b">
            <a:normAutofit/>
          </a:bodyPr>
          <a:lstStyle/>
          <a:p>
            <a:pPr>
              <a:defRPr/>
            </a:pPr>
            <a:r>
              <a:rPr lang="en-US" altLang="fr-EG" b="1"/>
              <a:t>IS THIS SEXUAL HARASSMENT? (cont.)</a:t>
            </a:r>
            <a:endParaRPr lang="en-US" altLang="fr-EG"/>
          </a:p>
        </p:txBody>
      </p:sp>
      <p:grpSp>
        <p:nvGrpSpPr>
          <p:cNvPr id="137" name="Group 136">
            <a:extLst>
              <a:ext uri="{FF2B5EF4-FFF2-40B4-BE49-F238E27FC236}">
                <a16:creationId xmlns:a16="http://schemas.microsoft.com/office/drawing/2014/main" id="{770AE191-D2EA-45C9-A44D-830C188F74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2021" y="518649"/>
            <a:ext cx="1128382" cy="847206"/>
            <a:chOff x="8183879" y="1000124"/>
            <a:chExt cx="1562267" cy="1172973"/>
          </a:xfrm>
        </p:grpSpPr>
        <p:sp>
          <p:nvSpPr>
            <p:cNvPr id="138" name="Freeform 5">
              <a:extLst>
                <a:ext uri="{FF2B5EF4-FFF2-40B4-BE49-F238E27FC236}">
                  <a16:creationId xmlns:a16="http://schemas.microsoft.com/office/drawing/2014/main" id="{23A0E4C1-B7A6-4637-AC51-4A5AE3841F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3879"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139" name="Freeform 5">
              <a:extLst>
                <a:ext uri="{FF2B5EF4-FFF2-40B4-BE49-F238E27FC236}">
                  <a16:creationId xmlns:a16="http://schemas.microsoft.com/office/drawing/2014/main" id="{F4E8C039-CC58-44F3-8A7B-E0A934C1D0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83979"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21506" name="Rectangle 14">
            <a:extLst>
              <a:ext uri="{FF2B5EF4-FFF2-40B4-BE49-F238E27FC236}">
                <a16:creationId xmlns:a16="http://schemas.microsoft.com/office/drawing/2014/main" id="{C7537131-A968-B141-B236-D7B04B8E4C97}"/>
              </a:ext>
            </a:extLst>
          </p:cNvPr>
          <p:cNvSpPr>
            <a:spLocks noGrp="1" noChangeArrowheads="1"/>
          </p:cNvSpPr>
          <p:nvPr>
            <p:ph type="body" sz="half" idx="1"/>
          </p:nvPr>
        </p:nvSpPr>
        <p:spPr>
          <a:xfrm>
            <a:off x="1000450" y="3067026"/>
            <a:ext cx="5568991" cy="2968014"/>
          </a:xfrm>
        </p:spPr>
        <p:txBody>
          <a:bodyPr vert="horz" lIns="91440" tIns="45720" rIns="91440" bIns="45720" rtlCol="0" anchor="t">
            <a:normAutofit/>
          </a:bodyPr>
          <a:lstStyle/>
          <a:p>
            <a:pPr lvl="1"/>
            <a:r>
              <a:rPr lang="en-US" altLang="fr-EG" sz="2000"/>
              <a:t>Two co-workers forward each other off-color jokes they receive in e-mails </a:t>
            </a:r>
          </a:p>
          <a:p>
            <a:pPr lvl="1"/>
            <a:r>
              <a:rPr lang="en-US" altLang="fr-EG" sz="2000"/>
              <a:t>An employee asks a co-worker out</a:t>
            </a:r>
          </a:p>
          <a:p>
            <a:pPr lvl="1"/>
            <a:r>
              <a:rPr lang="en-US" altLang="fr-EG" sz="2000"/>
              <a:t>Two co-workers develop a personal</a:t>
            </a:r>
            <a:br>
              <a:rPr lang="en-US" altLang="fr-EG" sz="2000"/>
            </a:br>
            <a:r>
              <a:rPr lang="en-US" altLang="fr-EG" sz="2000"/>
              <a:t>relationship</a:t>
            </a:r>
          </a:p>
        </p:txBody>
      </p:sp>
      <p:pic>
        <p:nvPicPr>
          <p:cNvPr id="21507" name="Picture 27">
            <a:extLst>
              <a:ext uri="{FF2B5EF4-FFF2-40B4-BE49-F238E27FC236}">
                <a16:creationId xmlns:a16="http://schemas.microsoft.com/office/drawing/2014/main" id="{435CFEA7-EE23-D34E-8418-23A0E26E4E9F}"/>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l="27456" r="28232" b="1"/>
          <a:stretch/>
        </p:blipFill>
        <p:spPr>
          <a:xfrm>
            <a:off x="7534656" y="10"/>
            <a:ext cx="4657344" cy="6857990"/>
          </a:xfrm>
          <a:prstGeom prst="rect">
            <a:avLst/>
          </a:prstGeom>
          <a:noFill/>
        </p:spPr>
      </p:pic>
    </p:spTree>
    <p:extLst>
      <p:ext uri="{BB962C8B-B14F-4D97-AF65-F5344CB8AC3E}">
        <p14:creationId xmlns:p14="http://schemas.microsoft.com/office/powerpoint/2010/main" val="1187956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122F9423-F4B1-45D4-8445-E9991ECCB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02" name="Rectangle 12">
            <a:extLst>
              <a:ext uri="{FF2B5EF4-FFF2-40B4-BE49-F238E27FC236}">
                <a16:creationId xmlns:a16="http://schemas.microsoft.com/office/drawing/2014/main" id="{7AF8D1FF-5DAC-EA40-8981-6EDAB5D870E2}"/>
              </a:ext>
            </a:extLst>
          </p:cNvPr>
          <p:cNvSpPr>
            <a:spLocks noGrp="1" noChangeArrowheads="1"/>
          </p:cNvSpPr>
          <p:nvPr>
            <p:ph type="title"/>
          </p:nvPr>
        </p:nvSpPr>
        <p:spPr>
          <a:xfrm>
            <a:off x="1000451" y="1610024"/>
            <a:ext cx="5568995" cy="1457002"/>
          </a:xfrm>
        </p:spPr>
        <p:txBody>
          <a:bodyPr vert="horz" lIns="91440" tIns="45720" rIns="91440" bIns="45720" rtlCol="0" anchor="b">
            <a:normAutofit/>
          </a:bodyPr>
          <a:lstStyle/>
          <a:p>
            <a:pPr>
              <a:defRPr/>
            </a:pPr>
            <a:r>
              <a:rPr lang="en-US" altLang="fr-EG" b="1"/>
              <a:t>IS THIS SEXUAL HARASSMENT? (cont.)</a:t>
            </a:r>
            <a:endParaRPr lang="en-US" altLang="fr-EG"/>
          </a:p>
        </p:txBody>
      </p:sp>
      <p:grpSp>
        <p:nvGrpSpPr>
          <p:cNvPr id="75" name="Group 74">
            <a:extLst>
              <a:ext uri="{FF2B5EF4-FFF2-40B4-BE49-F238E27FC236}">
                <a16:creationId xmlns:a16="http://schemas.microsoft.com/office/drawing/2014/main" id="{770AE191-D2EA-45C9-A44D-830C188F74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2021" y="518649"/>
            <a:ext cx="1128382" cy="847206"/>
            <a:chOff x="8183879" y="1000124"/>
            <a:chExt cx="1562267" cy="1172973"/>
          </a:xfrm>
        </p:grpSpPr>
        <p:sp>
          <p:nvSpPr>
            <p:cNvPr id="76" name="Freeform 5">
              <a:extLst>
                <a:ext uri="{FF2B5EF4-FFF2-40B4-BE49-F238E27FC236}">
                  <a16:creationId xmlns:a16="http://schemas.microsoft.com/office/drawing/2014/main" id="{23A0E4C1-B7A6-4637-AC51-4A5AE3841F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3879"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77" name="Freeform 5">
              <a:extLst>
                <a:ext uri="{FF2B5EF4-FFF2-40B4-BE49-F238E27FC236}">
                  <a16:creationId xmlns:a16="http://schemas.microsoft.com/office/drawing/2014/main" id="{F4E8C039-CC58-44F3-8A7B-E0A934C1D0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83979"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23554" name="Rectangle 13">
            <a:extLst>
              <a:ext uri="{FF2B5EF4-FFF2-40B4-BE49-F238E27FC236}">
                <a16:creationId xmlns:a16="http://schemas.microsoft.com/office/drawing/2014/main" id="{810DC021-E057-5D47-A173-EEB024387209}"/>
              </a:ext>
            </a:extLst>
          </p:cNvPr>
          <p:cNvSpPr>
            <a:spLocks noGrp="1" noChangeArrowheads="1"/>
          </p:cNvSpPr>
          <p:nvPr>
            <p:ph type="body" sz="half" idx="1"/>
          </p:nvPr>
        </p:nvSpPr>
        <p:spPr>
          <a:xfrm>
            <a:off x="1000450" y="3067026"/>
            <a:ext cx="5568991" cy="2968014"/>
          </a:xfrm>
        </p:spPr>
        <p:txBody>
          <a:bodyPr vert="horz" lIns="91440" tIns="45720" rIns="91440" bIns="45720" rtlCol="0" anchor="t">
            <a:normAutofit/>
          </a:bodyPr>
          <a:lstStyle/>
          <a:p>
            <a:pPr lvl="1"/>
            <a:r>
              <a:rPr lang="en-US" altLang="fr-EG" sz="2000"/>
              <a:t>An employee posts a swimsuit calendar in his work area</a:t>
            </a:r>
          </a:p>
          <a:p>
            <a:pPr lvl="1"/>
            <a:r>
              <a:rPr lang="en-US" altLang="fr-EG" sz="2000"/>
              <a:t>An employee posts a male pinup in her work area </a:t>
            </a:r>
          </a:p>
          <a:p>
            <a:pPr lvl="1"/>
            <a:r>
              <a:rPr lang="en-US" altLang="fr-EG" sz="2000"/>
              <a:t>A good customer makes provocative comments to employees</a:t>
            </a:r>
          </a:p>
        </p:txBody>
      </p:sp>
      <p:pic>
        <p:nvPicPr>
          <p:cNvPr id="23555" name="Picture 17">
            <a:extLst>
              <a:ext uri="{FF2B5EF4-FFF2-40B4-BE49-F238E27FC236}">
                <a16:creationId xmlns:a16="http://schemas.microsoft.com/office/drawing/2014/main" id="{B53EB553-70A4-2340-956A-509147840808}"/>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l="17508" r="37670" b="-1"/>
          <a:stretch/>
        </p:blipFill>
        <p:spPr>
          <a:xfrm>
            <a:off x="7534656" y="10"/>
            <a:ext cx="4657344" cy="6857990"/>
          </a:xfrm>
          <a:prstGeom prst="rect">
            <a:avLst/>
          </a:prstGeom>
          <a:noFill/>
        </p:spPr>
      </p:pic>
    </p:spTree>
    <p:extLst>
      <p:ext uri="{BB962C8B-B14F-4D97-AF65-F5344CB8AC3E}">
        <p14:creationId xmlns:p14="http://schemas.microsoft.com/office/powerpoint/2010/main" val="3161533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122F9423-F4B1-45D4-8445-E9991ECCB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01" name="Rectangle 12">
            <a:extLst>
              <a:ext uri="{FF2B5EF4-FFF2-40B4-BE49-F238E27FC236}">
                <a16:creationId xmlns:a16="http://schemas.microsoft.com/office/drawing/2014/main" id="{7D85D9AB-A4BD-5B40-91FE-37FDDDAEE21E}"/>
              </a:ext>
            </a:extLst>
          </p:cNvPr>
          <p:cNvSpPr>
            <a:spLocks noGrp="1" noChangeArrowheads="1"/>
          </p:cNvSpPr>
          <p:nvPr>
            <p:ph type="title"/>
          </p:nvPr>
        </p:nvSpPr>
        <p:spPr>
          <a:xfrm>
            <a:off x="1000451" y="1610024"/>
            <a:ext cx="5568995" cy="1457002"/>
          </a:xfrm>
        </p:spPr>
        <p:txBody>
          <a:bodyPr vert="horz" lIns="91440" tIns="45720" rIns="91440" bIns="45720" rtlCol="0" anchor="b">
            <a:normAutofit/>
          </a:bodyPr>
          <a:lstStyle/>
          <a:p>
            <a:r>
              <a:rPr lang="en-US" altLang="fr-EG" b="1"/>
              <a:t>ECONOMIC HARASSMENT</a:t>
            </a:r>
            <a:endParaRPr lang="en-US" altLang="fr-EG"/>
          </a:p>
        </p:txBody>
      </p:sp>
      <p:grpSp>
        <p:nvGrpSpPr>
          <p:cNvPr id="74" name="Group 73">
            <a:extLst>
              <a:ext uri="{FF2B5EF4-FFF2-40B4-BE49-F238E27FC236}">
                <a16:creationId xmlns:a16="http://schemas.microsoft.com/office/drawing/2014/main" id="{770AE191-D2EA-45C9-A44D-830C188F74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2021" y="518649"/>
            <a:ext cx="1128382" cy="847206"/>
            <a:chOff x="8183879" y="1000124"/>
            <a:chExt cx="1562267" cy="1172973"/>
          </a:xfrm>
        </p:grpSpPr>
        <p:sp>
          <p:nvSpPr>
            <p:cNvPr id="75" name="Freeform 5">
              <a:extLst>
                <a:ext uri="{FF2B5EF4-FFF2-40B4-BE49-F238E27FC236}">
                  <a16:creationId xmlns:a16="http://schemas.microsoft.com/office/drawing/2014/main" id="{23A0E4C1-B7A6-4637-AC51-4A5AE3841F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3879"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76" name="Freeform 5">
              <a:extLst>
                <a:ext uri="{FF2B5EF4-FFF2-40B4-BE49-F238E27FC236}">
                  <a16:creationId xmlns:a16="http://schemas.microsoft.com/office/drawing/2014/main" id="{F4E8C039-CC58-44F3-8A7B-E0A934C1D0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83979"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25602" name="Rectangle 13">
            <a:extLst>
              <a:ext uri="{FF2B5EF4-FFF2-40B4-BE49-F238E27FC236}">
                <a16:creationId xmlns:a16="http://schemas.microsoft.com/office/drawing/2014/main" id="{E853048A-69DF-C947-BC89-F15B2115AE23}"/>
              </a:ext>
            </a:extLst>
          </p:cNvPr>
          <p:cNvSpPr>
            <a:spLocks noGrp="1" noChangeArrowheads="1"/>
          </p:cNvSpPr>
          <p:nvPr>
            <p:ph type="body" sz="half" idx="1"/>
          </p:nvPr>
        </p:nvSpPr>
        <p:spPr>
          <a:xfrm>
            <a:off x="1000450" y="3067026"/>
            <a:ext cx="5568991" cy="2968014"/>
          </a:xfrm>
        </p:spPr>
        <p:txBody>
          <a:bodyPr vert="horz" lIns="91440" tIns="45720" rIns="91440" bIns="45720" rtlCol="0" anchor="t">
            <a:normAutofit/>
          </a:bodyPr>
          <a:lstStyle/>
          <a:p>
            <a:pPr lvl="1"/>
            <a:r>
              <a:rPr lang="en-US" altLang="fr-EG" sz="2000"/>
              <a:t>Quid pro quo or economic harassment</a:t>
            </a:r>
          </a:p>
          <a:p>
            <a:pPr lvl="1"/>
            <a:r>
              <a:rPr lang="en-US" altLang="fr-EG" sz="2000"/>
              <a:t>Automatic liability</a:t>
            </a:r>
          </a:p>
          <a:p>
            <a:pPr lvl="1"/>
            <a:r>
              <a:rPr lang="en-US" altLang="fr-EG" sz="2000"/>
              <a:t>Tangible employment action must actually </a:t>
            </a:r>
            <a:br>
              <a:rPr lang="en-US" altLang="fr-EG" sz="2000"/>
            </a:br>
            <a:r>
              <a:rPr lang="en-US" altLang="fr-EG" sz="2000"/>
              <a:t>occur</a:t>
            </a:r>
          </a:p>
          <a:p>
            <a:pPr marL="0"/>
            <a:endParaRPr lang="en-US" altLang="fr-EG" sz="2000"/>
          </a:p>
        </p:txBody>
      </p:sp>
      <p:pic>
        <p:nvPicPr>
          <p:cNvPr id="25603" name="Picture 21">
            <a:extLst>
              <a:ext uri="{FF2B5EF4-FFF2-40B4-BE49-F238E27FC236}">
                <a16:creationId xmlns:a16="http://schemas.microsoft.com/office/drawing/2014/main" id="{35E50BFD-1A88-C944-B10F-0FF6D9134907}"/>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l="17093" r="14996"/>
          <a:stretch/>
        </p:blipFill>
        <p:spPr>
          <a:xfrm>
            <a:off x="7534656" y="10"/>
            <a:ext cx="4657344" cy="6857990"/>
          </a:xfrm>
          <a:prstGeom prst="rect">
            <a:avLst/>
          </a:prstGeom>
          <a:noFill/>
        </p:spPr>
      </p:pic>
    </p:spTree>
    <p:extLst>
      <p:ext uri="{BB962C8B-B14F-4D97-AF65-F5344CB8AC3E}">
        <p14:creationId xmlns:p14="http://schemas.microsoft.com/office/powerpoint/2010/main" val="5174523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49" name="Rectangle 6">
            <a:extLst>
              <a:ext uri="{FF2B5EF4-FFF2-40B4-BE49-F238E27FC236}">
                <a16:creationId xmlns:a16="http://schemas.microsoft.com/office/drawing/2014/main" id="{7E14CB18-28C8-734D-9E76-0A6799C406B0}"/>
              </a:ext>
            </a:extLst>
          </p:cNvPr>
          <p:cNvSpPr>
            <a:spLocks noGrp="1" noChangeArrowheads="1"/>
          </p:cNvSpPr>
          <p:nvPr>
            <p:ph type="title"/>
          </p:nvPr>
        </p:nvSpPr>
        <p:spPr>
          <a:xfrm>
            <a:off x="1000452" y="1610024"/>
            <a:ext cx="3058621" cy="1457002"/>
          </a:xfrm>
        </p:spPr>
        <p:txBody>
          <a:bodyPr vert="horz" lIns="91440" tIns="45720" rIns="91440" bIns="45720" rtlCol="0" anchor="b">
            <a:normAutofit fontScale="90000"/>
          </a:bodyPr>
          <a:lstStyle/>
          <a:p>
            <a:r>
              <a:rPr lang="en-US" altLang="fr-EG" sz="3700" b="1"/>
              <a:t>HOSTILE WORK ENVIRONMENT</a:t>
            </a:r>
            <a:endParaRPr lang="en-US" altLang="fr-EG" sz="3700"/>
          </a:p>
        </p:txBody>
      </p:sp>
      <p:grpSp>
        <p:nvGrpSpPr>
          <p:cNvPr id="74" name="Group 73">
            <a:extLst>
              <a:ext uri="{FF2B5EF4-FFF2-40B4-BE49-F238E27FC236}">
                <a16:creationId xmlns:a16="http://schemas.microsoft.com/office/drawing/2014/main" id="{770AE191-D2EA-45C9-A44D-830C188F74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2021" y="518649"/>
            <a:ext cx="1128382" cy="847206"/>
            <a:chOff x="8183879" y="1000124"/>
            <a:chExt cx="1562267" cy="1172973"/>
          </a:xfrm>
        </p:grpSpPr>
        <p:sp>
          <p:nvSpPr>
            <p:cNvPr id="75" name="Freeform 5">
              <a:extLst>
                <a:ext uri="{FF2B5EF4-FFF2-40B4-BE49-F238E27FC236}">
                  <a16:creationId xmlns:a16="http://schemas.microsoft.com/office/drawing/2014/main" id="{23A0E4C1-B7A6-4637-AC51-4A5AE3841F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3879"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76" name="Freeform 5">
              <a:extLst>
                <a:ext uri="{FF2B5EF4-FFF2-40B4-BE49-F238E27FC236}">
                  <a16:creationId xmlns:a16="http://schemas.microsoft.com/office/drawing/2014/main" id="{F4E8C039-CC58-44F3-8A7B-E0A934C1D0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83979"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27650" name="Rectangle 8">
            <a:extLst>
              <a:ext uri="{FF2B5EF4-FFF2-40B4-BE49-F238E27FC236}">
                <a16:creationId xmlns:a16="http://schemas.microsoft.com/office/drawing/2014/main" id="{6C5A8948-C525-1E4F-9CB5-B491B6A34050}"/>
              </a:ext>
            </a:extLst>
          </p:cNvPr>
          <p:cNvSpPr>
            <a:spLocks noGrp="1" noChangeArrowheads="1"/>
          </p:cNvSpPr>
          <p:nvPr>
            <p:ph type="body" sz="half" idx="1"/>
          </p:nvPr>
        </p:nvSpPr>
        <p:spPr>
          <a:xfrm>
            <a:off x="1000450" y="3067026"/>
            <a:ext cx="3058623" cy="3272324"/>
          </a:xfrm>
        </p:spPr>
        <p:txBody>
          <a:bodyPr vert="horz" lIns="91440" tIns="45720" rIns="91440" bIns="45720" rtlCol="0" anchor="t">
            <a:normAutofit/>
          </a:bodyPr>
          <a:lstStyle/>
          <a:p>
            <a:pPr lvl="1"/>
            <a:r>
              <a:rPr lang="en-US" altLang="fr-EG" sz="2000"/>
              <a:t>Severe or pervasive conduct (or both)</a:t>
            </a:r>
          </a:p>
          <a:p>
            <a:pPr lvl="1"/>
            <a:r>
              <a:rPr lang="en-US" altLang="fr-EG" sz="2000"/>
              <a:t>Intimidating, hostile, or offensive displays</a:t>
            </a:r>
          </a:p>
        </p:txBody>
      </p:sp>
      <p:pic>
        <p:nvPicPr>
          <p:cNvPr id="27651" name="Picture 21">
            <a:extLst>
              <a:ext uri="{FF2B5EF4-FFF2-40B4-BE49-F238E27FC236}">
                <a16:creationId xmlns:a16="http://schemas.microsoft.com/office/drawing/2014/main" id="{9290B27C-90F4-7A48-BDB4-9C5790E883EB}"/>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r="2" b="13044"/>
          <a:stretch/>
        </p:blipFill>
        <p:spPr>
          <a:xfrm>
            <a:off x="4636963" y="10"/>
            <a:ext cx="7555037" cy="6857990"/>
          </a:xfrm>
          <a:prstGeom prst="rect">
            <a:avLst/>
          </a:prstGeom>
          <a:noFill/>
        </p:spPr>
      </p:pic>
    </p:spTree>
    <p:extLst>
      <p:ext uri="{BB962C8B-B14F-4D97-AF65-F5344CB8AC3E}">
        <p14:creationId xmlns:p14="http://schemas.microsoft.com/office/powerpoint/2010/main" val="20884214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122F9423-F4B1-45D4-8445-E9991ECCB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98" name="Rectangle 2">
            <a:extLst>
              <a:ext uri="{FF2B5EF4-FFF2-40B4-BE49-F238E27FC236}">
                <a16:creationId xmlns:a16="http://schemas.microsoft.com/office/drawing/2014/main" id="{3E9F5664-9D85-2348-94AD-9CDD431CEC1B}"/>
              </a:ext>
            </a:extLst>
          </p:cNvPr>
          <p:cNvSpPr>
            <a:spLocks noGrp="1" noChangeArrowheads="1"/>
          </p:cNvSpPr>
          <p:nvPr>
            <p:ph type="title"/>
          </p:nvPr>
        </p:nvSpPr>
        <p:spPr>
          <a:xfrm>
            <a:off x="1000451" y="1610024"/>
            <a:ext cx="5568995" cy="1457002"/>
          </a:xfrm>
        </p:spPr>
        <p:txBody>
          <a:bodyPr vert="horz" lIns="91440" tIns="45720" rIns="91440" bIns="45720" rtlCol="0" anchor="b">
            <a:normAutofit/>
          </a:bodyPr>
          <a:lstStyle/>
          <a:p>
            <a:pPr>
              <a:defRPr/>
            </a:pPr>
            <a:r>
              <a:rPr lang="en-US" altLang="fr-EG" b="1"/>
              <a:t>HOSTILE WORK ENVIRONMENT (cont.)</a:t>
            </a:r>
            <a:endParaRPr lang="en-US" altLang="fr-EG"/>
          </a:p>
        </p:txBody>
      </p:sp>
      <p:grpSp>
        <p:nvGrpSpPr>
          <p:cNvPr id="74" name="Group 73">
            <a:extLst>
              <a:ext uri="{FF2B5EF4-FFF2-40B4-BE49-F238E27FC236}">
                <a16:creationId xmlns:a16="http://schemas.microsoft.com/office/drawing/2014/main" id="{770AE191-D2EA-45C9-A44D-830C188F74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2021" y="518649"/>
            <a:ext cx="1128382" cy="847206"/>
            <a:chOff x="8183879" y="1000124"/>
            <a:chExt cx="1562267" cy="1172973"/>
          </a:xfrm>
        </p:grpSpPr>
        <p:sp>
          <p:nvSpPr>
            <p:cNvPr id="75" name="Freeform 5">
              <a:extLst>
                <a:ext uri="{FF2B5EF4-FFF2-40B4-BE49-F238E27FC236}">
                  <a16:creationId xmlns:a16="http://schemas.microsoft.com/office/drawing/2014/main" id="{23A0E4C1-B7A6-4637-AC51-4A5AE3841F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3879"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76" name="Freeform 5">
              <a:extLst>
                <a:ext uri="{FF2B5EF4-FFF2-40B4-BE49-F238E27FC236}">
                  <a16:creationId xmlns:a16="http://schemas.microsoft.com/office/drawing/2014/main" id="{F4E8C039-CC58-44F3-8A7B-E0A934C1D0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83979"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29699" name="Rectangle 3">
            <a:extLst>
              <a:ext uri="{FF2B5EF4-FFF2-40B4-BE49-F238E27FC236}">
                <a16:creationId xmlns:a16="http://schemas.microsoft.com/office/drawing/2014/main" id="{7D87028C-329A-1C49-8EC3-86F57B2A7D79}"/>
              </a:ext>
            </a:extLst>
          </p:cNvPr>
          <p:cNvSpPr>
            <a:spLocks noGrp="1" noChangeArrowheads="1"/>
          </p:cNvSpPr>
          <p:nvPr>
            <p:ph type="body" sz="half" idx="1"/>
          </p:nvPr>
        </p:nvSpPr>
        <p:spPr>
          <a:xfrm>
            <a:off x="1000450" y="3067026"/>
            <a:ext cx="5568991" cy="2968014"/>
          </a:xfrm>
        </p:spPr>
        <p:txBody>
          <a:bodyPr vert="horz" lIns="91440" tIns="45720" rIns="91440" bIns="45720" rtlCol="0" anchor="t">
            <a:normAutofit/>
          </a:bodyPr>
          <a:lstStyle/>
          <a:p>
            <a:pPr marL="0">
              <a:defRPr/>
            </a:pPr>
            <a:r>
              <a:rPr lang="en-US" altLang="fr-EG" sz="2000"/>
              <a:t>Examples include:</a:t>
            </a:r>
          </a:p>
          <a:p>
            <a:pPr lvl="1">
              <a:defRPr/>
            </a:pPr>
            <a:r>
              <a:rPr lang="en-US" altLang="fr-EG" sz="2000"/>
              <a:t>Sexually explicit pictures, calendars, graffiti, or objects</a:t>
            </a:r>
          </a:p>
          <a:p>
            <a:pPr lvl="1">
              <a:defRPr/>
            </a:pPr>
            <a:r>
              <a:rPr lang="en-US" altLang="fr-EG" sz="2000"/>
              <a:t>Regularly:</a:t>
            </a:r>
          </a:p>
          <a:p>
            <a:pPr lvl="2">
              <a:defRPr/>
            </a:pPr>
            <a:r>
              <a:rPr lang="en-US" altLang="fr-EG" dirty="0"/>
              <a:t>Using dirty words</a:t>
            </a:r>
            <a:endParaRPr lang="en-US" altLang="fr-EG"/>
          </a:p>
          <a:p>
            <a:pPr lvl="2">
              <a:defRPr/>
            </a:pPr>
            <a:r>
              <a:rPr lang="en-US" altLang="fr-EG" dirty="0"/>
              <a:t>Making sexual jokes</a:t>
            </a:r>
            <a:endParaRPr lang="en-US" altLang="fr-EG"/>
          </a:p>
          <a:p>
            <a:pPr lvl="2">
              <a:defRPr/>
            </a:pPr>
            <a:r>
              <a:rPr lang="en-US" altLang="fr-EG" dirty="0"/>
              <a:t>Using obscene gestures</a:t>
            </a:r>
            <a:endParaRPr lang="en-US" altLang="fr-EG"/>
          </a:p>
          <a:p>
            <a:pPr lvl="2">
              <a:defRPr/>
            </a:pPr>
            <a:r>
              <a:rPr lang="en-US" altLang="fr-EG" dirty="0"/>
              <a:t>Making rude comments of a sexual nature</a:t>
            </a:r>
            <a:endParaRPr lang="en-US" altLang="fr-EG"/>
          </a:p>
        </p:txBody>
      </p:sp>
      <p:pic>
        <p:nvPicPr>
          <p:cNvPr id="2" name="Picture 5" descr="sex harass hardhats man woman">
            <a:extLst>
              <a:ext uri="{FF2B5EF4-FFF2-40B4-BE49-F238E27FC236}">
                <a16:creationId xmlns:a16="http://schemas.microsoft.com/office/drawing/2014/main" id="{30418C8D-C37D-484A-865E-5F7EB21F3F38}"/>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r="27946"/>
          <a:stretch/>
        </p:blipFill>
        <p:spPr>
          <a:xfrm>
            <a:off x="7534656" y="10"/>
            <a:ext cx="4657344" cy="6857990"/>
          </a:xfrm>
          <a:prstGeom prst="rect">
            <a:avLst/>
          </a:prstGeom>
        </p:spPr>
      </p:pic>
    </p:spTree>
    <p:extLst>
      <p:ext uri="{BB962C8B-B14F-4D97-AF65-F5344CB8AC3E}">
        <p14:creationId xmlns:p14="http://schemas.microsoft.com/office/powerpoint/2010/main" val="2212928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3FF53F82-20E0-4E43-A5CE-B3E591E925DB}"/>
              </a:ext>
            </a:extLst>
          </p:cNvPr>
          <p:cNvSpPr>
            <a:spLocks noGrp="1" noChangeArrowheads="1"/>
          </p:cNvSpPr>
          <p:nvPr>
            <p:ph type="title"/>
          </p:nvPr>
        </p:nvSpPr>
        <p:spPr/>
        <p:txBody>
          <a:bodyPr/>
          <a:lstStyle/>
          <a:p>
            <a:pPr algn="ctr"/>
            <a:r>
              <a:rPr lang="en-US" altLang="fr-EG" sz="4000" b="1"/>
              <a:t>ECONOMIC HARASSMENT OR HOSTILE WORK ENVIRONMENT?</a:t>
            </a:r>
            <a:endParaRPr lang="en-US" altLang="fr-EG" sz="4000"/>
          </a:p>
        </p:txBody>
      </p:sp>
      <p:sp>
        <p:nvSpPr>
          <p:cNvPr id="112643" name="Rectangle 3">
            <a:extLst>
              <a:ext uri="{FF2B5EF4-FFF2-40B4-BE49-F238E27FC236}">
                <a16:creationId xmlns:a16="http://schemas.microsoft.com/office/drawing/2014/main" id="{7FE14AA1-9E51-6A48-8704-294D31DC0E55}"/>
              </a:ext>
            </a:extLst>
          </p:cNvPr>
          <p:cNvSpPr>
            <a:spLocks noGrp="1" noChangeArrowheads="1"/>
          </p:cNvSpPr>
          <p:nvPr>
            <p:ph idx="1"/>
          </p:nvPr>
        </p:nvSpPr>
        <p:spPr>
          <a:xfrm>
            <a:off x="2654300" y="2235200"/>
            <a:ext cx="7340600" cy="3251200"/>
          </a:xfrm>
        </p:spPr>
        <p:txBody>
          <a:bodyPr>
            <a:normAutofit fontScale="77500" lnSpcReduction="20000"/>
          </a:bodyPr>
          <a:lstStyle/>
          <a:p>
            <a:pPr marL="0" indent="0">
              <a:spcAft>
                <a:spcPct val="200000"/>
              </a:spcAft>
              <a:buNone/>
            </a:pPr>
            <a:r>
              <a:rPr lang="en-US" altLang="fr-EG"/>
              <a:t>An employee is asked to talk about her raise with her supervisor after business hours at a romantic restaurant.</a:t>
            </a:r>
            <a:endParaRPr lang="en-US" altLang="fr-EG" sz="2400"/>
          </a:p>
          <a:p>
            <a:pPr marL="0" indent="0">
              <a:spcBef>
                <a:spcPct val="0"/>
              </a:spcBef>
              <a:spcAft>
                <a:spcPct val="260000"/>
              </a:spcAft>
              <a:buNone/>
            </a:pPr>
            <a:endParaRPr lang="en-US" altLang="fr-EG"/>
          </a:p>
          <a:p>
            <a:pPr marL="0" indent="0">
              <a:spcBef>
                <a:spcPct val="0"/>
              </a:spcBef>
              <a:spcAft>
                <a:spcPct val="260000"/>
              </a:spcAft>
              <a:buNone/>
            </a:pPr>
            <a:r>
              <a:rPr lang="en-US" altLang="fr-EG"/>
              <a:t>An employee brings a sexually explicit </a:t>
            </a:r>
            <a:br>
              <a:rPr lang="en-US" altLang="fr-EG"/>
            </a:br>
            <a:r>
              <a:rPr lang="en-US" altLang="fr-EG"/>
              <a:t>gag gift into work for a co-worker’s </a:t>
            </a:r>
            <a:br>
              <a:rPr lang="en-US" altLang="fr-EG"/>
            </a:br>
            <a:r>
              <a:rPr lang="en-US" altLang="fr-EG"/>
              <a:t>birthday present.</a:t>
            </a:r>
            <a:endParaRPr lang="en-US" altLang="fr-EG" sz="2400"/>
          </a:p>
        </p:txBody>
      </p:sp>
      <p:sp>
        <p:nvSpPr>
          <p:cNvPr id="112644" name="Text Box 4">
            <a:extLst>
              <a:ext uri="{FF2B5EF4-FFF2-40B4-BE49-F238E27FC236}">
                <a16:creationId xmlns:a16="http://schemas.microsoft.com/office/drawing/2014/main" id="{0EA28181-D0DA-3244-8E76-11FC417F9A6B}"/>
              </a:ext>
            </a:extLst>
          </p:cNvPr>
          <p:cNvSpPr txBox="1">
            <a:spLocks noChangeArrowheads="1"/>
          </p:cNvSpPr>
          <p:nvPr/>
        </p:nvSpPr>
        <p:spPr bwMode="auto">
          <a:xfrm>
            <a:off x="2540000" y="2776538"/>
            <a:ext cx="5740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Franklin Gothic Book" panose="020B0503020102020204" pitchFamily="34" charset="0"/>
              </a:defRPr>
            </a:lvl1pPr>
            <a:lvl2pPr marL="11430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fontAlgn="base">
              <a:spcBef>
                <a:spcPct val="0"/>
              </a:spcBef>
              <a:spcAft>
                <a:spcPct val="0"/>
              </a:spcAft>
              <a:defRPr>
                <a:solidFill>
                  <a:schemeClr val="tx1"/>
                </a:solidFill>
                <a:latin typeface="Franklin Gothic Book" panose="020B0503020102020204" pitchFamily="34" charset="0"/>
              </a:defRPr>
            </a:lvl6pPr>
            <a:lvl7pPr marL="2971800" indent="-228600" defTabSz="457200" fontAlgn="base">
              <a:spcBef>
                <a:spcPct val="0"/>
              </a:spcBef>
              <a:spcAft>
                <a:spcPct val="0"/>
              </a:spcAft>
              <a:defRPr>
                <a:solidFill>
                  <a:schemeClr val="tx1"/>
                </a:solidFill>
                <a:latin typeface="Franklin Gothic Book" panose="020B0503020102020204" pitchFamily="34" charset="0"/>
              </a:defRPr>
            </a:lvl7pPr>
            <a:lvl8pPr marL="3429000" indent="-228600" defTabSz="457200" fontAlgn="base">
              <a:spcBef>
                <a:spcPct val="0"/>
              </a:spcBef>
              <a:spcAft>
                <a:spcPct val="0"/>
              </a:spcAft>
              <a:defRPr>
                <a:solidFill>
                  <a:schemeClr val="tx1"/>
                </a:solidFill>
                <a:latin typeface="Franklin Gothic Book" panose="020B0503020102020204" pitchFamily="34" charset="0"/>
              </a:defRPr>
            </a:lvl8pPr>
            <a:lvl9pPr marL="3886200" indent="-228600" defTabSz="457200" fontAlgn="base">
              <a:spcBef>
                <a:spcPct val="0"/>
              </a:spcBef>
              <a:spcAft>
                <a:spcPct val="0"/>
              </a:spcAft>
              <a:defRPr>
                <a:solidFill>
                  <a:schemeClr val="tx1"/>
                </a:solidFill>
                <a:latin typeface="Franklin Gothic Book" panose="020B0503020102020204" pitchFamily="34" charset="0"/>
              </a:defRPr>
            </a:lvl9pPr>
          </a:lstStyle>
          <a:p>
            <a:pPr lvl="1" eaLnBrk="1" hangingPunct="1">
              <a:spcBef>
                <a:spcPct val="30000"/>
              </a:spcBef>
            </a:pPr>
            <a:r>
              <a:rPr lang="en-US" altLang="fr-EG" sz="2800">
                <a:solidFill>
                  <a:srgbClr val="CC0000"/>
                </a:solidFill>
                <a:latin typeface="Arial" panose="020B0604020202020204" pitchFamily="34" charset="0"/>
              </a:rPr>
              <a:t>This is </a:t>
            </a:r>
            <a:r>
              <a:rPr lang="en-US" altLang="fr-EG" sz="2800" u="sng">
                <a:solidFill>
                  <a:srgbClr val="CC0000"/>
                </a:solidFill>
                <a:latin typeface="Arial" panose="020B0604020202020204" pitchFamily="34" charset="0"/>
              </a:rPr>
              <a:t>economic harassment.</a:t>
            </a:r>
          </a:p>
        </p:txBody>
      </p:sp>
      <p:sp>
        <p:nvSpPr>
          <p:cNvPr id="112646" name="Text Box 6">
            <a:extLst>
              <a:ext uri="{FF2B5EF4-FFF2-40B4-BE49-F238E27FC236}">
                <a16:creationId xmlns:a16="http://schemas.microsoft.com/office/drawing/2014/main" id="{752477B5-C3D7-814D-B907-57ECB0ACBE87}"/>
              </a:ext>
            </a:extLst>
          </p:cNvPr>
          <p:cNvSpPr txBox="1">
            <a:spLocks noChangeArrowheads="1"/>
          </p:cNvSpPr>
          <p:nvPr/>
        </p:nvSpPr>
        <p:spPr bwMode="auto">
          <a:xfrm>
            <a:off x="2540000" y="5448301"/>
            <a:ext cx="7493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Franklin Gothic Book" panose="020B0503020102020204" pitchFamily="34" charset="0"/>
              </a:defRPr>
            </a:lvl1pPr>
            <a:lvl2pPr marL="11430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fontAlgn="base">
              <a:spcBef>
                <a:spcPct val="0"/>
              </a:spcBef>
              <a:spcAft>
                <a:spcPct val="0"/>
              </a:spcAft>
              <a:defRPr>
                <a:solidFill>
                  <a:schemeClr val="tx1"/>
                </a:solidFill>
                <a:latin typeface="Franklin Gothic Book" panose="020B0503020102020204" pitchFamily="34" charset="0"/>
              </a:defRPr>
            </a:lvl6pPr>
            <a:lvl7pPr marL="2971800" indent="-228600" defTabSz="457200" fontAlgn="base">
              <a:spcBef>
                <a:spcPct val="0"/>
              </a:spcBef>
              <a:spcAft>
                <a:spcPct val="0"/>
              </a:spcAft>
              <a:defRPr>
                <a:solidFill>
                  <a:schemeClr val="tx1"/>
                </a:solidFill>
                <a:latin typeface="Franklin Gothic Book" panose="020B0503020102020204" pitchFamily="34" charset="0"/>
              </a:defRPr>
            </a:lvl7pPr>
            <a:lvl8pPr marL="3429000" indent="-228600" defTabSz="457200" fontAlgn="base">
              <a:spcBef>
                <a:spcPct val="0"/>
              </a:spcBef>
              <a:spcAft>
                <a:spcPct val="0"/>
              </a:spcAft>
              <a:defRPr>
                <a:solidFill>
                  <a:schemeClr val="tx1"/>
                </a:solidFill>
                <a:latin typeface="Franklin Gothic Book" panose="020B0503020102020204" pitchFamily="34" charset="0"/>
              </a:defRPr>
            </a:lvl8pPr>
            <a:lvl9pPr marL="3886200" indent="-228600" defTabSz="457200" fontAlgn="base">
              <a:spcBef>
                <a:spcPct val="0"/>
              </a:spcBef>
              <a:spcAft>
                <a:spcPct val="0"/>
              </a:spcAft>
              <a:defRPr>
                <a:solidFill>
                  <a:schemeClr val="tx1"/>
                </a:solidFill>
                <a:latin typeface="Franklin Gothic Book" panose="020B0503020102020204" pitchFamily="34" charset="0"/>
              </a:defRPr>
            </a:lvl9pPr>
          </a:lstStyle>
          <a:p>
            <a:pPr lvl="1" eaLnBrk="1" hangingPunct="1">
              <a:spcBef>
                <a:spcPct val="30000"/>
              </a:spcBef>
            </a:pPr>
            <a:r>
              <a:rPr lang="en-US" altLang="fr-EG" sz="2800">
                <a:solidFill>
                  <a:srgbClr val="CC0000"/>
                </a:solidFill>
                <a:latin typeface="Arial" panose="020B0604020202020204" pitchFamily="34" charset="0"/>
              </a:rPr>
              <a:t>This describes a </a:t>
            </a:r>
            <a:r>
              <a:rPr lang="en-US" altLang="fr-EG" sz="2800" u="sng">
                <a:solidFill>
                  <a:srgbClr val="CC0000"/>
                </a:solidFill>
                <a:latin typeface="Arial" panose="020B0604020202020204" pitchFamily="34" charset="0"/>
              </a:rPr>
              <a:t>hostile work environment.</a:t>
            </a:r>
          </a:p>
        </p:txBody>
      </p:sp>
    </p:spTree>
    <p:extLst>
      <p:ext uri="{BB962C8B-B14F-4D97-AF65-F5344CB8AC3E}">
        <p14:creationId xmlns:p14="http://schemas.microsoft.com/office/powerpoint/2010/main" val="42027041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12643">
                                            <p:txEl>
                                              <p:pRg st="0" end="0"/>
                                            </p:txEl>
                                          </p:spTgt>
                                        </p:tgtEl>
                                        <p:attrNameLst>
                                          <p:attrName>style.visibility</p:attrName>
                                        </p:attrNameLst>
                                      </p:cBhvr>
                                      <p:to>
                                        <p:strVal val="visible"/>
                                      </p:to>
                                    </p:set>
                                    <p:anim calcmode="lin" valueType="num">
                                      <p:cBhvr additive="base">
                                        <p:cTn id="7" dur="500" fill="hold"/>
                                        <p:tgtEl>
                                          <p:spTgt spid="1126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26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12644"/>
                                        </p:tgtEl>
                                        <p:attrNameLst>
                                          <p:attrName>style.visibility</p:attrName>
                                        </p:attrNameLst>
                                      </p:cBhvr>
                                      <p:to>
                                        <p:strVal val="visible"/>
                                      </p:to>
                                    </p:set>
                                    <p:animEffect transition="in" filter="dissolve">
                                      <p:cBhvr>
                                        <p:cTn id="13" dur="500"/>
                                        <p:tgtEl>
                                          <p:spTgt spid="11264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nodeType="clickEffect">
                                  <p:stCondLst>
                                    <p:cond delay="0"/>
                                  </p:stCondLst>
                                  <p:childTnLst>
                                    <p:set>
                                      <p:cBhvr>
                                        <p:cTn id="17" dur="1" fill="hold">
                                          <p:stCondLst>
                                            <p:cond delay="0"/>
                                          </p:stCondLst>
                                        </p:cTn>
                                        <p:tgtEl>
                                          <p:spTgt spid="112643">
                                            <p:txEl>
                                              <p:pRg st="2" end="2"/>
                                            </p:txEl>
                                          </p:spTgt>
                                        </p:tgtEl>
                                        <p:attrNameLst>
                                          <p:attrName>style.visibility</p:attrName>
                                        </p:attrNameLst>
                                      </p:cBhvr>
                                      <p:to>
                                        <p:strVal val="visible"/>
                                      </p:to>
                                    </p:set>
                                    <p:anim calcmode="lin" valueType="num">
                                      <p:cBhvr additive="base">
                                        <p:cTn id="18" dur="500" fill="hold"/>
                                        <p:tgtEl>
                                          <p:spTgt spid="112643">
                                            <p:txEl>
                                              <p:pRg st="2" end="2"/>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1126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12646"/>
                                        </p:tgtEl>
                                        <p:attrNameLst>
                                          <p:attrName>style.visibility</p:attrName>
                                        </p:attrNameLst>
                                      </p:cBhvr>
                                      <p:to>
                                        <p:strVal val="visible"/>
                                      </p:to>
                                    </p:set>
                                    <p:animEffect transition="in" filter="dissolve">
                                      <p:cBhvr>
                                        <p:cTn id="24" dur="500"/>
                                        <p:tgtEl>
                                          <p:spTgt spid="1126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4" grpId="0"/>
      <p:bldP spid="11264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2B667D13-8716-4547-B888-D064031778B1}"/>
              </a:ext>
            </a:extLst>
          </p:cNvPr>
          <p:cNvSpPr>
            <a:spLocks noGrp="1" noChangeArrowheads="1"/>
          </p:cNvSpPr>
          <p:nvPr>
            <p:ph type="title"/>
          </p:nvPr>
        </p:nvSpPr>
        <p:spPr/>
        <p:txBody>
          <a:bodyPr/>
          <a:lstStyle/>
          <a:p>
            <a:r>
              <a:rPr lang="en-US" altLang="fr-EG" sz="3800"/>
              <a:t>Economic Harassment or Hostile Work Environment?</a:t>
            </a:r>
            <a:r>
              <a:rPr lang="en-US" altLang="fr-EG" sz="2000"/>
              <a:t> </a:t>
            </a:r>
            <a:r>
              <a:rPr lang="en-US" altLang="fr-EG" sz="2300"/>
              <a:t>(cont.)</a:t>
            </a:r>
          </a:p>
        </p:txBody>
      </p:sp>
      <p:sp>
        <p:nvSpPr>
          <p:cNvPr id="119811" name="Rectangle 3">
            <a:extLst>
              <a:ext uri="{FF2B5EF4-FFF2-40B4-BE49-F238E27FC236}">
                <a16:creationId xmlns:a16="http://schemas.microsoft.com/office/drawing/2014/main" id="{E3A9EA25-29EE-AC4F-87EB-1AE09DA4B30B}"/>
              </a:ext>
            </a:extLst>
          </p:cNvPr>
          <p:cNvSpPr>
            <a:spLocks noGrp="1" noChangeArrowheads="1"/>
          </p:cNvSpPr>
          <p:nvPr>
            <p:ph idx="1"/>
          </p:nvPr>
        </p:nvSpPr>
        <p:spPr>
          <a:xfrm>
            <a:off x="2708275" y="2246314"/>
            <a:ext cx="6997700" cy="3925887"/>
          </a:xfrm>
        </p:spPr>
        <p:txBody>
          <a:bodyPr>
            <a:normAutofit fontScale="92500"/>
          </a:bodyPr>
          <a:lstStyle/>
          <a:p>
            <a:pPr marL="0" indent="0">
              <a:spcBef>
                <a:spcPct val="23000"/>
              </a:spcBef>
              <a:spcAft>
                <a:spcPct val="200000"/>
              </a:spcAft>
              <a:buNone/>
            </a:pPr>
            <a:r>
              <a:rPr lang="en-US" altLang="fr-EG" dirty="0"/>
              <a:t>A supervisor regularly uses obscene language when talking to his employees.</a:t>
            </a:r>
          </a:p>
          <a:p>
            <a:pPr marL="0" indent="0">
              <a:spcBef>
                <a:spcPct val="23000"/>
              </a:spcBef>
              <a:spcAft>
                <a:spcPct val="200000"/>
              </a:spcAft>
              <a:buNone/>
            </a:pPr>
            <a:endParaRPr lang="en-US" altLang="fr-EG" dirty="0"/>
          </a:p>
          <a:p>
            <a:pPr marL="0" indent="0">
              <a:spcBef>
                <a:spcPct val="23000"/>
              </a:spcBef>
              <a:spcAft>
                <a:spcPct val="200000"/>
              </a:spcAft>
              <a:buNone/>
            </a:pPr>
            <a:r>
              <a:rPr lang="en-US" altLang="fr-EG" dirty="0"/>
              <a:t>An employee who appears to be “very close” to the boss always gets the easiest job assignments.</a:t>
            </a:r>
          </a:p>
        </p:txBody>
      </p:sp>
      <p:sp>
        <p:nvSpPr>
          <p:cNvPr id="119812" name="Text Box 4">
            <a:extLst>
              <a:ext uri="{FF2B5EF4-FFF2-40B4-BE49-F238E27FC236}">
                <a16:creationId xmlns:a16="http://schemas.microsoft.com/office/drawing/2014/main" id="{D29E5448-E3FC-E04F-96AF-E8F26B698CE0}"/>
              </a:ext>
            </a:extLst>
          </p:cNvPr>
          <p:cNvSpPr txBox="1">
            <a:spLocks noChangeArrowheads="1"/>
          </p:cNvSpPr>
          <p:nvPr/>
        </p:nvSpPr>
        <p:spPr bwMode="auto">
          <a:xfrm>
            <a:off x="2557463" y="5973762"/>
            <a:ext cx="70119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Franklin Gothic Book" panose="020B0503020102020204" pitchFamily="34" charset="0"/>
              </a:defRPr>
            </a:lvl1pPr>
            <a:lvl2pPr marL="11430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fontAlgn="base">
              <a:spcBef>
                <a:spcPct val="0"/>
              </a:spcBef>
              <a:spcAft>
                <a:spcPct val="0"/>
              </a:spcAft>
              <a:defRPr>
                <a:solidFill>
                  <a:schemeClr val="tx1"/>
                </a:solidFill>
                <a:latin typeface="Franklin Gothic Book" panose="020B0503020102020204" pitchFamily="34" charset="0"/>
              </a:defRPr>
            </a:lvl6pPr>
            <a:lvl7pPr marL="2971800" indent="-228600" defTabSz="457200" fontAlgn="base">
              <a:spcBef>
                <a:spcPct val="0"/>
              </a:spcBef>
              <a:spcAft>
                <a:spcPct val="0"/>
              </a:spcAft>
              <a:defRPr>
                <a:solidFill>
                  <a:schemeClr val="tx1"/>
                </a:solidFill>
                <a:latin typeface="Franklin Gothic Book" panose="020B0503020102020204" pitchFamily="34" charset="0"/>
              </a:defRPr>
            </a:lvl7pPr>
            <a:lvl8pPr marL="3429000" indent="-228600" defTabSz="457200" fontAlgn="base">
              <a:spcBef>
                <a:spcPct val="0"/>
              </a:spcBef>
              <a:spcAft>
                <a:spcPct val="0"/>
              </a:spcAft>
              <a:defRPr>
                <a:solidFill>
                  <a:schemeClr val="tx1"/>
                </a:solidFill>
                <a:latin typeface="Franklin Gothic Book" panose="020B0503020102020204" pitchFamily="34" charset="0"/>
              </a:defRPr>
            </a:lvl8pPr>
            <a:lvl9pPr marL="3886200" indent="-228600" defTabSz="457200" fontAlgn="base">
              <a:spcBef>
                <a:spcPct val="0"/>
              </a:spcBef>
              <a:spcAft>
                <a:spcPct val="0"/>
              </a:spcAft>
              <a:defRPr>
                <a:solidFill>
                  <a:schemeClr val="tx1"/>
                </a:solidFill>
                <a:latin typeface="Franklin Gothic Book" panose="020B0503020102020204" pitchFamily="34" charset="0"/>
              </a:defRPr>
            </a:lvl9pPr>
          </a:lstStyle>
          <a:p>
            <a:pPr lvl="1" eaLnBrk="1" hangingPunct="1">
              <a:spcBef>
                <a:spcPct val="30000"/>
              </a:spcBef>
            </a:pPr>
            <a:r>
              <a:rPr lang="en-US" altLang="fr-EG" sz="2800" dirty="0">
                <a:solidFill>
                  <a:srgbClr val="CC0000"/>
                </a:solidFill>
                <a:latin typeface="Arial" panose="020B0604020202020204" pitchFamily="34" charset="0"/>
              </a:rPr>
              <a:t>This is </a:t>
            </a:r>
            <a:r>
              <a:rPr lang="en-US" altLang="fr-EG" sz="2800" u="sng" dirty="0">
                <a:solidFill>
                  <a:srgbClr val="CC0000"/>
                </a:solidFill>
                <a:latin typeface="Arial" panose="020B0604020202020204" pitchFamily="34" charset="0"/>
              </a:rPr>
              <a:t>economic harassment.</a:t>
            </a:r>
          </a:p>
        </p:txBody>
      </p:sp>
      <p:sp>
        <p:nvSpPr>
          <p:cNvPr id="119814" name="Text Box 6">
            <a:extLst>
              <a:ext uri="{FF2B5EF4-FFF2-40B4-BE49-F238E27FC236}">
                <a16:creationId xmlns:a16="http://schemas.microsoft.com/office/drawing/2014/main" id="{C8D825E9-B3D9-DF4F-8DC1-B7993AA6B069}"/>
              </a:ext>
            </a:extLst>
          </p:cNvPr>
          <p:cNvSpPr txBox="1">
            <a:spLocks noChangeArrowheads="1"/>
          </p:cNvSpPr>
          <p:nvPr/>
        </p:nvSpPr>
        <p:spPr bwMode="auto">
          <a:xfrm>
            <a:off x="2557463" y="3098801"/>
            <a:ext cx="76501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Franklin Gothic Book" panose="020B0503020102020204" pitchFamily="34" charset="0"/>
              </a:defRPr>
            </a:lvl1pPr>
            <a:lvl2pPr marL="11430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fontAlgn="base">
              <a:spcBef>
                <a:spcPct val="0"/>
              </a:spcBef>
              <a:spcAft>
                <a:spcPct val="0"/>
              </a:spcAft>
              <a:defRPr>
                <a:solidFill>
                  <a:schemeClr val="tx1"/>
                </a:solidFill>
                <a:latin typeface="Franklin Gothic Book" panose="020B0503020102020204" pitchFamily="34" charset="0"/>
              </a:defRPr>
            </a:lvl6pPr>
            <a:lvl7pPr marL="2971800" indent="-228600" defTabSz="457200" fontAlgn="base">
              <a:spcBef>
                <a:spcPct val="0"/>
              </a:spcBef>
              <a:spcAft>
                <a:spcPct val="0"/>
              </a:spcAft>
              <a:defRPr>
                <a:solidFill>
                  <a:schemeClr val="tx1"/>
                </a:solidFill>
                <a:latin typeface="Franklin Gothic Book" panose="020B0503020102020204" pitchFamily="34" charset="0"/>
              </a:defRPr>
            </a:lvl7pPr>
            <a:lvl8pPr marL="3429000" indent="-228600" defTabSz="457200" fontAlgn="base">
              <a:spcBef>
                <a:spcPct val="0"/>
              </a:spcBef>
              <a:spcAft>
                <a:spcPct val="0"/>
              </a:spcAft>
              <a:defRPr>
                <a:solidFill>
                  <a:schemeClr val="tx1"/>
                </a:solidFill>
                <a:latin typeface="Franklin Gothic Book" panose="020B0503020102020204" pitchFamily="34" charset="0"/>
              </a:defRPr>
            </a:lvl8pPr>
            <a:lvl9pPr marL="3886200" indent="-228600" defTabSz="457200" fontAlgn="base">
              <a:spcBef>
                <a:spcPct val="0"/>
              </a:spcBef>
              <a:spcAft>
                <a:spcPct val="0"/>
              </a:spcAft>
              <a:defRPr>
                <a:solidFill>
                  <a:schemeClr val="tx1"/>
                </a:solidFill>
                <a:latin typeface="Franklin Gothic Book" panose="020B0503020102020204" pitchFamily="34" charset="0"/>
              </a:defRPr>
            </a:lvl9pPr>
          </a:lstStyle>
          <a:p>
            <a:pPr lvl="1" eaLnBrk="1" hangingPunct="1">
              <a:spcBef>
                <a:spcPct val="30000"/>
              </a:spcBef>
            </a:pPr>
            <a:r>
              <a:rPr lang="en-US" altLang="fr-EG" sz="2800">
                <a:solidFill>
                  <a:srgbClr val="CC0000"/>
                </a:solidFill>
                <a:latin typeface="Arial" panose="020B0604020202020204" pitchFamily="34" charset="0"/>
              </a:rPr>
              <a:t>This describes a </a:t>
            </a:r>
            <a:r>
              <a:rPr lang="en-US" altLang="fr-EG" sz="2800" u="sng">
                <a:solidFill>
                  <a:srgbClr val="CC0000"/>
                </a:solidFill>
                <a:latin typeface="Arial" panose="020B0604020202020204" pitchFamily="34" charset="0"/>
              </a:rPr>
              <a:t>hostile work environment.</a:t>
            </a:r>
          </a:p>
        </p:txBody>
      </p:sp>
    </p:spTree>
    <p:extLst>
      <p:ext uri="{BB962C8B-B14F-4D97-AF65-F5344CB8AC3E}">
        <p14:creationId xmlns:p14="http://schemas.microsoft.com/office/powerpoint/2010/main" val="16025934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19811">
                                            <p:txEl>
                                              <p:pRg st="0" end="0"/>
                                            </p:txEl>
                                          </p:spTgt>
                                        </p:tgtEl>
                                        <p:attrNameLst>
                                          <p:attrName>style.visibility</p:attrName>
                                        </p:attrNameLst>
                                      </p:cBhvr>
                                      <p:to>
                                        <p:strVal val="visible"/>
                                      </p:to>
                                    </p:set>
                                    <p:anim calcmode="lin" valueType="num">
                                      <p:cBhvr additive="base">
                                        <p:cTn id="7" dur="500" fill="hold"/>
                                        <p:tgtEl>
                                          <p:spTgt spid="1198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98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19814"/>
                                        </p:tgtEl>
                                        <p:attrNameLst>
                                          <p:attrName>style.visibility</p:attrName>
                                        </p:attrNameLst>
                                      </p:cBhvr>
                                      <p:to>
                                        <p:strVal val="visible"/>
                                      </p:to>
                                    </p:set>
                                    <p:animEffect transition="in" filter="dissolve">
                                      <p:cBhvr>
                                        <p:cTn id="13" dur="500"/>
                                        <p:tgtEl>
                                          <p:spTgt spid="11981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nodeType="clickEffect">
                                  <p:stCondLst>
                                    <p:cond delay="0"/>
                                  </p:stCondLst>
                                  <p:childTnLst>
                                    <p:set>
                                      <p:cBhvr>
                                        <p:cTn id="17" dur="1" fill="hold">
                                          <p:stCondLst>
                                            <p:cond delay="0"/>
                                          </p:stCondLst>
                                        </p:cTn>
                                        <p:tgtEl>
                                          <p:spTgt spid="119811">
                                            <p:txEl>
                                              <p:pRg st="2" end="2"/>
                                            </p:txEl>
                                          </p:spTgt>
                                        </p:tgtEl>
                                        <p:attrNameLst>
                                          <p:attrName>style.visibility</p:attrName>
                                        </p:attrNameLst>
                                      </p:cBhvr>
                                      <p:to>
                                        <p:strVal val="visible"/>
                                      </p:to>
                                    </p:set>
                                    <p:anim calcmode="lin" valueType="num">
                                      <p:cBhvr additive="base">
                                        <p:cTn id="18" dur="500" fill="hold"/>
                                        <p:tgtEl>
                                          <p:spTgt spid="119811">
                                            <p:txEl>
                                              <p:pRg st="2" end="2"/>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11981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19812"/>
                                        </p:tgtEl>
                                        <p:attrNameLst>
                                          <p:attrName>style.visibility</p:attrName>
                                        </p:attrNameLst>
                                      </p:cBhvr>
                                      <p:to>
                                        <p:strVal val="visible"/>
                                      </p:to>
                                    </p:set>
                                    <p:animEffect transition="in" filter="dissolve">
                                      <p:cBhvr>
                                        <p:cTn id="24" dur="500"/>
                                        <p:tgtEl>
                                          <p:spTgt spid="1198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2" grpId="0"/>
      <p:bldP spid="119814" grpId="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1" name="Rectangle 8">
            <a:extLst>
              <a:ext uri="{FF2B5EF4-FFF2-40B4-BE49-F238E27FC236}">
                <a16:creationId xmlns:a16="http://schemas.microsoft.com/office/drawing/2014/main" id="{B0A7B69F-1F0B-7E4F-95B0-535360245625}"/>
              </a:ext>
            </a:extLst>
          </p:cNvPr>
          <p:cNvSpPr>
            <a:spLocks noGrp="1" noChangeArrowheads="1"/>
          </p:cNvSpPr>
          <p:nvPr>
            <p:ph type="title"/>
          </p:nvPr>
        </p:nvSpPr>
        <p:spPr/>
        <p:txBody>
          <a:bodyPr/>
          <a:lstStyle/>
          <a:p>
            <a:pPr algn="ctr"/>
            <a:r>
              <a:rPr lang="en-US" altLang="fr-EG" b="1">
                <a:solidFill>
                  <a:schemeClr val="tx1"/>
                </a:solidFill>
              </a:rPr>
              <a:t>WHO IS AFFECTED?</a:t>
            </a:r>
            <a:endParaRPr lang="en-US" altLang="fr-EG"/>
          </a:p>
        </p:txBody>
      </p:sp>
      <p:sp>
        <p:nvSpPr>
          <p:cNvPr id="23562" name="Rectangle 10">
            <a:extLst>
              <a:ext uri="{FF2B5EF4-FFF2-40B4-BE49-F238E27FC236}">
                <a16:creationId xmlns:a16="http://schemas.microsoft.com/office/drawing/2014/main" id="{475D50FB-83F5-F240-A1D0-1AB0B5790240}"/>
              </a:ext>
            </a:extLst>
          </p:cNvPr>
          <p:cNvSpPr>
            <a:spLocks noGrp="1" noChangeArrowheads="1"/>
          </p:cNvSpPr>
          <p:nvPr>
            <p:ph type="body" sz="half" idx="1"/>
          </p:nvPr>
        </p:nvSpPr>
        <p:spPr/>
        <p:txBody>
          <a:bodyPr/>
          <a:lstStyle/>
          <a:p>
            <a:pPr marL="0" indent="0">
              <a:lnSpc>
                <a:spcPct val="95000"/>
              </a:lnSpc>
              <a:spcBef>
                <a:spcPct val="28000"/>
              </a:spcBef>
              <a:buNone/>
            </a:pPr>
            <a:r>
              <a:rPr lang="en-US" altLang="fr-EG" sz="2400"/>
              <a:t>Those who commit acts of sexual harassment, including:</a:t>
            </a:r>
          </a:p>
          <a:p>
            <a:pPr lvl="1">
              <a:lnSpc>
                <a:spcPct val="95000"/>
              </a:lnSpc>
              <a:spcBef>
                <a:spcPct val="28000"/>
              </a:spcBef>
              <a:buFont typeface="Wingdings" pitchFamily="2" charset="2"/>
              <a:buChar char="§"/>
            </a:pPr>
            <a:r>
              <a:rPr lang="en-US" altLang="fr-EG"/>
              <a:t>Employees at any level</a:t>
            </a:r>
          </a:p>
          <a:p>
            <a:pPr lvl="1">
              <a:lnSpc>
                <a:spcPct val="95000"/>
              </a:lnSpc>
              <a:spcBef>
                <a:spcPct val="28000"/>
              </a:spcBef>
              <a:buFont typeface="Wingdings" pitchFamily="2" charset="2"/>
              <a:buChar char="§"/>
            </a:pPr>
            <a:r>
              <a:rPr lang="en-US" altLang="fr-EG"/>
              <a:t>Clients or customers</a:t>
            </a:r>
          </a:p>
          <a:p>
            <a:pPr lvl="1">
              <a:lnSpc>
                <a:spcPct val="95000"/>
              </a:lnSpc>
              <a:spcBef>
                <a:spcPct val="28000"/>
              </a:spcBef>
              <a:buFont typeface="Wingdings" pitchFamily="2" charset="2"/>
              <a:buChar char="§"/>
            </a:pPr>
            <a:r>
              <a:rPr lang="en-US" altLang="fr-EG"/>
              <a:t>Members of the </a:t>
            </a:r>
            <a:br>
              <a:rPr lang="en-US" altLang="fr-EG"/>
            </a:br>
            <a:r>
              <a:rPr lang="en-US" altLang="fr-EG"/>
              <a:t>same sex</a:t>
            </a:r>
          </a:p>
        </p:txBody>
      </p:sp>
      <p:pic>
        <p:nvPicPr>
          <p:cNvPr id="23593" name="Picture 41" descr="sex harassment office BOZ124">
            <a:extLst>
              <a:ext uri="{FF2B5EF4-FFF2-40B4-BE49-F238E27FC236}">
                <a16:creationId xmlns:a16="http://schemas.microsoft.com/office/drawing/2014/main" id="{EE7EA838-8A10-724D-B6A8-059037AAC43A}"/>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l="6529" r="9279"/>
          <a:stretch>
            <a:fillRect/>
          </a:stretch>
        </p:blipFill>
        <p:spPr>
          <a:xfrm>
            <a:off x="6375400" y="2090738"/>
            <a:ext cx="3678238" cy="3433762"/>
          </a:xfrm>
          <a:ln>
            <a:solidFill>
              <a:schemeClr val="tx1"/>
            </a:solidFill>
            <a:miter lim="800000"/>
            <a:headEnd/>
            <a:tailEnd/>
          </a:ln>
        </p:spPr>
      </p:pic>
      <p:pic>
        <p:nvPicPr>
          <p:cNvPr id="23598" name="Picture 46" descr="harsss woman hold mans tielo IS113-079">
            <a:extLst>
              <a:ext uri="{FF2B5EF4-FFF2-40B4-BE49-F238E27FC236}">
                <a16:creationId xmlns:a16="http://schemas.microsoft.com/office/drawing/2014/main" id="{94312792-D795-554C-804F-D93079B62C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2397"/>
          <a:stretch>
            <a:fillRect/>
          </a:stretch>
        </p:blipFill>
        <p:spPr bwMode="auto">
          <a:xfrm>
            <a:off x="6384925" y="2079626"/>
            <a:ext cx="3689350" cy="41941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23599" name="Picture 47" descr="*hand on hand men harassaa011388">
            <a:extLst>
              <a:ext uri="{FF2B5EF4-FFF2-40B4-BE49-F238E27FC236}">
                <a16:creationId xmlns:a16="http://schemas.microsoft.com/office/drawing/2014/main" id="{C38C8A7D-1ACA-5442-A0DD-F920F1E341F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9740" r="24512"/>
          <a:stretch>
            <a:fillRect/>
          </a:stretch>
        </p:blipFill>
        <p:spPr bwMode="auto">
          <a:xfrm>
            <a:off x="6327775" y="2098676"/>
            <a:ext cx="3767138" cy="4181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47449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562">
                                            <p:txEl>
                                              <p:pRg st="0" end="0"/>
                                            </p:txEl>
                                          </p:spTgt>
                                        </p:tgtEl>
                                        <p:attrNameLst>
                                          <p:attrName>style.visibility</p:attrName>
                                        </p:attrNameLst>
                                      </p:cBhvr>
                                      <p:to>
                                        <p:strVal val="visible"/>
                                      </p:to>
                                    </p:set>
                                    <p:anim calcmode="lin" valueType="num">
                                      <p:cBhvr additive="base">
                                        <p:cTn id="7" dur="500" fill="hold"/>
                                        <p:tgtEl>
                                          <p:spTgt spid="2356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56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562">
                                            <p:txEl>
                                              <p:pRg st="1" end="1"/>
                                            </p:txEl>
                                          </p:spTgt>
                                        </p:tgtEl>
                                        <p:attrNameLst>
                                          <p:attrName>style.visibility</p:attrName>
                                        </p:attrNameLst>
                                      </p:cBhvr>
                                      <p:to>
                                        <p:strVal val="visible"/>
                                      </p:to>
                                    </p:set>
                                    <p:anim calcmode="lin" valueType="num">
                                      <p:cBhvr additive="base">
                                        <p:cTn id="13" dur="500" fill="hold"/>
                                        <p:tgtEl>
                                          <p:spTgt spid="2356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3562">
                                            <p:txEl>
                                              <p:pRg st="1" end="1"/>
                                            </p:txEl>
                                          </p:spTgt>
                                        </p:tgtEl>
                                        <p:attrNameLst>
                                          <p:attrName>ppt_y</p:attrName>
                                        </p:attrNameLst>
                                      </p:cBhvr>
                                      <p:tavLst>
                                        <p:tav tm="0">
                                          <p:val>
                                            <p:strVal val="#ppt_y"/>
                                          </p:val>
                                        </p:tav>
                                        <p:tav tm="100000">
                                          <p:val>
                                            <p:strVal val="#ppt_y"/>
                                          </p:val>
                                        </p:tav>
                                      </p:tavLst>
                                    </p:anim>
                                  </p:childTnLst>
                                </p:cTn>
                              </p:par>
                              <p:par>
                                <p:cTn id="15" presetID="9" presetClass="entr" presetSubtype="0" fill="hold" nodeType="withEffect">
                                  <p:stCondLst>
                                    <p:cond delay="0"/>
                                  </p:stCondLst>
                                  <p:childTnLst>
                                    <p:set>
                                      <p:cBhvr>
                                        <p:cTn id="16" dur="1" fill="hold">
                                          <p:stCondLst>
                                            <p:cond delay="0"/>
                                          </p:stCondLst>
                                        </p:cTn>
                                        <p:tgtEl>
                                          <p:spTgt spid="23593"/>
                                        </p:tgtEl>
                                        <p:attrNameLst>
                                          <p:attrName>style.visibility</p:attrName>
                                        </p:attrNameLst>
                                      </p:cBhvr>
                                      <p:to>
                                        <p:strVal val="visible"/>
                                      </p:to>
                                    </p:set>
                                    <p:animEffect transition="in" filter="dissolve">
                                      <p:cBhvr>
                                        <p:cTn id="17" dur="500"/>
                                        <p:tgtEl>
                                          <p:spTgt spid="2359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23562">
                                            <p:txEl>
                                              <p:pRg st="2" end="2"/>
                                            </p:txEl>
                                          </p:spTgt>
                                        </p:tgtEl>
                                        <p:attrNameLst>
                                          <p:attrName>style.visibility</p:attrName>
                                        </p:attrNameLst>
                                      </p:cBhvr>
                                      <p:to>
                                        <p:strVal val="visible"/>
                                      </p:to>
                                    </p:set>
                                    <p:anim calcmode="lin" valueType="num">
                                      <p:cBhvr additive="base">
                                        <p:cTn id="22" dur="500" fill="hold"/>
                                        <p:tgtEl>
                                          <p:spTgt spid="23562">
                                            <p:txEl>
                                              <p:pRg st="2" end="2"/>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23562">
                                            <p:txEl>
                                              <p:pRg st="2" end="2"/>
                                            </p:txEl>
                                          </p:spTgt>
                                        </p:tgtEl>
                                        <p:attrNameLst>
                                          <p:attrName>ppt_y</p:attrName>
                                        </p:attrNameLst>
                                      </p:cBhvr>
                                      <p:tavLst>
                                        <p:tav tm="0">
                                          <p:val>
                                            <p:strVal val="#ppt_y"/>
                                          </p:val>
                                        </p:tav>
                                        <p:tav tm="100000">
                                          <p:val>
                                            <p:strVal val="#ppt_y"/>
                                          </p:val>
                                        </p:tav>
                                      </p:tavLst>
                                    </p:anim>
                                  </p:childTnLst>
                                </p:cTn>
                              </p:par>
                              <p:par>
                                <p:cTn id="24" presetID="9" presetClass="exit" presetSubtype="0" fill="hold" nodeType="withEffect">
                                  <p:stCondLst>
                                    <p:cond delay="0"/>
                                  </p:stCondLst>
                                  <p:childTnLst>
                                    <p:animEffect transition="out" filter="dissolve">
                                      <p:cBhvr>
                                        <p:cTn id="25" dur="500"/>
                                        <p:tgtEl>
                                          <p:spTgt spid="23593"/>
                                        </p:tgtEl>
                                      </p:cBhvr>
                                    </p:animEffect>
                                    <p:set>
                                      <p:cBhvr>
                                        <p:cTn id="26" dur="1" fill="hold">
                                          <p:stCondLst>
                                            <p:cond delay="499"/>
                                          </p:stCondLst>
                                        </p:cTn>
                                        <p:tgtEl>
                                          <p:spTgt spid="23593"/>
                                        </p:tgtEl>
                                        <p:attrNameLst>
                                          <p:attrName>style.visibility</p:attrName>
                                        </p:attrNameLst>
                                      </p:cBhvr>
                                      <p:to>
                                        <p:strVal val="hidden"/>
                                      </p:to>
                                    </p:set>
                                  </p:childTnLst>
                                </p:cTn>
                              </p:par>
                              <p:par>
                                <p:cTn id="27" presetID="9" presetClass="entr" presetSubtype="0" fill="hold" nodeType="withEffect">
                                  <p:stCondLst>
                                    <p:cond delay="0"/>
                                  </p:stCondLst>
                                  <p:childTnLst>
                                    <p:set>
                                      <p:cBhvr>
                                        <p:cTn id="28" dur="1" fill="hold">
                                          <p:stCondLst>
                                            <p:cond delay="0"/>
                                          </p:stCondLst>
                                        </p:cTn>
                                        <p:tgtEl>
                                          <p:spTgt spid="23598"/>
                                        </p:tgtEl>
                                        <p:attrNameLst>
                                          <p:attrName>style.visibility</p:attrName>
                                        </p:attrNameLst>
                                      </p:cBhvr>
                                      <p:to>
                                        <p:strVal val="visible"/>
                                      </p:to>
                                    </p:set>
                                    <p:animEffect transition="in" filter="dissolve">
                                      <p:cBhvr>
                                        <p:cTn id="29" dur="500"/>
                                        <p:tgtEl>
                                          <p:spTgt spid="2359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23562">
                                            <p:txEl>
                                              <p:pRg st="3" end="3"/>
                                            </p:txEl>
                                          </p:spTgt>
                                        </p:tgtEl>
                                        <p:attrNameLst>
                                          <p:attrName>style.visibility</p:attrName>
                                        </p:attrNameLst>
                                      </p:cBhvr>
                                      <p:to>
                                        <p:strVal val="visible"/>
                                      </p:to>
                                    </p:set>
                                    <p:anim calcmode="lin" valueType="num">
                                      <p:cBhvr additive="base">
                                        <p:cTn id="34" dur="500" fill="hold"/>
                                        <p:tgtEl>
                                          <p:spTgt spid="23562">
                                            <p:txEl>
                                              <p:pRg st="3" end="3"/>
                                            </p:txEl>
                                          </p:spTgt>
                                        </p:tgtEl>
                                        <p:attrNameLst>
                                          <p:attrName>ppt_x</p:attrName>
                                        </p:attrNameLst>
                                      </p:cBhvr>
                                      <p:tavLst>
                                        <p:tav tm="0">
                                          <p:val>
                                            <p:strVal val="0-#ppt_w/2"/>
                                          </p:val>
                                        </p:tav>
                                        <p:tav tm="100000">
                                          <p:val>
                                            <p:strVal val="#ppt_x"/>
                                          </p:val>
                                        </p:tav>
                                      </p:tavLst>
                                    </p:anim>
                                    <p:anim calcmode="lin" valueType="num">
                                      <p:cBhvr additive="base">
                                        <p:cTn id="35" dur="500" fill="hold"/>
                                        <p:tgtEl>
                                          <p:spTgt spid="23562">
                                            <p:txEl>
                                              <p:pRg st="3" end="3"/>
                                            </p:txEl>
                                          </p:spTgt>
                                        </p:tgtEl>
                                        <p:attrNameLst>
                                          <p:attrName>ppt_y</p:attrName>
                                        </p:attrNameLst>
                                      </p:cBhvr>
                                      <p:tavLst>
                                        <p:tav tm="0">
                                          <p:val>
                                            <p:strVal val="#ppt_y"/>
                                          </p:val>
                                        </p:tav>
                                        <p:tav tm="100000">
                                          <p:val>
                                            <p:strVal val="#ppt_y"/>
                                          </p:val>
                                        </p:tav>
                                      </p:tavLst>
                                    </p:anim>
                                  </p:childTnLst>
                                </p:cTn>
                              </p:par>
                              <p:par>
                                <p:cTn id="36" presetID="9" presetClass="exit" presetSubtype="0" fill="hold" nodeType="withEffect">
                                  <p:stCondLst>
                                    <p:cond delay="0"/>
                                  </p:stCondLst>
                                  <p:childTnLst>
                                    <p:animEffect transition="out" filter="dissolve">
                                      <p:cBhvr>
                                        <p:cTn id="37" dur="500"/>
                                        <p:tgtEl>
                                          <p:spTgt spid="23598"/>
                                        </p:tgtEl>
                                      </p:cBhvr>
                                    </p:animEffect>
                                    <p:set>
                                      <p:cBhvr>
                                        <p:cTn id="38" dur="1" fill="hold">
                                          <p:stCondLst>
                                            <p:cond delay="499"/>
                                          </p:stCondLst>
                                        </p:cTn>
                                        <p:tgtEl>
                                          <p:spTgt spid="23598"/>
                                        </p:tgtEl>
                                        <p:attrNameLst>
                                          <p:attrName>style.visibility</p:attrName>
                                        </p:attrNameLst>
                                      </p:cBhvr>
                                      <p:to>
                                        <p:strVal val="hidden"/>
                                      </p:to>
                                    </p:set>
                                  </p:childTnLst>
                                </p:cTn>
                              </p:par>
                              <p:par>
                                <p:cTn id="39" presetID="9" presetClass="entr" presetSubtype="0" fill="hold" nodeType="withEffect">
                                  <p:stCondLst>
                                    <p:cond delay="0"/>
                                  </p:stCondLst>
                                  <p:childTnLst>
                                    <p:set>
                                      <p:cBhvr>
                                        <p:cTn id="40" dur="1" fill="hold">
                                          <p:stCondLst>
                                            <p:cond delay="0"/>
                                          </p:stCondLst>
                                        </p:cTn>
                                        <p:tgtEl>
                                          <p:spTgt spid="23599"/>
                                        </p:tgtEl>
                                        <p:attrNameLst>
                                          <p:attrName>style.visibility</p:attrName>
                                        </p:attrNameLst>
                                      </p:cBhvr>
                                      <p:to>
                                        <p:strVal val="visible"/>
                                      </p:to>
                                    </p:set>
                                    <p:animEffect transition="in" filter="dissolve">
                                      <p:cBhvr>
                                        <p:cTn id="41" dur="500"/>
                                        <p:tgtEl>
                                          <p:spTgt spid="235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2" grpId="0" build="p"/>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89" name="Rectangle 25">
            <a:extLst>
              <a:ext uri="{FF2B5EF4-FFF2-40B4-BE49-F238E27FC236}">
                <a16:creationId xmlns:a16="http://schemas.microsoft.com/office/drawing/2014/main" id="{A5451CF9-1157-A746-A3B0-39394C54BD06}"/>
              </a:ext>
            </a:extLst>
          </p:cNvPr>
          <p:cNvSpPr>
            <a:spLocks noGrp="1" noChangeArrowheads="1"/>
          </p:cNvSpPr>
          <p:nvPr>
            <p:ph type="title"/>
          </p:nvPr>
        </p:nvSpPr>
        <p:spPr/>
        <p:txBody>
          <a:bodyPr/>
          <a:lstStyle/>
          <a:p>
            <a:pPr algn="ctr"/>
            <a:r>
              <a:rPr lang="en-US" altLang="fr-EG" b="1">
                <a:solidFill>
                  <a:schemeClr val="tx1"/>
                </a:solidFill>
              </a:rPr>
              <a:t>WHO IS AFFECTED? (cont.)</a:t>
            </a:r>
            <a:endParaRPr lang="en-US" altLang="fr-EG"/>
          </a:p>
        </p:txBody>
      </p:sp>
      <p:sp>
        <p:nvSpPr>
          <p:cNvPr id="37890" name="Rectangle 26">
            <a:extLst>
              <a:ext uri="{FF2B5EF4-FFF2-40B4-BE49-F238E27FC236}">
                <a16:creationId xmlns:a16="http://schemas.microsoft.com/office/drawing/2014/main" id="{2C279E39-E881-554D-A809-91F60B045435}"/>
              </a:ext>
            </a:extLst>
          </p:cNvPr>
          <p:cNvSpPr>
            <a:spLocks noGrp="1" noChangeArrowheads="1"/>
          </p:cNvSpPr>
          <p:nvPr>
            <p:ph type="body" sz="half" idx="1"/>
          </p:nvPr>
        </p:nvSpPr>
        <p:spPr/>
        <p:txBody>
          <a:bodyPr/>
          <a:lstStyle/>
          <a:p>
            <a:pPr marL="0" indent="0">
              <a:lnSpc>
                <a:spcPct val="98000"/>
              </a:lnSpc>
              <a:spcBef>
                <a:spcPct val="28000"/>
              </a:spcBef>
              <a:buNone/>
            </a:pPr>
            <a:r>
              <a:rPr lang="en-US" altLang="fr-EG" sz="2500"/>
              <a:t>Those who experience harassment, including:</a:t>
            </a:r>
          </a:p>
          <a:p>
            <a:pPr lvl="1">
              <a:lnSpc>
                <a:spcPct val="98000"/>
              </a:lnSpc>
              <a:spcBef>
                <a:spcPct val="28000"/>
              </a:spcBef>
              <a:buFont typeface="Wingdings" pitchFamily="2" charset="2"/>
              <a:buChar char="§"/>
            </a:pPr>
            <a:r>
              <a:rPr lang="en-US" altLang="fr-EG" sz="2500"/>
              <a:t>Direct targets</a:t>
            </a:r>
          </a:p>
          <a:p>
            <a:pPr lvl="1">
              <a:lnSpc>
                <a:spcPct val="98000"/>
              </a:lnSpc>
              <a:spcBef>
                <a:spcPct val="28000"/>
              </a:spcBef>
              <a:buFont typeface="Wingdings" pitchFamily="2" charset="2"/>
              <a:buChar char="§"/>
            </a:pPr>
            <a:r>
              <a:rPr lang="en-US" altLang="fr-EG" sz="2500"/>
              <a:t>Bystanders and witnesses</a:t>
            </a:r>
            <a:endParaRPr lang="en-US" altLang="fr-EG"/>
          </a:p>
        </p:txBody>
      </p:sp>
      <p:pic>
        <p:nvPicPr>
          <p:cNvPr id="37891" name="Picture 50" descr="crowd people blurry street AKXRDA">
            <a:extLst>
              <a:ext uri="{FF2B5EF4-FFF2-40B4-BE49-F238E27FC236}">
                <a16:creationId xmlns:a16="http://schemas.microsoft.com/office/drawing/2014/main" id="{084C55DA-E71A-204A-AD24-6267439BDB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9438"/>
          <a:stretch>
            <a:fillRect/>
          </a:stretch>
        </p:blipFill>
        <p:spPr bwMode="auto">
          <a:xfrm>
            <a:off x="6469064" y="2128839"/>
            <a:ext cx="3533775" cy="42005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49570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8">
            <a:extLst>
              <a:ext uri="{FF2B5EF4-FFF2-40B4-BE49-F238E27FC236}">
                <a16:creationId xmlns:a16="http://schemas.microsoft.com/office/drawing/2014/main" id="{B9D0E628-3E74-2047-AE82-7E42BB8F5F3D}"/>
              </a:ext>
            </a:extLst>
          </p:cNvPr>
          <p:cNvSpPr>
            <a:spLocks noGrp="1" noChangeArrowheads="1"/>
          </p:cNvSpPr>
          <p:nvPr>
            <p:ph type="title"/>
          </p:nvPr>
        </p:nvSpPr>
        <p:spPr/>
        <p:txBody>
          <a:bodyPr/>
          <a:lstStyle/>
          <a:p>
            <a:pPr algn="ctr"/>
            <a:r>
              <a:rPr lang="en-US" altLang="fr-EG" b="1"/>
              <a:t>SEXUAL HARASSMENT</a:t>
            </a:r>
          </a:p>
        </p:txBody>
      </p:sp>
      <p:sp>
        <p:nvSpPr>
          <p:cNvPr id="71689" name="Rectangle 9">
            <a:extLst>
              <a:ext uri="{FF2B5EF4-FFF2-40B4-BE49-F238E27FC236}">
                <a16:creationId xmlns:a16="http://schemas.microsoft.com/office/drawing/2014/main" id="{78D16EF3-08C4-A14A-91AA-4BB8281B5048}"/>
              </a:ext>
            </a:extLst>
          </p:cNvPr>
          <p:cNvSpPr>
            <a:spLocks noGrp="1" noChangeArrowheads="1"/>
          </p:cNvSpPr>
          <p:nvPr>
            <p:ph type="body" sz="half" idx="1"/>
          </p:nvPr>
        </p:nvSpPr>
        <p:spPr/>
        <p:txBody>
          <a:bodyPr rtlCol="0">
            <a:normAutofit/>
          </a:bodyPr>
          <a:lstStyle/>
          <a:p>
            <a:pPr lvl="1" indent="-384048">
              <a:spcBef>
                <a:spcPct val="30000"/>
              </a:spcBef>
              <a:buFont typeface="Wingdings" pitchFamily="2" charset="2"/>
              <a:buChar char="§"/>
              <a:defRPr/>
            </a:pPr>
            <a:r>
              <a:rPr lang="en-US" altLang="fr-EG" dirty="0"/>
              <a:t>Do you understand the two main forms of sexual harassment – economic harassment and hostile work environment?</a:t>
            </a:r>
          </a:p>
          <a:p>
            <a:pPr lvl="1" indent="-384048">
              <a:spcBef>
                <a:spcPct val="30000"/>
              </a:spcBef>
              <a:buFont typeface="Wingdings" pitchFamily="2" charset="2"/>
              <a:buChar char="§"/>
              <a:defRPr/>
            </a:pPr>
            <a:r>
              <a:rPr lang="en-US" altLang="fr-EG" dirty="0"/>
              <a:t>Is it clear who may be affected by sexual harassment in the workplace?</a:t>
            </a:r>
          </a:p>
          <a:p>
            <a:pPr marL="0" indent="0">
              <a:buNone/>
              <a:defRPr/>
            </a:pPr>
            <a:endParaRPr lang="en-US" altLang="fr-EG" sz="2400" dirty="0"/>
          </a:p>
        </p:txBody>
      </p:sp>
      <p:pic>
        <p:nvPicPr>
          <p:cNvPr id="39939" name="Picture 13">
            <a:extLst>
              <a:ext uri="{FF2B5EF4-FFF2-40B4-BE49-F238E27FC236}">
                <a16:creationId xmlns:a16="http://schemas.microsoft.com/office/drawing/2014/main" id="{C7880DAE-7A9D-DE4C-8EA7-EA4CC2545B08}"/>
              </a:ext>
            </a:extLst>
          </p:cNvPr>
          <p:cNvPicPr>
            <a:picLocks noGrp="1" noChangeAspect="1" noChangeArrowheads="1"/>
          </p:cNvPicPr>
          <p:nvPr>
            <p:ph type="clipArt" sz="half" idx="2"/>
          </p:nvPr>
        </p:nvPicPr>
        <p:blipFill>
          <a:blip r:embed="rId3">
            <a:extLst>
              <a:ext uri="{28A0092B-C50C-407E-A947-70E740481C1C}">
                <a14:useLocalDpi xmlns:a14="http://schemas.microsoft.com/office/drawing/2010/main" val="0"/>
              </a:ext>
            </a:extLst>
          </a:blip>
          <a:srcRect/>
          <a:stretch>
            <a:fillRect/>
          </a:stretch>
        </p:blipFill>
        <p:spPr>
          <a:xfrm>
            <a:off x="6472239" y="2057400"/>
            <a:ext cx="3629025" cy="4191000"/>
          </a:xfrm>
          <a:ln>
            <a:solidFill>
              <a:schemeClr val="tx1"/>
            </a:solidFill>
            <a:miter lim="800000"/>
            <a:headEnd/>
            <a:tailEnd/>
          </a:ln>
        </p:spPr>
      </p:pic>
    </p:spTree>
    <p:extLst>
      <p:ext uri="{BB962C8B-B14F-4D97-AF65-F5344CB8AC3E}">
        <p14:creationId xmlns:p14="http://schemas.microsoft.com/office/powerpoint/2010/main" val="26582947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1689">
                                            <p:txEl>
                                              <p:pRg st="0" end="0"/>
                                            </p:txEl>
                                          </p:spTgt>
                                        </p:tgtEl>
                                        <p:attrNameLst>
                                          <p:attrName>style.visibility</p:attrName>
                                        </p:attrNameLst>
                                      </p:cBhvr>
                                      <p:to>
                                        <p:strVal val="visible"/>
                                      </p:to>
                                    </p:set>
                                    <p:anim calcmode="lin" valueType="num">
                                      <p:cBhvr additive="base">
                                        <p:cTn id="7" dur="500" fill="hold"/>
                                        <p:tgtEl>
                                          <p:spTgt spid="7168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1689">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1689">
                                            <p:txEl>
                                              <p:pRg st="1" end="1"/>
                                            </p:txEl>
                                          </p:spTgt>
                                        </p:tgtEl>
                                        <p:attrNameLst>
                                          <p:attrName>style.visibility</p:attrName>
                                        </p:attrNameLst>
                                      </p:cBhvr>
                                      <p:to>
                                        <p:strVal val="visible"/>
                                      </p:to>
                                    </p:set>
                                    <p:anim calcmode="lin" valueType="num">
                                      <p:cBhvr additive="base">
                                        <p:cTn id="11" dur="500" fill="hold"/>
                                        <p:tgtEl>
                                          <p:spTgt spid="71689">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71689">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9"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122F9423-F4B1-45D4-8445-E9991ECCB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42" name="Rectangle 12">
            <a:extLst>
              <a:ext uri="{FF2B5EF4-FFF2-40B4-BE49-F238E27FC236}">
                <a16:creationId xmlns:a16="http://schemas.microsoft.com/office/drawing/2014/main" id="{88CB310C-27E6-3F46-9400-5ECA4212A6E1}"/>
              </a:ext>
            </a:extLst>
          </p:cNvPr>
          <p:cNvSpPr>
            <a:spLocks noGrp="1" noChangeArrowheads="1"/>
          </p:cNvSpPr>
          <p:nvPr>
            <p:ph type="title"/>
          </p:nvPr>
        </p:nvSpPr>
        <p:spPr>
          <a:xfrm>
            <a:off x="1000451" y="1610024"/>
            <a:ext cx="5568995" cy="1457002"/>
          </a:xfrm>
        </p:spPr>
        <p:txBody>
          <a:bodyPr vert="horz" lIns="91440" tIns="45720" rIns="91440" bIns="45720" rtlCol="0" anchor="b">
            <a:normAutofit/>
          </a:bodyPr>
          <a:lstStyle/>
          <a:p>
            <a:pPr>
              <a:defRPr/>
            </a:pPr>
            <a:r>
              <a:rPr lang="en-US" altLang="fr-EG" b="1"/>
              <a:t>PREVENTION: What We Can All Do To Help</a:t>
            </a:r>
            <a:endParaRPr lang="en-US" altLang="fr-EG"/>
          </a:p>
        </p:txBody>
      </p:sp>
      <p:grpSp>
        <p:nvGrpSpPr>
          <p:cNvPr id="138" name="Group 137">
            <a:extLst>
              <a:ext uri="{FF2B5EF4-FFF2-40B4-BE49-F238E27FC236}">
                <a16:creationId xmlns:a16="http://schemas.microsoft.com/office/drawing/2014/main" id="{770AE191-D2EA-45C9-A44D-830C188F74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2021" y="518649"/>
            <a:ext cx="1128382" cy="847206"/>
            <a:chOff x="8183879" y="1000124"/>
            <a:chExt cx="1562267" cy="1172973"/>
          </a:xfrm>
        </p:grpSpPr>
        <p:sp>
          <p:nvSpPr>
            <p:cNvPr id="139" name="Freeform 5">
              <a:extLst>
                <a:ext uri="{FF2B5EF4-FFF2-40B4-BE49-F238E27FC236}">
                  <a16:creationId xmlns:a16="http://schemas.microsoft.com/office/drawing/2014/main" id="{23A0E4C1-B7A6-4637-AC51-4A5AE3841F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3879"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140" name="Freeform 5">
              <a:extLst>
                <a:ext uri="{FF2B5EF4-FFF2-40B4-BE49-F238E27FC236}">
                  <a16:creationId xmlns:a16="http://schemas.microsoft.com/office/drawing/2014/main" id="{F4E8C039-CC58-44F3-8A7B-E0A934C1D0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83979"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35843" name="Rectangle 13">
            <a:extLst>
              <a:ext uri="{FF2B5EF4-FFF2-40B4-BE49-F238E27FC236}">
                <a16:creationId xmlns:a16="http://schemas.microsoft.com/office/drawing/2014/main" id="{9F5CBF1F-9CE0-394F-8595-B81F29CE09EE}"/>
              </a:ext>
            </a:extLst>
          </p:cNvPr>
          <p:cNvSpPr>
            <a:spLocks noGrp="1" noChangeArrowheads="1"/>
          </p:cNvSpPr>
          <p:nvPr>
            <p:ph type="body" sz="half" idx="1"/>
          </p:nvPr>
        </p:nvSpPr>
        <p:spPr>
          <a:xfrm>
            <a:off x="1000450" y="3067026"/>
            <a:ext cx="5568991" cy="2968014"/>
          </a:xfrm>
        </p:spPr>
        <p:txBody>
          <a:bodyPr vert="horz" lIns="91440" tIns="45720" rIns="91440" bIns="45720" rtlCol="0" anchor="t">
            <a:normAutofit/>
          </a:bodyPr>
          <a:lstStyle/>
          <a:p>
            <a:pPr lvl="1">
              <a:defRPr/>
            </a:pPr>
            <a:r>
              <a:rPr lang="en-US" altLang="fr-EG" sz="2000"/>
              <a:t>Provide a clear statement of our position against sexual harassment</a:t>
            </a:r>
          </a:p>
          <a:p>
            <a:pPr lvl="1">
              <a:defRPr/>
            </a:pPr>
            <a:r>
              <a:rPr lang="en-US" altLang="fr-EG" sz="2000"/>
              <a:t>Promote compliance and prevention by defining responsibilities</a:t>
            </a:r>
          </a:p>
          <a:p>
            <a:pPr lvl="1">
              <a:defRPr/>
            </a:pPr>
            <a:r>
              <a:rPr lang="en-US" altLang="fr-EG" sz="2000"/>
              <a:t>Protect your rights and foster respect for everyone</a:t>
            </a:r>
          </a:p>
        </p:txBody>
      </p:sp>
      <p:pic>
        <p:nvPicPr>
          <p:cNvPr id="41987" name="Picture 17">
            <a:extLst>
              <a:ext uri="{FF2B5EF4-FFF2-40B4-BE49-F238E27FC236}">
                <a16:creationId xmlns:a16="http://schemas.microsoft.com/office/drawing/2014/main" id="{05B127D2-5CFF-324E-9405-A25F35A20F20}"/>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l="27456" r="28232" b="1"/>
          <a:stretch/>
        </p:blipFill>
        <p:spPr>
          <a:xfrm>
            <a:off x="7534656" y="10"/>
            <a:ext cx="4657344" cy="6857990"/>
          </a:xfrm>
          <a:prstGeom prst="rect">
            <a:avLst/>
          </a:prstGeom>
          <a:noFill/>
        </p:spPr>
      </p:pic>
    </p:spTree>
    <p:extLst>
      <p:ext uri="{BB962C8B-B14F-4D97-AF65-F5344CB8AC3E}">
        <p14:creationId xmlns:p14="http://schemas.microsoft.com/office/powerpoint/2010/main" val="22771521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66" name="Rectangle 16">
            <a:extLst>
              <a:ext uri="{FF2B5EF4-FFF2-40B4-BE49-F238E27FC236}">
                <a16:creationId xmlns:a16="http://schemas.microsoft.com/office/drawing/2014/main" id="{080AF5EF-13B3-3D4B-A478-E26744B2B90A}"/>
              </a:ext>
            </a:extLst>
          </p:cNvPr>
          <p:cNvSpPr>
            <a:spLocks noGrp="1" noChangeArrowheads="1"/>
          </p:cNvSpPr>
          <p:nvPr>
            <p:ph type="title"/>
          </p:nvPr>
        </p:nvSpPr>
        <p:spPr>
          <a:xfrm>
            <a:off x="1000452" y="1610024"/>
            <a:ext cx="3058621" cy="1457002"/>
          </a:xfrm>
        </p:spPr>
        <p:txBody>
          <a:bodyPr vert="horz" lIns="91440" tIns="45720" rIns="91440" bIns="45720" rtlCol="0" anchor="b">
            <a:normAutofit/>
          </a:bodyPr>
          <a:lstStyle/>
          <a:p>
            <a:pPr>
              <a:defRPr/>
            </a:pPr>
            <a:r>
              <a:rPr lang="en-US" altLang="fr-EG" sz="3100" b="1"/>
              <a:t>PREVENTION: What You Can Do</a:t>
            </a:r>
          </a:p>
        </p:txBody>
      </p:sp>
      <p:grpSp>
        <p:nvGrpSpPr>
          <p:cNvPr id="138" name="Group 137">
            <a:extLst>
              <a:ext uri="{FF2B5EF4-FFF2-40B4-BE49-F238E27FC236}">
                <a16:creationId xmlns:a16="http://schemas.microsoft.com/office/drawing/2014/main" id="{770AE191-D2EA-45C9-A44D-830C188F74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2021" y="518649"/>
            <a:ext cx="1128382" cy="847206"/>
            <a:chOff x="8183879" y="1000124"/>
            <a:chExt cx="1562267" cy="1172973"/>
          </a:xfrm>
        </p:grpSpPr>
        <p:sp>
          <p:nvSpPr>
            <p:cNvPr id="139" name="Freeform 5">
              <a:extLst>
                <a:ext uri="{FF2B5EF4-FFF2-40B4-BE49-F238E27FC236}">
                  <a16:creationId xmlns:a16="http://schemas.microsoft.com/office/drawing/2014/main" id="{23A0E4C1-B7A6-4637-AC51-4A5AE3841F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3879"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140" name="Freeform 5">
              <a:extLst>
                <a:ext uri="{FF2B5EF4-FFF2-40B4-BE49-F238E27FC236}">
                  <a16:creationId xmlns:a16="http://schemas.microsoft.com/office/drawing/2014/main" id="{F4E8C039-CC58-44F3-8A7B-E0A934C1D0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83979"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44034" name="Rectangle 17">
            <a:extLst>
              <a:ext uri="{FF2B5EF4-FFF2-40B4-BE49-F238E27FC236}">
                <a16:creationId xmlns:a16="http://schemas.microsoft.com/office/drawing/2014/main" id="{9136B0DA-E46C-6D4D-B781-B9B5793C92C9}"/>
              </a:ext>
            </a:extLst>
          </p:cNvPr>
          <p:cNvSpPr>
            <a:spLocks noGrp="1" noChangeArrowheads="1"/>
          </p:cNvSpPr>
          <p:nvPr>
            <p:ph type="body" sz="half" idx="1"/>
          </p:nvPr>
        </p:nvSpPr>
        <p:spPr>
          <a:xfrm>
            <a:off x="1000450" y="3067026"/>
            <a:ext cx="3058623" cy="3272324"/>
          </a:xfrm>
        </p:spPr>
        <p:txBody>
          <a:bodyPr vert="horz" lIns="91440" tIns="45720" rIns="91440" bIns="45720" rtlCol="0" anchor="t">
            <a:normAutofit/>
          </a:bodyPr>
          <a:lstStyle/>
          <a:p>
            <a:pPr lvl="1"/>
            <a:r>
              <a:rPr lang="en-US" altLang="fr-EG" sz="2000"/>
              <a:t>Know and comply with company policy</a:t>
            </a:r>
          </a:p>
          <a:p>
            <a:pPr lvl="1"/>
            <a:r>
              <a:rPr lang="en-US" altLang="fr-EG" sz="2000"/>
              <a:t>Address incidents of sexual harassment </a:t>
            </a:r>
            <a:br>
              <a:rPr lang="en-US" altLang="fr-EG" sz="2000"/>
            </a:br>
            <a:r>
              <a:rPr lang="en-US" altLang="fr-EG" sz="2000"/>
              <a:t>immediately</a:t>
            </a:r>
          </a:p>
        </p:txBody>
      </p:sp>
      <p:pic>
        <p:nvPicPr>
          <p:cNvPr id="44035" name="Picture 30">
            <a:extLst>
              <a:ext uri="{FF2B5EF4-FFF2-40B4-BE49-F238E27FC236}">
                <a16:creationId xmlns:a16="http://schemas.microsoft.com/office/drawing/2014/main" id="{4BDCA265-D36C-0444-B626-2E1D13A029C6}"/>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t="5" r="2" b="6175"/>
          <a:stretch/>
        </p:blipFill>
        <p:spPr>
          <a:xfrm>
            <a:off x="4636963" y="10"/>
            <a:ext cx="7555037" cy="6857990"/>
          </a:xfrm>
          <a:prstGeom prst="rect">
            <a:avLst/>
          </a:prstGeom>
          <a:noFill/>
        </p:spPr>
      </p:pic>
    </p:spTree>
    <p:extLst>
      <p:ext uri="{BB962C8B-B14F-4D97-AF65-F5344CB8AC3E}">
        <p14:creationId xmlns:p14="http://schemas.microsoft.com/office/powerpoint/2010/main" val="31352693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890" name="Rectangle 19">
            <a:extLst>
              <a:ext uri="{FF2B5EF4-FFF2-40B4-BE49-F238E27FC236}">
                <a16:creationId xmlns:a16="http://schemas.microsoft.com/office/drawing/2014/main" id="{68157553-D760-8442-88E7-07A54447D623}"/>
              </a:ext>
            </a:extLst>
          </p:cNvPr>
          <p:cNvSpPr>
            <a:spLocks noGrp="1" noChangeArrowheads="1"/>
          </p:cNvSpPr>
          <p:nvPr>
            <p:ph type="title"/>
          </p:nvPr>
        </p:nvSpPr>
        <p:spPr>
          <a:xfrm>
            <a:off x="1000452" y="1610024"/>
            <a:ext cx="3058621" cy="1457002"/>
          </a:xfrm>
        </p:spPr>
        <p:txBody>
          <a:bodyPr vert="horz" lIns="91440" tIns="45720" rIns="91440" bIns="45720" rtlCol="0" anchor="b">
            <a:normAutofit/>
          </a:bodyPr>
          <a:lstStyle/>
          <a:p>
            <a:pPr>
              <a:defRPr/>
            </a:pPr>
            <a:r>
              <a:rPr lang="en-US" altLang="fr-EG" sz="2500" b="1"/>
              <a:t>PREVENTION: What You </a:t>
            </a:r>
            <a:br>
              <a:rPr lang="en-US" altLang="fr-EG" sz="2500" b="1"/>
            </a:br>
            <a:r>
              <a:rPr lang="en-US" altLang="fr-EG" sz="2500" b="1"/>
              <a:t>Can Do to Help (cont.)</a:t>
            </a:r>
          </a:p>
        </p:txBody>
      </p:sp>
      <p:grpSp>
        <p:nvGrpSpPr>
          <p:cNvPr id="138" name="Group 137">
            <a:extLst>
              <a:ext uri="{FF2B5EF4-FFF2-40B4-BE49-F238E27FC236}">
                <a16:creationId xmlns:a16="http://schemas.microsoft.com/office/drawing/2014/main" id="{770AE191-D2EA-45C9-A44D-830C188F74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2021" y="518649"/>
            <a:ext cx="1128382" cy="847206"/>
            <a:chOff x="8183879" y="1000124"/>
            <a:chExt cx="1562267" cy="1172973"/>
          </a:xfrm>
        </p:grpSpPr>
        <p:sp>
          <p:nvSpPr>
            <p:cNvPr id="139" name="Freeform 5">
              <a:extLst>
                <a:ext uri="{FF2B5EF4-FFF2-40B4-BE49-F238E27FC236}">
                  <a16:creationId xmlns:a16="http://schemas.microsoft.com/office/drawing/2014/main" id="{23A0E4C1-B7A6-4637-AC51-4A5AE3841F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3879"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140" name="Freeform 5">
              <a:extLst>
                <a:ext uri="{FF2B5EF4-FFF2-40B4-BE49-F238E27FC236}">
                  <a16:creationId xmlns:a16="http://schemas.microsoft.com/office/drawing/2014/main" id="{F4E8C039-CC58-44F3-8A7B-E0A934C1D0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83979"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46082" name="Rectangle 20">
            <a:extLst>
              <a:ext uri="{FF2B5EF4-FFF2-40B4-BE49-F238E27FC236}">
                <a16:creationId xmlns:a16="http://schemas.microsoft.com/office/drawing/2014/main" id="{8652AC51-B065-0E4D-A87C-930785167FD3}"/>
              </a:ext>
            </a:extLst>
          </p:cNvPr>
          <p:cNvSpPr>
            <a:spLocks noGrp="1" noChangeArrowheads="1"/>
          </p:cNvSpPr>
          <p:nvPr>
            <p:ph type="body" sz="half" idx="1"/>
          </p:nvPr>
        </p:nvSpPr>
        <p:spPr>
          <a:xfrm>
            <a:off x="1000450" y="3067026"/>
            <a:ext cx="3058623" cy="3272324"/>
          </a:xfrm>
        </p:spPr>
        <p:txBody>
          <a:bodyPr vert="horz" lIns="91440" tIns="45720" rIns="91440" bIns="45720" rtlCol="0" anchor="t">
            <a:normAutofit/>
          </a:bodyPr>
          <a:lstStyle/>
          <a:p>
            <a:pPr lvl="1">
              <a:spcBef>
                <a:spcPct val="30000"/>
              </a:spcBef>
            </a:pPr>
            <a:r>
              <a:rPr lang="en-US" altLang="fr-EG" sz="2000"/>
              <a:t>Support victims</a:t>
            </a:r>
          </a:p>
          <a:p>
            <a:pPr lvl="1">
              <a:spcBef>
                <a:spcPct val="30000"/>
              </a:spcBef>
            </a:pPr>
            <a:r>
              <a:rPr lang="en-US" altLang="fr-EG" sz="2000"/>
              <a:t>Cooperate with investigations</a:t>
            </a:r>
          </a:p>
          <a:p>
            <a:pPr marL="0"/>
            <a:endParaRPr lang="en-US" altLang="fr-EG" sz="2000"/>
          </a:p>
          <a:p>
            <a:pPr marL="0"/>
            <a:endParaRPr lang="en-US" altLang="fr-EG" sz="2000"/>
          </a:p>
        </p:txBody>
      </p:sp>
      <p:pic>
        <p:nvPicPr>
          <p:cNvPr id="46083" name="Picture 25" descr="discipline interview concern IS824-052">
            <a:extLst>
              <a:ext uri="{FF2B5EF4-FFF2-40B4-BE49-F238E27FC236}">
                <a16:creationId xmlns:a16="http://schemas.microsoft.com/office/drawing/2014/main" id="{E31C4FAB-BD17-F44A-842E-E270BC8A1301}"/>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t="18311" r="1" b="11114"/>
          <a:stretch/>
        </p:blipFill>
        <p:spPr>
          <a:xfrm>
            <a:off x="4636963" y="10"/>
            <a:ext cx="7555037" cy="6857990"/>
          </a:xfrm>
          <a:prstGeom prst="rect">
            <a:avLst/>
          </a:prstGeom>
        </p:spPr>
      </p:pic>
    </p:spTree>
    <p:extLst>
      <p:ext uri="{BB962C8B-B14F-4D97-AF65-F5344CB8AC3E}">
        <p14:creationId xmlns:p14="http://schemas.microsoft.com/office/powerpoint/2010/main" val="11472820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Freeform: Shape 70">
            <a:extLst>
              <a:ext uri="{FF2B5EF4-FFF2-40B4-BE49-F238E27FC236}">
                <a16:creationId xmlns:a16="http://schemas.microsoft.com/office/drawing/2014/main" id="{F60FCA6E-0894-46CD-BD49-5955A51E00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31955" y="5346696"/>
            <a:ext cx="5360045" cy="1511304"/>
          </a:xfrm>
          <a:custGeom>
            <a:avLst/>
            <a:gdLst>
              <a:gd name="connsiteX0" fmla="*/ 4545473 w 5360045"/>
              <a:gd name="connsiteY0" fmla="*/ 0 h 1511304"/>
              <a:gd name="connsiteX1" fmla="*/ 5360045 w 5360045"/>
              <a:gd name="connsiteY1" fmla="*/ 0 h 1511304"/>
              <a:gd name="connsiteX2" fmla="*/ 5360045 w 5360045"/>
              <a:gd name="connsiteY2" fmla="*/ 1046730 h 1511304"/>
              <a:gd name="connsiteX3" fmla="*/ 5360045 w 5360045"/>
              <a:gd name="connsiteY3" fmla="*/ 1508760 h 1511304"/>
              <a:gd name="connsiteX4" fmla="*/ 5360045 w 5360045"/>
              <a:gd name="connsiteY4" fmla="*/ 1511304 h 1511304"/>
              <a:gd name="connsiteX5" fmla="*/ 4545474 w 5360045"/>
              <a:gd name="connsiteY5" fmla="*/ 1511304 h 1511304"/>
              <a:gd name="connsiteX6" fmla="*/ 2525897 w 5360045"/>
              <a:gd name="connsiteY6" fmla="*/ 1511304 h 1511304"/>
              <a:gd name="connsiteX7" fmla="*/ 0 w 5360045"/>
              <a:gd name="connsiteY7" fmla="*/ 1511304 h 1511304"/>
              <a:gd name="connsiteX8" fmla="*/ 697617 w 5360045"/>
              <a:gd name="connsiteY8" fmla="*/ 3 h 1511304"/>
              <a:gd name="connsiteX9" fmla="*/ 4545473 w 5360045"/>
              <a:gd name="connsiteY9" fmla="*/ 3 h 151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60045" h="1511304">
                <a:moveTo>
                  <a:pt x="4545473" y="0"/>
                </a:moveTo>
                <a:lnTo>
                  <a:pt x="5360045" y="0"/>
                </a:lnTo>
                <a:lnTo>
                  <a:pt x="5360045" y="1046730"/>
                </a:lnTo>
                <a:lnTo>
                  <a:pt x="5360045" y="1508760"/>
                </a:lnTo>
                <a:lnTo>
                  <a:pt x="5360045" y="1511304"/>
                </a:lnTo>
                <a:lnTo>
                  <a:pt x="4545474" y="1511304"/>
                </a:lnTo>
                <a:lnTo>
                  <a:pt x="2525897" y="1511304"/>
                </a:lnTo>
                <a:lnTo>
                  <a:pt x="0" y="1511304"/>
                </a:lnTo>
                <a:lnTo>
                  <a:pt x="697617" y="3"/>
                </a:lnTo>
                <a:lnTo>
                  <a:pt x="4545473" y="3"/>
                </a:lnTo>
                <a:close/>
              </a:path>
            </a:pathLst>
          </a:custGeom>
          <a:solidFill>
            <a:srgbClr val="404040">
              <a:alpha val="8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Freeform: Shape 72">
            <a:extLst>
              <a:ext uri="{FF2B5EF4-FFF2-40B4-BE49-F238E27FC236}">
                <a16:creationId xmlns:a16="http://schemas.microsoft.com/office/drawing/2014/main" id="{E78C6E4B-A1F1-4B6C-97EC-BE997495D6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46694"/>
            <a:ext cx="7346605" cy="1511306"/>
          </a:xfrm>
          <a:custGeom>
            <a:avLst/>
            <a:gdLst>
              <a:gd name="connsiteX0" fmla="*/ 0 w 7346605"/>
              <a:gd name="connsiteY0" fmla="*/ 0 h 1511306"/>
              <a:gd name="connsiteX1" fmla="*/ 239486 w 7346605"/>
              <a:gd name="connsiteY1" fmla="*/ 0 h 1511306"/>
              <a:gd name="connsiteX2" fmla="*/ 1209568 w 7346605"/>
              <a:gd name="connsiteY2" fmla="*/ 0 h 1511306"/>
              <a:gd name="connsiteX3" fmla="*/ 2405743 w 7346605"/>
              <a:gd name="connsiteY3" fmla="*/ 0 h 1511306"/>
              <a:gd name="connsiteX4" fmla="*/ 2405743 w 7346605"/>
              <a:gd name="connsiteY4" fmla="*/ 2544 h 1511306"/>
              <a:gd name="connsiteX5" fmla="*/ 2801131 w 7346605"/>
              <a:gd name="connsiteY5" fmla="*/ 2544 h 1511306"/>
              <a:gd name="connsiteX6" fmla="*/ 2801131 w 7346605"/>
              <a:gd name="connsiteY6" fmla="*/ 0 h 1511306"/>
              <a:gd name="connsiteX7" fmla="*/ 7346605 w 7346605"/>
              <a:gd name="connsiteY7" fmla="*/ 0 h 1511306"/>
              <a:gd name="connsiteX8" fmla="*/ 6648988 w 7346605"/>
              <a:gd name="connsiteY8" fmla="*/ 1511301 h 1511306"/>
              <a:gd name="connsiteX9" fmla="*/ 2801132 w 7346605"/>
              <a:gd name="connsiteY9" fmla="*/ 1511301 h 1511306"/>
              <a:gd name="connsiteX10" fmla="*/ 2801132 w 7346605"/>
              <a:gd name="connsiteY10" fmla="*/ 1511304 h 1511306"/>
              <a:gd name="connsiteX11" fmla="*/ 2405743 w 7346605"/>
              <a:gd name="connsiteY11" fmla="*/ 1511304 h 1511306"/>
              <a:gd name="connsiteX12" fmla="*/ 2405743 w 7346605"/>
              <a:gd name="connsiteY12" fmla="*/ 1511306 h 1511306"/>
              <a:gd name="connsiteX13" fmla="*/ 1333411 w 7346605"/>
              <a:gd name="connsiteY13" fmla="*/ 1511306 h 1511306"/>
              <a:gd name="connsiteX14" fmla="*/ 1219208 w 7346605"/>
              <a:gd name="connsiteY14" fmla="*/ 1511306 h 1511306"/>
              <a:gd name="connsiteX15" fmla="*/ 1209568 w 7346605"/>
              <a:gd name="connsiteY15" fmla="*/ 1511306 h 1511306"/>
              <a:gd name="connsiteX16" fmla="*/ 239486 w 7346605"/>
              <a:gd name="connsiteY16" fmla="*/ 1511306 h 1511306"/>
              <a:gd name="connsiteX17" fmla="*/ 0 w 7346605"/>
              <a:gd name="connsiteY17" fmla="*/ 1511306 h 1511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346605" h="1511306">
                <a:moveTo>
                  <a:pt x="0" y="0"/>
                </a:moveTo>
                <a:lnTo>
                  <a:pt x="239486" y="0"/>
                </a:lnTo>
                <a:lnTo>
                  <a:pt x="1209568" y="0"/>
                </a:lnTo>
                <a:lnTo>
                  <a:pt x="2405743" y="0"/>
                </a:lnTo>
                <a:lnTo>
                  <a:pt x="2405743" y="2544"/>
                </a:lnTo>
                <a:lnTo>
                  <a:pt x="2801131" y="2544"/>
                </a:lnTo>
                <a:lnTo>
                  <a:pt x="2801131" y="0"/>
                </a:lnTo>
                <a:lnTo>
                  <a:pt x="7346605" y="0"/>
                </a:lnTo>
                <a:lnTo>
                  <a:pt x="6648988" y="1511301"/>
                </a:lnTo>
                <a:lnTo>
                  <a:pt x="2801132" y="1511301"/>
                </a:lnTo>
                <a:lnTo>
                  <a:pt x="2801132" y="1511304"/>
                </a:lnTo>
                <a:lnTo>
                  <a:pt x="2405743" y="1511304"/>
                </a:lnTo>
                <a:lnTo>
                  <a:pt x="2405743" y="1511306"/>
                </a:lnTo>
                <a:lnTo>
                  <a:pt x="1333411" y="1511306"/>
                </a:lnTo>
                <a:lnTo>
                  <a:pt x="1219208" y="1511306"/>
                </a:lnTo>
                <a:lnTo>
                  <a:pt x="1209568" y="1511306"/>
                </a:lnTo>
                <a:lnTo>
                  <a:pt x="239486" y="1511306"/>
                </a:lnTo>
                <a:lnTo>
                  <a:pt x="0" y="1511306"/>
                </a:lnTo>
                <a:close/>
              </a:path>
            </a:pathLst>
          </a:cu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schemeClr>
              </a:solidFill>
            </a:endParaRPr>
          </a:p>
        </p:txBody>
      </p:sp>
      <p:pic>
        <p:nvPicPr>
          <p:cNvPr id="48130" name="Picture 20" descr="KEY-POINTS-TO-REMEMBER-ICON3">
            <a:extLst>
              <a:ext uri="{FF2B5EF4-FFF2-40B4-BE49-F238E27FC236}">
                <a16:creationId xmlns:a16="http://schemas.microsoft.com/office/drawing/2014/main" id="{120995A2-4ACD-D948-9D36-C10222FCADF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41247" y="2324490"/>
            <a:ext cx="6049942" cy="127048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29" name="Rectangle 18">
            <a:extLst>
              <a:ext uri="{FF2B5EF4-FFF2-40B4-BE49-F238E27FC236}">
                <a16:creationId xmlns:a16="http://schemas.microsoft.com/office/drawing/2014/main" id="{9F640F0F-84B8-324B-9D7E-88257F39059E}"/>
              </a:ext>
            </a:extLst>
          </p:cNvPr>
          <p:cNvSpPr>
            <a:spLocks noGrp="1" noChangeArrowheads="1"/>
          </p:cNvSpPr>
          <p:nvPr>
            <p:ph idx="1"/>
          </p:nvPr>
        </p:nvSpPr>
        <p:spPr>
          <a:xfrm>
            <a:off x="7534655" y="965199"/>
            <a:ext cx="4008101" cy="4020458"/>
          </a:xfrm>
        </p:spPr>
        <p:txBody>
          <a:bodyPr anchor="ctr">
            <a:normAutofit/>
          </a:bodyPr>
          <a:lstStyle/>
          <a:p>
            <a:pPr lvl="1">
              <a:spcBef>
                <a:spcPct val="27000"/>
              </a:spcBef>
              <a:buFont typeface="Wingdings" pitchFamily="2" charset="2"/>
              <a:buChar char="§"/>
            </a:pPr>
            <a:r>
              <a:rPr lang="en-US" altLang="fr-EG" sz="2000" i="0"/>
              <a:t>Sexual harassment is prohibited by law </a:t>
            </a:r>
            <a:br>
              <a:rPr lang="en-US" altLang="fr-EG" sz="2000" i="0"/>
            </a:br>
            <a:r>
              <a:rPr lang="en-US" altLang="fr-EG" sz="2000" i="0"/>
              <a:t>and workplace policy</a:t>
            </a:r>
          </a:p>
          <a:p>
            <a:pPr lvl="1">
              <a:spcBef>
                <a:spcPct val="27000"/>
              </a:spcBef>
              <a:buFont typeface="Wingdings" pitchFamily="2" charset="2"/>
              <a:buChar char="§"/>
            </a:pPr>
            <a:r>
              <a:rPr lang="en-US" altLang="fr-EG" sz="2000" i="0"/>
              <a:t>It involves more than physical conduct; it can also be verbal or visual</a:t>
            </a:r>
          </a:p>
          <a:p>
            <a:pPr lvl="1">
              <a:spcBef>
                <a:spcPct val="27000"/>
              </a:spcBef>
              <a:buFont typeface="Wingdings" pitchFamily="2" charset="2"/>
              <a:buChar char="§"/>
            </a:pPr>
            <a:r>
              <a:rPr lang="en-US" altLang="fr-EG" sz="2000" i="0"/>
              <a:t>Sexual harassment harms us all</a:t>
            </a:r>
          </a:p>
          <a:p>
            <a:pPr lvl="1">
              <a:spcBef>
                <a:spcPct val="27000"/>
              </a:spcBef>
              <a:buFont typeface="Wingdings" pitchFamily="2" charset="2"/>
              <a:buChar char="§"/>
            </a:pPr>
            <a:r>
              <a:rPr lang="en-US" altLang="fr-EG" sz="2000" i="0"/>
              <a:t>You have the power to help prevent it</a:t>
            </a:r>
          </a:p>
          <a:p>
            <a:pPr marL="0" indent="0">
              <a:buNone/>
            </a:pPr>
            <a:endParaRPr lang="en-US" altLang="fr-EG" sz="2000"/>
          </a:p>
        </p:txBody>
      </p:sp>
    </p:spTree>
    <p:extLst>
      <p:ext uri="{BB962C8B-B14F-4D97-AF65-F5344CB8AC3E}">
        <p14:creationId xmlns:p14="http://schemas.microsoft.com/office/powerpoint/2010/main" val="46681509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206C8355D678A459F2EF8957171B231" ma:contentTypeVersion="18" ma:contentTypeDescription="Create a new document." ma:contentTypeScope="" ma:versionID="efd9b4af885478ed0a3e84c6362c6fb3">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3b6abc503e38a49174dd9e5072c65339"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1e634b9-0c0d-402e-b683-49cec2011975"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4796171e-60a5-48ad-9b94-11b7e9399efd}" ma:internalName="TaxCatchAll" ma:showField="CatchAllData" ma:web="dc808d36-874f-4b27-aec2-2fd6498179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2466082-b6bf-4153-98c3-3c41e85fda18">
      <Terms xmlns="http://schemas.microsoft.com/office/infopath/2007/PartnerControls"/>
    </lcf76f155ced4ddcb4097134ff3c332f>
    <TaxCatchAll xmlns="dc808d36-874f-4b27-aec2-2fd649817929" xsi:nil="true"/>
  </documentManagement>
</p:properties>
</file>

<file path=customXml/itemProps1.xml><?xml version="1.0" encoding="utf-8"?>
<ds:datastoreItem xmlns:ds="http://schemas.openxmlformats.org/officeDocument/2006/customXml" ds:itemID="{F6FFA3A8-EC4E-4704-B04E-F96755A354DC}"/>
</file>

<file path=customXml/itemProps2.xml><?xml version="1.0" encoding="utf-8"?>
<ds:datastoreItem xmlns:ds="http://schemas.openxmlformats.org/officeDocument/2006/customXml" ds:itemID="{7BD854F7-82F5-423E-8EB4-CAFDF3069AA1}"/>
</file>

<file path=customXml/itemProps3.xml><?xml version="1.0" encoding="utf-8"?>
<ds:datastoreItem xmlns:ds="http://schemas.openxmlformats.org/officeDocument/2006/customXml" ds:itemID="{01480372-8EA7-4A1E-BDBB-1B67E76EF5F1}"/>
</file>

<file path=docProps/app.xml><?xml version="1.0" encoding="utf-8"?>
<Properties xmlns="http://schemas.openxmlformats.org/officeDocument/2006/extended-properties" xmlns:vt="http://schemas.openxmlformats.org/officeDocument/2006/docPropsVTypes">
  <TotalTime>0</TotalTime>
  <Words>3289</Words>
  <Application>Microsoft Macintosh PowerPoint</Application>
  <PresentationFormat>Grand écran</PresentationFormat>
  <Paragraphs>228</Paragraphs>
  <Slides>22</Slides>
  <Notes>21</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22</vt:i4>
      </vt:variant>
    </vt:vector>
  </HeadingPairs>
  <TitlesOfParts>
    <vt:vector size="31" baseType="lpstr">
      <vt:lpstr>Arial</vt:lpstr>
      <vt:lpstr>Calibri</vt:lpstr>
      <vt:lpstr>Calibri Light</vt:lpstr>
      <vt:lpstr>Garamond</vt:lpstr>
      <vt:lpstr>Symbol</vt:lpstr>
      <vt:lpstr>Times</vt:lpstr>
      <vt:lpstr>Times New Roman</vt:lpstr>
      <vt:lpstr>Wingdings</vt:lpstr>
      <vt:lpstr>Thème Office</vt:lpstr>
      <vt:lpstr>Présentation PowerPoint</vt:lpstr>
      <vt:lpstr>SESSION OBJECTIVES</vt:lpstr>
      <vt:lpstr>SESSION OUTLINE</vt:lpstr>
      <vt:lpstr>WHY YOU NEED TO KNOW</vt:lpstr>
      <vt:lpstr>HOW WIDESPREAD IS SEXUAL HARASSMENT</vt:lpstr>
      <vt:lpstr>HARASSMENT AND THE LAW</vt:lpstr>
      <vt:lpstr>HARASSMENT AND THE LAW (cont.)</vt:lpstr>
      <vt:lpstr>IS THIS SEXUAL HARASSMENT?</vt:lpstr>
      <vt:lpstr>IS THIS SEXUAL HARASSMENT? (cont.)</vt:lpstr>
      <vt:lpstr>IS THIS SEXUAL HARASSMENT? (cont.)</vt:lpstr>
      <vt:lpstr>ECONOMIC HARASSMENT</vt:lpstr>
      <vt:lpstr>HOSTILE WORK ENVIRONMENT</vt:lpstr>
      <vt:lpstr>HOSTILE WORK ENVIRONMENT (cont.)</vt:lpstr>
      <vt:lpstr>ECONOMIC HARASSMENT OR HOSTILE WORK ENVIRONMENT?</vt:lpstr>
      <vt:lpstr>Economic Harassment or Hostile Work Environment? (cont.)</vt:lpstr>
      <vt:lpstr>WHO IS AFFECTED?</vt:lpstr>
      <vt:lpstr>WHO IS AFFECTED? (cont.)</vt:lpstr>
      <vt:lpstr>SEXUAL HARASSMENT</vt:lpstr>
      <vt:lpstr>PREVENTION: What We Can All Do To Help</vt:lpstr>
      <vt:lpstr>PREVENTION: What You Can Do</vt:lpstr>
      <vt:lpstr>PREVENTION: What You  Can Do to Help (cont.)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Yewande Maraiyesa</dc:creator>
  <cp:lastModifiedBy>Yewande Maraiyesa</cp:lastModifiedBy>
  <cp:revision>1</cp:revision>
  <dcterms:created xsi:type="dcterms:W3CDTF">2020-06-16T16:00:14Z</dcterms:created>
  <dcterms:modified xsi:type="dcterms:W3CDTF">2020-06-16T16:00:20Z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0x0101003206C8355D678A459F2EF8957171B231</vt:lpwstr>
  </property>
</Properties>
</file>